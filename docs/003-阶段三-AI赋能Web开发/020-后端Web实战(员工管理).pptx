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71"/>
  </p:notesMasterIdLst>
  <p:handoutMasterIdLst>
    <p:handoutMasterId r:id="rId72"/>
  </p:handoutMasterIdLst>
  <p:sldIdLst>
    <p:sldId id="280" r:id="rId6"/>
    <p:sldId id="440" r:id="rId7"/>
    <p:sldId id="456" r:id="rId8"/>
    <p:sldId id="443" r:id="rId9"/>
    <p:sldId id="442" r:id="rId10"/>
    <p:sldId id="444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468" r:id="rId20"/>
    <p:sldId id="453" r:id="rId21"/>
    <p:sldId id="454" r:id="rId22"/>
    <p:sldId id="469" r:id="rId23"/>
    <p:sldId id="455" r:id="rId24"/>
    <p:sldId id="457" r:id="rId25"/>
    <p:sldId id="470" r:id="rId26"/>
    <p:sldId id="458" r:id="rId27"/>
    <p:sldId id="471" r:id="rId28"/>
    <p:sldId id="459" r:id="rId29"/>
    <p:sldId id="460" r:id="rId30"/>
    <p:sldId id="461" r:id="rId31"/>
    <p:sldId id="462" r:id="rId32"/>
    <p:sldId id="463" r:id="rId33"/>
    <p:sldId id="482" r:id="rId34"/>
    <p:sldId id="464" r:id="rId35"/>
    <p:sldId id="483" r:id="rId36"/>
    <p:sldId id="465" r:id="rId37"/>
    <p:sldId id="484" r:id="rId38"/>
    <p:sldId id="466" r:id="rId39"/>
    <p:sldId id="485" r:id="rId40"/>
    <p:sldId id="467" r:id="rId41"/>
    <p:sldId id="472" r:id="rId42"/>
    <p:sldId id="473" r:id="rId43"/>
    <p:sldId id="474" r:id="rId44"/>
    <p:sldId id="486" r:id="rId45"/>
    <p:sldId id="505" r:id="rId46"/>
    <p:sldId id="475" r:id="rId47"/>
    <p:sldId id="476" r:id="rId48"/>
    <p:sldId id="477" r:id="rId49"/>
    <p:sldId id="497" r:id="rId50"/>
    <p:sldId id="498" r:id="rId51"/>
    <p:sldId id="508" r:id="rId52"/>
    <p:sldId id="507" r:id="rId53"/>
    <p:sldId id="506" r:id="rId54"/>
    <p:sldId id="499" r:id="rId55"/>
    <p:sldId id="500" r:id="rId56"/>
    <p:sldId id="501" r:id="rId57"/>
    <p:sldId id="502" r:id="rId58"/>
    <p:sldId id="487" r:id="rId59"/>
    <p:sldId id="479" r:id="rId60"/>
    <p:sldId id="480" r:id="rId61"/>
    <p:sldId id="481" r:id="rId62"/>
    <p:sldId id="503" r:id="rId63"/>
    <p:sldId id="488" r:id="rId64"/>
    <p:sldId id="489" r:id="rId65"/>
    <p:sldId id="504" r:id="rId66"/>
    <p:sldId id="491" r:id="rId67"/>
    <p:sldId id="492" r:id="rId68"/>
    <p:sldId id="493" r:id="rId69"/>
    <p:sldId id="288" r:id="rId70"/>
  </p:sldIdLst>
  <p:sldSz cx="12192000" cy="6858000"/>
  <p:notesSz cx="6858000" cy="9144000"/>
  <p:custDataLst>
    <p:tags r:id="rId7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1B1E1D"/>
    <a:srgbClr val="8037B7"/>
    <a:srgbClr val="3561FF"/>
    <a:srgbClr val="BBE7D3"/>
    <a:srgbClr val="00B050"/>
    <a:srgbClr val="336600"/>
    <a:srgbClr val="067D17"/>
    <a:srgbClr val="871094"/>
    <a:srgbClr val="3B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2" d="100"/>
          <a:sy n="82" d="100"/>
        </p:scale>
        <p:origin x="4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F7F8FC"/>
                </a:highlight>
                <a:latin typeface="-apple-system"/>
              </a:rPr>
              <a:t>帮我生成一个实体类，用于封装数据库表</a:t>
            </a:r>
            <a:r>
              <a:rPr lang="en-US" altLang="zh-CN" b="0" i="0">
                <a:solidFill>
                  <a:srgbClr val="2C2C36"/>
                </a:solidFill>
                <a:effectLst/>
                <a:highlight>
                  <a:srgbClr val="F7F8FC"/>
                </a:highlight>
                <a:latin typeface="-apple-system"/>
              </a:rPr>
              <a:t>emp</a:t>
            </a:r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F7F8FC"/>
                </a:highlight>
                <a:latin typeface="-apple-system"/>
              </a:rPr>
              <a:t>中的数据，</a:t>
            </a:r>
            <a:r>
              <a:rPr lang="en-US" altLang="zh-CN" b="0" i="0">
                <a:solidFill>
                  <a:srgbClr val="2C2C36"/>
                </a:solidFill>
                <a:effectLst/>
                <a:highlight>
                  <a:srgbClr val="F7F8FC"/>
                </a:highlight>
                <a:latin typeface="-apple-system"/>
              </a:rPr>
              <a:t>emp</a:t>
            </a:r>
            <a:r>
              <a:rPr lang="zh-CN" altLang="en-US" b="0" i="0">
                <a:solidFill>
                  <a:srgbClr val="2C2C36"/>
                </a:solidFill>
                <a:effectLst/>
                <a:highlight>
                  <a:srgbClr val="F7F8FC"/>
                </a:highlight>
                <a:latin typeface="-apple-system"/>
              </a:rPr>
              <a:t>表的建表语句如下：</a:t>
            </a:r>
            <a:endParaRPr lang="en-US" altLang="zh-CN" b="0" i="0">
              <a:solidFill>
                <a:srgbClr val="2C2C36"/>
              </a:solidFill>
              <a:effectLst/>
              <a:highlight>
                <a:srgbClr val="F7F8FC"/>
              </a:highlight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create table </a:t>
            </a:r>
            <a:r>
              <a:rPr lang="en-US" altLang="zh-CN" sz="18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emp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id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int unsigned primary key auto_increment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'ID,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主键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username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varchar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-US" altLang="zh-CN" sz="180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20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not null unique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用户名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password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varchar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-US" altLang="zh-CN" sz="180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50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default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'123456'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name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varchar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-US" altLang="zh-CN" sz="180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not null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姓名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gender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tinyint unsigned not null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性别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1: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2: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女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phone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char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-US" altLang="zh-CN" sz="180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11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not null unique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手机号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job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tinyint unsigned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职位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1 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班主任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2 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讲师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3 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学工主管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4 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教研主管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5 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咨询师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salary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int unsigned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薪资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image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varchar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-US" altLang="zh-CN" sz="180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300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头像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entry_date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date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入职日期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dept_id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int unsigned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部门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ID'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create_time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datetime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创建时间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b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   </a:t>
            </a:r>
            <a:r>
              <a:rPr lang="en-US" altLang="zh-CN" sz="18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update_time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datetime 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修改时间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b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 </a:t>
            </a:r>
            <a:r>
              <a:rPr lang="en-US" altLang="zh-CN" sz="18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comment 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zh-CN" altLang="en-US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员工表</a:t>
            </a:r>
            <a:r>
              <a:rPr lang="en-US" altLang="zh-CN" sz="18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-US" altLang="zh-CN" sz="18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;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140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你是一名</a:t>
            </a:r>
            <a:r>
              <a:rPr lang="en-US" altLang="zh-CN"/>
              <a:t>java</a:t>
            </a:r>
            <a:r>
              <a:rPr lang="zh-CN" altLang="en-US"/>
              <a:t>开发工程师，帮我基于</a:t>
            </a:r>
            <a:r>
              <a:rPr lang="en-US" altLang="zh-CN"/>
              <a:t>SpringBoot+Mybatis</a:t>
            </a:r>
            <a:r>
              <a:rPr lang="zh-CN" altLang="en-US"/>
              <a:t>的实现分页查询的接口（</a:t>
            </a:r>
            <a:r>
              <a:rPr lang="en-US" altLang="zh-CN"/>
              <a:t>EmpController</a:t>
            </a:r>
            <a:r>
              <a:rPr lang="zh-CN" altLang="en-US"/>
              <a:t>、</a:t>
            </a:r>
            <a:r>
              <a:rPr lang="en-US" altLang="zh-CN"/>
              <a:t>EmpService</a:t>
            </a:r>
            <a:r>
              <a:rPr lang="zh-CN" altLang="en-US"/>
              <a:t>、</a:t>
            </a:r>
            <a:r>
              <a:rPr lang="en-US" altLang="zh-CN"/>
              <a:t>EmpServiceImpl</a:t>
            </a:r>
            <a:r>
              <a:rPr lang="zh-CN" altLang="en-US"/>
              <a:t>、</a:t>
            </a:r>
            <a:r>
              <a:rPr lang="en-US" altLang="zh-CN"/>
              <a:t>EmpMapper</a:t>
            </a:r>
            <a:r>
              <a:rPr lang="zh-CN" altLang="en-US"/>
              <a:t>），具体要求如下：</a:t>
            </a:r>
          </a:p>
          <a:p>
            <a:r>
              <a:rPr lang="en-US" altLang="zh-CN"/>
              <a:t>1. </a:t>
            </a:r>
            <a:r>
              <a:rPr lang="zh-CN" altLang="en-US"/>
              <a:t>请求方式</a:t>
            </a:r>
            <a:r>
              <a:rPr lang="en-US" altLang="zh-CN"/>
              <a:t>get</a:t>
            </a:r>
            <a:r>
              <a:rPr lang="zh-CN" altLang="en-US"/>
              <a:t>，请求路径为 </a:t>
            </a:r>
            <a:r>
              <a:rPr lang="en-US" altLang="zh-CN"/>
              <a:t>/emps </a:t>
            </a:r>
          </a:p>
          <a:p>
            <a:r>
              <a:rPr lang="en-US" altLang="zh-CN"/>
              <a:t>2. </a:t>
            </a:r>
            <a:r>
              <a:rPr lang="zh-CN" altLang="en-US"/>
              <a:t>前端传递的请求参数有，页码 </a:t>
            </a:r>
            <a:r>
              <a:rPr lang="en-US" altLang="zh-CN"/>
              <a:t>page</a:t>
            </a:r>
            <a:r>
              <a:rPr lang="zh-CN" altLang="en-US"/>
              <a:t>，每页记录数 </a:t>
            </a:r>
            <a:r>
              <a:rPr lang="en-US" altLang="zh-CN"/>
              <a:t>pageSize</a:t>
            </a:r>
            <a:r>
              <a:rPr lang="zh-CN" altLang="en-US"/>
              <a:t>。 </a:t>
            </a:r>
          </a:p>
          <a:p>
            <a:r>
              <a:rPr lang="en-US" altLang="zh-CN"/>
              <a:t>3. </a:t>
            </a:r>
            <a:r>
              <a:rPr lang="zh-CN" altLang="en-US"/>
              <a:t>响应结果为</a:t>
            </a:r>
            <a:r>
              <a:rPr lang="en-US" altLang="zh-CN"/>
              <a:t>json</a:t>
            </a:r>
            <a:r>
              <a:rPr lang="zh-CN" altLang="en-US"/>
              <a:t>格式，</a:t>
            </a:r>
            <a:r>
              <a:rPr lang="en-US" altLang="zh-CN"/>
              <a:t>Controller</a:t>
            </a:r>
            <a:r>
              <a:rPr lang="zh-CN" altLang="en-US"/>
              <a:t>层统一响应</a:t>
            </a:r>
            <a:r>
              <a:rPr lang="en-US" altLang="zh-CN"/>
              <a:t>Result</a:t>
            </a:r>
            <a:r>
              <a:rPr lang="zh-CN" altLang="en-US"/>
              <a:t>即可。</a:t>
            </a:r>
            <a:r>
              <a:rPr lang="en-US" altLang="zh-CN"/>
              <a:t>json</a:t>
            </a:r>
            <a:r>
              <a:rPr lang="zh-CN" altLang="en-US"/>
              <a:t>格式为：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"code": 1,</a:t>
            </a:r>
          </a:p>
          <a:p>
            <a:r>
              <a:rPr lang="en-US" altLang="zh-CN"/>
              <a:t>  "msg": "success",</a:t>
            </a:r>
          </a:p>
          <a:p>
            <a:r>
              <a:rPr lang="en-US" altLang="zh-CN"/>
              <a:t>  "data": {</a:t>
            </a:r>
          </a:p>
          <a:p>
            <a:r>
              <a:rPr lang="en-US" altLang="zh-CN"/>
              <a:t>    "total": 2,</a:t>
            </a:r>
          </a:p>
          <a:p>
            <a:r>
              <a:rPr lang="en-US" altLang="zh-CN"/>
              <a:t>    "rows": [</a:t>
            </a:r>
          </a:p>
          <a:p>
            <a:r>
              <a:rPr lang="en-US" altLang="zh-CN"/>
              <a:t>       {</a:t>
            </a:r>
          </a:p>
          <a:p>
            <a:r>
              <a:rPr lang="en-US" altLang="zh-CN"/>
              <a:t>        "id": 1,</a:t>
            </a:r>
          </a:p>
          <a:p>
            <a:r>
              <a:rPr lang="en-US" altLang="zh-CN"/>
              <a:t>        "username": "jinyong",</a:t>
            </a:r>
          </a:p>
          <a:p>
            <a:r>
              <a:rPr lang="en-US" altLang="zh-CN"/>
              <a:t>        "password": "123456",</a:t>
            </a:r>
          </a:p>
          <a:p>
            <a:r>
              <a:rPr lang="en-US" altLang="zh-CN"/>
              <a:t>        "name": "</a:t>
            </a:r>
            <a:r>
              <a:rPr lang="zh-CN" altLang="en-US"/>
              <a:t>金庸</a:t>
            </a:r>
            <a:r>
              <a:rPr lang="en-US" altLang="zh-CN"/>
              <a:t>",</a:t>
            </a:r>
          </a:p>
          <a:p>
            <a:r>
              <a:rPr lang="en-US" altLang="zh-CN"/>
              <a:t>        "gender": 1,</a:t>
            </a:r>
          </a:p>
          <a:p>
            <a:r>
              <a:rPr lang="en-US" altLang="zh-CN"/>
              <a:t>        "image": "https://web-framework.oss-cn-hangzhou.aliyuncs.com/2022-09-02-00-27-53B.jpg",</a:t>
            </a:r>
          </a:p>
          <a:p>
            <a:r>
              <a:rPr lang="en-US" altLang="zh-CN"/>
              <a:t>        "job": 2,</a:t>
            </a:r>
          </a:p>
          <a:p>
            <a:r>
              <a:rPr lang="en-US" altLang="zh-CN"/>
              <a:t>        "salary": 8000,</a:t>
            </a:r>
          </a:p>
          <a:p>
            <a:r>
              <a:rPr lang="en-US" altLang="zh-CN"/>
              <a:t>        "entryDate": "2015-01-01",</a:t>
            </a:r>
          </a:p>
          <a:p>
            <a:r>
              <a:rPr lang="en-US" altLang="zh-CN"/>
              <a:t>        "deptId": 2,</a:t>
            </a:r>
          </a:p>
          <a:p>
            <a:r>
              <a:rPr lang="en-US" altLang="zh-CN"/>
              <a:t>        "deptName": "</a:t>
            </a:r>
            <a:r>
              <a:rPr lang="zh-CN" altLang="en-US"/>
              <a:t>教研部</a:t>
            </a:r>
            <a:r>
              <a:rPr lang="en-US" altLang="zh-CN"/>
              <a:t>",</a:t>
            </a:r>
          </a:p>
          <a:p>
            <a:r>
              <a:rPr lang="en-US" altLang="zh-CN"/>
              <a:t>        "createTime": "2022-09-01T23:06:30",</a:t>
            </a:r>
          </a:p>
          <a:p>
            <a:r>
              <a:rPr lang="en-US" altLang="zh-CN"/>
              <a:t>        "updateTime": "2022-09-02T00:29:04"</a:t>
            </a:r>
          </a:p>
          <a:p>
            <a:r>
              <a:rPr lang="en-US" altLang="zh-CN"/>
              <a:t>      }</a:t>
            </a:r>
          </a:p>
          <a:p>
            <a:r>
              <a:rPr lang="en-US" altLang="zh-CN"/>
              <a:t>    ]</a:t>
            </a:r>
          </a:p>
          <a:p>
            <a:r>
              <a:rPr lang="en-US" altLang="zh-CN"/>
              <a:t>  }</a:t>
            </a:r>
          </a:p>
          <a:p>
            <a:r>
              <a:rPr lang="en-US" altLang="zh-CN"/>
              <a:t>}</a:t>
            </a:r>
          </a:p>
          <a:p>
            <a:r>
              <a:rPr lang="en-US" altLang="zh-CN"/>
              <a:t>4. </a:t>
            </a:r>
            <a:r>
              <a:rPr lang="zh-CN" altLang="en-US"/>
              <a:t>要查询的表结构是员工表</a:t>
            </a:r>
            <a:r>
              <a:rPr lang="en-US" altLang="zh-CN"/>
              <a:t>emp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55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B055A-93DA-4A75-34A1-D717968F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BA7122-3BE0-8113-1F84-A02232572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BDDFBA-6276-32E1-4CBC-BABD54235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你是一名</a:t>
            </a:r>
            <a:r>
              <a:rPr lang="en-US" altLang="zh-CN"/>
              <a:t>java</a:t>
            </a:r>
            <a:r>
              <a:rPr lang="zh-CN" altLang="en-US"/>
              <a:t>开发工程师，帮我基于</a:t>
            </a:r>
            <a:r>
              <a:rPr lang="en-US" altLang="zh-CN"/>
              <a:t>SpringBoot+Mybatis</a:t>
            </a:r>
            <a:r>
              <a:rPr lang="zh-CN" altLang="en-US"/>
              <a:t>的实现分页查询的接口（</a:t>
            </a:r>
            <a:r>
              <a:rPr lang="en-US" altLang="zh-CN"/>
              <a:t>EmpController</a:t>
            </a:r>
            <a:r>
              <a:rPr lang="zh-CN" altLang="en-US"/>
              <a:t>、</a:t>
            </a:r>
            <a:r>
              <a:rPr lang="en-US" altLang="zh-CN"/>
              <a:t>EmpService</a:t>
            </a:r>
            <a:r>
              <a:rPr lang="zh-CN" altLang="en-US"/>
              <a:t>、</a:t>
            </a:r>
            <a:r>
              <a:rPr lang="en-US" altLang="zh-CN"/>
              <a:t>EmpServiceImpl</a:t>
            </a:r>
            <a:r>
              <a:rPr lang="zh-CN" altLang="en-US"/>
              <a:t>、</a:t>
            </a:r>
            <a:r>
              <a:rPr lang="en-US" altLang="zh-CN"/>
              <a:t>EmpMapper</a:t>
            </a:r>
            <a:r>
              <a:rPr lang="zh-CN" altLang="en-US"/>
              <a:t>），具体要求如下：</a:t>
            </a:r>
          </a:p>
          <a:p>
            <a:r>
              <a:rPr lang="en-US" altLang="zh-CN"/>
              <a:t>1. </a:t>
            </a:r>
            <a:r>
              <a:rPr lang="zh-CN" altLang="en-US"/>
              <a:t>请求方式</a:t>
            </a:r>
            <a:r>
              <a:rPr lang="en-US" altLang="zh-CN"/>
              <a:t>get</a:t>
            </a:r>
            <a:r>
              <a:rPr lang="zh-CN" altLang="en-US"/>
              <a:t>，请求路径为 </a:t>
            </a:r>
            <a:r>
              <a:rPr lang="en-US" altLang="zh-CN"/>
              <a:t>/emps </a:t>
            </a:r>
          </a:p>
          <a:p>
            <a:r>
              <a:rPr lang="en-US" altLang="zh-CN"/>
              <a:t>2. </a:t>
            </a:r>
            <a:r>
              <a:rPr lang="zh-CN" altLang="en-US"/>
              <a:t>前端传递的请求参数有，页码 </a:t>
            </a:r>
            <a:r>
              <a:rPr lang="en-US" altLang="zh-CN"/>
              <a:t>page</a:t>
            </a:r>
            <a:r>
              <a:rPr lang="zh-CN" altLang="en-US"/>
              <a:t>，每页记录数 </a:t>
            </a:r>
            <a:r>
              <a:rPr lang="en-US" altLang="zh-CN"/>
              <a:t>pageSize</a:t>
            </a:r>
            <a:r>
              <a:rPr lang="zh-CN" altLang="en-US"/>
              <a:t>。 </a:t>
            </a:r>
          </a:p>
          <a:p>
            <a:r>
              <a:rPr lang="en-US" altLang="zh-CN"/>
              <a:t>3. </a:t>
            </a:r>
            <a:r>
              <a:rPr lang="zh-CN" altLang="en-US"/>
              <a:t>响应结果为</a:t>
            </a:r>
            <a:r>
              <a:rPr lang="en-US" altLang="zh-CN"/>
              <a:t>json</a:t>
            </a:r>
            <a:r>
              <a:rPr lang="zh-CN" altLang="en-US"/>
              <a:t>格式，</a:t>
            </a:r>
            <a:r>
              <a:rPr lang="en-US" altLang="zh-CN"/>
              <a:t>Controller</a:t>
            </a:r>
            <a:r>
              <a:rPr lang="zh-CN" altLang="en-US"/>
              <a:t>层统一响应</a:t>
            </a:r>
            <a:r>
              <a:rPr lang="en-US" altLang="zh-CN"/>
              <a:t>Result</a:t>
            </a:r>
            <a:r>
              <a:rPr lang="zh-CN" altLang="en-US"/>
              <a:t>即可。</a:t>
            </a:r>
            <a:r>
              <a:rPr lang="en-US" altLang="zh-CN"/>
              <a:t>json</a:t>
            </a:r>
            <a:r>
              <a:rPr lang="zh-CN" altLang="en-US"/>
              <a:t>格式为：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"code": 1,</a:t>
            </a:r>
          </a:p>
          <a:p>
            <a:r>
              <a:rPr lang="en-US" altLang="zh-CN"/>
              <a:t>  "msg": "success",</a:t>
            </a:r>
          </a:p>
          <a:p>
            <a:r>
              <a:rPr lang="en-US" altLang="zh-CN"/>
              <a:t>  "data": {</a:t>
            </a:r>
          </a:p>
          <a:p>
            <a:r>
              <a:rPr lang="en-US" altLang="zh-CN"/>
              <a:t>    "total": 2,</a:t>
            </a:r>
          </a:p>
          <a:p>
            <a:r>
              <a:rPr lang="en-US" altLang="zh-CN"/>
              <a:t>    "rows": [</a:t>
            </a:r>
          </a:p>
          <a:p>
            <a:r>
              <a:rPr lang="en-US" altLang="zh-CN"/>
              <a:t>       {</a:t>
            </a:r>
          </a:p>
          <a:p>
            <a:r>
              <a:rPr lang="en-US" altLang="zh-CN"/>
              <a:t>        "id": 1,</a:t>
            </a:r>
          </a:p>
          <a:p>
            <a:r>
              <a:rPr lang="en-US" altLang="zh-CN"/>
              <a:t>        "username": "jinyong",</a:t>
            </a:r>
          </a:p>
          <a:p>
            <a:r>
              <a:rPr lang="en-US" altLang="zh-CN"/>
              <a:t>        "password": "123456",</a:t>
            </a:r>
          </a:p>
          <a:p>
            <a:r>
              <a:rPr lang="en-US" altLang="zh-CN"/>
              <a:t>        "name": "</a:t>
            </a:r>
            <a:r>
              <a:rPr lang="zh-CN" altLang="en-US"/>
              <a:t>金庸</a:t>
            </a:r>
            <a:r>
              <a:rPr lang="en-US" altLang="zh-CN"/>
              <a:t>",</a:t>
            </a:r>
          </a:p>
          <a:p>
            <a:r>
              <a:rPr lang="en-US" altLang="zh-CN"/>
              <a:t>        "gender": 1,</a:t>
            </a:r>
          </a:p>
          <a:p>
            <a:r>
              <a:rPr lang="en-US" altLang="zh-CN"/>
              <a:t>        "image": "https://web-framework.oss-cn-hangzhou.aliyuncs.com/2022-09-02-00-27-53B.jpg",</a:t>
            </a:r>
          </a:p>
          <a:p>
            <a:r>
              <a:rPr lang="en-US" altLang="zh-CN"/>
              <a:t>        "job": 2,</a:t>
            </a:r>
          </a:p>
          <a:p>
            <a:r>
              <a:rPr lang="en-US" altLang="zh-CN"/>
              <a:t>        "salary": 8000,</a:t>
            </a:r>
          </a:p>
          <a:p>
            <a:r>
              <a:rPr lang="en-US" altLang="zh-CN"/>
              <a:t>        "entryDate": "2015-01-01",</a:t>
            </a:r>
          </a:p>
          <a:p>
            <a:r>
              <a:rPr lang="en-US" altLang="zh-CN"/>
              <a:t>        "deptId": 2,</a:t>
            </a:r>
          </a:p>
          <a:p>
            <a:r>
              <a:rPr lang="en-US" altLang="zh-CN"/>
              <a:t>        "deptName": "</a:t>
            </a:r>
            <a:r>
              <a:rPr lang="zh-CN" altLang="en-US"/>
              <a:t>教研部</a:t>
            </a:r>
            <a:r>
              <a:rPr lang="en-US" altLang="zh-CN"/>
              <a:t>",</a:t>
            </a:r>
          </a:p>
          <a:p>
            <a:r>
              <a:rPr lang="en-US" altLang="zh-CN"/>
              <a:t>        "createTime": "2022-09-01T23:06:30",</a:t>
            </a:r>
          </a:p>
          <a:p>
            <a:r>
              <a:rPr lang="en-US" altLang="zh-CN"/>
              <a:t>        "updateTime": "2022-09-02T00:29:04"</a:t>
            </a:r>
          </a:p>
          <a:p>
            <a:r>
              <a:rPr lang="en-US" altLang="zh-CN"/>
              <a:t>      }</a:t>
            </a:r>
          </a:p>
          <a:p>
            <a:r>
              <a:rPr lang="en-US" altLang="zh-CN"/>
              <a:t>    ]</a:t>
            </a:r>
          </a:p>
          <a:p>
            <a:r>
              <a:rPr lang="en-US" altLang="zh-CN"/>
              <a:t>  }</a:t>
            </a:r>
          </a:p>
          <a:p>
            <a:r>
              <a:rPr lang="en-US" altLang="zh-CN"/>
              <a:t>}</a:t>
            </a:r>
          </a:p>
          <a:p>
            <a:r>
              <a:rPr lang="en-US" altLang="zh-CN"/>
              <a:t>4. </a:t>
            </a:r>
            <a:r>
              <a:rPr lang="zh-CN" altLang="en-US"/>
              <a:t>要查询的表结构是员工表</a:t>
            </a:r>
            <a:r>
              <a:rPr lang="en-US" altLang="zh-CN"/>
              <a:t>emp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30A8A3-A9BA-A4CA-3063-D9F24BB0D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68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F2EC-F3A2-D5A7-F244-E516472E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E795A3-D374-10A9-7387-43A659776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0B10E6-98BE-F96F-230A-10B35AB37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你是一名</a:t>
            </a:r>
            <a:r>
              <a:rPr lang="en-US" altLang="zh-CN"/>
              <a:t>java</a:t>
            </a:r>
            <a:r>
              <a:rPr lang="zh-CN" altLang="en-US"/>
              <a:t>开发工程师，帮我基于</a:t>
            </a:r>
            <a:r>
              <a:rPr lang="en-US" altLang="zh-CN"/>
              <a:t>SpringBoot+Mybatis</a:t>
            </a:r>
            <a:r>
              <a:rPr lang="zh-CN" altLang="en-US"/>
              <a:t>的实现分页查询的接口（</a:t>
            </a:r>
            <a:r>
              <a:rPr lang="en-US" altLang="zh-CN"/>
              <a:t>EmpController</a:t>
            </a:r>
            <a:r>
              <a:rPr lang="zh-CN" altLang="en-US"/>
              <a:t>、</a:t>
            </a:r>
            <a:r>
              <a:rPr lang="en-US" altLang="zh-CN"/>
              <a:t>EmpService</a:t>
            </a:r>
            <a:r>
              <a:rPr lang="zh-CN" altLang="en-US"/>
              <a:t>、</a:t>
            </a:r>
            <a:r>
              <a:rPr lang="en-US" altLang="zh-CN"/>
              <a:t>EmpServiceImpl</a:t>
            </a:r>
            <a:r>
              <a:rPr lang="zh-CN" altLang="en-US"/>
              <a:t>、</a:t>
            </a:r>
            <a:r>
              <a:rPr lang="en-US" altLang="zh-CN"/>
              <a:t>EmpMapper</a:t>
            </a:r>
            <a:r>
              <a:rPr lang="zh-CN" altLang="en-US"/>
              <a:t>），具体要求如下：</a:t>
            </a:r>
          </a:p>
          <a:p>
            <a:r>
              <a:rPr lang="en-US" altLang="zh-CN"/>
              <a:t>1. </a:t>
            </a:r>
            <a:r>
              <a:rPr lang="zh-CN" altLang="en-US"/>
              <a:t>请求方式</a:t>
            </a:r>
            <a:r>
              <a:rPr lang="en-US" altLang="zh-CN"/>
              <a:t>get</a:t>
            </a:r>
            <a:r>
              <a:rPr lang="zh-CN" altLang="en-US"/>
              <a:t>，请求路径为 </a:t>
            </a:r>
            <a:r>
              <a:rPr lang="en-US" altLang="zh-CN"/>
              <a:t>/emps </a:t>
            </a:r>
          </a:p>
          <a:p>
            <a:r>
              <a:rPr lang="en-US" altLang="zh-CN"/>
              <a:t>2. </a:t>
            </a:r>
            <a:r>
              <a:rPr lang="zh-CN" altLang="en-US"/>
              <a:t>前端传递的请求参数有，页码 </a:t>
            </a:r>
            <a:r>
              <a:rPr lang="en-US" altLang="zh-CN"/>
              <a:t>page</a:t>
            </a:r>
            <a:r>
              <a:rPr lang="zh-CN" altLang="en-US"/>
              <a:t>，每页记录数 </a:t>
            </a:r>
            <a:r>
              <a:rPr lang="en-US" altLang="zh-CN"/>
              <a:t>pageSize</a:t>
            </a:r>
            <a:r>
              <a:rPr lang="zh-CN" altLang="en-US"/>
              <a:t>。 </a:t>
            </a:r>
          </a:p>
          <a:p>
            <a:r>
              <a:rPr lang="en-US" altLang="zh-CN"/>
              <a:t>3. </a:t>
            </a:r>
            <a:r>
              <a:rPr lang="zh-CN" altLang="en-US"/>
              <a:t>响应结果为</a:t>
            </a:r>
            <a:r>
              <a:rPr lang="en-US" altLang="zh-CN"/>
              <a:t>json</a:t>
            </a:r>
            <a:r>
              <a:rPr lang="zh-CN" altLang="en-US"/>
              <a:t>格式，</a:t>
            </a:r>
            <a:r>
              <a:rPr lang="en-US" altLang="zh-CN"/>
              <a:t>Controller</a:t>
            </a:r>
            <a:r>
              <a:rPr lang="zh-CN" altLang="en-US"/>
              <a:t>层统一响应</a:t>
            </a:r>
            <a:r>
              <a:rPr lang="en-US" altLang="zh-CN"/>
              <a:t>Result</a:t>
            </a:r>
            <a:r>
              <a:rPr lang="zh-CN" altLang="en-US"/>
              <a:t>即可。</a:t>
            </a:r>
            <a:r>
              <a:rPr lang="en-US" altLang="zh-CN"/>
              <a:t>json</a:t>
            </a:r>
            <a:r>
              <a:rPr lang="zh-CN" altLang="en-US"/>
              <a:t>格式为：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"code": 1,</a:t>
            </a:r>
          </a:p>
          <a:p>
            <a:r>
              <a:rPr lang="en-US" altLang="zh-CN"/>
              <a:t>  "msg": "success",</a:t>
            </a:r>
          </a:p>
          <a:p>
            <a:r>
              <a:rPr lang="en-US" altLang="zh-CN"/>
              <a:t>  "data": {</a:t>
            </a:r>
          </a:p>
          <a:p>
            <a:r>
              <a:rPr lang="en-US" altLang="zh-CN"/>
              <a:t>    "total": 2,</a:t>
            </a:r>
          </a:p>
          <a:p>
            <a:r>
              <a:rPr lang="en-US" altLang="zh-CN"/>
              <a:t>    "rows": [</a:t>
            </a:r>
          </a:p>
          <a:p>
            <a:r>
              <a:rPr lang="en-US" altLang="zh-CN"/>
              <a:t>       {</a:t>
            </a:r>
          </a:p>
          <a:p>
            <a:r>
              <a:rPr lang="en-US" altLang="zh-CN"/>
              <a:t>        "id": 1,</a:t>
            </a:r>
          </a:p>
          <a:p>
            <a:r>
              <a:rPr lang="en-US" altLang="zh-CN"/>
              <a:t>        "username": "jinyong",</a:t>
            </a:r>
          </a:p>
          <a:p>
            <a:r>
              <a:rPr lang="en-US" altLang="zh-CN"/>
              <a:t>        "password": "123456",</a:t>
            </a:r>
          </a:p>
          <a:p>
            <a:r>
              <a:rPr lang="en-US" altLang="zh-CN"/>
              <a:t>        "name": "</a:t>
            </a:r>
            <a:r>
              <a:rPr lang="zh-CN" altLang="en-US"/>
              <a:t>金庸</a:t>
            </a:r>
            <a:r>
              <a:rPr lang="en-US" altLang="zh-CN"/>
              <a:t>",</a:t>
            </a:r>
          </a:p>
          <a:p>
            <a:r>
              <a:rPr lang="en-US" altLang="zh-CN"/>
              <a:t>        "gender": 1,</a:t>
            </a:r>
          </a:p>
          <a:p>
            <a:r>
              <a:rPr lang="en-US" altLang="zh-CN"/>
              <a:t>        "image": "https://web-framework.oss-cn-hangzhou.aliyuncs.com/2022-09-02-00-27-53B.jpg",</a:t>
            </a:r>
          </a:p>
          <a:p>
            <a:r>
              <a:rPr lang="en-US" altLang="zh-CN"/>
              <a:t>        "job": 2,</a:t>
            </a:r>
          </a:p>
          <a:p>
            <a:r>
              <a:rPr lang="en-US" altLang="zh-CN"/>
              <a:t>        "salary": 8000,</a:t>
            </a:r>
          </a:p>
          <a:p>
            <a:r>
              <a:rPr lang="en-US" altLang="zh-CN"/>
              <a:t>        "entryDate": "2015-01-01",</a:t>
            </a:r>
          </a:p>
          <a:p>
            <a:r>
              <a:rPr lang="en-US" altLang="zh-CN"/>
              <a:t>        "deptId": 2,</a:t>
            </a:r>
          </a:p>
          <a:p>
            <a:r>
              <a:rPr lang="en-US" altLang="zh-CN"/>
              <a:t>        "deptName": "</a:t>
            </a:r>
            <a:r>
              <a:rPr lang="zh-CN" altLang="en-US"/>
              <a:t>教研部</a:t>
            </a:r>
            <a:r>
              <a:rPr lang="en-US" altLang="zh-CN"/>
              <a:t>",</a:t>
            </a:r>
          </a:p>
          <a:p>
            <a:r>
              <a:rPr lang="en-US" altLang="zh-CN"/>
              <a:t>        "createTime": "2022-09-01T23:06:30",</a:t>
            </a:r>
          </a:p>
          <a:p>
            <a:r>
              <a:rPr lang="en-US" altLang="zh-CN"/>
              <a:t>        "updateTime": "2022-09-02T00:29:04"</a:t>
            </a:r>
          </a:p>
          <a:p>
            <a:r>
              <a:rPr lang="en-US" altLang="zh-CN"/>
              <a:t>      }</a:t>
            </a:r>
          </a:p>
          <a:p>
            <a:r>
              <a:rPr lang="en-US" altLang="zh-CN"/>
              <a:t>    ]</a:t>
            </a:r>
          </a:p>
          <a:p>
            <a:r>
              <a:rPr lang="en-US" altLang="zh-CN"/>
              <a:t>  }</a:t>
            </a:r>
          </a:p>
          <a:p>
            <a:r>
              <a:rPr lang="en-US" altLang="zh-CN"/>
              <a:t>}</a:t>
            </a:r>
          </a:p>
          <a:p>
            <a:r>
              <a:rPr lang="en-US" altLang="zh-CN"/>
              <a:t>4. </a:t>
            </a:r>
            <a:r>
              <a:rPr lang="zh-CN" altLang="en-US"/>
              <a:t>要查询的表结构是员工表</a:t>
            </a:r>
            <a:r>
              <a:rPr lang="en-US" altLang="zh-CN"/>
              <a:t>emp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6DA0F8-F498-36B2-7F5A-94B69D448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73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1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/>
              <a:t>Tlias</a:t>
            </a:r>
            <a:r>
              <a:rPr lang="zh-CN" altLang="en-US"/>
              <a:t>系统 </a:t>
            </a:r>
            <a:r>
              <a:rPr lang="en-US" altLang="zh-CN"/>
              <a:t>- </a:t>
            </a:r>
            <a:r>
              <a:rPr lang="zh-CN" altLang="en-US"/>
              <a:t>员工管理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4" name="!!文本占位符 17">
            <a:extLst>
              <a:ext uri="{FF2B5EF4-FFF2-40B4-BE49-F238E27FC236}">
                <a16:creationId xmlns:a16="http://schemas.microsoft.com/office/drawing/2014/main" id="{D5C939AA-D437-2AA7-9864-AF093D435257}"/>
              </a:ext>
            </a:extLst>
          </p:cNvPr>
          <p:cNvSpPr txBox="1">
            <a:spLocks/>
          </p:cNvSpPr>
          <p:nvPr/>
        </p:nvSpPr>
        <p:spPr>
          <a:xfrm>
            <a:off x="10038402" y="2826417"/>
            <a:ext cx="2153598" cy="1646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多表关系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多表查询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员工列表查询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50129C-D15D-6E92-FF02-E29A67FA6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5" y="1026666"/>
            <a:ext cx="9111785" cy="4990491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DC8907-49BD-06ED-D401-C25C8B844E70}"/>
              </a:ext>
            </a:extLst>
          </p:cNvPr>
          <p:cNvSpPr/>
          <p:nvPr/>
        </p:nvSpPr>
        <p:spPr>
          <a:xfrm>
            <a:off x="675604" y="3346020"/>
            <a:ext cx="1332489" cy="28468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53929D-C3A3-ACA1-0184-688EFF9A2166}"/>
              </a:ext>
            </a:extLst>
          </p:cNvPr>
          <p:cNvSpPr/>
          <p:nvPr/>
        </p:nvSpPr>
        <p:spPr>
          <a:xfrm>
            <a:off x="4889015" y="2764715"/>
            <a:ext cx="881865" cy="2883049"/>
          </a:xfrm>
          <a:prstGeom prst="roundRect">
            <a:avLst>
              <a:gd name="adj" fmla="val 3452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033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文本占位符 17">
            <a:extLst>
              <a:ext uri="{FF2B5EF4-FFF2-40B4-BE49-F238E27FC236}">
                <a16:creationId xmlns:a16="http://schemas.microsoft.com/office/drawing/2014/main" id="{49135AA5-EA56-3489-7436-C4E596CC7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662411"/>
            <a:ext cx="4007125" cy="2631150"/>
          </a:xfrm>
        </p:spPr>
        <p:txBody>
          <a:bodyPr/>
          <a:lstStyle/>
          <a:p>
            <a:r>
              <a:rPr lang="zh-CN" altLang="en-US" sz="2000"/>
              <a:t>多表关系</a:t>
            </a:r>
            <a:endParaRPr lang="en-US" altLang="zh-CN" sz="2000"/>
          </a:p>
          <a:p>
            <a:r>
              <a:rPr lang="zh-CN" altLang="en-US" sz="2000"/>
              <a:t>多表查询</a:t>
            </a:r>
            <a:endParaRPr lang="en-US" altLang="zh-CN" sz="2000"/>
          </a:p>
          <a:p>
            <a:r>
              <a:rPr lang="zh-CN" altLang="en-US" sz="2000"/>
              <a:t>员工列表查询</a:t>
            </a:r>
          </a:p>
        </p:txBody>
      </p:sp>
    </p:spTree>
    <p:extLst>
      <p:ext uri="{BB962C8B-B14F-4D97-AF65-F5344CB8AC3E}">
        <p14:creationId xmlns:p14="http://schemas.microsoft.com/office/powerpoint/2010/main" val="61162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812A26-F75B-EF43-148E-9340017CC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多表关系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5130DC-150F-4BB8-0905-404430DC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6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31965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项目开发中，在进行数据库表结构设计时，会根据业务需求及业务模块之间的关系，分析并设计表结构。由于业务之间相互关联，所以各个表结构之间也存在着各种联系。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多表关系分为三种：</a:t>
            </a:r>
            <a:endParaRPr lang="en-US" altLang="zh-CN"/>
          </a:p>
        </p:txBody>
      </p:sp>
      <p:sp>
        <p:nvSpPr>
          <p:cNvPr id="4" name="!!文本框 2">
            <a:extLst>
              <a:ext uri="{FF2B5EF4-FFF2-40B4-BE49-F238E27FC236}">
                <a16:creationId xmlns:a16="http://schemas.microsoft.com/office/drawing/2014/main" id="{B25AB1CF-42A2-8B0A-8C29-43EDC926B0ED}"/>
              </a:ext>
            </a:extLst>
          </p:cNvPr>
          <p:cNvSpPr txBox="1"/>
          <p:nvPr/>
        </p:nvSpPr>
        <p:spPr>
          <a:xfrm>
            <a:off x="576196" y="2392474"/>
            <a:ext cx="2391186" cy="131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一对多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多对一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一对一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多对多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B23315-1407-CF75-2818-81989302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17" y="2392474"/>
            <a:ext cx="5777092" cy="3833513"/>
          </a:xfrm>
          <a:prstGeom prst="roundRect">
            <a:avLst>
              <a:gd name="adj" fmla="val 1233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isometricOffAxis1Right"/>
            <a:lightRig rig="threePt" dir="t"/>
          </a:scene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10B074-2C56-5D55-11FC-B2CB4FE2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83" y="2786231"/>
            <a:ext cx="5239952" cy="3635888"/>
          </a:xfrm>
          <a:prstGeom prst="roundRect">
            <a:avLst>
              <a:gd name="adj" fmla="val 1267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isometricOffAxis1Right"/>
            <a:lightRig rig="threePt" dir="t"/>
          </a:scene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D09A18-C901-885A-3F68-FE0587ABD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415" y="3163610"/>
            <a:ext cx="5958202" cy="3261844"/>
          </a:xfrm>
          <a:prstGeom prst="roundRect">
            <a:avLst>
              <a:gd name="adj" fmla="val 1276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6975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38B375-C999-D9E1-EC82-3961A4D81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多表关系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69677-572E-6495-ECD9-04A6D1F93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176091"/>
          </a:xfrm>
        </p:spPr>
        <p:txBody>
          <a:bodyPr/>
          <a:lstStyle/>
          <a:p>
            <a:r>
              <a:rPr lang="zh-CN" altLang="en-US"/>
              <a:t>一对多（多对一）</a:t>
            </a:r>
            <a:endParaRPr lang="en-US" altLang="zh-CN"/>
          </a:p>
          <a:p>
            <a:r>
              <a:rPr lang="zh-CN" altLang="en-US"/>
              <a:t>一对一</a:t>
            </a:r>
            <a:endParaRPr lang="en-US" altLang="zh-CN"/>
          </a:p>
          <a:p>
            <a:r>
              <a:rPr lang="zh-CN" altLang="en-US"/>
              <a:t>多对多</a:t>
            </a:r>
            <a:endParaRPr lang="en-US" altLang="zh-CN"/>
          </a:p>
          <a:p>
            <a:r>
              <a:rPr lang="zh-CN" altLang="en-US"/>
              <a:t>案例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C48B19C-DA00-8638-4CCF-C541225A65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14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一对多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场景：部门与员工的关系 （一个部门下有多个员工）。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E6D1B1-0B32-6315-7D97-09101D093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86" y="1782271"/>
            <a:ext cx="5620870" cy="3055068"/>
          </a:xfrm>
          <a:prstGeom prst="roundRect">
            <a:avLst>
              <a:gd name="adj" fmla="val 2289"/>
            </a:avLst>
          </a:prstGeom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50222DF-2E62-CF77-2E6C-5CA3939E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657" y="2653650"/>
            <a:ext cx="6814527" cy="3867951"/>
          </a:xfrm>
          <a:prstGeom prst="roundRect">
            <a:avLst>
              <a:gd name="adj" fmla="val 2297"/>
            </a:avLst>
          </a:prstGeom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8D9D5C-8B7F-4E18-7D4C-D20A60E620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78" b="1390"/>
          <a:stretch/>
        </p:blipFill>
        <p:spPr>
          <a:xfrm>
            <a:off x="6313430" y="3275623"/>
            <a:ext cx="3578262" cy="2892561"/>
          </a:xfrm>
          <a:prstGeom prst="roundRect">
            <a:avLst>
              <a:gd name="adj" fmla="val 2297"/>
            </a:avLst>
          </a:prstGeom>
          <a:ln w="6350"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2CBF78-1F05-E891-9504-CD9074A4C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110" y="1021983"/>
            <a:ext cx="4577327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9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一对多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场景：部门与员工的关系 （一个部门下有多个员工）。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940FE18B-E862-6847-AC54-B128D0AFE13F}"/>
              </a:ext>
            </a:extLst>
          </p:cNvPr>
          <p:cNvGrpSpPr/>
          <p:nvPr/>
        </p:nvGrpSpPr>
        <p:grpSpPr>
          <a:xfrm>
            <a:off x="826719" y="1654508"/>
            <a:ext cx="5083525" cy="1845827"/>
            <a:chOff x="2297721" y="3660322"/>
            <a:chExt cx="5601102" cy="184593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3A0FDE3-BDC8-3043-AF47-3E783948AE96}"/>
                </a:ext>
              </a:extLst>
            </p:cNvPr>
            <p:cNvSpPr/>
            <p:nvPr/>
          </p:nvSpPr>
          <p:spPr>
            <a:xfrm>
              <a:off x="2297729" y="3660324"/>
              <a:ext cx="5601094" cy="1845934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 table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unsigned primary key auto_increment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'ID'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name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varchar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not null unique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部门名称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create_time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datetime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创建时间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update_time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datetime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修改时间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b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部门表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 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C31A6884-3A3A-8CFF-67EF-9F842E8C3680}"/>
                </a:ext>
              </a:extLst>
            </p:cNvPr>
            <p:cNvSpPr/>
            <p:nvPr/>
          </p:nvSpPr>
          <p:spPr>
            <a:xfrm>
              <a:off x="2297721" y="3660322"/>
              <a:ext cx="56010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部门表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59631C5-DFCD-7C89-0776-ECA595FBBA5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6659F56-3894-C95B-EEB8-03F2623585E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5367B6B-751D-9356-6655-52E0AD922CE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A0EBD171-07F0-AA9C-DB73-2EEE3021C3CE}"/>
              </a:ext>
            </a:extLst>
          </p:cNvPr>
          <p:cNvGrpSpPr/>
          <p:nvPr/>
        </p:nvGrpSpPr>
        <p:grpSpPr>
          <a:xfrm>
            <a:off x="6041356" y="1654508"/>
            <a:ext cx="5622552" cy="4068222"/>
            <a:chOff x="2297721" y="3660322"/>
            <a:chExt cx="6195010" cy="406846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1B3242B-830B-C89A-FF60-4F56AE19DBC7}"/>
                </a:ext>
              </a:extLst>
            </p:cNvPr>
            <p:cNvSpPr/>
            <p:nvPr/>
          </p:nvSpPr>
          <p:spPr>
            <a:xfrm>
              <a:off x="2297729" y="3660324"/>
              <a:ext cx="6195002" cy="4068460"/>
            </a:xfrm>
            <a:prstGeom prst="roundRect">
              <a:avLst>
                <a:gd name="adj" fmla="val 190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 table </a:t>
              </a:r>
              <a:r>
                <a:rPr lang="en-US" altLang="zh-CN" sz="110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emp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unsigned primary key auto_increment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'ID,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主键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username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varchar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not null unique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用户名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password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varchar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32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not null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密码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name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varchar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not null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gender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tinyint unsigned not null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1: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2: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女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phone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11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not null unique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手机号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job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tinyint unsigned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职位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1: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班主任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,2: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讲师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salary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unsigned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薪资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image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varchar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1100">
                  <a:solidFill>
                    <a:srgbClr val="1750EB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255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头像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entry_date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date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入职日期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create_time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datetime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创建时间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b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update_time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datetime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修改时间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’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100">
                  <a:solidFill>
                    <a:srgbClr val="871094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dept_id </a:t>
              </a:r>
              <a:r>
                <a:rPr lang="en-US" altLang="zh-CN" sz="1100">
                  <a:solidFill>
                    <a:srgbClr val="0033B3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unsigned comment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关联的部门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ID’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1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comment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员工表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’</a:t>
              </a:r>
              <a:r>
                <a:rPr lang="en-US" altLang="zh-CN" sz="11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8C94BFA8-429C-54B9-202E-BCABB0856622}"/>
                </a:ext>
              </a:extLst>
            </p:cNvPr>
            <p:cNvSpPr/>
            <p:nvPr/>
          </p:nvSpPr>
          <p:spPr>
            <a:xfrm>
              <a:off x="2297721" y="3660322"/>
              <a:ext cx="619500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员工表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51FB2F2-C1C0-C0C6-B128-4F8CE7541A9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D93157C-E346-1683-2212-65E8CE0E040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B5AB629-4F3C-0B17-A1F7-A68224FF6F9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891677D3-EEDE-C8BC-2DB1-7CBC9139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613" y="5155906"/>
            <a:ext cx="4275190" cy="27017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AB85D6C-C481-CEE1-2759-721ABAD10BE1}"/>
              </a:ext>
            </a:extLst>
          </p:cNvPr>
          <p:cNvSpPr/>
          <p:nvPr/>
        </p:nvSpPr>
        <p:spPr>
          <a:xfrm>
            <a:off x="826719" y="2150478"/>
            <a:ext cx="5083518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095743-1974-655D-34DB-4BF3007905BD}"/>
              </a:ext>
            </a:extLst>
          </p:cNvPr>
          <p:cNvSpPr/>
          <p:nvPr/>
        </p:nvSpPr>
        <p:spPr>
          <a:xfrm>
            <a:off x="6041356" y="5173836"/>
            <a:ext cx="5622544" cy="25224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01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一对多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场景：部门与员工的关系 （一个部门下有多个员工）。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366BE7-DAFF-0522-ACF7-7599737EF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634"/>
          <a:stretch/>
        </p:blipFill>
        <p:spPr>
          <a:xfrm>
            <a:off x="927828" y="2302556"/>
            <a:ext cx="2156120" cy="26790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1949AC-C391-7F99-7C58-0328D958D90B}"/>
              </a:ext>
            </a:extLst>
          </p:cNvPr>
          <p:cNvSpPr/>
          <p:nvPr/>
        </p:nvSpPr>
        <p:spPr>
          <a:xfrm>
            <a:off x="927828" y="2302556"/>
            <a:ext cx="982626" cy="2642891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4D06A0-2B21-2308-A4E6-B76AE70A45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224"/>
          <a:stretch/>
        </p:blipFill>
        <p:spPr>
          <a:xfrm>
            <a:off x="4232312" y="2276779"/>
            <a:ext cx="7433415" cy="27048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D0F8A6A-6689-780F-FB0B-2733F035B69C}"/>
              </a:ext>
            </a:extLst>
          </p:cNvPr>
          <p:cNvSpPr/>
          <p:nvPr/>
        </p:nvSpPr>
        <p:spPr>
          <a:xfrm>
            <a:off x="10731724" y="2284573"/>
            <a:ext cx="934003" cy="2704862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85CF057A-9510-7CAD-CB43-965EBB985AA8}"/>
              </a:ext>
            </a:extLst>
          </p:cNvPr>
          <p:cNvCxnSpPr>
            <a:cxnSpLocks/>
            <a:stCxn id="7" idx="0"/>
            <a:endCxn id="5" idx="0"/>
          </p:cNvCxnSpPr>
          <p:nvPr/>
        </p:nvCxnSpPr>
        <p:spPr>
          <a:xfrm rot="16200000" flipH="1" flipV="1">
            <a:off x="6299942" y="-2596229"/>
            <a:ext cx="17983" cy="9779585"/>
          </a:xfrm>
          <a:prstGeom prst="bentConnector3">
            <a:avLst>
              <a:gd name="adj1" fmla="val -216852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2D53B1DD-DE8F-4423-23E4-C28DA396EB8F}"/>
              </a:ext>
            </a:extLst>
          </p:cNvPr>
          <p:cNvSpPr/>
          <p:nvPr/>
        </p:nvSpPr>
        <p:spPr>
          <a:xfrm>
            <a:off x="927828" y="1811795"/>
            <a:ext cx="394447" cy="394447"/>
          </a:xfrm>
          <a:prstGeom prst="flowChartConnector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</a:t>
            </a: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5C724954-BB43-42D7-C011-71C419DBB07F}"/>
              </a:ext>
            </a:extLst>
          </p:cNvPr>
          <p:cNvSpPr/>
          <p:nvPr/>
        </p:nvSpPr>
        <p:spPr>
          <a:xfrm>
            <a:off x="11271280" y="1811794"/>
            <a:ext cx="394447" cy="394447"/>
          </a:xfrm>
          <a:prstGeom prst="flowChartConnector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0D04F74-F162-1633-2AE1-89318691AA6D}"/>
              </a:ext>
            </a:extLst>
          </p:cNvPr>
          <p:cNvSpPr/>
          <p:nvPr/>
        </p:nvSpPr>
        <p:spPr>
          <a:xfrm>
            <a:off x="1563318" y="4521646"/>
            <a:ext cx="885139" cy="34311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 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73A7053-D74E-B108-6159-DFE51ADEE371}"/>
              </a:ext>
            </a:extLst>
          </p:cNvPr>
          <p:cNvSpPr/>
          <p:nvPr/>
        </p:nvSpPr>
        <p:spPr>
          <a:xfrm>
            <a:off x="7677368" y="4530611"/>
            <a:ext cx="885139" cy="343116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 表</a:t>
            </a:r>
          </a:p>
        </p:txBody>
      </p:sp>
      <p:sp>
        <p:nvSpPr>
          <p:cNvPr id="13" name="文本占位符 4">
            <a:extLst>
              <a:ext uri="{FF2B5EF4-FFF2-40B4-BE49-F238E27FC236}">
                <a16:creationId xmlns:a16="http://schemas.microsoft.com/office/drawing/2014/main" id="{0E32181A-CC30-ADCB-F77C-C7D0F8790F21}"/>
              </a:ext>
            </a:extLst>
          </p:cNvPr>
          <p:cNvSpPr txBox="1">
            <a:spLocks/>
          </p:cNvSpPr>
          <p:nvPr/>
        </p:nvSpPr>
        <p:spPr>
          <a:xfrm>
            <a:off x="576196" y="5781197"/>
            <a:ext cx="287500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/>
                </a:solidFill>
                <a:latin typeface="Fira Code" panose="020B0809050000020004" pitchFamily="49" charset="0"/>
              </a:rPr>
              <a:t>一对多的关系如何实现</a:t>
            </a:r>
            <a:r>
              <a:rPr lang="en-US" altLang="zh-CN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  <a:endParaRPr lang="zh-CN" altLang="en-US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  <p:sp>
        <p:nvSpPr>
          <p:cNvPr id="14" name="文本占位符 4">
            <a:extLst>
              <a:ext uri="{FF2B5EF4-FFF2-40B4-BE49-F238E27FC236}">
                <a16:creationId xmlns:a16="http://schemas.microsoft.com/office/drawing/2014/main" id="{3A6006E4-C246-9A88-242C-04F08067AF3C}"/>
              </a:ext>
            </a:extLst>
          </p:cNvPr>
          <p:cNvSpPr txBox="1">
            <a:spLocks/>
          </p:cNvSpPr>
          <p:nvPr/>
        </p:nvSpPr>
        <p:spPr>
          <a:xfrm>
            <a:off x="3260932" y="5781197"/>
            <a:ext cx="5827059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在数据库表中多的一方，添加字段，来关联一的一方的主键。</a:t>
            </a:r>
            <a:endParaRPr lang="zh-CN" altLang="en-US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65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66E53D-0DE5-514B-5753-2950BB681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数据库中如何体现一对多的表关系？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需要在多的一方添加字段，关联一的一方的主键</a:t>
            </a:r>
            <a:endParaRPr lang="zh-CN" altLang="en-US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73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多表问题分析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090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现象</a:t>
            </a:r>
            <a:r>
              <a:rPr lang="zh-CN" altLang="en-US"/>
              <a:t>：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部门数据可以直接删除，然而还有部分员工归属于该部门下，此时就出现了数据的不完整、不一致问题 。</a:t>
            </a:r>
            <a:endParaRPr lang="zh-CN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原因：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目前上述的两张表，在数据库层面，并未建立关联，所以是无法保证数据的一致性和完整性的 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ym typeface="Consolas" panose="020B0609020204030204" pitchFamily="49" charset="0"/>
              </a:rPr>
              <a:t>解决方案：外键约束 。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B2CFD1-4A13-97EB-0B27-803B86BA9B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634"/>
          <a:stretch/>
        </p:blipFill>
        <p:spPr>
          <a:xfrm>
            <a:off x="1026186" y="3415233"/>
            <a:ext cx="2156120" cy="26790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40FF3E-C0A3-CC06-6B62-43B50270FD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224"/>
          <a:stretch/>
        </p:blipFill>
        <p:spPr>
          <a:xfrm>
            <a:off x="4330670" y="3389456"/>
            <a:ext cx="7433415" cy="2704862"/>
          </a:xfrm>
          <a:prstGeom prst="rect">
            <a:avLst/>
          </a:prstGeom>
        </p:spPr>
      </p:pic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FE2B7A0E-8639-083E-21C7-C88772E04C6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398300" y="-1483552"/>
            <a:ext cx="17983" cy="9779585"/>
          </a:xfrm>
          <a:prstGeom prst="bentConnector3">
            <a:avLst>
              <a:gd name="adj1" fmla="val -216852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0853D68-608F-E548-8841-2156FE7A9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509" y="3338389"/>
            <a:ext cx="301662" cy="3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7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外键约束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可以在创建表时</a:t>
            </a:r>
            <a:r>
              <a:rPr lang="en-US" altLang="zh-CN"/>
              <a:t> </a:t>
            </a:r>
            <a:r>
              <a:rPr lang="zh-CN" altLang="en-US"/>
              <a:t>或 表结构创建完成后，为字段添加外键约束。 具体语法如下：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03335222-4B3E-35FA-4173-AF8EF4DD6B7B}"/>
              </a:ext>
            </a:extLst>
          </p:cNvPr>
          <p:cNvGrpSpPr/>
          <p:nvPr/>
        </p:nvGrpSpPr>
        <p:grpSpPr>
          <a:xfrm>
            <a:off x="931792" y="1576083"/>
            <a:ext cx="8703017" cy="2156051"/>
            <a:chOff x="2297721" y="3660322"/>
            <a:chExt cx="8915542" cy="215617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ED557CA-B894-1DF9-87E2-9DFC93E14A34}"/>
                </a:ext>
              </a:extLst>
            </p:cNvPr>
            <p:cNvSpPr/>
            <p:nvPr/>
          </p:nvSpPr>
          <p:spPr>
            <a:xfrm>
              <a:off x="2297730" y="3660324"/>
              <a:ext cx="8915533" cy="2156176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-- </a:t>
              </a:r>
              <a:r>
                <a:rPr lang="zh-CN" altLang="en-US" sz="12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创建表时指定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 table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表名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字段名 数据类型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...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  <a:r>
                <a:rPr lang="en-US" altLang="zh-CN" sz="12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constraint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] [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外键名称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] </a:t>
              </a:r>
              <a:r>
                <a:rPr lang="en-US" altLang="zh-CN" sz="12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foreign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key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(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外键字段名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 </a:t>
              </a:r>
              <a:r>
                <a:rPr lang="en-US" altLang="zh-CN" sz="12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references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主表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字段名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	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0D70C4F0-783D-CB7A-C94B-3457513E69CC}"/>
                </a:ext>
              </a:extLst>
            </p:cNvPr>
            <p:cNvSpPr/>
            <p:nvPr/>
          </p:nvSpPr>
          <p:spPr>
            <a:xfrm>
              <a:off x="2297721" y="3660322"/>
              <a:ext cx="891553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创建表时</a:t>
              </a:r>
              <a:r>
                <a:rPr lang="en-US" altLang="zh-CN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</a:t>
              </a:r>
              <a:r>
                <a:rPr lang="zh-CN" altLang="en-US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添加外键约束</a:t>
              </a:r>
              <a:endParaRPr lang="en-US" altLang="zh-CN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16C0D04-29E7-2FDE-4F02-539720A1435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333215-40A1-6044-9D13-00967BA588E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C006E16-D61B-1F3F-B56B-FA05B072DE8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71668DFE-AC59-7DE0-1E7E-F8988A8035E7}"/>
              </a:ext>
            </a:extLst>
          </p:cNvPr>
          <p:cNvGrpSpPr/>
          <p:nvPr/>
        </p:nvGrpSpPr>
        <p:grpSpPr>
          <a:xfrm>
            <a:off x="931792" y="3892393"/>
            <a:ext cx="8703025" cy="1077993"/>
            <a:chOff x="2297721" y="3660322"/>
            <a:chExt cx="8915550" cy="107805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FD4BE1E-E445-2666-1645-660EA59C68B7}"/>
                </a:ext>
              </a:extLst>
            </p:cNvPr>
            <p:cNvSpPr/>
            <p:nvPr/>
          </p:nvSpPr>
          <p:spPr>
            <a:xfrm>
              <a:off x="2297729" y="3660324"/>
              <a:ext cx="8915542" cy="1078054"/>
            </a:xfrm>
            <a:prstGeom prst="roundRect">
              <a:avLst>
                <a:gd name="adj" fmla="val 827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defTabSz="468000" eaLnBrk="0" fontAlgn="base" hangingPunct="0"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-- </a:t>
              </a:r>
              <a:r>
                <a:rPr lang="zh-CN" altLang="en-US" sz="1200">
                  <a:solidFill>
                    <a:srgbClr val="067D17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建完表后，添加外键</a:t>
              </a:r>
              <a:endParaRPr lang="en-US" altLang="zh-CN" sz="1200">
                <a:solidFill>
                  <a:srgbClr val="067D17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defTabSz="540000" eaLnBrk="0" fontAlgn="base" hangingPunct="0">
                <a:lnSpc>
                  <a:spcPct val="150000"/>
                </a:lnSpc>
              </a:pPr>
              <a:r>
                <a:rPr lang="zh-CN" altLang="zh-CN" sz="1200">
                  <a:solidFill>
                    <a:srgbClr val="0000FF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alter table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表名 </a:t>
              </a:r>
              <a:r>
                <a:rPr lang="zh-CN" altLang="zh-CN" sz="1200">
                  <a:solidFill>
                    <a:srgbClr val="0000FF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add constraint</a:t>
              </a: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外键名称 </a:t>
              </a:r>
              <a:r>
                <a:rPr lang="zh-CN" altLang="zh-CN" sz="1200">
                  <a:solidFill>
                    <a:srgbClr val="0000FF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foreign key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外键字段名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 </a:t>
              </a:r>
              <a:r>
                <a:rPr lang="zh-CN" altLang="zh-CN" sz="1200">
                  <a:solidFill>
                    <a:srgbClr val="0000FF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references</a:t>
              </a: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主表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字段名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);</a:t>
              </a:r>
              <a:endParaRPr lang="zh-CN" altLang="zh-CN" sz="200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04A0EC59-2250-FA14-F157-1A6F9736D7AA}"/>
                </a:ext>
              </a:extLst>
            </p:cNvPr>
            <p:cNvSpPr/>
            <p:nvPr/>
          </p:nvSpPr>
          <p:spPr>
            <a:xfrm>
              <a:off x="2297721" y="3660322"/>
              <a:ext cx="891554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创建表后</a:t>
              </a:r>
              <a:r>
                <a:rPr lang="en-US" altLang="zh-CN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</a:t>
              </a:r>
              <a:r>
                <a:rPr lang="zh-CN" altLang="en-US" sz="1400" b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添加外键约束</a:t>
              </a:r>
              <a:endParaRPr lang="en-US" altLang="zh-CN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E33537D-E1F6-1E51-F370-5BD2BAC8ACA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26ED8A7-667F-323E-4B10-2726ED9C9A4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EEFD8C5-E6B7-6041-A879-96EFE85CB9F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7905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外键约束</a:t>
            </a:r>
          </a:p>
        </p:txBody>
      </p:sp>
      <p:sp>
        <p:nvSpPr>
          <p:cNvPr id="4" name="!!文本框 38">
            <a:extLst>
              <a:ext uri="{FF2B5EF4-FFF2-40B4-BE49-F238E27FC236}">
                <a16:creationId xmlns:a16="http://schemas.microsoft.com/office/drawing/2014/main" id="{F6154D4C-6D75-CE74-FF4F-8705475F9C36}"/>
              </a:ext>
            </a:extLst>
          </p:cNvPr>
          <p:cNvSpPr txBox="1"/>
          <p:nvPr/>
        </p:nvSpPr>
        <p:spPr>
          <a:xfrm>
            <a:off x="2647085" y="1592296"/>
            <a:ext cx="123651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物理外键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!!文本框 27">
            <a:extLst>
              <a:ext uri="{FF2B5EF4-FFF2-40B4-BE49-F238E27FC236}">
                <a16:creationId xmlns:a16="http://schemas.microsoft.com/office/drawing/2014/main" id="{F040522D-B5E3-DC8F-9808-CFCB37D5A97C}"/>
              </a:ext>
            </a:extLst>
          </p:cNvPr>
          <p:cNvSpPr txBox="1"/>
          <p:nvPr/>
        </p:nvSpPr>
        <p:spPr>
          <a:xfrm>
            <a:off x="8387249" y="1592296"/>
            <a:ext cx="123651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逻辑外键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流程图: 文档 5">
            <a:extLst>
              <a:ext uri="{FF2B5EF4-FFF2-40B4-BE49-F238E27FC236}">
                <a16:creationId xmlns:a16="http://schemas.microsoft.com/office/drawing/2014/main" id="{5935558C-4F6E-DCAF-6795-89788C69DF1D}"/>
              </a:ext>
            </a:extLst>
          </p:cNvPr>
          <p:cNvSpPr/>
          <p:nvPr/>
        </p:nvSpPr>
        <p:spPr>
          <a:xfrm>
            <a:off x="1188895" y="1992406"/>
            <a:ext cx="4152900" cy="2733675"/>
          </a:xfrm>
          <a:prstGeom prst="flowChartDocumen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ctr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概念：使用 </a:t>
            </a:r>
            <a:r>
              <a:rPr lang="en-US" altLang="zh-CN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foreign key </a:t>
            </a: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定义外键关联另外一张表。</a:t>
            </a:r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缺点：</a:t>
            </a:r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影响增、删、改的效率（需要检查外键关系）。</a:t>
            </a:r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仅用于单节点数据库，不适用与分布式、集群场景。</a:t>
            </a:r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容易引发数据库的死锁问题，消耗性能。</a:t>
            </a:r>
            <a:endParaRPr lang="en-US" altLang="zh-CN" sz="120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303B59C7-C64E-B31C-715A-F4F5E6069710}"/>
              </a:ext>
            </a:extLst>
          </p:cNvPr>
          <p:cNvSpPr/>
          <p:nvPr/>
        </p:nvSpPr>
        <p:spPr>
          <a:xfrm>
            <a:off x="6799985" y="1992406"/>
            <a:ext cx="4152900" cy="2733675"/>
          </a:xfrm>
          <a:prstGeom prst="flowChartDocumen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tlCol="0" anchor="t"/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概念：在业务层逻辑中，解决外键关联。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chemeClr val="bg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通过逻辑外键，就可以很方便的解决上述问题。</a:t>
            </a:r>
          </a:p>
        </p:txBody>
      </p:sp>
    </p:spTree>
    <p:extLst>
      <p:ext uri="{BB962C8B-B14F-4D97-AF65-F5344CB8AC3E}">
        <p14:creationId xmlns:p14="http://schemas.microsoft.com/office/powerpoint/2010/main" val="407930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64FD20-AC6B-8BDA-B320-D03F752237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数据库中的外键约束的作用</a:t>
            </a:r>
            <a:r>
              <a:rPr lang="en-US" altLang="zh-CN" sz="1800"/>
              <a:t> ? 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多表操作中保证数据的</a:t>
            </a: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一致性、完整性和正确性</a:t>
            </a:r>
            <a:endParaRPr lang="en-US" altLang="zh-CN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物理外键与逻辑外键的选择 </a:t>
            </a:r>
            <a:r>
              <a:rPr lang="en-US" altLang="zh-CN" sz="1800"/>
              <a:t>?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逻辑外键（推荐）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151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38B375-C999-D9E1-EC82-3961A4D81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多表关系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69677-572E-6495-ECD9-04A6D1F93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11949"/>
          </a:xfrm>
        </p:spPr>
        <p:txBody>
          <a:bodyPr/>
          <a:lstStyle/>
          <a:p>
            <a:r>
              <a:rPr lang="zh-CN" altLang="en-US"/>
              <a:t>一对多（多对一）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一对一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多对多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C48B19C-DA00-8638-4CCF-C541225A65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345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一对一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01477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案例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用户 与 身份证信息 的关系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关系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一对一关系，多用于单表拆分，将一张表的基础字段放在一张表中，其他字段放在另一张表中，以提升操作效率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实现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 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在任意一方加入外键，关联另外一方的主键，并且设置外键为唯一的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(UNIQUE)</a:t>
            </a:r>
            <a:endParaRPr lang="zh-CN" altLang="en-US" sz="160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AEA2FF-544F-5E61-0FF2-F4A0E9DB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89" y="3165273"/>
            <a:ext cx="10871421" cy="12486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5BC793-05A1-D3FC-81D8-24ED581F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318" y="3184323"/>
            <a:ext cx="6707290" cy="11818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C89F2D0-2055-E411-0CF9-1AAA496904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21"/>
          <a:stretch/>
        </p:blipFill>
        <p:spPr>
          <a:xfrm>
            <a:off x="1009787" y="3165274"/>
            <a:ext cx="3999276" cy="1194332"/>
          </a:xfrm>
          <a:prstGeom prst="rect">
            <a:avLst/>
          </a:prstGeom>
        </p:spPr>
      </p:pic>
      <p:sp>
        <p:nvSpPr>
          <p:cNvPr id="7" name="圆角矩形 13">
            <a:extLst>
              <a:ext uri="{FF2B5EF4-FFF2-40B4-BE49-F238E27FC236}">
                <a16:creationId xmlns:a16="http://schemas.microsoft.com/office/drawing/2014/main" id="{CCF7CF38-E08D-D3EC-ADE2-920A2D2A697D}"/>
              </a:ext>
            </a:extLst>
          </p:cNvPr>
          <p:cNvSpPr/>
          <p:nvPr/>
        </p:nvSpPr>
        <p:spPr>
          <a:xfrm>
            <a:off x="11127866" y="3184325"/>
            <a:ext cx="833244" cy="236329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15">
            <a:extLst>
              <a:ext uri="{FF2B5EF4-FFF2-40B4-BE49-F238E27FC236}">
                <a16:creationId xmlns:a16="http://schemas.microsoft.com/office/drawing/2014/main" id="{5559CA4B-1E89-5121-4757-B8903F6C9C49}"/>
              </a:ext>
            </a:extLst>
          </p:cNvPr>
          <p:cNvCxnSpPr>
            <a:cxnSpLocks/>
            <a:stCxn id="7" idx="0"/>
            <a:endCxn id="9" idx="0"/>
          </p:cNvCxnSpPr>
          <p:nvPr/>
        </p:nvCxnSpPr>
        <p:spPr>
          <a:xfrm rot="16200000" flipH="1" flipV="1">
            <a:off x="6426905" y="-1926321"/>
            <a:ext cx="6938" cy="10228229"/>
          </a:xfrm>
          <a:prstGeom prst="bentConnector3">
            <a:avLst>
              <a:gd name="adj1" fmla="val -3294898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22">
            <a:extLst>
              <a:ext uri="{FF2B5EF4-FFF2-40B4-BE49-F238E27FC236}">
                <a16:creationId xmlns:a16="http://schemas.microsoft.com/office/drawing/2014/main" id="{020C5E56-AA9F-E15F-809D-07D1909EA701}"/>
              </a:ext>
            </a:extLst>
          </p:cNvPr>
          <p:cNvSpPr/>
          <p:nvPr/>
        </p:nvSpPr>
        <p:spPr>
          <a:xfrm>
            <a:off x="1009787" y="3191263"/>
            <a:ext cx="612944" cy="229391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B0EB3C-502D-EE43-7F56-6FDF4B2230A2}"/>
              </a:ext>
            </a:extLst>
          </p:cNvPr>
          <p:cNvSpPr txBox="1"/>
          <p:nvPr/>
        </p:nvSpPr>
        <p:spPr>
          <a:xfrm>
            <a:off x="2207004" y="4547380"/>
            <a:ext cx="2076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用户基本信息表</a:t>
            </a:r>
            <a:r>
              <a:rPr lang="en-US" altLang="zh-CN" sz="1200" b="1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en-US" altLang="zh-CN" sz="1200" b="1" dirty="0" err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tb_user</a:t>
            </a:r>
            <a:r>
              <a:rPr lang="en-US" altLang="zh-CN" sz="1200" b="1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endParaRPr lang="zh-CN" altLang="en-US" sz="1200" b="1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D2E34-415F-D4F5-7B4A-0C990BE39305}"/>
              </a:ext>
            </a:extLst>
          </p:cNvPr>
          <p:cNvSpPr txBox="1"/>
          <p:nvPr/>
        </p:nvSpPr>
        <p:spPr>
          <a:xfrm>
            <a:off x="7414718" y="4547380"/>
            <a:ext cx="2541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用户身份信息</a:t>
            </a:r>
            <a:r>
              <a:rPr lang="zh-CN" altLang="en-US" sz="1200" b="1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</a:t>
            </a:r>
            <a:r>
              <a:rPr lang="en-US" altLang="zh-CN" sz="1200" b="1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en-US" altLang="zh-CN" sz="1200" b="1" dirty="0" err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tb_</a:t>
            </a:r>
            <a:r>
              <a:rPr lang="en-US" altLang="zh-CN" sz="1200" b="1" err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user</a:t>
            </a:r>
            <a:r>
              <a:rPr lang="en-US" altLang="zh-CN" sz="12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_card)</a:t>
            </a:r>
            <a:endParaRPr lang="zh-CN" altLang="en-US" sz="1200" b="1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56B155-F05E-7966-8EFF-CBC40F60F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5979" y="3136580"/>
            <a:ext cx="935033" cy="131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639DB9-CFA6-52EA-7108-1F35CB4ACF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数据库中如何体现一对一的表关系？</a:t>
            </a:r>
            <a:endParaRPr lang="en-US" altLang="zh-CN" sz="1800"/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一对一，其实是一种特殊的一对多。在任意一方添加外键，关联另外一方的主键</a:t>
            </a:r>
            <a:endParaRPr lang="en-US" altLang="zh-CN" sz="1600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821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38B375-C999-D9E1-EC82-3961A4D81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多表关系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69677-572E-6495-ECD9-04A6D1F93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355385"/>
          </a:xfrm>
        </p:spPr>
        <p:txBody>
          <a:bodyPr/>
          <a:lstStyle/>
          <a:p>
            <a:r>
              <a:rPr lang="zh-CN" altLang="en-US"/>
              <a:t>一对多（多对一）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一对一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多对多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C48B19C-DA00-8638-4CCF-C541225A65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43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多对多</a:t>
            </a:r>
            <a:r>
              <a:rPr lang="en-US" altLang="zh-CN"/>
              <a:t>	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28371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学生 与 课程的关系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关系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一个学生可以选修多门课程，一门课程也可以供多个学生选择</a:t>
            </a:r>
            <a:endParaRPr lang="en-US" altLang="zh-CN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</a:t>
            </a:r>
            <a:r>
              <a:rPr lang="en-US" altLang="zh-CN" sz="1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建立第三张中间表，中间表至少包含两个外键，分别关联两方主键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B89A56-18E8-ED11-2580-E2A19EA45785}"/>
              </a:ext>
            </a:extLst>
          </p:cNvPr>
          <p:cNvGrpSpPr/>
          <p:nvPr/>
        </p:nvGrpSpPr>
        <p:grpSpPr>
          <a:xfrm>
            <a:off x="1070357" y="4115335"/>
            <a:ext cx="3182518" cy="1745113"/>
            <a:chOff x="1208324" y="4648921"/>
            <a:chExt cx="3182518" cy="17451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99CAB6A-1318-FB1F-D5DC-8240BD838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8324" y="4648921"/>
              <a:ext cx="3182518" cy="144588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F42A7C4-1720-2D14-FE4F-1B78D38C2107}"/>
                </a:ext>
              </a:extLst>
            </p:cNvPr>
            <p:cNvSpPr txBox="1"/>
            <p:nvPr/>
          </p:nvSpPr>
          <p:spPr>
            <a:xfrm>
              <a:off x="2094182" y="6117035"/>
              <a:ext cx="17716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学生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(tb_student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endParaRPr lang="zh-CN" altLang="en-US" sz="1200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4FC43E-DA3E-063C-33E8-ED28AB45F03D}"/>
              </a:ext>
            </a:extLst>
          </p:cNvPr>
          <p:cNvGrpSpPr/>
          <p:nvPr/>
        </p:nvGrpSpPr>
        <p:grpSpPr>
          <a:xfrm>
            <a:off x="9008958" y="4115335"/>
            <a:ext cx="1980233" cy="1713777"/>
            <a:chOff x="9146925" y="4648921"/>
            <a:chExt cx="1980233" cy="171377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B5CE428-6F31-22FE-3893-85EAE2971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6925" y="4648921"/>
              <a:ext cx="1980233" cy="1445885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FBAF03B-CE41-C648-15F8-EF9B130FF707}"/>
                </a:ext>
              </a:extLst>
            </p:cNvPr>
            <p:cNvSpPr txBox="1"/>
            <p:nvPr/>
          </p:nvSpPr>
          <p:spPr>
            <a:xfrm>
              <a:off x="9439799" y="6085699"/>
              <a:ext cx="16770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课程表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(tb_course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  <a:endParaRPr lang="zh-CN" altLang="en-US" sz="1200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3CF83BF-4571-A85C-15CD-6E37CF721989}"/>
              </a:ext>
            </a:extLst>
          </p:cNvPr>
          <p:cNvGrpSpPr/>
          <p:nvPr/>
        </p:nvGrpSpPr>
        <p:grpSpPr>
          <a:xfrm>
            <a:off x="4968870" y="3189375"/>
            <a:ext cx="3036409" cy="1778762"/>
            <a:chOff x="5434641" y="3722961"/>
            <a:chExt cx="3036409" cy="177876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74095DB-3CC9-9973-A77B-96ED8A4BF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641" y="3722961"/>
              <a:ext cx="2845806" cy="1501763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7DED68B-8C3C-3E3A-3D74-48E28A54ED47}"/>
                </a:ext>
              </a:extLst>
            </p:cNvPr>
            <p:cNvSpPr txBox="1"/>
            <p:nvPr/>
          </p:nvSpPr>
          <p:spPr>
            <a:xfrm>
              <a:off x="5434641" y="5224724"/>
              <a:ext cx="30364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学生课程关系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(tb_student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_course)</a:t>
              </a:r>
              <a:endParaRPr lang="zh-CN" altLang="en-US" sz="1200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ABDDE27-688F-94BF-1C21-3E2417807229}"/>
              </a:ext>
            </a:extLst>
          </p:cNvPr>
          <p:cNvSpPr txBox="1"/>
          <p:nvPr/>
        </p:nvSpPr>
        <p:spPr>
          <a:xfrm>
            <a:off x="3588232" y="560567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79182-8D9F-ACD1-BC3B-778C6E33294F}"/>
              </a:ext>
            </a:extLst>
          </p:cNvPr>
          <p:cNvSpPr txBox="1"/>
          <p:nvPr/>
        </p:nvSpPr>
        <p:spPr>
          <a:xfrm>
            <a:off x="9115673" y="556122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</a:t>
            </a:r>
          </a:p>
        </p:txBody>
      </p:sp>
      <p:sp>
        <p:nvSpPr>
          <p:cNvPr id="15" name="圆角矩形 16">
            <a:extLst>
              <a:ext uri="{FF2B5EF4-FFF2-40B4-BE49-F238E27FC236}">
                <a16:creationId xmlns:a16="http://schemas.microsoft.com/office/drawing/2014/main" id="{939D5FE7-3DE0-B90A-2515-335DC0CDFC12}"/>
              </a:ext>
            </a:extLst>
          </p:cNvPr>
          <p:cNvSpPr/>
          <p:nvPr/>
        </p:nvSpPr>
        <p:spPr>
          <a:xfrm>
            <a:off x="5762501" y="3226706"/>
            <a:ext cx="1052421" cy="204155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7">
            <a:extLst>
              <a:ext uri="{FF2B5EF4-FFF2-40B4-BE49-F238E27FC236}">
                <a16:creationId xmlns:a16="http://schemas.microsoft.com/office/drawing/2014/main" id="{CB5CDE95-A759-040A-5962-A71C9BE13ED2}"/>
              </a:ext>
            </a:extLst>
          </p:cNvPr>
          <p:cNvSpPr/>
          <p:nvPr/>
        </p:nvSpPr>
        <p:spPr>
          <a:xfrm>
            <a:off x="6858053" y="3226706"/>
            <a:ext cx="923027" cy="204155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圆角矩形 18">
            <a:extLst>
              <a:ext uri="{FF2B5EF4-FFF2-40B4-BE49-F238E27FC236}">
                <a16:creationId xmlns:a16="http://schemas.microsoft.com/office/drawing/2014/main" id="{966F9AC7-D997-7BD7-47A0-2CFED69CE8E5}"/>
              </a:ext>
            </a:extLst>
          </p:cNvPr>
          <p:cNvSpPr/>
          <p:nvPr/>
        </p:nvSpPr>
        <p:spPr>
          <a:xfrm>
            <a:off x="1070357" y="4123961"/>
            <a:ext cx="885858" cy="244850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9">
            <a:extLst>
              <a:ext uri="{FF2B5EF4-FFF2-40B4-BE49-F238E27FC236}">
                <a16:creationId xmlns:a16="http://schemas.microsoft.com/office/drawing/2014/main" id="{A75D2E4F-F9D1-012A-4CEE-560381DB90BF}"/>
              </a:ext>
            </a:extLst>
          </p:cNvPr>
          <p:cNvSpPr/>
          <p:nvPr/>
        </p:nvSpPr>
        <p:spPr>
          <a:xfrm>
            <a:off x="9008958" y="4115335"/>
            <a:ext cx="885858" cy="244850"/>
          </a:xfrm>
          <a:prstGeom prst="roundRect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9" name="直接箭头连接符 23">
            <a:extLst>
              <a:ext uri="{FF2B5EF4-FFF2-40B4-BE49-F238E27FC236}">
                <a16:creationId xmlns:a16="http://schemas.microsoft.com/office/drawing/2014/main" id="{C68EF348-B1B8-1A2C-06D6-75F95900D6F8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>
            <a:off x="7781080" y="3328784"/>
            <a:ext cx="1670807" cy="786551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21">
            <a:extLst>
              <a:ext uri="{FF2B5EF4-FFF2-40B4-BE49-F238E27FC236}">
                <a16:creationId xmlns:a16="http://schemas.microsoft.com/office/drawing/2014/main" id="{EAB43DA2-FF58-9810-59C1-6F6DB2831680}"/>
              </a:ext>
            </a:extLst>
          </p:cNvPr>
          <p:cNvCxnSpPr>
            <a:stCxn id="15" idx="1"/>
            <a:endCxn id="17" idx="0"/>
          </p:cNvCxnSpPr>
          <p:nvPr/>
        </p:nvCxnSpPr>
        <p:spPr>
          <a:xfrm rot="10800000" flipV="1">
            <a:off x="1513287" y="3328783"/>
            <a:ext cx="4249215" cy="795177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AB09583-FB12-BEBA-8CCB-52C4F32E2974}"/>
              </a:ext>
            </a:extLst>
          </p:cNvPr>
          <p:cNvSpPr/>
          <p:nvPr/>
        </p:nvSpPr>
        <p:spPr>
          <a:xfrm>
            <a:off x="4236504" y="4142230"/>
            <a:ext cx="1182001" cy="2448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course_id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8F9DE6-5D47-4AB1-E582-2E5E89A7203F}"/>
              </a:ext>
            </a:extLst>
          </p:cNvPr>
          <p:cNvSpPr/>
          <p:nvPr/>
        </p:nvSpPr>
        <p:spPr>
          <a:xfrm>
            <a:off x="10978895" y="4123962"/>
            <a:ext cx="1013976" cy="2448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student_id</a:t>
            </a:r>
            <a:endParaRPr lang="zh-CN" altLang="en-US" sz="105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13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8253DA-67BA-4D75-2B1B-4C6113C78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数据库中如何体现多对多的表关系？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需要建立一张中间表，中间表中有两个外键字段，分别关联两方的主键</a:t>
            </a:r>
            <a:endParaRPr lang="en-US" altLang="zh-CN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014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38B375-C999-D9E1-EC82-3961A4D81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多表关系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69677-572E-6495-ECD9-04A6D1F93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355385"/>
          </a:xfrm>
        </p:spPr>
        <p:txBody>
          <a:bodyPr/>
          <a:lstStyle/>
          <a:p>
            <a:r>
              <a:rPr lang="zh-CN" altLang="en-US"/>
              <a:t>一对多（多对一）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一对一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多对多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C48B19C-DA00-8638-4CCF-C541225A65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490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BB5C5DD-BA97-6C2B-C0D5-ACF4644F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根据页面原型及需求文档分析并设计表结构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A2C9EB-4B77-DD17-AA85-590BD1427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828" y="1024932"/>
            <a:ext cx="9570540" cy="18168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需求：请根据资料中提供的页面原型，</a:t>
            </a:r>
            <a:r>
              <a:rPr lang="zh-CN" altLang="en-US">
                <a:solidFill>
                  <a:srgbClr val="C00000"/>
                </a:solidFill>
              </a:rPr>
              <a:t>设计 员工模块 涉及到的表结构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阅读页面原型及需求文档，分析各个模块涉及到的表结构，及表结构之间的关系。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根据页面原型及需求文档，分析各个表结构中具体的字段及约束。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C7CAD3-4763-6155-5C38-C78F48C91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871" y="2841811"/>
            <a:ext cx="6876469" cy="3818723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33650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35AA5-EA56-3489-7436-C4E596CC7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662411"/>
            <a:ext cx="4007125" cy="2631150"/>
          </a:xfrm>
        </p:spPr>
        <p:txBody>
          <a:bodyPr/>
          <a:lstStyle/>
          <a:p>
            <a:r>
              <a:rPr lang="zh-CN" altLang="en-US" sz="2000"/>
              <a:t>多表关系</a:t>
            </a:r>
            <a:endParaRPr lang="en-US" altLang="zh-CN" sz="2000"/>
          </a:p>
          <a:p>
            <a:r>
              <a:rPr lang="zh-CN" altLang="en-US" sz="2000">
                <a:solidFill>
                  <a:srgbClr val="C00000"/>
                </a:solidFill>
              </a:rPr>
              <a:t>多表查询</a:t>
            </a:r>
            <a:endParaRPr lang="en-US" altLang="zh-CN" sz="2000">
              <a:solidFill>
                <a:srgbClr val="C00000"/>
              </a:solidFill>
            </a:endParaRPr>
          </a:p>
          <a:p>
            <a:r>
              <a:rPr lang="zh-CN" altLang="en-US" sz="2000"/>
              <a:t>员工列表查询</a:t>
            </a:r>
          </a:p>
        </p:txBody>
      </p:sp>
    </p:spTree>
    <p:extLst>
      <p:ext uri="{BB962C8B-B14F-4D97-AF65-F5344CB8AC3E}">
        <p14:creationId xmlns:p14="http://schemas.microsoft.com/office/powerpoint/2010/main" val="3056344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C68811-8528-CFD5-400D-2D89842A3E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0E95AE-1BD2-5217-6F40-A53DFBBF5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094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615803" cy="1060818"/>
          </a:xfrm>
        </p:spPr>
        <p:txBody>
          <a:bodyPr/>
          <a:lstStyle/>
          <a:p>
            <a:pPr marL="285750" indent="-285750" defTabSz="432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/>
              <a:t>多表查询</a:t>
            </a:r>
            <a:r>
              <a:rPr lang="en-US" altLang="zh-CN"/>
              <a:t>: </a:t>
            </a:r>
            <a:r>
              <a:rPr lang="zh-CN" altLang="en-US"/>
              <a:t>指从多张表中查询数据</a:t>
            </a:r>
            <a:endParaRPr lang="en-US" altLang="zh-CN"/>
          </a:p>
          <a:p>
            <a:pPr marL="285750" indent="-285750" defTabSz="432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/>
              <a:t>笛卡尔积</a:t>
            </a:r>
            <a:r>
              <a:rPr lang="en-US" altLang="zh-CN"/>
              <a:t>: </a:t>
            </a:r>
            <a:r>
              <a:rPr lang="zh-CN" altLang="en-US"/>
              <a:t>指在数学中，两个集合</a:t>
            </a:r>
            <a:r>
              <a:rPr lang="en-US" altLang="zh-CN"/>
              <a:t>(A</a:t>
            </a:r>
            <a:r>
              <a:rPr lang="zh-CN" altLang="en-US"/>
              <a:t>集合 和 </a:t>
            </a:r>
            <a:r>
              <a:rPr lang="en-US" altLang="zh-CN"/>
              <a:t>B</a:t>
            </a:r>
            <a:r>
              <a:rPr lang="zh-CN" altLang="en-US"/>
              <a:t>集合</a:t>
            </a:r>
            <a:r>
              <a:rPr lang="en-US" altLang="zh-CN"/>
              <a:t>)</a:t>
            </a:r>
            <a:r>
              <a:rPr lang="zh-CN" altLang="en-US"/>
              <a:t>的所有组合情况。</a:t>
            </a:r>
            <a:r>
              <a:rPr lang="en-US" altLang="zh-CN"/>
              <a:t>(</a:t>
            </a:r>
            <a:r>
              <a:rPr lang="zh-CN" altLang="en-US">
                <a:solidFill>
                  <a:srgbClr val="C00000"/>
                </a:solidFill>
              </a:rPr>
              <a:t>在多表查询时，需要消除无效的笛卡尔积</a:t>
            </a:r>
            <a:r>
              <a:rPr lang="en-US" altLang="zh-CN"/>
              <a:t>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D1A875-6994-6AB1-0DA1-387E68A01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87673"/>
              </p:ext>
            </p:extLst>
          </p:nvPr>
        </p:nvGraphicFramePr>
        <p:xfrm>
          <a:off x="1198283" y="4401669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1724A-E764-630D-7072-F4BA4B0F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652774"/>
              </p:ext>
            </p:extLst>
          </p:nvPr>
        </p:nvGraphicFramePr>
        <p:xfrm>
          <a:off x="1198283" y="4735052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963FC8-1950-C911-1011-B5918BF20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530948"/>
              </p:ext>
            </p:extLst>
          </p:nvPr>
        </p:nvGraphicFramePr>
        <p:xfrm>
          <a:off x="2802966" y="4068286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467C446-0C26-BDD8-7881-3165E34A2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3930"/>
              </p:ext>
            </p:extLst>
          </p:nvPr>
        </p:nvGraphicFramePr>
        <p:xfrm>
          <a:off x="2802966" y="4401669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9F53020-13E0-EA9B-6BD1-1E78F5D5A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03324"/>
              </p:ext>
            </p:extLst>
          </p:nvPr>
        </p:nvGraphicFramePr>
        <p:xfrm>
          <a:off x="2802966" y="4735051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DE70900-475A-4616-D996-21FE91EB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280042"/>
              </p:ext>
            </p:extLst>
          </p:nvPr>
        </p:nvGraphicFramePr>
        <p:xfrm>
          <a:off x="2802965" y="5068434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ABC5EE93-A49E-F435-C49E-F7C62A496A59}"/>
              </a:ext>
            </a:extLst>
          </p:cNvPr>
          <p:cNvSpPr txBox="1"/>
          <p:nvPr/>
        </p:nvSpPr>
        <p:spPr>
          <a:xfrm>
            <a:off x="2332621" y="4443497"/>
            <a:ext cx="365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</a:t>
            </a:r>
          </a:p>
        </p:txBody>
      </p:sp>
      <p:sp>
        <p:nvSpPr>
          <p:cNvPr id="11" name="右箭头 40">
            <a:extLst>
              <a:ext uri="{FF2B5EF4-FFF2-40B4-BE49-F238E27FC236}">
                <a16:creationId xmlns:a16="http://schemas.microsoft.com/office/drawing/2014/main" id="{348C5D39-EF53-18B9-B61D-D7D1BF7F380B}"/>
              </a:ext>
            </a:extLst>
          </p:cNvPr>
          <p:cNvSpPr/>
          <p:nvPr/>
        </p:nvSpPr>
        <p:spPr>
          <a:xfrm>
            <a:off x="4327710" y="4327384"/>
            <a:ext cx="1165411" cy="472642"/>
          </a:xfrm>
          <a:prstGeom prst="rightArrow">
            <a:avLst>
              <a:gd name="adj1" fmla="val 50000"/>
              <a:gd name="adj2" fmla="val 13922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F03D3B8-57C6-C09E-A049-1A5BB1FEE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06281"/>
              </p:ext>
            </p:extLst>
          </p:nvPr>
        </p:nvGraphicFramePr>
        <p:xfrm>
          <a:off x="1736317" y="4402160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E20343D-9243-D2A8-0618-3C453A7E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991669"/>
              </p:ext>
            </p:extLst>
          </p:nvPr>
        </p:nvGraphicFramePr>
        <p:xfrm>
          <a:off x="1731607" y="4734470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CN" sz="1400" b="1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A8094D9-888A-B164-A295-E813757B3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86089"/>
              </p:ext>
            </p:extLst>
          </p:nvPr>
        </p:nvGraphicFramePr>
        <p:xfrm>
          <a:off x="3352725" y="4068286"/>
          <a:ext cx="67599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3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zhan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FD7ABE4-0175-ABDA-74DE-48C12278C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6997"/>
              </p:ext>
            </p:extLst>
          </p:nvPr>
        </p:nvGraphicFramePr>
        <p:xfrm>
          <a:off x="3352725" y="4401669"/>
          <a:ext cx="675991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1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3105094-F099-06FF-33D4-118D4EB8B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377214"/>
              </p:ext>
            </p:extLst>
          </p:nvPr>
        </p:nvGraphicFramePr>
        <p:xfrm>
          <a:off x="3352725" y="4735051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wan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688BBE8-CDB0-49FB-8EA8-DE422D406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26477"/>
              </p:ext>
            </p:extLst>
          </p:nvPr>
        </p:nvGraphicFramePr>
        <p:xfrm>
          <a:off x="3352724" y="5068434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qia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69E1A2C-DFAA-9492-EE2E-5F609D76A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81603"/>
              </p:ext>
            </p:extLst>
          </p:nvPr>
        </p:nvGraphicFramePr>
        <p:xfrm>
          <a:off x="5782006" y="344446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D842448-E27A-CE0B-890D-73976D0A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646722"/>
              </p:ext>
            </p:extLst>
          </p:nvPr>
        </p:nvGraphicFramePr>
        <p:xfrm>
          <a:off x="5782483" y="4800607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976D889F-9CB2-1BD7-5DFC-84A393CE7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562368"/>
              </p:ext>
            </p:extLst>
          </p:nvPr>
        </p:nvGraphicFramePr>
        <p:xfrm>
          <a:off x="6320040" y="3444956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88BB8F9-0CDB-705C-6357-BCE29D86A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335492"/>
              </p:ext>
            </p:extLst>
          </p:nvPr>
        </p:nvGraphicFramePr>
        <p:xfrm>
          <a:off x="6315807" y="480002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C47E2261-0F69-8EAF-064E-60C10099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406924"/>
              </p:ext>
            </p:extLst>
          </p:nvPr>
        </p:nvGraphicFramePr>
        <p:xfrm>
          <a:off x="5782006" y="3763624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5C6EBA6-5785-0A47-5067-51F5F091B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390391"/>
              </p:ext>
            </p:extLst>
          </p:nvPr>
        </p:nvGraphicFramePr>
        <p:xfrm>
          <a:off x="6320040" y="376411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C430F74-F378-8864-CBE8-33BE5C49F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474670"/>
              </p:ext>
            </p:extLst>
          </p:nvPr>
        </p:nvGraphicFramePr>
        <p:xfrm>
          <a:off x="5782006" y="4081171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CF692746-54C9-8B05-BDAB-B3FFB8FFB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78733"/>
              </p:ext>
            </p:extLst>
          </p:nvPr>
        </p:nvGraphicFramePr>
        <p:xfrm>
          <a:off x="6320040" y="4081662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7D24BB87-5022-D541-2AA6-B74ACE90C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300036"/>
              </p:ext>
            </p:extLst>
          </p:nvPr>
        </p:nvGraphicFramePr>
        <p:xfrm>
          <a:off x="5782550" y="4401178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</a:t>
                      </a:r>
                      <a:endParaRPr lang="zh-CN" altLang="en-US" sz="14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19CFCDF-922C-A7D2-41EB-44CB1A704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30951"/>
              </p:ext>
            </p:extLst>
          </p:nvPr>
        </p:nvGraphicFramePr>
        <p:xfrm>
          <a:off x="6320584" y="4401669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38A5CEBC-B9B2-DE0B-8C36-0C4252D64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329231"/>
              </p:ext>
            </p:extLst>
          </p:nvPr>
        </p:nvGraphicFramePr>
        <p:xfrm>
          <a:off x="5782483" y="5125198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C93018A4-F15A-B5F4-75BD-5361752AD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61632"/>
              </p:ext>
            </p:extLst>
          </p:nvPr>
        </p:nvGraphicFramePr>
        <p:xfrm>
          <a:off x="6315807" y="5124616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ADB63840-FCE6-3200-2221-892AACEB8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76362"/>
              </p:ext>
            </p:extLst>
          </p:nvPr>
        </p:nvGraphicFramePr>
        <p:xfrm>
          <a:off x="5782483" y="5446437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0D370EC6-CE4F-7556-7960-622D53A54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14521"/>
              </p:ext>
            </p:extLst>
          </p:nvPr>
        </p:nvGraphicFramePr>
        <p:xfrm>
          <a:off x="6315807" y="544585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C24325C7-0B41-2C3A-9586-A2924B62F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26392"/>
              </p:ext>
            </p:extLst>
          </p:nvPr>
        </p:nvGraphicFramePr>
        <p:xfrm>
          <a:off x="5782483" y="5771028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4240EA5C-2A48-A57E-7A86-1FD462CF2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760256"/>
              </p:ext>
            </p:extLst>
          </p:nvPr>
        </p:nvGraphicFramePr>
        <p:xfrm>
          <a:off x="6315807" y="5770446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33294458-5539-7566-19E0-CCA5C5FF8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70899"/>
              </p:ext>
            </p:extLst>
          </p:nvPr>
        </p:nvGraphicFramePr>
        <p:xfrm>
          <a:off x="6919687" y="344446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687F4A7-0EA2-0135-8ADD-9A1E42CF6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08291"/>
              </p:ext>
            </p:extLst>
          </p:nvPr>
        </p:nvGraphicFramePr>
        <p:xfrm>
          <a:off x="6919687" y="3760264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FE3089D1-BD99-6960-2D31-D756AF200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813318"/>
              </p:ext>
            </p:extLst>
          </p:nvPr>
        </p:nvGraphicFramePr>
        <p:xfrm>
          <a:off x="6919687" y="4076062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F087BD49-D909-435C-FC5E-C207971BF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788469"/>
              </p:ext>
            </p:extLst>
          </p:nvPr>
        </p:nvGraphicFramePr>
        <p:xfrm>
          <a:off x="6919686" y="4391861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67FA08FA-7B0F-8BF6-4B98-A065EB668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06307"/>
              </p:ext>
            </p:extLst>
          </p:nvPr>
        </p:nvGraphicFramePr>
        <p:xfrm>
          <a:off x="7451862" y="3444465"/>
          <a:ext cx="67599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3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zhan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E4390909-1BD4-9673-1781-1CA3220DD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64520"/>
              </p:ext>
            </p:extLst>
          </p:nvPr>
        </p:nvGraphicFramePr>
        <p:xfrm>
          <a:off x="7451862" y="3760264"/>
          <a:ext cx="675991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1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C674AC35-F139-4FA7-86C3-282EE9F73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04268"/>
              </p:ext>
            </p:extLst>
          </p:nvPr>
        </p:nvGraphicFramePr>
        <p:xfrm>
          <a:off x="7451862" y="4076062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wan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B0C7F15F-F203-0E88-4B39-2E51B808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009909"/>
              </p:ext>
            </p:extLst>
          </p:nvPr>
        </p:nvGraphicFramePr>
        <p:xfrm>
          <a:off x="7451861" y="4391861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qia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B6D37B17-6DBC-80E9-3C50-703662AF8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045230"/>
              </p:ext>
            </p:extLst>
          </p:nvPr>
        </p:nvGraphicFramePr>
        <p:xfrm>
          <a:off x="6919687" y="4814258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3900BF54-349A-1F16-62ED-949FC6C03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401278"/>
              </p:ext>
            </p:extLst>
          </p:nvPr>
        </p:nvGraphicFramePr>
        <p:xfrm>
          <a:off x="6919687" y="5130057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48723531-2D83-8F9A-22FF-5C7211409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3852"/>
              </p:ext>
            </p:extLst>
          </p:nvPr>
        </p:nvGraphicFramePr>
        <p:xfrm>
          <a:off x="6919687" y="5445855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C0F0E293-8DA0-E884-1537-05918B616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069415"/>
              </p:ext>
            </p:extLst>
          </p:nvPr>
        </p:nvGraphicFramePr>
        <p:xfrm>
          <a:off x="6919686" y="5761654"/>
          <a:ext cx="525009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09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8BB9CAF3-0857-5748-7E77-670DB5FDF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53034"/>
              </p:ext>
            </p:extLst>
          </p:nvPr>
        </p:nvGraphicFramePr>
        <p:xfrm>
          <a:off x="7451862" y="4814258"/>
          <a:ext cx="67599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3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zhan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8132979E-BB0B-FCA1-08BF-5772F4819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486741"/>
              </p:ext>
            </p:extLst>
          </p:nvPr>
        </p:nvGraphicFramePr>
        <p:xfrm>
          <a:off x="7451862" y="5130057"/>
          <a:ext cx="675991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1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8264820C-AF87-31D0-F6EA-7A0E650F7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377506"/>
              </p:ext>
            </p:extLst>
          </p:nvPr>
        </p:nvGraphicFramePr>
        <p:xfrm>
          <a:off x="7451862" y="5445855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wan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2570A471-6E72-FF6D-D5B8-40A9EA0C6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974"/>
              </p:ext>
            </p:extLst>
          </p:nvPr>
        </p:nvGraphicFramePr>
        <p:xfrm>
          <a:off x="7451861" y="5761654"/>
          <a:ext cx="675990" cy="33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0">
                  <a:extLst>
                    <a:ext uri="{9D8B030D-6E8A-4147-A177-3AD203B41FA5}">
                      <a16:colId xmlns:a16="http://schemas.microsoft.com/office/drawing/2014/main" val="3399943006"/>
                    </a:ext>
                  </a:extLst>
                </a:gridCol>
              </a:tblGrid>
              <a:tr h="333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qia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7919"/>
                  </a:ext>
                </a:extLst>
              </a:tr>
            </a:tbl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ABC3ED30-2D33-8934-EBEF-7D64DD9C812A}"/>
              </a:ext>
            </a:extLst>
          </p:cNvPr>
          <p:cNvSpPr txBox="1"/>
          <p:nvPr/>
        </p:nvSpPr>
        <p:spPr>
          <a:xfrm>
            <a:off x="8345360" y="4466284"/>
            <a:ext cx="2561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笛卡尔积</a:t>
            </a:r>
            <a:endParaRPr lang="zh-CN" altLang="en-US" sz="4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64FFB965-1A3E-7DE6-E61C-FC3A43DCD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747" y="1514600"/>
            <a:ext cx="4018946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7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499218"/>
          </a:xfrm>
        </p:spPr>
        <p:txBody>
          <a:bodyPr/>
          <a:lstStyle/>
          <a:p>
            <a:pPr marL="285750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连接查询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 defTabSz="4320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内连接：相当于查询</a:t>
            </a:r>
            <a:r>
              <a:rPr lang="en-US" altLang="zh-CN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</a:t>
            </a:r>
            <a:r>
              <a:rPr lang="zh-CN" altLang="en-US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</a:t>
            </a:r>
            <a:r>
              <a:rPr lang="zh-CN" altLang="en-US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交集部分数据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4320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外连接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828000" lvl="2" indent="-285750" defTabSz="4320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左外连接：查询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左表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所有数据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包括两张表交集部分数据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828000" lvl="2" indent="-285750" defTabSz="4320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右外连接：查询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右表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所有数据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包括两张表交集部分数据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285750" indent="-285750" defTabSz="4320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子查询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8925E20-3B01-2B54-4343-982BE5EFFE84}"/>
              </a:ext>
            </a:extLst>
          </p:cNvPr>
          <p:cNvSpPr/>
          <p:nvPr/>
        </p:nvSpPr>
        <p:spPr>
          <a:xfrm>
            <a:off x="8996417" y="2700328"/>
            <a:ext cx="950536" cy="856891"/>
          </a:xfrm>
          <a:custGeom>
            <a:avLst/>
            <a:gdLst>
              <a:gd name="connsiteX0" fmla="*/ 475267 w 950536"/>
              <a:gd name="connsiteY0" fmla="*/ 0 h 856891"/>
              <a:gd name="connsiteX1" fmla="*/ 597122 w 950536"/>
              <a:gd name="connsiteY1" fmla="*/ 45165 h 856891"/>
              <a:gd name="connsiteX2" fmla="*/ 950536 w 950536"/>
              <a:gd name="connsiteY2" fmla="*/ 428446 h 856891"/>
              <a:gd name="connsiteX3" fmla="*/ 597122 w 950536"/>
              <a:gd name="connsiteY3" fmla="*/ 811728 h 856891"/>
              <a:gd name="connsiteX4" fmla="*/ 475270 w 950536"/>
              <a:gd name="connsiteY4" fmla="*/ 856891 h 856891"/>
              <a:gd name="connsiteX5" fmla="*/ 353414 w 950536"/>
              <a:gd name="connsiteY5" fmla="*/ 811727 h 856891"/>
              <a:gd name="connsiteX6" fmla="*/ 0 w 950536"/>
              <a:gd name="connsiteY6" fmla="*/ 428445 h 856891"/>
              <a:gd name="connsiteX7" fmla="*/ 353414 w 950536"/>
              <a:gd name="connsiteY7" fmla="*/ 45164 h 856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36" h="856891">
                <a:moveTo>
                  <a:pt x="475267" y="0"/>
                </a:moveTo>
                <a:lnTo>
                  <a:pt x="597122" y="45165"/>
                </a:lnTo>
                <a:cubicBezTo>
                  <a:pt x="815480" y="143255"/>
                  <a:pt x="950536" y="278765"/>
                  <a:pt x="950536" y="428446"/>
                </a:cubicBezTo>
                <a:cubicBezTo>
                  <a:pt x="950536" y="578127"/>
                  <a:pt x="815480" y="713638"/>
                  <a:pt x="597122" y="811728"/>
                </a:cubicBezTo>
                <a:lnTo>
                  <a:pt x="475270" y="856891"/>
                </a:lnTo>
                <a:lnTo>
                  <a:pt x="353414" y="811727"/>
                </a:lnTo>
                <a:cubicBezTo>
                  <a:pt x="135057" y="713637"/>
                  <a:pt x="0" y="578126"/>
                  <a:pt x="0" y="428445"/>
                </a:cubicBezTo>
                <a:cubicBezTo>
                  <a:pt x="0" y="278764"/>
                  <a:pt x="135057" y="143254"/>
                  <a:pt x="353414" y="45164"/>
                </a:cubicBezTo>
                <a:close/>
              </a:path>
            </a:pathLst>
          </a:custGeom>
          <a:solidFill>
            <a:srgbClr val="33660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∩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BACC6">
                  <a:lumMod val="20000"/>
                  <a:lumOff val="80000"/>
                </a:srgbClr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2F43ACA-8070-581E-3E81-540E9BBE4F8C}"/>
              </a:ext>
            </a:extLst>
          </p:cNvPr>
          <p:cNvSpPr/>
          <p:nvPr/>
        </p:nvSpPr>
        <p:spPr>
          <a:xfrm>
            <a:off x="9471685" y="2588455"/>
            <a:ext cx="1937995" cy="1084084"/>
          </a:xfrm>
          <a:custGeom>
            <a:avLst/>
            <a:gdLst>
              <a:gd name="connsiteX0" fmla="*/ 731364 w 1937995"/>
              <a:gd name="connsiteY0" fmla="*/ 0 h 1084084"/>
              <a:gd name="connsiteX1" fmla="*/ 1937995 w 1937995"/>
              <a:gd name="connsiteY1" fmla="*/ 542042 h 1084084"/>
              <a:gd name="connsiteX2" fmla="*/ 731364 w 1937995"/>
              <a:gd name="connsiteY2" fmla="*/ 1084084 h 1084084"/>
              <a:gd name="connsiteX3" fmla="*/ 56725 w 1937995"/>
              <a:gd name="connsiteY3" fmla="*/ 991512 h 1084084"/>
              <a:gd name="connsiteX4" fmla="*/ 2 w 1937995"/>
              <a:gd name="connsiteY4" fmla="*/ 970488 h 1084084"/>
              <a:gd name="connsiteX5" fmla="*/ 121855 w 1937995"/>
              <a:gd name="connsiteY5" fmla="*/ 925325 h 1084084"/>
              <a:gd name="connsiteX6" fmla="*/ 475269 w 1937995"/>
              <a:gd name="connsiteY6" fmla="*/ 542043 h 1084084"/>
              <a:gd name="connsiteX7" fmla="*/ 121855 w 1937995"/>
              <a:gd name="connsiteY7" fmla="*/ 158762 h 1084084"/>
              <a:gd name="connsiteX8" fmla="*/ 0 w 1937995"/>
              <a:gd name="connsiteY8" fmla="*/ 113597 h 1084084"/>
              <a:gd name="connsiteX9" fmla="*/ 56725 w 1937995"/>
              <a:gd name="connsiteY9" fmla="*/ 92572 h 1084084"/>
              <a:gd name="connsiteX10" fmla="*/ 731364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731364" y="0"/>
                </a:moveTo>
                <a:cubicBezTo>
                  <a:pt x="1397768" y="0"/>
                  <a:pt x="1937995" y="242680"/>
                  <a:pt x="1937995" y="542042"/>
                </a:cubicBezTo>
                <a:cubicBezTo>
                  <a:pt x="1937995" y="841404"/>
                  <a:pt x="1397768" y="1084084"/>
                  <a:pt x="731364" y="1084084"/>
                </a:cubicBezTo>
                <a:cubicBezTo>
                  <a:pt x="481462" y="1084084"/>
                  <a:pt x="249305" y="1049957"/>
                  <a:pt x="56725" y="991512"/>
                </a:cubicBezTo>
                <a:lnTo>
                  <a:pt x="2" y="970488"/>
                </a:lnTo>
                <a:lnTo>
                  <a:pt x="121855" y="925325"/>
                </a:lnTo>
                <a:cubicBezTo>
                  <a:pt x="340212" y="827235"/>
                  <a:pt x="475269" y="691724"/>
                  <a:pt x="475269" y="542043"/>
                </a:cubicBezTo>
                <a:cubicBezTo>
                  <a:pt x="475269" y="392362"/>
                  <a:pt x="340212" y="256852"/>
                  <a:pt x="121855" y="158762"/>
                </a:cubicBezTo>
                <a:lnTo>
                  <a:pt x="0" y="113597"/>
                </a:lnTo>
                <a:lnTo>
                  <a:pt x="56725" y="92572"/>
                </a:lnTo>
                <a:cubicBezTo>
                  <a:pt x="249305" y="34127"/>
                  <a:pt x="481462" y="0"/>
                  <a:pt x="731364" y="0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7D3AE7C-C24D-95AD-7C36-B864815A3149}"/>
              </a:ext>
            </a:extLst>
          </p:cNvPr>
          <p:cNvSpPr/>
          <p:nvPr/>
        </p:nvSpPr>
        <p:spPr>
          <a:xfrm>
            <a:off x="7533690" y="2586731"/>
            <a:ext cx="1937995" cy="1084084"/>
          </a:xfrm>
          <a:custGeom>
            <a:avLst/>
            <a:gdLst>
              <a:gd name="connsiteX0" fmla="*/ 1206631 w 1937995"/>
              <a:gd name="connsiteY0" fmla="*/ 0 h 1084084"/>
              <a:gd name="connsiteX1" fmla="*/ 1881270 w 1937995"/>
              <a:gd name="connsiteY1" fmla="*/ 92572 h 1084084"/>
              <a:gd name="connsiteX2" fmla="*/ 1937993 w 1937995"/>
              <a:gd name="connsiteY2" fmla="*/ 113596 h 1084084"/>
              <a:gd name="connsiteX3" fmla="*/ 1816140 w 1937995"/>
              <a:gd name="connsiteY3" fmla="*/ 158759 h 1084084"/>
              <a:gd name="connsiteX4" fmla="*/ 1462726 w 1937995"/>
              <a:gd name="connsiteY4" fmla="*/ 542041 h 1084084"/>
              <a:gd name="connsiteX5" fmla="*/ 1816140 w 1937995"/>
              <a:gd name="connsiteY5" fmla="*/ 925323 h 1084084"/>
              <a:gd name="connsiteX6" fmla="*/ 1937995 w 1937995"/>
              <a:gd name="connsiteY6" fmla="*/ 970487 h 1084084"/>
              <a:gd name="connsiteX7" fmla="*/ 1881270 w 1937995"/>
              <a:gd name="connsiteY7" fmla="*/ 991512 h 1084084"/>
              <a:gd name="connsiteX8" fmla="*/ 1206631 w 1937995"/>
              <a:gd name="connsiteY8" fmla="*/ 1084084 h 1084084"/>
              <a:gd name="connsiteX9" fmla="*/ 0 w 1937995"/>
              <a:gd name="connsiteY9" fmla="*/ 542042 h 1084084"/>
              <a:gd name="connsiteX10" fmla="*/ 1206631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1206631" y="0"/>
                </a:moveTo>
                <a:cubicBezTo>
                  <a:pt x="1456533" y="0"/>
                  <a:pt x="1688690" y="34127"/>
                  <a:pt x="1881270" y="92572"/>
                </a:cubicBezTo>
                <a:lnTo>
                  <a:pt x="1937993" y="113596"/>
                </a:lnTo>
                <a:lnTo>
                  <a:pt x="1816140" y="158759"/>
                </a:lnTo>
                <a:cubicBezTo>
                  <a:pt x="1597783" y="256850"/>
                  <a:pt x="1462726" y="392360"/>
                  <a:pt x="1462726" y="542041"/>
                </a:cubicBezTo>
                <a:cubicBezTo>
                  <a:pt x="1462726" y="691722"/>
                  <a:pt x="1597783" y="827233"/>
                  <a:pt x="1816140" y="925323"/>
                </a:cubicBezTo>
                <a:lnTo>
                  <a:pt x="1937995" y="970487"/>
                </a:lnTo>
                <a:lnTo>
                  <a:pt x="1881270" y="991512"/>
                </a:lnTo>
                <a:cubicBezTo>
                  <a:pt x="1688690" y="1049957"/>
                  <a:pt x="1456533" y="1084084"/>
                  <a:pt x="1206631" y="1084084"/>
                </a:cubicBezTo>
                <a:cubicBezTo>
                  <a:pt x="540227" y="1084084"/>
                  <a:pt x="0" y="841404"/>
                  <a:pt x="0" y="542042"/>
                </a:cubicBezTo>
                <a:cubicBezTo>
                  <a:pt x="0" y="242680"/>
                  <a:pt x="540227" y="0"/>
                  <a:pt x="1206631" y="0"/>
                </a:cubicBezTo>
                <a:close/>
              </a:path>
            </a:pathLst>
          </a:cu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4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mph" presetSubtype="0" repeatCount="2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mph" presetSubtype="0" repeatCount="200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7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mph" presetSubtype="0" repeatCount="200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7" presetClass="emph" presetSubtype="0" repeatCount="2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9" grpId="0" animBg="1"/>
      <p:bldP spid="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88575-7DEE-C779-6FAB-295440844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08CA34-6FFC-C84B-5FCF-B6E0744B5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内连接</a:t>
            </a:r>
            <a:endParaRPr lang="en-US" altLang="zh-CN"/>
          </a:p>
          <a:p>
            <a:r>
              <a:rPr lang="zh-CN" altLang="en-US"/>
              <a:t>外连接</a:t>
            </a:r>
            <a:endParaRPr lang="en-US" altLang="zh-CN"/>
          </a:p>
          <a:p>
            <a:r>
              <a:rPr lang="zh-CN" altLang="en-US"/>
              <a:t>子查询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94E2CEE-264B-A389-E265-41CF2333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98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内连接查询的是两张表交集部分的数据。具体语法为：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3A67A51C-2821-F9B0-1C58-62F3FE45A5F7}"/>
              </a:ext>
            </a:extLst>
          </p:cNvPr>
          <p:cNvGrpSpPr/>
          <p:nvPr/>
        </p:nvGrpSpPr>
        <p:grpSpPr>
          <a:xfrm>
            <a:off x="978646" y="1619673"/>
            <a:ext cx="8933630" cy="2173423"/>
            <a:chOff x="2297720" y="3660322"/>
            <a:chExt cx="9843203" cy="217355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8B12231-7A09-00DA-5567-8D06C62BE0CA}"/>
                </a:ext>
              </a:extLst>
            </p:cNvPr>
            <p:cNvSpPr/>
            <p:nvPr/>
          </p:nvSpPr>
          <p:spPr>
            <a:xfrm>
              <a:off x="2297727" y="3660324"/>
              <a:ext cx="9843196" cy="217354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-- 1.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隐式内连接 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常见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lang="en-US" altLang="zh-CN" sz="1200">
                <a:solidFill>
                  <a:srgbClr val="00B05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字段列表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1 ,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where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连接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条件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-- 2.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显式内连接</a:t>
              </a:r>
              <a:endParaRPr lang="en-US" altLang="zh-CN" sz="1200">
                <a:solidFill>
                  <a:srgbClr val="00B05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字段列表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 [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inner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]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join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on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连接条件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 ;</a:t>
              </a:r>
              <a:endPara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D60F6E5E-BA06-334F-3DC0-1D818F1F49DE}"/>
                </a:ext>
              </a:extLst>
            </p:cNvPr>
            <p:cNvSpPr/>
            <p:nvPr/>
          </p:nvSpPr>
          <p:spPr>
            <a:xfrm>
              <a:off x="2297720" y="3660322"/>
              <a:ext cx="984319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0263EB5-6419-668E-CB1A-5B67B709656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390EA3B-7150-B8EA-1C30-7F6BC786CBB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98C3C39-2C1F-1EF0-07BD-A74D2CA5264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F373A40B-50A2-972E-D517-8305BF81F618}"/>
              </a:ext>
            </a:extLst>
          </p:cNvPr>
          <p:cNvGrpSpPr/>
          <p:nvPr/>
        </p:nvGrpSpPr>
        <p:grpSpPr>
          <a:xfrm>
            <a:off x="978640" y="4094009"/>
            <a:ext cx="8933630" cy="1132895"/>
            <a:chOff x="2297720" y="3660322"/>
            <a:chExt cx="9843203" cy="113296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0EECF8D-7ED9-A736-A596-09EAA57EF4B2}"/>
                </a:ext>
              </a:extLst>
            </p:cNvPr>
            <p:cNvSpPr/>
            <p:nvPr/>
          </p:nvSpPr>
          <p:spPr>
            <a:xfrm>
              <a:off x="2297727" y="3660324"/>
              <a:ext cx="9843196" cy="1132960"/>
            </a:xfrm>
            <a:prstGeom prst="roundRect">
              <a:avLst>
                <a:gd name="adj" fmla="val 80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-- 1.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给表起别名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来简化书写</a:t>
              </a:r>
              <a:endParaRPr lang="en-US" altLang="zh-CN" sz="1200">
                <a:solidFill>
                  <a:srgbClr val="00B05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字段列表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 [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as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]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别名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1,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[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as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]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别名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where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条件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...;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44F61DE-05E6-5929-70EE-882529C1BC4A}"/>
                </a:ext>
              </a:extLst>
            </p:cNvPr>
            <p:cNvSpPr/>
            <p:nvPr/>
          </p:nvSpPr>
          <p:spPr>
            <a:xfrm>
              <a:off x="2297720" y="3660322"/>
              <a:ext cx="984319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给表起别名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156DA1E-1BEC-3A76-7994-4A37C94D30E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EF842C6-0546-B6CE-8DAB-4764D51D3D9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843D2D3-D42C-B7C0-AD84-5B79FCBEAE1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6B77AF7-E0F2-04BC-D1E1-D3057C952258}"/>
              </a:ext>
            </a:extLst>
          </p:cNvPr>
          <p:cNvGrpSpPr/>
          <p:nvPr/>
        </p:nvGrpSpPr>
        <p:grpSpPr>
          <a:xfrm>
            <a:off x="978640" y="6232245"/>
            <a:ext cx="10625411" cy="448408"/>
            <a:chOff x="710879" y="5978768"/>
            <a:chExt cx="10502686" cy="4484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284D20F-D66A-4F3C-BA64-68F8CE9309F0}"/>
                </a:ext>
              </a:extLst>
            </p:cNvPr>
            <p:cNvSpPr/>
            <p:nvPr/>
          </p:nvSpPr>
          <p:spPr>
            <a:xfrm>
              <a:off x="710880" y="5978769"/>
              <a:ext cx="10502685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一旦为表指定了别名，就要通过别名来指定字段名，而不能再使用表名了。</a:t>
              </a:r>
              <a:endPara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8A3F909E-B498-399E-3089-BF7CC4A32A76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Shape 2468">
              <a:extLst>
                <a:ext uri="{FF2B5EF4-FFF2-40B4-BE49-F238E27FC236}">
                  <a16:creationId xmlns:a16="http://schemas.microsoft.com/office/drawing/2014/main" id="{39727794-4F40-CB46-B0C0-C6E0B8309CCC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25CF2EC-E574-8DA3-9FFC-D3B120899B00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50D4DF9D-5875-FE09-27EA-C33CDA5E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812" y="1998449"/>
            <a:ext cx="693480" cy="205758"/>
          </a:xfrm>
          <a:prstGeom prst="rect">
            <a:avLst/>
          </a:pr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4A46F365-2826-A63C-03A8-609A91297EFA}"/>
              </a:ext>
            </a:extLst>
          </p:cNvPr>
          <p:cNvSpPr/>
          <p:nvPr/>
        </p:nvSpPr>
        <p:spPr>
          <a:xfrm>
            <a:off x="8200731" y="686586"/>
            <a:ext cx="835436" cy="753130"/>
          </a:xfrm>
          <a:custGeom>
            <a:avLst/>
            <a:gdLst>
              <a:gd name="connsiteX0" fmla="*/ 475267 w 950536"/>
              <a:gd name="connsiteY0" fmla="*/ 0 h 856891"/>
              <a:gd name="connsiteX1" fmla="*/ 597122 w 950536"/>
              <a:gd name="connsiteY1" fmla="*/ 45165 h 856891"/>
              <a:gd name="connsiteX2" fmla="*/ 950536 w 950536"/>
              <a:gd name="connsiteY2" fmla="*/ 428446 h 856891"/>
              <a:gd name="connsiteX3" fmla="*/ 597122 w 950536"/>
              <a:gd name="connsiteY3" fmla="*/ 811728 h 856891"/>
              <a:gd name="connsiteX4" fmla="*/ 475270 w 950536"/>
              <a:gd name="connsiteY4" fmla="*/ 856891 h 856891"/>
              <a:gd name="connsiteX5" fmla="*/ 353414 w 950536"/>
              <a:gd name="connsiteY5" fmla="*/ 811727 h 856891"/>
              <a:gd name="connsiteX6" fmla="*/ 0 w 950536"/>
              <a:gd name="connsiteY6" fmla="*/ 428445 h 856891"/>
              <a:gd name="connsiteX7" fmla="*/ 353414 w 950536"/>
              <a:gd name="connsiteY7" fmla="*/ 45164 h 856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36" h="856891">
                <a:moveTo>
                  <a:pt x="475267" y="0"/>
                </a:moveTo>
                <a:lnTo>
                  <a:pt x="597122" y="45165"/>
                </a:lnTo>
                <a:cubicBezTo>
                  <a:pt x="815480" y="143255"/>
                  <a:pt x="950536" y="278765"/>
                  <a:pt x="950536" y="428446"/>
                </a:cubicBezTo>
                <a:cubicBezTo>
                  <a:pt x="950536" y="578127"/>
                  <a:pt x="815480" y="713638"/>
                  <a:pt x="597122" y="811728"/>
                </a:cubicBezTo>
                <a:lnTo>
                  <a:pt x="475270" y="856891"/>
                </a:lnTo>
                <a:lnTo>
                  <a:pt x="353414" y="811727"/>
                </a:lnTo>
                <a:cubicBezTo>
                  <a:pt x="135057" y="713637"/>
                  <a:pt x="0" y="578126"/>
                  <a:pt x="0" y="428445"/>
                </a:cubicBezTo>
                <a:cubicBezTo>
                  <a:pt x="0" y="278764"/>
                  <a:pt x="135057" y="143254"/>
                  <a:pt x="353414" y="45164"/>
                </a:cubicBezTo>
                <a:close/>
              </a:path>
            </a:pathLst>
          </a:custGeom>
          <a:solidFill>
            <a:srgbClr val="33660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∩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BACC6">
                  <a:lumMod val="20000"/>
                  <a:lumOff val="80000"/>
                </a:srgbClr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E0D55FC-6103-7D88-35DD-2307E25F8F10}"/>
              </a:ext>
            </a:extLst>
          </p:cNvPr>
          <p:cNvSpPr/>
          <p:nvPr/>
        </p:nvSpPr>
        <p:spPr>
          <a:xfrm>
            <a:off x="8618449" y="588259"/>
            <a:ext cx="1703324" cy="952813"/>
          </a:xfrm>
          <a:custGeom>
            <a:avLst/>
            <a:gdLst>
              <a:gd name="connsiteX0" fmla="*/ 731364 w 1937995"/>
              <a:gd name="connsiteY0" fmla="*/ 0 h 1084084"/>
              <a:gd name="connsiteX1" fmla="*/ 1937995 w 1937995"/>
              <a:gd name="connsiteY1" fmla="*/ 542042 h 1084084"/>
              <a:gd name="connsiteX2" fmla="*/ 731364 w 1937995"/>
              <a:gd name="connsiteY2" fmla="*/ 1084084 h 1084084"/>
              <a:gd name="connsiteX3" fmla="*/ 56725 w 1937995"/>
              <a:gd name="connsiteY3" fmla="*/ 991512 h 1084084"/>
              <a:gd name="connsiteX4" fmla="*/ 2 w 1937995"/>
              <a:gd name="connsiteY4" fmla="*/ 970488 h 1084084"/>
              <a:gd name="connsiteX5" fmla="*/ 121855 w 1937995"/>
              <a:gd name="connsiteY5" fmla="*/ 925325 h 1084084"/>
              <a:gd name="connsiteX6" fmla="*/ 475269 w 1937995"/>
              <a:gd name="connsiteY6" fmla="*/ 542043 h 1084084"/>
              <a:gd name="connsiteX7" fmla="*/ 121855 w 1937995"/>
              <a:gd name="connsiteY7" fmla="*/ 158762 h 1084084"/>
              <a:gd name="connsiteX8" fmla="*/ 0 w 1937995"/>
              <a:gd name="connsiteY8" fmla="*/ 113597 h 1084084"/>
              <a:gd name="connsiteX9" fmla="*/ 56725 w 1937995"/>
              <a:gd name="connsiteY9" fmla="*/ 92572 h 1084084"/>
              <a:gd name="connsiteX10" fmla="*/ 731364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731364" y="0"/>
                </a:moveTo>
                <a:cubicBezTo>
                  <a:pt x="1397768" y="0"/>
                  <a:pt x="1937995" y="242680"/>
                  <a:pt x="1937995" y="542042"/>
                </a:cubicBezTo>
                <a:cubicBezTo>
                  <a:pt x="1937995" y="841404"/>
                  <a:pt x="1397768" y="1084084"/>
                  <a:pt x="731364" y="1084084"/>
                </a:cubicBezTo>
                <a:cubicBezTo>
                  <a:pt x="481462" y="1084084"/>
                  <a:pt x="249305" y="1049957"/>
                  <a:pt x="56725" y="991512"/>
                </a:cubicBezTo>
                <a:lnTo>
                  <a:pt x="2" y="970488"/>
                </a:lnTo>
                <a:lnTo>
                  <a:pt x="121855" y="925325"/>
                </a:lnTo>
                <a:cubicBezTo>
                  <a:pt x="340212" y="827235"/>
                  <a:pt x="475269" y="691724"/>
                  <a:pt x="475269" y="542043"/>
                </a:cubicBezTo>
                <a:cubicBezTo>
                  <a:pt x="475269" y="392362"/>
                  <a:pt x="340212" y="256852"/>
                  <a:pt x="121855" y="158762"/>
                </a:cubicBezTo>
                <a:lnTo>
                  <a:pt x="0" y="113597"/>
                </a:lnTo>
                <a:lnTo>
                  <a:pt x="56725" y="92572"/>
                </a:lnTo>
                <a:cubicBezTo>
                  <a:pt x="249305" y="34127"/>
                  <a:pt x="481462" y="0"/>
                  <a:pt x="731364" y="0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47AD587-2A94-BD96-3A04-76C57E516032}"/>
              </a:ext>
            </a:extLst>
          </p:cNvPr>
          <p:cNvSpPr/>
          <p:nvPr/>
        </p:nvSpPr>
        <p:spPr>
          <a:xfrm>
            <a:off x="6915125" y="586744"/>
            <a:ext cx="1703324" cy="952813"/>
          </a:xfrm>
          <a:custGeom>
            <a:avLst/>
            <a:gdLst>
              <a:gd name="connsiteX0" fmla="*/ 1206631 w 1937995"/>
              <a:gd name="connsiteY0" fmla="*/ 0 h 1084084"/>
              <a:gd name="connsiteX1" fmla="*/ 1881270 w 1937995"/>
              <a:gd name="connsiteY1" fmla="*/ 92572 h 1084084"/>
              <a:gd name="connsiteX2" fmla="*/ 1937993 w 1937995"/>
              <a:gd name="connsiteY2" fmla="*/ 113596 h 1084084"/>
              <a:gd name="connsiteX3" fmla="*/ 1816140 w 1937995"/>
              <a:gd name="connsiteY3" fmla="*/ 158759 h 1084084"/>
              <a:gd name="connsiteX4" fmla="*/ 1462726 w 1937995"/>
              <a:gd name="connsiteY4" fmla="*/ 542041 h 1084084"/>
              <a:gd name="connsiteX5" fmla="*/ 1816140 w 1937995"/>
              <a:gd name="connsiteY5" fmla="*/ 925323 h 1084084"/>
              <a:gd name="connsiteX6" fmla="*/ 1937995 w 1937995"/>
              <a:gd name="connsiteY6" fmla="*/ 970487 h 1084084"/>
              <a:gd name="connsiteX7" fmla="*/ 1881270 w 1937995"/>
              <a:gd name="connsiteY7" fmla="*/ 991512 h 1084084"/>
              <a:gd name="connsiteX8" fmla="*/ 1206631 w 1937995"/>
              <a:gd name="connsiteY8" fmla="*/ 1084084 h 1084084"/>
              <a:gd name="connsiteX9" fmla="*/ 0 w 1937995"/>
              <a:gd name="connsiteY9" fmla="*/ 542042 h 1084084"/>
              <a:gd name="connsiteX10" fmla="*/ 1206631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1206631" y="0"/>
                </a:moveTo>
                <a:cubicBezTo>
                  <a:pt x="1456533" y="0"/>
                  <a:pt x="1688690" y="34127"/>
                  <a:pt x="1881270" y="92572"/>
                </a:cubicBezTo>
                <a:lnTo>
                  <a:pt x="1937993" y="113596"/>
                </a:lnTo>
                <a:lnTo>
                  <a:pt x="1816140" y="158759"/>
                </a:lnTo>
                <a:cubicBezTo>
                  <a:pt x="1597783" y="256850"/>
                  <a:pt x="1462726" y="392360"/>
                  <a:pt x="1462726" y="542041"/>
                </a:cubicBezTo>
                <a:cubicBezTo>
                  <a:pt x="1462726" y="691722"/>
                  <a:pt x="1597783" y="827233"/>
                  <a:pt x="1816140" y="925323"/>
                </a:cubicBezTo>
                <a:lnTo>
                  <a:pt x="1937995" y="970487"/>
                </a:lnTo>
                <a:lnTo>
                  <a:pt x="1881270" y="991512"/>
                </a:lnTo>
                <a:cubicBezTo>
                  <a:pt x="1688690" y="1049957"/>
                  <a:pt x="1456533" y="1084084"/>
                  <a:pt x="1206631" y="1084084"/>
                </a:cubicBezTo>
                <a:cubicBezTo>
                  <a:pt x="540227" y="1084084"/>
                  <a:pt x="0" y="841404"/>
                  <a:pt x="0" y="542042"/>
                </a:cubicBezTo>
                <a:cubicBezTo>
                  <a:pt x="0" y="242680"/>
                  <a:pt x="540227" y="0"/>
                  <a:pt x="1206631" y="0"/>
                </a:cubicBezTo>
                <a:close/>
              </a:path>
            </a:pathLst>
          </a:cu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71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88575-7DEE-C779-6FAB-295440844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08CA34-6FFC-C84B-5FCF-B6E0744B5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内连接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外连接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子查询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94E2CEE-264B-A389-E265-41CF2333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外连接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外连接分为左外连接和右外连接。具体语法为：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D558B9B-836F-9C87-16E5-460794D137C8}"/>
              </a:ext>
            </a:extLst>
          </p:cNvPr>
          <p:cNvSpPr/>
          <p:nvPr/>
        </p:nvSpPr>
        <p:spPr>
          <a:xfrm>
            <a:off x="7967649" y="692615"/>
            <a:ext cx="835436" cy="753130"/>
          </a:xfrm>
          <a:custGeom>
            <a:avLst/>
            <a:gdLst>
              <a:gd name="connsiteX0" fmla="*/ 475267 w 950536"/>
              <a:gd name="connsiteY0" fmla="*/ 0 h 856891"/>
              <a:gd name="connsiteX1" fmla="*/ 597122 w 950536"/>
              <a:gd name="connsiteY1" fmla="*/ 45165 h 856891"/>
              <a:gd name="connsiteX2" fmla="*/ 950536 w 950536"/>
              <a:gd name="connsiteY2" fmla="*/ 428446 h 856891"/>
              <a:gd name="connsiteX3" fmla="*/ 597122 w 950536"/>
              <a:gd name="connsiteY3" fmla="*/ 811728 h 856891"/>
              <a:gd name="connsiteX4" fmla="*/ 475270 w 950536"/>
              <a:gd name="connsiteY4" fmla="*/ 856891 h 856891"/>
              <a:gd name="connsiteX5" fmla="*/ 353414 w 950536"/>
              <a:gd name="connsiteY5" fmla="*/ 811727 h 856891"/>
              <a:gd name="connsiteX6" fmla="*/ 0 w 950536"/>
              <a:gd name="connsiteY6" fmla="*/ 428445 h 856891"/>
              <a:gd name="connsiteX7" fmla="*/ 353414 w 950536"/>
              <a:gd name="connsiteY7" fmla="*/ 45164 h 856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0536" h="856891">
                <a:moveTo>
                  <a:pt x="475267" y="0"/>
                </a:moveTo>
                <a:lnTo>
                  <a:pt x="597122" y="45165"/>
                </a:lnTo>
                <a:cubicBezTo>
                  <a:pt x="815480" y="143255"/>
                  <a:pt x="950536" y="278765"/>
                  <a:pt x="950536" y="428446"/>
                </a:cubicBezTo>
                <a:cubicBezTo>
                  <a:pt x="950536" y="578127"/>
                  <a:pt x="815480" y="713638"/>
                  <a:pt x="597122" y="811728"/>
                </a:cubicBezTo>
                <a:lnTo>
                  <a:pt x="475270" y="856891"/>
                </a:lnTo>
                <a:lnTo>
                  <a:pt x="353414" y="811727"/>
                </a:lnTo>
                <a:cubicBezTo>
                  <a:pt x="135057" y="713637"/>
                  <a:pt x="0" y="578126"/>
                  <a:pt x="0" y="428445"/>
                </a:cubicBezTo>
                <a:cubicBezTo>
                  <a:pt x="0" y="278764"/>
                  <a:pt x="135057" y="143254"/>
                  <a:pt x="353414" y="45164"/>
                </a:cubicBezTo>
                <a:close/>
              </a:path>
            </a:pathLst>
          </a:custGeom>
          <a:solidFill>
            <a:srgbClr val="33660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∩</a:t>
            </a: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4BAC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BACC6">
                  <a:lumMod val="20000"/>
                  <a:lumOff val="80000"/>
                </a:srgbClr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AC755C4B-B0AB-36DC-88AB-A049965E44A0}"/>
              </a:ext>
            </a:extLst>
          </p:cNvPr>
          <p:cNvSpPr/>
          <p:nvPr/>
        </p:nvSpPr>
        <p:spPr>
          <a:xfrm>
            <a:off x="8385367" y="594288"/>
            <a:ext cx="1703324" cy="952813"/>
          </a:xfrm>
          <a:custGeom>
            <a:avLst/>
            <a:gdLst>
              <a:gd name="connsiteX0" fmla="*/ 731364 w 1937995"/>
              <a:gd name="connsiteY0" fmla="*/ 0 h 1084084"/>
              <a:gd name="connsiteX1" fmla="*/ 1937995 w 1937995"/>
              <a:gd name="connsiteY1" fmla="*/ 542042 h 1084084"/>
              <a:gd name="connsiteX2" fmla="*/ 731364 w 1937995"/>
              <a:gd name="connsiteY2" fmla="*/ 1084084 h 1084084"/>
              <a:gd name="connsiteX3" fmla="*/ 56725 w 1937995"/>
              <a:gd name="connsiteY3" fmla="*/ 991512 h 1084084"/>
              <a:gd name="connsiteX4" fmla="*/ 2 w 1937995"/>
              <a:gd name="connsiteY4" fmla="*/ 970488 h 1084084"/>
              <a:gd name="connsiteX5" fmla="*/ 121855 w 1937995"/>
              <a:gd name="connsiteY5" fmla="*/ 925325 h 1084084"/>
              <a:gd name="connsiteX6" fmla="*/ 475269 w 1937995"/>
              <a:gd name="connsiteY6" fmla="*/ 542043 h 1084084"/>
              <a:gd name="connsiteX7" fmla="*/ 121855 w 1937995"/>
              <a:gd name="connsiteY7" fmla="*/ 158762 h 1084084"/>
              <a:gd name="connsiteX8" fmla="*/ 0 w 1937995"/>
              <a:gd name="connsiteY8" fmla="*/ 113597 h 1084084"/>
              <a:gd name="connsiteX9" fmla="*/ 56725 w 1937995"/>
              <a:gd name="connsiteY9" fmla="*/ 92572 h 1084084"/>
              <a:gd name="connsiteX10" fmla="*/ 731364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731364" y="0"/>
                </a:moveTo>
                <a:cubicBezTo>
                  <a:pt x="1397768" y="0"/>
                  <a:pt x="1937995" y="242680"/>
                  <a:pt x="1937995" y="542042"/>
                </a:cubicBezTo>
                <a:cubicBezTo>
                  <a:pt x="1937995" y="841404"/>
                  <a:pt x="1397768" y="1084084"/>
                  <a:pt x="731364" y="1084084"/>
                </a:cubicBezTo>
                <a:cubicBezTo>
                  <a:pt x="481462" y="1084084"/>
                  <a:pt x="249305" y="1049957"/>
                  <a:pt x="56725" y="991512"/>
                </a:cubicBezTo>
                <a:lnTo>
                  <a:pt x="2" y="970488"/>
                </a:lnTo>
                <a:lnTo>
                  <a:pt x="121855" y="925325"/>
                </a:lnTo>
                <a:cubicBezTo>
                  <a:pt x="340212" y="827235"/>
                  <a:pt x="475269" y="691724"/>
                  <a:pt x="475269" y="542043"/>
                </a:cubicBezTo>
                <a:cubicBezTo>
                  <a:pt x="475269" y="392362"/>
                  <a:pt x="340212" y="256852"/>
                  <a:pt x="121855" y="158762"/>
                </a:cubicBezTo>
                <a:lnTo>
                  <a:pt x="0" y="113597"/>
                </a:lnTo>
                <a:lnTo>
                  <a:pt x="56725" y="92572"/>
                </a:lnTo>
                <a:cubicBezTo>
                  <a:pt x="249305" y="34127"/>
                  <a:pt x="481462" y="0"/>
                  <a:pt x="731364" y="0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B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BA29D6A-A091-110A-2898-78A9BC30D58F}"/>
              </a:ext>
            </a:extLst>
          </p:cNvPr>
          <p:cNvSpPr/>
          <p:nvPr/>
        </p:nvSpPr>
        <p:spPr>
          <a:xfrm>
            <a:off x="6682043" y="592773"/>
            <a:ext cx="1703324" cy="952813"/>
          </a:xfrm>
          <a:custGeom>
            <a:avLst/>
            <a:gdLst>
              <a:gd name="connsiteX0" fmla="*/ 1206631 w 1937995"/>
              <a:gd name="connsiteY0" fmla="*/ 0 h 1084084"/>
              <a:gd name="connsiteX1" fmla="*/ 1881270 w 1937995"/>
              <a:gd name="connsiteY1" fmla="*/ 92572 h 1084084"/>
              <a:gd name="connsiteX2" fmla="*/ 1937993 w 1937995"/>
              <a:gd name="connsiteY2" fmla="*/ 113596 h 1084084"/>
              <a:gd name="connsiteX3" fmla="*/ 1816140 w 1937995"/>
              <a:gd name="connsiteY3" fmla="*/ 158759 h 1084084"/>
              <a:gd name="connsiteX4" fmla="*/ 1462726 w 1937995"/>
              <a:gd name="connsiteY4" fmla="*/ 542041 h 1084084"/>
              <a:gd name="connsiteX5" fmla="*/ 1816140 w 1937995"/>
              <a:gd name="connsiteY5" fmla="*/ 925323 h 1084084"/>
              <a:gd name="connsiteX6" fmla="*/ 1937995 w 1937995"/>
              <a:gd name="connsiteY6" fmla="*/ 970487 h 1084084"/>
              <a:gd name="connsiteX7" fmla="*/ 1881270 w 1937995"/>
              <a:gd name="connsiteY7" fmla="*/ 991512 h 1084084"/>
              <a:gd name="connsiteX8" fmla="*/ 1206631 w 1937995"/>
              <a:gd name="connsiteY8" fmla="*/ 1084084 h 1084084"/>
              <a:gd name="connsiteX9" fmla="*/ 0 w 1937995"/>
              <a:gd name="connsiteY9" fmla="*/ 542042 h 1084084"/>
              <a:gd name="connsiteX10" fmla="*/ 1206631 w 1937995"/>
              <a:gd name="connsiteY10" fmla="*/ 0 h 108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7995" h="1084084">
                <a:moveTo>
                  <a:pt x="1206631" y="0"/>
                </a:moveTo>
                <a:cubicBezTo>
                  <a:pt x="1456533" y="0"/>
                  <a:pt x="1688690" y="34127"/>
                  <a:pt x="1881270" y="92572"/>
                </a:cubicBezTo>
                <a:lnTo>
                  <a:pt x="1937993" y="113596"/>
                </a:lnTo>
                <a:lnTo>
                  <a:pt x="1816140" y="158759"/>
                </a:lnTo>
                <a:cubicBezTo>
                  <a:pt x="1597783" y="256850"/>
                  <a:pt x="1462726" y="392360"/>
                  <a:pt x="1462726" y="542041"/>
                </a:cubicBezTo>
                <a:cubicBezTo>
                  <a:pt x="1462726" y="691722"/>
                  <a:pt x="1597783" y="827233"/>
                  <a:pt x="1816140" y="925323"/>
                </a:cubicBezTo>
                <a:lnTo>
                  <a:pt x="1937995" y="970487"/>
                </a:lnTo>
                <a:lnTo>
                  <a:pt x="1881270" y="991512"/>
                </a:lnTo>
                <a:cubicBezTo>
                  <a:pt x="1688690" y="1049957"/>
                  <a:pt x="1456533" y="1084084"/>
                  <a:pt x="1206631" y="1084084"/>
                </a:cubicBezTo>
                <a:cubicBezTo>
                  <a:pt x="540227" y="1084084"/>
                  <a:pt x="0" y="841404"/>
                  <a:pt x="0" y="542042"/>
                </a:cubicBezTo>
                <a:cubicBezTo>
                  <a:pt x="0" y="242680"/>
                  <a:pt x="540227" y="0"/>
                  <a:pt x="1206631" y="0"/>
                </a:cubicBezTo>
                <a:close/>
              </a:path>
            </a:pathLst>
          </a:cu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A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1B95A8D3-27E4-7184-EF3E-486EBD5D89F4}"/>
              </a:ext>
            </a:extLst>
          </p:cNvPr>
          <p:cNvGrpSpPr/>
          <p:nvPr/>
        </p:nvGrpSpPr>
        <p:grpSpPr>
          <a:xfrm>
            <a:off x="937879" y="1665063"/>
            <a:ext cx="8933630" cy="2173423"/>
            <a:chOff x="2297720" y="3660322"/>
            <a:chExt cx="9843203" cy="217355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99F65A4-364D-7F17-5D17-C5A5A736DD61}"/>
                </a:ext>
              </a:extLst>
            </p:cNvPr>
            <p:cNvSpPr/>
            <p:nvPr/>
          </p:nvSpPr>
          <p:spPr>
            <a:xfrm>
              <a:off x="2297727" y="3660324"/>
              <a:ext cx="9843196" cy="2173549"/>
            </a:xfrm>
            <a:prstGeom prst="roundRect">
              <a:avLst>
                <a:gd name="adj" fmla="val 38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-- 1.</a:t>
              </a:r>
              <a:r>
                <a:rPr lang="zh-CN" altLang="en-US" sz="12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左外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连接 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常见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lang="en-US" altLang="zh-CN" sz="1200">
                <a:solidFill>
                  <a:srgbClr val="00B05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字段列表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left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outer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]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join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on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连接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条件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-- 2.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右外连接</a:t>
              </a:r>
              <a:endParaRPr lang="en-US" altLang="zh-CN" sz="1200">
                <a:solidFill>
                  <a:srgbClr val="00B05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select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字段列表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right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outer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]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join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on 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连接</a:t>
              </a:r>
              <a:r>
                <a:rPr lang="zh-CN" alt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条件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...;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2DFFBE3C-D279-9643-456D-0F2838060502}"/>
                </a:ext>
              </a:extLst>
            </p:cNvPr>
            <p:cNvSpPr/>
            <p:nvPr/>
          </p:nvSpPr>
          <p:spPr>
            <a:xfrm>
              <a:off x="2297720" y="3660322"/>
              <a:ext cx="984319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CF931B4-54F9-BAD6-2B80-CFD39137969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3694245-C95C-DBDE-8460-71171F4C349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B4C8B53-4EED-B3ED-4944-161B81EE4A3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E1A321B-2C97-EF97-31D9-70379399014B}"/>
              </a:ext>
            </a:extLst>
          </p:cNvPr>
          <p:cNvGrpSpPr/>
          <p:nvPr/>
        </p:nvGrpSpPr>
        <p:grpSpPr>
          <a:xfrm>
            <a:off x="937879" y="6045908"/>
            <a:ext cx="10698799" cy="448408"/>
            <a:chOff x="710880" y="5745685"/>
            <a:chExt cx="10317054" cy="44840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44E812E-7C43-6DE4-D682-22A42BF82E53}"/>
                </a:ext>
              </a:extLst>
            </p:cNvPr>
            <p:cNvSpPr/>
            <p:nvPr/>
          </p:nvSpPr>
          <p:spPr>
            <a:xfrm>
              <a:off x="710880" y="5745686"/>
              <a:ext cx="10317054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对于外连接，常用的是左外连接，因为右外连接的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SQL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也可以改造成为左外连接（两张表调换个顺序）。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9AAF06DC-2103-805F-6511-0A45A1C77C75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形 15" descr="发送 纯色填充">
              <a:extLst>
                <a:ext uri="{FF2B5EF4-FFF2-40B4-BE49-F238E27FC236}">
                  <a16:creationId xmlns:a16="http://schemas.microsoft.com/office/drawing/2014/main" id="{F4082862-3325-01C9-11C2-5F73F7DEE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64BC38B-FE40-5291-3CEA-533FA735F1E3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660C00F3-4301-9A56-ADAE-C0990C636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549" y="2043903"/>
            <a:ext cx="998307" cy="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5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mph" presetSubtype="0" repeatCount="3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mph" presetSubtype="0" repeatCount="3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88575-7DEE-C779-6FAB-295440844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08CA34-6FFC-C84B-5FCF-B6E0744B5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内连接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外连接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子查询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94E2CEE-264B-A389-E265-41CF2333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50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子查询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812983"/>
          </a:xfrm>
        </p:spPr>
        <p:txBody>
          <a:bodyPr/>
          <a:lstStyle/>
          <a:p>
            <a:pPr marL="285750" indent="-285750" defTabSz="5400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介绍：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语句中嵌套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select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语句，称为嵌套查询，又称子查询。</a:t>
            </a:r>
            <a:endParaRPr lang="en-US" altLang="zh-CN" sz="16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 defTabSz="5400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形式：</a:t>
            </a:r>
            <a:r>
              <a:rPr lang="en-US" altLang="zh-CN" sz="1600">
                <a:solidFill>
                  <a:srgbClr val="0000FF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select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 * </a:t>
            </a:r>
            <a:r>
              <a:rPr lang="en-US" altLang="zh-CN" sz="1600">
                <a:solidFill>
                  <a:srgbClr val="0000FF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from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 t1 </a:t>
            </a:r>
            <a:r>
              <a:rPr lang="en-US" altLang="zh-CN" sz="1600">
                <a:solidFill>
                  <a:srgbClr val="0000FF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where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 column1 = (</a:t>
            </a:r>
            <a:r>
              <a:rPr lang="en-US" altLang="zh-CN" sz="1600">
                <a:solidFill>
                  <a:srgbClr val="0000FF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select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 column1 </a:t>
            </a:r>
            <a:r>
              <a:rPr lang="en-US" altLang="zh-CN" sz="1600">
                <a:solidFill>
                  <a:srgbClr val="0000FF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from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 t2 …);</a:t>
            </a:r>
          </a:p>
          <a:p>
            <a:pPr marL="285750" indent="-285750" defTabSz="5400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</a:t>
            </a: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子查询外部的语句可以是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insert / update / delete / select 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的任何一个，最常见的是 </a:t>
            </a:r>
            <a:r>
              <a:rPr lang="en-US" altLang="zh-CN" sz="1600">
                <a:ea typeface="Fira Code" panose="020B0809050000020004" pitchFamily="49" charset="0"/>
                <a:cs typeface="阿里巴巴普惠体" panose="00020600040101010101" pitchFamily="18" charset="-122"/>
              </a:rPr>
              <a:t>select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5400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分类</a:t>
            </a: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038" lvl="1" indent="-342900" defTabSz="54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标量子查询：子查询返回的结果为单个值</a:t>
            </a:r>
            <a:endParaRPr lang="en-US" altLang="zh-CN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038" lvl="1" indent="-342900" defTabSz="54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列子查询：子查询返回的结果为一列</a:t>
            </a:r>
            <a:endParaRPr lang="en-US" altLang="zh-CN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038" lvl="1" indent="-342900" defTabSz="54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行子查询：子查询返回的结果为一行</a:t>
            </a:r>
            <a:endParaRPr lang="en-US" altLang="zh-CN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02038" lvl="1" indent="-342900" defTabSz="54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表子查询：子查询返回的结果为多行多列</a:t>
            </a:r>
            <a:endParaRPr lang="en-US" altLang="zh-CN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2D1D41-9D71-EB85-4C9D-61A54097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547" y="2915448"/>
            <a:ext cx="769687" cy="3048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E86B48-5DB9-880C-63F3-C7C3FD0CF5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46"/>
          <a:stretch/>
        </p:blipFill>
        <p:spPr>
          <a:xfrm>
            <a:off x="5979547" y="3429000"/>
            <a:ext cx="769686" cy="11634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39741D-1749-ABE8-B20E-A2781EC6D5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919" b="-2564"/>
          <a:stretch/>
        </p:blipFill>
        <p:spPr>
          <a:xfrm>
            <a:off x="7609153" y="2923068"/>
            <a:ext cx="2958084" cy="3048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82F140-0306-4D6D-33B3-A0C4289A7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153" y="3429000"/>
            <a:ext cx="2958084" cy="1163463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736998C4-8BCC-EC06-1977-D3BD34267EE4}"/>
              </a:ext>
            </a:extLst>
          </p:cNvPr>
          <p:cNvGrpSpPr/>
          <p:nvPr/>
        </p:nvGrpSpPr>
        <p:grpSpPr>
          <a:xfrm>
            <a:off x="1014990" y="6073193"/>
            <a:ext cx="10698799" cy="448408"/>
            <a:chOff x="710880" y="5745685"/>
            <a:chExt cx="10317054" cy="44840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DA39DAE-F83A-061A-A95D-7BE1433EC016}"/>
                </a:ext>
              </a:extLst>
            </p:cNvPr>
            <p:cNvSpPr/>
            <p:nvPr/>
          </p:nvSpPr>
          <p:spPr>
            <a:xfrm>
              <a:off x="710880" y="5745686"/>
              <a:ext cx="10317054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chemeClr val="tx1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子查询的要点是，先对需求做拆分，明确具体的步骤，然后再逐步编写</a:t>
              </a:r>
              <a:r>
                <a:rPr lang="en-US" altLang="zh-CN" sz="1400">
                  <a:solidFill>
                    <a:schemeClr val="tx1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SQL</a:t>
              </a:r>
              <a:r>
                <a:rPr lang="zh-CN" altLang="en-US" sz="1400">
                  <a:solidFill>
                    <a:schemeClr val="tx1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语句。</a:t>
              </a:r>
              <a:endParaRPr lang="zh-CN" altLang="en-US" sz="1400" dirty="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7BB63638-EFFE-7411-E3CB-D779BA84D327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形 10" descr="发送 纯色填充">
              <a:extLst>
                <a:ext uri="{FF2B5EF4-FFF2-40B4-BE49-F238E27FC236}">
                  <a16:creationId xmlns:a16="http://schemas.microsoft.com/office/drawing/2014/main" id="{6391DD84-42D9-5D9C-50F0-0F556C0F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1E1917E-7AEC-191E-CE56-C633AE7D31B4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099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88575-7DEE-C779-6FAB-295440844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多表查询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08CA34-6FFC-C84B-5FCF-B6E0744B5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内连接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外连接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子查询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94E2CEE-264B-A389-E265-41CF2333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005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6B746FB-7075-D9B8-B5CC-1EDD237F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根据需求，完成多表查询的</a:t>
            </a:r>
            <a:r>
              <a:rPr lang="en-US" altLang="zh-CN"/>
              <a:t>SQL</a:t>
            </a:r>
            <a:r>
              <a:rPr lang="zh-CN" altLang="en-US"/>
              <a:t>语句编写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43E79D-AD7F-633A-4454-3C53CA72F7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812" y="1024932"/>
            <a:ext cx="10767827" cy="3305021"/>
          </a:xfrm>
        </p:spPr>
        <p:txBody>
          <a:bodyPr/>
          <a:lstStyle/>
          <a:p>
            <a:r>
              <a:rPr lang="zh-CN" altLang="en-US" b="1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需求：</a:t>
            </a:r>
            <a:endParaRPr lang="en-US" altLang="zh-CN" b="1">
              <a:effectLst/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lvl="1" indent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1.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查询 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教研部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的 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男性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员工，且在 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"2011-05-01"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之后入职的员工信息 。</a:t>
            </a:r>
            <a:br>
              <a:rPr lang="zh-CN" altLang="en-US" sz="1600" b="0">
                <a:effectLst/>
                <a:latin typeface="Fira Code" panose="020B0809050000020004" pitchFamily="49" charset="0"/>
              </a:rPr>
            </a:b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2.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查询工资 低于公司平均工资的 且 性别为男 的员工信息 。</a:t>
            </a:r>
            <a:br>
              <a:rPr lang="zh-CN" altLang="en-US" sz="1600" b="0">
                <a:effectLst/>
                <a:latin typeface="Fira Code" panose="020B0809050000020004" pitchFamily="49" charset="0"/>
              </a:rPr>
            </a:b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3.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查询部门人数超过 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10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人的部门名称 。</a:t>
            </a:r>
            <a:endParaRPr lang="en-US" altLang="zh-CN" sz="1600" b="0">
              <a:effectLst/>
              <a:latin typeface="Fira Code" panose="020B0809050000020004" pitchFamily="49" charset="0"/>
            </a:endParaRPr>
          </a:p>
          <a:p>
            <a:pPr marL="360000" lvl="1" indent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1600" b="0">
                <a:latin typeface="Fira Code" panose="020B0809050000020004" pitchFamily="49" charset="0"/>
              </a:rPr>
              <a:t>4. </a:t>
            </a:r>
            <a:r>
              <a:rPr lang="zh-CN" altLang="en-US" sz="1600" b="0">
                <a:latin typeface="Fira Code" panose="020B0809050000020004" pitchFamily="49" charset="0"/>
              </a:rPr>
              <a:t>查询在 </a:t>
            </a:r>
            <a:r>
              <a:rPr lang="en-US" altLang="zh-CN" sz="1600" b="0">
                <a:latin typeface="Fira Code" panose="020B0809050000020004" pitchFamily="49" charset="0"/>
              </a:rPr>
              <a:t>"2010-05-01" </a:t>
            </a:r>
            <a:r>
              <a:rPr lang="zh-CN" altLang="en-US" sz="1600" b="0">
                <a:latin typeface="Fira Code" panose="020B0809050000020004" pitchFamily="49" charset="0"/>
              </a:rPr>
              <a:t>后入职，且薪资高于 </a:t>
            </a:r>
            <a:r>
              <a:rPr lang="en-US" altLang="zh-CN" sz="1600" b="0">
                <a:latin typeface="Fira Code" panose="020B0809050000020004" pitchFamily="49" charset="0"/>
              </a:rPr>
              <a:t>10000 </a:t>
            </a:r>
            <a:r>
              <a:rPr lang="zh-CN" altLang="en-US" sz="1600" b="0">
                <a:latin typeface="Fira Code" panose="020B0809050000020004" pitchFamily="49" charset="0"/>
              </a:rPr>
              <a:t>的 </a:t>
            </a:r>
            <a:r>
              <a:rPr lang="en-US" altLang="zh-CN" sz="1600" b="0">
                <a:latin typeface="Fira Code" panose="020B0809050000020004" pitchFamily="49" charset="0"/>
              </a:rPr>
              <a:t>"</a:t>
            </a:r>
            <a:r>
              <a:rPr lang="zh-CN" altLang="en-US" sz="1600" b="0">
                <a:latin typeface="Fira Code" panose="020B0809050000020004" pitchFamily="49" charset="0"/>
              </a:rPr>
              <a:t>教研部</a:t>
            </a:r>
            <a:r>
              <a:rPr lang="en-US" altLang="zh-CN" sz="1600" b="0">
                <a:latin typeface="Fira Code" panose="020B0809050000020004" pitchFamily="49" charset="0"/>
              </a:rPr>
              <a:t>" </a:t>
            </a:r>
            <a:r>
              <a:rPr lang="zh-CN" altLang="en-US" sz="1600" b="0">
                <a:latin typeface="Fira Code" panose="020B0809050000020004" pitchFamily="49" charset="0"/>
              </a:rPr>
              <a:t>员工信息，并根据薪资倒序排序。</a:t>
            </a:r>
            <a:endParaRPr lang="en-US" altLang="zh-CN" sz="1600" b="0">
              <a:effectLst/>
              <a:latin typeface="Fira Code" panose="020B0809050000020004" pitchFamily="49" charset="0"/>
            </a:endParaRPr>
          </a:p>
          <a:p>
            <a:pPr marL="360000" lvl="1" indent="0"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5</a:t>
            </a:r>
            <a:r>
              <a:rPr lang="en-US" altLang="zh-CN" sz="1600" b="0"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. </a:t>
            </a:r>
            <a:r>
              <a:rPr lang="zh-CN" altLang="en-US" sz="1600" b="0">
                <a:effectLst/>
                <a:latin typeface="Fira Code" panose="020B0809050000020004" pitchFamily="49" charset="0"/>
              </a:rPr>
              <a:t>查询工资 低于本部门平均工资的员工信息 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748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35AA5-EA56-3489-7436-C4E596CC7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662411"/>
            <a:ext cx="4007125" cy="2631150"/>
          </a:xfrm>
        </p:spPr>
        <p:txBody>
          <a:bodyPr/>
          <a:lstStyle/>
          <a:p>
            <a:r>
              <a:rPr lang="zh-CN" altLang="en-US" sz="2000"/>
              <a:t>多表关系</a:t>
            </a:r>
            <a:endParaRPr lang="en-US" altLang="zh-CN" sz="2000"/>
          </a:p>
          <a:p>
            <a:r>
              <a:rPr lang="zh-CN" altLang="en-US" sz="2000">
                <a:solidFill>
                  <a:schemeClr val="tx1">
                    <a:lumMod val="75000"/>
                  </a:schemeClr>
                </a:solidFill>
              </a:rPr>
              <a:t>多表查询</a:t>
            </a:r>
            <a:endParaRPr lang="en-US" altLang="zh-CN" sz="200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 sz="2000">
                <a:solidFill>
                  <a:srgbClr val="C00000"/>
                </a:solidFill>
              </a:rPr>
              <a:t>员工列表查询</a:t>
            </a:r>
          </a:p>
        </p:txBody>
      </p:sp>
    </p:spTree>
    <p:extLst>
      <p:ext uri="{BB962C8B-B14F-4D97-AF65-F5344CB8AC3E}">
        <p14:creationId xmlns:p14="http://schemas.microsoft.com/office/powerpoint/2010/main" val="3582641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4" name="!!文本占位符 9">
            <a:extLst>
              <a:ext uri="{FF2B5EF4-FFF2-40B4-BE49-F238E27FC236}">
                <a16:creationId xmlns:a16="http://schemas.microsoft.com/office/drawing/2014/main" id="{DE410192-EC33-ABE2-4968-12A900DC3281}"/>
              </a:ext>
            </a:extLst>
          </p:cNvPr>
          <p:cNvSpPr txBox="1">
            <a:spLocks/>
          </p:cNvSpPr>
          <p:nvPr/>
        </p:nvSpPr>
        <p:spPr>
          <a:xfrm>
            <a:off x="10103218" y="2864223"/>
            <a:ext cx="1978033" cy="15374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/>
              <a:t>准备工作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/>
              <a:t>分页查询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/>
              <a:t>条件分页查询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A6510E-4FAD-F14F-85F1-5D4BCC89E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7"/>
          <a:stretch/>
        </p:blipFill>
        <p:spPr>
          <a:xfrm>
            <a:off x="770963" y="1178763"/>
            <a:ext cx="9179861" cy="5042743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7F68EEC-6DA1-A72E-D410-7D67D84FEDA7}"/>
              </a:ext>
            </a:extLst>
          </p:cNvPr>
          <p:cNvSpPr/>
          <p:nvPr/>
        </p:nvSpPr>
        <p:spPr>
          <a:xfrm>
            <a:off x="770963" y="1524000"/>
            <a:ext cx="9179861" cy="439271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D54444-A89A-89FD-4BD9-45AE351A0E6E}"/>
              </a:ext>
            </a:extLst>
          </p:cNvPr>
          <p:cNvSpPr/>
          <p:nvPr/>
        </p:nvSpPr>
        <p:spPr>
          <a:xfrm>
            <a:off x="770962" y="5871880"/>
            <a:ext cx="9179861" cy="336177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884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uiExpan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A3F048-733A-5BFC-6993-CE5512462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员工列表查询</a:t>
            </a:r>
          </a:p>
        </p:txBody>
      </p:sp>
      <p:sp>
        <p:nvSpPr>
          <p:cNvPr id="4" name="!!文本占位符 9">
            <a:extLst>
              <a:ext uri="{FF2B5EF4-FFF2-40B4-BE49-F238E27FC236}">
                <a16:creationId xmlns:a16="http://schemas.microsoft.com/office/drawing/2014/main" id="{FB630D1B-6D27-EAB4-3F64-B8D81B3258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691997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/>
              <a:t>分页查询</a:t>
            </a:r>
            <a:endParaRPr lang="en-US" altLang="zh-CN"/>
          </a:p>
          <a:p>
            <a:r>
              <a:rPr lang="zh-CN" altLang="en-US"/>
              <a:t>条件分页查询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3A52231-F040-7981-FDCB-5D92C94157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330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需求：查询所有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员工信息</a:t>
            </a:r>
            <a:r>
              <a:rPr lang="zh-CN" altLang="en-US">
                <a:latin typeface="Fira Code" panose="020B0809050000020004" pitchFamily="49" charset="0"/>
              </a:rPr>
              <a:t>，并查询出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部门名称</a:t>
            </a:r>
            <a:r>
              <a:rPr lang="zh-CN" altLang="en-US">
                <a:latin typeface="Fira Code" panose="020B0809050000020004" pitchFamily="49" charset="0"/>
              </a:rPr>
              <a:t>。 （涉及到的表：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emp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dept</a:t>
            </a:r>
            <a:r>
              <a:rPr lang="zh-CN" altLang="en-US">
                <a:latin typeface="Fira Code" panose="020B0809050000020004" pitchFamily="49" charset="0"/>
              </a:rPr>
              <a:t>）</a:t>
            </a:r>
            <a:endParaRPr lang="en-US" altLang="zh-CN">
              <a:latin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1ED598-BEFD-D0BD-2FDA-0FF7B8056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"/>
          <a:stretch/>
        </p:blipFill>
        <p:spPr>
          <a:xfrm>
            <a:off x="947160" y="1533118"/>
            <a:ext cx="9988318" cy="43432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3AD5482-129C-AC6D-D534-971C3E68D720}"/>
              </a:ext>
            </a:extLst>
          </p:cNvPr>
          <p:cNvSpPr/>
          <p:nvPr/>
        </p:nvSpPr>
        <p:spPr>
          <a:xfrm>
            <a:off x="5119871" y="1551780"/>
            <a:ext cx="1346243" cy="4297683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4DF96E-627C-B4EB-A501-C5125A88F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871" y="1044845"/>
            <a:ext cx="3277817" cy="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718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准备数据库表 </a:t>
            </a:r>
            <a:r>
              <a:rPr lang="en-US" altLang="zh-CN">
                <a:latin typeface="Fira Code" panose="020B0809050000020004" pitchFamily="49" charset="0"/>
              </a:rPr>
              <a:t>emp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</a:rPr>
              <a:t>emp_expr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  <a:endParaRPr lang="en-US" altLang="zh-CN">
              <a:latin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准备实体类 </a:t>
            </a:r>
            <a:r>
              <a:rPr lang="en-US" altLang="zh-CN">
                <a:latin typeface="Fira Code" panose="020B0809050000020004" pitchFamily="49" charset="0"/>
              </a:rPr>
              <a:t>Emp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</a:rPr>
              <a:t>EmpExpr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  <a:endParaRPr lang="en-US" altLang="zh-CN">
              <a:latin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Fira Code" panose="020B0809050000020004" pitchFamily="49" charset="0"/>
              </a:rPr>
              <a:t>准备三层架构的基本代码结构：</a:t>
            </a:r>
            <a:r>
              <a:rPr lang="en-US" altLang="zh-CN">
                <a:latin typeface="Fira Code" panose="020B0809050000020004" pitchFamily="49" charset="0"/>
              </a:rPr>
              <a:t>EmpController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</a:rPr>
              <a:t>EmpService/EmpServiceImpl</a:t>
            </a:r>
            <a:r>
              <a:rPr lang="zh-CN" altLang="en-US">
                <a:latin typeface="Fira Code" panose="020B0809050000020004" pitchFamily="49" charset="0"/>
              </a:rPr>
              <a:t>、</a:t>
            </a:r>
            <a:r>
              <a:rPr lang="en-US" altLang="zh-CN">
                <a:latin typeface="Fira Code" panose="020B0809050000020004" pitchFamily="49" charset="0"/>
              </a:rPr>
              <a:t>EmpMapper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582A21-EE44-EADF-34FF-AAA260364D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1"/>
          <a:stretch/>
        </p:blipFill>
        <p:spPr>
          <a:xfrm>
            <a:off x="1000948" y="2438553"/>
            <a:ext cx="9658087" cy="419967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86D3FF9-436E-6896-105D-786884939E1A}"/>
              </a:ext>
            </a:extLst>
          </p:cNvPr>
          <p:cNvSpPr/>
          <p:nvPr/>
        </p:nvSpPr>
        <p:spPr>
          <a:xfrm>
            <a:off x="5039190" y="2438553"/>
            <a:ext cx="1301734" cy="418174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1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A3F048-733A-5BFC-6993-CE5512462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员工列表查询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630D1B-6D27-EAB4-3F64-B8D81B3258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691997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分页查询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条件分页查询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3A52231-F040-7981-FDCB-5D92C94157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FCA7A2-DBDE-EA3D-6CD7-133838D1C3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1D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8F30C8-F59B-00D5-0665-323A445F1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7"/>
          <a:stretch/>
        </p:blipFill>
        <p:spPr>
          <a:xfrm>
            <a:off x="1021974" y="878246"/>
            <a:ext cx="9977719" cy="5497134"/>
          </a:xfrm>
          <a:prstGeom prst="roundRect">
            <a:avLst>
              <a:gd name="adj" fmla="val 490"/>
            </a:avLst>
          </a:prstGeom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277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10C3-2B37-0AC3-1E95-D67A955A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1CA2F0-C132-BD3F-63EB-EE6662EC2D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员工列表查询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132F4F-BD92-D5D1-E0B6-60B889A3B3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415173" cy="2436067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分页查询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原始方式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PageHelper</a:t>
            </a:r>
            <a:r>
              <a:rPr lang="zh-CN" altLang="en-US" sz="1600"/>
              <a:t>分页插件</a:t>
            </a:r>
            <a:endParaRPr lang="en-US" altLang="zh-CN" sz="1600"/>
          </a:p>
          <a:p>
            <a:r>
              <a:rPr lang="zh-CN" altLang="en-US"/>
              <a:t>条件分页查询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ECB5774-9CC3-46B3-E832-C4DBDD96A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24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B62A76-C746-2214-A064-7D835E01C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7"/>
          <a:stretch/>
        </p:blipFill>
        <p:spPr>
          <a:xfrm>
            <a:off x="708210" y="940999"/>
            <a:ext cx="9977719" cy="5497134"/>
          </a:xfrm>
          <a:prstGeom prst="roundRect">
            <a:avLst>
              <a:gd name="adj" fmla="val 490"/>
            </a:avLst>
          </a:prstGeom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2662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分析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6386E42-7B80-5CE1-D005-35798D2392C2}"/>
              </a:ext>
            </a:extLst>
          </p:cNvPr>
          <p:cNvCxnSpPr>
            <a:cxnSpLocks/>
          </p:cNvCxnSpPr>
          <p:nvPr/>
        </p:nvCxnSpPr>
        <p:spPr>
          <a:xfrm>
            <a:off x="4907280" y="3550920"/>
            <a:ext cx="0" cy="3127786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B111A65C-85AD-963E-226A-241AC797C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178" b="697"/>
          <a:stretch/>
        </p:blipFill>
        <p:spPr>
          <a:xfrm>
            <a:off x="797856" y="1649506"/>
            <a:ext cx="9795272" cy="1093694"/>
          </a:xfrm>
          <a:prstGeom prst="roundRect">
            <a:avLst>
              <a:gd name="adj" fmla="val 490"/>
            </a:avLst>
          </a:prstGeom>
          <a:ln w="6350"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84D3E0A-D4CD-D373-D4C1-A3E1AD81CE3B}"/>
              </a:ext>
            </a:extLst>
          </p:cNvPr>
          <p:cNvSpPr/>
          <p:nvPr/>
        </p:nvSpPr>
        <p:spPr>
          <a:xfrm>
            <a:off x="977153" y="1649505"/>
            <a:ext cx="9538447" cy="654423"/>
          </a:xfrm>
          <a:prstGeom prst="roundRect">
            <a:avLst>
              <a:gd name="adj" fmla="val 5708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C678ABF-0936-C54C-4813-FCAF00BDB802}"/>
              </a:ext>
            </a:extLst>
          </p:cNvPr>
          <p:cNvSpPr/>
          <p:nvPr/>
        </p:nvSpPr>
        <p:spPr>
          <a:xfrm>
            <a:off x="5334000" y="2420472"/>
            <a:ext cx="896471" cy="322728"/>
          </a:xfrm>
          <a:prstGeom prst="roundRect">
            <a:avLst>
              <a:gd name="adj" fmla="val 5708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66780A1-0E11-A837-CAF7-5CC6BD2F504F}"/>
              </a:ext>
            </a:extLst>
          </p:cNvPr>
          <p:cNvSpPr txBox="1"/>
          <p:nvPr/>
        </p:nvSpPr>
        <p:spPr>
          <a:xfrm>
            <a:off x="6649391" y="2653024"/>
            <a:ext cx="3424518" cy="621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500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条：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500/10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=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</a:t>
            </a:r>
          </a:p>
          <a:p>
            <a:pPr marL="171450" indent="-1714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501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条：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501/10 = 50.1 --&gt; 51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6DDA42B-F7AB-069D-4DF4-2E95C1C99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694" y="2878422"/>
            <a:ext cx="1165961" cy="358171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0763B26E-27E0-9551-38EA-B0D16CBA9304}"/>
              </a:ext>
            </a:extLst>
          </p:cNvPr>
          <p:cNvGrpSpPr/>
          <p:nvPr/>
        </p:nvGrpSpPr>
        <p:grpSpPr>
          <a:xfrm>
            <a:off x="5846885" y="1501181"/>
            <a:ext cx="61468" cy="347855"/>
            <a:chOff x="4833874" y="5097780"/>
            <a:chExt cx="61468" cy="347855"/>
          </a:xfrm>
          <a:solidFill>
            <a:srgbClr val="0070C0"/>
          </a:solidFill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B346324-DB8B-92B5-90B2-9D0F664DF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4608" y="5097780"/>
              <a:ext cx="0" cy="283169"/>
            </a:xfrm>
            <a:prstGeom prst="line">
              <a:avLst/>
            </a:prstGeom>
            <a:grpFill/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流程图: 接点 36">
              <a:extLst>
                <a:ext uri="{FF2B5EF4-FFF2-40B4-BE49-F238E27FC236}">
                  <a16:creationId xmlns:a16="http://schemas.microsoft.com/office/drawing/2014/main" id="{4BDDD650-502F-1663-C858-783DB5BD118A}"/>
                </a:ext>
              </a:extLst>
            </p:cNvPr>
            <p:cNvSpPr/>
            <p:nvPr/>
          </p:nvSpPr>
          <p:spPr>
            <a:xfrm>
              <a:off x="4833874" y="5384167"/>
              <a:ext cx="61468" cy="61468"/>
            </a:xfrm>
            <a:prstGeom prst="flowChartConnector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8" name="!!矩形: 圆角 15">
            <a:extLst>
              <a:ext uri="{FF2B5EF4-FFF2-40B4-BE49-F238E27FC236}">
                <a16:creationId xmlns:a16="http://schemas.microsoft.com/office/drawing/2014/main" id="{AF600EA1-0427-CEA4-6CBD-8CF79D14A1FC}"/>
              </a:ext>
            </a:extLst>
          </p:cNvPr>
          <p:cNvSpPr/>
          <p:nvPr/>
        </p:nvSpPr>
        <p:spPr>
          <a:xfrm>
            <a:off x="5719123" y="1146819"/>
            <a:ext cx="5565648" cy="35817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select * from emp e left join dept d on e.dept_id = d.id </a:t>
            </a:r>
            <a:r>
              <a:rPr lang="en-US" altLang="zh-CN" sz="1050" b="1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limit ?,?</a:t>
            </a:r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;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85E3F1-2B11-5228-9AB0-09B79AB90D4B}"/>
              </a:ext>
            </a:extLst>
          </p:cNvPr>
          <p:cNvGrpSpPr/>
          <p:nvPr/>
        </p:nvGrpSpPr>
        <p:grpSpPr>
          <a:xfrm rot="10800000">
            <a:off x="5752920" y="2652392"/>
            <a:ext cx="52190" cy="610871"/>
            <a:chOff x="4836608" y="4626475"/>
            <a:chExt cx="52190" cy="828315"/>
          </a:xfrm>
          <a:solidFill>
            <a:srgbClr val="0070C0"/>
          </a:solidFill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32A92CB-C16A-9926-D76F-E1F10687FEA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864608" y="4626475"/>
              <a:ext cx="0" cy="754475"/>
            </a:xfrm>
            <a:prstGeom prst="line">
              <a:avLst/>
            </a:prstGeom>
            <a:grpFill/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图: 接点 40">
              <a:extLst>
                <a:ext uri="{FF2B5EF4-FFF2-40B4-BE49-F238E27FC236}">
                  <a16:creationId xmlns:a16="http://schemas.microsoft.com/office/drawing/2014/main" id="{4A990049-0C5C-0DEB-89BE-CE3F617A2C79}"/>
                </a:ext>
              </a:extLst>
            </p:cNvPr>
            <p:cNvSpPr/>
            <p:nvPr/>
          </p:nvSpPr>
          <p:spPr>
            <a:xfrm>
              <a:off x="4836608" y="5380950"/>
              <a:ext cx="52190" cy="73840"/>
            </a:xfrm>
            <a:prstGeom prst="flowChartConnector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2" name="!!矩形: 圆角 23">
            <a:extLst>
              <a:ext uri="{FF2B5EF4-FFF2-40B4-BE49-F238E27FC236}">
                <a16:creationId xmlns:a16="http://schemas.microsoft.com/office/drawing/2014/main" id="{7827ABAC-C34C-8909-8F03-23FEBA1B76C7}"/>
              </a:ext>
            </a:extLst>
          </p:cNvPr>
          <p:cNvSpPr/>
          <p:nvPr/>
        </p:nvSpPr>
        <p:spPr>
          <a:xfrm>
            <a:off x="5606729" y="3263265"/>
            <a:ext cx="5565648" cy="35817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select </a:t>
            </a:r>
            <a:r>
              <a:rPr lang="en-US" altLang="zh-CN" sz="1050" b="1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count(*)</a:t>
            </a:r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 from emp e left join dept d on e.dept_id = d.id;</a:t>
            </a:r>
          </a:p>
        </p:txBody>
      </p:sp>
      <p:sp>
        <p:nvSpPr>
          <p:cNvPr id="43" name="矩形: 对角圆角 42">
            <a:extLst>
              <a:ext uri="{FF2B5EF4-FFF2-40B4-BE49-F238E27FC236}">
                <a16:creationId xmlns:a16="http://schemas.microsoft.com/office/drawing/2014/main" id="{E9FC8114-3CF2-78C6-6186-B485F5E9224F}"/>
              </a:ext>
            </a:extLst>
          </p:cNvPr>
          <p:cNvSpPr/>
          <p:nvPr/>
        </p:nvSpPr>
        <p:spPr>
          <a:xfrm>
            <a:off x="1932194" y="6384813"/>
            <a:ext cx="760206" cy="369346"/>
          </a:xfrm>
          <a:prstGeom prst="round2Diag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 端</a:t>
            </a:r>
          </a:p>
        </p:txBody>
      </p:sp>
      <p:sp>
        <p:nvSpPr>
          <p:cNvPr id="44" name="矩形: 对角圆角 43">
            <a:extLst>
              <a:ext uri="{FF2B5EF4-FFF2-40B4-BE49-F238E27FC236}">
                <a16:creationId xmlns:a16="http://schemas.microsoft.com/office/drawing/2014/main" id="{578FE360-38C9-CF4B-64CA-76A0F9F34A8B}"/>
              </a:ext>
            </a:extLst>
          </p:cNvPr>
          <p:cNvSpPr/>
          <p:nvPr/>
        </p:nvSpPr>
        <p:spPr>
          <a:xfrm>
            <a:off x="7284721" y="6384813"/>
            <a:ext cx="760206" cy="369346"/>
          </a:xfrm>
          <a:prstGeom prst="round2Diag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 端</a:t>
            </a:r>
          </a:p>
        </p:txBody>
      </p:sp>
      <p:sp>
        <p:nvSpPr>
          <p:cNvPr id="45" name="流程图: 文档 44">
            <a:extLst>
              <a:ext uri="{FF2B5EF4-FFF2-40B4-BE49-F238E27FC236}">
                <a16:creationId xmlns:a16="http://schemas.microsoft.com/office/drawing/2014/main" id="{C6FEEEDF-6272-47E2-5F17-9E5DF78F61D1}"/>
              </a:ext>
            </a:extLst>
          </p:cNvPr>
          <p:cNvSpPr/>
          <p:nvPr/>
        </p:nvSpPr>
        <p:spPr>
          <a:xfrm>
            <a:off x="977153" y="3905774"/>
            <a:ext cx="3027678" cy="1259840"/>
          </a:xfrm>
          <a:prstGeom prst="flowChartDocument">
            <a:avLst/>
          </a:prstGeom>
          <a:solidFill>
            <a:srgbClr val="BBE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前端传递给后端的分页参数？</a:t>
            </a:r>
            <a:endParaRPr lang="en-US" altLang="zh-CN" sz="1400" b="1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页码：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每页展示记录数：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pageSize</a:t>
            </a:r>
            <a:endParaRPr lang="zh-CN" altLang="en-US" sz="140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流程图: 文档 45">
            <a:extLst>
              <a:ext uri="{FF2B5EF4-FFF2-40B4-BE49-F238E27FC236}">
                <a16:creationId xmlns:a16="http://schemas.microsoft.com/office/drawing/2014/main" id="{17B15599-D89B-8FE4-0CFB-714668598C4F}"/>
              </a:ext>
            </a:extLst>
          </p:cNvPr>
          <p:cNvSpPr/>
          <p:nvPr/>
        </p:nvSpPr>
        <p:spPr>
          <a:xfrm>
            <a:off x="5771733" y="3905774"/>
            <a:ext cx="3027678" cy="1259840"/>
          </a:xfrm>
          <a:prstGeom prst="flowChartDocument">
            <a:avLst/>
          </a:prstGeom>
          <a:solidFill>
            <a:srgbClr val="BBE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后端给前端返回的数据？</a:t>
            </a:r>
            <a:endParaRPr lang="en-US" altLang="zh-CN" sz="1400" b="1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数据列表：</a:t>
            </a:r>
            <a:r>
              <a:rPr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rows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总记录数：</a:t>
            </a:r>
            <a:r>
              <a:rPr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total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11012F1-6ED3-C83A-E70C-C52BADD39AA5}"/>
              </a:ext>
            </a:extLst>
          </p:cNvPr>
          <p:cNvCxnSpPr/>
          <p:nvPr/>
        </p:nvCxnSpPr>
        <p:spPr>
          <a:xfrm>
            <a:off x="4106331" y="4185920"/>
            <a:ext cx="160189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E028A99-63E2-E3B8-2517-692E4414B8C1}"/>
              </a:ext>
            </a:extLst>
          </p:cNvPr>
          <p:cNvCxnSpPr>
            <a:cxnSpLocks/>
          </p:cNvCxnSpPr>
          <p:nvPr/>
        </p:nvCxnSpPr>
        <p:spPr>
          <a:xfrm flipH="1">
            <a:off x="4086011" y="4754880"/>
            <a:ext cx="160189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5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8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图: 文档 20">
            <a:extLst>
              <a:ext uri="{FF2B5EF4-FFF2-40B4-BE49-F238E27FC236}">
                <a16:creationId xmlns:a16="http://schemas.microsoft.com/office/drawing/2014/main" id="{39821317-4D1B-F5B0-3272-2529CA4CB1E1}"/>
              </a:ext>
            </a:extLst>
          </p:cNvPr>
          <p:cNvSpPr/>
          <p:nvPr/>
        </p:nvSpPr>
        <p:spPr>
          <a:xfrm>
            <a:off x="5771733" y="3905774"/>
            <a:ext cx="3027678" cy="1259840"/>
          </a:xfrm>
          <a:prstGeom prst="flowChartDocument">
            <a:avLst/>
          </a:prstGeom>
          <a:solidFill>
            <a:srgbClr val="BBE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后端给前端返回的数据？</a:t>
            </a:r>
            <a:endParaRPr lang="en-US" altLang="zh-CN" sz="1400" b="1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数据列表：</a:t>
            </a:r>
            <a:r>
              <a:rPr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rows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总记录数：</a:t>
            </a:r>
            <a:r>
              <a:rPr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Long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total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分析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72FBBE5-4F73-A11F-BB7B-5CD5D1B134CA}"/>
              </a:ext>
            </a:extLst>
          </p:cNvPr>
          <p:cNvCxnSpPr>
            <a:cxnSpLocks/>
          </p:cNvCxnSpPr>
          <p:nvPr/>
        </p:nvCxnSpPr>
        <p:spPr>
          <a:xfrm>
            <a:off x="4907280" y="3550920"/>
            <a:ext cx="0" cy="3127786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ABB12C88-9885-0E20-81E0-EFFBCC061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178" b="697"/>
          <a:stretch/>
        </p:blipFill>
        <p:spPr>
          <a:xfrm>
            <a:off x="797856" y="1649506"/>
            <a:ext cx="9795272" cy="1093694"/>
          </a:xfrm>
          <a:prstGeom prst="roundRect">
            <a:avLst>
              <a:gd name="adj" fmla="val 490"/>
            </a:avLst>
          </a:prstGeom>
          <a:ln w="6350"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283824-0FA9-AB7E-1059-9616F43771A8}"/>
              </a:ext>
            </a:extLst>
          </p:cNvPr>
          <p:cNvSpPr/>
          <p:nvPr/>
        </p:nvSpPr>
        <p:spPr>
          <a:xfrm>
            <a:off x="977153" y="1649505"/>
            <a:ext cx="9538447" cy="654423"/>
          </a:xfrm>
          <a:prstGeom prst="roundRect">
            <a:avLst>
              <a:gd name="adj" fmla="val 5708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25B135-1DEC-3B06-23E2-5B297BACBBB2}"/>
              </a:ext>
            </a:extLst>
          </p:cNvPr>
          <p:cNvSpPr/>
          <p:nvPr/>
        </p:nvSpPr>
        <p:spPr>
          <a:xfrm>
            <a:off x="5334000" y="2420472"/>
            <a:ext cx="896471" cy="322728"/>
          </a:xfrm>
          <a:prstGeom prst="roundRect">
            <a:avLst>
              <a:gd name="adj" fmla="val 5708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EB4E1C-985E-45BF-0A5E-0F97A5D2C713}"/>
              </a:ext>
            </a:extLst>
          </p:cNvPr>
          <p:cNvSpPr txBox="1"/>
          <p:nvPr/>
        </p:nvSpPr>
        <p:spPr>
          <a:xfrm>
            <a:off x="6649391" y="2653024"/>
            <a:ext cx="3424518" cy="621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500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条：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500/10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=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</a:t>
            </a:r>
          </a:p>
          <a:p>
            <a:pPr marL="171450" indent="-1714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501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条：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501/10 = 50.1 --&gt; 51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F15B34-F2B5-2EAE-14FA-547ABA1F4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694" y="2878422"/>
            <a:ext cx="1165961" cy="358171"/>
          </a:xfrm>
          <a:prstGeom prst="rect">
            <a:avLst/>
          </a:prstGeom>
        </p:spPr>
      </p:pic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E868BBA8-396E-2B5D-5245-DA3D8107854E}"/>
              </a:ext>
            </a:extLst>
          </p:cNvPr>
          <p:cNvSpPr/>
          <p:nvPr/>
        </p:nvSpPr>
        <p:spPr>
          <a:xfrm>
            <a:off x="1932194" y="6384813"/>
            <a:ext cx="760206" cy="369346"/>
          </a:xfrm>
          <a:prstGeom prst="round2Diag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 端</a:t>
            </a:r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5120E6ED-8B66-4A98-7913-9438449F4787}"/>
              </a:ext>
            </a:extLst>
          </p:cNvPr>
          <p:cNvSpPr/>
          <p:nvPr/>
        </p:nvSpPr>
        <p:spPr>
          <a:xfrm>
            <a:off x="7284721" y="6384813"/>
            <a:ext cx="760206" cy="369346"/>
          </a:xfrm>
          <a:prstGeom prst="round2Diag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 端</a:t>
            </a:r>
          </a:p>
        </p:txBody>
      </p:sp>
      <p:sp>
        <p:nvSpPr>
          <p:cNvPr id="20" name="流程图: 文档 19">
            <a:extLst>
              <a:ext uri="{FF2B5EF4-FFF2-40B4-BE49-F238E27FC236}">
                <a16:creationId xmlns:a16="http://schemas.microsoft.com/office/drawing/2014/main" id="{DEB7F7FB-FAA9-8798-67C6-B6F9F3271AA8}"/>
              </a:ext>
            </a:extLst>
          </p:cNvPr>
          <p:cNvSpPr/>
          <p:nvPr/>
        </p:nvSpPr>
        <p:spPr>
          <a:xfrm>
            <a:off x="977153" y="3905774"/>
            <a:ext cx="3027678" cy="1259840"/>
          </a:xfrm>
          <a:prstGeom prst="flowChartDocument">
            <a:avLst/>
          </a:prstGeom>
          <a:solidFill>
            <a:srgbClr val="BBE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前端传递给后端的分页参数？</a:t>
            </a:r>
            <a:endParaRPr lang="en-US" altLang="zh-CN" sz="1400" b="1">
              <a:solidFill>
                <a:schemeClr val="tx1">
                  <a:lumMod val="95000"/>
                  <a:lumOff val="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页码：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每页展示记录数：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pageSize</a:t>
            </a:r>
            <a:endParaRPr lang="zh-CN" altLang="en-US" sz="140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6E7D5BE-6073-C878-8C00-996DF795DEC2}"/>
              </a:ext>
            </a:extLst>
          </p:cNvPr>
          <p:cNvCxnSpPr/>
          <p:nvPr/>
        </p:nvCxnSpPr>
        <p:spPr>
          <a:xfrm>
            <a:off x="4106331" y="4185920"/>
            <a:ext cx="160189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7C221FB-DE00-E704-1A01-9681CAEC5FCC}"/>
              </a:ext>
            </a:extLst>
          </p:cNvPr>
          <p:cNvCxnSpPr>
            <a:cxnSpLocks/>
          </p:cNvCxnSpPr>
          <p:nvPr/>
        </p:nvCxnSpPr>
        <p:spPr>
          <a:xfrm flipH="1">
            <a:off x="4086011" y="4754880"/>
            <a:ext cx="160189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矩形: 圆角 15">
            <a:extLst>
              <a:ext uri="{FF2B5EF4-FFF2-40B4-BE49-F238E27FC236}">
                <a16:creationId xmlns:a16="http://schemas.microsoft.com/office/drawing/2014/main" id="{A791DAD1-003A-EC93-B588-E74E0D70DF73}"/>
              </a:ext>
            </a:extLst>
          </p:cNvPr>
          <p:cNvSpPr/>
          <p:nvPr/>
        </p:nvSpPr>
        <p:spPr>
          <a:xfrm>
            <a:off x="8231594" y="4320325"/>
            <a:ext cx="2940783" cy="27857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select * from emp e </a:t>
            </a:r>
            <a:r>
              <a:rPr lang="en-US" altLang="zh-CN" sz="1050">
                <a:solidFill>
                  <a:schemeClr val="bg1"/>
                </a:solidFill>
                <a:ea typeface="Fira Code" panose="020B0809050000020004" pitchFamily="49" charset="0"/>
              </a:rPr>
              <a:t>... </a:t>
            </a:r>
            <a:r>
              <a:rPr lang="en-US" altLang="zh-CN" sz="1050" b="1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limit ?,?</a:t>
            </a:r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;</a:t>
            </a:r>
          </a:p>
        </p:txBody>
      </p:sp>
      <p:sp>
        <p:nvSpPr>
          <p:cNvPr id="17" name="!!矩形: 圆角 23">
            <a:extLst>
              <a:ext uri="{FF2B5EF4-FFF2-40B4-BE49-F238E27FC236}">
                <a16:creationId xmlns:a16="http://schemas.microsoft.com/office/drawing/2014/main" id="{9BF59B1E-EA5F-504C-F818-713DC53073B2}"/>
              </a:ext>
            </a:extLst>
          </p:cNvPr>
          <p:cNvSpPr/>
          <p:nvPr/>
        </p:nvSpPr>
        <p:spPr>
          <a:xfrm>
            <a:off x="8231594" y="4634756"/>
            <a:ext cx="2940783" cy="27857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select </a:t>
            </a:r>
            <a:r>
              <a:rPr lang="en-US" altLang="zh-CN" sz="1050" b="1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count(*)</a:t>
            </a:r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 from emp e</a:t>
            </a:r>
            <a:r>
              <a:rPr lang="zh-CN" altLang="en-US" sz="1050">
                <a:solidFill>
                  <a:schemeClr val="bg1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050">
                <a:solidFill>
                  <a:schemeClr val="bg1"/>
                </a:solidFill>
                <a:ea typeface="Fira Code" panose="020B0809050000020004" pitchFamily="49" charset="0"/>
              </a:rPr>
              <a:t>...</a:t>
            </a:r>
            <a:r>
              <a:rPr lang="en-US" altLang="zh-CN" sz="1050">
                <a:solidFill>
                  <a:schemeClr val="bg1"/>
                </a:solidFill>
                <a:effectLst/>
                <a:ea typeface="Fira Code" panose="020B0809050000020004" pitchFamily="49" charset="0"/>
              </a:rPr>
              <a:t>;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4BAC5DF-EDCE-38CB-6F71-8F1B17912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777" y="5201475"/>
            <a:ext cx="3616058" cy="1429272"/>
          </a:xfrm>
          <a:prstGeom prst="roundRect">
            <a:avLst>
              <a:gd name="adj" fmla="val 5645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53495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0EA62A-58BD-E920-0A51-096F3D027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分页查询前端需要给后端传递的参数 ？</a:t>
            </a:r>
            <a:endParaRPr lang="en-US" altLang="zh-CN" sz="1800"/>
          </a:p>
          <a:p>
            <a:pPr marL="72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page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：当前页码；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pageSize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：每页展示记录数</a:t>
            </a:r>
            <a:endParaRPr lang="en-US" altLang="zh-CN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分页查询后端需要给前端返回的结果 ？</a:t>
            </a:r>
            <a:endParaRPr lang="en-US" altLang="zh-CN" sz="1800"/>
          </a:p>
          <a:p>
            <a:pPr marL="72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total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：总记录数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2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rows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：结果列表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0166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2CAFE81-042C-7762-64AD-C5E5C07F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原始方式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8CD72899-CCC9-4A44-68B2-E8CD086818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97"/>
          <a:stretch/>
        </p:blipFill>
        <p:spPr>
          <a:xfrm>
            <a:off x="770963" y="1024467"/>
            <a:ext cx="9977719" cy="5497134"/>
          </a:xfrm>
          <a:prstGeom prst="roundRect">
            <a:avLst>
              <a:gd name="adj" fmla="val 490"/>
            </a:avLst>
          </a:prstGeom>
          <a:ln w="6350">
            <a:solidFill>
              <a:schemeClr val="bg1">
                <a:lumMod val="9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9942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2B9E-9ABF-D472-EBD6-504FE106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895C1A-BC8F-AD0D-90E4-A76785C7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原始方式</a:t>
            </a:r>
          </a:p>
        </p:txBody>
      </p:sp>
      <p:sp>
        <p:nvSpPr>
          <p:cNvPr id="2" name="内容占位符 28">
            <a:extLst>
              <a:ext uri="{FF2B5EF4-FFF2-40B4-BE49-F238E27FC236}">
                <a16:creationId xmlns:a16="http://schemas.microsoft.com/office/drawing/2014/main" id="{3680036C-23E5-D78B-AB1E-C5B6EB218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995176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三层架构中，每一层的职责如下：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7BAF5C-AD68-10B3-735E-62A7713A9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517" y="3301967"/>
            <a:ext cx="932333" cy="1302786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0FD3345D-8597-6994-2F67-8BFCB8BD5B8B}"/>
              </a:ext>
            </a:extLst>
          </p:cNvPr>
          <p:cNvGrpSpPr/>
          <p:nvPr/>
        </p:nvGrpSpPr>
        <p:grpSpPr>
          <a:xfrm>
            <a:off x="777564" y="3594106"/>
            <a:ext cx="780070" cy="786974"/>
            <a:chOff x="1288572" y="3466291"/>
            <a:chExt cx="1076475" cy="1086002"/>
          </a:xfrm>
        </p:grpSpPr>
        <p:pic>
          <p:nvPicPr>
            <p:cNvPr id="27" name="图片 0">
              <a:extLst>
                <a:ext uri="{FF2B5EF4-FFF2-40B4-BE49-F238E27FC236}">
                  <a16:creationId xmlns:a16="http://schemas.microsoft.com/office/drawing/2014/main" id="{4298C078-F3D9-8FA6-E56F-0D55A2DAA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28" name="图片 1">
              <a:extLst>
                <a:ext uri="{FF2B5EF4-FFF2-40B4-BE49-F238E27FC236}">
                  <a16:creationId xmlns:a16="http://schemas.microsoft.com/office/drawing/2014/main" id="{8A4D0EE3-AA68-8CC9-8EEA-B6D9AD0EB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29" name="箭头: 右 28">
            <a:extLst>
              <a:ext uri="{FF2B5EF4-FFF2-40B4-BE49-F238E27FC236}">
                <a16:creationId xmlns:a16="http://schemas.microsoft.com/office/drawing/2014/main" id="{E2F83080-4B7B-5796-38CF-D058123AA7EC}"/>
              </a:ext>
            </a:extLst>
          </p:cNvPr>
          <p:cNvSpPr/>
          <p:nvPr/>
        </p:nvSpPr>
        <p:spPr>
          <a:xfrm>
            <a:off x="1662575" y="3791831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4215D744-5D6E-D4F0-9699-9FF23C7E29BC}"/>
              </a:ext>
            </a:extLst>
          </p:cNvPr>
          <p:cNvSpPr/>
          <p:nvPr/>
        </p:nvSpPr>
        <p:spPr>
          <a:xfrm>
            <a:off x="9822689" y="3791132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96FAEAA-785D-4063-EE0E-5FC957EFEA3F}"/>
              </a:ext>
            </a:extLst>
          </p:cNvPr>
          <p:cNvGrpSpPr/>
          <p:nvPr/>
        </p:nvGrpSpPr>
        <p:grpSpPr>
          <a:xfrm>
            <a:off x="2173425" y="2760637"/>
            <a:ext cx="2082450" cy="2611635"/>
            <a:chOff x="2303931" y="2912210"/>
            <a:chExt cx="2082450" cy="261163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53CED92-1E87-B6A1-E348-DB769C410083}"/>
                </a:ext>
              </a:extLst>
            </p:cNvPr>
            <p:cNvSpPr/>
            <p:nvPr/>
          </p:nvSpPr>
          <p:spPr>
            <a:xfrm>
              <a:off x="2303931" y="2912210"/>
              <a:ext cx="2082450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流程图: 文档 32">
              <a:extLst>
                <a:ext uri="{FF2B5EF4-FFF2-40B4-BE49-F238E27FC236}">
                  <a16:creationId xmlns:a16="http://schemas.microsoft.com/office/drawing/2014/main" id="{CDC0739D-B77D-7361-136C-140B3BA21A86}"/>
                </a:ext>
              </a:extLst>
            </p:cNvPr>
            <p:cNvSpPr/>
            <p:nvPr/>
          </p:nvSpPr>
          <p:spPr>
            <a:xfrm>
              <a:off x="2303931" y="3316712"/>
              <a:ext cx="2082450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4" name="!!流程图: 文档 1">
            <a:extLst>
              <a:ext uri="{FF2B5EF4-FFF2-40B4-BE49-F238E27FC236}">
                <a16:creationId xmlns:a16="http://schemas.microsoft.com/office/drawing/2014/main" id="{7EABCA30-6D04-F883-1B02-7FEA232AEC8F}"/>
              </a:ext>
            </a:extLst>
          </p:cNvPr>
          <p:cNvSpPr/>
          <p:nvPr/>
        </p:nvSpPr>
        <p:spPr>
          <a:xfrm>
            <a:off x="2173425" y="3165139"/>
            <a:ext cx="2084809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进行分页查询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PageResult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9A8A35C-DA9C-8EBE-8619-F8D849F0E1A5}"/>
              </a:ext>
            </a:extLst>
          </p:cNvPr>
          <p:cNvGrpSpPr/>
          <p:nvPr/>
        </p:nvGrpSpPr>
        <p:grpSpPr>
          <a:xfrm>
            <a:off x="4865757" y="2756648"/>
            <a:ext cx="2089817" cy="2606659"/>
            <a:chOff x="5100918" y="2912210"/>
            <a:chExt cx="2089817" cy="2606659"/>
          </a:xfrm>
        </p:grpSpPr>
        <p:sp>
          <p:nvSpPr>
            <p:cNvPr id="36" name="流程图: 文档 35">
              <a:extLst>
                <a:ext uri="{FF2B5EF4-FFF2-40B4-BE49-F238E27FC236}">
                  <a16:creationId xmlns:a16="http://schemas.microsoft.com/office/drawing/2014/main" id="{199770D5-F805-63BC-4B09-FA24201E3BCE}"/>
                </a:ext>
              </a:extLst>
            </p:cNvPr>
            <p:cNvSpPr/>
            <p:nvPr/>
          </p:nvSpPr>
          <p:spPr>
            <a:xfrm>
              <a:off x="5100918" y="3311736"/>
              <a:ext cx="20898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0874720-F489-61A1-907E-DE3F9139083C}"/>
                </a:ext>
              </a:extLst>
            </p:cNvPr>
            <p:cNvSpPr/>
            <p:nvPr/>
          </p:nvSpPr>
          <p:spPr>
            <a:xfrm>
              <a:off x="5100918" y="2912210"/>
              <a:ext cx="20898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8" name="流程图: 文档 37">
            <a:extLst>
              <a:ext uri="{FF2B5EF4-FFF2-40B4-BE49-F238E27FC236}">
                <a16:creationId xmlns:a16="http://schemas.microsoft.com/office/drawing/2014/main" id="{ABDE09A0-BF8E-E463-5C31-176949A92417}"/>
              </a:ext>
            </a:extLst>
          </p:cNvPr>
          <p:cNvSpPr/>
          <p:nvPr/>
        </p:nvSpPr>
        <p:spPr>
          <a:xfrm>
            <a:off x="4869440" y="3164048"/>
            <a:ext cx="2082450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接口，查询总记录数</a:t>
            </a:r>
            <a:endParaRPr lang="en-US" altLang="zh-CN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接口，查询结果列表</a:t>
            </a:r>
            <a:endParaRPr lang="en-US" altLang="zh-CN" sz="11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PageResult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028EF68-E2F1-FCF6-0696-E7553760FA3E}"/>
              </a:ext>
            </a:extLst>
          </p:cNvPr>
          <p:cNvGrpSpPr/>
          <p:nvPr/>
        </p:nvGrpSpPr>
        <p:grpSpPr>
          <a:xfrm>
            <a:off x="7577543" y="2764446"/>
            <a:ext cx="2099544" cy="2607825"/>
            <a:chOff x="7897905" y="2912210"/>
            <a:chExt cx="2099544" cy="2607825"/>
          </a:xfrm>
        </p:grpSpPr>
        <p:sp>
          <p:nvSpPr>
            <p:cNvPr id="40" name="流程图: 文档 39">
              <a:extLst>
                <a:ext uri="{FF2B5EF4-FFF2-40B4-BE49-F238E27FC236}">
                  <a16:creationId xmlns:a16="http://schemas.microsoft.com/office/drawing/2014/main" id="{4D4DC9EA-EAD2-231C-1D01-DAF7B2441252}"/>
                </a:ext>
              </a:extLst>
            </p:cNvPr>
            <p:cNvSpPr/>
            <p:nvPr/>
          </p:nvSpPr>
          <p:spPr>
            <a:xfrm>
              <a:off x="7897905" y="3312902"/>
              <a:ext cx="2099544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DA4C305-22AE-8F8A-339B-964EC04C55C1}"/>
                </a:ext>
              </a:extLst>
            </p:cNvPr>
            <p:cNvSpPr/>
            <p:nvPr/>
          </p:nvSpPr>
          <p:spPr>
            <a:xfrm>
              <a:off x="7897905" y="2912210"/>
              <a:ext cx="2099543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2" name="!!流程图: 文档 22">
            <a:extLst>
              <a:ext uri="{FF2B5EF4-FFF2-40B4-BE49-F238E27FC236}">
                <a16:creationId xmlns:a16="http://schemas.microsoft.com/office/drawing/2014/main" id="{3A19AD05-DE30-689E-AA37-15F6408D6DEC}"/>
              </a:ext>
            </a:extLst>
          </p:cNvPr>
          <p:cNvSpPr/>
          <p:nvPr/>
        </p:nvSpPr>
        <p:spPr>
          <a:xfrm>
            <a:off x="7577543" y="3165138"/>
            <a:ext cx="2099543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select count(*) ...</a:t>
            </a:r>
          </a:p>
          <a:p>
            <a:pPr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select ... limit ...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5292C7FE-46C4-ACA3-48A8-E1CA85AB0711}"/>
              </a:ext>
            </a:extLst>
          </p:cNvPr>
          <p:cNvSpPr/>
          <p:nvPr/>
        </p:nvSpPr>
        <p:spPr>
          <a:xfrm>
            <a:off x="4369781" y="3757598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1FC1BA57-D73C-9ABE-18C7-346ECE7519B2}"/>
              </a:ext>
            </a:extLst>
          </p:cNvPr>
          <p:cNvSpPr/>
          <p:nvPr/>
        </p:nvSpPr>
        <p:spPr>
          <a:xfrm>
            <a:off x="7060515" y="3791133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0E70CAC-8406-00FF-CBAB-661DC49EC068}"/>
              </a:ext>
            </a:extLst>
          </p:cNvPr>
          <p:cNvSpPr txBox="1"/>
          <p:nvPr/>
        </p:nvSpPr>
        <p:spPr>
          <a:xfrm>
            <a:off x="2011187" y="2401044"/>
            <a:ext cx="2406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/emps?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page=1&amp;pageSize=10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284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4" grpId="0" animBg="1"/>
      <p:bldP spid="38" grpId="0" animBg="1"/>
      <p:bldP spid="42" grpId="0" animBg="1"/>
      <p:bldP spid="43" grpId="0" animBg="1"/>
      <p:bldP spid="44" grpId="0" animBg="1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B21D-8511-3F2A-2BAB-A7EC7081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EAF5E7C-0ECD-27C7-01D0-98110D69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分页查询</a:t>
            </a:r>
            <a:r>
              <a:rPr lang="en-US" altLang="zh-CN"/>
              <a:t>-</a:t>
            </a:r>
            <a:r>
              <a:rPr lang="zh-CN" altLang="en-US"/>
              <a:t>原始方式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991BD1B9-3FB6-F0D2-4CE9-8E7799DD57E5}"/>
              </a:ext>
            </a:extLst>
          </p:cNvPr>
          <p:cNvGrpSpPr/>
          <p:nvPr/>
        </p:nvGrpSpPr>
        <p:grpSpPr>
          <a:xfrm>
            <a:off x="644725" y="1044834"/>
            <a:ext cx="6226489" cy="2054409"/>
            <a:chOff x="2297721" y="3660322"/>
            <a:chExt cx="6860435" cy="20545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61C957E-1304-B05C-8E23-FA11D6D5E803}"/>
                </a:ext>
              </a:extLst>
            </p:cNvPr>
            <p:cNvSpPr/>
            <p:nvPr/>
          </p:nvSpPr>
          <p:spPr>
            <a:xfrm>
              <a:off x="2297728" y="3660325"/>
              <a:ext cx="6860428" cy="2054528"/>
            </a:xfrm>
            <a:prstGeom prst="roundRect">
              <a:avLst>
                <a:gd name="adj" fmla="val 41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9E880D"/>
                  </a:solidFill>
                  <a:effectLst/>
                </a:rPr>
                <a:t>@GetMapping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Result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page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E880D"/>
                  </a:solidFill>
                  <a:effectLst/>
                </a:rPr>
                <a:t>@RequestParam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(defaultValue =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"1"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page,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lang="en-US" altLang="zh-CN" sz="1100">
                  <a:solidFill>
                    <a:srgbClr val="9E880D"/>
                  </a:solidFill>
                  <a:effectLst/>
                </a:rPr>
                <a:t>@RequestParam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(defaultValue =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"10"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pageSize) 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 i="1">
                  <a:solidFill>
                    <a:srgbClr val="871094"/>
                  </a:solidFill>
                  <a:effectLst/>
                </a:rPr>
                <a:t>log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.info(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分页请求参数：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{}, {}"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page, pageSize);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PageResult&lt;Emp&gt; pageResult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100">
                  <a:solidFill>
                    <a:srgbClr val="871094"/>
                  </a:solidFill>
                  <a:effectLst/>
                </a:rPr>
                <a:t>empService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.page(page, pageSize);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Result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100" i="1">
                  <a:solidFill>
                    <a:srgbClr val="080808"/>
                  </a:solidFill>
                  <a:effectLst/>
                </a:rPr>
                <a:t>success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pageResult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BC64502F-4121-7C35-840B-3A82E031CB05}"/>
                </a:ext>
              </a:extLst>
            </p:cNvPr>
            <p:cNvSpPr/>
            <p:nvPr/>
          </p:nvSpPr>
          <p:spPr>
            <a:xfrm>
              <a:off x="2297721" y="3660322"/>
              <a:ext cx="686042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9E3ADE4-EA58-1F88-BDB7-B52DD0E686D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9BB6E0E-8983-9E3B-F91D-9DF5747972C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F979134-C5DE-CA4D-2894-C2BBFF91D01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!!组合 2">
            <a:extLst>
              <a:ext uri="{FF2B5EF4-FFF2-40B4-BE49-F238E27FC236}">
                <a16:creationId xmlns:a16="http://schemas.microsoft.com/office/drawing/2014/main" id="{87D0B66B-416D-CF6C-E283-F05E33E9319E}"/>
              </a:ext>
            </a:extLst>
          </p:cNvPr>
          <p:cNvGrpSpPr/>
          <p:nvPr/>
        </p:nvGrpSpPr>
        <p:grpSpPr>
          <a:xfrm>
            <a:off x="6948875" y="1044834"/>
            <a:ext cx="5243125" cy="2579419"/>
            <a:chOff x="2297721" y="3660322"/>
            <a:chExt cx="5776949" cy="257957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7DDF8FE-6AFB-5CE6-BEA4-A9E3206E38F6}"/>
                </a:ext>
              </a:extLst>
            </p:cNvPr>
            <p:cNvSpPr/>
            <p:nvPr/>
          </p:nvSpPr>
          <p:spPr>
            <a:xfrm>
              <a:off x="2297729" y="3660324"/>
              <a:ext cx="5776941" cy="2579570"/>
            </a:xfrm>
            <a:prstGeom prst="roundRect">
              <a:avLst>
                <a:gd name="adj" fmla="val 315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pageResult&lt;Emp&gt;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page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page,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pageSize) 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获取总记录数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Long count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1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.count();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获取每一页的数据列表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start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= (page -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 * pageSize;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empList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1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.list(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start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pageSize);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//3. 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封装分页结果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new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pageResult&lt;Emp&gt;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empList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CE6AA7B2-790B-C762-B927-B4A5EE4C198B}"/>
                </a:ext>
              </a:extLst>
            </p:cNvPr>
            <p:cNvSpPr/>
            <p:nvPr/>
          </p:nvSpPr>
          <p:spPr>
            <a:xfrm>
              <a:off x="2297721" y="3660322"/>
              <a:ext cx="577694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EmpServiceImpl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7DDD14F-C302-79D3-B7CB-291646A9CBD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46FF1F5-6FD5-2C5E-B19C-A3FFC288D62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C62CAC1-7B1E-3A99-772C-050C5416E92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!!组合 3">
            <a:extLst>
              <a:ext uri="{FF2B5EF4-FFF2-40B4-BE49-F238E27FC236}">
                <a16:creationId xmlns:a16="http://schemas.microsoft.com/office/drawing/2014/main" id="{9DBD8E0C-E04B-294A-D57C-09FD706754DA}"/>
              </a:ext>
            </a:extLst>
          </p:cNvPr>
          <p:cNvGrpSpPr/>
          <p:nvPr/>
        </p:nvGrpSpPr>
        <p:grpSpPr>
          <a:xfrm>
            <a:off x="644725" y="4232948"/>
            <a:ext cx="11034712" cy="2054409"/>
            <a:chOff x="2297720" y="3660322"/>
            <a:chExt cx="12158205" cy="20545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D36E222-A8CE-0BE7-47CC-87AA14AB7F77}"/>
                </a:ext>
              </a:extLst>
            </p:cNvPr>
            <p:cNvSpPr/>
            <p:nvPr/>
          </p:nvSpPr>
          <p:spPr>
            <a:xfrm>
              <a:off x="2297725" y="3660325"/>
              <a:ext cx="12158200" cy="2054528"/>
            </a:xfrm>
            <a:prstGeom prst="roundRect">
              <a:avLst>
                <a:gd name="adj" fmla="val 364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9E880D"/>
                  </a:solidFill>
                  <a:effectLst/>
                </a:rPr>
                <a:t>@Mapper</a:t>
              </a:r>
              <a:br>
                <a:rPr lang="en-US" altLang="zh-CN" sz="1100">
                  <a:solidFill>
                    <a:srgbClr val="9E880D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interface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EmpMapper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{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"select count(*) from emp e left join dept d on e.dept_id = d.id 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Long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();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查询总记录数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"select e.*, d.name deptName from emp e left join dept d on e.dept_id = d.id limit #{start},#{pageSize}"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start 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pageSize); </a:t>
              </a:r>
              <a:r>
                <a:rPr lang="en-US" altLang="zh-CN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67D17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查询结果列表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</a:rPr>
                <a:t>}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6A05AAA4-1136-F483-05AF-E6C51F6971C3}"/>
                </a:ext>
              </a:extLst>
            </p:cNvPr>
            <p:cNvSpPr/>
            <p:nvPr/>
          </p:nvSpPr>
          <p:spPr>
            <a:xfrm>
              <a:off x="2297720" y="3660322"/>
              <a:ext cx="1215820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3B5AF13-FA3B-27B0-BA7A-1C9A6967879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197F713-B038-DE0D-2DE5-C35F4705E3F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276AD03-ECF7-6BF1-3B9A-8CD82B34EB0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C0FD1BA-73DE-B5B4-0BC6-DA758884B118}"/>
              </a:ext>
            </a:extLst>
          </p:cNvPr>
          <p:cNvCxnSpPr/>
          <p:nvPr/>
        </p:nvCxnSpPr>
        <p:spPr>
          <a:xfrm>
            <a:off x="2291592" y="1788602"/>
            <a:ext cx="3931920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6ACE8F0-FF4E-C528-0ECD-7CCC0BFF3544}"/>
              </a:ext>
            </a:extLst>
          </p:cNvPr>
          <p:cNvCxnSpPr/>
          <p:nvPr/>
        </p:nvCxnSpPr>
        <p:spPr>
          <a:xfrm>
            <a:off x="2291592" y="1788602"/>
            <a:ext cx="0" cy="152400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D6C7EE1-75F5-7E84-6CBE-D87170338F3C}"/>
              </a:ext>
            </a:extLst>
          </p:cNvPr>
          <p:cNvSpPr txBox="1"/>
          <p:nvPr/>
        </p:nvSpPr>
        <p:spPr>
          <a:xfrm>
            <a:off x="910717" y="3331450"/>
            <a:ext cx="5947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@RequestParam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注解的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defaultValue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属性可以设置参数的默认值</a:t>
            </a:r>
            <a:endParaRPr lang="zh-CN" altLang="en-US" sz="14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03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7A55-F71A-3C06-F076-9D166D90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D8B77E-6569-080B-0A03-79EF7E5EF3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员工列表查询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3209C4-3C78-607A-DF84-59C5736B2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415173" cy="2436067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分页查询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原始方式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C00000"/>
                </a:solidFill>
              </a:rPr>
              <a:t>PageHelper</a:t>
            </a:r>
            <a:r>
              <a:rPr lang="zh-CN" altLang="en-US" sz="1600">
                <a:solidFill>
                  <a:srgbClr val="C00000"/>
                </a:solidFill>
              </a:rPr>
              <a:t>分页插件</a:t>
            </a:r>
            <a:endParaRPr lang="en-US" altLang="zh-CN" sz="1600">
              <a:solidFill>
                <a:srgbClr val="C00000"/>
              </a:solidFill>
            </a:endParaRPr>
          </a:p>
          <a:p>
            <a:r>
              <a:rPr lang="zh-CN" altLang="en-US"/>
              <a:t>条件分页查询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0BA0C9E-748C-9162-9122-FB02835543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199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365FAB-3D35-E4C5-DE7F-EFB1C4D6B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PageHelper</a:t>
            </a:r>
            <a:r>
              <a:rPr lang="zh-CN" altLang="en-US">
                <a:latin typeface="Fira Code" panose="020B0809050000020004" pitchFamily="49" charset="0"/>
              </a:rPr>
              <a:t>是第三方提供的在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框架中用来实现</a:t>
            </a:r>
            <a:r>
              <a:rPr lang="zh-CN" altLang="en-US">
                <a:latin typeface="Fira Code" panose="020B0809050000020004" pitchFamily="49" charset="0"/>
              </a:rPr>
              <a:t>分页的插件，用来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简化分页操作</a:t>
            </a:r>
            <a:r>
              <a:rPr lang="zh-CN" altLang="en-US">
                <a:latin typeface="Fira Code" panose="020B0809050000020004" pitchFamily="49" charset="0"/>
              </a:rPr>
              <a:t>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提高开发效率</a:t>
            </a:r>
            <a:r>
              <a:rPr lang="zh-CN" altLang="en-US">
                <a:latin typeface="Fira Code" panose="020B0809050000020004" pitchFamily="49" charset="0"/>
              </a:rPr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E0F7293-147B-5960-9CDF-740E706E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PageHelper</a:t>
            </a:r>
            <a:endParaRPr lang="zh-CN" altLang="en-US"/>
          </a:p>
        </p:txBody>
      </p:sp>
      <p:grpSp>
        <p:nvGrpSpPr>
          <p:cNvPr id="4" name="!!组合 3">
            <a:extLst>
              <a:ext uri="{FF2B5EF4-FFF2-40B4-BE49-F238E27FC236}">
                <a16:creationId xmlns:a16="http://schemas.microsoft.com/office/drawing/2014/main" id="{6E5AACC5-2E3F-728B-78BE-1DD59532E4A5}"/>
              </a:ext>
            </a:extLst>
          </p:cNvPr>
          <p:cNvGrpSpPr/>
          <p:nvPr/>
        </p:nvGrpSpPr>
        <p:grpSpPr>
          <a:xfrm>
            <a:off x="890204" y="1666977"/>
            <a:ext cx="5029954" cy="1861478"/>
            <a:chOff x="2297722" y="3660322"/>
            <a:chExt cx="5542076" cy="186158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009268B-8CF7-122E-CBB9-80C90FBD5B23}"/>
                </a:ext>
              </a:extLst>
            </p:cNvPr>
            <p:cNvSpPr/>
            <p:nvPr/>
          </p:nvSpPr>
          <p:spPr>
            <a:xfrm>
              <a:off x="2297729" y="3660324"/>
              <a:ext cx="5542069" cy="1861586"/>
            </a:xfrm>
            <a:prstGeom prst="roundRect">
              <a:avLst>
                <a:gd name="adj" fmla="val 5060"/>
              </a:avLst>
            </a:prstGeom>
            <a:solidFill>
              <a:srgbClr val="FFE1E1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0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统计符合条件的总记录数</a:t>
              </a:r>
              <a:endParaRPr lang="en-US" altLang="zh-CN" sz="100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altLang="zh-CN" sz="10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00">
                  <a:solidFill>
                    <a:srgbClr val="0000FF"/>
                  </a:solidFill>
                  <a:effectLst/>
                </a:rPr>
                <a:t>select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count(*)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rgbClr val="0000FF"/>
                  </a:solidFill>
                  <a:effectLst/>
                </a:rPr>
                <a:t>from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 e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...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Long </a:t>
              </a:r>
              <a:r>
                <a:rPr lang="en-US" altLang="zh-CN" sz="1000">
                  <a:solidFill>
                    <a:srgbClr val="00627A"/>
                  </a:solidFill>
                  <a:effectLst/>
                </a:rPr>
                <a:t>count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0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查询结果列表</a:t>
              </a:r>
              <a:endParaRPr lang="en-US" altLang="zh-CN" sz="100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00">
                  <a:solidFill>
                    <a:srgbClr val="0000FF"/>
                  </a:solidFill>
                  <a:effectLst/>
                </a:rPr>
                <a:t>select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e.* </a:t>
              </a:r>
              <a:r>
                <a:rPr lang="en-US" altLang="zh-CN" sz="1000">
                  <a:solidFill>
                    <a:srgbClr val="0000FF"/>
                  </a:solidFill>
                  <a:effectLst/>
                </a:rPr>
                <a:t>from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 e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...</a:t>
              </a:r>
              <a:r>
                <a:rPr lang="zh-CN" altLang="en-US" sz="1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rgbClr val="0000FF"/>
                  </a:solidFill>
                  <a:effectLst/>
                </a:rPr>
                <a:t>limit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#{start},#{pageSize}</a:t>
              </a:r>
              <a:r>
                <a:rPr lang="en-US" altLang="zh-CN" sz="10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00">
                  <a:solidFill>
                    <a:srgbClr val="00627A"/>
                  </a:solidFill>
                  <a:effectLst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start ,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pageSize);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DB6C130-AC02-8FCF-1794-5D1462321F5A}"/>
                </a:ext>
              </a:extLst>
            </p:cNvPr>
            <p:cNvSpPr/>
            <p:nvPr/>
          </p:nvSpPr>
          <p:spPr>
            <a:xfrm>
              <a:off x="2297722" y="3660322"/>
              <a:ext cx="554206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原始方式 </a:t>
              </a: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mapper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层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B8BB678-0C2E-E5BA-2F95-F1D2C422FA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7A4E41D-859E-F706-8981-F027C075556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B2942E2-FD8C-E309-3A98-01916BC6F7C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2">
            <a:extLst>
              <a:ext uri="{FF2B5EF4-FFF2-40B4-BE49-F238E27FC236}">
                <a16:creationId xmlns:a16="http://schemas.microsoft.com/office/drawing/2014/main" id="{C51C4BC5-6981-CA64-C354-AF0F647024B4}"/>
              </a:ext>
            </a:extLst>
          </p:cNvPr>
          <p:cNvGrpSpPr/>
          <p:nvPr/>
        </p:nvGrpSpPr>
        <p:grpSpPr>
          <a:xfrm>
            <a:off x="890205" y="3932500"/>
            <a:ext cx="5029948" cy="2378653"/>
            <a:chOff x="2297723" y="3660322"/>
            <a:chExt cx="5542067" cy="2378793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B3E66EC-1801-8534-72B0-C12D73882D75}"/>
                </a:ext>
              </a:extLst>
            </p:cNvPr>
            <p:cNvSpPr/>
            <p:nvPr/>
          </p:nvSpPr>
          <p:spPr>
            <a:xfrm>
              <a:off x="2297729" y="3660323"/>
              <a:ext cx="5542061" cy="2378792"/>
            </a:xfrm>
            <a:prstGeom prst="roundRect">
              <a:avLst>
                <a:gd name="adj" fmla="val 3079"/>
              </a:avLst>
            </a:prstGeom>
            <a:solidFill>
              <a:srgbClr val="FFE1E1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PageResult&lt;Emp&gt; </a:t>
              </a:r>
              <a:r>
                <a:rPr lang="en-US" altLang="zh-CN" sz="1000">
                  <a:solidFill>
                    <a:srgbClr val="00627A"/>
                  </a:solidFill>
                  <a:effectLst/>
                </a:rPr>
                <a:t>page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page,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pageSize) {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获取总记录数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Long total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.count();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获取数据列表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Integer start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(page - </a:t>
              </a:r>
              <a:r>
                <a:rPr lang="en-US" altLang="zh-CN" sz="1000">
                  <a:solidFill>
                    <a:srgbClr val="1750EB"/>
                  </a:solidFill>
                  <a:effectLst/>
                </a:rPr>
                <a:t>1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 * pageSize;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empList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.list(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start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, pageSize);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//3. </a:t>
              </a:r>
              <a:r>
                <a:rPr lang="zh-CN" altLang="en-US" sz="100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封装分页结果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</a:rPr>
                <a:t>return new 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PageResult&lt;Emp&gt;(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total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</a:rPr>
                <a:t>empList</a:t>
              </a:r>
              <a:r>
                <a:rPr lang="en-US" altLang="zh-CN" sz="100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1B02430C-FA36-E881-1E40-4C68DDE5E6F0}"/>
                </a:ext>
              </a:extLst>
            </p:cNvPr>
            <p:cNvSpPr/>
            <p:nvPr/>
          </p:nvSpPr>
          <p:spPr>
            <a:xfrm>
              <a:off x="2297723" y="3660322"/>
              <a:ext cx="554206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原始方式 </a:t>
              </a: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 service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层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59EE399-0390-2149-8990-B471F92A9E2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5838F8C-6D2A-13EA-75DF-6D8E7B7ACB8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9AA3EB7-38F0-056E-E40E-20B14ED43F4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5">
            <a:extLst>
              <a:ext uri="{FF2B5EF4-FFF2-40B4-BE49-F238E27FC236}">
                <a16:creationId xmlns:a16="http://schemas.microsoft.com/office/drawing/2014/main" id="{B5F427CA-4E99-42DD-A049-276CC3819D3B}"/>
              </a:ext>
            </a:extLst>
          </p:cNvPr>
          <p:cNvGrpSpPr/>
          <p:nvPr/>
        </p:nvGrpSpPr>
        <p:grpSpPr>
          <a:xfrm>
            <a:off x="6428164" y="1666978"/>
            <a:ext cx="4895529" cy="1861477"/>
            <a:chOff x="2297721" y="3660322"/>
            <a:chExt cx="5393964" cy="186158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0F42A6C-4348-3538-33DE-27B6C09EC7F4}"/>
                </a:ext>
              </a:extLst>
            </p:cNvPr>
            <p:cNvSpPr/>
            <p:nvPr/>
          </p:nvSpPr>
          <p:spPr>
            <a:xfrm>
              <a:off x="2297728" y="3660324"/>
              <a:ext cx="5393957" cy="1861584"/>
            </a:xfrm>
            <a:prstGeom prst="roundRect">
              <a:avLst>
                <a:gd name="adj" fmla="val 4249"/>
              </a:avLst>
            </a:prstGeom>
            <a:solidFill>
              <a:srgbClr val="E1FFEF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查询员工数据</a:t>
              </a:r>
              <a:endParaRPr lang="en-US" altLang="zh-CN" sz="105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50">
                  <a:solidFill>
                    <a:srgbClr val="0000FF"/>
                  </a:solidFill>
                  <a:effectLst/>
                </a:rPr>
                <a:t>select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5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e.* </a:t>
              </a:r>
              <a:r>
                <a:rPr lang="en-US" altLang="zh-CN" sz="1050">
                  <a:solidFill>
                    <a:srgbClr val="0000FF"/>
                  </a:solidFill>
                  <a:effectLst/>
                </a:rPr>
                <a:t>from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5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 e ... 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50">
                  <a:solidFill>
                    <a:srgbClr val="00627A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4B88581A-FEAF-6FF1-2B6B-76BA25F6E7AE}"/>
                </a:ext>
              </a:extLst>
            </p:cNvPr>
            <p:cNvSpPr/>
            <p:nvPr/>
          </p:nvSpPr>
          <p:spPr>
            <a:xfrm>
              <a:off x="2297721" y="3660322"/>
              <a:ext cx="539395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PageHelper - mapper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层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AEA9EDD-1E02-C100-1C09-CF4BF78E98C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8168F30-9EF1-0DAA-6AE8-F300583CE73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73F0872-225E-BE67-7B0F-C344831D568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!!组合 4">
            <a:extLst>
              <a:ext uri="{FF2B5EF4-FFF2-40B4-BE49-F238E27FC236}">
                <a16:creationId xmlns:a16="http://schemas.microsoft.com/office/drawing/2014/main" id="{B427727B-59C7-C378-9B53-82168C4E5A5C}"/>
              </a:ext>
            </a:extLst>
          </p:cNvPr>
          <p:cNvGrpSpPr/>
          <p:nvPr/>
        </p:nvGrpSpPr>
        <p:grpSpPr>
          <a:xfrm>
            <a:off x="6428164" y="3932500"/>
            <a:ext cx="4895523" cy="2378653"/>
            <a:chOff x="2297722" y="3660322"/>
            <a:chExt cx="5393956" cy="2378794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BFCF185-3F1F-1085-7C1D-D15AD60D56D2}"/>
                </a:ext>
              </a:extLst>
            </p:cNvPr>
            <p:cNvSpPr/>
            <p:nvPr/>
          </p:nvSpPr>
          <p:spPr>
            <a:xfrm>
              <a:off x="2297728" y="3660323"/>
              <a:ext cx="5393950" cy="2378793"/>
            </a:xfrm>
            <a:prstGeom prst="roundRect">
              <a:avLst>
                <a:gd name="adj" fmla="val 4218"/>
              </a:avLst>
            </a:prstGeom>
            <a:solidFill>
              <a:srgbClr val="E1FFEF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PageResult&lt;Emp&gt;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page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page,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Integer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pageSize) {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设置分页参数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PageHelper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 i="1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startPage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(page, pageSize);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</a:t>
              </a:r>
              <a:r>
                <a:rPr lang="en-US" altLang="zh-CN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Mapper</a:t>
              </a:r>
              <a:r>
                <a:rPr lang="zh-CN" altLang="en-US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接口方法</a:t>
              </a:r>
              <a:br>
                <a:rPr lang="zh-CN" altLang="en-US" sz="1000" i="1"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zh-CN" altLang="en-US" sz="1000" i="1"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empList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000"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empMapper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.list();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//3. </a:t>
              </a:r>
              <a:r>
                <a:rPr lang="zh-CN" altLang="en-US" sz="10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解析并封装结果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PageResult(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...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E9286150-3D7C-2DCF-6D6D-A9EA431779D5}"/>
                </a:ext>
              </a:extLst>
            </p:cNvPr>
            <p:cNvSpPr/>
            <p:nvPr/>
          </p:nvSpPr>
          <p:spPr>
            <a:xfrm>
              <a:off x="2297722" y="3660322"/>
              <a:ext cx="539395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PageHelper - service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层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1F43FAA-0A10-2619-CAA6-39E97503317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1C85DAE-A639-5DE3-6C34-C224E8CF060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5EAD905-F182-AB84-931C-1F62A912966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AEBD3D4-60F1-B702-5DC4-36013FDFF11C}"/>
              </a:ext>
            </a:extLst>
          </p:cNvPr>
          <p:cNvCxnSpPr>
            <a:cxnSpLocks/>
          </p:cNvCxnSpPr>
          <p:nvPr/>
        </p:nvCxnSpPr>
        <p:spPr>
          <a:xfrm flipV="1">
            <a:off x="6145954" y="1626338"/>
            <a:ext cx="0" cy="450934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CA5F6C8-4087-0550-BCCA-6FC36E61459D}"/>
              </a:ext>
            </a:extLst>
          </p:cNvPr>
          <p:cNvCxnSpPr/>
          <p:nvPr/>
        </p:nvCxnSpPr>
        <p:spPr>
          <a:xfrm>
            <a:off x="1645533" y="2430148"/>
            <a:ext cx="2447365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A98439C-CF22-294E-3096-131D51BD6918}"/>
              </a:ext>
            </a:extLst>
          </p:cNvPr>
          <p:cNvCxnSpPr>
            <a:cxnSpLocks/>
          </p:cNvCxnSpPr>
          <p:nvPr/>
        </p:nvCxnSpPr>
        <p:spPr>
          <a:xfrm>
            <a:off x="1645533" y="3245936"/>
            <a:ext cx="4043082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0963D95-2A8B-A8E5-B42C-63157673DBC8}"/>
              </a:ext>
            </a:extLst>
          </p:cNvPr>
          <p:cNvCxnSpPr>
            <a:cxnSpLocks/>
          </p:cNvCxnSpPr>
          <p:nvPr/>
        </p:nvCxnSpPr>
        <p:spPr>
          <a:xfrm>
            <a:off x="1266854" y="5370571"/>
            <a:ext cx="2826044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1F9EA9B-8A1D-7959-3D0E-EB744A0D5FBF}"/>
              </a:ext>
            </a:extLst>
          </p:cNvPr>
          <p:cNvCxnSpPr>
            <a:cxnSpLocks/>
          </p:cNvCxnSpPr>
          <p:nvPr/>
        </p:nvCxnSpPr>
        <p:spPr>
          <a:xfrm>
            <a:off x="6804814" y="4904407"/>
            <a:ext cx="2643090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00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A63254-C2CC-3328-2151-ECD0319F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80524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使用步骤：</a:t>
            </a:r>
            <a:endParaRPr lang="en-US" altLang="zh-CN">
              <a:latin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PageHelper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的依赖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接口的查询方法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无需考虑分页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方法中实现分页查询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BDC0220-120F-B900-B543-39CA32F8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PageHelper</a:t>
            </a:r>
            <a:endParaRPr lang="zh-CN" altLang="en-US"/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CE981E27-1C4B-5A84-20A3-21E4E3E6F654}"/>
              </a:ext>
            </a:extLst>
          </p:cNvPr>
          <p:cNvGrpSpPr/>
          <p:nvPr/>
        </p:nvGrpSpPr>
        <p:grpSpPr>
          <a:xfrm>
            <a:off x="6480240" y="1295752"/>
            <a:ext cx="5156433" cy="1748119"/>
            <a:chOff x="2297721" y="3660322"/>
            <a:chExt cx="5681432" cy="174822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C1203C9-885F-FE76-0C71-F943B7032F6D}"/>
                </a:ext>
              </a:extLst>
            </p:cNvPr>
            <p:cNvSpPr/>
            <p:nvPr/>
          </p:nvSpPr>
          <p:spPr>
            <a:xfrm>
              <a:off x="2297727" y="3660324"/>
              <a:ext cx="5681426" cy="1748220"/>
            </a:xfrm>
            <a:prstGeom prst="roundRect">
              <a:avLst>
                <a:gd name="adj" fmla="val 450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50" i="1">
                  <a:solidFill>
                    <a:srgbClr val="8C8C8C"/>
                  </a:solidFill>
                  <a:effectLst/>
                </a:rPr>
                <a:t>&lt;!-- </a:t>
              </a:r>
              <a:r>
                <a:rPr lang="zh-CN" altLang="en-US" sz="1050">
                  <a:solidFill>
                    <a:srgbClr val="8C8C8C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分页插件</a:t>
              </a:r>
              <a:r>
                <a:rPr lang="en-US" altLang="zh-CN" sz="1050">
                  <a:solidFill>
                    <a:srgbClr val="8C8C8C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PageHelper -</a:t>
              </a:r>
              <a:r>
                <a:rPr lang="en-US" altLang="zh-CN" sz="1050" i="1">
                  <a:solidFill>
                    <a:srgbClr val="8C8C8C"/>
                  </a:solidFill>
                  <a:effectLst/>
                </a:rPr>
                <a:t>-&gt;</a:t>
              </a:r>
              <a:br>
                <a:rPr lang="en-US" altLang="zh-CN" sz="1050" i="1">
                  <a:solidFill>
                    <a:srgbClr val="8C8C8C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dependency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groupId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&gt;com.github.pagehelper&lt;/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groupId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artifactId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&gt;pagehelper-spring-boot-starter&lt;/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artifactId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&lt;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version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&gt;1.4.7&lt;/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version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&lt;/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dependency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37CF8E93-DAF4-A18D-6CFE-74DFEFF4087A}"/>
                </a:ext>
              </a:extLst>
            </p:cNvPr>
            <p:cNvSpPr/>
            <p:nvPr/>
          </p:nvSpPr>
          <p:spPr>
            <a:xfrm>
              <a:off x="2297721" y="3660322"/>
              <a:ext cx="568142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Ins="180000" rtlCol="0" anchor="ctr"/>
            <a:lstStyle/>
            <a:p>
              <a:pPr algn="r"/>
              <a:r>
                <a:rPr lang="zh-CN" altLang="en-US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①</a:t>
              </a:r>
              <a:r>
                <a:rPr lang="en-US" altLang="zh-CN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  <a:endPara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485C5B8-4DD3-C1EA-2D02-704C0C7F815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27DE5A2-945D-EF0F-FDE9-8EF553816D3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84B3873-FF0B-2B3D-2E01-D35C8CA35E4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!!组合 5">
            <a:extLst>
              <a:ext uri="{FF2B5EF4-FFF2-40B4-BE49-F238E27FC236}">
                <a16:creationId xmlns:a16="http://schemas.microsoft.com/office/drawing/2014/main" id="{03851D84-CC40-27A2-1CDF-F3AE2966B7C4}"/>
              </a:ext>
            </a:extLst>
          </p:cNvPr>
          <p:cNvGrpSpPr/>
          <p:nvPr/>
        </p:nvGrpSpPr>
        <p:grpSpPr>
          <a:xfrm>
            <a:off x="6480240" y="3113528"/>
            <a:ext cx="5150572" cy="1035108"/>
            <a:chOff x="2297721" y="3660325"/>
            <a:chExt cx="5674974" cy="103516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2F2F642-1CFD-BE0C-EB79-7EC1418B6CA3}"/>
                </a:ext>
              </a:extLst>
            </p:cNvPr>
            <p:cNvSpPr/>
            <p:nvPr/>
          </p:nvSpPr>
          <p:spPr>
            <a:xfrm>
              <a:off x="2297729" y="3660325"/>
              <a:ext cx="5674966" cy="1035169"/>
            </a:xfrm>
            <a:prstGeom prst="roundRect">
              <a:avLst>
                <a:gd name="adj" fmla="val 97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3600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查询员工数据</a:t>
              </a:r>
              <a:endParaRPr lang="en-US" altLang="zh-CN" sz="105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50">
                  <a:solidFill>
                    <a:srgbClr val="0000FF"/>
                  </a:solidFill>
                  <a:effectLst/>
                </a:rPr>
                <a:t>select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5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e.* </a:t>
              </a:r>
              <a:r>
                <a:rPr lang="en-US" altLang="zh-CN" sz="1050">
                  <a:solidFill>
                    <a:srgbClr val="0000FF"/>
                  </a:solidFill>
                  <a:effectLst/>
                </a:rPr>
                <a:t>from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 </a:t>
              </a:r>
              <a:r>
                <a:rPr lang="en-US" altLang="zh-CN" sz="105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 e ... 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50">
                  <a:solidFill>
                    <a:srgbClr val="00627A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6BE9345A-E252-0063-90AB-31357352EB93}"/>
                </a:ext>
              </a:extLst>
            </p:cNvPr>
            <p:cNvSpPr/>
            <p:nvPr/>
          </p:nvSpPr>
          <p:spPr>
            <a:xfrm>
              <a:off x="2297721" y="3660325"/>
              <a:ext cx="567496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bIns="108000" rtlCol="0" anchor="ctr"/>
            <a:lstStyle/>
            <a:p>
              <a:pPr algn="r"/>
              <a:r>
                <a:rPr lang="zh-CN" altLang="en-US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②</a:t>
              </a:r>
              <a:r>
                <a:rPr lang="en-US" altLang="zh-CN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7691B4F-2EDE-3108-FC90-72A3A256045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6D0840C-E581-864E-CC04-D25704A259E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7AD3DA4-40AF-5CA3-99F8-EE92D12B574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!!组合 4">
            <a:extLst>
              <a:ext uri="{FF2B5EF4-FFF2-40B4-BE49-F238E27FC236}">
                <a16:creationId xmlns:a16="http://schemas.microsoft.com/office/drawing/2014/main" id="{B0DD98CD-7540-79EE-6527-02D49559411B}"/>
              </a:ext>
            </a:extLst>
          </p:cNvPr>
          <p:cNvGrpSpPr/>
          <p:nvPr/>
        </p:nvGrpSpPr>
        <p:grpSpPr>
          <a:xfrm>
            <a:off x="6486109" y="4236915"/>
            <a:ext cx="5150569" cy="2284686"/>
            <a:chOff x="2297722" y="3660322"/>
            <a:chExt cx="5674970" cy="228482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728934F-9913-4BC5-7A2B-2F7B42BF8C75}"/>
                </a:ext>
              </a:extLst>
            </p:cNvPr>
            <p:cNvSpPr/>
            <p:nvPr/>
          </p:nvSpPr>
          <p:spPr>
            <a:xfrm>
              <a:off x="2297728" y="3660323"/>
              <a:ext cx="5674964" cy="2284820"/>
            </a:xfrm>
            <a:prstGeom prst="roundRect">
              <a:avLst>
                <a:gd name="adj" fmla="val 307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3600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PageResult&lt;Emp&gt; </a:t>
              </a:r>
              <a:r>
                <a:rPr lang="en-US" altLang="zh-CN" sz="1050">
                  <a:solidFill>
                    <a:srgbClr val="00627A"/>
                  </a:solidFill>
                  <a:effectLst/>
                </a:rPr>
                <a:t>page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page,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Integer 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pageSize) {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//1. </a:t>
              </a:r>
              <a:r>
                <a:rPr lang="zh-CN" altLang="en-US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设置分页参数</a:t>
              </a:r>
              <a:b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PageHelper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.</a:t>
              </a:r>
              <a:r>
                <a:rPr lang="en-US" altLang="zh-CN" sz="1050" i="1">
                  <a:solidFill>
                    <a:srgbClr val="080808"/>
                  </a:solidFill>
                  <a:effectLst/>
                </a:rPr>
                <a:t>startPage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(page, pageSize);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</a:t>
              </a:r>
              <a:r>
                <a:rPr lang="en-US" altLang="zh-CN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Mapper</a:t>
              </a:r>
              <a:r>
                <a:rPr lang="zh-CN" altLang="en-US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接口方法</a:t>
              </a:r>
              <a:b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lang="zh-CN" altLang="en-US" sz="1050" i="1"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empList 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= </a:t>
              </a:r>
              <a:r>
                <a:rPr lang="en-US" altLang="zh-CN" sz="1050">
                  <a:solidFill>
                    <a:srgbClr val="871094"/>
                  </a:solidFill>
                  <a:effectLst/>
                </a:rPr>
                <a:t>empMapper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.list();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//3. </a:t>
              </a:r>
              <a:r>
                <a:rPr lang="zh-CN" altLang="en-US" sz="105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解析并封装结果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050">
                  <a:solidFill>
                    <a:srgbClr val="0033B3"/>
                  </a:solidFill>
                  <a:effectLst/>
                </a:rPr>
                <a:t>return new 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PageResult&lt;Emp&gt;(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...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);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</a:rPr>
                <a:t>}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BCE0A874-0FE5-6B3E-7C0C-D7C44B2CE3F1}"/>
                </a:ext>
              </a:extLst>
            </p:cNvPr>
            <p:cNvSpPr/>
            <p:nvPr/>
          </p:nvSpPr>
          <p:spPr>
            <a:xfrm>
              <a:off x="2297722" y="3660322"/>
              <a:ext cx="567496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180000" bIns="108000" rtlCol="0" anchor="ctr"/>
            <a:lstStyle/>
            <a:p>
              <a:pPr algn="r"/>
              <a:r>
                <a:rPr lang="zh-CN" altLang="en-US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③</a:t>
              </a:r>
              <a:r>
                <a:rPr lang="en-US" altLang="zh-CN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</a:t>
              </a:r>
              <a:r>
                <a:rPr lang="en-US" altLang="zh-CN" sz="14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D38D7F5-C1C3-CF1C-5D29-53C3EB22470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EE4F723-1FC0-AE6C-C1D4-3C22FCCF62C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8A6D098-027C-87A9-4C87-1C2E1A3AF77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7C67C803-320B-508D-9E64-62D5B0887EAB}"/>
              </a:ext>
            </a:extLst>
          </p:cNvPr>
          <p:cNvSpPr/>
          <p:nvPr/>
        </p:nvSpPr>
        <p:spPr>
          <a:xfrm>
            <a:off x="6480239" y="4777732"/>
            <a:ext cx="5150563" cy="448236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2DA14A7-912E-7BCD-3107-6C564F37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49" y="4220305"/>
            <a:ext cx="2923566" cy="20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E413E-E6C6-D3EC-05AB-6AC5A46FA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PageHelper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实现机制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E370B87-3B0A-00F5-9CB9-68D6326E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PageHelper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237ADC-5185-1C2C-178A-ED7EE3DB07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56"/>
          <a:stretch/>
        </p:blipFill>
        <p:spPr>
          <a:xfrm>
            <a:off x="942726" y="1696828"/>
            <a:ext cx="9814921" cy="3094876"/>
          </a:xfrm>
          <a:prstGeom prst="roundRect">
            <a:avLst>
              <a:gd name="adj" fmla="val 2577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grpSp>
        <p:nvGrpSpPr>
          <p:cNvPr id="5" name="!!组合 42">
            <a:extLst>
              <a:ext uri="{FF2B5EF4-FFF2-40B4-BE49-F238E27FC236}">
                <a16:creationId xmlns:a16="http://schemas.microsoft.com/office/drawing/2014/main" id="{3965C867-CECB-6D6A-E6F9-D4C2D6E88223}"/>
              </a:ext>
            </a:extLst>
          </p:cNvPr>
          <p:cNvGrpSpPr/>
          <p:nvPr/>
        </p:nvGrpSpPr>
        <p:grpSpPr>
          <a:xfrm>
            <a:off x="942726" y="5406915"/>
            <a:ext cx="9883938" cy="1035108"/>
            <a:chOff x="2297721" y="3660325"/>
            <a:chExt cx="10890264" cy="1035169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5C40AF8-34BD-DF57-9898-7B1CA8AC432A}"/>
                </a:ext>
              </a:extLst>
            </p:cNvPr>
            <p:cNvSpPr/>
            <p:nvPr/>
          </p:nvSpPr>
          <p:spPr>
            <a:xfrm>
              <a:off x="2297729" y="3660325"/>
              <a:ext cx="10890256" cy="1035169"/>
            </a:xfrm>
            <a:prstGeom prst="roundRect">
              <a:avLst>
                <a:gd name="adj" fmla="val 682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3600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05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查询员工数据</a:t>
              </a:r>
              <a:endParaRPr lang="en-US" altLang="zh-CN" sz="105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50">
                  <a:solidFill>
                    <a:srgbClr val="9E880D"/>
                  </a:solidFill>
                  <a:effectLst/>
                </a:rPr>
                <a:t>@Select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select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e.*, d.name deptName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from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emp e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left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join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dept d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00FF"/>
                  </a:solidFill>
                  <a:effectLst/>
                </a:rPr>
                <a:t>on</a:t>
              </a:r>
              <a:r>
                <a:rPr lang="en-US" altLang="zh-CN" sz="1100">
                  <a:solidFill>
                    <a:srgbClr val="8C8C8C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e.dept_id = d.id </a:t>
              </a:r>
              <a:r>
                <a:rPr lang="en-US" altLang="zh-CN" sz="1100">
                  <a:solidFill>
                    <a:srgbClr val="3333FF"/>
                  </a:solidFill>
                  <a:effectLst/>
                </a:rPr>
                <a:t>order by</a:t>
              </a:r>
              <a:r>
                <a:rPr lang="en-US" altLang="zh-CN" sz="11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</a:rPr>
                <a:t> e.update_time </a:t>
              </a:r>
              <a:r>
                <a:rPr lang="en-US" altLang="zh-CN" sz="1100">
                  <a:solidFill>
                    <a:srgbClr val="3333FF"/>
                  </a:solidFill>
                  <a:effectLst/>
                </a:rPr>
                <a:t>desc</a:t>
              </a:r>
              <a:r>
                <a:rPr lang="en-US" altLang="zh-CN" sz="105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050">
                  <a:solidFill>
                    <a:srgbClr val="080808"/>
                  </a:solidFill>
                  <a:effectLst/>
                </a:rPr>
              </a:br>
              <a:r>
                <a:rPr lang="en-US" altLang="zh-CN" sz="1050">
                  <a:solidFill>
                    <a:srgbClr val="0033B3"/>
                  </a:solidFill>
                  <a:effectLst/>
                </a:rPr>
                <a:t>public 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&lt;</a:t>
              </a:r>
              <a:r>
                <a:rPr lang="en-US" altLang="zh-CN" sz="1050">
                  <a:solidFill>
                    <a:srgbClr val="000000"/>
                  </a:solidFill>
                  <a:effectLst/>
                </a:rPr>
                <a:t>Emp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&gt; </a:t>
              </a:r>
              <a:r>
                <a:rPr lang="en-US" altLang="zh-CN" sz="1050">
                  <a:solidFill>
                    <a:srgbClr val="00627A"/>
                  </a:solidFill>
                  <a:effectLst/>
                </a:rPr>
                <a:t>list</a:t>
              </a:r>
              <a:r>
                <a:rPr lang="en-US" altLang="zh-CN" sz="1050">
                  <a:solidFill>
                    <a:srgbClr val="080808"/>
                  </a:solidFill>
                  <a:effectLst/>
                </a:rPr>
                <a:t>();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DC5AF5FB-8D16-540C-32C3-EEC176AF9F17}"/>
                </a:ext>
              </a:extLst>
            </p:cNvPr>
            <p:cNvSpPr/>
            <p:nvPr/>
          </p:nvSpPr>
          <p:spPr>
            <a:xfrm>
              <a:off x="2297721" y="3660325"/>
              <a:ext cx="1089025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108000" bIns="36000"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01761DC-108E-D22C-A009-5DE2D7ED8B0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DAC9210-C2B6-B648-8C47-7F10D78A66D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4CD1557-D9C8-E06D-E4EC-6F44F097BCB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6395464-A980-D10B-4002-6F5D50AF68D0}"/>
              </a:ext>
            </a:extLst>
          </p:cNvPr>
          <p:cNvSpPr/>
          <p:nvPr/>
        </p:nvSpPr>
        <p:spPr>
          <a:xfrm>
            <a:off x="2347403" y="6163804"/>
            <a:ext cx="170329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FDD45C-39E7-C0FF-04B9-B740F1D3AF91}"/>
              </a:ext>
            </a:extLst>
          </p:cNvPr>
          <p:cNvSpPr txBox="1"/>
          <p:nvPr/>
        </p:nvSpPr>
        <p:spPr>
          <a:xfrm>
            <a:off x="2777708" y="5703146"/>
            <a:ext cx="842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count(0)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7919D3-D9EA-4E29-4683-AB87B0FCA2AC}"/>
              </a:ext>
            </a:extLst>
          </p:cNvPr>
          <p:cNvSpPr txBox="1"/>
          <p:nvPr/>
        </p:nvSpPr>
        <p:spPr>
          <a:xfrm>
            <a:off x="9840541" y="5703832"/>
            <a:ext cx="986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limit ?,?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0D4FFC-4989-BCCA-8C43-D98870F71FC8}"/>
              </a:ext>
            </a:extLst>
          </p:cNvPr>
          <p:cNvSpPr/>
          <p:nvPr/>
        </p:nvSpPr>
        <p:spPr>
          <a:xfrm>
            <a:off x="2097741" y="2107976"/>
            <a:ext cx="43209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3106AB-D18E-F08F-4D19-5DF059FAE062}"/>
              </a:ext>
            </a:extLst>
          </p:cNvPr>
          <p:cNvSpPr/>
          <p:nvPr/>
        </p:nvSpPr>
        <p:spPr>
          <a:xfrm>
            <a:off x="2097740" y="3129953"/>
            <a:ext cx="7888941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48D57B-6C34-35F5-7984-E770CDC890BA}"/>
              </a:ext>
            </a:extLst>
          </p:cNvPr>
          <p:cNvSpPr txBox="1"/>
          <p:nvPr/>
        </p:nvSpPr>
        <p:spPr>
          <a:xfrm>
            <a:off x="6575970" y="1888895"/>
            <a:ext cx="9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总记录数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FDBB2-85B7-6000-6531-CCB9CF669582}"/>
              </a:ext>
            </a:extLst>
          </p:cNvPr>
          <p:cNvSpPr txBox="1"/>
          <p:nvPr/>
        </p:nvSpPr>
        <p:spPr>
          <a:xfrm>
            <a:off x="10042623" y="2907048"/>
            <a:ext cx="9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数据列表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32367C-A1DB-1046-84F7-D1C596D791B5}"/>
              </a:ext>
            </a:extLst>
          </p:cNvPr>
          <p:cNvSpPr txBox="1"/>
          <p:nvPr/>
        </p:nvSpPr>
        <p:spPr>
          <a:xfrm>
            <a:off x="8534400" y="2372341"/>
            <a:ext cx="1395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Page&lt;Emp&gt;</a:t>
            </a:r>
            <a:endParaRPr lang="zh-CN" altLang="en-US" sz="1600" b="1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98F556E-D772-3702-EF5F-BDB416D4AF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277"/>
          <a:stretch/>
        </p:blipFill>
        <p:spPr>
          <a:xfrm>
            <a:off x="8075851" y="73225"/>
            <a:ext cx="4037129" cy="1766032"/>
          </a:xfrm>
          <a:prstGeom prst="flowChartDocumen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9E00AFE-D145-5029-B617-CA121713DB01}"/>
              </a:ext>
            </a:extLst>
          </p:cNvPr>
          <p:cNvCxnSpPr/>
          <p:nvPr/>
        </p:nvCxnSpPr>
        <p:spPr>
          <a:xfrm>
            <a:off x="8075851" y="6069106"/>
            <a:ext cx="23142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FDB7A7-8CE5-45E8-7705-7540F5E603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PageHelper</a:t>
            </a:r>
            <a:r>
              <a:rPr lang="zh-CN" altLang="en-US" sz="1800">
                <a:latin typeface="Fira Code" panose="020B0809050000020004" pitchFamily="49" charset="0"/>
              </a:rPr>
              <a:t>实现机制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count(0)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from emp e ...</a:t>
            </a: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... from emp e ... 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limit ?,?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注意事项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语句结尾不要加分号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(;)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PageHelper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只会对紧跟在其后的第一条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语句进行分页处理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44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A3F048-733A-5BFC-6993-CE5512462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员工列表查询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630D1B-6D27-EAB4-3F64-B8D81B3258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691997"/>
          </a:xfrm>
        </p:spPr>
        <p:txBody>
          <a:bodyPr/>
          <a:lstStyle/>
          <a:p>
            <a:r>
              <a:rPr lang="zh-CN" altLang="en-US"/>
              <a:t>准备工作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分页查询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条件分页查询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3A52231-F040-7981-FDCB-5D92C94157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160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条件分页查询</a:t>
            </a:r>
            <a:r>
              <a:rPr lang="en-US" altLang="zh-CN"/>
              <a:t>-</a:t>
            </a:r>
            <a:r>
              <a:rPr lang="zh-CN" altLang="en-US"/>
              <a:t>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9A8146-AA84-AF37-FC84-81E962A915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7"/>
          <a:stretch/>
        </p:blipFill>
        <p:spPr>
          <a:xfrm>
            <a:off x="721383" y="1033865"/>
            <a:ext cx="9152965" cy="5042743"/>
          </a:xfrm>
          <a:prstGeom prst="roundRect">
            <a:avLst>
              <a:gd name="adj" fmla="val 1034"/>
            </a:avLst>
          </a:prstGeom>
          <a:ln w="6350">
            <a:solidFill>
              <a:schemeClr val="bg1">
                <a:lumMod val="75000"/>
              </a:schemeClr>
            </a:solidFill>
          </a:ln>
          <a:effectLst/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74446E0-44B9-49E9-5AEE-C6B98C571C7D}"/>
              </a:ext>
            </a:extLst>
          </p:cNvPr>
          <p:cNvSpPr/>
          <p:nvPr/>
        </p:nvSpPr>
        <p:spPr>
          <a:xfrm>
            <a:off x="721383" y="5717618"/>
            <a:ext cx="9152965" cy="367955"/>
          </a:xfrm>
          <a:prstGeom prst="roundRect">
            <a:avLst>
              <a:gd name="adj" fmla="val 22285"/>
            </a:avLst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F569FA3-752B-EEC0-9B95-1929B099E373}"/>
              </a:ext>
            </a:extLst>
          </p:cNvPr>
          <p:cNvSpPr/>
          <p:nvPr/>
        </p:nvSpPr>
        <p:spPr>
          <a:xfrm>
            <a:off x="721383" y="1370854"/>
            <a:ext cx="7807543" cy="460324"/>
          </a:xfrm>
          <a:prstGeom prst="roundRect">
            <a:avLst>
              <a:gd name="adj" fmla="val 8413"/>
            </a:avLst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42779380-38CA-2E2E-9C5C-49682CA129A4}"/>
              </a:ext>
            </a:extLst>
          </p:cNvPr>
          <p:cNvSpPr/>
          <p:nvPr/>
        </p:nvSpPr>
        <p:spPr>
          <a:xfrm>
            <a:off x="10165129" y="5717618"/>
            <a:ext cx="880867" cy="358990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已实现</a:t>
            </a:r>
          </a:p>
        </p:txBody>
      </p:sp>
    </p:spTree>
    <p:extLst>
      <p:ext uri="{BB962C8B-B14F-4D97-AF65-F5344CB8AC3E}">
        <p14:creationId xmlns:p14="http://schemas.microsoft.com/office/powerpoint/2010/main" val="235793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内容占位符 28">
            <a:extLst>
              <a:ext uri="{FF2B5EF4-FFF2-40B4-BE49-F238E27FC236}">
                <a16:creationId xmlns:a16="http://schemas.microsoft.com/office/drawing/2014/main" id="{38521E5C-79F0-0F2D-D55C-A15B5EA0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995176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三层架构中，每一层的职责如下：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条件分页查询</a:t>
            </a:r>
            <a:r>
              <a:rPr lang="en-US" altLang="zh-CN"/>
              <a:t>-</a:t>
            </a:r>
            <a:r>
              <a:rPr lang="zh-CN" altLang="en-US"/>
              <a:t>思路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44D603-2DD1-EFBC-4711-8D6178E9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517" y="3301967"/>
            <a:ext cx="932333" cy="130278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DB31DDC-D32E-2F32-B634-AA6DF3657C9D}"/>
              </a:ext>
            </a:extLst>
          </p:cNvPr>
          <p:cNvGrpSpPr/>
          <p:nvPr/>
        </p:nvGrpSpPr>
        <p:grpSpPr>
          <a:xfrm>
            <a:off x="777564" y="3594106"/>
            <a:ext cx="780070" cy="786974"/>
            <a:chOff x="1288572" y="3466291"/>
            <a:chExt cx="1076475" cy="1086002"/>
          </a:xfrm>
        </p:grpSpPr>
        <p:pic>
          <p:nvPicPr>
            <p:cNvPr id="6" name="图片 0">
              <a:extLst>
                <a:ext uri="{FF2B5EF4-FFF2-40B4-BE49-F238E27FC236}">
                  <a16:creationId xmlns:a16="http://schemas.microsoft.com/office/drawing/2014/main" id="{19AAA0EF-2825-4BF1-90EB-9A07C9868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8572" y="3466291"/>
              <a:ext cx="1076475" cy="1086002"/>
            </a:xfrm>
            <a:prstGeom prst="rect">
              <a:avLst/>
            </a:prstGeom>
          </p:spPr>
        </p:pic>
        <p:pic>
          <p:nvPicPr>
            <p:cNvPr id="7" name="图片 1">
              <a:extLst>
                <a:ext uri="{FF2B5EF4-FFF2-40B4-BE49-F238E27FC236}">
                  <a16:creationId xmlns:a16="http://schemas.microsoft.com/office/drawing/2014/main" id="{8839D787-8191-83CF-5D5E-2D1B4C467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940" y="3784462"/>
              <a:ext cx="447737" cy="447737"/>
            </a:xfrm>
            <a:prstGeom prst="rect">
              <a:avLst/>
            </a:prstGeom>
          </p:spPr>
        </p:pic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84F80466-6B34-6103-61EE-8B14098C48C8}"/>
              </a:ext>
            </a:extLst>
          </p:cNvPr>
          <p:cNvSpPr/>
          <p:nvPr/>
        </p:nvSpPr>
        <p:spPr>
          <a:xfrm>
            <a:off x="1662575" y="3791831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AF6CFB1-F4C6-7C4F-2794-8D11108CFB44}"/>
              </a:ext>
            </a:extLst>
          </p:cNvPr>
          <p:cNvSpPr/>
          <p:nvPr/>
        </p:nvSpPr>
        <p:spPr>
          <a:xfrm>
            <a:off x="9822689" y="3791132"/>
            <a:ext cx="525226" cy="391525"/>
          </a:xfrm>
          <a:prstGeom prst="rightArrow">
            <a:avLst>
              <a:gd name="adj1" fmla="val 50000"/>
              <a:gd name="adj2" fmla="val 6831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CBB9519-F019-ACDD-E720-1586E050E6A7}"/>
              </a:ext>
            </a:extLst>
          </p:cNvPr>
          <p:cNvGrpSpPr/>
          <p:nvPr/>
        </p:nvGrpSpPr>
        <p:grpSpPr>
          <a:xfrm>
            <a:off x="2173425" y="2760637"/>
            <a:ext cx="2082450" cy="2611635"/>
            <a:chOff x="2303931" y="2912210"/>
            <a:chExt cx="2082450" cy="261163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DB82532-AC12-61EC-2799-ADFAA56FF59F}"/>
                </a:ext>
              </a:extLst>
            </p:cNvPr>
            <p:cNvSpPr/>
            <p:nvPr/>
          </p:nvSpPr>
          <p:spPr>
            <a:xfrm>
              <a:off x="2303931" y="2912210"/>
              <a:ext cx="2082450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Controller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流程图: 文档 11">
              <a:extLst>
                <a:ext uri="{FF2B5EF4-FFF2-40B4-BE49-F238E27FC236}">
                  <a16:creationId xmlns:a16="http://schemas.microsoft.com/office/drawing/2014/main" id="{DAD96E9C-2572-A95C-871E-30B5E8D8F6F8}"/>
                </a:ext>
              </a:extLst>
            </p:cNvPr>
            <p:cNvSpPr/>
            <p:nvPr/>
          </p:nvSpPr>
          <p:spPr>
            <a:xfrm>
              <a:off x="2303931" y="3316712"/>
              <a:ext cx="2082450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3" name="!!流程图: 文档 1">
            <a:extLst>
              <a:ext uri="{FF2B5EF4-FFF2-40B4-BE49-F238E27FC236}">
                <a16:creationId xmlns:a16="http://schemas.microsoft.com/office/drawing/2014/main" id="{C97099B2-F0CA-5650-18B1-A8C7C4046908}"/>
              </a:ext>
            </a:extLst>
          </p:cNvPr>
          <p:cNvSpPr/>
          <p:nvPr/>
        </p:nvSpPr>
        <p:spPr>
          <a:xfrm>
            <a:off x="2173425" y="3165139"/>
            <a:ext cx="2084809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接收参数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分页、条件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Service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进行分页查询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PageResult</a:t>
            </a:r>
            <a:endParaRPr lang="en-US" altLang="zh-CN" sz="11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响应结果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51758F-C689-A2A6-704D-CC1A42CB79B2}"/>
              </a:ext>
            </a:extLst>
          </p:cNvPr>
          <p:cNvGrpSpPr/>
          <p:nvPr/>
        </p:nvGrpSpPr>
        <p:grpSpPr>
          <a:xfrm>
            <a:off x="4865757" y="2756648"/>
            <a:ext cx="2089817" cy="2606659"/>
            <a:chOff x="5100918" y="2912210"/>
            <a:chExt cx="2089817" cy="2606659"/>
          </a:xfrm>
        </p:grpSpPr>
        <p:sp>
          <p:nvSpPr>
            <p:cNvPr id="15" name="流程图: 文档 14">
              <a:extLst>
                <a:ext uri="{FF2B5EF4-FFF2-40B4-BE49-F238E27FC236}">
                  <a16:creationId xmlns:a16="http://schemas.microsoft.com/office/drawing/2014/main" id="{C304A2C3-6C63-CCF2-5C9C-24E8DBDEE754}"/>
                </a:ext>
              </a:extLst>
            </p:cNvPr>
            <p:cNvSpPr/>
            <p:nvPr/>
          </p:nvSpPr>
          <p:spPr>
            <a:xfrm>
              <a:off x="5100918" y="3311736"/>
              <a:ext cx="2089817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37DF0B-8120-ED2A-16AE-32CD997C1B33}"/>
                </a:ext>
              </a:extLst>
            </p:cNvPr>
            <p:cNvSpPr/>
            <p:nvPr/>
          </p:nvSpPr>
          <p:spPr>
            <a:xfrm>
              <a:off x="5100918" y="2912210"/>
              <a:ext cx="2089817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Service</a:t>
              </a:r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7" name="流程图: 文档 16">
            <a:extLst>
              <a:ext uri="{FF2B5EF4-FFF2-40B4-BE49-F238E27FC236}">
                <a16:creationId xmlns:a16="http://schemas.microsoft.com/office/drawing/2014/main" id="{582BDD3A-E9B0-1A74-ECCE-7E6FDE1FB748}"/>
              </a:ext>
            </a:extLst>
          </p:cNvPr>
          <p:cNvSpPr/>
          <p:nvPr/>
        </p:nvSpPr>
        <p:spPr>
          <a:xfrm>
            <a:off x="4869440" y="3164048"/>
            <a:ext cx="2082450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PageHelper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完成分页条件查询</a:t>
            </a:r>
            <a:endParaRPr lang="en-US" altLang="zh-CN" sz="1100">
              <a:solidFill>
                <a:srgbClr val="FF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PageResult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174B5D8-EE95-D7FA-3FD1-AFA91FAFB19A}"/>
              </a:ext>
            </a:extLst>
          </p:cNvPr>
          <p:cNvGrpSpPr/>
          <p:nvPr/>
        </p:nvGrpSpPr>
        <p:grpSpPr>
          <a:xfrm>
            <a:off x="7577543" y="2764446"/>
            <a:ext cx="2099544" cy="2607825"/>
            <a:chOff x="7897905" y="2912210"/>
            <a:chExt cx="2099544" cy="2607825"/>
          </a:xfrm>
        </p:grpSpPr>
        <p:sp>
          <p:nvSpPr>
            <p:cNvPr id="19" name="流程图: 文档 18">
              <a:extLst>
                <a:ext uri="{FF2B5EF4-FFF2-40B4-BE49-F238E27FC236}">
                  <a16:creationId xmlns:a16="http://schemas.microsoft.com/office/drawing/2014/main" id="{F8EB481C-BE11-6779-110E-C2F46404FCC9}"/>
                </a:ext>
              </a:extLst>
            </p:cNvPr>
            <p:cNvSpPr/>
            <p:nvPr/>
          </p:nvSpPr>
          <p:spPr>
            <a:xfrm>
              <a:off x="7897905" y="3312902"/>
              <a:ext cx="2099544" cy="2207133"/>
            </a:xfrm>
            <a:prstGeom prst="flowChartDocument">
              <a:avLst/>
            </a:prstGeom>
            <a:solidFill>
              <a:srgbClr val="42D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1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0FCA5E1-1373-FE2B-9B07-0F8EA6396583}"/>
                </a:ext>
              </a:extLst>
            </p:cNvPr>
            <p:cNvSpPr/>
            <p:nvPr/>
          </p:nvSpPr>
          <p:spPr>
            <a:xfrm>
              <a:off x="7897905" y="2912210"/>
              <a:ext cx="2099543" cy="40341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!!流程图: 文档 22">
            <a:extLst>
              <a:ext uri="{FF2B5EF4-FFF2-40B4-BE49-F238E27FC236}">
                <a16:creationId xmlns:a16="http://schemas.microsoft.com/office/drawing/2014/main" id="{63A35986-1D3E-5D34-1213-630149F3724F}"/>
              </a:ext>
            </a:extLst>
          </p:cNvPr>
          <p:cNvSpPr/>
          <p:nvPr/>
        </p:nvSpPr>
        <p:spPr>
          <a:xfrm>
            <a:off x="7577543" y="3165138"/>
            <a:ext cx="2099543" cy="2207133"/>
          </a:xfrm>
          <a:prstGeom prst="flowChartDocument">
            <a:avLst/>
          </a:prstGeom>
          <a:solidFill>
            <a:srgbClr val="42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1200" b="1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select ... from emp e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... where e.name like </a:t>
            </a:r>
            <a:r>
              <a:rPr lang="zh-CN" altLang="en-US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？ </a:t>
            </a:r>
            <a:r>
              <a:rPr lang="en-US" altLang="zh-CN" sz="11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and e.gender = ? and e.entry_date between ? and ? order by ...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9736C49B-5479-2255-7B73-C133373D160B}"/>
              </a:ext>
            </a:extLst>
          </p:cNvPr>
          <p:cNvSpPr/>
          <p:nvPr/>
        </p:nvSpPr>
        <p:spPr>
          <a:xfrm>
            <a:off x="4369781" y="3757598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976B42F2-E8D2-C987-2447-96491803FC01}"/>
              </a:ext>
            </a:extLst>
          </p:cNvPr>
          <p:cNvSpPr/>
          <p:nvPr/>
        </p:nvSpPr>
        <p:spPr>
          <a:xfrm>
            <a:off x="7060515" y="3791133"/>
            <a:ext cx="402359" cy="391525"/>
          </a:xfrm>
          <a:prstGeom prst="rightArrow">
            <a:avLst>
              <a:gd name="adj1" fmla="val 50000"/>
              <a:gd name="adj2" fmla="val 49999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4514EDB-356E-71B2-20E5-8F8008AA47A8}"/>
              </a:ext>
            </a:extLst>
          </p:cNvPr>
          <p:cNvCxnSpPr>
            <a:cxnSpLocks/>
          </p:cNvCxnSpPr>
          <p:nvPr/>
        </p:nvCxnSpPr>
        <p:spPr>
          <a:xfrm>
            <a:off x="8013739" y="4095370"/>
            <a:ext cx="145164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10DA96-D5D4-FE8A-3B6E-F78F6520A301}"/>
              </a:ext>
            </a:extLst>
          </p:cNvPr>
          <p:cNvCxnSpPr>
            <a:cxnSpLocks/>
          </p:cNvCxnSpPr>
          <p:nvPr/>
        </p:nvCxnSpPr>
        <p:spPr>
          <a:xfrm>
            <a:off x="7680999" y="4346830"/>
            <a:ext cx="17843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491D065-DE9A-C811-34B5-7B0170CFC99E}"/>
              </a:ext>
            </a:extLst>
          </p:cNvPr>
          <p:cNvCxnSpPr>
            <a:cxnSpLocks/>
          </p:cNvCxnSpPr>
          <p:nvPr/>
        </p:nvCxnSpPr>
        <p:spPr>
          <a:xfrm>
            <a:off x="7680999" y="4592053"/>
            <a:ext cx="17843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E11B5E0-7FEB-AE89-B89C-67C963DF9FA3}"/>
              </a:ext>
            </a:extLst>
          </p:cNvPr>
          <p:cNvCxnSpPr>
            <a:cxnSpLocks/>
          </p:cNvCxnSpPr>
          <p:nvPr/>
        </p:nvCxnSpPr>
        <p:spPr>
          <a:xfrm>
            <a:off x="7680999" y="4843513"/>
            <a:ext cx="43564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4256B47-E9E1-6DC4-C362-75FC3103334E}"/>
              </a:ext>
            </a:extLst>
          </p:cNvPr>
          <p:cNvSpPr txBox="1"/>
          <p:nvPr/>
        </p:nvSpPr>
        <p:spPr>
          <a:xfrm>
            <a:off x="777564" y="2426080"/>
            <a:ext cx="47670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/emps?name=张&amp;gender=1&amp;begin=2007-09-01&amp;end=2022-09-01</a:t>
            </a:r>
          </a:p>
        </p:txBody>
      </p:sp>
    </p:spTree>
    <p:extLst>
      <p:ext uri="{BB962C8B-B14F-4D97-AF65-F5344CB8AC3E}">
        <p14:creationId xmlns:p14="http://schemas.microsoft.com/office/powerpoint/2010/main" val="197291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7" grpId="0" animBg="1"/>
      <p:bldP spid="21" grpId="0" animBg="1"/>
      <p:bldP spid="22" grpId="0" animBg="1"/>
      <p:bldP spid="23" grpId="0" animBg="1"/>
      <p:bldP spid="3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条件分页查询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C123B4C5-58D2-5497-150E-9BC56C219069}"/>
              </a:ext>
            </a:extLst>
          </p:cNvPr>
          <p:cNvGrpSpPr/>
          <p:nvPr/>
        </p:nvGrpSpPr>
        <p:grpSpPr>
          <a:xfrm>
            <a:off x="664436" y="979889"/>
            <a:ext cx="10956066" cy="2704605"/>
            <a:chOff x="2297721" y="3660322"/>
            <a:chExt cx="12071553" cy="270476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EE9D68D-3FC2-AD8E-5F08-71B76118E0E4}"/>
                </a:ext>
              </a:extLst>
            </p:cNvPr>
            <p:cNvSpPr/>
            <p:nvPr/>
          </p:nvSpPr>
          <p:spPr>
            <a:xfrm>
              <a:off x="2297727" y="3660324"/>
              <a:ext cx="12071547" cy="2704763"/>
            </a:xfrm>
            <a:prstGeom prst="roundRect">
              <a:avLst>
                <a:gd name="adj" fmla="val 22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@RequestParam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(defaultValue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@RequestParam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(defaultValue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"10"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pageSize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"分页查询，参数：{}，{}，{}，{}，{}，{}"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pageSize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empService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.page(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pageSize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53FB921D-5C26-D287-0C9E-28C0B449CA79}"/>
                </a:ext>
              </a:extLst>
            </p:cNvPr>
            <p:cNvSpPr/>
            <p:nvPr/>
          </p:nvSpPr>
          <p:spPr>
            <a:xfrm>
              <a:off x="2297721" y="3660322"/>
              <a:ext cx="1207154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746248C-2B0E-A90A-5194-EC3DD63EECB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FB7D26E-EE14-60B6-7A76-005B61E2385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045E1F4-CE0D-7B69-D052-5486991BD76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2">
            <a:extLst>
              <a:ext uri="{FF2B5EF4-FFF2-40B4-BE49-F238E27FC236}">
                <a16:creationId xmlns:a16="http://schemas.microsoft.com/office/drawing/2014/main" id="{9702EF90-D4C1-8051-C07C-EB1C2724DE14}"/>
              </a:ext>
            </a:extLst>
          </p:cNvPr>
          <p:cNvGrpSpPr/>
          <p:nvPr/>
        </p:nvGrpSpPr>
        <p:grpSpPr>
          <a:xfrm>
            <a:off x="664412" y="4346259"/>
            <a:ext cx="10956066" cy="692969"/>
            <a:chOff x="2297721" y="3660322"/>
            <a:chExt cx="12071553" cy="69301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7620D7D-EAEB-BF1D-1470-8A24D35C7CA4}"/>
                </a:ext>
              </a:extLst>
            </p:cNvPr>
            <p:cNvSpPr/>
            <p:nvPr/>
          </p:nvSpPr>
          <p:spPr>
            <a:xfrm>
              <a:off x="2297727" y="3660325"/>
              <a:ext cx="12071547" cy="693007"/>
            </a:xfrm>
            <a:prstGeom prst="roundRect">
              <a:avLst>
                <a:gd name="adj" fmla="val 1219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list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CFF45B25-1B31-FBC1-67FA-AFC4DA889B29}"/>
                </a:ext>
              </a:extLst>
            </p:cNvPr>
            <p:cNvSpPr/>
            <p:nvPr/>
          </p:nvSpPr>
          <p:spPr>
            <a:xfrm>
              <a:off x="2297721" y="3660322"/>
              <a:ext cx="1207154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A7C340F-E1D8-BB9F-79EE-4869C090DBC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E815A02-F11D-4476-BBA9-2321CF2D2B1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3D1681D-03CB-8935-96FB-2AC0A1A43F1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4646285-3EFB-01A7-3A84-E76C385B1E5F}"/>
              </a:ext>
            </a:extLst>
          </p:cNvPr>
          <p:cNvCxnSpPr/>
          <p:nvPr/>
        </p:nvCxnSpPr>
        <p:spPr>
          <a:xfrm>
            <a:off x="2456329" y="2339788"/>
            <a:ext cx="5136776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8A79E44-5E3A-7C81-EA19-5B0310E7E001}"/>
              </a:ext>
            </a:extLst>
          </p:cNvPr>
          <p:cNvCxnSpPr>
            <a:cxnSpLocks/>
          </p:cNvCxnSpPr>
          <p:nvPr/>
        </p:nvCxnSpPr>
        <p:spPr>
          <a:xfrm>
            <a:off x="2456329" y="2339788"/>
            <a:ext cx="0" cy="1479177"/>
          </a:xfrm>
          <a:prstGeom prst="straightConnector1">
            <a:avLst/>
          </a:prstGeom>
          <a:ln w="12700"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E0B218B-EE9E-1EC2-F3EB-AF1BF026DB92}"/>
              </a:ext>
            </a:extLst>
          </p:cNvPr>
          <p:cNvSpPr txBox="1"/>
          <p:nvPr/>
        </p:nvSpPr>
        <p:spPr>
          <a:xfrm>
            <a:off x="2160495" y="3791545"/>
            <a:ext cx="712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日期时间类型参数接收时，需要通过 </a:t>
            </a:r>
            <a:r>
              <a:rPr lang="en-US" altLang="zh-CN" sz="1400">
                <a:solidFill>
                  <a:srgbClr val="FFC000"/>
                </a:solidFill>
              </a:rPr>
              <a:t>@DateTimeFormat </a:t>
            </a:r>
            <a:r>
              <a:rPr lang="zh-CN" altLang="en-US" sz="1400"/>
              <a:t>注解指定前端传递的日期格式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589A62-6A90-1ECB-3389-31F73240EC40}"/>
              </a:ext>
            </a:extLst>
          </p:cNvPr>
          <p:cNvSpPr txBox="1"/>
          <p:nvPr/>
        </p:nvSpPr>
        <p:spPr>
          <a:xfrm>
            <a:off x="8121114" y="2321342"/>
            <a:ext cx="3675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begin=2007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09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01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&amp;end=2022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09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01</a:t>
            </a:r>
            <a:r>
              <a:rPr lang="zh-CN" altLang="en-US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</a:t>
            </a:r>
            <a:endParaRPr lang="zh-CN" altLang="en-US" sz="12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084474-0B59-9C08-8202-2CECDB8FEC6B}"/>
              </a:ext>
            </a:extLst>
          </p:cNvPr>
          <p:cNvSpPr txBox="1"/>
          <p:nvPr/>
        </p:nvSpPr>
        <p:spPr>
          <a:xfrm>
            <a:off x="8121114" y="2050000"/>
            <a:ext cx="3675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begin=2007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09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01&amp;end=2022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09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200">
                <a:solidFill>
                  <a:srgbClr val="C00000"/>
                </a:solidFill>
                <a:latin typeface="Consolas" panose="020B06090202040302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01</a:t>
            </a:r>
            <a:endParaRPr lang="zh-CN" altLang="en-US" sz="12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7" name="组合 2">
            <a:extLst>
              <a:ext uri="{FF2B5EF4-FFF2-40B4-BE49-F238E27FC236}">
                <a16:creationId xmlns:a16="http://schemas.microsoft.com/office/drawing/2014/main" id="{8A3830A1-6093-105C-EF7E-C81B22D63275}"/>
              </a:ext>
            </a:extLst>
          </p:cNvPr>
          <p:cNvGrpSpPr/>
          <p:nvPr/>
        </p:nvGrpSpPr>
        <p:grpSpPr>
          <a:xfrm>
            <a:off x="664412" y="5179151"/>
            <a:ext cx="10956066" cy="1562311"/>
            <a:chOff x="2297721" y="3660322"/>
            <a:chExt cx="12071553" cy="156240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B727E93-20AE-E27B-4E7B-A003ECA2F2E0}"/>
                </a:ext>
              </a:extLst>
            </p:cNvPr>
            <p:cNvSpPr/>
            <p:nvPr/>
          </p:nvSpPr>
          <p:spPr>
            <a:xfrm>
              <a:off x="2297727" y="3660324"/>
              <a:ext cx="12071547" cy="1562401"/>
            </a:xfrm>
            <a:prstGeom prst="roundRect">
              <a:avLst>
                <a:gd name="adj" fmla="val 473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="list"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resultType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="com.itheima.pojo.Emp"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e.*, d.name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as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dept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from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emp 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left join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dept d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e.dept_id = d.id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where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like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</a:rPr>
                <a:t>concat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('%',#{name},'%')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e.gender = #{gender}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e.entry_date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between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#{begin}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#{end}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9" name="矩形: 圆顶角 28">
              <a:extLst>
                <a:ext uri="{FF2B5EF4-FFF2-40B4-BE49-F238E27FC236}">
                  <a16:creationId xmlns:a16="http://schemas.microsoft.com/office/drawing/2014/main" id="{D2F6A7EE-6BDC-F6AB-CCFD-A0D715B577AD}"/>
                </a:ext>
              </a:extLst>
            </p:cNvPr>
            <p:cNvSpPr/>
            <p:nvPr/>
          </p:nvSpPr>
          <p:spPr>
            <a:xfrm>
              <a:off x="2297721" y="3660322"/>
              <a:ext cx="1207154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C82C0A0-AB34-FDFE-21CE-0DA911F9F5F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6211CFC-B0CA-D326-A5FA-05A9FB53A0E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54ABFE2-3C2A-A6A1-8176-EAB3691328F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3440814F-7542-DE4A-4424-F10C427D1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8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FCCDE-C6A6-FBCB-2486-409A025334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@RequestParam</a:t>
            </a:r>
            <a:r>
              <a:rPr lang="zh-CN" altLang="en-US" sz="1800"/>
              <a:t>注解的使用场景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C00000"/>
                </a:solidFill>
              </a:rPr>
              <a:t>@RequestParam </a:t>
            </a:r>
            <a:r>
              <a:rPr lang="zh-CN" altLang="en-US" sz="1600">
                <a:solidFill>
                  <a:srgbClr val="C00000"/>
                </a:solidFill>
              </a:rPr>
              <a:t>接收请求参数，参数名不一致时</a:t>
            </a:r>
            <a:endParaRPr lang="en-US" altLang="zh-CN" sz="1600">
              <a:solidFill>
                <a:srgbClr val="C00000"/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C00000"/>
                </a:solidFill>
              </a:rPr>
              <a:t>@RequestParam </a:t>
            </a:r>
            <a:r>
              <a:rPr lang="zh-CN" altLang="en-US" sz="1600">
                <a:solidFill>
                  <a:srgbClr val="C00000"/>
                </a:solidFill>
              </a:rPr>
              <a:t>设置请求参数的默认值</a:t>
            </a:r>
            <a:endParaRPr lang="en-US" altLang="zh-CN" sz="160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@DateTimeFormat</a:t>
            </a:r>
            <a:r>
              <a:rPr lang="zh-CN" altLang="en-US" sz="1800"/>
              <a:t>的使用场景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用于接收日期时间类型的参数，指定日期格式</a:t>
            </a:r>
            <a:endParaRPr lang="en-US" altLang="zh-CN" sz="1600">
              <a:solidFill>
                <a:srgbClr val="C00000"/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C00000"/>
                </a:solidFill>
              </a:rPr>
              <a:t>@DateTimeFormat(pattern="yyyy-MM-dd")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11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36" y="962944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请求参数：</a:t>
            </a:r>
            <a:r>
              <a:rPr lang="en-US" altLang="zh-CN"/>
              <a:t>/emps?</a:t>
            </a:r>
            <a:r>
              <a:rPr lang="en-US" altLang="zh-CN">
                <a:solidFill>
                  <a:srgbClr val="3333FF"/>
                </a:solidFill>
              </a:rPr>
              <a:t>name</a:t>
            </a:r>
            <a:r>
              <a:rPr lang="en-US" altLang="zh-CN"/>
              <a:t>=</a:t>
            </a:r>
            <a:r>
              <a:rPr lang="zh-CN" altLang="en-US">
                <a:solidFill>
                  <a:srgbClr val="00B050"/>
                </a:solidFill>
              </a:rPr>
              <a:t>张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gender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begin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2007-09-01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end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2022-09-01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page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pageSize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10</a:t>
            </a:r>
            <a:endParaRPr lang="zh-CN" altLang="en-US">
              <a:solidFill>
                <a:srgbClr val="00B050"/>
              </a:solidFill>
            </a:endParaRPr>
          </a:p>
        </p:txBody>
      </p:sp>
      <p:grpSp>
        <p:nvGrpSpPr>
          <p:cNvPr id="10" name="组合 2">
            <a:extLst>
              <a:ext uri="{FF2B5EF4-FFF2-40B4-BE49-F238E27FC236}">
                <a16:creationId xmlns:a16="http://schemas.microsoft.com/office/drawing/2014/main" id="{3F2F07B7-B193-A535-44EB-D49EB9362931}"/>
              </a:ext>
            </a:extLst>
          </p:cNvPr>
          <p:cNvGrpSpPr/>
          <p:nvPr/>
        </p:nvGrpSpPr>
        <p:grpSpPr>
          <a:xfrm>
            <a:off x="1022576" y="1504320"/>
            <a:ext cx="10496625" cy="2632886"/>
            <a:chOff x="2297721" y="3660322"/>
            <a:chExt cx="11565334" cy="2633043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2E7ED93-EDBE-6912-1F45-E75C0B455B4A}"/>
                </a:ext>
              </a:extLst>
            </p:cNvPr>
            <p:cNvSpPr/>
            <p:nvPr/>
          </p:nvSpPr>
          <p:spPr>
            <a:xfrm>
              <a:off x="2297728" y="3660324"/>
              <a:ext cx="11565327" cy="2633041"/>
            </a:xfrm>
            <a:prstGeom prst="roundRect">
              <a:avLst>
                <a:gd name="adj" fmla="val 22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@RequestParam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(defaultValue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buClrTx/>
                <a:buSzTx/>
                <a:buFontTx/>
                <a:buNone/>
                <a:tabLst/>
              </a:pPr>
              <a:r>
                <a:rPr lang="en-US" altLang="zh-CN" sz="1200">
                  <a:solidFill>
                    <a:srgbClr val="080808"/>
                  </a:solidFill>
                </a:rPr>
                <a:t>	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@RequestParam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(defaultValue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"10"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pageSize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"分页查询，参数：{}，{}，{}，{}，{}，{}"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pageSize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889F9327-8905-DBD8-9E92-95E1BF611736}"/>
                </a:ext>
              </a:extLst>
            </p:cNvPr>
            <p:cNvSpPr/>
            <p:nvPr/>
          </p:nvSpPr>
          <p:spPr>
            <a:xfrm>
              <a:off x="2297721" y="3660322"/>
              <a:ext cx="1156532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AA13608-0BFE-F705-58C0-55ED37DE382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3AD67F2-C2E4-5CFC-8705-B3C5F778B1E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08F83A2-0696-7B05-3681-3ADF68C0B2F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FF5A2DE9-0599-77B7-B437-D0FB493549DD}"/>
              </a:ext>
            </a:extLst>
          </p:cNvPr>
          <p:cNvSpPr/>
          <p:nvPr/>
        </p:nvSpPr>
        <p:spPr>
          <a:xfrm>
            <a:off x="2805953" y="2142565"/>
            <a:ext cx="5208494" cy="1358153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7387175-C6CA-D64F-C7AB-74CB3DEF9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77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请求参数接收优化</a:t>
            </a:r>
            <a:r>
              <a:rPr lang="en-US" altLang="zh-CN"/>
              <a:t>-</a:t>
            </a:r>
            <a:r>
              <a:rPr lang="zh-CN" altLang="en-US"/>
              <a:t>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923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如果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controller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方法的参数较多，且未来可能继续增加，这会使得方法签名变得复杂难以维护，此时可以考虑将多个请求参数封装为一个对象。</a:t>
            </a:r>
          </a:p>
        </p:txBody>
      </p:sp>
      <p:grpSp>
        <p:nvGrpSpPr>
          <p:cNvPr id="18" name="组合 2">
            <a:extLst>
              <a:ext uri="{FF2B5EF4-FFF2-40B4-BE49-F238E27FC236}">
                <a16:creationId xmlns:a16="http://schemas.microsoft.com/office/drawing/2014/main" id="{22B0C6BC-552F-DB60-D176-0D0B673396E9}"/>
              </a:ext>
            </a:extLst>
          </p:cNvPr>
          <p:cNvGrpSpPr/>
          <p:nvPr/>
        </p:nvGrpSpPr>
        <p:grpSpPr>
          <a:xfrm>
            <a:off x="897049" y="2593987"/>
            <a:ext cx="4463377" cy="3495140"/>
            <a:chOff x="2297722" y="3660322"/>
            <a:chExt cx="4917813" cy="3495347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88F8DCE-50D7-E7E2-8C61-50BF0C29D0A3}"/>
                </a:ext>
              </a:extLst>
            </p:cNvPr>
            <p:cNvSpPr/>
            <p:nvPr/>
          </p:nvSpPr>
          <p:spPr>
            <a:xfrm>
              <a:off x="2297729" y="3660324"/>
              <a:ext cx="4917806" cy="3495345"/>
            </a:xfrm>
            <a:prstGeom prst="roundRect">
              <a:avLst>
                <a:gd name="adj" fmla="val 22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R="0" lvl="0" indent="0" algn="l" defTabSz="914400" rtl="0" eaLnBrk="0" fontAlgn="base" latinLnBrk="0" hangingPunct="0">
                <a:lnSpc>
                  <a:spcPct val="150000"/>
                </a:lnSpc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@Data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EmpQueryParam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page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1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当前页码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pageSize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10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每页记录数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员工姓名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gender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员工性别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begin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入职日期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@DateTimeFormat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(pattern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"yyyy-MM-dd"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LocalDate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入职日期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EEB8F645-C17C-E0D0-93A9-3D0F5EC225C7}"/>
                </a:ext>
              </a:extLst>
            </p:cNvPr>
            <p:cNvSpPr/>
            <p:nvPr/>
          </p:nvSpPr>
          <p:spPr>
            <a:xfrm>
              <a:off x="2297722" y="3660322"/>
              <a:ext cx="491780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EmpQueryParam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30CD942-6E86-2106-B594-28E83826F2C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50CA86E-EB4B-4D86-0E93-A9D60840D47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FE887FF-BAC9-ABCB-EEF2-F084E5236CD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ACCD91-C97C-E5BE-1254-72C4FA61512C}"/>
              </a:ext>
            </a:extLst>
          </p:cNvPr>
          <p:cNvSpPr txBox="1">
            <a:spLocks/>
          </p:cNvSpPr>
          <p:nvPr/>
        </p:nvSpPr>
        <p:spPr>
          <a:xfrm>
            <a:off x="576196" y="1890950"/>
            <a:ext cx="11060481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请求参数：</a:t>
            </a:r>
            <a:r>
              <a:rPr lang="en-US" altLang="zh-CN"/>
              <a:t>/emps?</a:t>
            </a:r>
            <a:r>
              <a:rPr lang="en-US" altLang="zh-CN">
                <a:solidFill>
                  <a:srgbClr val="3333FF"/>
                </a:solidFill>
              </a:rPr>
              <a:t>name</a:t>
            </a:r>
            <a:r>
              <a:rPr lang="en-US" altLang="zh-CN"/>
              <a:t>=</a:t>
            </a:r>
            <a:r>
              <a:rPr lang="zh-CN" altLang="en-US">
                <a:solidFill>
                  <a:srgbClr val="00B050"/>
                </a:solidFill>
              </a:rPr>
              <a:t>张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gender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begin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2007-09-01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end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2022-09-01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page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r>
              <a:rPr lang="en-US" altLang="zh-CN"/>
              <a:t>&amp;</a:t>
            </a:r>
            <a:r>
              <a:rPr lang="en-US" altLang="zh-CN">
                <a:solidFill>
                  <a:srgbClr val="3333FF"/>
                </a:solidFill>
              </a:rPr>
              <a:t>pageSize</a:t>
            </a:r>
            <a:r>
              <a:rPr lang="en-US" altLang="zh-CN"/>
              <a:t>=</a:t>
            </a:r>
            <a:r>
              <a:rPr lang="en-US" altLang="zh-CN">
                <a:solidFill>
                  <a:srgbClr val="00B050"/>
                </a:solidFill>
              </a:rPr>
              <a:t>10</a:t>
            </a:r>
            <a:endParaRPr lang="zh-CN" altLang="en-US">
              <a:solidFill>
                <a:srgbClr val="00B050"/>
              </a:solidFill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67B82542-539D-D143-D19D-D70B71F5EF1D}"/>
              </a:ext>
            </a:extLst>
          </p:cNvPr>
          <p:cNvGrpSpPr/>
          <p:nvPr/>
        </p:nvGrpSpPr>
        <p:grpSpPr>
          <a:xfrm>
            <a:off x="5581521" y="3276157"/>
            <a:ext cx="6099491" cy="2130801"/>
            <a:chOff x="2297722" y="3660322"/>
            <a:chExt cx="6720506" cy="2130927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470D548-C187-7C00-36B2-DDAB40048B18}"/>
                </a:ext>
              </a:extLst>
            </p:cNvPr>
            <p:cNvSpPr/>
            <p:nvPr/>
          </p:nvSpPr>
          <p:spPr>
            <a:xfrm>
              <a:off x="2297728" y="3660324"/>
              <a:ext cx="6720500" cy="2130925"/>
            </a:xfrm>
            <a:prstGeom prst="roundRect">
              <a:avLst>
                <a:gd name="adj" fmla="val 397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page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EmpQueryParam empQueryParam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log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.info(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"分页查询，参数：{}"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empQueryParam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empService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.page(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empQueryParam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success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pageResult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D92849EE-A52C-11D9-9ACD-8577967BDEDC}"/>
                </a:ext>
              </a:extLst>
            </p:cNvPr>
            <p:cNvSpPr/>
            <p:nvPr/>
          </p:nvSpPr>
          <p:spPr>
            <a:xfrm>
              <a:off x="2297722" y="3660322"/>
              <a:ext cx="672050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EmpController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1C7D03B-3F63-E94B-8475-B5EDA6C9513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AD19BBA-A268-E18E-4698-F4AEB36953B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EFD85E5-FDA1-EF48-D3B4-16FCEC9F701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D094BA98-0A83-4CE7-03E1-EC27C7C22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926C251-D236-7A16-BE4A-F2DF3665DCA3}"/>
              </a:ext>
            </a:extLst>
          </p:cNvPr>
          <p:cNvCxnSpPr/>
          <p:nvPr/>
        </p:nvCxnSpPr>
        <p:spPr>
          <a:xfrm>
            <a:off x="7360024" y="4177553"/>
            <a:ext cx="254597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6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23A2BE-0142-74F2-EBCD-697B2E3713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948110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queryString</a:t>
            </a:r>
            <a:r>
              <a:rPr lang="zh-CN" altLang="en-US" sz="1800"/>
              <a:t>查询参数接收方式  </a:t>
            </a:r>
            <a:r>
              <a:rPr lang="en-US" altLang="zh-CN" sz="1800"/>
              <a:t>/emps?name=xxx&amp;gender=xxx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如果参数较少，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controller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方法中定义一个一个形参接收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如果参数较多，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controller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方法中定义一个对象接收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 indent="0">
              <a:buNone/>
            </a:pP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81149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">
            <a:extLst>
              <a:ext uri="{FF2B5EF4-FFF2-40B4-BE49-F238E27FC236}">
                <a16:creationId xmlns:a16="http://schemas.microsoft.com/office/drawing/2014/main" id="{25EE149D-DABC-B96E-D890-92616F2B09EC}"/>
              </a:ext>
            </a:extLst>
          </p:cNvPr>
          <p:cNvGrpSpPr/>
          <p:nvPr/>
        </p:nvGrpSpPr>
        <p:grpSpPr>
          <a:xfrm>
            <a:off x="709196" y="926024"/>
            <a:ext cx="10956066" cy="1562311"/>
            <a:chOff x="2297721" y="3660322"/>
            <a:chExt cx="12071553" cy="1562403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AA4455F-1824-6445-4251-29186FDD004C}"/>
                </a:ext>
              </a:extLst>
            </p:cNvPr>
            <p:cNvSpPr/>
            <p:nvPr/>
          </p:nvSpPr>
          <p:spPr>
            <a:xfrm>
              <a:off x="2297727" y="3660324"/>
              <a:ext cx="12071547" cy="1562401"/>
            </a:xfrm>
            <a:prstGeom prst="roundRect">
              <a:avLst>
                <a:gd name="adj" fmla="val 473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="list"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resultType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="com.itheima.pojo.Emp"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e.*, d.name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as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dept</a:t>
              </a:r>
              <a:r>
                <a:rPr lang="en-US" altLang="zh-CN" sz="1200">
                  <a:solidFill>
                    <a:srgbClr val="080808"/>
                  </a:solidFill>
                </a:rPr>
                <a:t>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from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emp 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left join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dept d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e.dept_id = d.id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where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e.name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561FF"/>
                  </a:solidFill>
                  <a:effectLst/>
                </a:rPr>
                <a:t>like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</a:rPr>
                <a:t>concat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('%',#{name},'%')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e.gender = #{gender}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e.entry_date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between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#{begin}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and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#{end}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8CF1B38D-67BA-3B4C-A152-84E245F3E7BC}"/>
                </a:ext>
              </a:extLst>
            </p:cNvPr>
            <p:cNvSpPr/>
            <p:nvPr/>
          </p:nvSpPr>
          <p:spPr>
            <a:xfrm>
              <a:off x="2297721" y="3660322"/>
              <a:ext cx="1207154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EmpMapper.xml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C1E5B05-BA64-EDD0-0F7B-CED6A0F9ADB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E05380AA-3E6C-38CF-F618-FF44C98FF50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3FEC336-0788-58DA-9AAB-ABC2E1025F3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96" y="4706470"/>
            <a:ext cx="8112075" cy="1722161"/>
          </a:xfrm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pPr marL="171450" indent="-17145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select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*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from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emp e ...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where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e.name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like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?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</a:p>
          <a:p>
            <a:pPr marL="171450" indent="-17145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select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*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from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emp e ...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where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e.gender = ?</a:t>
            </a:r>
          </a:p>
          <a:p>
            <a:pPr marL="171450" indent="-17145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select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*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from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emp e ...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where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e.name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like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?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and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e.gender = ?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select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*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from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emp e ...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a typeface="Fira Code" panose="020B0809050000020004" pitchFamily="49" charset="0"/>
              </a:rPr>
              <a:t>where</a:t>
            </a:r>
            <a:r>
              <a:rPr lang="en-US" altLang="zh-CN" sz="1200">
                <a:solidFill>
                  <a:srgbClr val="00B05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e.gender = ? </a:t>
            </a:r>
            <a:r>
              <a:rPr lang="en-US" altLang="zh-CN" sz="1200">
                <a:solidFill>
                  <a:srgbClr val="3333FF"/>
                </a:solidFill>
                <a:ea typeface="Fira Code" panose="020B0809050000020004" pitchFamily="49" charset="0"/>
              </a:rPr>
              <a:t>and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entry_date </a:t>
            </a:r>
            <a:r>
              <a:rPr lang="en-US" altLang="zh-CN" sz="1200">
                <a:solidFill>
                  <a:srgbClr val="3333FF"/>
                </a:solidFill>
                <a:ea typeface="Fira Code" panose="020B0809050000020004" pitchFamily="49" charset="0"/>
              </a:rPr>
              <a:t>between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? </a:t>
            </a:r>
            <a:r>
              <a:rPr lang="en-US" altLang="zh-CN" sz="1200">
                <a:solidFill>
                  <a:srgbClr val="3333FF"/>
                </a:solidFill>
                <a:ea typeface="Fira Code" panose="020B0809050000020004" pitchFamily="49" charset="0"/>
              </a:rPr>
              <a:t>and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?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3508BA-D101-3E18-7EAA-1660BC3A4B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181"/>
          <a:stretch/>
        </p:blipFill>
        <p:spPr>
          <a:xfrm>
            <a:off x="709196" y="2725425"/>
            <a:ext cx="11060477" cy="928543"/>
          </a:xfrm>
          <a:prstGeom prst="roundRect">
            <a:avLst>
              <a:gd name="adj" fmla="val 5587"/>
            </a:avLst>
          </a:prstGeom>
          <a:ln w="6350">
            <a:solidFill>
              <a:schemeClr val="bg1">
                <a:lumMod val="85000"/>
              </a:schemeClr>
            </a:solidFill>
          </a:ln>
          <a:effectLst/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FB1E949-2565-593B-727B-0CCAE3B26C3F}"/>
              </a:ext>
            </a:extLst>
          </p:cNvPr>
          <p:cNvCxnSpPr>
            <a:cxnSpLocks/>
          </p:cNvCxnSpPr>
          <p:nvPr/>
        </p:nvCxnSpPr>
        <p:spPr>
          <a:xfrm>
            <a:off x="1145587" y="2115670"/>
            <a:ext cx="10178106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8191271-69FA-FBD1-1799-8C5B5E26DEF7}"/>
              </a:ext>
            </a:extLst>
          </p:cNvPr>
          <p:cNvSpPr txBox="1"/>
          <p:nvPr/>
        </p:nvSpPr>
        <p:spPr>
          <a:xfrm>
            <a:off x="10369192" y="2170764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条件写死了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8B7E3D7-0FEA-6194-9EF6-A658111EBDBB}"/>
              </a:ext>
            </a:extLst>
          </p:cNvPr>
          <p:cNvCxnSpPr>
            <a:cxnSpLocks/>
            <a:endCxn id="3" idx="3"/>
          </p:cNvCxnSpPr>
          <p:nvPr/>
        </p:nvCxnSpPr>
        <p:spPr>
          <a:xfrm rot="5400000">
            <a:off x="7821509" y="3115433"/>
            <a:ext cx="3451881" cy="1452355"/>
          </a:xfrm>
          <a:prstGeom prst="curvedConnector2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33A105D-461C-8585-3FBD-FA70D69A74A1}"/>
              </a:ext>
            </a:extLst>
          </p:cNvPr>
          <p:cNvSpPr txBox="1"/>
          <p:nvPr/>
        </p:nvSpPr>
        <p:spPr>
          <a:xfrm>
            <a:off x="9924301" y="4121695"/>
            <a:ext cx="2037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</a:rPr>
              <a:t>查询条件随着用户输入的条件变化而变化</a:t>
            </a:r>
          </a:p>
        </p:txBody>
      </p:sp>
    </p:spTree>
    <p:extLst>
      <p:ext uri="{BB962C8B-B14F-4D97-AF65-F5344CB8AC3E}">
        <p14:creationId xmlns:p14="http://schemas.microsoft.com/office/powerpoint/2010/main" val="328593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4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B5EE2-16F0-197F-B572-213835B5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6C71F-626B-AC48-A82B-8BDBE818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50008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随着用户的输入或外部条件的变化而变化的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语句，我们称为 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动态</a:t>
            </a:r>
            <a:r>
              <a:rPr lang="en-US" altLang="zh-CN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 sz="1600" b="1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&lt;if&gt;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：判断条件是否成立，如果条件为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true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，则拼接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&lt;where&gt;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：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根据查询条件，来生成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where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关键字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，并会自动去除条件前面多余的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and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或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or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2F3467F-5CDC-104B-4345-38501DF5C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394CD04C-DFAD-C98E-7CEF-22AA44FFC0E2}"/>
              </a:ext>
            </a:extLst>
          </p:cNvPr>
          <p:cNvGrpSpPr/>
          <p:nvPr/>
        </p:nvGrpSpPr>
        <p:grpSpPr>
          <a:xfrm>
            <a:off x="7908970" y="810814"/>
            <a:ext cx="3935466" cy="1200978"/>
            <a:chOff x="2297721" y="3660322"/>
            <a:chExt cx="4336152" cy="120104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5C46352-13B1-4770-20C9-65FEF8EA77CE}"/>
                </a:ext>
              </a:extLst>
            </p:cNvPr>
            <p:cNvSpPr/>
            <p:nvPr/>
          </p:nvSpPr>
          <p:spPr>
            <a:xfrm>
              <a:off x="2297728" y="3660325"/>
              <a:ext cx="4336145" cy="1201046"/>
            </a:xfrm>
            <a:prstGeom prst="roundRect">
              <a:avLst>
                <a:gd name="adj" fmla="val 66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test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="gender != null"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and e.gender = #{gender}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4A421302-A5E0-9FC0-EBB0-CC4EBC40B97D}"/>
                </a:ext>
              </a:extLst>
            </p:cNvPr>
            <p:cNvSpPr/>
            <p:nvPr/>
          </p:nvSpPr>
          <p:spPr>
            <a:xfrm>
              <a:off x="2297721" y="3660322"/>
              <a:ext cx="4336151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&lt;if&gt;</a:t>
              </a:r>
              <a:endPara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9DE48F7-1358-C796-7F60-B301821057C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7D8B2A6-88B7-F539-7FA1-F4D99B35027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93445AE-1889-13CD-DB34-BBF1352E459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2">
            <a:extLst>
              <a:ext uri="{FF2B5EF4-FFF2-40B4-BE49-F238E27FC236}">
                <a16:creationId xmlns:a16="http://schemas.microsoft.com/office/drawing/2014/main" id="{E3FDDE61-CBE4-2B8D-AFA1-1ED811731339}"/>
              </a:ext>
            </a:extLst>
          </p:cNvPr>
          <p:cNvGrpSpPr/>
          <p:nvPr/>
        </p:nvGrpSpPr>
        <p:grpSpPr>
          <a:xfrm>
            <a:off x="994999" y="2456329"/>
            <a:ext cx="8490208" cy="4313011"/>
            <a:chOff x="2297721" y="3660322"/>
            <a:chExt cx="9354632" cy="431326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FE09C36-5251-AB25-D05D-0565673FE126}"/>
                </a:ext>
              </a:extLst>
            </p:cNvPr>
            <p:cNvSpPr/>
            <p:nvPr/>
          </p:nvSpPr>
          <p:spPr>
            <a:xfrm>
              <a:off x="2297728" y="3660325"/>
              <a:ext cx="9354625" cy="4313263"/>
            </a:xfrm>
            <a:prstGeom prst="roundRect">
              <a:avLst>
                <a:gd name="adj" fmla="val 15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="list"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resultType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="com.itheima.pojo.Emp"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SELECT e.*, d.name AS dept</a:t>
              </a:r>
              <a:r>
                <a:rPr lang="en-US" altLang="zh-CN" sz="1200">
                  <a:solidFill>
                    <a:srgbClr val="080808"/>
                  </a:solidFill>
                </a:rPr>
                <a:t>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ame FROM emp e LEFT JOIN dept d ON e.dept_id = d.id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80808"/>
                  </a:solidFill>
                </a:rPr>
                <a:t>where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test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="name != null and name != ''"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e.name like concat('%',#{name},'%')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test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="gender != null"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and e.gender = #{gender}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4AD4"/>
                  </a:solidFill>
                  <a:effectLst/>
                </a:rPr>
                <a:t>test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="begin != null and end != null"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and e.entry_date between #{begin} and #{end}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if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order by e.update_time desc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9D54114D-B70F-B574-A9DB-7BABE8A1D4D9}"/>
                </a:ext>
              </a:extLst>
            </p:cNvPr>
            <p:cNvSpPr/>
            <p:nvPr/>
          </p:nvSpPr>
          <p:spPr>
            <a:xfrm>
              <a:off x="2297721" y="3660322"/>
              <a:ext cx="935462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动态查询员工信息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A12C75E-898D-B98E-DD19-DB2E12FCC04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637C15F-A5FE-4F99-1AE1-65075A03E83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85B382D-BE29-2B0D-21B1-7FC353026B0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DA37DC9-32B7-8910-27A3-E7F1CEA826EB}"/>
              </a:ext>
            </a:extLst>
          </p:cNvPr>
          <p:cNvSpPr/>
          <p:nvPr/>
        </p:nvSpPr>
        <p:spPr>
          <a:xfrm>
            <a:off x="1343218" y="3362420"/>
            <a:ext cx="853135" cy="289956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&lt;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rPr>
              <a:t>where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&gt;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5E729E0-6751-A4B8-7467-305CA928729C}"/>
              </a:ext>
            </a:extLst>
          </p:cNvPr>
          <p:cNvSpPr/>
          <p:nvPr/>
        </p:nvSpPr>
        <p:spPr>
          <a:xfrm>
            <a:off x="1400082" y="6096656"/>
            <a:ext cx="824703" cy="289956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&lt;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/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rPr>
              <a:t>where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&gt;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7577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B65E7-E10D-76D9-DFF4-F70725704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323078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 sz="1800">
                <a:latin typeface="Fira Code" panose="020B0809050000020004" pitchFamily="49" charset="0"/>
              </a:rPr>
              <a:t>中动态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800">
                <a:latin typeface="Fira Code" panose="020B0809050000020004" pitchFamily="49" charset="0"/>
              </a:rPr>
              <a:t>的使用场景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81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500" b="0">
                <a:latin typeface="Fira Code" panose="020B0809050000020004" pitchFamily="49" charset="0"/>
                <a:ea typeface="Fira Code" panose="020B0809050000020004" pitchFamily="49" charset="0"/>
              </a:rPr>
              <a:t>如果</a:t>
            </a:r>
            <a:r>
              <a:rPr lang="en-US" altLang="zh-CN" sz="1500" b="0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500" b="0">
                <a:latin typeface="Fira Code" panose="020B0809050000020004" pitchFamily="49" charset="0"/>
                <a:ea typeface="Fira Code" panose="020B0809050000020004" pitchFamily="49" charset="0"/>
              </a:rPr>
              <a:t>语句是不固定的</a:t>
            </a:r>
            <a:r>
              <a:rPr lang="en-US" altLang="zh-CN" sz="1500" b="0"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  <a:r>
              <a:rPr lang="zh-CN" altLang="en-US" sz="1500" b="0">
                <a:latin typeface="Fira Code" panose="020B0809050000020004" pitchFamily="49" charset="0"/>
                <a:ea typeface="Fira Code" panose="020B0809050000020004" pitchFamily="49" charset="0"/>
              </a:rPr>
              <a:t>是随着用户的输入或外部条件的变化而变化的</a:t>
            </a:r>
            <a:endParaRPr lang="en-US" altLang="zh-CN" sz="1500" b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 sz="1800">
                <a:latin typeface="Fira Code" panose="020B0809050000020004" pitchFamily="49" charset="0"/>
                <a:ea typeface="Fira Code" panose="020B0809050000020004" pitchFamily="49" charset="0"/>
              </a:rPr>
              <a:t>中动态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800">
                <a:latin typeface="Fira Code" panose="020B0809050000020004" pitchFamily="49" charset="0"/>
                <a:ea typeface="Fira Code" panose="020B0809050000020004" pitchFamily="49" charset="0"/>
              </a:rPr>
              <a:t>的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&lt;if&gt;</a:t>
            </a:r>
            <a:r>
              <a:rPr lang="zh-CN" altLang="en-US" sz="1800">
                <a:latin typeface="Fira Code" panose="020B0809050000020004" pitchFamily="49" charset="0"/>
                <a:ea typeface="Fira Code" panose="020B0809050000020004" pitchFamily="49" charset="0"/>
              </a:rPr>
              <a:t>及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&lt;where&gt;</a:t>
            </a:r>
            <a:r>
              <a:rPr lang="zh-CN" altLang="en-US" sz="1800">
                <a:latin typeface="Fira Code" panose="020B0809050000020004" pitchFamily="49" charset="0"/>
                <a:ea typeface="Fira Code" panose="020B0809050000020004" pitchFamily="49" charset="0"/>
              </a:rPr>
              <a:t>标签的作用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681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5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&lt;if&gt;</a:t>
            </a:r>
            <a:r>
              <a:rPr lang="zh-CN" altLang="en-US" sz="15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标签：</a:t>
            </a:r>
            <a:r>
              <a:rPr lang="zh-CN" altLang="en-US" sz="1500" b="0">
                <a:latin typeface="Fira Code" panose="020B0809050000020004" pitchFamily="49" charset="0"/>
                <a:ea typeface="Fira Code" panose="020B0809050000020004" pitchFamily="49" charset="0"/>
              </a:rPr>
              <a:t>条件判断，如果条件成立，则拼接对应的</a:t>
            </a:r>
            <a:r>
              <a:rPr lang="en-US" altLang="zh-CN" sz="1500" b="0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 sz="1500" b="0">
                <a:latin typeface="Fira Code" panose="020B0809050000020004" pitchFamily="49" charset="0"/>
                <a:ea typeface="Fira Code" panose="020B0809050000020004" pitchFamily="49" charset="0"/>
              </a:rPr>
              <a:t>片段</a:t>
            </a:r>
            <a:endParaRPr lang="en-US" altLang="zh-CN" sz="1500" b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81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5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&lt;where&gt;</a:t>
            </a:r>
            <a:r>
              <a:rPr lang="zh-CN" altLang="en-US" sz="15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</a:t>
            </a:r>
            <a:r>
              <a:rPr lang="zh-CN" altLang="en-US" sz="1500">
                <a:latin typeface="Fira Code" panose="020B0809050000020004" pitchFamily="49" charset="0"/>
                <a:ea typeface="Fira Code" panose="020B0809050000020004" pitchFamily="49" charset="0"/>
              </a:rPr>
              <a:t>根据查询条件，来生成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</a:rPr>
              <a:t>where</a:t>
            </a:r>
            <a:r>
              <a:rPr lang="zh-CN" altLang="en-US" sz="1500">
                <a:latin typeface="Fira Code" panose="020B0809050000020004" pitchFamily="49" charset="0"/>
                <a:ea typeface="Fira Code" panose="020B0809050000020004" pitchFamily="49" charset="0"/>
              </a:rPr>
              <a:t>关键字，并会自动去除条件前面多余的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</a:rPr>
              <a:t>and</a:t>
            </a:r>
            <a:r>
              <a:rPr lang="zh-CN" altLang="en-US" sz="1500">
                <a:latin typeface="Fira Code" panose="020B0809050000020004" pitchFamily="49" charset="0"/>
                <a:ea typeface="Fira Code" panose="020B0809050000020004" pitchFamily="49" charset="0"/>
              </a:rPr>
              <a:t>或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</a:rPr>
              <a:t>or</a:t>
            </a:r>
            <a:r>
              <a:rPr lang="zh-CN" altLang="en-US" sz="1500">
                <a:latin typeface="Fira Code" panose="020B0809050000020004" pitchFamily="49" charset="0"/>
                <a:ea typeface="Fira Code" panose="020B0809050000020004" pitchFamily="49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3AB3B-8544-028E-3422-3178566C3F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035"/>
          <a:stretch/>
        </p:blipFill>
        <p:spPr>
          <a:xfrm>
            <a:off x="5361081" y="139190"/>
            <a:ext cx="6640280" cy="14874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599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4875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78283;#878283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78283;#878283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78283;#878283;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13822</TotalTime>
  <Words>5496</Words>
  <Application>Microsoft Office PowerPoint</Application>
  <PresentationFormat>宽屏</PresentationFormat>
  <Paragraphs>571</Paragraphs>
  <Slides>65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65</vt:i4>
      </vt:variant>
    </vt:vector>
  </HeadingPairs>
  <TitlesOfParts>
    <vt:vector size="86" baseType="lpstr">
      <vt:lpstr>Alibaba PuHuiTi B</vt:lpstr>
      <vt:lpstr>-apple-system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Calibri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需求</vt:lpstr>
      <vt:lpstr>PowerPoint 演示文稿</vt:lpstr>
      <vt:lpstr>PowerPoint 演示文稿</vt:lpstr>
      <vt:lpstr>概述</vt:lpstr>
      <vt:lpstr>PowerPoint 演示文稿</vt:lpstr>
      <vt:lpstr>一对多</vt:lpstr>
      <vt:lpstr>一对多</vt:lpstr>
      <vt:lpstr>一对多</vt:lpstr>
      <vt:lpstr>PowerPoint 演示文稿</vt:lpstr>
      <vt:lpstr>多表问题分析</vt:lpstr>
      <vt:lpstr>外键约束</vt:lpstr>
      <vt:lpstr>外键约束</vt:lpstr>
      <vt:lpstr>PowerPoint 演示文稿</vt:lpstr>
      <vt:lpstr>PowerPoint 演示文稿</vt:lpstr>
      <vt:lpstr>一对一</vt:lpstr>
      <vt:lpstr>PowerPoint 演示文稿</vt:lpstr>
      <vt:lpstr>PowerPoint 演示文稿</vt:lpstr>
      <vt:lpstr>多对多 </vt:lpstr>
      <vt:lpstr>PowerPoint 演示文稿</vt:lpstr>
      <vt:lpstr>PowerPoint 演示文稿</vt:lpstr>
      <vt:lpstr>根据页面原型及需求文档分析并设计表结构</vt:lpstr>
      <vt:lpstr>PowerPoint 演示文稿</vt:lpstr>
      <vt:lpstr>PowerPoint 演示文稿</vt:lpstr>
      <vt:lpstr>多表查询</vt:lpstr>
      <vt:lpstr>多表查询</vt:lpstr>
      <vt:lpstr>PowerPoint 演示文稿</vt:lpstr>
      <vt:lpstr>内连接</vt:lpstr>
      <vt:lpstr>PowerPoint 演示文稿</vt:lpstr>
      <vt:lpstr>外连接</vt:lpstr>
      <vt:lpstr>PowerPoint 演示文稿</vt:lpstr>
      <vt:lpstr>子查询</vt:lpstr>
      <vt:lpstr>PowerPoint 演示文稿</vt:lpstr>
      <vt:lpstr>根据需求，完成多表查询的SQL语句编写</vt:lpstr>
      <vt:lpstr>PowerPoint 演示文稿</vt:lpstr>
      <vt:lpstr>需求</vt:lpstr>
      <vt:lpstr>PowerPoint 演示文稿</vt:lpstr>
      <vt:lpstr>需求</vt:lpstr>
      <vt:lpstr>准备工作</vt:lpstr>
      <vt:lpstr>PowerPoint 演示文稿</vt:lpstr>
      <vt:lpstr>PowerPoint 演示文稿</vt:lpstr>
      <vt:lpstr>分页查询-分析</vt:lpstr>
      <vt:lpstr>分页查询-分析</vt:lpstr>
      <vt:lpstr>分页查询-分析</vt:lpstr>
      <vt:lpstr>PowerPoint 演示文稿</vt:lpstr>
      <vt:lpstr>分页查询-原始方式</vt:lpstr>
      <vt:lpstr>分页查询-原始方式</vt:lpstr>
      <vt:lpstr>分页查询-原始方式</vt:lpstr>
      <vt:lpstr>PowerPoint 演示文稿</vt:lpstr>
      <vt:lpstr>PageHelper</vt:lpstr>
      <vt:lpstr>PageHelper</vt:lpstr>
      <vt:lpstr>PageHelper</vt:lpstr>
      <vt:lpstr>PowerPoint 演示文稿</vt:lpstr>
      <vt:lpstr>PowerPoint 演示文稿</vt:lpstr>
      <vt:lpstr>条件分页查询-分析</vt:lpstr>
      <vt:lpstr>条件分页查询-思路</vt:lpstr>
      <vt:lpstr>条件分页查询</vt:lpstr>
      <vt:lpstr>PowerPoint 演示文稿</vt:lpstr>
      <vt:lpstr>程序优化</vt:lpstr>
      <vt:lpstr>请求参数接收优化-方案</vt:lpstr>
      <vt:lpstr>PowerPoint 演示文稿</vt:lpstr>
      <vt:lpstr>程序优化</vt:lpstr>
      <vt:lpstr>动态SQL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982</cp:revision>
  <cp:lastPrinted>2022-05-29T16:00:00Z</cp:lastPrinted>
  <dcterms:created xsi:type="dcterms:W3CDTF">2022-05-29T16:00:00Z</dcterms:created>
  <dcterms:modified xsi:type="dcterms:W3CDTF">2024-11-06T09:57:51Z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