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59"/>
  </p:notesMasterIdLst>
  <p:handoutMasterIdLst>
    <p:handoutMasterId r:id="rId60"/>
  </p:handoutMasterIdLst>
  <p:sldIdLst>
    <p:sldId id="280" r:id="rId6"/>
    <p:sldId id="440" r:id="rId7"/>
    <p:sldId id="505" r:id="rId8"/>
    <p:sldId id="508" r:id="rId9"/>
    <p:sldId id="507" r:id="rId10"/>
    <p:sldId id="506" r:id="rId11"/>
    <p:sldId id="510" r:id="rId12"/>
    <p:sldId id="511" r:id="rId13"/>
    <p:sldId id="521" r:id="rId14"/>
    <p:sldId id="512" r:id="rId15"/>
    <p:sldId id="513" r:id="rId16"/>
    <p:sldId id="522" r:id="rId17"/>
    <p:sldId id="514" r:id="rId18"/>
    <p:sldId id="515" r:id="rId19"/>
    <p:sldId id="516" r:id="rId20"/>
    <p:sldId id="517" r:id="rId21"/>
    <p:sldId id="518" r:id="rId22"/>
    <p:sldId id="519" r:id="rId23"/>
    <p:sldId id="520" r:id="rId24"/>
    <p:sldId id="539" r:id="rId25"/>
    <p:sldId id="523" r:id="rId26"/>
    <p:sldId id="524" r:id="rId27"/>
    <p:sldId id="525" r:id="rId28"/>
    <p:sldId id="526" r:id="rId29"/>
    <p:sldId id="527" r:id="rId30"/>
    <p:sldId id="528" r:id="rId31"/>
    <p:sldId id="541" r:id="rId32"/>
    <p:sldId id="529" r:id="rId33"/>
    <p:sldId id="544" r:id="rId34"/>
    <p:sldId id="543" r:id="rId35"/>
    <p:sldId id="530" r:id="rId36"/>
    <p:sldId id="531" r:id="rId37"/>
    <p:sldId id="532" r:id="rId38"/>
    <p:sldId id="545" r:id="rId39"/>
    <p:sldId id="533" r:id="rId40"/>
    <p:sldId id="535" r:id="rId41"/>
    <p:sldId id="536" r:id="rId42"/>
    <p:sldId id="546" r:id="rId43"/>
    <p:sldId id="537" r:id="rId44"/>
    <p:sldId id="538" r:id="rId45"/>
    <p:sldId id="561" r:id="rId46"/>
    <p:sldId id="547" r:id="rId47"/>
    <p:sldId id="548" r:id="rId48"/>
    <p:sldId id="549" r:id="rId49"/>
    <p:sldId id="550" r:id="rId50"/>
    <p:sldId id="551" r:id="rId51"/>
    <p:sldId id="552" r:id="rId52"/>
    <p:sldId id="553" r:id="rId53"/>
    <p:sldId id="554" r:id="rId54"/>
    <p:sldId id="555" r:id="rId55"/>
    <p:sldId id="562" r:id="rId56"/>
    <p:sldId id="557" r:id="rId57"/>
    <p:sldId id="288" r:id="rId58"/>
  </p:sldIdLst>
  <p:sldSz cx="12192000" cy="6858000"/>
  <p:notesSz cx="6858000" cy="9144000"/>
  <p:custDataLst>
    <p:tags r:id="rId6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B3"/>
    <a:srgbClr val="8037B7"/>
    <a:srgbClr val="9933FF"/>
    <a:srgbClr val="00B050"/>
    <a:srgbClr val="FF0000"/>
    <a:srgbClr val="067D17"/>
    <a:srgbClr val="3333FF"/>
    <a:srgbClr val="3561FF"/>
    <a:srgbClr val="BBE7D3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65" autoAdjust="0"/>
  </p:normalViewPr>
  <p:slideViewPr>
    <p:cSldViewPr snapToGrid="0" showGuides="1">
      <p:cViewPr>
        <p:scale>
          <a:sx n="75" d="100"/>
          <a:sy n="75" d="100"/>
        </p:scale>
        <p:origin x="413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5.xml"/><Relationship Id="rId61" Type="http://schemas.openxmlformats.org/officeDocument/2006/relationships/tags" Target="tags/tag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2024/11/15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2024/11/15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14.png"/><Relationship Id="rId7" Type="http://schemas.openxmlformats.org/officeDocument/2006/relationships/image" Target="../media/image35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1" y="3586894"/>
            <a:ext cx="4619812" cy="563562"/>
          </a:xfrm>
        </p:spPr>
        <p:txBody>
          <a:bodyPr/>
          <a:lstStyle/>
          <a:p>
            <a:r>
              <a:rPr lang="en-US" altLang="zh-CN"/>
              <a:t>Tlias</a:t>
            </a:r>
            <a:r>
              <a:rPr lang="zh-CN" altLang="en-US"/>
              <a:t>系统 </a:t>
            </a:r>
            <a:r>
              <a:rPr lang="en-US" altLang="zh-CN"/>
              <a:t>- </a:t>
            </a:r>
            <a:r>
              <a:rPr lang="zh-CN" altLang="en-US"/>
              <a:t>员工管理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</a:t>
            </a:r>
          </a:p>
        </p:txBody>
      </p:sp>
      <p:sp>
        <p:nvSpPr>
          <p:cNvPr id="3" name="!!文本占位符 17">
            <a:extLst>
              <a:ext uri="{FF2B5EF4-FFF2-40B4-BE49-F238E27FC236}">
                <a16:creationId xmlns:a16="http://schemas.microsoft.com/office/drawing/2014/main" id="{D6C8A0D7-4AEA-7BDE-DBDB-82166262FA79}"/>
              </a:ext>
            </a:extLst>
          </p:cNvPr>
          <p:cNvSpPr txBox="1">
            <a:spLocks/>
          </p:cNvSpPr>
          <p:nvPr/>
        </p:nvSpPr>
        <p:spPr>
          <a:xfrm>
            <a:off x="9932893" y="3319826"/>
            <a:ext cx="1900517" cy="16286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新增员工</a:t>
            </a:r>
            <a:endParaRPr lang="en-US" altLang="zh-CN">
              <a:latin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  <a:ea typeface="Fira Code" panose="020B0809050000020004" pitchFamily="49" charset="0"/>
              </a:rPr>
              <a:t>事务管理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文件上传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858847-559C-AEED-D85C-2CA3FAB42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50" y="1383773"/>
            <a:ext cx="8875058" cy="50375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3C5AC93-ADB3-12D2-99DF-DDDE2A6A85E9}"/>
              </a:ext>
            </a:extLst>
          </p:cNvPr>
          <p:cNvSpPr/>
          <p:nvPr/>
        </p:nvSpPr>
        <p:spPr>
          <a:xfrm>
            <a:off x="699250" y="1383773"/>
            <a:ext cx="8875058" cy="5037516"/>
          </a:xfrm>
          <a:prstGeom prst="rect">
            <a:avLst/>
          </a:prstGeom>
          <a:solidFill>
            <a:srgbClr val="262626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51AF9A4-9163-5588-C04D-DF6B1F581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986" y="2285081"/>
            <a:ext cx="4227585" cy="3393379"/>
          </a:xfrm>
          <a:prstGeom prst="roundRect">
            <a:avLst>
              <a:gd name="adj" fmla="val 2126"/>
            </a:avLst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033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文本占位符 17">
            <a:extLst>
              <a:ext uri="{FF2B5EF4-FFF2-40B4-BE49-F238E27FC236}">
                <a16:creationId xmlns:a16="http://schemas.microsoft.com/office/drawing/2014/main" id="{5B7EEEE4-79EE-E070-4693-FB2B57716C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/>
              <a:t>新增员工</a:t>
            </a:r>
            <a:endParaRPr lang="en-US" altLang="zh-CN" sz="2000"/>
          </a:p>
          <a:p>
            <a:r>
              <a:rPr lang="zh-CN" altLang="en-US" sz="2000"/>
              <a:t>事务管理</a:t>
            </a:r>
            <a:endParaRPr lang="en-US" altLang="zh-CN" sz="2000"/>
          </a:p>
          <a:p>
            <a:r>
              <a:rPr lang="zh-CN" altLang="en-US" sz="2000"/>
              <a:t>文件上传</a:t>
            </a: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177826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DE28B3-9AE1-30A9-BDBD-0A52C7C73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新增员工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FC6449-31EA-9A18-FE2B-5F21532729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51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56F82-FAB3-4AC5-D8ED-0D2F0476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7EAAB19-B0BF-B91F-0C26-8EB50F626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91" y="1287901"/>
            <a:ext cx="6020097" cy="4816077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E30DB60-A742-4487-6611-59A8BE108C18}"/>
              </a:ext>
            </a:extLst>
          </p:cNvPr>
          <p:cNvSpPr/>
          <p:nvPr/>
        </p:nvSpPr>
        <p:spPr>
          <a:xfrm>
            <a:off x="856191" y="1636418"/>
            <a:ext cx="6020097" cy="2898648"/>
          </a:xfrm>
          <a:prstGeom prst="rect">
            <a:avLst/>
          </a:prstGeom>
          <a:solidFill>
            <a:srgbClr val="067D1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C660BF7-7AE9-441C-DCC1-B3CB5E58F8B5}"/>
              </a:ext>
            </a:extLst>
          </p:cNvPr>
          <p:cNvSpPr/>
          <p:nvPr/>
        </p:nvSpPr>
        <p:spPr>
          <a:xfrm>
            <a:off x="856191" y="4562498"/>
            <a:ext cx="6020097" cy="93268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FCCFDD-6FD5-A9E4-2FD4-8AEDE0FF68ED}"/>
              </a:ext>
            </a:extLst>
          </p:cNvPr>
          <p:cNvSpPr txBox="1"/>
          <p:nvPr/>
        </p:nvSpPr>
        <p:spPr>
          <a:xfrm>
            <a:off x="6876288" y="2820453"/>
            <a:ext cx="2962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员工基本信息（表：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zh-CN" altLang="en-US" sz="16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2DE509-FC8E-2A9B-4158-E76C40211386}"/>
              </a:ext>
            </a:extLst>
          </p:cNvPr>
          <p:cNvSpPr txBox="1"/>
          <p:nvPr/>
        </p:nvSpPr>
        <p:spPr>
          <a:xfrm>
            <a:off x="6876288" y="4859565"/>
            <a:ext cx="3575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员工工作经历信息（表：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emp_expr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zh-CN" altLang="en-US" sz="16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6FA7400-8826-D0AB-4645-435299E14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023" y="1746521"/>
            <a:ext cx="7564762" cy="49645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078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56F82-FAB3-4AC5-D8ED-0D2F0476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新增员工</a:t>
            </a:r>
            <a:r>
              <a:rPr lang="en-US" altLang="zh-CN"/>
              <a:t>-</a:t>
            </a:r>
            <a:r>
              <a:rPr lang="zh-CN" altLang="en-US"/>
              <a:t>思路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4C530F-65D6-BB0F-8F7E-9D50A5D4A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713" y="3865456"/>
            <a:ext cx="932333" cy="1302786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55086A16-DFC6-8623-43F4-CC1B89EFE526}"/>
              </a:ext>
            </a:extLst>
          </p:cNvPr>
          <p:cNvGrpSpPr/>
          <p:nvPr/>
        </p:nvGrpSpPr>
        <p:grpSpPr>
          <a:xfrm>
            <a:off x="804320" y="4201304"/>
            <a:ext cx="780070" cy="786974"/>
            <a:chOff x="1288572" y="3466291"/>
            <a:chExt cx="1076475" cy="1086002"/>
          </a:xfrm>
        </p:grpSpPr>
        <p:pic>
          <p:nvPicPr>
            <p:cNvPr id="5" name="图片 0">
              <a:extLst>
                <a:ext uri="{FF2B5EF4-FFF2-40B4-BE49-F238E27FC236}">
                  <a16:creationId xmlns:a16="http://schemas.microsoft.com/office/drawing/2014/main" id="{B36900B7-4BAA-0EBC-2736-95DD68398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6" name="图片 1">
              <a:extLst>
                <a:ext uri="{FF2B5EF4-FFF2-40B4-BE49-F238E27FC236}">
                  <a16:creationId xmlns:a16="http://schemas.microsoft.com/office/drawing/2014/main" id="{99DB12D2-4714-C499-A6A3-8D84DD07E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7" name="箭头: 右 6">
            <a:extLst>
              <a:ext uri="{FF2B5EF4-FFF2-40B4-BE49-F238E27FC236}">
                <a16:creationId xmlns:a16="http://schemas.microsoft.com/office/drawing/2014/main" id="{5927F0A9-4B9C-58C7-6473-971FB2E85CCC}"/>
              </a:ext>
            </a:extLst>
          </p:cNvPr>
          <p:cNvSpPr/>
          <p:nvPr/>
        </p:nvSpPr>
        <p:spPr>
          <a:xfrm>
            <a:off x="1751947" y="4399029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D5B22F0F-C935-036B-6026-AC94135B72CB}"/>
              </a:ext>
            </a:extLst>
          </p:cNvPr>
          <p:cNvSpPr/>
          <p:nvPr/>
        </p:nvSpPr>
        <p:spPr>
          <a:xfrm>
            <a:off x="4468253" y="4399029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CB8F6930-118F-4019-31B8-CA93C43C6919}"/>
              </a:ext>
            </a:extLst>
          </p:cNvPr>
          <p:cNvSpPr/>
          <p:nvPr/>
        </p:nvSpPr>
        <p:spPr>
          <a:xfrm>
            <a:off x="7265240" y="4399029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B8460B46-C507-A0DB-ADD8-7EE02F7A74ED}"/>
              </a:ext>
            </a:extLst>
          </p:cNvPr>
          <p:cNvSpPr/>
          <p:nvPr/>
        </p:nvSpPr>
        <p:spPr>
          <a:xfrm>
            <a:off x="9981546" y="4399029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E3B9535-0727-3DFE-81A9-7D936B14EC61}"/>
              </a:ext>
            </a:extLst>
          </p:cNvPr>
          <p:cNvGrpSpPr/>
          <p:nvPr/>
        </p:nvGrpSpPr>
        <p:grpSpPr>
          <a:xfrm>
            <a:off x="2382114" y="3363846"/>
            <a:ext cx="1900517" cy="2611635"/>
            <a:chOff x="2303931" y="2912210"/>
            <a:chExt cx="1900517" cy="261163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BD2060D-8266-CC26-5181-72C5AD186567}"/>
                </a:ext>
              </a:extLst>
            </p:cNvPr>
            <p:cNvSpPr/>
            <p:nvPr/>
          </p:nvSpPr>
          <p:spPr>
            <a:xfrm>
              <a:off x="2303931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流程图: 文档 12">
              <a:extLst>
                <a:ext uri="{FF2B5EF4-FFF2-40B4-BE49-F238E27FC236}">
                  <a16:creationId xmlns:a16="http://schemas.microsoft.com/office/drawing/2014/main" id="{7E361A8E-C236-9661-9B97-3AD0C07414E5}"/>
                </a:ext>
              </a:extLst>
            </p:cNvPr>
            <p:cNvSpPr/>
            <p:nvPr/>
          </p:nvSpPr>
          <p:spPr>
            <a:xfrm>
              <a:off x="2303931" y="331671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4" name="!!流程图: 文档 1">
            <a:extLst>
              <a:ext uri="{FF2B5EF4-FFF2-40B4-BE49-F238E27FC236}">
                <a16:creationId xmlns:a16="http://schemas.microsoft.com/office/drawing/2014/main" id="{1CA66E88-8B2C-8740-84E4-971402B07AD6}"/>
              </a:ext>
            </a:extLst>
          </p:cNvPr>
          <p:cNvSpPr/>
          <p:nvPr/>
        </p:nvSpPr>
        <p:spPr>
          <a:xfrm>
            <a:off x="2382113" y="3764538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员工信息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zh-CN" altLang="en-US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方法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BAB3917-018D-5EC4-899B-C2DF1DB0CE7B}"/>
              </a:ext>
            </a:extLst>
          </p:cNvPr>
          <p:cNvGrpSpPr/>
          <p:nvPr/>
        </p:nvGrpSpPr>
        <p:grpSpPr>
          <a:xfrm>
            <a:off x="5179101" y="3363846"/>
            <a:ext cx="1900517" cy="2615624"/>
            <a:chOff x="5100918" y="2912210"/>
            <a:chExt cx="1900517" cy="2615624"/>
          </a:xfrm>
        </p:grpSpPr>
        <p:sp>
          <p:nvSpPr>
            <p:cNvPr id="16" name="流程图: 文档 15">
              <a:extLst>
                <a:ext uri="{FF2B5EF4-FFF2-40B4-BE49-F238E27FC236}">
                  <a16:creationId xmlns:a16="http://schemas.microsoft.com/office/drawing/2014/main" id="{ED2F65DB-1071-124D-7115-36520996AB11}"/>
                </a:ext>
              </a:extLst>
            </p:cNvPr>
            <p:cNvSpPr/>
            <p:nvPr/>
          </p:nvSpPr>
          <p:spPr>
            <a:xfrm>
              <a:off x="5100918" y="3320701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1C27A61-8704-8E2D-582F-B5DE6FD406DD}"/>
                </a:ext>
              </a:extLst>
            </p:cNvPr>
            <p:cNvSpPr/>
            <p:nvPr/>
          </p:nvSpPr>
          <p:spPr>
            <a:xfrm>
              <a:off x="5100918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8" name="流程图: 文档 17">
            <a:extLst>
              <a:ext uri="{FF2B5EF4-FFF2-40B4-BE49-F238E27FC236}">
                <a16:creationId xmlns:a16="http://schemas.microsoft.com/office/drawing/2014/main" id="{ADEC1544-EFAE-6A03-C886-805C1E95E305}"/>
              </a:ext>
            </a:extLst>
          </p:cNvPr>
          <p:cNvSpPr/>
          <p:nvPr/>
        </p:nvSpPr>
        <p:spPr>
          <a:xfrm>
            <a:off x="5179101" y="3767257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保存员工基本信息</a:t>
            </a:r>
            <a:endParaRPr lang="en-US" altLang="zh-CN" sz="1100">
              <a:solidFill>
                <a:srgbClr val="FF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批量保存员工的工作经历信息</a:t>
            </a:r>
            <a:endParaRPr lang="en-US" altLang="zh-CN" sz="1100">
              <a:solidFill>
                <a:srgbClr val="FF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2F651F2-0D83-99D5-6CC6-2089131087AE}"/>
              </a:ext>
            </a:extLst>
          </p:cNvPr>
          <p:cNvGrpSpPr/>
          <p:nvPr/>
        </p:nvGrpSpPr>
        <p:grpSpPr>
          <a:xfrm>
            <a:off x="7976087" y="3363846"/>
            <a:ext cx="1900518" cy="2607825"/>
            <a:chOff x="7897904" y="2912210"/>
            <a:chExt cx="1900518" cy="2607825"/>
          </a:xfrm>
        </p:grpSpPr>
        <p:sp>
          <p:nvSpPr>
            <p:cNvPr id="20" name="流程图: 文档 19">
              <a:extLst>
                <a:ext uri="{FF2B5EF4-FFF2-40B4-BE49-F238E27FC236}">
                  <a16:creationId xmlns:a16="http://schemas.microsoft.com/office/drawing/2014/main" id="{54C5893C-8F06-6D12-8CFF-C5F1BEE143EF}"/>
                </a:ext>
              </a:extLst>
            </p:cNvPr>
            <p:cNvSpPr/>
            <p:nvPr/>
          </p:nvSpPr>
          <p:spPr>
            <a:xfrm>
              <a:off x="7897904" y="331290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02F82F3-EC27-7405-8DBC-47B0BE1F7396}"/>
                </a:ext>
              </a:extLst>
            </p:cNvPr>
            <p:cNvSpPr/>
            <p:nvPr/>
          </p:nvSpPr>
          <p:spPr>
            <a:xfrm>
              <a:off x="7897905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2" name="!!流程图: 文档 22">
            <a:extLst>
              <a:ext uri="{FF2B5EF4-FFF2-40B4-BE49-F238E27FC236}">
                <a16:creationId xmlns:a16="http://schemas.microsoft.com/office/drawing/2014/main" id="{31490123-4967-A735-74D1-B1F397580EA9}"/>
              </a:ext>
            </a:extLst>
          </p:cNvPr>
          <p:cNvSpPr/>
          <p:nvPr/>
        </p:nvSpPr>
        <p:spPr>
          <a:xfrm>
            <a:off x="7976086" y="3764537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insert into emp(...) values (...);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insert into emp_expr(...) values(...),(...); </a:t>
            </a:r>
            <a:endParaRPr lang="zh-CN" altLang="en-US" sz="10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906A2FD-691C-02CB-7553-289D50429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7117" y="1260911"/>
            <a:ext cx="2338883" cy="1871106"/>
          </a:xfrm>
          <a:prstGeom prst="roundRect">
            <a:avLst>
              <a:gd name="adj" fmla="val 2237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D00EA9C1-8323-5A54-267F-F763300AD4EE}"/>
              </a:ext>
            </a:extLst>
          </p:cNvPr>
          <p:cNvSpPr txBox="1"/>
          <p:nvPr/>
        </p:nvSpPr>
        <p:spPr>
          <a:xfrm>
            <a:off x="6096001" y="1617110"/>
            <a:ext cx="17782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员工基本信息（表：</a:t>
            </a:r>
            <a:r>
              <a:rPr lang="en-US" altLang="zh-CN" sz="11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r>
              <a:rPr lang="zh-CN" altLang="en-US" sz="11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zh-CN" altLang="en-US" sz="11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26280D-E8B0-04F5-B124-89BDE5639626}"/>
              </a:ext>
            </a:extLst>
          </p:cNvPr>
          <p:cNvSpPr txBox="1"/>
          <p:nvPr/>
        </p:nvSpPr>
        <p:spPr>
          <a:xfrm>
            <a:off x="6096000" y="2493420"/>
            <a:ext cx="24070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员工工作经历信息（表：</a:t>
            </a:r>
            <a:r>
              <a:rPr lang="en-US" altLang="zh-CN" sz="11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emp_expr</a:t>
            </a:r>
            <a:r>
              <a:rPr lang="zh-CN" altLang="en-US" sz="11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zh-CN" altLang="en-US" sz="11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69BF5EFD-E86A-8499-4863-6F066A7D81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134" y="0"/>
            <a:ext cx="3706695" cy="32810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6" name="文本占位符 4">
            <a:extLst>
              <a:ext uri="{FF2B5EF4-FFF2-40B4-BE49-F238E27FC236}">
                <a16:creationId xmlns:a16="http://schemas.microsoft.com/office/drawing/2014/main" id="{58233F5D-4540-E701-94FB-4FA5A45428E2}"/>
              </a:ext>
            </a:extLst>
          </p:cNvPr>
          <p:cNvSpPr txBox="1">
            <a:spLocks/>
          </p:cNvSpPr>
          <p:nvPr/>
        </p:nvSpPr>
        <p:spPr>
          <a:xfrm>
            <a:off x="804320" y="5991252"/>
            <a:ext cx="10698800" cy="7869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</a:rPr>
              <a:t>保存员工的基本信息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</a:rPr>
              <a:t>批量保存员工的工作经历信息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486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4" grpId="0" animBg="1"/>
      <p:bldP spid="18" grpId="0" animBg="1"/>
      <p:bldP spid="22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56F82-FAB3-4AC5-D8ED-0D2F0476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新增员工</a:t>
            </a:r>
            <a:r>
              <a:rPr lang="en-US" altLang="zh-CN"/>
              <a:t>-</a:t>
            </a:r>
            <a:r>
              <a:rPr lang="zh-CN" altLang="en-US"/>
              <a:t>保存员工基本信息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6593B9F-5C53-6F1D-EF92-70548692CA76}"/>
              </a:ext>
            </a:extLst>
          </p:cNvPr>
          <p:cNvGrpSpPr/>
          <p:nvPr/>
        </p:nvGrpSpPr>
        <p:grpSpPr>
          <a:xfrm>
            <a:off x="662441" y="1090412"/>
            <a:ext cx="4971025" cy="2209048"/>
            <a:chOff x="2297721" y="3660322"/>
            <a:chExt cx="5477147" cy="2209179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64DEB0F-4E0A-F773-86A1-05E98C3D4349}"/>
                </a:ext>
              </a:extLst>
            </p:cNvPr>
            <p:cNvSpPr/>
            <p:nvPr/>
          </p:nvSpPr>
          <p:spPr>
            <a:xfrm>
              <a:off x="2297728" y="3660324"/>
              <a:ext cx="5477140" cy="2209177"/>
            </a:xfrm>
            <a:prstGeom prst="roundRect">
              <a:avLst>
                <a:gd name="adj" fmla="val 345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9E880D"/>
                  </a:solidFill>
                  <a:effectLst/>
                </a:rPr>
                <a:t>@PostMapping</a:t>
              </a:r>
              <a:br>
                <a:rPr lang="en-US" altLang="zh-CN" sz="1200">
                  <a:solidFill>
                    <a:srgbClr val="9E880D"/>
                  </a:solidFill>
                  <a:effectLst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Result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save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9E880D"/>
                  </a:solidFill>
                  <a:effectLst/>
                </a:rPr>
                <a:t>@RequestBody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Emp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emp){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.info(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请求参数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emp: {}"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, emp);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871094"/>
                  </a:solidFill>
                  <a:effectLst/>
                </a:rPr>
                <a:t>empService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.save(emp);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Result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</a:rPr>
                <a:t>success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5" name="矩形: 圆顶角 4">
              <a:extLst>
                <a:ext uri="{FF2B5EF4-FFF2-40B4-BE49-F238E27FC236}">
                  <a16:creationId xmlns:a16="http://schemas.microsoft.com/office/drawing/2014/main" id="{2DF732AD-A75E-758F-8105-306473E56BB5}"/>
                </a:ext>
              </a:extLst>
            </p:cNvPr>
            <p:cNvSpPr/>
            <p:nvPr/>
          </p:nvSpPr>
          <p:spPr>
            <a:xfrm>
              <a:off x="2297721" y="3660322"/>
              <a:ext cx="547714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EmpController</a:t>
              </a: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88566DBD-3C87-5AFE-8C78-8DF28840169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0855D98-5E55-DEDB-29ED-598352A80B9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9C7186D-7852-E2D7-426C-89292E1F5F0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2">
            <a:extLst>
              <a:ext uri="{FF2B5EF4-FFF2-40B4-BE49-F238E27FC236}">
                <a16:creationId xmlns:a16="http://schemas.microsoft.com/office/drawing/2014/main" id="{C3328818-310F-6018-066F-4916AFFD7345}"/>
              </a:ext>
            </a:extLst>
          </p:cNvPr>
          <p:cNvGrpSpPr/>
          <p:nvPr/>
        </p:nvGrpSpPr>
        <p:grpSpPr>
          <a:xfrm>
            <a:off x="6445619" y="1090412"/>
            <a:ext cx="5060997" cy="2209046"/>
            <a:chOff x="2297721" y="3660322"/>
            <a:chExt cx="5576279" cy="2209177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059F1053-F0A0-79EF-7167-D31D1EBDC34E}"/>
                </a:ext>
              </a:extLst>
            </p:cNvPr>
            <p:cNvSpPr/>
            <p:nvPr/>
          </p:nvSpPr>
          <p:spPr>
            <a:xfrm>
              <a:off x="2297728" y="3660323"/>
              <a:ext cx="5576272" cy="2209176"/>
            </a:xfrm>
            <a:prstGeom prst="roundRect">
              <a:avLst>
                <a:gd name="adj" fmla="val 345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void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save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Emp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emp) {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//1.</a:t>
              </a:r>
              <a:r>
                <a:rPr lang="zh-CN" altLang="en-US" sz="12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补全基础属性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12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emp.setCreateTime(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LocalDateTime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</a:rPr>
                <a:t>now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());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emp.setUpdateTime(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LocalDateTime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</a:rPr>
                <a:t>now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());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//2.</a:t>
              </a:r>
              <a:r>
                <a:rPr lang="zh-CN" altLang="en-US" sz="12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保存员工基本信息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12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lang="en-US" altLang="zh-CN" sz="1200">
                  <a:solidFill>
                    <a:srgbClr val="871094"/>
                  </a:solidFill>
                  <a:effectLst/>
                </a:rPr>
                <a:t>empMapper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.insert(emp);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11" name="矩形: 圆顶角 10">
              <a:extLst>
                <a:ext uri="{FF2B5EF4-FFF2-40B4-BE49-F238E27FC236}">
                  <a16:creationId xmlns:a16="http://schemas.microsoft.com/office/drawing/2014/main" id="{CEE2B083-D888-ED01-CA19-5685C5058B3B}"/>
                </a:ext>
              </a:extLst>
            </p:cNvPr>
            <p:cNvSpPr/>
            <p:nvPr/>
          </p:nvSpPr>
          <p:spPr>
            <a:xfrm>
              <a:off x="2297721" y="3660322"/>
              <a:ext cx="557627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EmpServiceImpl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9D15E8D-D6BE-B7A5-7E4A-E5E495CEE1E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1057108-0B19-0680-54FD-3DC2530510E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0E62DC7-3BD5-763A-2C1B-21C143A4A3E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2">
            <a:extLst>
              <a:ext uri="{FF2B5EF4-FFF2-40B4-BE49-F238E27FC236}">
                <a16:creationId xmlns:a16="http://schemas.microsoft.com/office/drawing/2014/main" id="{CCE1F6FB-FDD8-3BA8-4425-6B2246D1598E}"/>
              </a:ext>
            </a:extLst>
          </p:cNvPr>
          <p:cNvGrpSpPr/>
          <p:nvPr/>
        </p:nvGrpSpPr>
        <p:grpSpPr>
          <a:xfrm>
            <a:off x="662441" y="4114027"/>
            <a:ext cx="11072359" cy="1580631"/>
            <a:chOff x="2297721" y="3660322"/>
            <a:chExt cx="12199685" cy="1580724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8BA6DCA1-0ABF-0A64-3F4F-B6F123E8428E}"/>
                </a:ext>
              </a:extLst>
            </p:cNvPr>
            <p:cNvSpPr/>
            <p:nvPr/>
          </p:nvSpPr>
          <p:spPr>
            <a:xfrm>
              <a:off x="2297728" y="3660325"/>
              <a:ext cx="12199678" cy="1580721"/>
            </a:xfrm>
            <a:prstGeom prst="roundRect">
              <a:avLst>
                <a:gd name="adj" fmla="val 545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9E880D"/>
                  </a:solidFill>
                  <a:effectLst/>
                </a:rPr>
                <a:t>@Insert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200">
                  <a:solidFill>
                    <a:srgbClr val="0000FF"/>
                  </a:solidFill>
                  <a:effectLst/>
                </a:rPr>
                <a:t>insert into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emp(</a:t>
              </a:r>
              <a:r>
                <a:rPr lang="en-US" altLang="zh-CN" sz="1200">
                  <a:solidFill>
                    <a:srgbClr val="7030A0"/>
                  </a:solidFill>
                  <a:effectLst/>
                </a:rPr>
                <a:t>username, name, gender, phone, job, salary, image, entry_date, dept_id, create_time, update_time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)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200">
                  <a:solidFill>
                    <a:srgbClr val="0000FF"/>
                  </a:solidFill>
                  <a:effectLst/>
                </a:rPr>
                <a:t>values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(#{username},#{name},#{gender},#{phone},#{job},#{salary},#{image},#{entryDate},#{deptId},#{createTime},#{updateTime})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</a:rPr>
                <a:t>void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insert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Emp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emp);</a:t>
              </a:r>
            </a:p>
            <a:p>
              <a:pPr>
                <a:lnSpc>
                  <a:spcPct val="150000"/>
                </a:lnSpc>
              </a:pPr>
              <a:endParaRPr lang="en-US" altLang="zh-CN" sz="900">
                <a:solidFill>
                  <a:srgbClr val="080808"/>
                </a:solidFill>
                <a:effectLst/>
              </a:endParaRPr>
            </a:p>
          </p:txBody>
        </p:sp>
        <p:sp>
          <p:nvSpPr>
            <p:cNvPr id="17" name="矩形: 圆顶角 16">
              <a:extLst>
                <a:ext uri="{FF2B5EF4-FFF2-40B4-BE49-F238E27FC236}">
                  <a16:creationId xmlns:a16="http://schemas.microsoft.com/office/drawing/2014/main" id="{4C8872B4-6143-90B4-D863-B4072C6CDB21}"/>
                </a:ext>
              </a:extLst>
            </p:cNvPr>
            <p:cNvSpPr/>
            <p:nvPr/>
          </p:nvSpPr>
          <p:spPr>
            <a:xfrm>
              <a:off x="2297721" y="3660322"/>
              <a:ext cx="1219967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</a:t>
              </a: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D7D30EFF-F90C-EFC8-140E-D51A9573B41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5B4893C1-58DC-DF27-52E9-B4BB68E40C0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CA85CA97-1C6A-C63A-82BF-E4F33B2DAB3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154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56F82-FAB3-4AC5-D8ED-0D2F0476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新增员工</a:t>
            </a:r>
            <a:r>
              <a:rPr lang="en-US" altLang="zh-CN"/>
              <a:t>-</a:t>
            </a:r>
            <a:r>
              <a:rPr lang="zh-CN" altLang="en-US"/>
              <a:t>批量保存工作经历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44D1C2-3954-2525-00EA-A2EB1E54C8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5393"/>
          <a:stretch/>
        </p:blipFill>
        <p:spPr>
          <a:xfrm>
            <a:off x="698056" y="1066255"/>
            <a:ext cx="5111073" cy="613144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" name="!!图片 6">
            <a:extLst>
              <a:ext uri="{FF2B5EF4-FFF2-40B4-BE49-F238E27FC236}">
                <a16:creationId xmlns:a16="http://schemas.microsoft.com/office/drawing/2014/main" id="{7E604E6D-E10C-5CC2-F679-7A06E42DB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56" y="3995016"/>
            <a:ext cx="5111072" cy="1170692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6DE39AD-895B-3610-BA0C-3AB5E6EC70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782"/>
          <a:stretch/>
        </p:blipFill>
        <p:spPr>
          <a:xfrm>
            <a:off x="698057" y="2402777"/>
            <a:ext cx="5111072" cy="868861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9E3E4CD-EDDE-A8C4-EC55-A7C2B5CAA19B}"/>
              </a:ext>
            </a:extLst>
          </p:cNvPr>
          <p:cNvSpPr txBox="1"/>
          <p:nvPr/>
        </p:nvSpPr>
        <p:spPr>
          <a:xfrm>
            <a:off x="5818092" y="1265656"/>
            <a:ext cx="4518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insert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into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7030A0"/>
                </a:solidFill>
                <a:ea typeface="Fira Code" panose="020B0809050000020004" pitchFamily="49" charset="0"/>
              </a:rPr>
              <a:t>emp_expr(...)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values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(?,?,?,?,?)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0E4529-1B21-1792-045B-2A600F9985B7}"/>
              </a:ext>
            </a:extLst>
          </p:cNvPr>
          <p:cNvSpPr txBox="1"/>
          <p:nvPr/>
        </p:nvSpPr>
        <p:spPr>
          <a:xfrm>
            <a:off x="5818228" y="2706402"/>
            <a:ext cx="5867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insert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into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7030A0"/>
                </a:solidFill>
                <a:ea typeface="Fira Code" panose="020B0809050000020004" pitchFamily="49" charset="0"/>
              </a:rPr>
              <a:t>emp_expr(...)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values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(?,?,?,?,?),(?,?,?,?,?)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152264-0CAC-F4F9-EE61-162D65B04C9A}"/>
              </a:ext>
            </a:extLst>
          </p:cNvPr>
          <p:cNvSpPr txBox="1"/>
          <p:nvPr/>
        </p:nvSpPr>
        <p:spPr>
          <a:xfrm>
            <a:off x="5809127" y="4522970"/>
            <a:ext cx="7039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insert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into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7030A0"/>
                </a:solidFill>
                <a:ea typeface="Fira Code" panose="020B0809050000020004" pitchFamily="49" charset="0"/>
              </a:rPr>
              <a:t>emp_expr(...)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values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(?,?,?,?,?),(?,?,?,?,?),(?,?,?,?,?)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DA49CF-893C-32F4-1B0F-F740C257A527}"/>
              </a:ext>
            </a:extLst>
          </p:cNvPr>
          <p:cNvSpPr txBox="1"/>
          <p:nvPr/>
        </p:nvSpPr>
        <p:spPr>
          <a:xfrm>
            <a:off x="3612177" y="4020064"/>
            <a:ext cx="1798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List&lt;EmpExpr&gt;</a:t>
            </a:r>
            <a:endParaRPr lang="zh-CN" altLang="en-US" sz="1600" b="1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9F6E71-53BE-79D3-38F0-F4A91F3376CF}"/>
              </a:ext>
            </a:extLst>
          </p:cNvPr>
          <p:cNvSpPr txBox="1"/>
          <p:nvPr/>
        </p:nvSpPr>
        <p:spPr>
          <a:xfrm>
            <a:off x="7758884" y="4210378"/>
            <a:ext cx="2321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动态</a:t>
            </a:r>
            <a:r>
              <a:rPr lang="en-US" altLang="zh-CN" sz="16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</a:t>
            </a:r>
            <a:r>
              <a:rPr lang="zh-CN" altLang="en-US" sz="1600" b="1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6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&lt;foreach&gt;</a:t>
            </a:r>
            <a:endParaRPr lang="zh-CN" altLang="en-US" sz="1600" b="1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221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56F82-FAB3-4AC5-D8ED-0D2F0476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新增员工</a:t>
            </a:r>
            <a:r>
              <a:rPr lang="en-US" altLang="zh-CN"/>
              <a:t>-</a:t>
            </a:r>
            <a:r>
              <a:rPr lang="zh-CN" altLang="en-US"/>
              <a:t>批量保存工作经历</a:t>
            </a:r>
          </a:p>
        </p:txBody>
      </p:sp>
      <p:pic>
        <p:nvPicPr>
          <p:cNvPr id="4" name="!!图片 6">
            <a:extLst>
              <a:ext uri="{FF2B5EF4-FFF2-40B4-BE49-F238E27FC236}">
                <a16:creationId xmlns:a16="http://schemas.microsoft.com/office/drawing/2014/main" id="{7E604E6D-E10C-5CC2-F679-7A06E42DB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32" y="1081486"/>
            <a:ext cx="5111072" cy="1170692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2152264-0CAC-F4F9-EE61-162D65B04C9A}"/>
              </a:ext>
            </a:extLst>
          </p:cNvPr>
          <p:cNvSpPr txBox="1"/>
          <p:nvPr/>
        </p:nvSpPr>
        <p:spPr>
          <a:xfrm>
            <a:off x="5764303" y="1609440"/>
            <a:ext cx="6427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insert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into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7030A0"/>
                </a:solidFill>
                <a:ea typeface="Fira Code" panose="020B0809050000020004" pitchFamily="49" charset="0"/>
              </a:rPr>
              <a:t>emp_expr(...)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values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(?,?,?,?,?),(?,?,?,?,?),(?,?,?,?,?)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DA49CF-893C-32F4-1B0F-F740C257A527}"/>
              </a:ext>
            </a:extLst>
          </p:cNvPr>
          <p:cNvSpPr txBox="1"/>
          <p:nvPr/>
        </p:nvSpPr>
        <p:spPr>
          <a:xfrm>
            <a:off x="3567353" y="1106534"/>
            <a:ext cx="1798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List&lt;EmpExpr&gt;</a:t>
            </a:r>
            <a:endParaRPr lang="zh-CN" altLang="en-US" sz="1600" b="1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9F6E71-53BE-79D3-38F0-F4A91F3376CF}"/>
              </a:ext>
            </a:extLst>
          </p:cNvPr>
          <p:cNvSpPr txBox="1"/>
          <p:nvPr/>
        </p:nvSpPr>
        <p:spPr>
          <a:xfrm>
            <a:off x="7714060" y="1296848"/>
            <a:ext cx="2321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动态</a:t>
            </a:r>
            <a:r>
              <a:rPr lang="en-US" altLang="zh-CN" sz="16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</a:t>
            </a:r>
            <a:r>
              <a:rPr lang="zh-CN" altLang="en-US" sz="1600" b="1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6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&lt;foreach&gt;</a:t>
            </a:r>
            <a:endParaRPr lang="zh-CN" altLang="en-US" sz="1600" b="1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1" name="组合 2">
            <a:extLst>
              <a:ext uri="{FF2B5EF4-FFF2-40B4-BE49-F238E27FC236}">
                <a16:creationId xmlns:a16="http://schemas.microsoft.com/office/drawing/2014/main" id="{8DC2ACBE-A56F-3EA5-41A8-A6FA6F8EBF1F}"/>
              </a:ext>
            </a:extLst>
          </p:cNvPr>
          <p:cNvGrpSpPr/>
          <p:nvPr/>
        </p:nvGrpSpPr>
        <p:grpSpPr>
          <a:xfrm>
            <a:off x="653232" y="2783908"/>
            <a:ext cx="7060823" cy="645092"/>
            <a:chOff x="2297721" y="3660322"/>
            <a:chExt cx="7779715" cy="645130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5C0AE7B-42DD-60B9-7FCA-6B0AB51863BF}"/>
                </a:ext>
              </a:extLst>
            </p:cNvPr>
            <p:cNvSpPr/>
            <p:nvPr/>
          </p:nvSpPr>
          <p:spPr>
            <a:xfrm>
              <a:off x="2297727" y="3660325"/>
              <a:ext cx="7779709" cy="645127"/>
            </a:xfrm>
            <a:prstGeom prst="roundRect">
              <a:avLst>
                <a:gd name="adj" fmla="val 981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void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insertBatch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EmpExpr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&gt; exprList);</a:t>
              </a: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2B520F0B-6412-B07E-713F-3A23CB64C0DB}"/>
                </a:ext>
              </a:extLst>
            </p:cNvPr>
            <p:cNvSpPr/>
            <p:nvPr/>
          </p:nvSpPr>
          <p:spPr>
            <a:xfrm>
              <a:off x="2297721" y="3660322"/>
              <a:ext cx="7779709" cy="270190"/>
            </a:xfrm>
            <a:prstGeom prst="round2SameRect">
              <a:avLst>
                <a:gd name="adj1" fmla="val 2015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EmpExprMapper.java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139A32F-35DA-E141-CAC0-D714F12828F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6B8B73E-633A-A696-8C3E-DE9789C8431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0B4C9280-4748-A402-A316-22D6D73667F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2">
            <a:extLst>
              <a:ext uri="{FF2B5EF4-FFF2-40B4-BE49-F238E27FC236}">
                <a16:creationId xmlns:a16="http://schemas.microsoft.com/office/drawing/2014/main" id="{435714A2-7907-A0A8-A34A-97DD80684BD6}"/>
              </a:ext>
            </a:extLst>
          </p:cNvPr>
          <p:cNvGrpSpPr/>
          <p:nvPr/>
        </p:nvGrpSpPr>
        <p:grpSpPr>
          <a:xfrm>
            <a:off x="662198" y="4075318"/>
            <a:ext cx="7051860" cy="1877607"/>
            <a:chOff x="2297723" y="3660322"/>
            <a:chExt cx="7769839" cy="1877718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78BFC02D-F074-C225-08EE-2EAE17A37588}"/>
                </a:ext>
              </a:extLst>
            </p:cNvPr>
            <p:cNvSpPr/>
            <p:nvPr/>
          </p:nvSpPr>
          <p:spPr>
            <a:xfrm>
              <a:off x="2297727" y="3660324"/>
              <a:ext cx="7769835" cy="1877716"/>
            </a:xfrm>
            <a:prstGeom prst="roundRect">
              <a:avLst>
                <a:gd name="adj" fmla="val 364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insert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id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="insertBatch"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insert into emp_expr (emp_id, begin, end, company, job) values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foreach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collection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="exprList"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item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="expr"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separator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=","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(#{expr.empId}, #{expr.begin}, #{expr.end}, #{expr.company}, #{expr.job})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&lt;/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foreach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&lt;/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insert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9EE84859-B9F6-C671-FCA5-975B2893A968}"/>
                </a:ext>
              </a:extLst>
            </p:cNvPr>
            <p:cNvSpPr/>
            <p:nvPr/>
          </p:nvSpPr>
          <p:spPr>
            <a:xfrm>
              <a:off x="2297723" y="3660322"/>
              <a:ext cx="7769835" cy="270190"/>
            </a:xfrm>
            <a:prstGeom prst="round2SameRect">
              <a:avLst>
                <a:gd name="adj1" fmla="val 2015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EmpExprMapper.xml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E8A1E12A-98AD-B772-6639-4BECA919B53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6F25241-882E-47BB-E9EE-D99E32FC417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AC5CDB65-814B-263F-FAFD-0E623CA67CB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占位符 4">
            <a:extLst>
              <a:ext uri="{FF2B5EF4-FFF2-40B4-BE49-F238E27FC236}">
                <a16:creationId xmlns:a16="http://schemas.microsoft.com/office/drawing/2014/main" id="{63BE1B89-913B-5425-ADAD-4A5F90109CA0}"/>
              </a:ext>
            </a:extLst>
          </p:cNvPr>
          <p:cNvSpPr txBox="1">
            <a:spLocks/>
          </p:cNvSpPr>
          <p:nvPr/>
        </p:nvSpPr>
        <p:spPr>
          <a:xfrm>
            <a:off x="8077200" y="3429000"/>
            <a:ext cx="3962400" cy="25239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&lt;foreach&gt;</a:t>
            </a:r>
            <a:r>
              <a:rPr lang="zh-CN" altLang="en-US">
                <a:latin typeface="Fira Code" panose="020B0809050000020004" pitchFamily="49" charset="0"/>
              </a:rPr>
              <a:t>属性说明：</a:t>
            </a: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collection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集合名称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item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集合遍历出来的元素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separator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每一次遍历使用的分隔符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open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遍历开始前拼接的片段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close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遍历结束后拼接的片段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6201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ED5A5B-A5DA-6070-5810-681778918E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170081" cy="453706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在插入数据之后，如何获取到主键值 ？</a:t>
            </a:r>
            <a:endParaRPr lang="en-US" altLang="zh-CN" sz="1800"/>
          </a:p>
          <a:p>
            <a:pPr marL="1314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400" b="0">
                <a:solidFill>
                  <a:srgbClr val="9E880D"/>
                </a:solidFill>
                <a:effectLst/>
                <a:latin typeface="Fira Code" panose="020B0809050000020004" pitchFamily="49" charset="0"/>
              </a:rPr>
              <a:t>  @Options</a:t>
            </a:r>
            <a:r>
              <a:rPr lang="en-US" altLang="zh-CN" sz="1400" b="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(useGeneratedKeys = </a:t>
            </a:r>
            <a:r>
              <a:rPr lang="en-US" altLang="zh-CN" sz="1400" b="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true</a:t>
            </a:r>
            <a:r>
              <a:rPr lang="en-US" altLang="zh-CN" sz="1400" b="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keyProperty = </a:t>
            </a:r>
            <a:r>
              <a:rPr lang="en-US" altLang="zh-CN" sz="1400" b="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"id"</a:t>
            </a:r>
            <a:r>
              <a:rPr lang="en-US" altLang="zh-CN" sz="1400" b="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  <a:endParaRPr lang="en-US" altLang="zh-CN" sz="1400">
              <a:solidFill>
                <a:srgbClr val="080808"/>
              </a:solidFill>
              <a:latin typeface="Fira Code" panose="020B0809050000020004" pitchFamily="49" charset="0"/>
            </a:endParaRP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US" altLang="zh-CN" sz="1800"/>
              <a:t>2. &lt;foreach&gt; </a:t>
            </a:r>
            <a:r>
              <a:rPr lang="zh-CN" altLang="en-US" sz="1800"/>
              <a:t>动态</a:t>
            </a:r>
            <a:r>
              <a:rPr lang="en-US" altLang="zh-CN" sz="1800"/>
              <a:t>SQL</a:t>
            </a:r>
            <a:r>
              <a:rPr lang="zh-CN" altLang="en-US" sz="1800"/>
              <a:t>标签的作用</a:t>
            </a:r>
            <a:r>
              <a:rPr lang="en-US" altLang="zh-CN" sz="1800"/>
              <a:t>? </a:t>
            </a:r>
            <a:r>
              <a:rPr lang="zh-CN" altLang="en-US" sz="1800"/>
              <a:t>其中属性的含义</a:t>
            </a:r>
            <a:r>
              <a:rPr lang="en-US" altLang="zh-CN" sz="1800"/>
              <a:t>?</a:t>
            </a:r>
          </a:p>
          <a:p>
            <a:pPr marL="61200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 sz="1600"/>
              <a:t>作用：遍历集合</a:t>
            </a:r>
            <a:r>
              <a:rPr lang="en-US" altLang="zh-CN" sz="1600"/>
              <a:t>/</a:t>
            </a:r>
            <a:r>
              <a:rPr lang="zh-CN" altLang="en-US" sz="1600"/>
              <a:t>数组</a:t>
            </a:r>
            <a:endParaRPr lang="en-US" altLang="zh-CN" sz="1600"/>
          </a:p>
          <a:p>
            <a:pPr marL="61200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 sz="1600"/>
              <a:t>属性：</a:t>
            </a:r>
            <a:endParaRPr lang="en-US" altLang="zh-CN" sz="1600"/>
          </a:p>
          <a:p>
            <a:pPr marL="900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collection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集合名称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00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item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集合遍历出来的元素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00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separator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每一次遍历使用的分隔符</a:t>
            </a:r>
            <a:r>
              <a:rPr lang="en-US" altLang="zh-CN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可选</a:t>
            </a:r>
            <a:r>
              <a:rPr lang="en-US" altLang="zh-CN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00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open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遍历开始前拼接的片段</a:t>
            </a:r>
            <a:r>
              <a:rPr lang="en-US" altLang="zh-CN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可选</a:t>
            </a:r>
            <a:r>
              <a:rPr lang="en-US" altLang="zh-CN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00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close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遍历结束后拼接的片段</a:t>
            </a:r>
            <a:r>
              <a:rPr lang="en-US" altLang="zh-CN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可选</a:t>
            </a:r>
            <a:r>
              <a:rPr lang="en-US" altLang="zh-CN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223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391236-F5E5-2025-23FA-DA1096A645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保存员工的基本信息成功了，而保存工作经历失败了，是否</a:t>
            </a:r>
            <a:r>
              <a:rPr lang="en-US" altLang="zh-CN" sz="1800"/>
              <a:t>OK</a:t>
            </a:r>
            <a:r>
              <a:rPr lang="zh-CN" altLang="en-US" sz="1800"/>
              <a:t>？</a:t>
            </a:r>
            <a:endParaRPr lang="en-US" altLang="zh-CN" sz="18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不可以 </a:t>
            </a:r>
            <a:r>
              <a:rPr lang="en-US" altLang="zh-CN" sz="1600" b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 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因为这属于一个业务操作，如果保存员工信息成功了，保存工作经历信息失败了，就会造成数据库数据的不完整、不一致。</a:t>
            </a:r>
            <a:endParaRPr lang="en-US" altLang="zh-CN" sz="1600" b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3D8EE7-2D28-28F4-B2CC-004B52910A02}"/>
              </a:ext>
            </a:extLst>
          </p:cNvPr>
          <p:cNvSpPr txBox="1"/>
          <p:nvPr/>
        </p:nvSpPr>
        <p:spPr>
          <a:xfrm>
            <a:off x="5026712" y="2337623"/>
            <a:ext cx="65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emp</a:t>
            </a:r>
            <a:endParaRPr lang="zh-CN" altLang="en-US" sz="1600" dirty="0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B3AF41-F495-4DF7-47E8-CE297631375D}"/>
              </a:ext>
            </a:extLst>
          </p:cNvPr>
          <p:cNvSpPr txBox="1"/>
          <p:nvPr/>
        </p:nvSpPr>
        <p:spPr>
          <a:xfrm>
            <a:off x="7556552" y="2337623"/>
            <a:ext cx="1209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emp_expr</a:t>
            </a:r>
            <a:endParaRPr lang="zh-CN" altLang="en-US" sz="1600" dirty="0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66510A-7610-CBE7-79F1-B2880D9BF276}"/>
              </a:ext>
            </a:extLst>
          </p:cNvPr>
          <p:cNvSpPr txBox="1"/>
          <p:nvPr/>
        </p:nvSpPr>
        <p:spPr>
          <a:xfrm>
            <a:off x="6530392" y="5069923"/>
            <a:ext cx="2052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事务管理</a:t>
            </a:r>
            <a:endParaRPr lang="zh-CN" altLang="en-US" sz="36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670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7EEEE4-79EE-E070-4693-FB2B57716C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/>
              <a:t>新增员工</a:t>
            </a:r>
            <a:endParaRPr lang="en-US" altLang="zh-CN" sz="2000"/>
          </a:p>
          <a:p>
            <a:r>
              <a:rPr lang="zh-CN" altLang="en-US" sz="2000">
                <a:solidFill>
                  <a:srgbClr val="C00000"/>
                </a:solidFill>
              </a:rPr>
              <a:t>事务管理</a:t>
            </a:r>
            <a:endParaRPr lang="en-US" altLang="zh-CN" sz="2000">
              <a:solidFill>
                <a:srgbClr val="C00000"/>
              </a:solidFill>
            </a:endParaRPr>
          </a:p>
          <a:p>
            <a:r>
              <a:rPr lang="zh-CN" altLang="en-US" sz="2000"/>
              <a:t>文件上传</a:t>
            </a: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2785117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C91C7F-642B-1163-4C82-0DE578646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介绍</a:t>
            </a:r>
            <a:r>
              <a:rPr lang="en-US" altLang="zh-CN"/>
              <a:t>&amp;</a:t>
            </a:r>
            <a:r>
              <a:rPr lang="zh-CN" altLang="en-US"/>
              <a:t>操作</a:t>
            </a:r>
            <a:endParaRPr lang="en-US" altLang="zh-CN"/>
          </a:p>
          <a:p>
            <a:r>
              <a:rPr lang="en-US" altLang="zh-CN"/>
              <a:t>Spring</a:t>
            </a:r>
            <a:r>
              <a:rPr lang="zh-CN" altLang="en-US"/>
              <a:t>事务管理</a:t>
            </a:r>
            <a:endParaRPr lang="en-US" altLang="zh-CN"/>
          </a:p>
          <a:p>
            <a:r>
              <a:rPr lang="zh-CN" altLang="en-US"/>
              <a:t>四大特性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B65B8A-3CB6-34CA-989D-6A63DA54BC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事务管理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5A5CC1-0FFF-F258-8015-9B62F5F3D1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35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CEE012-4D6F-3E7E-700F-C05008323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54630"/>
          </a:xfrm>
        </p:spPr>
        <p:txBody>
          <a:bodyPr/>
          <a:lstStyle/>
          <a:p>
            <a:r>
              <a:rPr lang="zh-CN" altLang="en-US" b="1"/>
              <a:t>概念：</a:t>
            </a:r>
            <a:r>
              <a:rPr lang="zh-CN" altLang="en-US" sz="1600" b="1">
                <a:solidFill>
                  <a:srgbClr val="C00000"/>
                </a:solidFill>
              </a:rPr>
              <a:t>事务</a:t>
            </a:r>
            <a:r>
              <a:rPr lang="en-US" altLang="zh-CN" sz="1600"/>
              <a:t> </a:t>
            </a:r>
            <a:r>
              <a:rPr lang="zh-CN" altLang="en-US" sz="1600"/>
              <a:t>是一组操作的集合，它是一个不可分割的工作单位。事务会把所有的操作作为一个整体一起向系统提交或撤销操作请求，即这些操作 </a:t>
            </a:r>
            <a:r>
              <a:rPr lang="zh-CN" altLang="en-US" sz="1600">
                <a:solidFill>
                  <a:srgbClr val="C00000"/>
                </a:solidFill>
              </a:rPr>
              <a:t>要么同时成功，要么同时失败</a:t>
            </a:r>
            <a:r>
              <a:rPr lang="zh-CN" altLang="en-US" sz="1600"/>
              <a:t>。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8456F82-FAB3-4AC5-D8ED-0D2F0476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介绍</a:t>
            </a:r>
          </a:p>
        </p:txBody>
      </p:sp>
      <p:grpSp>
        <p:nvGrpSpPr>
          <p:cNvPr id="4" name="!!组合 2">
            <a:extLst>
              <a:ext uri="{FF2B5EF4-FFF2-40B4-BE49-F238E27FC236}">
                <a16:creationId xmlns:a16="http://schemas.microsoft.com/office/drawing/2014/main" id="{3EDA041C-FABD-6474-C5EB-42FED84AB2E7}"/>
              </a:ext>
            </a:extLst>
          </p:cNvPr>
          <p:cNvGrpSpPr/>
          <p:nvPr/>
        </p:nvGrpSpPr>
        <p:grpSpPr>
          <a:xfrm>
            <a:off x="749715" y="2062936"/>
            <a:ext cx="10692570" cy="1909627"/>
            <a:chOff x="2297722" y="3660322"/>
            <a:chExt cx="11781224" cy="190974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D4FD42F-1934-DCF1-8F7C-50F385619755}"/>
                </a:ext>
              </a:extLst>
            </p:cNvPr>
            <p:cNvSpPr/>
            <p:nvPr/>
          </p:nvSpPr>
          <p:spPr>
            <a:xfrm>
              <a:off x="2297730" y="3660324"/>
              <a:ext cx="11781216" cy="1909738"/>
            </a:xfrm>
            <a:prstGeom prst="roundRect">
              <a:avLst>
                <a:gd name="adj" fmla="val 364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-- 1.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保存员工基本信息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insert into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values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39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'Tom'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'123456'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汤姆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'13300001111'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4000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'1.jpg'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'2023-11-01'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now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(),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now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());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-- 2.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保存员工的工作经历信息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insert into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emp_expr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emp_id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begin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end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company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job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values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39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'2019-01-01'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'2020-01-01'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百度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开发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),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                                                      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39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'2020-01-10'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'2022-02-01'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阿里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架构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7007C291-FF11-BF12-3124-C470E15E4BF1}"/>
                </a:ext>
              </a:extLst>
            </p:cNvPr>
            <p:cNvSpPr/>
            <p:nvPr/>
          </p:nvSpPr>
          <p:spPr>
            <a:xfrm>
              <a:off x="2297722" y="3660322"/>
              <a:ext cx="11781216" cy="270190"/>
            </a:xfrm>
            <a:prstGeom prst="round2SameRect">
              <a:avLst>
                <a:gd name="adj1" fmla="val 2015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添加员工操作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D6F5647-D1E3-A213-BCC9-CCEBF7AC044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FB6F834-1B2E-7EA1-D9A1-25EAAED8981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AA09BC7-0F27-082E-D9D2-957DC655267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BFEBAC7-325C-C817-0FC2-3F0E0FCE33AB}"/>
              </a:ext>
            </a:extLst>
          </p:cNvPr>
          <p:cNvGrpSpPr/>
          <p:nvPr/>
        </p:nvGrpSpPr>
        <p:grpSpPr>
          <a:xfrm>
            <a:off x="749715" y="6031351"/>
            <a:ext cx="10629645" cy="448408"/>
            <a:chOff x="710879" y="5978768"/>
            <a:chExt cx="10629882" cy="448408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AF24A6C2-2440-BC94-C497-F9BC6C337D9F}"/>
                </a:ext>
              </a:extLst>
            </p:cNvPr>
            <p:cNvSpPr/>
            <p:nvPr/>
          </p:nvSpPr>
          <p:spPr>
            <a:xfrm>
              <a:off x="710880" y="5978769"/>
              <a:ext cx="10629881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默认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MySQL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的事务是自动提交的，也就是说，当执行一条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DML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语句，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MySQL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会立即隐式的提交事务。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377CEE57-6CFA-B566-771C-C40CC66D1A2B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Shape 2468">
              <a:extLst>
                <a:ext uri="{FF2B5EF4-FFF2-40B4-BE49-F238E27FC236}">
                  <a16:creationId xmlns:a16="http://schemas.microsoft.com/office/drawing/2014/main" id="{409698A0-8354-DF81-68EA-10C09687D185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675E162-245B-5DFF-8E1F-CFB762985C99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116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C931E1-E251-053D-2EBA-92143E017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事务控制主要三步操作：开启事务、提交事务</a:t>
            </a:r>
            <a:r>
              <a:rPr lang="en-US" altLang="zh-CN"/>
              <a:t>/</a:t>
            </a:r>
            <a:r>
              <a:rPr lang="zh-CN" altLang="en-US"/>
              <a:t>回滚事务。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8456F82-FAB3-4AC5-D8ED-0D2F0476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操作</a:t>
            </a:r>
          </a:p>
        </p:txBody>
      </p:sp>
      <p:grpSp>
        <p:nvGrpSpPr>
          <p:cNvPr id="4" name="!!组合 2">
            <a:extLst>
              <a:ext uri="{FF2B5EF4-FFF2-40B4-BE49-F238E27FC236}">
                <a16:creationId xmlns:a16="http://schemas.microsoft.com/office/drawing/2014/main" id="{C7A77818-08CE-672B-392A-AF39375C1DB1}"/>
              </a:ext>
            </a:extLst>
          </p:cNvPr>
          <p:cNvGrpSpPr/>
          <p:nvPr/>
        </p:nvGrpSpPr>
        <p:grpSpPr>
          <a:xfrm>
            <a:off x="875221" y="1576086"/>
            <a:ext cx="10692570" cy="3402552"/>
            <a:chOff x="2297722" y="3660322"/>
            <a:chExt cx="11781224" cy="3402753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804626C7-BE45-F03A-0E56-906694C68FCF}"/>
                </a:ext>
              </a:extLst>
            </p:cNvPr>
            <p:cNvSpPr/>
            <p:nvPr/>
          </p:nvSpPr>
          <p:spPr>
            <a:xfrm>
              <a:off x="2297730" y="3660324"/>
              <a:ext cx="11781216" cy="3402751"/>
            </a:xfrm>
            <a:prstGeom prst="roundRect">
              <a:avLst>
                <a:gd name="adj" fmla="val 364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--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开启事务</a:t>
              </a:r>
              <a:endParaRPr lang="en-US" altLang="zh-CN" sz="1200">
                <a:solidFill>
                  <a:srgbClr val="8C8C8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1200"/>
                </a:spcAft>
              </a:pPr>
              <a:r>
                <a:rPr lang="en-US" altLang="zh-CN" sz="1200" b="1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start transaction</a:t>
              </a:r>
              <a:r>
                <a:rPr lang="en-US" altLang="zh-CN" sz="1200" b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; /</a:t>
              </a:r>
              <a:r>
                <a:rPr lang="en-US" altLang="zh-CN" sz="1200" b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1200" b="1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begin</a:t>
              </a:r>
              <a:r>
                <a:rPr lang="en-US" altLang="zh-CN" sz="1200" b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1200"/>
                </a:spcAft>
              </a:pPr>
              <a:r>
                <a:rPr lang="en-US" altLang="zh-CN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-- 1. </a:t>
              </a:r>
              <a:r>
                <a:rPr lang="zh-CN" altLang="en-US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  <a:cs typeface="阿里巴巴普惠体" panose="00020600040101010101" pitchFamily="18" charset="-122"/>
                </a:rPr>
                <a:t>保存员工基本信息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insert into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 </a:t>
              </a:r>
              <a:r>
                <a:rPr lang="en-US" altLang="zh-CN" sz="110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values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39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'Tom'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'123456'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汤姆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'13300001111'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4000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'1.jpg'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'2023-11-01'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now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(),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now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());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-- 2. </a:t>
              </a:r>
              <a:r>
                <a:rPr lang="zh-CN" altLang="en-US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  <a:cs typeface="阿里巴巴普惠体" panose="00020600040101010101" pitchFamily="18" charset="-122"/>
                </a:rPr>
                <a:t>保存员工的工作经历信息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insert into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emp_expr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emp_id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begin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end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company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job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values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39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'2019-01-01'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'2020-01-01'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百度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开发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),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                                                      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39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'2020-01-10'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'2022-02-01'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阿里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架构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endParaRPr lang="en-US" altLang="zh-CN" sz="1100">
                <a:solidFill>
                  <a:srgbClr val="080808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-- </a:t>
              </a:r>
              <a:r>
                <a:rPr lang="zh-CN" altLang="en-US" sz="12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提交事务</a:t>
              </a:r>
              <a:r>
                <a:rPr lang="en-US" altLang="zh-CN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zh-CN" altLang="en-US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全部成功</a:t>
              </a:r>
              <a:r>
                <a:rPr lang="en-US" altLang="zh-CN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 / </a:t>
              </a:r>
              <a:r>
                <a:rPr lang="zh-CN" altLang="en-US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回滚事务</a:t>
              </a:r>
              <a:r>
                <a:rPr lang="en-US" altLang="zh-CN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zh-CN" altLang="en-US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有一个失败</a:t>
              </a:r>
              <a:r>
                <a:rPr lang="en-US" altLang="zh-CN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1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commit</a:t>
              </a:r>
              <a:r>
                <a:rPr lang="en-US" altLang="zh-CN" sz="1200" b="1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; / </a:t>
              </a:r>
              <a:r>
                <a:rPr lang="en-US" altLang="zh-CN" sz="1200" b="1">
                  <a:solidFill>
                    <a:srgbClr val="C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rollback</a:t>
              </a:r>
              <a:r>
                <a:rPr lang="en-US" altLang="zh-CN" sz="1200" b="1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219F45B8-29BB-A6FE-C1AE-4D75C01E755F}"/>
                </a:ext>
              </a:extLst>
            </p:cNvPr>
            <p:cNvSpPr/>
            <p:nvPr/>
          </p:nvSpPr>
          <p:spPr>
            <a:xfrm>
              <a:off x="2297722" y="3660322"/>
              <a:ext cx="11781216" cy="270190"/>
            </a:xfrm>
            <a:prstGeom prst="round2SameRect">
              <a:avLst>
                <a:gd name="adj1" fmla="val 2015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添加员工操作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1599DE6-2275-4B7D-2576-D1353228682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51ED35A-0250-3FC4-C61E-17178861FD0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63583E0-4E5E-68C2-8967-64BAC4DFE87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1811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0E35EE-449B-524C-1C18-9B2B370607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170081" cy="464903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Fira Code" panose="020B0809050000020004" pitchFamily="49" charset="0"/>
              </a:rPr>
              <a:t>什么是事务 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事务是一组操作的集合，是一个不可分割的工作单位。这组操作要么全部成功，要么全部失败。</a:t>
            </a:r>
            <a:endParaRPr lang="en-US" altLang="zh-CN" sz="1600" b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Fira Code" panose="020B0809050000020004" pitchFamily="49" charset="0"/>
              </a:rPr>
              <a:t>如何控制事务 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? 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开启事务：</a:t>
            </a:r>
            <a:r>
              <a:rPr lang="en-US" altLang="zh-CN" sz="1600" b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start transaction</a:t>
            </a:r>
            <a:r>
              <a:rPr lang="en-US" altLang="zh-CN" sz="1600" b="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</a:t>
            </a:r>
            <a:r>
              <a:rPr lang="en-US" altLang="zh-CN" sz="1600" b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begin</a:t>
            </a:r>
            <a:r>
              <a:rPr lang="en-US" altLang="zh-CN" sz="1600" b="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;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提交事务：</a:t>
            </a:r>
            <a:r>
              <a:rPr lang="en-US" altLang="zh-CN" sz="1600" b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commit</a:t>
            </a:r>
            <a:r>
              <a:rPr lang="en-US" altLang="zh-CN" sz="1600" b="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 </a:t>
            </a:r>
            <a:r>
              <a:rPr lang="en-US" altLang="zh-CN" sz="1600" b="0">
                <a:solidFill>
                  <a:srgbClr val="067D17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b="0">
                <a:solidFill>
                  <a:srgbClr val="067D17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全部成功</a:t>
            </a:r>
            <a:r>
              <a:rPr lang="en-US" altLang="zh-CN" sz="1600" b="0">
                <a:solidFill>
                  <a:srgbClr val="067D17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600" b="0">
              <a:solidFill>
                <a:srgbClr val="067D17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回滚事务：</a:t>
            </a:r>
            <a:r>
              <a:rPr lang="en-US" altLang="zh-CN" sz="1600" b="0">
                <a:solidFill>
                  <a:srgbClr val="0000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rollback</a:t>
            </a:r>
            <a:r>
              <a:rPr lang="en-US" altLang="zh-CN" sz="1600" b="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(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只要有一项失败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600" b="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Fira Code" panose="020B0809050000020004" pitchFamily="49" charset="0"/>
              </a:rPr>
              <a:t>场景 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银行转账</a:t>
            </a: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下单扣减库存</a:t>
            </a: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80993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56F82-FAB3-4AC5-D8ED-0D2F0476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新增员工</a:t>
            </a:r>
            <a:r>
              <a:rPr lang="en-US" altLang="zh-CN"/>
              <a:t>-</a:t>
            </a:r>
            <a:r>
              <a:rPr lang="zh-CN" altLang="en-US"/>
              <a:t>事务控制</a:t>
            </a:r>
          </a:p>
        </p:txBody>
      </p:sp>
      <p:grpSp>
        <p:nvGrpSpPr>
          <p:cNvPr id="3" name="!!组合 2">
            <a:extLst>
              <a:ext uri="{FF2B5EF4-FFF2-40B4-BE49-F238E27FC236}">
                <a16:creationId xmlns:a16="http://schemas.microsoft.com/office/drawing/2014/main" id="{B18B4B4C-63FF-5763-0F01-FCDEEBA9B023}"/>
              </a:ext>
            </a:extLst>
          </p:cNvPr>
          <p:cNvGrpSpPr/>
          <p:nvPr/>
        </p:nvGrpSpPr>
        <p:grpSpPr>
          <a:xfrm>
            <a:off x="684911" y="1061689"/>
            <a:ext cx="5308454" cy="4926552"/>
            <a:chOff x="2297723" y="3660322"/>
            <a:chExt cx="5848929" cy="4926842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8037BBBE-0963-C42B-DCFE-2C0FE2155AE3}"/>
                </a:ext>
              </a:extLst>
            </p:cNvPr>
            <p:cNvSpPr/>
            <p:nvPr/>
          </p:nvSpPr>
          <p:spPr>
            <a:xfrm>
              <a:off x="2297731" y="3660323"/>
              <a:ext cx="5848920" cy="4926841"/>
            </a:xfrm>
            <a:prstGeom prst="roundRect">
              <a:avLst>
                <a:gd name="adj" fmla="val 139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@Autowired</a:t>
              </a:r>
              <a:b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private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EmpMapper </a:t>
              </a:r>
              <a:r>
                <a:rPr lang="en-US" altLang="zh-CN" sz="1000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empMapper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@Autowired</a:t>
              </a:r>
              <a:b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private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EmpExprMapper </a:t>
              </a:r>
              <a:r>
                <a:rPr lang="en-US" altLang="zh-CN" sz="1000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empExprMapper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;</a:t>
              </a:r>
            </a:p>
            <a:p>
              <a:pPr>
                <a:lnSpc>
                  <a:spcPct val="150000"/>
                </a:lnSpc>
              </a:pPr>
              <a:endPara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@Override</a:t>
              </a:r>
              <a:endParaRPr lang="en-US" altLang="zh-CN" sz="10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void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save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emp) {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//1.</a:t>
              </a:r>
              <a:r>
                <a:rPr lang="zh-CN" altLang="en-US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保存员工基本信息</a:t>
              </a:r>
              <a:br>
                <a:rPr lang="zh-CN" altLang="en-US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zh-CN" altLang="en-US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emp.setCreateTime(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LocalDateTime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000" i="1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now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emp.setUpdateTime(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LocalDateTime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000" i="1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now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());</a:t>
              </a:r>
              <a:br>
                <a:rPr lang="zh-CN" altLang="en-US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zh-CN" altLang="en-US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.insert(emp);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int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10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</a:t>
              </a:r>
              <a:r>
                <a:rPr lang="en-US" altLang="zh-CN" sz="10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0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//2. </a:t>
              </a:r>
              <a:r>
                <a:rPr lang="zh-CN" altLang="en-US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保存员工的工作经历信息 </a:t>
              </a: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- </a:t>
              </a:r>
              <a:r>
                <a:rPr lang="zh-CN" altLang="en-US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批量</a:t>
              </a:r>
              <a:br>
                <a:rPr lang="zh-CN" altLang="en-US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zh-CN" altLang="en-US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Integer empId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emp.getId();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EmpExpr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emp.getExprList();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(!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CollectionUtils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000" i="1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isEmpty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)){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.forEach(empExpr -&gt; empExpr.setEmpId(</a:t>
              </a:r>
              <a:r>
                <a:rPr lang="en-US" altLang="zh-CN" sz="1000">
                  <a:solidFill>
                    <a:srgbClr val="851691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empId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empExprMapper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.insertBatch(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}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</p:txBody>
        </p:sp>
        <p:sp>
          <p:nvSpPr>
            <p:cNvPr id="5" name="矩形: 圆顶角 4">
              <a:extLst>
                <a:ext uri="{FF2B5EF4-FFF2-40B4-BE49-F238E27FC236}">
                  <a16:creationId xmlns:a16="http://schemas.microsoft.com/office/drawing/2014/main" id="{18A9DCE9-A819-30C4-ABBD-0E0BDC1E92DA}"/>
                </a:ext>
              </a:extLst>
            </p:cNvPr>
            <p:cNvSpPr/>
            <p:nvPr/>
          </p:nvSpPr>
          <p:spPr>
            <a:xfrm>
              <a:off x="2297723" y="3660322"/>
              <a:ext cx="5848929" cy="270190"/>
            </a:xfrm>
            <a:prstGeom prst="round2SameRect">
              <a:avLst>
                <a:gd name="adj1" fmla="val 2015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添加员工操作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05FED9C-0B39-383C-3333-D02883BA20F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13F9ED79-1605-C68C-A188-B517C4631FC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38A6DB4-7097-B270-3A89-EF516AAE1B0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9FB8BF72-71B6-D15D-FE1C-BEBCD5DFB8C1}"/>
              </a:ext>
            </a:extLst>
          </p:cNvPr>
          <p:cNvSpPr/>
          <p:nvPr/>
        </p:nvSpPr>
        <p:spPr>
          <a:xfrm>
            <a:off x="684918" y="3906866"/>
            <a:ext cx="5308446" cy="238342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C173DD-E226-0B78-260F-CE0F6EEDB240}"/>
              </a:ext>
            </a:extLst>
          </p:cNvPr>
          <p:cNvSpPr txBox="1"/>
          <p:nvPr/>
        </p:nvSpPr>
        <p:spPr>
          <a:xfrm>
            <a:off x="6186244" y="3400926"/>
            <a:ext cx="5223416" cy="10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32000">
              <a:lnSpc>
                <a:spcPct val="200000"/>
              </a:lnSpc>
            </a:pPr>
            <a:r>
              <a:rPr lang="zh-CN" altLang="en-US" sz="1600" b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保存员工信息成功了，保存工作经历信息失败了，就会造成数据库数据的不完整、不一致。</a:t>
            </a:r>
            <a:endParaRPr lang="en-US" altLang="zh-CN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120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!!组合 2">
            <a:extLst>
              <a:ext uri="{FF2B5EF4-FFF2-40B4-BE49-F238E27FC236}">
                <a16:creationId xmlns:a16="http://schemas.microsoft.com/office/drawing/2014/main" id="{82E9791B-9E19-CB98-26E0-6B634F0E0CFC}"/>
              </a:ext>
            </a:extLst>
          </p:cNvPr>
          <p:cNvGrpSpPr/>
          <p:nvPr/>
        </p:nvGrpSpPr>
        <p:grpSpPr>
          <a:xfrm>
            <a:off x="684911" y="1061689"/>
            <a:ext cx="5308454" cy="4926552"/>
            <a:chOff x="2297723" y="3660322"/>
            <a:chExt cx="5848929" cy="4926842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8310914-D391-F4AF-702D-0CB4C7149428}"/>
                </a:ext>
              </a:extLst>
            </p:cNvPr>
            <p:cNvSpPr/>
            <p:nvPr/>
          </p:nvSpPr>
          <p:spPr>
            <a:xfrm>
              <a:off x="2297731" y="3660323"/>
              <a:ext cx="5848920" cy="4926841"/>
            </a:xfrm>
            <a:prstGeom prst="roundRect">
              <a:avLst>
                <a:gd name="adj" fmla="val 139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@Autowired</a:t>
              </a:r>
              <a:b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private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EmpMapper </a:t>
              </a:r>
              <a:r>
                <a:rPr lang="en-US" altLang="zh-CN" sz="1000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empMapper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@Autowired</a:t>
              </a:r>
              <a:b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private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EmpExprMapper </a:t>
              </a:r>
              <a:r>
                <a:rPr lang="en-US" altLang="zh-CN" sz="1000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empExprMapper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;</a:t>
              </a:r>
            </a:p>
            <a:p>
              <a:pPr>
                <a:lnSpc>
                  <a:spcPct val="150000"/>
                </a:lnSpc>
              </a:pPr>
              <a:endPara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@Override</a:t>
              </a:r>
              <a:endParaRPr lang="en-US" altLang="zh-CN" sz="10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void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save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emp) {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//1.</a:t>
              </a:r>
              <a:r>
                <a:rPr lang="zh-CN" altLang="en-US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保存员工基本信息</a:t>
              </a:r>
              <a:br>
                <a:rPr lang="zh-CN" altLang="en-US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zh-CN" altLang="en-US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emp.setCreateTime(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LocalDateTime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000" i="1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now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emp.setUpdateTime(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LocalDateTime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000" i="1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now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());</a:t>
              </a:r>
              <a:br>
                <a:rPr lang="zh-CN" altLang="en-US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zh-CN" altLang="en-US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.insert(emp);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int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10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</a:t>
              </a:r>
              <a:r>
                <a:rPr lang="en-US" altLang="zh-CN" sz="10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0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//2. </a:t>
              </a:r>
              <a:r>
                <a:rPr lang="zh-CN" altLang="en-US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保存员工的工作经历信息 </a:t>
              </a: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- </a:t>
              </a:r>
              <a:r>
                <a:rPr lang="zh-CN" altLang="en-US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批量</a:t>
              </a:r>
              <a:br>
                <a:rPr lang="zh-CN" altLang="en-US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zh-CN" altLang="en-US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Integer empId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emp.getId();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EmpExpr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emp.getExprList();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(!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CollectionUtils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000" i="1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isEmpty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)){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.forEach(empExpr -&gt; empExpr.setEmpId(</a:t>
              </a:r>
              <a:r>
                <a:rPr lang="en-US" altLang="zh-CN" sz="1000">
                  <a:solidFill>
                    <a:srgbClr val="851691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empId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empExprMapper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.insertBatch(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}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8A7B918D-1E45-F6F5-C0B0-357CBA77708E}"/>
                </a:ext>
              </a:extLst>
            </p:cNvPr>
            <p:cNvSpPr/>
            <p:nvPr/>
          </p:nvSpPr>
          <p:spPr>
            <a:xfrm>
              <a:off x="2297723" y="3660322"/>
              <a:ext cx="5848929" cy="270190"/>
            </a:xfrm>
            <a:prstGeom prst="round2SameRect">
              <a:avLst>
                <a:gd name="adj1" fmla="val 2015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添加员工操作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83841B39-ECEB-AF0A-0536-37C818A7C04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EA524E9-DCB2-4918-A090-95C6EF46E58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E1AC46A-9142-06DE-B8DE-ECCE28601AB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A8456F82-FAB3-4AC5-D8ED-0D2F0476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新增员工</a:t>
            </a:r>
            <a:r>
              <a:rPr lang="en-US" altLang="zh-CN"/>
              <a:t>-</a:t>
            </a:r>
            <a:r>
              <a:rPr lang="zh-CN" altLang="en-US"/>
              <a:t>事务控制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D23C1F-3C21-2D24-983C-B6F7284660F8}"/>
              </a:ext>
            </a:extLst>
          </p:cNvPr>
          <p:cNvSpPr/>
          <p:nvPr/>
        </p:nvSpPr>
        <p:spPr>
          <a:xfrm>
            <a:off x="684919" y="2977925"/>
            <a:ext cx="5308446" cy="2761488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文档 9">
            <a:extLst>
              <a:ext uri="{FF2B5EF4-FFF2-40B4-BE49-F238E27FC236}">
                <a16:creationId xmlns:a16="http://schemas.microsoft.com/office/drawing/2014/main" id="{935A532B-C46A-D05B-EF66-10ABB54343F8}"/>
              </a:ext>
            </a:extLst>
          </p:cNvPr>
          <p:cNvSpPr/>
          <p:nvPr/>
        </p:nvSpPr>
        <p:spPr>
          <a:xfrm>
            <a:off x="5204912" y="4160816"/>
            <a:ext cx="751129" cy="467426"/>
          </a:xfrm>
          <a:prstGeom prst="flowChartDocument">
            <a:avLst/>
          </a:prstGeom>
          <a:solidFill>
            <a:srgbClr val="A14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事务</a:t>
            </a:r>
          </a:p>
        </p:txBody>
      </p:sp>
      <p:sp>
        <p:nvSpPr>
          <p:cNvPr id="11" name="!!箭头: 五边形 11">
            <a:extLst>
              <a:ext uri="{FF2B5EF4-FFF2-40B4-BE49-F238E27FC236}">
                <a16:creationId xmlns:a16="http://schemas.microsoft.com/office/drawing/2014/main" id="{969C6829-F970-21A5-5E9D-1220B9C9BA8B}"/>
              </a:ext>
            </a:extLst>
          </p:cNvPr>
          <p:cNvSpPr/>
          <p:nvPr/>
        </p:nvSpPr>
        <p:spPr>
          <a:xfrm rot="10800000">
            <a:off x="4635081" y="2826975"/>
            <a:ext cx="1358283" cy="338378"/>
          </a:xfrm>
          <a:prstGeom prst="homePlate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144000" tIns="468000" rIns="72000" bIns="108000" rtlCol="0" anchor="ctr">
            <a:sp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!!箭头: 五边形 14">
            <a:extLst>
              <a:ext uri="{FF2B5EF4-FFF2-40B4-BE49-F238E27FC236}">
                <a16:creationId xmlns:a16="http://schemas.microsoft.com/office/drawing/2014/main" id="{0CD8CCC4-AC92-8004-A96E-B8E28CC68F42}"/>
              </a:ext>
            </a:extLst>
          </p:cNvPr>
          <p:cNvSpPr/>
          <p:nvPr/>
        </p:nvSpPr>
        <p:spPr>
          <a:xfrm rot="10800000">
            <a:off x="4625749" y="5568598"/>
            <a:ext cx="1358283" cy="338378"/>
          </a:xfrm>
          <a:prstGeom prst="homePlate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144000" tIns="468000" rIns="72000" bIns="108000" rtlCol="0" anchor="ctr">
            <a:sp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箭头: 五边形 12">
            <a:extLst>
              <a:ext uri="{FF2B5EF4-FFF2-40B4-BE49-F238E27FC236}">
                <a16:creationId xmlns:a16="http://schemas.microsoft.com/office/drawing/2014/main" id="{615C9F12-BB00-4413-49CC-A7383DD366C8}"/>
              </a:ext>
            </a:extLst>
          </p:cNvPr>
          <p:cNvSpPr/>
          <p:nvPr/>
        </p:nvSpPr>
        <p:spPr>
          <a:xfrm rot="10800000">
            <a:off x="4635082" y="2826976"/>
            <a:ext cx="1358283" cy="338378"/>
          </a:xfrm>
          <a:prstGeom prst="homePlate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144000" tIns="468000" rIns="72000" bIns="108000" rtlCol="0" anchor="ctr">
            <a:sp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FF729E8F-899F-80CB-56AD-0DB793FD5C09}"/>
              </a:ext>
            </a:extLst>
          </p:cNvPr>
          <p:cNvSpPr/>
          <p:nvPr/>
        </p:nvSpPr>
        <p:spPr>
          <a:xfrm rot="10800000">
            <a:off x="4625751" y="5568597"/>
            <a:ext cx="1358283" cy="338378"/>
          </a:xfrm>
          <a:prstGeom prst="homePlate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144000" tIns="468000" rIns="72000" bIns="108000" rtlCol="0" anchor="ctr">
            <a:sp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1B02F1-B015-8D5F-2CD7-149C61688478}"/>
              </a:ext>
            </a:extLst>
          </p:cNvPr>
          <p:cNvSpPr txBox="1"/>
          <p:nvPr/>
        </p:nvSpPr>
        <p:spPr>
          <a:xfrm>
            <a:off x="5004563" y="2857664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开启事务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BC16DA-D543-94B7-FC9F-FDEA9C77CC85}"/>
              </a:ext>
            </a:extLst>
          </p:cNvPr>
          <p:cNvSpPr txBox="1"/>
          <p:nvPr/>
        </p:nvSpPr>
        <p:spPr>
          <a:xfrm>
            <a:off x="4818328" y="5599287"/>
            <a:ext cx="1165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提交</a:t>
            </a: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回滚事务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5686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56F82-FAB3-4AC5-D8ED-0D2F0476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新增员工</a:t>
            </a:r>
            <a:r>
              <a:rPr lang="en-US" altLang="zh-CN"/>
              <a:t>-</a:t>
            </a:r>
            <a:r>
              <a:rPr lang="zh-CN" altLang="en-US"/>
              <a:t>事务控制</a:t>
            </a:r>
          </a:p>
        </p:txBody>
      </p:sp>
      <p:grpSp>
        <p:nvGrpSpPr>
          <p:cNvPr id="17" name="!!组合 2">
            <a:extLst>
              <a:ext uri="{FF2B5EF4-FFF2-40B4-BE49-F238E27FC236}">
                <a16:creationId xmlns:a16="http://schemas.microsoft.com/office/drawing/2014/main" id="{E500304F-4DC2-C392-B15F-D626E35E39D4}"/>
              </a:ext>
            </a:extLst>
          </p:cNvPr>
          <p:cNvGrpSpPr/>
          <p:nvPr/>
        </p:nvGrpSpPr>
        <p:grpSpPr>
          <a:xfrm>
            <a:off x="684911" y="1061689"/>
            <a:ext cx="5308454" cy="4926552"/>
            <a:chOff x="2297723" y="3660322"/>
            <a:chExt cx="5848929" cy="4926842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0B2F1468-038C-48F5-DD0B-8FA44BB9ACDB}"/>
                </a:ext>
              </a:extLst>
            </p:cNvPr>
            <p:cNvSpPr/>
            <p:nvPr/>
          </p:nvSpPr>
          <p:spPr>
            <a:xfrm>
              <a:off x="2297731" y="3660323"/>
              <a:ext cx="5848920" cy="4926841"/>
            </a:xfrm>
            <a:prstGeom prst="roundRect">
              <a:avLst>
                <a:gd name="adj" fmla="val 1395"/>
              </a:avLst>
            </a:prstGeom>
            <a:solidFill>
              <a:srgbClr val="F6F6F6"/>
            </a:solidFill>
            <a:ln w="3175" cap="flat" cmpd="sng" algn="ctr">
              <a:noFill/>
              <a:prstDash val="solid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lIns="0" tIns="28800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9E880D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@Autowired</a:t>
              </a:r>
              <a:b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9E880D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</a:b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private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EmpMapper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871094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empMapper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;</a:t>
              </a:r>
              <a:b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</a:b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9E880D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@Autowired</a:t>
              </a:r>
              <a:b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9E880D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</a:b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private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EmpExprMapper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871094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empExprMapper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;</a:t>
              </a:r>
            </a:p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0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9E880D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+mn-cs"/>
                </a:rPr>
                <a:t>@Override</a:t>
              </a:r>
              <a:endParaRPr kumimoji="0" lang="en-US" altLang="zh-CN" sz="1000" b="0" i="0" u="none" strike="noStrike" kern="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void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627A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save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emp) {</a:t>
              </a:r>
              <a:b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//1.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保存员工基本信息</a:t>
              </a:r>
              <a:br>
                <a:rPr kumimoji="0" lang="zh-CN" alt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</a:br>
              <a:r>
                <a:rPr kumimoji="0" lang="zh-CN" alt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   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emp.setCreateTime(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LocalDateTime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kumimoji="0" lang="en-US" altLang="zh-CN" sz="1000" b="0" i="1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now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());</a:t>
              </a:r>
              <a:b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emp.setUpdateTime(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LocalDateTime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kumimoji="0" lang="en-US" altLang="zh-CN" sz="1000" b="0" i="1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now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());</a:t>
              </a:r>
              <a:br>
                <a:rPr kumimoji="0" lang="zh-CN" alt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</a:br>
              <a:r>
                <a:rPr kumimoji="0" lang="zh-CN" alt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   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871094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.insert(emp);</a:t>
              </a:r>
            </a:p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int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1750EB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1750EB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0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</a:p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//2. 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保存员工的工作经历信息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- 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批量</a:t>
              </a:r>
              <a:br>
                <a:rPr kumimoji="0" lang="zh-CN" alt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</a:br>
              <a:r>
                <a:rPr kumimoji="0" lang="zh-CN" alt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   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Integer empId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emp.getId();</a:t>
              </a:r>
              <a:b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EmpExpr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emp.getExprList();</a:t>
              </a:r>
              <a:b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if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(!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CollectionUtils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kumimoji="0" lang="en-US" altLang="zh-CN" sz="1000" b="0" i="1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isEmpty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)){</a:t>
              </a:r>
              <a:b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.forEach(empExpr -&gt; empExpr.setEmpId(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851691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empId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));</a:t>
              </a:r>
              <a:b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871094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empExprMapper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.insertBatch(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}</a:t>
              </a:r>
              <a:b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09C50498-5464-5F28-15C3-6412E8143555}"/>
                </a:ext>
              </a:extLst>
            </p:cNvPr>
            <p:cNvSpPr/>
            <p:nvPr/>
          </p:nvSpPr>
          <p:spPr>
            <a:xfrm>
              <a:off x="2297723" y="3660322"/>
              <a:ext cx="5848929" cy="270190"/>
            </a:xfrm>
            <a:prstGeom prst="round2SameRect">
              <a:avLst>
                <a:gd name="adj1" fmla="val 20154"/>
                <a:gd name="adj2" fmla="val 0"/>
              </a:avLst>
            </a:prstGeom>
            <a:solidFill>
              <a:srgbClr val="BCBCBC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添加员工操作</a:t>
              </a:r>
              <a:endParaRPr kumimoji="0" lang="en-US" altLang="zh-CN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169E64A3-3D67-FD64-B82F-69CBE80F83F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FF2B027A-9542-4745-D8A8-E3CD4B9B24E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9F660BAE-B436-E92D-D9A4-07E3A7A1318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D71A43B6-DBF0-C698-DD27-463949BA662D}"/>
              </a:ext>
            </a:extLst>
          </p:cNvPr>
          <p:cNvSpPr/>
          <p:nvPr/>
        </p:nvSpPr>
        <p:spPr>
          <a:xfrm>
            <a:off x="684918" y="2967135"/>
            <a:ext cx="5308446" cy="2761488"/>
          </a:xfrm>
          <a:prstGeom prst="rect">
            <a:avLst/>
          </a:prstGeom>
          <a:solidFill>
            <a:srgbClr val="FF0000">
              <a:alpha val="14902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4" name="流程图: 文档 23">
            <a:extLst>
              <a:ext uri="{FF2B5EF4-FFF2-40B4-BE49-F238E27FC236}">
                <a16:creationId xmlns:a16="http://schemas.microsoft.com/office/drawing/2014/main" id="{5187EFDC-6127-24E2-FCDE-5A1CA5F762E8}"/>
              </a:ext>
            </a:extLst>
          </p:cNvPr>
          <p:cNvSpPr/>
          <p:nvPr/>
        </p:nvSpPr>
        <p:spPr>
          <a:xfrm>
            <a:off x="5242235" y="4114166"/>
            <a:ext cx="751129" cy="467426"/>
          </a:xfrm>
          <a:prstGeom prst="flowChartDocument">
            <a:avLst/>
          </a:prstGeom>
          <a:solidFill>
            <a:srgbClr val="A144A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事务</a:t>
            </a: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F58764FC-F7BA-22CB-15A7-05FC30499601}"/>
              </a:ext>
            </a:extLst>
          </p:cNvPr>
          <p:cNvSpPr/>
          <p:nvPr/>
        </p:nvSpPr>
        <p:spPr>
          <a:xfrm rot="10800000">
            <a:off x="4635080" y="2798255"/>
            <a:ext cx="1358283" cy="338378"/>
          </a:xfrm>
          <a:prstGeom prst="homePlate">
            <a:avLst/>
          </a:prstGeom>
          <a:solidFill>
            <a:sysClr val="window" lastClr="FFFFFF"/>
          </a:solidFill>
          <a:ln w="3175">
            <a:solidFill>
              <a:sysClr val="window" lastClr="FFFFFF">
                <a:lumMod val="50000"/>
              </a:sysClr>
            </a:solidFill>
            <a:prstDash val="lgDash"/>
          </a:ln>
        </p:spPr>
        <p:txBody>
          <a:bodyPr wrap="square" lIns="144000" tIns="468000" rIns="72000" bIns="108000" rtlCol="0" anchor="ctr">
            <a:spAutoFit/>
          </a:bodyPr>
          <a:lstStyle/>
          <a:p>
            <a:pPr marL="357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箭头: 五边形 25">
            <a:extLst>
              <a:ext uri="{FF2B5EF4-FFF2-40B4-BE49-F238E27FC236}">
                <a16:creationId xmlns:a16="http://schemas.microsoft.com/office/drawing/2014/main" id="{6F328852-83B3-0CBF-7596-A1B0DAD3FFD4}"/>
              </a:ext>
            </a:extLst>
          </p:cNvPr>
          <p:cNvSpPr/>
          <p:nvPr/>
        </p:nvSpPr>
        <p:spPr>
          <a:xfrm rot="10800000">
            <a:off x="4635079" y="5548843"/>
            <a:ext cx="1358283" cy="338378"/>
          </a:xfrm>
          <a:prstGeom prst="homePlate">
            <a:avLst/>
          </a:prstGeom>
          <a:solidFill>
            <a:sysClr val="window" lastClr="FFFFFF"/>
          </a:solidFill>
          <a:ln w="3175">
            <a:solidFill>
              <a:sysClr val="window" lastClr="FFFFFF">
                <a:lumMod val="50000"/>
              </a:sysClr>
            </a:solidFill>
            <a:prstDash val="lgDash"/>
          </a:ln>
        </p:spPr>
        <p:txBody>
          <a:bodyPr wrap="square" lIns="144000" tIns="468000" rIns="72000" bIns="108000" rtlCol="0" anchor="ctr">
            <a:spAutoFit/>
          </a:bodyPr>
          <a:lstStyle/>
          <a:p>
            <a:pPr marL="357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3FDA858-26F9-6AF3-9CC8-4ECAD6D7DC01}"/>
              </a:ext>
            </a:extLst>
          </p:cNvPr>
          <p:cNvSpPr txBox="1"/>
          <p:nvPr/>
        </p:nvSpPr>
        <p:spPr>
          <a:xfrm>
            <a:off x="5004562" y="2828944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prstClr val="black">
                    <a:lumMod val="65000"/>
                    <a:lumOff val="3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开启事务</a:t>
            </a:r>
            <a:endParaRPr lang="zh-CN" altLang="en-US" sz="1200" dirty="0">
              <a:solidFill>
                <a:prstClr val="black">
                  <a:lumMod val="65000"/>
                  <a:lumOff val="3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06CD9E0-72E7-16B1-9E5B-0EBBB446C018}"/>
              </a:ext>
            </a:extLst>
          </p:cNvPr>
          <p:cNvSpPr txBox="1"/>
          <p:nvPr/>
        </p:nvSpPr>
        <p:spPr>
          <a:xfrm>
            <a:off x="4827658" y="5579532"/>
            <a:ext cx="1165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prstClr val="black">
                    <a:lumMod val="65000"/>
                    <a:lumOff val="3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提交</a:t>
            </a:r>
            <a:r>
              <a:rPr lang="en-US" altLang="zh-CN" sz="1200">
                <a:solidFill>
                  <a:prstClr val="black">
                    <a:lumMod val="65000"/>
                    <a:lumOff val="3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zh-CN" altLang="en-US" sz="1200">
                <a:solidFill>
                  <a:prstClr val="black">
                    <a:lumMod val="65000"/>
                    <a:lumOff val="35000"/>
                  </a:prst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回滚事务</a:t>
            </a:r>
            <a:endParaRPr lang="zh-CN" altLang="en-US" sz="1200" dirty="0">
              <a:solidFill>
                <a:prstClr val="black">
                  <a:lumMod val="65000"/>
                  <a:lumOff val="35000"/>
                </a:prst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!!箭头: 五边形 11">
            <a:extLst>
              <a:ext uri="{FF2B5EF4-FFF2-40B4-BE49-F238E27FC236}">
                <a16:creationId xmlns:a16="http://schemas.microsoft.com/office/drawing/2014/main" id="{AA758C59-3A64-8D83-D845-C001E4CD101D}"/>
              </a:ext>
            </a:extLst>
          </p:cNvPr>
          <p:cNvSpPr/>
          <p:nvPr/>
        </p:nvSpPr>
        <p:spPr>
          <a:xfrm>
            <a:off x="7411481" y="3844978"/>
            <a:ext cx="1965960" cy="755171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3175">
            <a:solidFill>
              <a:sysClr val="window" lastClr="FFFFFF">
                <a:lumMod val="50000"/>
              </a:sysClr>
            </a:solidFill>
            <a:prstDash val="lgDash"/>
          </a:ln>
        </p:spPr>
        <p:txBody>
          <a:bodyPr wrap="square" lIns="0" tIns="144000" rIns="0" bIns="144000" rtlCol="0" anchor="ctr">
            <a:spAutoFit/>
          </a:bodyPr>
          <a:lstStyle/>
          <a:p>
            <a:pPr marL="7200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Spring</a:t>
            </a: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ira Code" panose="020B0809050000020004" pitchFamily="49" charset="0"/>
                <a:cs typeface="阿里巴巴普惠体" panose="00020600040101010101" pitchFamily="18" charset="-122"/>
              </a:rPr>
              <a:t>事务管理</a:t>
            </a:r>
          </a:p>
        </p:txBody>
      </p:sp>
      <p:sp>
        <p:nvSpPr>
          <p:cNvPr id="30" name="!!箭头: 五边形 14">
            <a:extLst>
              <a:ext uri="{FF2B5EF4-FFF2-40B4-BE49-F238E27FC236}">
                <a16:creationId xmlns:a16="http://schemas.microsoft.com/office/drawing/2014/main" id="{87CCFB73-55CB-CD5D-2594-52E3A680A877}"/>
              </a:ext>
            </a:extLst>
          </p:cNvPr>
          <p:cNvSpPr/>
          <p:nvPr/>
        </p:nvSpPr>
        <p:spPr>
          <a:xfrm>
            <a:off x="7411481" y="3844978"/>
            <a:ext cx="1965960" cy="755171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3175">
            <a:solidFill>
              <a:sysClr val="window" lastClr="FFFFFF">
                <a:lumMod val="50000"/>
              </a:sysClr>
            </a:solidFill>
            <a:prstDash val="lgDash"/>
          </a:ln>
        </p:spPr>
        <p:txBody>
          <a:bodyPr wrap="square" lIns="0" tIns="144000" rIns="0" bIns="144000" rtlCol="0" anchor="ctr">
            <a:spAutoFit/>
          </a:bodyPr>
          <a:lstStyle/>
          <a:p>
            <a:pPr marL="7200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Spring</a:t>
            </a: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ira Code" panose="020B0809050000020004" pitchFamily="49" charset="0"/>
                <a:cs typeface="阿里巴巴普惠体" panose="00020600040101010101" pitchFamily="18" charset="-122"/>
              </a:rPr>
              <a:t>事务管理</a:t>
            </a:r>
          </a:p>
        </p:txBody>
      </p:sp>
    </p:spTree>
    <p:extLst>
      <p:ext uri="{BB962C8B-B14F-4D97-AF65-F5344CB8AC3E}">
        <p14:creationId xmlns:p14="http://schemas.microsoft.com/office/powerpoint/2010/main" val="439400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C91C7F-642B-1163-4C82-0DE578646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介绍</a:t>
            </a:r>
            <a:r>
              <a:rPr lang="en-US" altLang="zh-CN"/>
              <a:t>&amp;</a:t>
            </a:r>
            <a:r>
              <a:rPr lang="zh-CN" altLang="en-US"/>
              <a:t>操作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Spring</a:t>
            </a:r>
            <a:r>
              <a:rPr lang="zh-CN" altLang="en-US">
                <a:solidFill>
                  <a:srgbClr val="C00000"/>
                </a:solidFill>
              </a:rPr>
              <a:t>事务管理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四大特性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B65B8A-3CB6-34CA-989D-6A63DA54BC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事务管理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5A5CC1-0FFF-F258-8015-9B62F5F3D1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515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>
            <a:extLst>
              <a:ext uri="{FF2B5EF4-FFF2-40B4-BE49-F238E27FC236}">
                <a16:creationId xmlns:a16="http://schemas.microsoft.com/office/drawing/2014/main" id="{6E0BF1E9-C311-6528-36F0-60CA9BDD2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759" y="1004203"/>
            <a:ext cx="11060481" cy="1429245"/>
          </a:xfrm>
        </p:spPr>
        <p:txBody>
          <a:bodyPr/>
          <a:lstStyle/>
          <a:p>
            <a:pPr marL="285750" indent="-285750" defTabSz="4320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注解：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@Transactional</a:t>
            </a:r>
          </a:p>
          <a:p>
            <a:pPr marL="285750" indent="-285750" defTabSz="4320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作用：将当前方法交给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spring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进行事务管理，方法执行前，开启事务；成功执行完毕，提交事务；出现异常，回滚事务</a:t>
            </a:r>
            <a:endParaRPr lang="en-US" altLang="zh-CN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</a:endParaRPr>
          </a:p>
          <a:p>
            <a:pPr marL="285750" indent="-285750" defTabSz="4320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位置：业务（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service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）层的方法上、类上、接口上</a:t>
            </a:r>
            <a:endParaRPr lang="en-US" altLang="zh-CN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Spring</a:t>
            </a:r>
            <a:r>
              <a:rPr lang="zh-CN" altLang="en-US"/>
              <a:t>事务管理</a:t>
            </a:r>
            <a:r>
              <a:rPr lang="en-US" altLang="zh-CN"/>
              <a:t>-</a:t>
            </a:r>
            <a:r>
              <a:rPr lang="zh-CN" altLang="en-US"/>
              <a:t>控制事务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D67CD4-F3B0-9128-F0CD-1B76DDE354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181" b="28583"/>
          <a:stretch/>
        </p:blipFill>
        <p:spPr>
          <a:xfrm>
            <a:off x="927542" y="2433448"/>
            <a:ext cx="4717526" cy="2780031"/>
          </a:xfrm>
          <a:prstGeom prst="flowChartDocument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1A08C43-60B4-95F4-4CAA-860255734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076" y="2433448"/>
            <a:ext cx="5252164" cy="88394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B6BB735-5813-1727-7B67-31C86CF11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076" y="3749228"/>
            <a:ext cx="5252164" cy="72355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023E373-DC1F-8E87-9954-BB394F839868}"/>
              </a:ext>
            </a:extLst>
          </p:cNvPr>
          <p:cNvSpPr txBox="1"/>
          <p:nvPr/>
        </p:nvSpPr>
        <p:spPr>
          <a:xfrm>
            <a:off x="4900224" y="28557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方法</a:t>
            </a:r>
            <a:endParaRPr lang="zh-CN" altLang="en-US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CDCE8EA-5919-66E9-B41A-457FA85808FF}"/>
              </a:ext>
            </a:extLst>
          </p:cNvPr>
          <p:cNvSpPr txBox="1"/>
          <p:nvPr/>
        </p:nvSpPr>
        <p:spPr>
          <a:xfrm>
            <a:off x="11094972" y="265170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类</a:t>
            </a:r>
            <a:endParaRPr lang="zh-CN" altLang="en-US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023541-63AA-E20C-F7CE-6D3FA2261F5B}"/>
              </a:ext>
            </a:extLst>
          </p:cNvPr>
          <p:cNvSpPr txBox="1"/>
          <p:nvPr/>
        </p:nvSpPr>
        <p:spPr>
          <a:xfrm>
            <a:off x="10864139" y="39263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接口</a:t>
            </a:r>
            <a:endParaRPr lang="zh-CN" altLang="en-US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5C9F408-81BE-517A-51D2-CEED7AD07299}"/>
              </a:ext>
            </a:extLst>
          </p:cNvPr>
          <p:cNvSpPr txBox="1"/>
          <p:nvPr/>
        </p:nvSpPr>
        <p:spPr>
          <a:xfrm>
            <a:off x="4998737" y="424928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推荐</a:t>
            </a:r>
            <a:endParaRPr lang="zh-CN" altLang="en-US" dirty="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grpSp>
        <p:nvGrpSpPr>
          <p:cNvPr id="3" name="!!组合 2">
            <a:extLst>
              <a:ext uri="{FF2B5EF4-FFF2-40B4-BE49-F238E27FC236}">
                <a16:creationId xmlns:a16="http://schemas.microsoft.com/office/drawing/2014/main" id="{A12FC9E6-5505-4D24-DA80-1F577575A742}"/>
              </a:ext>
            </a:extLst>
          </p:cNvPr>
          <p:cNvGrpSpPr/>
          <p:nvPr/>
        </p:nvGrpSpPr>
        <p:grpSpPr>
          <a:xfrm>
            <a:off x="912021" y="5373011"/>
            <a:ext cx="10692570" cy="1393563"/>
            <a:chOff x="2297722" y="3660322"/>
            <a:chExt cx="11781224" cy="139364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8E3553D7-E314-A1D8-EC26-608513333FCB}"/>
                </a:ext>
              </a:extLst>
            </p:cNvPr>
            <p:cNvSpPr/>
            <p:nvPr/>
          </p:nvSpPr>
          <p:spPr>
            <a:xfrm>
              <a:off x="2297730" y="3660324"/>
              <a:ext cx="11781216" cy="1393644"/>
            </a:xfrm>
            <a:prstGeom prst="roundRect">
              <a:avLst>
                <a:gd name="adj" fmla="val 430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# 配置日志信息,查看spring事务管理的底层日志</a:t>
              </a:r>
              <a:b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logging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level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org.springframework.jdbc.support.JdbcTransactionManager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debug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" name="矩形: 圆顶角 4">
              <a:extLst>
                <a:ext uri="{FF2B5EF4-FFF2-40B4-BE49-F238E27FC236}">
                  <a16:creationId xmlns:a16="http://schemas.microsoft.com/office/drawing/2014/main" id="{BFF8B05D-409D-2FDD-83F3-A26462C78B63}"/>
                </a:ext>
              </a:extLst>
            </p:cNvPr>
            <p:cNvSpPr/>
            <p:nvPr/>
          </p:nvSpPr>
          <p:spPr>
            <a:xfrm>
              <a:off x="2297722" y="3660322"/>
              <a:ext cx="11781216" cy="270190"/>
            </a:xfrm>
            <a:prstGeom prst="round2SameRect">
              <a:avLst>
                <a:gd name="adj1" fmla="val 2015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application.yml</a:t>
              </a: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CD86306-186E-EFD9-35AE-AE5ED29F9CF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892DA86-B00F-23C1-DD1A-E5F9F53B13E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BD6F0BB-29C7-8EE1-89AD-BA541EF033B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033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3" grpId="0"/>
      <p:bldP spid="14" grpId="0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4F1E11-0CA9-D0A4-955B-5EC1135EF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2915" y="1359878"/>
            <a:ext cx="8469086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Spring</a:t>
            </a:r>
            <a:r>
              <a:rPr lang="zh-CN" altLang="en-US" sz="1800"/>
              <a:t>事务管理的注解</a:t>
            </a:r>
            <a:r>
              <a:rPr lang="en-US" altLang="zh-CN" sz="1800"/>
              <a:t>@Transactional</a:t>
            </a:r>
            <a:r>
              <a:rPr lang="zh-CN" altLang="en-US" sz="1800"/>
              <a:t>的作用是什么，可以加在什么位置？</a:t>
            </a:r>
            <a:endParaRPr lang="en-US" altLang="zh-CN" sz="18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b="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@Transactional</a:t>
            </a:r>
            <a:r>
              <a:rPr lang="zh-CN" altLang="en-US" sz="1600" b="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：会在方法运行之前，开启事务，运行完毕后，根据运行的结果，来提交或回滚事务。</a:t>
            </a:r>
            <a:endParaRPr lang="en-US" altLang="zh-CN" sz="1600" b="0">
              <a:solidFill>
                <a:srgbClr val="C00000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位置：方法上、类上、</a:t>
            </a:r>
            <a:r>
              <a:rPr lang="zh-CN" altLang="en-US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r>
              <a:rPr lang="zh-CN" altLang="en-US" sz="1600" b="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上</a:t>
            </a:r>
            <a:endParaRPr lang="en-US" altLang="zh-CN" b="0">
              <a:solidFill>
                <a:srgbClr val="C00000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662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4CF02F-5B30-9BA9-2947-A1FF255D4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415778" cy="96220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rollbackFor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属性用于控制出现何种异常类型，回滚事务。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</a:rPr>
              <a:t>(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默认情况下，只有出现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RuntimeException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才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会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回滚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</a:rPr>
              <a:t>)</a:t>
            </a:r>
            <a:endParaRPr lang="en-US" altLang="zh-CN" sz="18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事务进阶</a:t>
            </a:r>
            <a:r>
              <a:rPr lang="en-US" altLang="zh-CN"/>
              <a:t>-rollbackFor</a:t>
            </a:r>
            <a:endParaRPr lang="zh-CN" altLang="en-US"/>
          </a:p>
        </p:txBody>
      </p:sp>
      <p:grpSp>
        <p:nvGrpSpPr>
          <p:cNvPr id="4" name="!!组合 2">
            <a:extLst>
              <a:ext uri="{FF2B5EF4-FFF2-40B4-BE49-F238E27FC236}">
                <a16:creationId xmlns:a16="http://schemas.microsoft.com/office/drawing/2014/main" id="{A3075292-4233-0A89-2B8B-5A80E38DBCCE}"/>
              </a:ext>
            </a:extLst>
          </p:cNvPr>
          <p:cNvGrpSpPr/>
          <p:nvPr/>
        </p:nvGrpSpPr>
        <p:grpSpPr>
          <a:xfrm>
            <a:off x="948819" y="1588747"/>
            <a:ext cx="10294362" cy="3350806"/>
            <a:chOff x="2297723" y="3660322"/>
            <a:chExt cx="11342472" cy="335100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E742638-739C-9407-10E4-EBC8D9DC304B}"/>
                </a:ext>
              </a:extLst>
            </p:cNvPr>
            <p:cNvSpPr/>
            <p:nvPr/>
          </p:nvSpPr>
          <p:spPr>
            <a:xfrm>
              <a:off x="2297730" y="3660323"/>
              <a:ext cx="11342465" cy="3351003"/>
            </a:xfrm>
            <a:prstGeom prst="roundRect">
              <a:avLst>
                <a:gd name="adj" fmla="val 218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@Transactional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(rollbackFor = {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Exception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class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})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9E880D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@Override</a:t>
              </a:r>
              <a:br>
                <a:rPr lang="en-US" altLang="zh-CN" sz="1200">
                  <a:solidFill>
                    <a:srgbClr val="9E880D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void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save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emp) {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//1.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保存员工基本信息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zh-CN" altLang="en-US" sz="12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emp.setCreateTime(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LocalDateTime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now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());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emp.setUpdateTime(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LocalDateTime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now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());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zh-CN" altLang="en-US" sz="12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2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.insert(emp);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//2. </a:t>
              </a:r>
              <a:r>
                <a:rPr lang="zh-CN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保存员工的工作经历信息</a:t>
              </a:r>
              <a:endPara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//...</a:t>
              </a:r>
              <a:r>
                <a:rPr lang="en-US" altLang="zh-CN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省略</a:t>
              </a:r>
              <a:endPara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3B5A4C05-164D-97D7-5C0E-A138F533591C}"/>
                </a:ext>
              </a:extLst>
            </p:cNvPr>
            <p:cNvSpPr/>
            <p:nvPr/>
          </p:nvSpPr>
          <p:spPr>
            <a:xfrm>
              <a:off x="2297723" y="3660322"/>
              <a:ext cx="11342466" cy="270190"/>
            </a:xfrm>
            <a:prstGeom prst="round2SameRect">
              <a:avLst>
                <a:gd name="adj1" fmla="val 2015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EmpServiceImpl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6B407BC-F6FB-2EE8-4AA6-F50E913960B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4AAD83C-2F92-6699-DC8E-565DC1CB27A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901628D-935E-4037-18BD-11945BADE13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CDFE4CC-8936-C6E1-8F42-7E15C4A615AA}"/>
              </a:ext>
            </a:extLst>
          </p:cNvPr>
          <p:cNvSpPr/>
          <p:nvPr/>
        </p:nvSpPr>
        <p:spPr>
          <a:xfrm>
            <a:off x="948819" y="1905918"/>
            <a:ext cx="10294356" cy="306058"/>
          </a:xfrm>
          <a:prstGeom prst="roundRect">
            <a:avLst>
              <a:gd name="adj" fmla="val 17584"/>
            </a:avLst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EF95520-7C98-7F12-340D-9C2E371F0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086" y="1041648"/>
            <a:ext cx="5174489" cy="31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1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5B300D-0D87-C472-FE09-7B6D5ACFC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事务传播行为：指的就是当一个事务方法被另一个事务方法调用时，这个事务方法应该如何进行事务控制。</a:t>
            </a:r>
            <a:endParaRPr lang="en-US" altLang="zh-CN" sz="160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事务进阶</a:t>
            </a:r>
            <a:r>
              <a:rPr lang="en-US" altLang="zh-CN"/>
              <a:t>-propagation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76405A-56E4-5D55-3E8E-7E826CFF8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35" y="1620908"/>
            <a:ext cx="4193629" cy="1603907"/>
          </a:xfrm>
          <a:prstGeom prst="roundRect">
            <a:avLst>
              <a:gd name="adj" fmla="val 3609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C618B89-6360-D862-D58F-A55FF6F244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36255"/>
          <a:stretch/>
        </p:blipFill>
        <p:spPr>
          <a:xfrm>
            <a:off x="6144458" y="2058854"/>
            <a:ext cx="4942539" cy="1165961"/>
          </a:xfrm>
          <a:prstGeom prst="roundRect">
            <a:avLst>
              <a:gd name="adj" fmla="val 5577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6C7F9232-6981-C434-2950-4072EB819BF5}"/>
              </a:ext>
            </a:extLst>
          </p:cNvPr>
          <p:cNvSpPr/>
          <p:nvPr/>
        </p:nvSpPr>
        <p:spPr>
          <a:xfrm>
            <a:off x="941135" y="2395153"/>
            <a:ext cx="4193629" cy="271667"/>
          </a:xfrm>
          <a:prstGeom prst="roundRect">
            <a:avLst>
              <a:gd name="adj" fmla="val 0"/>
            </a:avLst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B78E622-56A5-6468-142D-4811BB73C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387" y="2134593"/>
            <a:ext cx="3299746" cy="20575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00FB2D7-D046-6329-7A26-42AEBCB70BAA}"/>
              </a:ext>
            </a:extLst>
          </p:cNvPr>
          <p:cNvSpPr txBox="1"/>
          <p:nvPr/>
        </p:nvSpPr>
        <p:spPr>
          <a:xfrm>
            <a:off x="5134764" y="234630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加入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03E746-5AA1-C097-4604-EC023AEA409E}"/>
              </a:ext>
            </a:extLst>
          </p:cNvPr>
          <p:cNvSpPr txBox="1"/>
          <p:nvPr/>
        </p:nvSpPr>
        <p:spPr>
          <a:xfrm>
            <a:off x="6150470" y="165874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新建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graphicFrame>
        <p:nvGraphicFramePr>
          <p:cNvPr id="10" name="表格 6">
            <a:extLst>
              <a:ext uri="{FF2B5EF4-FFF2-40B4-BE49-F238E27FC236}">
                <a16:creationId xmlns:a16="http://schemas.microsoft.com/office/drawing/2014/main" id="{F15D6992-6C4B-A171-6DA5-7D77DD7DB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504015"/>
              </p:ext>
            </p:extLst>
          </p:nvPr>
        </p:nvGraphicFramePr>
        <p:xfrm>
          <a:off x="941135" y="3445179"/>
          <a:ext cx="10177493" cy="3199811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416195">
                  <a:extLst>
                    <a:ext uri="{9D8B030D-6E8A-4147-A177-3AD203B41FA5}">
                      <a16:colId xmlns:a16="http://schemas.microsoft.com/office/drawing/2014/main" val="2622190329"/>
                    </a:ext>
                  </a:extLst>
                </a:gridCol>
                <a:gridCol w="7761298">
                  <a:extLst>
                    <a:ext uri="{9D8B030D-6E8A-4147-A177-3AD203B41FA5}">
                      <a16:colId xmlns:a16="http://schemas.microsoft.com/office/drawing/2014/main" val="4224734778"/>
                    </a:ext>
                  </a:extLst>
                </a:gridCol>
              </a:tblGrid>
              <a:tr h="4278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属性值</a:t>
                      </a:r>
                    </a:p>
                  </a:txBody>
                  <a:tcPr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含义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01352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REQUIRED</a:t>
                      </a:r>
                    </a:p>
                  </a:txBody>
                  <a:tcPr marL="54392" marR="54392" marT="27196" marB="27196"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9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【</a:t>
                      </a:r>
                      <a:r>
                        <a:rPr lang="zh-CN" alt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默认值</a:t>
                      </a:r>
                      <a:r>
                        <a:rPr lang="en-US" altLang="zh-CN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】</a:t>
                      </a:r>
                      <a:r>
                        <a:rPr lang="zh-CN" alt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需要事务，有则加入，无则创建新事务</a:t>
                      </a:r>
                    </a:p>
                  </a:txBody>
                  <a:tcPr marL="54392" marR="54392" marT="27196" marB="27196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60786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REQUIRES_NEW</a:t>
                      </a:r>
                    </a:p>
                  </a:txBody>
                  <a:tcPr marL="54392" marR="54392" marT="27196" marB="27196"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9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需要新事务，无论有无，总是创建新事务</a:t>
                      </a:r>
                    </a:p>
                  </a:txBody>
                  <a:tcPr marL="54392" marR="54392" marT="27196" marB="27196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0866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SUPPORTS</a:t>
                      </a:r>
                    </a:p>
                  </a:txBody>
                  <a:tcPr marL="54392" marR="54392" marT="27196" marB="27196"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支持事务，有则加入，无则在无事务状态中运行</a:t>
                      </a:r>
                      <a:endParaRPr lang="en-US" altLang="zh-CN" sz="12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阿里巴巴普惠体" panose="00020600040101010101" pitchFamily="18" charset="-122"/>
                      </a:endParaRPr>
                    </a:p>
                  </a:txBody>
                  <a:tcPr marL="54392" marR="54392" marT="27196" marB="27196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21167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NOT_SUPPORTED</a:t>
                      </a:r>
                    </a:p>
                  </a:txBody>
                  <a:tcPr marL="54392" marR="54392" marT="27196" marB="27196"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不支持事务，在无事务状态下运行</a:t>
                      </a:r>
                      <a:r>
                        <a:rPr lang="en-US" altLang="zh-CN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,</a:t>
                      </a:r>
                      <a:r>
                        <a:rPr lang="zh-CN" alt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如果当前存在已有事务</a:t>
                      </a:r>
                      <a:r>
                        <a:rPr lang="en-US" altLang="zh-CN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,</a:t>
                      </a:r>
                      <a:r>
                        <a:rPr lang="zh-CN" alt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则挂起当前事务</a:t>
                      </a:r>
                      <a:endParaRPr lang="en-US" altLang="zh-CN" sz="12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阿里巴巴普惠体" panose="00020600040101010101" pitchFamily="18" charset="-122"/>
                      </a:endParaRPr>
                    </a:p>
                  </a:txBody>
                  <a:tcPr marL="54392" marR="54392" marT="27196" marB="27196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5052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MANDATORY</a:t>
                      </a:r>
                    </a:p>
                  </a:txBody>
                  <a:tcPr marL="54392" marR="54392" marT="27196" marB="27196"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必须有事务，否则抛异常</a:t>
                      </a:r>
                    </a:p>
                  </a:txBody>
                  <a:tcPr marL="54392" marR="54392" marT="27196" marB="27196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0926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NEVER</a:t>
                      </a:r>
                    </a:p>
                  </a:txBody>
                  <a:tcPr marL="54392" marR="54392" marT="27196" marB="27196"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必须没事务，否则抛异常</a:t>
                      </a:r>
                    </a:p>
                  </a:txBody>
                  <a:tcPr marL="54392" marR="54392" marT="27196" marB="27196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36491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. . .</a:t>
                      </a:r>
                    </a:p>
                  </a:txBody>
                  <a:tcPr marL="54392" marR="54392" marT="27196" marB="27196"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54392" marR="54392" marT="27196" marB="27196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061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14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E16BFC-4053-E1D0-CD54-9D2C3C90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新增员工信息，记录日志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478E7C-9D81-DA6B-8267-41C2CA036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635" y="1024932"/>
            <a:ext cx="10723004" cy="1834809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需求：在新增员工信息时，无论是成功还是失败，都要记录操作日志。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步骤：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defTabSz="504000">
              <a:spcBef>
                <a:spcPts val="600"/>
              </a:spcBef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	</a:t>
            </a:r>
            <a:r>
              <a:rPr lang="zh-CN" altLang="en-US" sz="1600">
                <a:latin typeface="Fira Code" panose="020B0809050000020004" pitchFamily="49" charset="0"/>
              </a:rPr>
              <a:t>①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. </a:t>
            </a:r>
            <a:r>
              <a:rPr lang="zh-CN" altLang="en-US" sz="1600">
                <a:latin typeface="Fira Code" panose="020B0809050000020004" pitchFamily="49" charset="0"/>
              </a:rPr>
              <a:t>准备日志表 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emp_log</a:t>
            </a:r>
            <a:r>
              <a:rPr lang="zh-CN" altLang="en-US" sz="1600">
                <a:latin typeface="Fira Code" panose="020B0809050000020004" pitchFamily="49" charset="0"/>
              </a:rPr>
              <a:t>、实体类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EmpLog</a:t>
            </a:r>
            <a:r>
              <a:rPr lang="zh-CN" altLang="en-US" sz="1600">
                <a:latin typeface="Fira Code" panose="020B0809050000020004" pitchFamily="49" charset="0"/>
              </a:rPr>
              <a:t>、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Mapper</a:t>
            </a:r>
            <a:r>
              <a:rPr lang="zh-CN" altLang="en-US" sz="1600">
                <a:latin typeface="Fira Code" panose="020B0809050000020004" pitchFamily="49" charset="0"/>
              </a:rPr>
              <a:t>接口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EmpLogMapper</a:t>
            </a:r>
          </a:p>
          <a:p>
            <a:pPr defTabSz="504000">
              <a:spcBef>
                <a:spcPts val="600"/>
              </a:spcBef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	</a:t>
            </a:r>
            <a:r>
              <a:rPr lang="zh-CN" altLang="en-US" sz="1600">
                <a:latin typeface="Fira Code" panose="020B0809050000020004" pitchFamily="49" charset="0"/>
              </a:rPr>
              <a:t>②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. </a:t>
            </a:r>
            <a:r>
              <a:rPr lang="zh-CN" altLang="en-US" sz="1600">
                <a:latin typeface="Fira Code" panose="020B0809050000020004" pitchFamily="49" charset="0"/>
              </a:rPr>
              <a:t>在新增员工时记录日志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42F507-6C37-4F60-9180-37272A29BC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51"/>
          <a:stretch/>
        </p:blipFill>
        <p:spPr>
          <a:xfrm>
            <a:off x="3777183" y="2499421"/>
            <a:ext cx="5147837" cy="4160778"/>
          </a:xfrm>
          <a:prstGeom prst="roundRect">
            <a:avLst>
              <a:gd name="adj" fmla="val 16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B63448C-9F0F-54F8-6524-765C94017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771" y="4579810"/>
            <a:ext cx="4032437" cy="1153135"/>
          </a:xfrm>
          <a:prstGeom prst="roundRect">
            <a:avLst>
              <a:gd name="adj" fmla="val 5606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66A1F3E9-8860-3105-F493-C0E779FBEF6C}"/>
              </a:ext>
            </a:extLst>
          </p:cNvPr>
          <p:cNvSpPr/>
          <p:nvPr/>
        </p:nvSpPr>
        <p:spPr>
          <a:xfrm>
            <a:off x="3777183" y="6267286"/>
            <a:ext cx="5147837" cy="224954"/>
          </a:xfrm>
          <a:prstGeom prst="roundRect">
            <a:avLst>
              <a:gd name="adj" fmla="val 0"/>
            </a:avLst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09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25E8DF-790E-EFC7-F899-3562B5E19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5782" y="1359878"/>
            <a:ext cx="7886218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Fira Code" panose="020B0809050000020004" pitchFamily="49" charset="0"/>
              </a:rPr>
              <a:t>事务的传播行为控制的是什么 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一个事务方法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,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调用另外一个事务方法时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,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事务应该如何控制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加入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?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新建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?...)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Fira Code" panose="020B0809050000020004" pitchFamily="49" charset="0"/>
              </a:rPr>
              <a:t>常见的传播行为及应用场景 ？</a:t>
            </a:r>
            <a:endParaRPr lang="en-US" altLang="zh-CN" sz="18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REQUIRED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：大部分场景</a:t>
            </a:r>
            <a:endParaRPr lang="en-US" altLang="zh-CN" sz="160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REQUIRES_NEW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：希望两个方法在独立的事务中运行，互不影响</a:t>
            </a:r>
          </a:p>
        </p:txBody>
      </p:sp>
    </p:spTree>
    <p:extLst>
      <p:ext uri="{BB962C8B-B14F-4D97-AF65-F5344CB8AC3E}">
        <p14:creationId xmlns:p14="http://schemas.microsoft.com/office/powerpoint/2010/main" val="18485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C91C7F-642B-1163-4C82-0DE578646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介绍</a:t>
            </a:r>
            <a:r>
              <a:rPr lang="en-US" altLang="zh-CN"/>
              <a:t>&amp;</a:t>
            </a:r>
            <a:r>
              <a:rPr lang="zh-CN" altLang="en-US"/>
              <a:t>操作</a:t>
            </a:r>
            <a:endParaRPr lang="en-US" altLang="zh-CN"/>
          </a:p>
          <a:p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Spring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事务管理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四大特性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B65B8A-3CB6-34CA-989D-6A63DA54BC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事务管理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5A5CC1-0FFF-F258-8015-9B62F5F3D1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349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四大特性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F7387B2-A348-37E4-2837-EB14D670B516}"/>
              </a:ext>
            </a:extLst>
          </p:cNvPr>
          <p:cNvGrpSpPr/>
          <p:nvPr/>
        </p:nvGrpSpPr>
        <p:grpSpPr>
          <a:xfrm>
            <a:off x="1177234" y="2112366"/>
            <a:ext cx="1782365" cy="1577789"/>
            <a:chOff x="1177234" y="2686108"/>
            <a:chExt cx="1782365" cy="1577789"/>
          </a:xfrm>
        </p:grpSpPr>
        <p:sp>
          <p:nvSpPr>
            <p:cNvPr id="4" name="流程图: 接点 3">
              <a:extLst>
                <a:ext uri="{FF2B5EF4-FFF2-40B4-BE49-F238E27FC236}">
                  <a16:creationId xmlns:a16="http://schemas.microsoft.com/office/drawing/2014/main" id="{43200AAF-82B9-D9AA-7440-777CA2DDAF0E}"/>
                </a:ext>
              </a:extLst>
            </p:cNvPr>
            <p:cNvSpPr/>
            <p:nvPr/>
          </p:nvSpPr>
          <p:spPr>
            <a:xfrm>
              <a:off x="1237462" y="2686108"/>
              <a:ext cx="1577789" cy="1577789"/>
            </a:xfrm>
            <a:prstGeom prst="flowChartConnector">
              <a:avLst/>
            </a:prstGeom>
            <a:gradFill flip="none" rotWithShape="1">
              <a:gsLst>
                <a:gs pos="7000">
                  <a:srgbClr val="261059"/>
                </a:gs>
                <a:gs pos="100000">
                  <a:srgbClr val="400C99"/>
                </a:gs>
              </a:gsLst>
              <a:lin ang="135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0" dist="635000" dir="5400000" sx="90000" sy="90000" algn="t" rotWithShape="0">
                <a:srgbClr val="261059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prstClr val="white"/>
                  </a:solidFill>
                  <a:latin typeface="Roboto Regular"/>
                </a:rPr>
                <a:t>原子性</a:t>
              </a:r>
              <a:endParaRPr lang="en-US" altLang="zh-CN" b="1">
                <a:solidFill>
                  <a:prstClr val="white"/>
                </a:solidFill>
                <a:latin typeface="Roboto Regular"/>
              </a:endParaRPr>
            </a:p>
            <a:p>
              <a:pPr algn="ctr"/>
              <a:endParaRPr lang="zh-CN" altLang="en-US" b="1">
                <a:solidFill>
                  <a:prstClr val="white"/>
                </a:solidFill>
                <a:latin typeface="Roboto Regular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CD178C8-C1E5-C4E9-B864-3F4CB7907434}"/>
                </a:ext>
              </a:extLst>
            </p:cNvPr>
            <p:cNvSpPr/>
            <p:nvPr/>
          </p:nvSpPr>
          <p:spPr>
            <a:xfrm>
              <a:off x="1177234" y="3429000"/>
              <a:ext cx="1782365" cy="3885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+mn-ea"/>
                  <a:sym typeface="inpin heiti" panose="00000500000000000000" pitchFamily="2" charset="-122"/>
                </a:rPr>
                <a:t>Atomicity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875A301-AC9A-241C-5636-5CCD034D9C90}"/>
              </a:ext>
            </a:extLst>
          </p:cNvPr>
          <p:cNvGrpSpPr/>
          <p:nvPr/>
        </p:nvGrpSpPr>
        <p:grpSpPr>
          <a:xfrm>
            <a:off x="3794930" y="2112366"/>
            <a:ext cx="1782365" cy="1577789"/>
            <a:chOff x="3794930" y="2686108"/>
            <a:chExt cx="1782365" cy="1577789"/>
          </a:xfrm>
        </p:grpSpPr>
        <p:sp>
          <p:nvSpPr>
            <p:cNvPr id="5" name="流程图: 接点 4">
              <a:extLst>
                <a:ext uri="{FF2B5EF4-FFF2-40B4-BE49-F238E27FC236}">
                  <a16:creationId xmlns:a16="http://schemas.microsoft.com/office/drawing/2014/main" id="{0065BF02-EF4C-118B-5367-59C78BF496AC}"/>
                </a:ext>
              </a:extLst>
            </p:cNvPr>
            <p:cNvSpPr/>
            <p:nvPr/>
          </p:nvSpPr>
          <p:spPr>
            <a:xfrm>
              <a:off x="3873086" y="2686108"/>
              <a:ext cx="1577789" cy="1577789"/>
            </a:xfrm>
            <a:prstGeom prst="flowChartConnector">
              <a:avLst/>
            </a:prstGeom>
            <a:gradFill flip="none" rotWithShape="1">
              <a:gsLst>
                <a:gs pos="7000">
                  <a:srgbClr val="261059"/>
                </a:gs>
                <a:gs pos="100000">
                  <a:srgbClr val="400C99"/>
                </a:gs>
              </a:gsLst>
              <a:lin ang="135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0" dist="635000" dir="5400000" sx="90000" sy="90000" algn="t" rotWithShape="0">
                <a:srgbClr val="261059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prstClr val="white"/>
                  </a:solidFill>
                  <a:latin typeface="Roboto Regular"/>
                </a:rPr>
                <a:t>一致性</a:t>
              </a:r>
              <a:endParaRPr lang="en-US" altLang="zh-CN" b="1">
                <a:solidFill>
                  <a:prstClr val="white"/>
                </a:solidFill>
                <a:latin typeface="Roboto Regular"/>
              </a:endParaRPr>
            </a:p>
            <a:p>
              <a:pPr algn="ctr"/>
              <a:endParaRPr lang="zh-CN" altLang="en-US" b="1">
                <a:solidFill>
                  <a:prstClr val="white"/>
                </a:solidFill>
                <a:latin typeface="Roboto Regular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4469240-C58D-2D70-87C4-075DB86A44DE}"/>
                </a:ext>
              </a:extLst>
            </p:cNvPr>
            <p:cNvSpPr/>
            <p:nvPr/>
          </p:nvSpPr>
          <p:spPr>
            <a:xfrm>
              <a:off x="3794930" y="3429000"/>
              <a:ext cx="1782365" cy="3885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+mn-ea"/>
                  <a:sym typeface="inpin heiti" panose="00000500000000000000" pitchFamily="2" charset="-122"/>
                </a:rPr>
                <a:t>Consistency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4A540FE-A37C-E0EB-8E57-EC01FF240480}"/>
              </a:ext>
            </a:extLst>
          </p:cNvPr>
          <p:cNvGrpSpPr/>
          <p:nvPr/>
        </p:nvGrpSpPr>
        <p:grpSpPr>
          <a:xfrm>
            <a:off x="6424352" y="2112366"/>
            <a:ext cx="1782365" cy="1577789"/>
            <a:chOff x="6424352" y="2686108"/>
            <a:chExt cx="1782365" cy="1577789"/>
          </a:xfrm>
        </p:grpSpPr>
        <p:sp>
          <p:nvSpPr>
            <p:cNvPr id="6" name="流程图: 接点 5">
              <a:extLst>
                <a:ext uri="{FF2B5EF4-FFF2-40B4-BE49-F238E27FC236}">
                  <a16:creationId xmlns:a16="http://schemas.microsoft.com/office/drawing/2014/main" id="{66359545-B929-3642-3929-BCEEA5CEBC9A}"/>
                </a:ext>
              </a:extLst>
            </p:cNvPr>
            <p:cNvSpPr/>
            <p:nvPr/>
          </p:nvSpPr>
          <p:spPr>
            <a:xfrm>
              <a:off x="6508710" y="2686108"/>
              <a:ext cx="1577789" cy="1577789"/>
            </a:xfrm>
            <a:prstGeom prst="flowChartConnector">
              <a:avLst/>
            </a:prstGeom>
            <a:gradFill flip="none" rotWithShape="1">
              <a:gsLst>
                <a:gs pos="7000">
                  <a:srgbClr val="261059"/>
                </a:gs>
                <a:gs pos="100000">
                  <a:srgbClr val="400C99"/>
                </a:gs>
              </a:gsLst>
              <a:lin ang="135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0" dist="635000" dir="5400000" sx="90000" sy="90000" algn="t" rotWithShape="0">
                <a:srgbClr val="261059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prstClr val="white"/>
                  </a:solidFill>
                  <a:latin typeface="Roboto Regular"/>
                </a:rPr>
                <a:t>隔离性</a:t>
              </a:r>
              <a:endParaRPr lang="en-US" altLang="zh-CN" b="1">
                <a:solidFill>
                  <a:prstClr val="white"/>
                </a:solidFill>
                <a:latin typeface="Roboto Regular"/>
              </a:endParaRPr>
            </a:p>
            <a:p>
              <a:pPr algn="ctr"/>
              <a:endParaRPr lang="zh-CN" altLang="en-US" b="1">
                <a:solidFill>
                  <a:prstClr val="white"/>
                </a:solidFill>
                <a:latin typeface="Roboto Regular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B98ADA8-A8BB-9738-9C21-71F18DE11F2A}"/>
                </a:ext>
              </a:extLst>
            </p:cNvPr>
            <p:cNvSpPr/>
            <p:nvPr/>
          </p:nvSpPr>
          <p:spPr>
            <a:xfrm>
              <a:off x="6424352" y="3429000"/>
              <a:ext cx="1782365" cy="3885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+mn-ea"/>
                  <a:sym typeface="inpin heiti" panose="00000500000000000000" pitchFamily="2" charset="-122"/>
                </a:rPr>
                <a:t>Isolation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8D08915-E0D2-4FBC-5AC0-BFC3DDC1CD23}"/>
              </a:ext>
            </a:extLst>
          </p:cNvPr>
          <p:cNvGrpSpPr/>
          <p:nvPr/>
        </p:nvGrpSpPr>
        <p:grpSpPr>
          <a:xfrm>
            <a:off x="9071704" y="2112365"/>
            <a:ext cx="1782365" cy="1577789"/>
            <a:chOff x="9071704" y="2686107"/>
            <a:chExt cx="1782365" cy="1577789"/>
          </a:xfrm>
        </p:grpSpPr>
        <p:sp>
          <p:nvSpPr>
            <p:cNvPr id="7" name="流程图: 接点 6">
              <a:extLst>
                <a:ext uri="{FF2B5EF4-FFF2-40B4-BE49-F238E27FC236}">
                  <a16:creationId xmlns:a16="http://schemas.microsoft.com/office/drawing/2014/main" id="{5E55BC3D-7CE8-A411-3D43-3AED906A347F}"/>
                </a:ext>
              </a:extLst>
            </p:cNvPr>
            <p:cNvSpPr/>
            <p:nvPr/>
          </p:nvSpPr>
          <p:spPr>
            <a:xfrm>
              <a:off x="9144334" y="2686107"/>
              <a:ext cx="1577789" cy="1577789"/>
            </a:xfrm>
            <a:prstGeom prst="flowChartConnector">
              <a:avLst/>
            </a:prstGeom>
            <a:gradFill flip="none" rotWithShape="1">
              <a:gsLst>
                <a:gs pos="7000">
                  <a:srgbClr val="261059"/>
                </a:gs>
                <a:gs pos="100000">
                  <a:srgbClr val="400C99"/>
                </a:gs>
              </a:gsLst>
              <a:lin ang="135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0" dist="635000" dir="5400000" sx="90000" sy="90000" algn="t" rotWithShape="0">
                <a:srgbClr val="261059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prstClr val="white"/>
                  </a:solidFill>
                  <a:latin typeface="Roboto Regular"/>
                </a:rPr>
                <a:t>持久性</a:t>
              </a:r>
              <a:endParaRPr lang="en-US" altLang="zh-CN" b="1">
                <a:solidFill>
                  <a:prstClr val="white"/>
                </a:solidFill>
                <a:latin typeface="Roboto Regular"/>
              </a:endParaRPr>
            </a:p>
            <a:p>
              <a:pPr algn="ctr"/>
              <a:endParaRPr lang="zh-CN" altLang="en-US" b="1">
                <a:solidFill>
                  <a:prstClr val="white"/>
                </a:solidFill>
                <a:latin typeface="Roboto Regular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1CFC3A8-D8F6-824B-E14B-67181B30D736}"/>
                </a:ext>
              </a:extLst>
            </p:cNvPr>
            <p:cNvSpPr/>
            <p:nvPr/>
          </p:nvSpPr>
          <p:spPr>
            <a:xfrm>
              <a:off x="9071704" y="3429000"/>
              <a:ext cx="1782365" cy="3885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+mn-ea"/>
                  <a:sym typeface="inpin heiti" panose="00000500000000000000" pitchFamily="2" charset="-122"/>
                </a:rPr>
                <a:t>Durability</a:t>
              </a:r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4733C8C0-5B05-B99C-4780-8A86B9A3D5CD}"/>
              </a:ext>
            </a:extLst>
          </p:cNvPr>
          <p:cNvSpPr/>
          <p:nvPr/>
        </p:nvSpPr>
        <p:spPr>
          <a:xfrm>
            <a:off x="1066084" y="4122545"/>
            <a:ext cx="2166612" cy="621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Fira Code" panose="020B0809050000020004" pitchFamily="49" charset="0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事务是不可分割的最小单元</a:t>
            </a:r>
            <a:r>
              <a:rPr lang="zh-CN" altLang="en-US" sz="1200" kern="0">
                <a:latin typeface="Fira Code" panose="020B0809050000020004" pitchFamily="49" charset="0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，要么全部成功，要么全部失败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+mn-ea"/>
              <a:sym typeface="inpin heiti" panose="00000500000000000000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4DE3E1-9C8A-3EE8-1410-58DA2A6141EC}"/>
              </a:ext>
            </a:extLst>
          </p:cNvPr>
          <p:cNvSpPr/>
          <p:nvPr/>
        </p:nvSpPr>
        <p:spPr>
          <a:xfrm>
            <a:off x="3415623" y="4126713"/>
            <a:ext cx="2540977" cy="616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kern="0">
                <a:latin typeface="Fira Code" panose="020B0809050000020004" pitchFamily="49" charset="0"/>
                <a:ea typeface="inpin heiti" panose="00000500000000000000" pitchFamily="2" charset="-122"/>
                <a:cs typeface="+mn-ea"/>
              </a:rPr>
              <a:t>事务完成时，必须使所有的数据都保持一致状态</a:t>
            </a:r>
            <a:endParaRPr lang="en-US" altLang="zh-CN" sz="1200" kern="0" dirty="0">
              <a:latin typeface="Fira Code" panose="020B0809050000020004" pitchFamily="49" charset="0"/>
              <a:ea typeface="Fira Code" panose="020B0809050000020004" pitchFamily="49" charset="0"/>
              <a:cs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0F5E1F-A2CD-BF58-9DE6-E741B482307C}"/>
              </a:ext>
            </a:extLst>
          </p:cNvPr>
          <p:cNvSpPr/>
          <p:nvPr/>
        </p:nvSpPr>
        <p:spPr>
          <a:xfrm>
            <a:off x="6139527" y="4122545"/>
            <a:ext cx="2380063" cy="893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kern="0">
                <a:latin typeface="Fira Code" panose="020B0809050000020004" pitchFamily="49" charset="0"/>
                <a:ea typeface="inpin heiti" panose="00000500000000000000" pitchFamily="2" charset="-122"/>
                <a:cs typeface="+mn-ea"/>
              </a:rPr>
              <a:t>数据库系统提供的隔离机制，保证事务在不受外部并发操作影响的独立环境下运行</a:t>
            </a:r>
            <a:endParaRPr lang="en-US" altLang="zh-CN" sz="1200" kern="0" dirty="0">
              <a:latin typeface="Fira Code" panose="020B0809050000020004" pitchFamily="49" charset="0"/>
              <a:ea typeface="Fira Code" panose="020B0809050000020004" pitchFamily="49" charset="0"/>
              <a:cs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7A718A-3018-BB11-6D1B-51D197DCB2E2}"/>
              </a:ext>
            </a:extLst>
          </p:cNvPr>
          <p:cNvSpPr/>
          <p:nvPr/>
        </p:nvSpPr>
        <p:spPr>
          <a:xfrm>
            <a:off x="8863431" y="4126713"/>
            <a:ext cx="2380063" cy="616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kern="0">
                <a:latin typeface="Fira Code" panose="020B0809050000020004" pitchFamily="49" charset="0"/>
                <a:ea typeface="inpin heiti" panose="00000500000000000000" pitchFamily="2" charset="-122"/>
                <a:cs typeface="+mn-ea"/>
              </a:rPr>
              <a:t>事务一旦提交或回滚，它对数据库中的数据的改变就是永久的</a:t>
            </a:r>
            <a:endParaRPr lang="en-US" altLang="zh-CN" sz="1200" kern="0">
              <a:latin typeface="Fira Code" panose="020B0809050000020004" pitchFamily="49" charset="0"/>
              <a:ea typeface="Fira Code" panose="020B0809050000020004" pitchFamily="49" charset="0"/>
              <a:cs typeface="+mn-ea"/>
            </a:endParaRP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524E7533-45DD-9270-0F42-90D2DDB59D88}"/>
              </a:ext>
            </a:extLst>
          </p:cNvPr>
          <p:cNvSpPr txBox="1">
            <a:spLocks/>
          </p:cNvSpPr>
          <p:nvPr/>
        </p:nvSpPr>
        <p:spPr>
          <a:xfrm>
            <a:off x="1831255" y="331895"/>
            <a:ext cx="1270533" cy="4744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(ACID)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23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D5032E9-EA68-450F-E8FD-7AF12E8F1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新增员工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525DBE-E808-2819-8090-856BBBD00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429" y="1235174"/>
            <a:ext cx="6516173" cy="5196354"/>
          </a:xfrm>
          <a:prstGeom prst="rect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7B11FFE1-13F1-54DF-2465-737B81C38A03}"/>
              </a:ext>
            </a:extLst>
          </p:cNvPr>
          <p:cNvSpPr/>
          <p:nvPr/>
        </p:nvSpPr>
        <p:spPr>
          <a:xfrm>
            <a:off x="2363813" y="3630168"/>
            <a:ext cx="813816" cy="768096"/>
          </a:xfrm>
          <a:prstGeom prst="roundRect">
            <a:avLst>
              <a:gd name="adj" fmla="val 8334"/>
            </a:avLst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804052D-AC7C-3A65-3805-25F154D39C6C}"/>
              </a:ext>
            </a:extLst>
          </p:cNvPr>
          <p:cNvCxnSpPr/>
          <p:nvPr/>
        </p:nvCxnSpPr>
        <p:spPr>
          <a:xfrm>
            <a:off x="3241637" y="4014216"/>
            <a:ext cx="5449824" cy="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F4D882B-F6A0-4D18-EC88-E51A2D899609}"/>
              </a:ext>
            </a:extLst>
          </p:cNvPr>
          <p:cNvSpPr txBox="1"/>
          <p:nvPr/>
        </p:nvSpPr>
        <p:spPr>
          <a:xfrm>
            <a:off x="8879986" y="3783383"/>
            <a:ext cx="1433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文件上传</a:t>
            </a:r>
            <a:endParaRPr lang="zh-CN" altLang="en-US" sz="24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721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7EEEE4-79EE-E070-4693-FB2B57716C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/>
              <a:t>新增员工</a:t>
            </a:r>
            <a:endParaRPr lang="en-US" altLang="zh-CN" sz="2000"/>
          </a:p>
          <a:p>
            <a:r>
              <a:rPr lang="zh-CN" altLang="en-US" sz="2000">
                <a:solidFill>
                  <a:schemeClr val="tx1">
                    <a:lumMod val="75000"/>
                  </a:schemeClr>
                </a:solidFill>
              </a:rPr>
              <a:t>事务管理</a:t>
            </a:r>
            <a:endParaRPr lang="en-US" altLang="zh-CN" sz="200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 sz="2000">
                <a:solidFill>
                  <a:srgbClr val="C00000"/>
                </a:solidFill>
              </a:rPr>
              <a:t>文件上传</a:t>
            </a:r>
            <a:endParaRPr lang="en-US" altLang="zh-CN" sz="20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8389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CE87F3-79C8-B8A6-8EA3-748A622312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简介</a:t>
            </a:r>
            <a:endParaRPr lang="en-US" altLang="zh-CN"/>
          </a:p>
          <a:p>
            <a:r>
              <a:rPr lang="zh-CN" altLang="en-US"/>
              <a:t>本地存储</a:t>
            </a:r>
            <a:endParaRPr lang="en-US" altLang="zh-CN"/>
          </a:p>
          <a:p>
            <a:r>
              <a:rPr lang="zh-CN" altLang="en-US"/>
              <a:t>阿里云</a:t>
            </a:r>
            <a:r>
              <a:rPr lang="en-US" altLang="zh-CN"/>
              <a:t>OSS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DE5C7A-D384-36B4-EEC4-8D4B24CA7A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文件上传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502167-601F-6241-C150-B440BA87E6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70065E-56C6-A71D-7CF3-2EB73C5A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80135"/>
          </a:xfrm>
        </p:spPr>
        <p:txBody>
          <a:bodyPr/>
          <a:lstStyle/>
          <a:p>
            <a:pPr marL="285750" indent="-285750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文件上传：是指将本地图片、视频、音频等文件上传到服务器，供其他用户浏览或下载的过程。</a:t>
            </a:r>
          </a:p>
          <a:p>
            <a:pPr marL="285750" indent="-285750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文件上传在项目中应用非常广泛，我们经常发微博、发微信朋友圈都用到了文件上传功能。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952211-5BF2-22D4-0553-089C9BCF5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824" y="2759823"/>
            <a:ext cx="2631212" cy="3568101"/>
          </a:xfrm>
          <a:prstGeom prst="roundRect">
            <a:avLst>
              <a:gd name="adj" fmla="val 3969"/>
            </a:avLst>
          </a:prstGeom>
          <a:effectLst>
            <a:glow rad="63500">
              <a:schemeClr val="tx1">
                <a:lumMod val="50000"/>
                <a:lumOff val="50000"/>
                <a:alpha val="40000"/>
              </a:schemeClr>
            </a:glo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22A1CBA-B196-E0BD-B66E-D89F72728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508" y="2759823"/>
            <a:ext cx="4369810" cy="3568100"/>
          </a:xfrm>
          <a:prstGeom prst="roundRect">
            <a:avLst>
              <a:gd name="adj" fmla="val 1807"/>
            </a:avLst>
          </a:prstGeom>
          <a:effectLst>
            <a:glow rad="63500">
              <a:schemeClr val="tx1">
                <a:lumMod val="50000"/>
                <a:lumOff val="50000"/>
                <a:alpha val="40000"/>
              </a:schemeClr>
            </a:glow>
          </a:effec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65033ED3-C0E6-EC18-2B25-842027D5061B}"/>
              </a:ext>
            </a:extLst>
          </p:cNvPr>
          <p:cNvSpPr/>
          <p:nvPr/>
        </p:nvSpPr>
        <p:spPr>
          <a:xfrm>
            <a:off x="1201824" y="2759823"/>
            <a:ext cx="2631212" cy="3568100"/>
          </a:xfrm>
          <a:prstGeom prst="roundRect">
            <a:avLst>
              <a:gd name="adj" fmla="val 3085"/>
            </a:avLst>
          </a:prstGeom>
          <a:solidFill>
            <a:srgbClr val="262626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085D15-959B-84EC-C078-193CBA9BA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906" y="3102707"/>
            <a:ext cx="1777048" cy="2882332"/>
          </a:xfrm>
          <a:prstGeom prst="rect">
            <a:avLst/>
          </a:prstGeom>
          <a:effectLst>
            <a:glow rad="63500">
              <a:schemeClr val="tx1">
                <a:lumMod val="50000"/>
                <a:lumOff val="50000"/>
                <a:alpha val="40000"/>
              </a:schemeClr>
            </a:glow>
          </a:effectLst>
        </p:spPr>
      </p:pic>
      <p:sp>
        <p:nvSpPr>
          <p:cNvPr id="8" name="!!矩形: 圆角 8">
            <a:extLst>
              <a:ext uri="{FF2B5EF4-FFF2-40B4-BE49-F238E27FC236}">
                <a16:creationId xmlns:a16="http://schemas.microsoft.com/office/drawing/2014/main" id="{6F597377-29A3-62FA-EF98-55FAD0003CAA}"/>
              </a:ext>
            </a:extLst>
          </p:cNvPr>
          <p:cNvSpPr/>
          <p:nvPr/>
        </p:nvSpPr>
        <p:spPr>
          <a:xfrm>
            <a:off x="6176508" y="2759823"/>
            <a:ext cx="4369810" cy="3568100"/>
          </a:xfrm>
          <a:prstGeom prst="roundRect">
            <a:avLst>
              <a:gd name="adj" fmla="val 1804"/>
            </a:avLst>
          </a:prstGeom>
          <a:solidFill>
            <a:srgbClr val="262626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1200291-1047-38DA-B71E-47D4664488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260" y="3518321"/>
            <a:ext cx="3520794" cy="2051104"/>
          </a:xfrm>
          <a:prstGeom prst="rect">
            <a:avLst/>
          </a:prstGeom>
          <a:effectLst>
            <a:glow rad="63500">
              <a:schemeClr val="tx1">
                <a:lumMod val="50000"/>
                <a:lumOff val="50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52097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文件上传</a:t>
            </a:r>
          </a:p>
        </p:txBody>
      </p:sp>
      <p:grpSp>
        <p:nvGrpSpPr>
          <p:cNvPr id="9" name="!!组合 2">
            <a:extLst>
              <a:ext uri="{FF2B5EF4-FFF2-40B4-BE49-F238E27FC236}">
                <a16:creationId xmlns:a16="http://schemas.microsoft.com/office/drawing/2014/main" id="{7C0BD6B7-DDF0-A562-5A1D-DB20B1DB9C60}"/>
              </a:ext>
            </a:extLst>
          </p:cNvPr>
          <p:cNvGrpSpPr/>
          <p:nvPr/>
        </p:nvGrpSpPr>
        <p:grpSpPr>
          <a:xfrm>
            <a:off x="689931" y="1021851"/>
            <a:ext cx="10294362" cy="2074332"/>
            <a:chOff x="2297723" y="3660322"/>
            <a:chExt cx="11342472" cy="2074455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47778FEB-0D88-354A-3804-114947FB5D4E}"/>
                </a:ext>
              </a:extLst>
            </p:cNvPr>
            <p:cNvSpPr/>
            <p:nvPr/>
          </p:nvSpPr>
          <p:spPr>
            <a:xfrm>
              <a:off x="2297730" y="3660323"/>
              <a:ext cx="11342465" cy="2074454"/>
            </a:xfrm>
            <a:prstGeom prst="roundRect">
              <a:avLst>
                <a:gd name="adj" fmla="val 261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form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action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="/upload"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method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="post"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enctype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="multipart/form-data"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姓名: 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input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type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="text"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="name"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 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br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年龄: 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input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type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="text"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="age"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 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br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图像: 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input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type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="file"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file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 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br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input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type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="submit"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value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="上传文件"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="submit"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&lt;/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form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" name="矩形: 圆顶角 10">
              <a:extLst>
                <a:ext uri="{FF2B5EF4-FFF2-40B4-BE49-F238E27FC236}">
                  <a16:creationId xmlns:a16="http://schemas.microsoft.com/office/drawing/2014/main" id="{EDEF4A4E-218E-5585-A96E-7133A06D94C8}"/>
                </a:ext>
              </a:extLst>
            </p:cNvPr>
            <p:cNvSpPr/>
            <p:nvPr/>
          </p:nvSpPr>
          <p:spPr>
            <a:xfrm>
              <a:off x="2297723" y="3660322"/>
              <a:ext cx="11342466" cy="270190"/>
            </a:xfrm>
            <a:prstGeom prst="round2SameRect">
              <a:avLst>
                <a:gd name="adj1" fmla="val 2015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前端页面三要素</a:t>
              </a:r>
              <a:endPara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C809286-C7DF-BF7E-D144-CB51833375F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98C866F-B770-051C-7A4B-B511FD46263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B63915E-E383-7A06-CC40-BA4D42A69C0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!!组合 2">
            <a:extLst>
              <a:ext uri="{FF2B5EF4-FFF2-40B4-BE49-F238E27FC236}">
                <a16:creationId xmlns:a16="http://schemas.microsoft.com/office/drawing/2014/main" id="{4849BD41-A662-0730-1270-B20D98644623}"/>
              </a:ext>
            </a:extLst>
          </p:cNvPr>
          <p:cNvGrpSpPr/>
          <p:nvPr/>
        </p:nvGrpSpPr>
        <p:grpSpPr>
          <a:xfrm>
            <a:off x="689926" y="3193211"/>
            <a:ext cx="10294362" cy="2843397"/>
            <a:chOff x="2297723" y="3660322"/>
            <a:chExt cx="11342472" cy="284356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626AE4D-A5D7-E0EE-2DD6-0905E2CCAFCC}"/>
                </a:ext>
              </a:extLst>
            </p:cNvPr>
            <p:cNvSpPr/>
            <p:nvPr/>
          </p:nvSpPr>
          <p:spPr>
            <a:xfrm>
              <a:off x="2297730" y="3660323"/>
              <a:ext cx="11342465" cy="2843565"/>
            </a:xfrm>
            <a:prstGeom prst="roundRect">
              <a:avLst>
                <a:gd name="adj" fmla="val 261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@Slf4j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@RestController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class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UploadController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@PostMapping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"/upload"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handleFileUpload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age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MultipartFile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file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log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.info(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"文件上传:{}"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200">
                  <a:solidFill>
                    <a:srgbClr val="000000"/>
                  </a:solidFill>
                </a:rPr>
                <a:t>file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success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}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23B2E748-757A-6DFC-30EB-383CBC347C92}"/>
                </a:ext>
              </a:extLst>
            </p:cNvPr>
            <p:cNvSpPr/>
            <p:nvPr/>
          </p:nvSpPr>
          <p:spPr>
            <a:xfrm>
              <a:off x="2297723" y="3660322"/>
              <a:ext cx="11342466" cy="270190"/>
            </a:xfrm>
            <a:prstGeom prst="round2SameRect">
              <a:avLst>
                <a:gd name="adj1" fmla="val 2015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服务端接收文件</a:t>
              </a:r>
              <a:endPara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72C5AD7-0EA2-59F2-BDBA-291693C67FC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21A9CDC3-5212-4E3A-917C-1596923C32D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8AC4A667-B721-6C49-46AC-0A2C3DA564F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Rectangle 2">
            <a:extLst>
              <a:ext uri="{FF2B5EF4-FFF2-40B4-BE49-F238E27FC236}">
                <a16:creationId xmlns:a16="http://schemas.microsoft.com/office/drawing/2014/main" id="{17CB6EAA-6026-9DEF-D6CC-23425F8D1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!!矩形 7">
            <a:extLst>
              <a:ext uri="{FF2B5EF4-FFF2-40B4-BE49-F238E27FC236}">
                <a16:creationId xmlns:a16="http://schemas.microsoft.com/office/drawing/2014/main" id="{AA72CE15-1C2C-B1FA-15C3-EB2DDDD61DD1}"/>
              </a:ext>
            </a:extLst>
          </p:cNvPr>
          <p:cNvSpPr/>
          <p:nvPr/>
        </p:nvSpPr>
        <p:spPr>
          <a:xfrm>
            <a:off x="2778150" y="1357683"/>
            <a:ext cx="1247003" cy="270174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!!矩形 7">
            <a:extLst>
              <a:ext uri="{FF2B5EF4-FFF2-40B4-BE49-F238E27FC236}">
                <a16:creationId xmlns:a16="http://schemas.microsoft.com/office/drawing/2014/main" id="{C3ACDD2E-DB0F-B109-DEB4-B18F50A3BC90}"/>
              </a:ext>
            </a:extLst>
          </p:cNvPr>
          <p:cNvSpPr/>
          <p:nvPr/>
        </p:nvSpPr>
        <p:spPr>
          <a:xfrm>
            <a:off x="4054363" y="1355730"/>
            <a:ext cx="2722357" cy="270174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!!矩形 7">
            <a:extLst>
              <a:ext uri="{FF2B5EF4-FFF2-40B4-BE49-F238E27FC236}">
                <a16:creationId xmlns:a16="http://schemas.microsoft.com/office/drawing/2014/main" id="{908BFC54-6F44-0868-F9C2-0393E6301CF1}"/>
              </a:ext>
            </a:extLst>
          </p:cNvPr>
          <p:cNvSpPr/>
          <p:nvPr/>
        </p:nvSpPr>
        <p:spPr>
          <a:xfrm>
            <a:off x="2154649" y="2173375"/>
            <a:ext cx="1106712" cy="270174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654BA4B-A2CC-091A-4130-3D33963768A8}"/>
              </a:ext>
            </a:extLst>
          </p:cNvPr>
          <p:cNvCxnSpPr>
            <a:cxnSpLocks/>
          </p:cNvCxnSpPr>
          <p:nvPr/>
        </p:nvCxnSpPr>
        <p:spPr>
          <a:xfrm>
            <a:off x="6311153" y="4889126"/>
            <a:ext cx="1846729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42F1D19-F176-5C08-F7D7-FFFAF60F7645}"/>
              </a:ext>
            </a:extLst>
          </p:cNvPr>
          <p:cNvSpPr/>
          <p:nvPr/>
        </p:nvSpPr>
        <p:spPr>
          <a:xfrm>
            <a:off x="3756211" y="2173375"/>
            <a:ext cx="690283" cy="270174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A528BF5-BC23-1D3F-B9CF-1D2154A09AEC}"/>
              </a:ext>
            </a:extLst>
          </p:cNvPr>
          <p:cNvSpPr/>
          <p:nvPr/>
        </p:nvSpPr>
        <p:spPr>
          <a:xfrm>
            <a:off x="7587009" y="4641341"/>
            <a:ext cx="514575" cy="217857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6D4B091C-0B2C-F40C-8834-3AD7FBD4CD37}"/>
              </a:ext>
            </a:extLst>
          </p:cNvPr>
          <p:cNvCxnSpPr>
            <a:stCxn id="29" idx="3"/>
            <a:endCxn id="30" idx="0"/>
          </p:cNvCxnSpPr>
          <p:nvPr/>
        </p:nvCxnSpPr>
        <p:spPr>
          <a:xfrm>
            <a:off x="4446494" y="2308462"/>
            <a:ext cx="3397803" cy="2332879"/>
          </a:xfrm>
          <a:prstGeom prst="curvedConnector2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99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9" grpId="0" animBg="1"/>
      <p:bldP spid="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CE87F3-79C8-B8A6-8EA3-748A622312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简介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本地存储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阿里云</a:t>
            </a:r>
            <a:r>
              <a:rPr lang="en-US" altLang="zh-CN">
                <a:latin typeface="+mn-lt"/>
              </a:rPr>
              <a:t>OSS</a:t>
            </a:r>
            <a:endParaRPr lang="zh-CN" altLang="en-US">
              <a:latin typeface="+mn-lt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DE5C7A-D384-36B4-EEC4-8D4B24CA7A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文件上传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502167-601F-6241-C150-B440BA87E6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0624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本地存储</a:t>
            </a:r>
          </a:p>
        </p:txBody>
      </p:sp>
      <p:grpSp>
        <p:nvGrpSpPr>
          <p:cNvPr id="20" name="!!组合 2">
            <a:extLst>
              <a:ext uri="{FF2B5EF4-FFF2-40B4-BE49-F238E27FC236}">
                <a16:creationId xmlns:a16="http://schemas.microsoft.com/office/drawing/2014/main" id="{767B075A-1984-0040-EBFE-008F55D62FC4}"/>
              </a:ext>
            </a:extLst>
          </p:cNvPr>
          <p:cNvGrpSpPr/>
          <p:nvPr/>
        </p:nvGrpSpPr>
        <p:grpSpPr>
          <a:xfrm>
            <a:off x="699979" y="1055309"/>
            <a:ext cx="10623714" cy="4747381"/>
            <a:chOff x="2297723" y="3660322"/>
            <a:chExt cx="11705357" cy="4747663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7AF624F1-A313-88DA-BC11-765AE1286B70}"/>
                </a:ext>
              </a:extLst>
            </p:cNvPr>
            <p:cNvSpPr/>
            <p:nvPr/>
          </p:nvSpPr>
          <p:spPr>
            <a:xfrm>
              <a:off x="2297729" y="3660323"/>
              <a:ext cx="11705351" cy="4747662"/>
            </a:xfrm>
            <a:prstGeom prst="roundRect">
              <a:avLst>
                <a:gd name="adj" fmla="val 132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@PostMapping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"/upload"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handleFileUpload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MultipartFile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file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throws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Exception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log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.info(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"文件上传:{}"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file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 生成唯一文件名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uniqueFileName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generateUniqueFileName(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file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.getOriginalFilename());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 保存文件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image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.transferTo(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new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File(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"D:/</a:t>
              </a:r>
              <a:r>
                <a:rPr lang="en-US" altLang="zh-CN" sz="1200">
                  <a:solidFill>
                    <a:srgbClr val="067D17"/>
                  </a:solidFill>
                </a:rPr>
                <a:t>images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/"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+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uniqueFileName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success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b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generateUniqueFileName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originalFilename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randomStr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UUID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randomUUID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().toString().replaceAll(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"-"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extension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originalFilename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.substring(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originalFilename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.lastIndexOf(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"."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randomStr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+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extension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2" name="矩形: 圆顶角 21">
              <a:extLst>
                <a:ext uri="{FF2B5EF4-FFF2-40B4-BE49-F238E27FC236}">
                  <a16:creationId xmlns:a16="http://schemas.microsoft.com/office/drawing/2014/main" id="{D17852C4-8322-F028-4E2A-707BE7AD2916}"/>
                </a:ext>
              </a:extLst>
            </p:cNvPr>
            <p:cNvSpPr/>
            <p:nvPr/>
          </p:nvSpPr>
          <p:spPr>
            <a:xfrm>
              <a:off x="2297723" y="3660322"/>
              <a:ext cx="11705350" cy="270190"/>
            </a:xfrm>
            <a:prstGeom prst="round2SameRect">
              <a:avLst>
                <a:gd name="adj1" fmla="val 2015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服务端接收文件</a:t>
              </a:r>
              <a:endPara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B1F01E8-9BDA-8F37-7DAF-BB0A8459403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9242727-0A2F-10E3-3641-534FDFDAADB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AA09FF6-569B-3EED-3A3C-2D2FB678DF2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Rectangle 1">
            <a:extLst>
              <a:ext uri="{FF2B5EF4-FFF2-40B4-BE49-F238E27FC236}">
                <a16:creationId xmlns:a16="http://schemas.microsoft.com/office/drawing/2014/main" id="{55AD35FF-A60C-A822-F32A-46209064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5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457FA2-70EA-E566-A191-B524ACD20F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826812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如何将上传的文件存储在服务器本地？</a:t>
            </a:r>
            <a:endParaRPr lang="en-US" altLang="zh-CN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/>
              <a:t>multipartFile.getOriginalFilename(): </a:t>
            </a:r>
            <a:r>
              <a:rPr lang="zh-CN" altLang="en-US" sz="1600"/>
              <a:t>获取原始文件名</a:t>
            </a:r>
            <a:endParaRPr lang="en-US" altLang="zh-CN" sz="16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/>
              <a:t>multipartFile.transferTo(File dest): </a:t>
            </a:r>
            <a:r>
              <a:rPr lang="zh-CN" altLang="en-US" sz="1600"/>
              <a:t>将文件转存到磁盘文件</a:t>
            </a:r>
            <a:endParaRPr lang="en-US" altLang="zh-CN" sz="16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上传文件大小受限怎么办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默认上传文件的最大大小为</a:t>
            </a:r>
            <a:r>
              <a:rPr lang="en-US" altLang="zh-CN" sz="1600"/>
              <a:t>1MB</a:t>
            </a:r>
            <a:r>
              <a:rPr lang="zh-CN" altLang="en-US" sz="1600"/>
              <a:t>，超过大小需要在配置文件配置</a:t>
            </a:r>
          </a:p>
        </p:txBody>
      </p:sp>
      <p:grpSp>
        <p:nvGrpSpPr>
          <p:cNvPr id="11" name="!!组合 2">
            <a:extLst>
              <a:ext uri="{FF2B5EF4-FFF2-40B4-BE49-F238E27FC236}">
                <a16:creationId xmlns:a16="http://schemas.microsoft.com/office/drawing/2014/main" id="{F8F48CF4-1A12-3F6B-BB3B-43CE08E9AF3B}"/>
              </a:ext>
            </a:extLst>
          </p:cNvPr>
          <p:cNvGrpSpPr/>
          <p:nvPr/>
        </p:nvGrpSpPr>
        <p:grpSpPr>
          <a:xfrm>
            <a:off x="4699046" y="4547177"/>
            <a:ext cx="6040484" cy="1755311"/>
            <a:chOff x="2297723" y="3660322"/>
            <a:chExt cx="6655490" cy="1755415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78FA8A21-91E1-A618-C55E-8308CA74F0FA}"/>
                </a:ext>
              </a:extLst>
            </p:cNvPr>
            <p:cNvSpPr/>
            <p:nvPr/>
          </p:nvSpPr>
          <p:spPr>
            <a:xfrm>
              <a:off x="2297729" y="3660323"/>
              <a:ext cx="6655484" cy="1755414"/>
            </a:xfrm>
            <a:prstGeom prst="roundRect">
              <a:avLst>
                <a:gd name="adj" fmla="val 439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spring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servlet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multipart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max-file-size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 10MB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# 最大单个文件大小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 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max-request-size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 100MB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# 最大请求总大小（包括所有文件和表单数据）</a:t>
              </a:r>
              <a:endParaRPr kumimoji="0" lang="zh-CN" altLang="zh-CN" sz="1800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0BE221B7-6370-59BF-4410-F73B8B9536F5}"/>
                </a:ext>
              </a:extLst>
            </p:cNvPr>
            <p:cNvSpPr/>
            <p:nvPr/>
          </p:nvSpPr>
          <p:spPr>
            <a:xfrm>
              <a:off x="2297723" y="3660322"/>
              <a:ext cx="6655484" cy="270190"/>
            </a:xfrm>
            <a:prstGeom prst="round2SameRect">
              <a:avLst>
                <a:gd name="adj1" fmla="val 2015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application.yml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8177965-5D53-9FEA-8588-30D200910B1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A39B6562-4035-203E-9BA4-2E78B3BCF32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76BEAFA-35B3-9476-47DE-7E6C2183040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098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21A25F3-5E63-122A-7EF1-3618658D47F3}"/>
              </a:ext>
            </a:extLst>
          </p:cNvPr>
          <p:cNvGrpSpPr/>
          <p:nvPr/>
        </p:nvGrpSpPr>
        <p:grpSpPr>
          <a:xfrm>
            <a:off x="1737326" y="3794820"/>
            <a:ext cx="780070" cy="786974"/>
            <a:chOff x="1288572" y="3466291"/>
            <a:chExt cx="1076475" cy="108600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56144CF-7B09-4D67-B57B-D64A4B55B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3BDA7B6-D786-9499-48D2-9C0D5806D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39AB4007-0B4F-18BF-55CB-58605B9DD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67" y="4188465"/>
            <a:ext cx="868755" cy="624894"/>
          </a:xfrm>
          <a:prstGeom prst="round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63518D-416A-0F86-5FEA-096AE3224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668" y="3492942"/>
            <a:ext cx="868755" cy="586791"/>
          </a:xfrm>
          <a:prstGeom prst="round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6761C06-3B6D-DD85-F9AA-97102D69B5FF}"/>
              </a:ext>
            </a:extLst>
          </p:cNvPr>
          <p:cNvCxnSpPr>
            <a:cxnSpLocks/>
          </p:cNvCxnSpPr>
          <p:nvPr/>
        </p:nvCxnSpPr>
        <p:spPr>
          <a:xfrm>
            <a:off x="2631300" y="4187609"/>
            <a:ext cx="6721397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74B689E1-9E23-E1A8-5683-823DD209E6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287" y="3917075"/>
            <a:ext cx="853514" cy="541067"/>
          </a:xfrm>
          <a:prstGeom prst="roundRect">
            <a:avLst/>
          </a:prstGeom>
        </p:spPr>
      </p:pic>
      <p:sp>
        <p:nvSpPr>
          <p:cNvPr id="10" name="爆炸形: 8 pt  9">
            <a:extLst>
              <a:ext uri="{FF2B5EF4-FFF2-40B4-BE49-F238E27FC236}">
                <a16:creationId xmlns:a16="http://schemas.microsoft.com/office/drawing/2014/main" id="{D3B96021-A78C-E97A-BC00-1898C8CA7B35}"/>
              </a:ext>
            </a:extLst>
          </p:cNvPr>
          <p:cNvSpPr/>
          <p:nvPr/>
        </p:nvSpPr>
        <p:spPr>
          <a:xfrm>
            <a:off x="8290826" y="2291128"/>
            <a:ext cx="1574276" cy="1225484"/>
          </a:xfrm>
          <a:prstGeom prst="irregularSeal1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无法直接访问</a:t>
            </a:r>
          </a:p>
        </p:txBody>
      </p:sp>
      <p:sp>
        <p:nvSpPr>
          <p:cNvPr id="11" name="爆炸形: 8 pt  10">
            <a:extLst>
              <a:ext uri="{FF2B5EF4-FFF2-40B4-BE49-F238E27FC236}">
                <a16:creationId xmlns:a16="http://schemas.microsoft.com/office/drawing/2014/main" id="{FC41F493-84E8-32A3-3458-71D351E2005A}"/>
              </a:ext>
            </a:extLst>
          </p:cNvPr>
          <p:cNvSpPr/>
          <p:nvPr/>
        </p:nvSpPr>
        <p:spPr>
          <a:xfrm>
            <a:off x="10650194" y="3429000"/>
            <a:ext cx="1574276" cy="1225484"/>
          </a:xfrm>
          <a:prstGeom prst="irregularSeal1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磁盘满了</a:t>
            </a:r>
          </a:p>
        </p:txBody>
      </p:sp>
      <p:sp>
        <p:nvSpPr>
          <p:cNvPr id="12" name="爆炸形: 8 pt  11">
            <a:extLst>
              <a:ext uri="{FF2B5EF4-FFF2-40B4-BE49-F238E27FC236}">
                <a16:creationId xmlns:a16="http://schemas.microsoft.com/office/drawing/2014/main" id="{30A43A5E-6E97-C94E-801A-611A577ADF0B}"/>
              </a:ext>
            </a:extLst>
          </p:cNvPr>
          <p:cNvSpPr/>
          <p:nvPr/>
        </p:nvSpPr>
        <p:spPr>
          <a:xfrm>
            <a:off x="9537579" y="5096591"/>
            <a:ext cx="1574276" cy="1225484"/>
          </a:xfrm>
          <a:prstGeom prst="irregularSeal1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磁盘坏了</a:t>
            </a:r>
          </a:p>
        </p:txBody>
      </p:sp>
      <p:sp>
        <p:nvSpPr>
          <p:cNvPr id="13" name="流程图: 文档 12">
            <a:extLst>
              <a:ext uri="{FF2B5EF4-FFF2-40B4-BE49-F238E27FC236}">
                <a16:creationId xmlns:a16="http://schemas.microsoft.com/office/drawing/2014/main" id="{7647AE59-08D1-3524-81F2-2AC2F5A7BD07}"/>
              </a:ext>
            </a:extLst>
          </p:cNvPr>
          <p:cNvSpPr/>
          <p:nvPr/>
        </p:nvSpPr>
        <p:spPr>
          <a:xfrm>
            <a:off x="10752474" y="3247992"/>
            <a:ext cx="1124712" cy="801908"/>
          </a:xfrm>
          <a:prstGeom prst="flowChartDocument">
            <a:avLst/>
          </a:prstGeom>
          <a:solidFill>
            <a:srgbClr val="42B883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FastDFS</a:t>
            </a:r>
            <a:endParaRPr lang="zh-CN" altLang="en-US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流程图: 文档 13">
            <a:extLst>
              <a:ext uri="{FF2B5EF4-FFF2-40B4-BE49-F238E27FC236}">
                <a16:creationId xmlns:a16="http://schemas.microsoft.com/office/drawing/2014/main" id="{7D2AAA25-BDB4-AC22-9BEC-1D26D01FC37E}"/>
              </a:ext>
            </a:extLst>
          </p:cNvPr>
          <p:cNvSpPr/>
          <p:nvPr/>
        </p:nvSpPr>
        <p:spPr>
          <a:xfrm>
            <a:off x="10752474" y="4187608"/>
            <a:ext cx="1124712" cy="801908"/>
          </a:xfrm>
          <a:prstGeom prst="flowChartDocument">
            <a:avLst/>
          </a:prstGeom>
          <a:solidFill>
            <a:srgbClr val="42B883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MinIO</a:t>
            </a:r>
            <a:endParaRPr lang="zh-CN" altLang="en-US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6140EC6-40B0-B629-CCAA-B811E9CFAB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7579" y="3325363"/>
            <a:ext cx="1092854" cy="165903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03AE146-1EB6-104D-6842-FF2C8EFB83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9957" y="3325363"/>
            <a:ext cx="1092855" cy="1659032"/>
          </a:xfrm>
          <a:prstGeom prst="rect">
            <a:avLst/>
          </a:prstGeom>
        </p:spPr>
      </p:pic>
      <p:sp>
        <p:nvSpPr>
          <p:cNvPr id="17" name="思想气泡: 云 16">
            <a:extLst>
              <a:ext uri="{FF2B5EF4-FFF2-40B4-BE49-F238E27FC236}">
                <a16:creationId xmlns:a16="http://schemas.microsoft.com/office/drawing/2014/main" id="{E4972536-14CF-03D0-C271-76DCAEC7E766}"/>
              </a:ext>
            </a:extLst>
          </p:cNvPr>
          <p:cNvSpPr/>
          <p:nvPr/>
        </p:nvSpPr>
        <p:spPr>
          <a:xfrm>
            <a:off x="8984411" y="1292756"/>
            <a:ext cx="2199190" cy="836478"/>
          </a:xfrm>
          <a:prstGeom prst="cloudCallout">
            <a:avLst>
              <a:gd name="adj1" fmla="val 4956"/>
              <a:gd name="adj2" fmla="val 182885"/>
            </a:avLst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云</a:t>
            </a:r>
          </a:p>
        </p:txBody>
      </p:sp>
    </p:spTree>
    <p:extLst>
      <p:ext uri="{BB962C8B-B14F-4D97-AF65-F5344CB8AC3E}">
        <p14:creationId xmlns:p14="http://schemas.microsoft.com/office/powerpoint/2010/main" val="384780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3.33333E-6 L 0.72708 0.05857 " pathEditMode="relative" rAng="0" ptsTypes="AA">
                                      <p:cBhvr>
                                        <p:cTn id="2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354" y="291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</p:cBhvr>
                                      <p:by x="20000" y="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11022E-16 L 0.72421 -0.045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11" y="-2292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20000" y="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50"/>
                            </p:stCondLst>
                            <p:childTnLst>
                              <p:par>
                                <p:cTn id="4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3.33333E-6 L 0.725 -0.00394 " pathEditMode="relative" rAng="0" ptsTypes="AA">
                                      <p:cBhvr>
                                        <p:cTn id="5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50" y="-208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6" dur="750" fill="hold"/>
                                        <p:tgtEl>
                                          <p:spTgt spid="9"/>
                                        </p:tgtEl>
                                      </p:cBhvr>
                                      <p:by x="20000" y="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5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CE87F3-79C8-B8A6-8EA3-748A622312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简介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本地存储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阿里云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OSS</a:t>
            </a:r>
            <a:endParaRPr lang="zh-CN" altLang="en-US">
              <a:solidFill>
                <a:srgbClr val="C00000"/>
              </a:solidFill>
              <a:latin typeface="+mn-lt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DE5C7A-D384-36B4-EEC4-8D4B24CA7A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文件上传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502167-601F-6241-C150-B440BA87E6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5762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C34405-11EB-B336-EF56-27FE3ECA8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r>
              <a:rPr lang="zh-CN" altLang="en-US"/>
              <a:t>阿里云是阿里巴巴集团旗下全</a:t>
            </a:r>
            <a:r>
              <a:rPr lang="zh-CN" altLang="en-US">
                <a:solidFill>
                  <a:srgbClr val="333333"/>
                </a:solidFill>
                <a:effectLst/>
              </a:rPr>
              <a:t>球领先的云计算公司，也</a:t>
            </a:r>
            <a:r>
              <a:rPr lang="zh-CN" altLang="en-US"/>
              <a:t>是国内最大的云服务提供商 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阿里云</a:t>
            </a:r>
          </a:p>
        </p:txBody>
      </p:sp>
      <p:sp>
        <p:nvSpPr>
          <p:cNvPr id="4" name="云形 3">
            <a:extLst>
              <a:ext uri="{FF2B5EF4-FFF2-40B4-BE49-F238E27FC236}">
                <a16:creationId xmlns:a16="http://schemas.microsoft.com/office/drawing/2014/main" id="{73EBED7E-E1E2-CF9E-87D1-D3CC3C7C5CF8}"/>
              </a:ext>
            </a:extLst>
          </p:cNvPr>
          <p:cNvSpPr/>
          <p:nvPr/>
        </p:nvSpPr>
        <p:spPr>
          <a:xfrm>
            <a:off x="5845108" y="2448588"/>
            <a:ext cx="5205984" cy="3027636"/>
          </a:xfrm>
          <a:prstGeom prst="cloud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云形 4">
            <a:extLst>
              <a:ext uri="{FF2B5EF4-FFF2-40B4-BE49-F238E27FC236}">
                <a16:creationId xmlns:a16="http://schemas.microsoft.com/office/drawing/2014/main" id="{EC027F07-6418-EC29-ED1D-9CDCD12C6350}"/>
              </a:ext>
            </a:extLst>
          </p:cNvPr>
          <p:cNvSpPr/>
          <p:nvPr/>
        </p:nvSpPr>
        <p:spPr>
          <a:xfrm>
            <a:off x="6658794" y="3203772"/>
            <a:ext cx="822706" cy="478460"/>
          </a:xfrm>
          <a:prstGeom prst="cloud">
            <a:avLst/>
          </a:prstGeom>
          <a:solidFill>
            <a:srgbClr val="CCF5B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语音服务</a:t>
            </a:r>
          </a:p>
        </p:txBody>
      </p:sp>
      <p:sp>
        <p:nvSpPr>
          <p:cNvPr id="6" name="云形 5">
            <a:extLst>
              <a:ext uri="{FF2B5EF4-FFF2-40B4-BE49-F238E27FC236}">
                <a16:creationId xmlns:a16="http://schemas.microsoft.com/office/drawing/2014/main" id="{FA809472-B828-25B1-8173-F1611EE4C095}"/>
              </a:ext>
            </a:extLst>
          </p:cNvPr>
          <p:cNvSpPr/>
          <p:nvPr/>
        </p:nvSpPr>
        <p:spPr>
          <a:xfrm>
            <a:off x="7581270" y="3672237"/>
            <a:ext cx="822706" cy="478460"/>
          </a:xfrm>
          <a:prstGeom prst="cloud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短信服务</a:t>
            </a:r>
          </a:p>
        </p:txBody>
      </p:sp>
      <p:sp>
        <p:nvSpPr>
          <p:cNvPr id="7" name="云形 6">
            <a:extLst>
              <a:ext uri="{FF2B5EF4-FFF2-40B4-BE49-F238E27FC236}">
                <a16:creationId xmlns:a16="http://schemas.microsoft.com/office/drawing/2014/main" id="{05644ECA-82EE-3AF0-CAC1-E568E03581C7}"/>
              </a:ext>
            </a:extLst>
          </p:cNvPr>
          <p:cNvSpPr/>
          <p:nvPr/>
        </p:nvSpPr>
        <p:spPr>
          <a:xfrm>
            <a:off x="7664670" y="2700777"/>
            <a:ext cx="822706" cy="478460"/>
          </a:xfrm>
          <a:prstGeom prst="cloud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邮件服务</a:t>
            </a: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2A67FCFA-B70C-5A8F-D7EF-F83CB8C5C487}"/>
              </a:ext>
            </a:extLst>
          </p:cNvPr>
          <p:cNvSpPr/>
          <p:nvPr/>
        </p:nvSpPr>
        <p:spPr>
          <a:xfrm>
            <a:off x="6301836" y="3883628"/>
            <a:ext cx="822706" cy="478460"/>
          </a:xfrm>
          <a:prstGeom prst="cloud">
            <a:avLst/>
          </a:prstGeom>
          <a:solidFill>
            <a:srgbClr val="B37AB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实人认证</a:t>
            </a: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EFFF9F0B-9227-87F9-6270-06466D1BDFF3}"/>
              </a:ext>
            </a:extLst>
          </p:cNvPr>
          <p:cNvSpPr/>
          <p:nvPr/>
        </p:nvSpPr>
        <p:spPr>
          <a:xfrm>
            <a:off x="8559137" y="3142243"/>
            <a:ext cx="822706" cy="478460"/>
          </a:xfrm>
          <a:prstGeom prst="cloud">
            <a:avLst/>
          </a:prstGeom>
          <a:solidFill>
            <a:srgbClr val="FFB3B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视频点播</a:t>
            </a:r>
            <a:endParaRPr lang="en-US" altLang="zh-CN" sz="105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云形 9">
            <a:extLst>
              <a:ext uri="{FF2B5EF4-FFF2-40B4-BE49-F238E27FC236}">
                <a16:creationId xmlns:a16="http://schemas.microsoft.com/office/drawing/2014/main" id="{D1DA2ED5-AA4E-0CB3-434A-C440552D9976}"/>
              </a:ext>
            </a:extLst>
          </p:cNvPr>
          <p:cNvSpPr/>
          <p:nvPr/>
        </p:nvSpPr>
        <p:spPr>
          <a:xfrm>
            <a:off x="9462168" y="2631221"/>
            <a:ext cx="822706" cy="478460"/>
          </a:xfrm>
          <a:prstGeom prst="cloud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视频直播</a:t>
            </a:r>
            <a:endParaRPr lang="en-US" altLang="zh-CN" sz="105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云形 10">
            <a:extLst>
              <a:ext uri="{FF2B5EF4-FFF2-40B4-BE49-F238E27FC236}">
                <a16:creationId xmlns:a16="http://schemas.microsoft.com/office/drawing/2014/main" id="{F1377A0F-5D22-E232-2FD7-116A3E777A59}"/>
              </a:ext>
            </a:extLst>
          </p:cNvPr>
          <p:cNvSpPr/>
          <p:nvPr/>
        </p:nvSpPr>
        <p:spPr>
          <a:xfrm>
            <a:off x="8775884" y="3854601"/>
            <a:ext cx="822706" cy="478460"/>
          </a:xfrm>
          <a:prstGeom prst="cloud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文字识别</a:t>
            </a:r>
            <a:endParaRPr lang="en-US" altLang="zh-CN" sz="105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云形 11">
            <a:extLst>
              <a:ext uri="{FF2B5EF4-FFF2-40B4-BE49-F238E27FC236}">
                <a16:creationId xmlns:a16="http://schemas.microsoft.com/office/drawing/2014/main" id="{25DF0A86-1195-C86A-21BC-67C211E32B6A}"/>
              </a:ext>
            </a:extLst>
          </p:cNvPr>
          <p:cNvSpPr/>
          <p:nvPr/>
        </p:nvSpPr>
        <p:spPr>
          <a:xfrm>
            <a:off x="9751078" y="3569794"/>
            <a:ext cx="822706" cy="478460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内容安全</a:t>
            </a:r>
            <a:endParaRPr lang="en-US" altLang="zh-CN" sz="105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云形 12">
            <a:extLst>
              <a:ext uri="{FF2B5EF4-FFF2-40B4-BE49-F238E27FC236}">
                <a16:creationId xmlns:a16="http://schemas.microsoft.com/office/drawing/2014/main" id="{E013FC54-7739-A6E3-6E1C-9B5958378DD2}"/>
              </a:ext>
            </a:extLst>
          </p:cNvPr>
          <p:cNvSpPr/>
          <p:nvPr/>
        </p:nvSpPr>
        <p:spPr>
          <a:xfrm>
            <a:off x="6857644" y="4579426"/>
            <a:ext cx="822706" cy="478460"/>
          </a:xfrm>
          <a:prstGeom prst="cloud">
            <a:avLst/>
          </a:prstGeom>
          <a:solidFill>
            <a:srgbClr val="FFFF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对象存储</a:t>
            </a:r>
            <a:endParaRPr lang="en-US" altLang="zh-CN" sz="105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云形 13">
            <a:extLst>
              <a:ext uri="{FF2B5EF4-FFF2-40B4-BE49-F238E27FC236}">
                <a16:creationId xmlns:a16="http://schemas.microsoft.com/office/drawing/2014/main" id="{20E748C2-FFFD-4522-458F-A0C3BFE85B77}"/>
              </a:ext>
            </a:extLst>
          </p:cNvPr>
          <p:cNvSpPr/>
          <p:nvPr/>
        </p:nvSpPr>
        <p:spPr>
          <a:xfrm>
            <a:off x="9331692" y="4516051"/>
            <a:ext cx="822706" cy="478460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……</a:t>
            </a:r>
          </a:p>
        </p:txBody>
      </p:sp>
      <p:sp>
        <p:nvSpPr>
          <p:cNvPr id="15" name="云形 14">
            <a:extLst>
              <a:ext uri="{FF2B5EF4-FFF2-40B4-BE49-F238E27FC236}">
                <a16:creationId xmlns:a16="http://schemas.microsoft.com/office/drawing/2014/main" id="{714FD386-00BD-0678-9B32-112E698888C4}"/>
              </a:ext>
            </a:extLst>
          </p:cNvPr>
          <p:cNvSpPr/>
          <p:nvPr/>
        </p:nvSpPr>
        <p:spPr>
          <a:xfrm>
            <a:off x="7907803" y="4297383"/>
            <a:ext cx="822706" cy="478460"/>
          </a:xfrm>
          <a:prstGeom prst="cloud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机器翻译</a:t>
            </a:r>
            <a:endParaRPr lang="en-US" altLang="zh-CN" sz="105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云形 15">
            <a:extLst>
              <a:ext uri="{FF2B5EF4-FFF2-40B4-BE49-F238E27FC236}">
                <a16:creationId xmlns:a16="http://schemas.microsoft.com/office/drawing/2014/main" id="{B883B540-3EE4-7D04-30F3-C642148FE1AA}"/>
              </a:ext>
            </a:extLst>
          </p:cNvPr>
          <p:cNvSpPr/>
          <p:nvPr/>
        </p:nvSpPr>
        <p:spPr>
          <a:xfrm>
            <a:off x="8166111" y="4933779"/>
            <a:ext cx="822706" cy="478460"/>
          </a:xfrm>
          <a:prstGeom prst="cloud">
            <a:avLst/>
          </a:prstGeom>
          <a:solidFill>
            <a:srgbClr val="92D05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云数据库</a:t>
            </a:r>
            <a:endParaRPr lang="en-US" altLang="zh-CN" sz="105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CE2B3DF-EF98-9433-00D2-F9BA7065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30" y="3479080"/>
            <a:ext cx="1641259" cy="1038832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ABB795D-AF86-0D6C-B814-26194C35593F}"/>
              </a:ext>
            </a:extLst>
          </p:cNvPr>
          <p:cNvCxnSpPr/>
          <p:nvPr/>
        </p:nvCxnSpPr>
        <p:spPr>
          <a:xfrm>
            <a:off x="2534081" y="4048254"/>
            <a:ext cx="320333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EADC629-2EAC-1C3A-ADC8-049D9823BEF4}"/>
              </a:ext>
            </a:extLst>
          </p:cNvPr>
          <p:cNvSpPr txBox="1"/>
          <p:nvPr/>
        </p:nvSpPr>
        <p:spPr>
          <a:xfrm>
            <a:off x="8122740" y="5614794"/>
            <a:ext cx="909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云服务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277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3" grpId="1" animBg="1"/>
      <p:bldP spid="14" grpId="0" animBg="1"/>
      <p:bldP spid="15" grpId="0" animBg="1"/>
      <p:bldP spid="16" grpId="0" animBg="1"/>
      <p:bldP spid="1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F22CF2-5EAB-9192-EA52-E0592BBAF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54630"/>
          </a:xfrm>
        </p:spPr>
        <p:txBody>
          <a:bodyPr/>
          <a:lstStyle/>
          <a:p>
            <a:r>
              <a:rPr lang="zh-CN" altLang="en-US">
                <a:latin typeface="Fira Code" panose="020B0809050000020004" pitchFamily="49" charset="0"/>
              </a:rPr>
              <a:t>阿里云对象存储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OSS</a:t>
            </a:r>
            <a:r>
              <a:rPr lang="zh-CN" altLang="en-US">
                <a:latin typeface="Fira Code" panose="020B0809050000020004" pitchFamily="49" charset="0"/>
              </a:rPr>
              <a:t>（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Object Storage Service</a:t>
            </a:r>
            <a:r>
              <a:rPr lang="zh-CN" altLang="en-US">
                <a:latin typeface="Fira Code" panose="020B0809050000020004" pitchFamily="49" charset="0"/>
              </a:rPr>
              <a:t>），是一款海量、安全、低成本、高可靠的云存储服务。使用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OSS</a:t>
            </a:r>
            <a:r>
              <a:rPr lang="zh-CN" altLang="en-US">
                <a:latin typeface="Fira Code" panose="020B0809050000020004" pitchFamily="49" charset="0"/>
              </a:rPr>
              <a:t>，您可以通过网络随时存储和调用包括文本、图片、音频和视频等在内的各种文件。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阿里云</a:t>
            </a:r>
            <a:r>
              <a:rPr lang="en-US" altLang="zh-CN"/>
              <a:t>OSS</a:t>
            </a:r>
            <a:endParaRPr lang="zh-CN" altLang="en-US"/>
          </a:p>
        </p:txBody>
      </p:sp>
      <p:pic>
        <p:nvPicPr>
          <p:cNvPr id="4" name="!!图片 4">
            <a:extLst>
              <a:ext uri="{FF2B5EF4-FFF2-40B4-BE49-F238E27FC236}">
                <a16:creationId xmlns:a16="http://schemas.microsoft.com/office/drawing/2014/main" id="{043B0D26-6BDF-46C3-8AFC-1EB450736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82" y="1956300"/>
            <a:ext cx="10786435" cy="4700747"/>
          </a:xfrm>
          <a:prstGeom prst="roundRect">
            <a:avLst>
              <a:gd name="adj" fmla="val 1277"/>
            </a:avLst>
          </a:prstGeom>
          <a:ln w="6350">
            <a:solidFill>
              <a:schemeClr val="tx1">
                <a:lumMod val="20000"/>
                <a:lumOff val="80000"/>
              </a:schemeClr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90005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F22CF2-5EAB-9192-EA52-E0592BBAF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54630"/>
          </a:xfrm>
        </p:spPr>
        <p:txBody>
          <a:bodyPr/>
          <a:lstStyle/>
          <a:p>
            <a:r>
              <a:rPr lang="zh-CN" altLang="en-US">
                <a:latin typeface="Fira Code" panose="020B0809050000020004" pitchFamily="49" charset="0"/>
              </a:rPr>
              <a:t>阿里云对象存储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OSS</a:t>
            </a:r>
            <a:r>
              <a:rPr lang="zh-CN" altLang="en-US">
                <a:latin typeface="Fira Code" panose="020B0809050000020004" pitchFamily="49" charset="0"/>
              </a:rPr>
              <a:t>（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Object Storage Service</a:t>
            </a:r>
            <a:r>
              <a:rPr lang="zh-CN" altLang="en-US">
                <a:latin typeface="Fira Code" panose="020B0809050000020004" pitchFamily="49" charset="0"/>
              </a:rPr>
              <a:t>），是一款海量、安全、低成本、高可靠的云存储服务。使用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OSS</a:t>
            </a:r>
            <a:r>
              <a:rPr lang="zh-CN" altLang="en-US">
                <a:latin typeface="Fira Code" panose="020B0809050000020004" pitchFamily="49" charset="0"/>
              </a:rPr>
              <a:t>，您可以通过网络随时存储和调用包括文本、图片、音频和视频等在内的各种文件。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阿里云</a:t>
            </a:r>
            <a:r>
              <a:rPr lang="en-US" altLang="zh-CN"/>
              <a:t>OSS</a:t>
            </a:r>
            <a:endParaRPr lang="zh-CN" altLang="en-US"/>
          </a:p>
        </p:txBody>
      </p:sp>
      <p:pic>
        <p:nvPicPr>
          <p:cNvPr id="6" name="!!图片 5">
            <a:extLst>
              <a:ext uri="{FF2B5EF4-FFF2-40B4-BE49-F238E27FC236}">
                <a16:creationId xmlns:a16="http://schemas.microsoft.com/office/drawing/2014/main" id="{E81F0543-F06A-D457-D846-DE76DA157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135" y="3083026"/>
            <a:ext cx="654444" cy="285208"/>
          </a:xfrm>
          <a:prstGeom prst="roundRect">
            <a:avLst>
              <a:gd name="adj" fmla="val 2519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BD6863CA-3E66-5AA8-5DE8-1651ADFBCB10}"/>
              </a:ext>
            </a:extLst>
          </p:cNvPr>
          <p:cNvGrpSpPr/>
          <p:nvPr/>
        </p:nvGrpSpPr>
        <p:grpSpPr>
          <a:xfrm>
            <a:off x="1878395" y="4889555"/>
            <a:ext cx="780070" cy="786974"/>
            <a:chOff x="1288572" y="3466291"/>
            <a:chExt cx="1076475" cy="1086002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0EAA272-60AC-4ED2-9A1F-F9F9ACF0C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82FA492-1C87-8D9F-AAB8-A4788810E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48BD766-4E24-DF33-23A4-4EC1CD3EEE51}"/>
              </a:ext>
            </a:extLst>
          </p:cNvPr>
          <p:cNvCxnSpPr>
            <a:cxnSpLocks/>
          </p:cNvCxnSpPr>
          <p:nvPr/>
        </p:nvCxnSpPr>
        <p:spPr>
          <a:xfrm>
            <a:off x="2789638" y="5282345"/>
            <a:ext cx="5311819" cy="0"/>
          </a:xfrm>
          <a:prstGeom prst="straightConnector1">
            <a:avLst/>
          </a:prstGeom>
          <a:ln w="19050">
            <a:solidFill>
              <a:schemeClr val="tx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图片 4">
            <a:extLst>
              <a:ext uri="{FF2B5EF4-FFF2-40B4-BE49-F238E27FC236}">
                <a16:creationId xmlns:a16="http://schemas.microsoft.com/office/drawing/2014/main" id="{2BD269C0-F759-FD90-DF06-8D2FBC10AA58}"/>
              </a:ext>
            </a:extLst>
          </p:cNvPr>
          <p:cNvSpPr/>
          <p:nvPr/>
        </p:nvSpPr>
        <p:spPr>
          <a:xfrm>
            <a:off x="7867709" y="2734770"/>
            <a:ext cx="1974463" cy="836480"/>
          </a:xfrm>
          <a:prstGeom prst="cloud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阿里云</a:t>
            </a:r>
            <a:r>
              <a:rPr lang="en-US" altLang="zh-CN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OSS</a:t>
            </a:r>
            <a:endParaRPr lang="zh-CN" altLang="en-US" sz="1600">
              <a:solidFill>
                <a:srgbClr val="C00000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761910C-74B6-6132-AA17-2182D081EDEE}"/>
              </a:ext>
            </a:extLst>
          </p:cNvPr>
          <p:cNvCxnSpPr>
            <a:cxnSpLocks/>
          </p:cNvCxnSpPr>
          <p:nvPr/>
        </p:nvCxnSpPr>
        <p:spPr>
          <a:xfrm flipH="1" flipV="1">
            <a:off x="8854941" y="3712464"/>
            <a:ext cx="2" cy="699832"/>
          </a:xfrm>
          <a:prstGeom prst="straightConnector1">
            <a:avLst/>
          </a:prstGeom>
          <a:ln w="19050">
            <a:solidFill>
              <a:schemeClr val="tx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0F7F6020-5869-F5BE-797A-8DDD7514CA3F}"/>
              </a:ext>
            </a:extLst>
          </p:cNvPr>
          <p:cNvSpPr txBox="1"/>
          <p:nvPr/>
        </p:nvSpPr>
        <p:spPr>
          <a:xfrm>
            <a:off x="5010912" y="4974336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文件上传</a:t>
            </a:r>
            <a:endParaRPr lang="zh-CN" altLang="en-US" sz="12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20D26E-91F7-3031-F9EC-CE9A660C86DC}"/>
              </a:ext>
            </a:extLst>
          </p:cNvPr>
          <p:cNvSpPr txBox="1"/>
          <p:nvPr/>
        </p:nvSpPr>
        <p:spPr>
          <a:xfrm>
            <a:off x="8882373" y="3960222"/>
            <a:ext cx="48603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上传</a:t>
            </a:r>
            <a:endParaRPr lang="zh-CN" altLang="en-US" sz="12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9DD0701-3ADB-35C7-66BB-215CF0D2B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489" y="4475418"/>
            <a:ext cx="970661" cy="147353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6E7A825-851E-D0F4-C9A0-9D36926E1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9253" y="4529796"/>
            <a:ext cx="967627" cy="133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642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第三方服务</a:t>
            </a:r>
            <a:r>
              <a:rPr lang="en-US" altLang="zh-CN"/>
              <a:t>-</a:t>
            </a:r>
            <a:r>
              <a:rPr lang="zh-CN" altLang="en-US"/>
              <a:t>通用思路</a:t>
            </a:r>
          </a:p>
        </p:txBody>
      </p:sp>
      <p:sp>
        <p:nvSpPr>
          <p:cNvPr id="3" name="!!箭头: V 形 3">
            <a:extLst>
              <a:ext uri="{FF2B5EF4-FFF2-40B4-BE49-F238E27FC236}">
                <a16:creationId xmlns:a16="http://schemas.microsoft.com/office/drawing/2014/main" id="{AE1B79F1-D3F5-9461-145F-39B25E056476}"/>
              </a:ext>
            </a:extLst>
          </p:cNvPr>
          <p:cNvSpPr/>
          <p:nvPr/>
        </p:nvSpPr>
        <p:spPr>
          <a:xfrm>
            <a:off x="1384236" y="2330110"/>
            <a:ext cx="3049457" cy="1462674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8BF95"/>
              </a:gs>
              <a:gs pos="100000">
                <a:srgbClr val="00B3A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注册阿里云</a:t>
            </a:r>
            <a:endParaRPr lang="en-US" altLang="zh-CN" sz="120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实名认证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!!箭头: V 形 4">
            <a:extLst>
              <a:ext uri="{FF2B5EF4-FFF2-40B4-BE49-F238E27FC236}">
                <a16:creationId xmlns:a16="http://schemas.microsoft.com/office/drawing/2014/main" id="{B16B3B22-7A0A-11C3-17D9-0EE9A32003E2}"/>
              </a:ext>
            </a:extLst>
          </p:cNvPr>
          <p:cNvSpPr/>
          <p:nvPr/>
        </p:nvSpPr>
        <p:spPr>
          <a:xfrm>
            <a:off x="1384236" y="2330110"/>
            <a:ext cx="3049457" cy="1462674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8BF95"/>
              </a:gs>
              <a:gs pos="100000">
                <a:srgbClr val="00B3A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充值</a:t>
            </a:r>
          </a:p>
        </p:txBody>
      </p:sp>
      <p:sp>
        <p:nvSpPr>
          <p:cNvPr id="5" name="!!箭头: V 形 5">
            <a:extLst>
              <a:ext uri="{FF2B5EF4-FFF2-40B4-BE49-F238E27FC236}">
                <a16:creationId xmlns:a16="http://schemas.microsoft.com/office/drawing/2014/main" id="{35D2424A-493B-3203-220A-7075874C5481}"/>
              </a:ext>
            </a:extLst>
          </p:cNvPr>
          <p:cNvSpPr/>
          <p:nvPr/>
        </p:nvSpPr>
        <p:spPr>
          <a:xfrm>
            <a:off x="1384236" y="2330110"/>
            <a:ext cx="3049457" cy="1462674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8BF95"/>
              </a:gs>
              <a:gs pos="100000">
                <a:srgbClr val="00B3A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开通对象存储</a:t>
            </a:r>
            <a:endParaRPr lang="en-US" altLang="zh-CN" sz="120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(OSS)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!!箭头: V 形 6">
            <a:extLst>
              <a:ext uri="{FF2B5EF4-FFF2-40B4-BE49-F238E27FC236}">
                <a16:creationId xmlns:a16="http://schemas.microsoft.com/office/drawing/2014/main" id="{F345EA8E-1CC5-935A-B81B-8AAE9C6BFEC3}"/>
              </a:ext>
            </a:extLst>
          </p:cNvPr>
          <p:cNvSpPr/>
          <p:nvPr/>
        </p:nvSpPr>
        <p:spPr>
          <a:xfrm>
            <a:off x="1384236" y="2330110"/>
            <a:ext cx="3049457" cy="1462674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8BF95"/>
              </a:gs>
              <a:gs pos="100000">
                <a:srgbClr val="00B3A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bucket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!!箭头: V 形 7">
            <a:extLst>
              <a:ext uri="{FF2B5EF4-FFF2-40B4-BE49-F238E27FC236}">
                <a16:creationId xmlns:a16="http://schemas.microsoft.com/office/drawing/2014/main" id="{43EEB7CA-5D92-18D4-2B48-6A817AFFA391}"/>
              </a:ext>
            </a:extLst>
          </p:cNvPr>
          <p:cNvSpPr/>
          <p:nvPr/>
        </p:nvSpPr>
        <p:spPr>
          <a:xfrm>
            <a:off x="1384236" y="2330110"/>
            <a:ext cx="3049457" cy="1462674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8BF95"/>
              </a:gs>
              <a:gs pos="100000">
                <a:srgbClr val="00B3A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AccessKey</a:t>
            </a:r>
          </a:p>
          <a:p>
            <a:pPr algn="ctr"/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秘钥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!!箭头: V 形 1">
            <a:extLst>
              <a:ext uri="{FF2B5EF4-FFF2-40B4-BE49-F238E27FC236}">
                <a16:creationId xmlns:a16="http://schemas.microsoft.com/office/drawing/2014/main" id="{0A28C8AF-B20B-A8E1-6D8C-DDE778D091E3}"/>
              </a:ext>
            </a:extLst>
          </p:cNvPr>
          <p:cNvSpPr/>
          <p:nvPr/>
        </p:nvSpPr>
        <p:spPr>
          <a:xfrm>
            <a:off x="1384235" y="2334631"/>
            <a:ext cx="3049457" cy="1462674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8BF95"/>
              </a:gs>
              <a:gs pos="100000">
                <a:srgbClr val="00B3A5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准备工作</a:t>
            </a:r>
          </a:p>
        </p:txBody>
      </p:sp>
      <p:sp>
        <p:nvSpPr>
          <p:cNvPr id="9" name="!!箭头: V 形 8">
            <a:extLst>
              <a:ext uri="{FF2B5EF4-FFF2-40B4-BE49-F238E27FC236}">
                <a16:creationId xmlns:a16="http://schemas.microsoft.com/office/drawing/2014/main" id="{BE03E323-F7C2-FD10-8D80-CFABC99B9549}"/>
              </a:ext>
            </a:extLst>
          </p:cNvPr>
          <p:cNvSpPr/>
          <p:nvPr/>
        </p:nvSpPr>
        <p:spPr>
          <a:xfrm>
            <a:off x="4502482" y="2330110"/>
            <a:ext cx="3187036" cy="1462674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0ABAE"/>
              </a:gs>
              <a:gs pos="100000">
                <a:srgbClr val="0B96B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参照官方</a:t>
            </a:r>
            <a:r>
              <a:rPr lang="en-US" altLang="zh-CN" sz="2000" b="1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SDK</a:t>
            </a:r>
          </a:p>
          <a:p>
            <a:pPr algn="ctr"/>
            <a:r>
              <a:rPr lang="zh-CN" altLang="en-US" sz="2000" b="1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编写入门程序</a:t>
            </a:r>
          </a:p>
        </p:txBody>
      </p:sp>
      <p:sp>
        <p:nvSpPr>
          <p:cNvPr id="10" name="!!箭头: V 形 9">
            <a:extLst>
              <a:ext uri="{FF2B5EF4-FFF2-40B4-BE49-F238E27FC236}">
                <a16:creationId xmlns:a16="http://schemas.microsoft.com/office/drawing/2014/main" id="{CA04084B-66B2-9A3F-D7CF-E3E48E251BCB}"/>
              </a:ext>
            </a:extLst>
          </p:cNvPr>
          <p:cNvSpPr/>
          <p:nvPr/>
        </p:nvSpPr>
        <p:spPr>
          <a:xfrm>
            <a:off x="7689518" y="2330110"/>
            <a:ext cx="3187036" cy="1462674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799B7"/>
              </a:gs>
              <a:gs pos="100000">
                <a:srgbClr val="3B68A9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集成使用</a:t>
            </a:r>
          </a:p>
        </p:txBody>
      </p:sp>
      <p:sp>
        <p:nvSpPr>
          <p:cNvPr id="11" name="矩形: 对角圆角 10">
            <a:extLst>
              <a:ext uri="{FF2B5EF4-FFF2-40B4-BE49-F238E27FC236}">
                <a16:creationId xmlns:a16="http://schemas.microsoft.com/office/drawing/2014/main" id="{18912A42-5A52-A4CD-2101-64E425E6151B}"/>
              </a:ext>
            </a:extLst>
          </p:cNvPr>
          <p:cNvSpPr/>
          <p:nvPr/>
        </p:nvSpPr>
        <p:spPr>
          <a:xfrm>
            <a:off x="895014" y="5996158"/>
            <a:ext cx="10698800" cy="354858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8000" rtlCol="0" anchor="ctr"/>
          <a:lstStyle/>
          <a:p>
            <a:pPr>
              <a:lnSpc>
                <a:spcPct val="150000"/>
              </a:lnSpc>
            </a:pPr>
            <a:r>
              <a:rPr lang="en-US" altLang="zh-CN" sz="13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SDK</a:t>
            </a:r>
            <a:r>
              <a:rPr lang="zh-CN" altLang="en-US" sz="13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3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</a:t>
            </a:r>
            <a:r>
              <a:rPr lang="en-US" altLang="zh-CN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oftware </a:t>
            </a:r>
            <a:r>
              <a:rPr lang="en-US" altLang="zh-CN" sz="13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</a:t>
            </a:r>
            <a:r>
              <a:rPr lang="en-US" altLang="zh-CN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evelopment </a:t>
            </a:r>
            <a:r>
              <a:rPr lang="en-US" altLang="zh-CN" sz="13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K</a:t>
            </a:r>
            <a:r>
              <a:rPr lang="en-US" altLang="zh-CN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it </a:t>
            </a:r>
            <a:r>
              <a:rPr lang="zh-CN" altLang="en-US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的缩写，软件开发工具包</a:t>
            </a:r>
            <a:r>
              <a:rPr lang="zh-CN" altLang="en-US" sz="13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，包括</a:t>
            </a:r>
            <a:r>
              <a:rPr lang="zh-CN" altLang="en-US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辅助软件开发的依赖（</a:t>
            </a:r>
            <a:r>
              <a:rPr lang="en-US" altLang="zh-CN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jar</a:t>
            </a:r>
            <a:r>
              <a:rPr lang="zh-CN" altLang="en-US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包）、代码</a:t>
            </a:r>
            <a:r>
              <a:rPr lang="zh-CN" altLang="en-US" sz="13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示</a:t>
            </a:r>
            <a:r>
              <a:rPr lang="zh-CN" altLang="en-US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例等</a:t>
            </a:r>
            <a:r>
              <a:rPr lang="zh-CN" altLang="en-US" sz="13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zh-CN" altLang="en-US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都可以叫做</a:t>
            </a:r>
            <a:r>
              <a:rPr lang="en-US" altLang="zh-CN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SDK</a:t>
            </a:r>
            <a:r>
              <a:rPr lang="zh-CN" altLang="en-US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zh-CN" altLang="en-US" sz="13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951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阿里云</a:t>
            </a:r>
            <a:r>
              <a:rPr lang="en-US" altLang="zh-CN"/>
              <a:t>OSS-</a:t>
            </a:r>
            <a:r>
              <a:rPr lang="zh-CN" altLang="en-US"/>
              <a:t>使用步骤</a:t>
            </a:r>
          </a:p>
        </p:txBody>
      </p:sp>
      <p:sp>
        <p:nvSpPr>
          <p:cNvPr id="3" name="!!箭头: V 形 3">
            <a:extLst>
              <a:ext uri="{FF2B5EF4-FFF2-40B4-BE49-F238E27FC236}">
                <a16:creationId xmlns:a16="http://schemas.microsoft.com/office/drawing/2014/main" id="{46DA0C15-C3AA-C62B-8ACA-4FAE616063AE}"/>
              </a:ext>
            </a:extLst>
          </p:cNvPr>
          <p:cNvSpPr/>
          <p:nvPr/>
        </p:nvSpPr>
        <p:spPr>
          <a:xfrm>
            <a:off x="653870" y="2875251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1CC18E"/>
              </a:gs>
              <a:gs pos="100000">
                <a:srgbClr val="12C09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注册阿里云</a:t>
            </a:r>
            <a:endParaRPr lang="en-US" altLang="zh-CN" sz="120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实名认证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!!箭头: V 形 4">
            <a:extLst>
              <a:ext uri="{FF2B5EF4-FFF2-40B4-BE49-F238E27FC236}">
                <a16:creationId xmlns:a16="http://schemas.microsoft.com/office/drawing/2014/main" id="{EDBD9B7E-8572-6931-CD17-F3E90AB1220A}"/>
              </a:ext>
            </a:extLst>
          </p:cNvPr>
          <p:cNvSpPr/>
          <p:nvPr/>
        </p:nvSpPr>
        <p:spPr>
          <a:xfrm>
            <a:off x="2196065" y="2875251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10C193"/>
              </a:gs>
              <a:gs pos="100000">
                <a:srgbClr val="03BF97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充值</a:t>
            </a:r>
          </a:p>
        </p:txBody>
      </p:sp>
      <p:sp>
        <p:nvSpPr>
          <p:cNvPr id="5" name="!!箭头: V 形 5">
            <a:extLst>
              <a:ext uri="{FF2B5EF4-FFF2-40B4-BE49-F238E27FC236}">
                <a16:creationId xmlns:a16="http://schemas.microsoft.com/office/drawing/2014/main" id="{F30C8FC6-C9BF-49E6-B6DC-337CD480A072}"/>
              </a:ext>
            </a:extLst>
          </p:cNvPr>
          <p:cNvSpPr/>
          <p:nvPr/>
        </p:nvSpPr>
        <p:spPr>
          <a:xfrm>
            <a:off x="3738260" y="2875251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2BF97"/>
              </a:gs>
              <a:gs pos="100000">
                <a:srgbClr val="00B99F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开通对象存储</a:t>
            </a:r>
            <a:endParaRPr lang="en-US" altLang="zh-CN" sz="120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(OSS)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!!箭头: V 形 6">
            <a:extLst>
              <a:ext uri="{FF2B5EF4-FFF2-40B4-BE49-F238E27FC236}">
                <a16:creationId xmlns:a16="http://schemas.microsoft.com/office/drawing/2014/main" id="{A5692200-5482-B4E1-8F8F-F69E47931311}"/>
              </a:ext>
            </a:extLst>
          </p:cNvPr>
          <p:cNvSpPr/>
          <p:nvPr/>
        </p:nvSpPr>
        <p:spPr>
          <a:xfrm>
            <a:off x="5280455" y="2875251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0B99F"/>
              </a:gs>
              <a:gs pos="100000">
                <a:srgbClr val="00B2A7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bucket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!!箭头: V 形 7">
            <a:extLst>
              <a:ext uri="{FF2B5EF4-FFF2-40B4-BE49-F238E27FC236}">
                <a16:creationId xmlns:a16="http://schemas.microsoft.com/office/drawing/2014/main" id="{CABC3127-E925-7F4E-5696-5C997A26E592}"/>
              </a:ext>
            </a:extLst>
          </p:cNvPr>
          <p:cNvSpPr/>
          <p:nvPr/>
        </p:nvSpPr>
        <p:spPr>
          <a:xfrm>
            <a:off x="6822650" y="2875251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0B2A7"/>
              </a:gs>
              <a:gs pos="100000">
                <a:srgbClr val="00A8B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获取并配置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AccessKey</a:t>
            </a:r>
          </a:p>
          <a:p>
            <a:pPr algn="ctr"/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秘钥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!!箭头: V 形 8">
            <a:extLst>
              <a:ext uri="{FF2B5EF4-FFF2-40B4-BE49-F238E27FC236}">
                <a16:creationId xmlns:a16="http://schemas.microsoft.com/office/drawing/2014/main" id="{A91B3AF5-0FC0-18EE-96E1-619135E0C2AB}"/>
              </a:ext>
            </a:extLst>
          </p:cNvPr>
          <p:cNvSpPr/>
          <p:nvPr/>
        </p:nvSpPr>
        <p:spPr>
          <a:xfrm>
            <a:off x="8364845" y="2680447"/>
            <a:ext cx="1746967" cy="1272988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0A8B1"/>
              </a:gs>
              <a:gs pos="100000">
                <a:srgbClr val="0C99B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参照官方</a:t>
            </a:r>
            <a:r>
              <a:rPr lang="en-US" altLang="zh-CN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SDK</a:t>
            </a:r>
          </a:p>
          <a:p>
            <a:pPr algn="ctr"/>
            <a:r>
              <a:rPr lang="zh-CN" altLang="en-US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编写入门程序</a:t>
            </a:r>
          </a:p>
        </p:txBody>
      </p:sp>
      <p:sp>
        <p:nvSpPr>
          <p:cNvPr id="9" name="!!箭头: V 形 9">
            <a:extLst>
              <a:ext uri="{FF2B5EF4-FFF2-40B4-BE49-F238E27FC236}">
                <a16:creationId xmlns:a16="http://schemas.microsoft.com/office/drawing/2014/main" id="{B47C91D1-527C-4483-94D5-D185BE94A625}"/>
              </a:ext>
            </a:extLst>
          </p:cNvPr>
          <p:cNvSpPr/>
          <p:nvPr/>
        </p:nvSpPr>
        <p:spPr>
          <a:xfrm>
            <a:off x="9982453" y="2680446"/>
            <a:ext cx="1746967" cy="1272987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799B7"/>
              </a:gs>
              <a:gs pos="100000">
                <a:srgbClr val="3B68A9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案例集成</a:t>
            </a:r>
            <a:r>
              <a:rPr lang="en-US" altLang="zh-CN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OSS</a:t>
            </a:r>
            <a:endParaRPr lang="zh-CN" altLang="en-US" sz="120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: 对角圆角 9">
            <a:extLst>
              <a:ext uri="{FF2B5EF4-FFF2-40B4-BE49-F238E27FC236}">
                <a16:creationId xmlns:a16="http://schemas.microsoft.com/office/drawing/2014/main" id="{22E93918-D086-33B3-FBCF-8AD20A076B1E}"/>
              </a:ext>
            </a:extLst>
          </p:cNvPr>
          <p:cNvSpPr/>
          <p:nvPr/>
        </p:nvSpPr>
        <p:spPr>
          <a:xfrm>
            <a:off x="823894" y="6128238"/>
            <a:ext cx="10698800" cy="354858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8000" rtlCol="0" anchor="ctr"/>
          <a:lstStyle/>
          <a:p>
            <a:pPr>
              <a:lnSpc>
                <a:spcPct val="150000"/>
              </a:lnSpc>
            </a:pPr>
            <a:r>
              <a:rPr lang="en-US" altLang="zh-CN" sz="13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SDK</a:t>
            </a:r>
            <a:r>
              <a:rPr lang="zh-CN" altLang="en-US" sz="13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3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</a:t>
            </a:r>
            <a:r>
              <a:rPr lang="en-US" altLang="zh-CN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oftware </a:t>
            </a:r>
            <a:r>
              <a:rPr lang="en-US" altLang="zh-CN" sz="13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</a:t>
            </a:r>
            <a:r>
              <a:rPr lang="en-US" altLang="zh-CN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evelopment </a:t>
            </a:r>
            <a:r>
              <a:rPr lang="en-US" altLang="zh-CN" sz="13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K</a:t>
            </a:r>
            <a:r>
              <a:rPr lang="en-US" altLang="zh-CN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it </a:t>
            </a:r>
            <a:r>
              <a:rPr lang="zh-CN" altLang="en-US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的缩写，软件开发工具包</a:t>
            </a:r>
            <a:r>
              <a:rPr lang="zh-CN" altLang="en-US" sz="13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，包括</a:t>
            </a:r>
            <a:r>
              <a:rPr lang="zh-CN" altLang="en-US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辅助软件开发的依赖（</a:t>
            </a:r>
            <a:r>
              <a:rPr lang="en-US" altLang="zh-CN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jar</a:t>
            </a:r>
            <a:r>
              <a:rPr lang="zh-CN" altLang="en-US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包）、代码</a:t>
            </a:r>
            <a:r>
              <a:rPr lang="zh-CN" altLang="en-US" sz="13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示</a:t>
            </a:r>
            <a:r>
              <a:rPr lang="zh-CN" altLang="en-US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例等</a:t>
            </a:r>
            <a:r>
              <a:rPr lang="zh-CN" altLang="en-US" sz="13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zh-CN" altLang="en-US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都可以叫做</a:t>
            </a:r>
            <a:r>
              <a:rPr lang="en-US" altLang="zh-CN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SDK</a:t>
            </a:r>
            <a:r>
              <a:rPr lang="zh-CN" altLang="en-US" sz="1300" b="0" i="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zh-CN" altLang="en-US" sz="13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: 对角圆角 10">
            <a:extLst>
              <a:ext uri="{FF2B5EF4-FFF2-40B4-BE49-F238E27FC236}">
                <a16:creationId xmlns:a16="http://schemas.microsoft.com/office/drawing/2014/main" id="{F636AB5F-3BCF-F2A1-2ACC-6780947BFC5D}"/>
              </a:ext>
            </a:extLst>
          </p:cNvPr>
          <p:cNvSpPr/>
          <p:nvPr/>
        </p:nvSpPr>
        <p:spPr>
          <a:xfrm>
            <a:off x="823893" y="5678339"/>
            <a:ext cx="10698800" cy="354858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8000" rtlCol="0" anchor="ctr"/>
          <a:lstStyle/>
          <a:p>
            <a:pPr>
              <a:lnSpc>
                <a:spcPct val="150000"/>
              </a:lnSpc>
            </a:pPr>
            <a:r>
              <a:rPr lang="en-US" altLang="zh-CN" sz="13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Bucket</a:t>
            </a:r>
            <a:r>
              <a:rPr lang="zh-CN" altLang="en-US" sz="13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：存储空间是用户用于存储对象（</a:t>
            </a:r>
            <a:r>
              <a:rPr lang="en-US" altLang="zh-CN" sz="13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Object</a:t>
            </a:r>
            <a:r>
              <a:rPr lang="zh-CN" altLang="en-US" sz="13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，就是文件）的容器，所有的对象都必须隶属于某个存储空间。</a:t>
            </a:r>
          </a:p>
        </p:txBody>
      </p:sp>
    </p:spTree>
    <p:extLst>
      <p:ext uri="{BB962C8B-B14F-4D97-AF65-F5344CB8AC3E}">
        <p14:creationId xmlns:p14="http://schemas.microsoft.com/office/powerpoint/2010/main" val="2853293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阿里云</a:t>
            </a:r>
            <a:r>
              <a:rPr lang="en-US" altLang="zh-CN"/>
              <a:t>OSS-</a:t>
            </a:r>
            <a:r>
              <a:rPr lang="zh-CN" altLang="en-US"/>
              <a:t>入门程序</a:t>
            </a:r>
          </a:p>
        </p:txBody>
      </p:sp>
      <p:sp>
        <p:nvSpPr>
          <p:cNvPr id="3" name="!!箭头: V 形 3">
            <a:extLst>
              <a:ext uri="{FF2B5EF4-FFF2-40B4-BE49-F238E27FC236}">
                <a16:creationId xmlns:a16="http://schemas.microsoft.com/office/drawing/2014/main" id="{EFD83E98-A1E3-B011-858B-D295C822D70F}"/>
              </a:ext>
            </a:extLst>
          </p:cNvPr>
          <p:cNvSpPr/>
          <p:nvPr/>
        </p:nvSpPr>
        <p:spPr>
          <a:xfrm>
            <a:off x="644906" y="2991792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1CC18E"/>
              </a:gs>
              <a:gs pos="100000">
                <a:srgbClr val="12C09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注册阿里云</a:t>
            </a:r>
            <a:endParaRPr lang="en-US" altLang="zh-CN" sz="120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实名认证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!!箭头: V 形 4">
            <a:extLst>
              <a:ext uri="{FF2B5EF4-FFF2-40B4-BE49-F238E27FC236}">
                <a16:creationId xmlns:a16="http://schemas.microsoft.com/office/drawing/2014/main" id="{4FE2A617-2557-26C3-1C6A-3BE76A4EB729}"/>
              </a:ext>
            </a:extLst>
          </p:cNvPr>
          <p:cNvSpPr/>
          <p:nvPr/>
        </p:nvSpPr>
        <p:spPr>
          <a:xfrm>
            <a:off x="2187101" y="2991792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10C193"/>
              </a:gs>
              <a:gs pos="100000">
                <a:srgbClr val="03BF97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充值</a:t>
            </a:r>
          </a:p>
        </p:txBody>
      </p:sp>
      <p:sp>
        <p:nvSpPr>
          <p:cNvPr id="5" name="!!箭头: V 形 5">
            <a:extLst>
              <a:ext uri="{FF2B5EF4-FFF2-40B4-BE49-F238E27FC236}">
                <a16:creationId xmlns:a16="http://schemas.microsoft.com/office/drawing/2014/main" id="{941B06F0-DB42-586E-68CC-0DEC635AFEC7}"/>
              </a:ext>
            </a:extLst>
          </p:cNvPr>
          <p:cNvSpPr/>
          <p:nvPr/>
        </p:nvSpPr>
        <p:spPr>
          <a:xfrm>
            <a:off x="3729296" y="2991792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2BF97"/>
              </a:gs>
              <a:gs pos="100000">
                <a:srgbClr val="00B99F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开通对象存储</a:t>
            </a:r>
            <a:endParaRPr lang="en-US" altLang="zh-CN" sz="120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(OSS)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!!箭头: V 形 6">
            <a:extLst>
              <a:ext uri="{FF2B5EF4-FFF2-40B4-BE49-F238E27FC236}">
                <a16:creationId xmlns:a16="http://schemas.microsoft.com/office/drawing/2014/main" id="{B0596550-A964-187B-EE44-5ABDB0E308DB}"/>
              </a:ext>
            </a:extLst>
          </p:cNvPr>
          <p:cNvSpPr/>
          <p:nvPr/>
        </p:nvSpPr>
        <p:spPr>
          <a:xfrm>
            <a:off x="5271491" y="2991792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0B99F"/>
              </a:gs>
              <a:gs pos="100000">
                <a:srgbClr val="00B2A7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bucket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!!箭头: V 形 7">
            <a:extLst>
              <a:ext uri="{FF2B5EF4-FFF2-40B4-BE49-F238E27FC236}">
                <a16:creationId xmlns:a16="http://schemas.microsoft.com/office/drawing/2014/main" id="{845915E8-A92B-66F7-A0AA-522B928A863A}"/>
              </a:ext>
            </a:extLst>
          </p:cNvPr>
          <p:cNvSpPr/>
          <p:nvPr/>
        </p:nvSpPr>
        <p:spPr>
          <a:xfrm>
            <a:off x="6813686" y="2991792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0B2A7"/>
              </a:gs>
              <a:gs pos="100000">
                <a:srgbClr val="00A8B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获取并配置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AccessKey</a:t>
            </a:r>
          </a:p>
          <a:p>
            <a:pPr algn="ctr"/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秘钥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!!箭头: V 形 8">
            <a:extLst>
              <a:ext uri="{FF2B5EF4-FFF2-40B4-BE49-F238E27FC236}">
                <a16:creationId xmlns:a16="http://schemas.microsoft.com/office/drawing/2014/main" id="{FA4A3BF4-2423-EAAA-C1C4-1325B6C88206}"/>
              </a:ext>
            </a:extLst>
          </p:cNvPr>
          <p:cNvSpPr/>
          <p:nvPr/>
        </p:nvSpPr>
        <p:spPr>
          <a:xfrm>
            <a:off x="8355881" y="2991792"/>
            <a:ext cx="1746967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0A8B1"/>
              </a:gs>
              <a:gs pos="100000">
                <a:srgbClr val="0C99B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参照官方</a:t>
            </a:r>
            <a:r>
              <a:rPr lang="en-US" altLang="zh-CN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SDK</a:t>
            </a:r>
          </a:p>
          <a:p>
            <a:pPr algn="ctr"/>
            <a:r>
              <a:rPr lang="zh-CN" altLang="en-US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编写入门程序</a:t>
            </a:r>
          </a:p>
        </p:txBody>
      </p:sp>
      <p:sp>
        <p:nvSpPr>
          <p:cNvPr id="9" name="!!箭头: V 形 9">
            <a:extLst>
              <a:ext uri="{FF2B5EF4-FFF2-40B4-BE49-F238E27FC236}">
                <a16:creationId xmlns:a16="http://schemas.microsoft.com/office/drawing/2014/main" id="{2391AFBD-CBE7-4ADA-327D-DAEA31AD27C8}"/>
              </a:ext>
            </a:extLst>
          </p:cNvPr>
          <p:cNvSpPr/>
          <p:nvPr/>
        </p:nvSpPr>
        <p:spPr>
          <a:xfrm>
            <a:off x="9973489" y="2796987"/>
            <a:ext cx="1746967" cy="1272987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799B7"/>
              </a:gs>
              <a:gs pos="100000">
                <a:srgbClr val="3B68A9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案例集成</a:t>
            </a:r>
            <a:r>
              <a:rPr lang="en-US" altLang="zh-CN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OSS</a:t>
            </a:r>
            <a:endParaRPr lang="zh-CN" altLang="en-US" sz="120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860247A-2AB5-9B3C-19C1-447986EB9FA8}"/>
              </a:ext>
            </a:extLst>
          </p:cNvPr>
          <p:cNvGrpSpPr/>
          <p:nvPr/>
        </p:nvGrpSpPr>
        <p:grpSpPr>
          <a:xfrm>
            <a:off x="710880" y="5931477"/>
            <a:ext cx="10770240" cy="448408"/>
            <a:chOff x="710879" y="5978768"/>
            <a:chExt cx="10770480" cy="448408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BD813968-D85B-C7E4-9DE8-D0E18EEC66D6}"/>
                </a:ext>
              </a:extLst>
            </p:cNvPr>
            <p:cNvSpPr/>
            <p:nvPr/>
          </p:nvSpPr>
          <p:spPr>
            <a:xfrm>
              <a:off x="710880" y="5978769"/>
              <a:ext cx="10770479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在使用第三方提供的云服务或技术时，一定要参照对应的官方文档进行开发和测试。</a:t>
              </a:r>
              <a:endPara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Alibaba PuHuiTi R" pitchFamily="18" charset="-122"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BE1641BC-064C-4E17-92B2-61E1110B09E7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Shape 2468">
              <a:extLst>
                <a:ext uri="{FF2B5EF4-FFF2-40B4-BE49-F238E27FC236}">
                  <a16:creationId xmlns:a16="http://schemas.microsoft.com/office/drawing/2014/main" id="{17C54A3C-E698-CBF9-7778-F8E10FCB6235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C545492-50AE-47B6-F123-4341DECB27F1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5391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阿里云</a:t>
            </a:r>
            <a:r>
              <a:rPr lang="en-US" altLang="zh-CN"/>
              <a:t>OSS-</a:t>
            </a:r>
            <a:r>
              <a:rPr lang="zh-CN" altLang="en-US"/>
              <a:t>案例集成</a:t>
            </a:r>
          </a:p>
        </p:txBody>
      </p:sp>
      <p:sp>
        <p:nvSpPr>
          <p:cNvPr id="3" name="!!箭头: V 形 3">
            <a:extLst>
              <a:ext uri="{FF2B5EF4-FFF2-40B4-BE49-F238E27FC236}">
                <a16:creationId xmlns:a16="http://schemas.microsoft.com/office/drawing/2014/main" id="{A1566036-EFE3-962A-9ECA-314AD3C0389D}"/>
              </a:ext>
            </a:extLst>
          </p:cNvPr>
          <p:cNvSpPr/>
          <p:nvPr/>
        </p:nvSpPr>
        <p:spPr>
          <a:xfrm>
            <a:off x="644906" y="2991792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1CC18E"/>
              </a:gs>
              <a:gs pos="100000">
                <a:srgbClr val="12C09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注册阿里云</a:t>
            </a:r>
            <a:endParaRPr lang="en-US" altLang="zh-CN" sz="120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实名认证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!!箭头: V 形 4">
            <a:extLst>
              <a:ext uri="{FF2B5EF4-FFF2-40B4-BE49-F238E27FC236}">
                <a16:creationId xmlns:a16="http://schemas.microsoft.com/office/drawing/2014/main" id="{E32B32F0-8D19-40A6-2DDB-E69575BC95B3}"/>
              </a:ext>
            </a:extLst>
          </p:cNvPr>
          <p:cNvSpPr/>
          <p:nvPr/>
        </p:nvSpPr>
        <p:spPr>
          <a:xfrm>
            <a:off x="2187101" y="2991792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10C193"/>
              </a:gs>
              <a:gs pos="100000">
                <a:srgbClr val="03BF97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充值</a:t>
            </a:r>
          </a:p>
        </p:txBody>
      </p:sp>
      <p:sp>
        <p:nvSpPr>
          <p:cNvPr id="5" name="!!箭头: V 形 5">
            <a:extLst>
              <a:ext uri="{FF2B5EF4-FFF2-40B4-BE49-F238E27FC236}">
                <a16:creationId xmlns:a16="http://schemas.microsoft.com/office/drawing/2014/main" id="{9F8BFC26-CCB5-560E-0A29-721C5FE5BDBC}"/>
              </a:ext>
            </a:extLst>
          </p:cNvPr>
          <p:cNvSpPr/>
          <p:nvPr/>
        </p:nvSpPr>
        <p:spPr>
          <a:xfrm>
            <a:off x="3729296" y="2991792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2BF97"/>
              </a:gs>
              <a:gs pos="100000">
                <a:srgbClr val="00B99F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开通对象存储</a:t>
            </a:r>
            <a:endParaRPr lang="en-US" altLang="zh-CN" sz="120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(OSS)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!!箭头: V 形 6">
            <a:extLst>
              <a:ext uri="{FF2B5EF4-FFF2-40B4-BE49-F238E27FC236}">
                <a16:creationId xmlns:a16="http://schemas.microsoft.com/office/drawing/2014/main" id="{9EBCA82D-4F1F-3F33-E7A6-E3B4E807CB01}"/>
              </a:ext>
            </a:extLst>
          </p:cNvPr>
          <p:cNvSpPr/>
          <p:nvPr/>
        </p:nvSpPr>
        <p:spPr>
          <a:xfrm>
            <a:off x="5271491" y="2991792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0B99F"/>
              </a:gs>
              <a:gs pos="100000">
                <a:srgbClr val="00B2A7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bucket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!!箭头: V 形 7">
            <a:extLst>
              <a:ext uri="{FF2B5EF4-FFF2-40B4-BE49-F238E27FC236}">
                <a16:creationId xmlns:a16="http://schemas.microsoft.com/office/drawing/2014/main" id="{407FFDEF-8C1F-E93B-8B0E-5E64036EE081}"/>
              </a:ext>
            </a:extLst>
          </p:cNvPr>
          <p:cNvSpPr/>
          <p:nvPr/>
        </p:nvSpPr>
        <p:spPr>
          <a:xfrm>
            <a:off x="6813686" y="2991792"/>
            <a:ext cx="1671553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0B2A7"/>
              </a:gs>
              <a:gs pos="100000">
                <a:srgbClr val="00A8B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获取并配置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AccessKey</a:t>
            </a:r>
          </a:p>
          <a:p>
            <a:pPr algn="ctr"/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200">
                <a:solidFill>
                  <a:srgbClr val="FFFF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秘钥</a:t>
            </a:r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!!箭头: V 形 8">
            <a:extLst>
              <a:ext uri="{FF2B5EF4-FFF2-40B4-BE49-F238E27FC236}">
                <a16:creationId xmlns:a16="http://schemas.microsoft.com/office/drawing/2014/main" id="{DBB17852-9972-3B01-19FA-76086AA934C6}"/>
              </a:ext>
            </a:extLst>
          </p:cNvPr>
          <p:cNvSpPr/>
          <p:nvPr/>
        </p:nvSpPr>
        <p:spPr>
          <a:xfrm>
            <a:off x="8355881" y="2991792"/>
            <a:ext cx="1746967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0A8B1"/>
              </a:gs>
              <a:gs pos="100000">
                <a:srgbClr val="0C99B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参照官方</a:t>
            </a:r>
            <a:r>
              <a:rPr lang="en-US" altLang="zh-CN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SDK</a:t>
            </a:r>
          </a:p>
          <a:p>
            <a:pPr algn="ctr"/>
            <a:r>
              <a:rPr lang="zh-CN" altLang="en-US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编写入门程序</a:t>
            </a:r>
          </a:p>
        </p:txBody>
      </p:sp>
      <p:sp>
        <p:nvSpPr>
          <p:cNvPr id="9" name="!!箭头: V 形 9">
            <a:extLst>
              <a:ext uri="{FF2B5EF4-FFF2-40B4-BE49-F238E27FC236}">
                <a16:creationId xmlns:a16="http://schemas.microsoft.com/office/drawing/2014/main" id="{3A7C265B-E8D1-DB16-CF0F-D2C80867080D}"/>
              </a:ext>
            </a:extLst>
          </p:cNvPr>
          <p:cNvSpPr/>
          <p:nvPr/>
        </p:nvSpPr>
        <p:spPr>
          <a:xfrm>
            <a:off x="9973489" y="2991792"/>
            <a:ext cx="1746967" cy="874416"/>
          </a:xfrm>
          <a:prstGeom prst="chevron">
            <a:avLst>
              <a:gd name="adj" fmla="val 31571"/>
            </a:avLst>
          </a:prstGeom>
          <a:gradFill flip="none" rotWithShape="1">
            <a:gsLst>
              <a:gs pos="0">
                <a:srgbClr val="0799B7"/>
              </a:gs>
              <a:gs pos="100000">
                <a:srgbClr val="3B68A9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案例集成</a:t>
            </a:r>
            <a:r>
              <a:rPr lang="en-US" altLang="zh-CN" sz="120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OSS</a:t>
            </a:r>
            <a:endParaRPr lang="zh-CN" altLang="en-US" sz="120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1281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阿里云</a:t>
            </a:r>
            <a:r>
              <a:rPr lang="en-US" altLang="zh-CN"/>
              <a:t>OSS-</a:t>
            </a:r>
            <a:r>
              <a:rPr lang="zh-CN" altLang="en-US"/>
              <a:t>案例集成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00EEE3-4535-4562-6856-61AD5900A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87" y="1411920"/>
            <a:ext cx="3177625" cy="2658056"/>
          </a:xfrm>
          <a:prstGeom prst="roundRect">
            <a:avLst>
              <a:gd name="adj" fmla="val 1807"/>
            </a:avLst>
          </a:prstGeom>
          <a:effectLst>
            <a:glow rad="63500">
              <a:schemeClr val="tx1">
                <a:lumMod val="50000"/>
                <a:lumOff val="50000"/>
                <a:alpha val="40000"/>
              </a:schemeClr>
            </a:glow>
          </a:effectLst>
        </p:spPr>
      </p:pic>
      <p:sp>
        <p:nvSpPr>
          <p:cNvPr id="4" name="!!矩形: 圆角 8">
            <a:extLst>
              <a:ext uri="{FF2B5EF4-FFF2-40B4-BE49-F238E27FC236}">
                <a16:creationId xmlns:a16="http://schemas.microsoft.com/office/drawing/2014/main" id="{733B4052-565E-9ACC-32AD-AECD09A20A2C}"/>
              </a:ext>
            </a:extLst>
          </p:cNvPr>
          <p:cNvSpPr/>
          <p:nvPr/>
        </p:nvSpPr>
        <p:spPr>
          <a:xfrm>
            <a:off x="887532" y="1411920"/>
            <a:ext cx="3177625" cy="2658056"/>
          </a:xfrm>
          <a:prstGeom prst="roundRect">
            <a:avLst>
              <a:gd name="adj" fmla="val 1804"/>
            </a:avLst>
          </a:prstGeom>
          <a:solidFill>
            <a:srgbClr val="262626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013358-B7E2-33BE-3E0E-1E5953153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36" y="1919407"/>
            <a:ext cx="2622816" cy="1527970"/>
          </a:xfrm>
          <a:prstGeom prst="rect">
            <a:avLst/>
          </a:prstGeom>
          <a:effectLst>
            <a:glow rad="63500">
              <a:schemeClr val="tx1">
                <a:lumMod val="50000"/>
                <a:lumOff val="50000"/>
                <a:alpha val="40000"/>
              </a:schemeClr>
            </a:glow>
          </a:effectLst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B439CB4-7936-2672-8021-8A04317B8F01}"/>
              </a:ext>
            </a:extLst>
          </p:cNvPr>
          <p:cNvCxnSpPr>
            <a:cxnSpLocks/>
          </p:cNvCxnSpPr>
          <p:nvPr/>
        </p:nvCxnSpPr>
        <p:spPr>
          <a:xfrm flipV="1">
            <a:off x="2024051" y="1855694"/>
            <a:ext cx="2870678" cy="869788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93CD489F-3BE6-7D83-9BDB-6F4D30451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269" y="2681345"/>
            <a:ext cx="630314" cy="459555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028BBBAE-F0D8-7CB5-A559-90C839C8F3B0}"/>
              </a:ext>
            </a:extLst>
          </p:cNvPr>
          <p:cNvGrpSpPr/>
          <p:nvPr/>
        </p:nvGrpSpPr>
        <p:grpSpPr>
          <a:xfrm>
            <a:off x="9037930" y="2292488"/>
            <a:ext cx="2520086" cy="1754733"/>
            <a:chOff x="9037930" y="2590474"/>
            <a:chExt cx="2520086" cy="1754733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D4750228-97F7-DC26-D086-76CC21668D1F}"/>
                </a:ext>
              </a:extLst>
            </p:cNvPr>
            <p:cNvGrpSpPr/>
            <p:nvPr/>
          </p:nvGrpSpPr>
          <p:grpSpPr>
            <a:xfrm>
              <a:off x="9037930" y="2590474"/>
              <a:ext cx="2520086" cy="1754733"/>
              <a:chOff x="9037930" y="2590474"/>
              <a:chExt cx="2520086" cy="1754733"/>
            </a:xfrm>
          </p:grpSpPr>
          <p:sp>
            <p:nvSpPr>
              <p:cNvPr id="13" name="!!图片 4">
                <a:extLst>
                  <a:ext uri="{FF2B5EF4-FFF2-40B4-BE49-F238E27FC236}">
                    <a16:creationId xmlns:a16="http://schemas.microsoft.com/office/drawing/2014/main" id="{628A4F14-B026-FC7B-86F6-685169D9BE78}"/>
                  </a:ext>
                </a:extLst>
              </p:cNvPr>
              <p:cNvSpPr/>
              <p:nvPr/>
            </p:nvSpPr>
            <p:spPr>
              <a:xfrm>
                <a:off x="9037930" y="2590474"/>
                <a:ext cx="2520086" cy="1387267"/>
              </a:xfrm>
              <a:prstGeom prst="cloud">
                <a:avLst/>
              </a:prstGeom>
              <a:gradFill flip="none" rotWithShape="1">
                <a:gsLst>
                  <a:gs pos="0">
                    <a:srgbClr val="00B0F0">
                      <a:tint val="66000"/>
                      <a:satMod val="160000"/>
                    </a:srgbClr>
                  </a:gs>
                  <a:gs pos="50000">
                    <a:srgbClr val="00B0F0">
                      <a:tint val="44500"/>
                      <a:satMod val="160000"/>
                    </a:srgbClr>
                  </a:gs>
                  <a:gs pos="100000">
                    <a:srgbClr val="00B0F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C0000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BB9D741-9F65-7979-D995-369BC54D4366}"/>
                  </a:ext>
                </a:extLst>
              </p:cNvPr>
              <p:cNvSpPr txBox="1"/>
              <p:nvPr/>
            </p:nvSpPr>
            <p:spPr>
              <a:xfrm>
                <a:off x="9727744" y="3975875"/>
                <a:ext cx="14721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800">
                    <a:solidFill>
                      <a:srgbClr val="C00000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阿里云</a:t>
                </a:r>
                <a:r>
                  <a:rPr lang="en-US" altLang="zh-CN" sz="1800">
                    <a:solidFill>
                      <a:srgbClr val="C00000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OSS</a:t>
                </a:r>
                <a:endParaRPr lang="zh-CN" altLang="en-US" sz="1800">
                  <a:solidFill>
                    <a:srgbClr val="C0000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10" name="流程图: 文档 9">
              <a:extLst>
                <a:ext uri="{FF2B5EF4-FFF2-40B4-BE49-F238E27FC236}">
                  <a16:creationId xmlns:a16="http://schemas.microsoft.com/office/drawing/2014/main" id="{679DF995-97F3-DF19-FB16-7E1455C95132}"/>
                </a:ext>
              </a:extLst>
            </p:cNvPr>
            <p:cNvSpPr/>
            <p:nvPr/>
          </p:nvSpPr>
          <p:spPr>
            <a:xfrm>
              <a:off x="10018166" y="3090678"/>
              <a:ext cx="589696" cy="483577"/>
            </a:xfrm>
            <a:prstGeom prst="flowChartDocument">
              <a:avLst/>
            </a:prstGeom>
            <a:solidFill>
              <a:srgbClr val="0070C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200"/>
                <a:t>bucket</a:t>
              </a:r>
              <a:endParaRPr lang="zh-CN" altLang="en-US" sz="1200"/>
            </a:p>
          </p:txBody>
        </p:sp>
        <p:sp>
          <p:nvSpPr>
            <p:cNvPr id="11" name="流程图: 文档 10">
              <a:extLst>
                <a:ext uri="{FF2B5EF4-FFF2-40B4-BE49-F238E27FC236}">
                  <a16:creationId xmlns:a16="http://schemas.microsoft.com/office/drawing/2014/main" id="{F6B255D8-9311-1AFE-903F-A45A60CBC864}"/>
                </a:ext>
              </a:extLst>
            </p:cNvPr>
            <p:cNvSpPr/>
            <p:nvPr/>
          </p:nvSpPr>
          <p:spPr>
            <a:xfrm>
              <a:off x="9291164" y="3090678"/>
              <a:ext cx="589696" cy="483577"/>
            </a:xfrm>
            <a:prstGeom prst="flowChartDocument">
              <a:avLst/>
            </a:prstGeom>
            <a:solidFill>
              <a:srgbClr val="0070C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200"/>
                <a:t>bucket</a:t>
              </a:r>
            </a:p>
          </p:txBody>
        </p:sp>
        <p:sp>
          <p:nvSpPr>
            <p:cNvPr id="12" name="流程图: 文档 11">
              <a:extLst>
                <a:ext uri="{FF2B5EF4-FFF2-40B4-BE49-F238E27FC236}">
                  <a16:creationId xmlns:a16="http://schemas.microsoft.com/office/drawing/2014/main" id="{D8E5CE07-E254-CE99-816D-91E39C2A7B15}"/>
                </a:ext>
              </a:extLst>
            </p:cNvPr>
            <p:cNvSpPr/>
            <p:nvPr/>
          </p:nvSpPr>
          <p:spPr>
            <a:xfrm>
              <a:off x="10742125" y="3090677"/>
              <a:ext cx="589696" cy="483577"/>
            </a:xfrm>
            <a:prstGeom prst="flowChartDocument">
              <a:avLst/>
            </a:prstGeom>
            <a:solidFill>
              <a:srgbClr val="0070C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200"/>
                <a:t>bucket</a:t>
              </a:r>
              <a:endParaRPr lang="zh-CN" altLang="en-US" sz="1200"/>
            </a:p>
          </p:txBody>
        </p:sp>
      </p:grp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D9FC892-F1B2-6B28-2EBB-F2FA59F61071}"/>
              </a:ext>
            </a:extLst>
          </p:cNvPr>
          <p:cNvCxnSpPr>
            <a:cxnSpLocks/>
          </p:cNvCxnSpPr>
          <p:nvPr/>
        </p:nvCxnSpPr>
        <p:spPr>
          <a:xfrm>
            <a:off x="7333129" y="1783976"/>
            <a:ext cx="1700656" cy="878764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F068E82-AE73-0C62-8C17-953FE26C3EA6}"/>
              </a:ext>
            </a:extLst>
          </p:cNvPr>
          <p:cNvCxnSpPr>
            <a:cxnSpLocks/>
          </p:cNvCxnSpPr>
          <p:nvPr/>
        </p:nvCxnSpPr>
        <p:spPr>
          <a:xfrm>
            <a:off x="7333129" y="2191973"/>
            <a:ext cx="1624860" cy="818343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2853543-60B9-3F7B-1CA9-88A5FAEE5EA3}"/>
              </a:ext>
            </a:extLst>
          </p:cNvPr>
          <p:cNvCxnSpPr>
            <a:cxnSpLocks/>
          </p:cNvCxnSpPr>
          <p:nvPr/>
        </p:nvCxnSpPr>
        <p:spPr>
          <a:xfrm flipV="1">
            <a:off x="2024051" y="2223358"/>
            <a:ext cx="2834821" cy="828703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AE5BF55E-42FF-518B-0F67-332985F5398C}"/>
              </a:ext>
            </a:extLst>
          </p:cNvPr>
          <p:cNvCxnSpPr>
            <a:cxnSpLocks/>
            <a:stCxn id="11" idx="2"/>
            <a:endCxn id="7" idx="2"/>
          </p:cNvCxnSpPr>
          <p:nvPr/>
        </p:nvCxnSpPr>
        <p:spPr>
          <a:xfrm rot="5400000" flipH="1">
            <a:off x="5539519" y="-802193"/>
            <a:ext cx="103399" cy="7989586"/>
          </a:xfrm>
          <a:prstGeom prst="curvedConnector3">
            <a:avLst>
              <a:gd name="adj1" fmla="val -824228"/>
            </a:avLst>
          </a:prstGeom>
          <a:ln w="19050">
            <a:solidFill>
              <a:srgbClr val="C0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3D1B8B4-7DAA-D1EC-AE35-22875CE64A5D}"/>
              </a:ext>
            </a:extLst>
          </p:cNvPr>
          <p:cNvGrpSpPr/>
          <p:nvPr/>
        </p:nvGrpSpPr>
        <p:grpSpPr>
          <a:xfrm>
            <a:off x="4962626" y="1302740"/>
            <a:ext cx="2336021" cy="1541661"/>
            <a:chOff x="4922277" y="2461526"/>
            <a:chExt cx="2336021" cy="1541661"/>
          </a:xfrm>
        </p:grpSpPr>
        <p:sp>
          <p:nvSpPr>
            <p:cNvPr id="20" name="流程图: 文档 19">
              <a:extLst>
                <a:ext uri="{FF2B5EF4-FFF2-40B4-BE49-F238E27FC236}">
                  <a16:creationId xmlns:a16="http://schemas.microsoft.com/office/drawing/2014/main" id="{D06325B4-1E19-1236-4DD7-084DADA7A58B}"/>
                </a:ext>
              </a:extLst>
            </p:cNvPr>
            <p:cNvSpPr/>
            <p:nvPr/>
          </p:nvSpPr>
          <p:spPr>
            <a:xfrm>
              <a:off x="4922277" y="2470045"/>
              <a:ext cx="2336021" cy="1533142"/>
            </a:xfrm>
            <a:prstGeom prst="flowChartDocument">
              <a:avLst/>
            </a:prstGeom>
            <a:solidFill>
              <a:srgbClr val="344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endParaRPr lang="en-US" altLang="zh-CN" sz="105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050"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1. </a:t>
              </a:r>
              <a:r>
                <a:rPr lang="zh-CN" altLang="en-US" sz="1050"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接收上传的图片</a:t>
              </a:r>
              <a:endParaRPr lang="en-US" altLang="zh-CN" sz="105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050"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2. </a:t>
              </a:r>
              <a:r>
                <a:rPr lang="zh-CN" altLang="en-US" sz="1050"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将图片存储起来（</a:t>
              </a:r>
              <a:r>
                <a:rPr lang="en-US" altLang="zh-CN" sz="1050"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OSS</a:t>
              </a:r>
              <a:r>
                <a:rPr lang="zh-CN" altLang="en-US" sz="1050"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）</a:t>
              </a:r>
              <a:endParaRPr lang="en-US" altLang="zh-CN" sz="105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050"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3. </a:t>
              </a:r>
              <a:r>
                <a:rPr lang="zh-CN" altLang="en-US" sz="1050"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返回图片访问的</a:t>
              </a:r>
              <a:r>
                <a:rPr lang="en-US" altLang="zh-CN" sz="1050"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URL</a:t>
              </a:r>
              <a:endParaRPr lang="zh-CN" altLang="en-US" sz="105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6E848CC-7145-DDEC-CDE4-75ACBF5FC723}"/>
                </a:ext>
              </a:extLst>
            </p:cNvPr>
            <p:cNvSpPr txBox="1"/>
            <p:nvPr/>
          </p:nvSpPr>
          <p:spPr>
            <a:xfrm>
              <a:off x="5280213" y="2461526"/>
              <a:ext cx="17122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UploadController</a:t>
              </a:r>
              <a:endParaRPr lang="zh-CN" altLang="en-US" sz="1200" b="1" dirty="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0171F72-60CA-3899-7F89-F02B66B9A406}"/>
                </a:ext>
              </a:extLst>
            </p:cNvPr>
            <p:cNvCxnSpPr/>
            <p:nvPr/>
          </p:nvCxnSpPr>
          <p:spPr>
            <a:xfrm>
              <a:off x="4922277" y="2774385"/>
              <a:ext cx="2336021" cy="0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D8148648-27B2-650C-0A2F-3876712D0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622" y="4609868"/>
            <a:ext cx="2866956" cy="1826791"/>
          </a:xfrm>
          <a:prstGeom prst="roundRect">
            <a:avLst>
              <a:gd name="adj" fmla="val 1945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B671A401-AC7D-C676-2AB4-205E0554CAAA}"/>
              </a:ext>
            </a:extLst>
          </p:cNvPr>
          <p:cNvGrpSpPr/>
          <p:nvPr/>
        </p:nvGrpSpPr>
        <p:grpSpPr>
          <a:xfrm>
            <a:off x="1841885" y="3791947"/>
            <a:ext cx="630314" cy="1568947"/>
            <a:chOff x="1713332" y="4250177"/>
            <a:chExt cx="630314" cy="1568947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9B41CC25-EE30-3BBF-6DCD-B33C5A53A947}"/>
                </a:ext>
              </a:extLst>
            </p:cNvPr>
            <p:cNvSpPr/>
            <p:nvPr/>
          </p:nvSpPr>
          <p:spPr>
            <a:xfrm>
              <a:off x="1713332" y="4250177"/>
              <a:ext cx="630314" cy="26398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485FF3AB-6EA7-E585-13C6-9A3FD59F5370}"/>
                </a:ext>
              </a:extLst>
            </p:cNvPr>
            <p:cNvCxnSpPr>
              <a:cxnSpLocks/>
            </p:cNvCxnSpPr>
            <p:nvPr/>
          </p:nvCxnSpPr>
          <p:spPr>
            <a:xfrm>
              <a:off x="2024051" y="4514157"/>
              <a:ext cx="0" cy="130496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543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FEF9F6-301C-0366-803A-645FF5882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50905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步骤：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引入阿里云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OSS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文件上传工具类（由官方的示例代码改造而来）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上传文件接口开发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阿里云</a:t>
            </a:r>
            <a:r>
              <a:rPr lang="en-US" altLang="zh-CN"/>
              <a:t>OSS-</a:t>
            </a:r>
            <a:r>
              <a:rPr lang="zh-CN" altLang="en-US"/>
              <a:t>案例集成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8C84A11F-BF0C-4DB4-715B-E40173C23889}"/>
              </a:ext>
            </a:extLst>
          </p:cNvPr>
          <p:cNvGrpSpPr/>
          <p:nvPr/>
        </p:nvGrpSpPr>
        <p:grpSpPr>
          <a:xfrm>
            <a:off x="1008056" y="2539433"/>
            <a:ext cx="10175888" cy="3457955"/>
            <a:chOff x="2297721" y="3660322"/>
            <a:chExt cx="11211940" cy="345816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90B9FA3-BE23-EAE6-7CDA-F22CDB89646A}"/>
                </a:ext>
              </a:extLst>
            </p:cNvPr>
            <p:cNvSpPr/>
            <p:nvPr/>
          </p:nvSpPr>
          <p:spPr>
            <a:xfrm>
              <a:off x="2297728" y="3660324"/>
              <a:ext cx="11211933" cy="3458158"/>
            </a:xfrm>
            <a:prstGeom prst="roundRect">
              <a:avLst>
                <a:gd name="adj" fmla="val 237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@Autowired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AliyunOSSOperator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aliyunOSSOperator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/**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* 文件上传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*/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@PostMapping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"/upload"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upload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MultipartFile file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throws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Exception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log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.info(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"文件上传:{}"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file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url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aliyunOSSOperator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.upload(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file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.getBytes(),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file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.getOriginalFilename());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.success(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url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415ABC5E-8C42-15D1-BA19-82C9FE4AFEB1}"/>
                </a:ext>
              </a:extLst>
            </p:cNvPr>
            <p:cNvSpPr/>
            <p:nvPr/>
          </p:nvSpPr>
          <p:spPr>
            <a:xfrm>
              <a:off x="2297721" y="3660322"/>
              <a:ext cx="1121193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UploadController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DBA63CB-8D20-E02F-723C-8E3CA7F2A23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AF2F3A3-6E29-F584-5D7E-8234F20622E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382EECA-611A-55D4-F44F-08DBE597237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CD0573BE-E1F0-19E9-DD8C-3481DE502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64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E01F1A0-757F-EDA6-2869-3F833DF946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734"/>
          <a:stretch/>
        </p:blipFill>
        <p:spPr>
          <a:xfrm>
            <a:off x="4543425" y="3142546"/>
            <a:ext cx="6254115" cy="15532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8B0AF1-3755-65D8-5CEF-7473318F3C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2236" y="1735810"/>
            <a:ext cx="6967456" cy="178183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如果将这些参数信息，写在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java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代码中有什么问题 ？</a:t>
            </a:r>
            <a:endParaRPr lang="en-US" altLang="zh-CN" sz="18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8BAF839-0121-0659-98DB-698514FBD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009" y="657606"/>
            <a:ext cx="3360711" cy="58679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" name="!!矩形 7">
            <a:extLst>
              <a:ext uri="{FF2B5EF4-FFF2-40B4-BE49-F238E27FC236}">
                <a16:creationId xmlns:a16="http://schemas.microsoft.com/office/drawing/2014/main" id="{9B4C03E9-6EBA-CE7A-4BEC-B92E6FCEDD93}"/>
              </a:ext>
            </a:extLst>
          </p:cNvPr>
          <p:cNvSpPr/>
          <p:nvPr/>
        </p:nvSpPr>
        <p:spPr>
          <a:xfrm>
            <a:off x="8769009" y="1664971"/>
            <a:ext cx="3353896" cy="3812538"/>
          </a:xfrm>
          <a:prstGeom prst="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!!矩形 7">
            <a:extLst>
              <a:ext uri="{FF2B5EF4-FFF2-40B4-BE49-F238E27FC236}">
                <a16:creationId xmlns:a16="http://schemas.microsoft.com/office/drawing/2014/main" id="{882AA9AE-3FE0-7B10-C026-3A385682C98F}"/>
              </a:ext>
            </a:extLst>
          </p:cNvPr>
          <p:cNvSpPr/>
          <p:nvPr/>
        </p:nvSpPr>
        <p:spPr>
          <a:xfrm>
            <a:off x="8769008" y="6312316"/>
            <a:ext cx="3360711" cy="213198"/>
          </a:xfrm>
          <a:prstGeom prst="rect">
            <a:avLst/>
          </a:prstGeom>
          <a:solidFill>
            <a:srgbClr val="00B050">
              <a:alpha val="2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41F660E-448E-61D3-C835-E89426C3D7C9}"/>
              </a:ext>
            </a:extLst>
          </p:cNvPr>
          <p:cNvCxnSpPr>
            <a:cxnSpLocks/>
          </p:cNvCxnSpPr>
          <p:nvPr/>
        </p:nvCxnSpPr>
        <p:spPr>
          <a:xfrm>
            <a:off x="6374098" y="3677768"/>
            <a:ext cx="2079022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5660101-C11A-4BBE-6367-0C887A6B47E0}"/>
              </a:ext>
            </a:extLst>
          </p:cNvPr>
          <p:cNvCxnSpPr>
            <a:cxnSpLocks/>
          </p:cNvCxnSpPr>
          <p:nvPr/>
        </p:nvCxnSpPr>
        <p:spPr>
          <a:xfrm>
            <a:off x="6452838" y="3877436"/>
            <a:ext cx="494062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98897D9-6AC3-594B-0676-FDB4D018CB60}"/>
              </a:ext>
            </a:extLst>
          </p:cNvPr>
          <p:cNvSpPr txBox="1"/>
          <p:nvPr/>
        </p:nvSpPr>
        <p:spPr>
          <a:xfrm>
            <a:off x="6676209" y="3126028"/>
            <a:ext cx="1639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不便维护与管理</a:t>
            </a:r>
            <a:endParaRPr lang="zh-CN" altLang="en-US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81D18F8-540B-68E4-6204-533E583848BD}"/>
              </a:ext>
            </a:extLst>
          </p:cNvPr>
          <p:cNvCxnSpPr>
            <a:cxnSpLocks/>
          </p:cNvCxnSpPr>
          <p:nvPr/>
        </p:nvCxnSpPr>
        <p:spPr>
          <a:xfrm>
            <a:off x="6271047" y="4060316"/>
            <a:ext cx="577882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62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320B69-C6F4-98AD-73D6-155345198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指将一些需要灵活变化的参数，配置在配置文件中，然后通过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@Value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注解来注入外部配置的属性。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参数配置化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E9044B47-0EBD-FA6E-6885-28E7F6EA84EC}"/>
              </a:ext>
            </a:extLst>
          </p:cNvPr>
          <p:cNvGrpSpPr/>
          <p:nvPr/>
        </p:nvGrpSpPr>
        <p:grpSpPr>
          <a:xfrm>
            <a:off x="937359" y="1632875"/>
            <a:ext cx="7625728" cy="1704736"/>
            <a:chOff x="2297721" y="3660322"/>
            <a:chExt cx="8402137" cy="170483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C86307C-3960-C713-EE67-FF4DC9C756C4}"/>
                </a:ext>
              </a:extLst>
            </p:cNvPr>
            <p:cNvSpPr/>
            <p:nvPr/>
          </p:nvSpPr>
          <p:spPr>
            <a:xfrm>
              <a:off x="2297728" y="3660324"/>
              <a:ext cx="8402130" cy="1704835"/>
            </a:xfrm>
            <a:prstGeom prst="roundRect">
              <a:avLst>
                <a:gd name="adj" fmla="val 56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aliyun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oss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endpoint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 https://oss-cn-beijing.aliyuncs.com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bucketName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 java-ai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>
                  <a:solidFill>
                    <a:srgbClr val="080808"/>
                  </a:solidFill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</a:rPr>
                <a:t>region</a:t>
              </a:r>
              <a:r>
                <a:rPr lang="en-US" altLang="zh-CN" sz="1200">
                  <a:solidFill>
                    <a:srgbClr val="080808"/>
                  </a:solidFill>
                </a:rPr>
                <a:t>: cn-beijing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3459748D-1466-E99E-9BD2-74CD2B7BEDF9}"/>
                </a:ext>
              </a:extLst>
            </p:cNvPr>
            <p:cNvSpPr/>
            <p:nvPr/>
          </p:nvSpPr>
          <p:spPr>
            <a:xfrm>
              <a:off x="2297721" y="3660322"/>
              <a:ext cx="840213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application.yml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90AAA0C-0437-CCA7-C049-93ED4AAC0DD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BE9DD13-9D50-CE7E-C747-4E26B664097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773A18E-6F16-A171-F540-E6D4C5B5CC9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14E915E3-F63C-3F2A-9A5E-059DB4E95695}"/>
              </a:ext>
            </a:extLst>
          </p:cNvPr>
          <p:cNvGrpSpPr/>
          <p:nvPr/>
        </p:nvGrpSpPr>
        <p:grpSpPr>
          <a:xfrm>
            <a:off x="937333" y="3513190"/>
            <a:ext cx="7625735" cy="2953083"/>
            <a:chOff x="2297721" y="3660322"/>
            <a:chExt cx="8402144" cy="2953260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5A78B30-6187-1E5B-B445-AE486AF6B3B9}"/>
                </a:ext>
              </a:extLst>
            </p:cNvPr>
            <p:cNvSpPr/>
            <p:nvPr/>
          </p:nvSpPr>
          <p:spPr>
            <a:xfrm>
              <a:off x="2297728" y="3660322"/>
              <a:ext cx="8402137" cy="2953260"/>
            </a:xfrm>
            <a:prstGeom prst="roundRect">
              <a:avLst>
                <a:gd name="adj" fmla="val 253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252000" rIns="0" bIns="36000" rtlCol="0" anchor="t"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@Component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class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AliyunOSSOperator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@Value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"${aliyun.oss.endpoint}"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endpoint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@Value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"${aliyun.oss.bucketName}"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bucketName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endParaRPr lang="en-US" altLang="zh-CN" sz="1200">
                <a:solidFill>
                  <a:schemeClr val="tx1"/>
                </a:solidFill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>
                  <a:solidFill>
                    <a:srgbClr val="080808"/>
                  </a:solidFill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@Value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"${aliyun.oss.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region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}"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region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endParaRPr lang="en-US" altLang="zh-CN" sz="1200">
                <a:solidFill>
                  <a:schemeClr val="bg1">
                    <a:lumMod val="65000"/>
                  </a:schemeClr>
                </a:solidFill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>
                  <a:solidFill>
                    <a:srgbClr val="080808"/>
                  </a:solidFill>
                </a:rPr>
                <a:t>}</a:t>
              </a:r>
              <a:endParaRPr lang="en-US" altLang="zh-CN" sz="1200">
                <a:solidFill>
                  <a:srgbClr val="080808"/>
                </a:solidFill>
                <a:effectLst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07CDA5E4-2B2B-A78E-401A-B3F8F5EFB2E8}"/>
                </a:ext>
              </a:extLst>
            </p:cNvPr>
            <p:cNvSpPr/>
            <p:nvPr/>
          </p:nvSpPr>
          <p:spPr>
            <a:xfrm>
              <a:off x="2297721" y="3660322"/>
              <a:ext cx="840213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0" lang="zh-CN" altLang="zh-CN" sz="14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</a:rPr>
                <a:t>AliyunOSSOperator</a:t>
              </a:r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EA9B66C-9C2A-D104-DA97-77100CB3225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C5CE953-548D-A08B-E2E3-77139E603CA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43ADC04E-6D7A-5D40-85B2-4BC486628FF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9D5F608-05DC-A352-3770-BE94B15DA9FC}"/>
              </a:ext>
            </a:extLst>
          </p:cNvPr>
          <p:cNvCxnSpPr>
            <a:cxnSpLocks/>
          </p:cNvCxnSpPr>
          <p:nvPr/>
        </p:nvCxnSpPr>
        <p:spPr>
          <a:xfrm>
            <a:off x="1313997" y="2789335"/>
            <a:ext cx="4118615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97FDE69-0961-BC1B-795A-963DAB191AF7}"/>
              </a:ext>
            </a:extLst>
          </p:cNvPr>
          <p:cNvCxnSpPr>
            <a:cxnSpLocks/>
          </p:cNvCxnSpPr>
          <p:nvPr/>
        </p:nvCxnSpPr>
        <p:spPr>
          <a:xfrm>
            <a:off x="2054934" y="4629454"/>
            <a:ext cx="2068220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C4FD1A9-8981-98DC-C937-7C51E85E91D8}"/>
              </a:ext>
            </a:extLst>
          </p:cNvPr>
          <p:cNvCxnSpPr>
            <a:cxnSpLocks/>
          </p:cNvCxnSpPr>
          <p:nvPr/>
        </p:nvCxnSpPr>
        <p:spPr>
          <a:xfrm>
            <a:off x="1391654" y="2827391"/>
            <a:ext cx="813664" cy="155635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">
            <a:extLst>
              <a:ext uri="{FF2B5EF4-FFF2-40B4-BE49-F238E27FC236}">
                <a16:creationId xmlns:a16="http://schemas.microsoft.com/office/drawing/2014/main" id="{B6147788-6611-6625-A45F-4AB08AFFD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827E3E62-8192-633C-0640-150883C7F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6159BB1-3B73-8BA3-B6B5-0061E78B3261}"/>
              </a:ext>
            </a:extLst>
          </p:cNvPr>
          <p:cNvSpPr txBox="1"/>
          <p:nvPr/>
        </p:nvSpPr>
        <p:spPr>
          <a:xfrm>
            <a:off x="9762565" y="1023936"/>
            <a:ext cx="2159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@Value("${key}")</a:t>
            </a:r>
            <a:endParaRPr lang="zh-CN" altLang="en-US" sz="16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77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C9366A89-3F18-1139-2EDA-87E28FFEB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992" y="1620547"/>
            <a:ext cx="4338768" cy="2331054"/>
          </a:xfrm>
          <a:prstGeom prst="roundRect">
            <a:avLst>
              <a:gd name="adj" fmla="val 3662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5CA285-0AB0-9DA6-426B-1F28367B6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使用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@Value</a:t>
            </a:r>
            <a:r>
              <a:rPr lang="zh-CN" altLang="en-US">
                <a:latin typeface="Fira Code" panose="020B0809050000020004" pitchFamily="49" charset="0"/>
              </a:rPr>
              <a:t>注解注入配置文件的配置项，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如果配置项多，注入繁琐，不便于维护管理 和 复用</a:t>
            </a:r>
            <a:r>
              <a:rPr lang="zh-CN" altLang="en-US">
                <a:latin typeface="Fira Code" panose="020B0809050000020004" pitchFamily="49" charset="0"/>
              </a:rPr>
              <a:t>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问题分析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BB85A94-C5DA-A457-2A67-3C884668BA7E}"/>
              </a:ext>
            </a:extLst>
          </p:cNvPr>
          <p:cNvCxnSpPr>
            <a:cxnSpLocks/>
          </p:cNvCxnSpPr>
          <p:nvPr/>
        </p:nvCxnSpPr>
        <p:spPr>
          <a:xfrm>
            <a:off x="5720358" y="2624098"/>
            <a:ext cx="1101784" cy="0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03222F54-F11A-7706-B4DA-9F7A517212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06" r="8230"/>
          <a:stretch/>
        </p:blipFill>
        <p:spPr>
          <a:xfrm>
            <a:off x="6867992" y="3893842"/>
            <a:ext cx="4338769" cy="23993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E1DBD23-9E9E-0C2C-1E2E-8A3149E15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992" y="3860153"/>
            <a:ext cx="4338768" cy="914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BCC3CF3-A2C3-2FBF-61C2-65548DD58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480" y="1620547"/>
            <a:ext cx="4823878" cy="1745131"/>
          </a:xfrm>
          <a:prstGeom prst="roundRect">
            <a:avLst>
              <a:gd name="adj" fmla="val 3662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2234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159DCFE-0362-C564-7FA1-789206BC3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721" y="1263033"/>
            <a:ext cx="4834757" cy="2315871"/>
          </a:xfrm>
          <a:prstGeom prst="roundRect">
            <a:avLst>
              <a:gd name="adj" fmla="val 3662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7CD5465-1282-588A-0AB3-F628F965E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06" y="1640701"/>
            <a:ext cx="4823878" cy="1745131"/>
          </a:xfrm>
          <a:prstGeom prst="roundRect">
            <a:avLst>
              <a:gd name="adj" fmla="val 3662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8A2F6C9-4D4E-D5D6-EDEC-849370C8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@ConfigurationProperties</a:t>
            </a:r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95EABE0-412D-E4E5-C214-667B67F51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0929" y="4177045"/>
            <a:ext cx="7653900" cy="2206999"/>
          </a:xfrm>
          <a:prstGeom prst="roundRect">
            <a:avLst>
              <a:gd name="adj" fmla="val 3662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C04F658-E0CF-8488-F8DC-6FFD8C23FE3F}"/>
              </a:ext>
            </a:extLst>
          </p:cNvPr>
          <p:cNvSpPr/>
          <p:nvPr/>
        </p:nvSpPr>
        <p:spPr>
          <a:xfrm>
            <a:off x="1021977" y="2474259"/>
            <a:ext cx="867784" cy="268941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5DE224-91BF-9D25-5B1B-6098D5CF2703}"/>
              </a:ext>
            </a:extLst>
          </p:cNvPr>
          <p:cNvSpPr/>
          <p:nvPr/>
        </p:nvSpPr>
        <p:spPr>
          <a:xfrm>
            <a:off x="1021975" y="2774577"/>
            <a:ext cx="1060825" cy="268941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40ACE0-BF52-EAA5-64CA-707A14FC311C}"/>
              </a:ext>
            </a:extLst>
          </p:cNvPr>
          <p:cNvSpPr/>
          <p:nvPr/>
        </p:nvSpPr>
        <p:spPr>
          <a:xfrm>
            <a:off x="8597153" y="2416783"/>
            <a:ext cx="950259" cy="268941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336DD8-6525-D4BB-F277-23664E176C43}"/>
              </a:ext>
            </a:extLst>
          </p:cNvPr>
          <p:cNvSpPr/>
          <p:nvPr/>
        </p:nvSpPr>
        <p:spPr>
          <a:xfrm>
            <a:off x="8597153" y="2715853"/>
            <a:ext cx="1129554" cy="268941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21">
            <a:extLst>
              <a:ext uri="{FF2B5EF4-FFF2-40B4-BE49-F238E27FC236}">
                <a16:creationId xmlns:a16="http://schemas.microsoft.com/office/drawing/2014/main" id="{D4C3E1F8-5E9B-F407-C6EE-79570B640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856" y="1833429"/>
            <a:ext cx="4717188" cy="268941"/>
          </a:xfrm>
          <a:prstGeom prst="rect">
            <a:avLst/>
          </a:prstGeom>
        </p:spPr>
      </p:pic>
      <p:sp>
        <p:nvSpPr>
          <p:cNvPr id="21" name="椭圆 20">
            <a:extLst>
              <a:ext uri="{FF2B5EF4-FFF2-40B4-BE49-F238E27FC236}">
                <a16:creationId xmlns:a16="http://schemas.microsoft.com/office/drawing/2014/main" id="{4352E8DC-7FE6-FDDC-C4CD-DC65D4785603}"/>
              </a:ext>
            </a:extLst>
          </p:cNvPr>
          <p:cNvSpPr/>
          <p:nvPr/>
        </p:nvSpPr>
        <p:spPr>
          <a:xfrm>
            <a:off x="576196" y="1833429"/>
            <a:ext cx="849192" cy="640830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B7E9ACE-A28D-6D1A-AEAE-011FE3F0A12F}"/>
              </a:ext>
            </a:extLst>
          </p:cNvPr>
          <p:cNvSpPr/>
          <p:nvPr/>
        </p:nvSpPr>
        <p:spPr>
          <a:xfrm>
            <a:off x="9933476" y="1855700"/>
            <a:ext cx="1174377" cy="290139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DBFE7A2A-69CD-150E-D981-A77AC0583992}"/>
              </a:ext>
            </a:extLst>
          </p:cNvPr>
          <p:cNvCxnSpPr>
            <a:stCxn id="21" idx="0"/>
            <a:endCxn id="22" idx="0"/>
          </p:cNvCxnSpPr>
          <p:nvPr/>
        </p:nvCxnSpPr>
        <p:spPr>
          <a:xfrm rot="16200000" flipH="1">
            <a:off x="5749592" y="-2915372"/>
            <a:ext cx="22271" cy="9519873"/>
          </a:xfrm>
          <a:prstGeom prst="curvedConnector3">
            <a:avLst>
              <a:gd name="adj1" fmla="val -1026447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2E577D4-1B08-0572-C86E-D46CDA84AD5D}"/>
              </a:ext>
            </a:extLst>
          </p:cNvPr>
          <p:cNvSpPr/>
          <p:nvPr/>
        </p:nvSpPr>
        <p:spPr>
          <a:xfrm>
            <a:off x="1021975" y="3074895"/>
            <a:ext cx="715385" cy="268941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AB1408-398D-FFB4-B953-3ABAFF3566FD}"/>
              </a:ext>
            </a:extLst>
          </p:cNvPr>
          <p:cNvSpPr/>
          <p:nvPr/>
        </p:nvSpPr>
        <p:spPr>
          <a:xfrm>
            <a:off x="8597153" y="3014923"/>
            <a:ext cx="715385" cy="268941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488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7" grpId="0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13CCE4-02AC-3D69-0045-3E7BC8A074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注入外部配置文件中的配置项的两种方式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@Value</a:t>
            </a: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：一个属性一个属性的注入</a:t>
            </a:r>
            <a:endParaRPr lang="en-US" altLang="zh-CN" sz="1600" b="0">
              <a:solidFill>
                <a:schemeClr val="tx1">
                  <a:lumMod val="50000"/>
                </a:schemeClr>
              </a:solidFill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@ConfigurationProperties</a:t>
            </a: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：批量将多个属性注入到</a:t>
            </a: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bean</a:t>
            </a: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对象中</a:t>
            </a:r>
            <a:endParaRPr lang="en-US" altLang="zh-CN" sz="1600" b="0">
              <a:solidFill>
                <a:schemeClr val="tx1">
                  <a:lumMod val="50000"/>
                </a:schemeClr>
              </a:solidFill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两种方式各自的使用场景？</a:t>
            </a:r>
            <a:endParaRPr lang="en-US" altLang="zh-CN" sz="1800">
              <a:solidFill>
                <a:schemeClr val="tx1">
                  <a:lumMod val="50000"/>
                </a:schemeClr>
              </a:solidFill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如果属性较少</a:t>
            </a: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,</a:t>
            </a: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建议</a:t>
            </a: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@Value</a:t>
            </a: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注入即可</a:t>
            </a:r>
            <a:endParaRPr lang="en-US" altLang="zh-CN" sz="1600" b="0">
              <a:solidFill>
                <a:schemeClr val="tx1">
                  <a:lumMod val="50000"/>
                </a:schemeClr>
              </a:solidFill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如果属性较多</a:t>
            </a: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,</a:t>
            </a: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考虑复用</a:t>
            </a: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,</a:t>
            </a: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建议使用</a:t>
            </a: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@ConfigurationProperties</a:t>
            </a:r>
          </a:p>
        </p:txBody>
      </p:sp>
    </p:spTree>
    <p:extLst>
      <p:ext uri="{BB962C8B-B14F-4D97-AF65-F5344CB8AC3E}">
        <p14:creationId xmlns:p14="http://schemas.microsoft.com/office/powerpoint/2010/main" val="1019682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16784</TotalTime>
  <Words>3524</Words>
  <Application>Microsoft Office PowerPoint</Application>
  <PresentationFormat>宽屏</PresentationFormat>
  <Paragraphs>367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53</vt:i4>
      </vt:variant>
    </vt:vector>
  </HeadingPairs>
  <TitlesOfParts>
    <vt:vector size="73" baseType="lpstr">
      <vt:lpstr>Alibaba PuHuiTi B</vt:lpstr>
      <vt:lpstr>Roboto Regular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宋体</vt:lpstr>
      <vt:lpstr>Arial</vt:lpstr>
      <vt:lpstr>Calibri</vt:lpstr>
      <vt:lpstr>Calisto MT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Web后端开发</vt:lpstr>
      <vt:lpstr>需求</vt:lpstr>
      <vt:lpstr>PowerPoint 演示文稿</vt:lpstr>
      <vt:lpstr>PowerPoint 演示文稿</vt:lpstr>
      <vt:lpstr>需求</vt:lpstr>
      <vt:lpstr>新增员工-思路</vt:lpstr>
      <vt:lpstr>新增员工-保存员工基本信息</vt:lpstr>
      <vt:lpstr>新增员工-批量保存工作经历</vt:lpstr>
      <vt:lpstr>新增员工-批量保存工作经历</vt:lpstr>
      <vt:lpstr>PowerPoint 演示文稿</vt:lpstr>
      <vt:lpstr>PowerPoint 演示文稿</vt:lpstr>
      <vt:lpstr>PowerPoint 演示文稿</vt:lpstr>
      <vt:lpstr>PowerPoint 演示文稿</vt:lpstr>
      <vt:lpstr>介绍</vt:lpstr>
      <vt:lpstr>操作</vt:lpstr>
      <vt:lpstr>PowerPoint 演示文稿</vt:lpstr>
      <vt:lpstr>新增员工-事务控制</vt:lpstr>
      <vt:lpstr>新增员工-事务控制</vt:lpstr>
      <vt:lpstr>新增员工-事务控制</vt:lpstr>
      <vt:lpstr>PowerPoint 演示文稿</vt:lpstr>
      <vt:lpstr>Spring事务管理-控制事务</vt:lpstr>
      <vt:lpstr>PowerPoint 演示文稿</vt:lpstr>
      <vt:lpstr>事务进阶-rollbackFor</vt:lpstr>
      <vt:lpstr>事务进阶-propagation</vt:lpstr>
      <vt:lpstr>新增员工信息，记录日志</vt:lpstr>
      <vt:lpstr>PowerPoint 演示文稿</vt:lpstr>
      <vt:lpstr>PowerPoint 演示文稿</vt:lpstr>
      <vt:lpstr>四大特性</vt:lpstr>
      <vt:lpstr>新增员工</vt:lpstr>
      <vt:lpstr>PowerPoint 演示文稿</vt:lpstr>
      <vt:lpstr>PowerPoint 演示文稿</vt:lpstr>
      <vt:lpstr>简介</vt:lpstr>
      <vt:lpstr>文件上传</vt:lpstr>
      <vt:lpstr>PowerPoint 演示文稿</vt:lpstr>
      <vt:lpstr>本地存储</vt:lpstr>
      <vt:lpstr>PowerPoint 演示文稿</vt:lpstr>
      <vt:lpstr>PowerPoint 演示文稿</vt:lpstr>
      <vt:lpstr>PowerPoint 演示文稿</vt:lpstr>
      <vt:lpstr>阿里云</vt:lpstr>
      <vt:lpstr>阿里云OSS</vt:lpstr>
      <vt:lpstr>阿里云OSS</vt:lpstr>
      <vt:lpstr>第三方服务-通用思路</vt:lpstr>
      <vt:lpstr>阿里云OSS-使用步骤</vt:lpstr>
      <vt:lpstr>阿里云OSS-入门程序</vt:lpstr>
      <vt:lpstr>阿里云OSS-案例集成</vt:lpstr>
      <vt:lpstr>阿里云OSS-案例集成</vt:lpstr>
      <vt:lpstr>阿里云OSS-案例集成</vt:lpstr>
      <vt:lpstr>PowerPoint 演示文稿</vt:lpstr>
      <vt:lpstr>参数配置化</vt:lpstr>
      <vt:lpstr>问题分析</vt:lpstr>
      <vt:lpstr>@ConfigurationProperties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1204</cp:revision>
  <cp:lastPrinted>2022-05-29T16:00:00Z</cp:lastPrinted>
  <dcterms:created xsi:type="dcterms:W3CDTF">2022-05-29T16:00:00Z</dcterms:created>
  <dcterms:modified xsi:type="dcterms:W3CDTF">2024-11-15T08:04:22Z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