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88"/>
  </p:notesMasterIdLst>
  <p:handoutMasterIdLst>
    <p:handoutMasterId r:id="rId89"/>
  </p:handoutMasterIdLst>
  <p:sldIdLst>
    <p:sldId id="440" r:id="rId6"/>
    <p:sldId id="1045" r:id="rId7"/>
    <p:sldId id="280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74" r:id="rId16"/>
    <p:sldId id="376" r:id="rId17"/>
    <p:sldId id="375" r:id="rId18"/>
    <p:sldId id="365" r:id="rId19"/>
    <p:sldId id="366" r:id="rId20"/>
    <p:sldId id="367" r:id="rId21"/>
    <p:sldId id="368" r:id="rId22"/>
    <p:sldId id="383" r:id="rId23"/>
    <p:sldId id="384" r:id="rId24"/>
    <p:sldId id="385" r:id="rId25"/>
    <p:sldId id="386" r:id="rId26"/>
    <p:sldId id="377" r:id="rId27"/>
    <p:sldId id="369" r:id="rId28"/>
    <p:sldId id="387" r:id="rId29"/>
    <p:sldId id="370" r:id="rId30"/>
    <p:sldId id="371" r:id="rId31"/>
    <p:sldId id="372" r:id="rId32"/>
    <p:sldId id="373" r:id="rId33"/>
    <p:sldId id="378" r:id="rId34"/>
    <p:sldId id="379" r:id="rId35"/>
    <p:sldId id="380" r:id="rId36"/>
    <p:sldId id="393" r:id="rId37"/>
    <p:sldId id="381" r:id="rId38"/>
    <p:sldId id="382" r:id="rId39"/>
    <p:sldId id="388" r:id="rId40"/>
    <p:sldId id="389" r:id="rId41"/>
    <p:sldId id="401" r:id="rId42"/>
    <p:sldId id="391" r:id="rId43"/>
    <p:sldId id="392" r:id="rId44"/>
    <p:sldId id="394" r:id="rId45"/>
    <p:sldId id="395" r:id="rId46"/>
    <p:sldId id="410" r:id="rId47"/>
    <p:sldId id="411" r:id="rId48"/>
    <p:sldId id="396" r:id="rId49"/>
    <p:sldId id="412" r:id="rId50"/>
    <p:sldId id="397" r:id="rId51"/>
    <p:sldId id="413" r:id="rId52"/>
    <p:sldId id="398" r:id="rId53"/>
    <p:sldId id="399" r:id="rId54"/>
    <p:sldId id="400" r:id="rId55"/>
    <p:sldId id="402" r:id="rId56"/>
    <p:sldId id="403" r:id="rId57"/>
    <p:sldId id="404" r:id="rId58"/>
    <p:sldId id="420" r:id="rId59"/>
    <p:sldId id="421" r:id="rId60"/>
    <p:sldId id="405" r:id="rId61"/>
    <p:sldId id="406" r:id="rId62"/>
    <p:sldId id="407" r:id="rId63"/>
    <p:sldId id="408" r:id="rId64"/>
    <p:sldId id="409" r:id="rId65"/>
    <p:sldId id="414" r:id="rId66"/>
    <p:sldId id="415" r:id="rId67"/>
    <p:sldId id="434" r:id="rId68"/>
    <p:sldId id="416" r:id="rId69"/>
    <p:sldId id="417" r:id="rId70"/>
    <p:sldId id="418" r:id="rId71"/>
    <p:sldId id="419" r:id="rId72"/>
    <p:sldId id="422" r:id="rId73"/>
    <p:sldId id="1046" r:id="rId74"/>
    <p:sldId id="435" r:id="rId75"/>
    <p:sldId id="423" r:id="rId76"/>
    <p:sldId id="424" r:id="rId77"/>
    <p:sldId id="437" r:id="rId78"/>
    <p:sldId id="425" r:id="rId79"/>
    <p:sldId id="426" r:id="rId80"/>
    <p:sldId id="438" r:id="rId81"/>
    <p:sldId id="427" r:id="rId82"/>
    <p:sldId id="439" r:id="rId83"/>
    <p:sldId id="428" r:id="rId84"/>
    <p:sldId id="429" r:id="rId85"/>
    <p:sldId id="430" r:id="rId86"/>
    <p:sldId id="288" r:id="rId87"/>
  </p:sldIdLst>
  <p:sldSz cx="12192000" cy="6858000"/>
  <p:notesSz cx="6858000" cy="9144000"/>
  <p:custDataLst>
    <p:tags r:id="rId9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CFC"/>
    <a:srgbClr val="000000"/>
    <a:srgbClr val="BBE7D3"/>
    <a:srgbClr val="067D17"/>
    <a:srgbClr val="871094"/>
    <a:srgbClr val="3333FF"/>
    <a:srgbClr val="8037B7"/>
    <a:srgbClr val="3BC5FF"/>
    <a:srgbClr val="3561FF"/>
    <a:srgbClr val="DE63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90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936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5.xml"/><Relationship Id="rId90" Type="http://schemas.openxmlformats.org/officeDocument/2006/relationships/tags" Target="tags/tag1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microsoft.com/office/2007/relationships/hdphoto" Target="../media/hdphoto1.wdp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7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6.png"/><Relationship Id="rId2" Type="http://schemas.openxmlformats.org/officeDocument/2006/relationships/image" Target="../media/image13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5.png"/><Relationship Id="rId5" Type="http://schemas.openxmlformats.org/officeDocument/2006/relationships/image" Target="../media/image16.png"/><Relationship Id="rId15" Type="http://schemas.openxmlformats.org/officeDocument/2006/relationships/image" Target="../media/image22.png"/><Relationship Id="rId10" Type="http://schemas.openxmlformats.org/officeDocument/2006/relationships/image" Target="../media/image21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7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6.png"/><Relationship Id="rId2" Type="http://schemas.openxmlformats.org/officeDocument/2006/relationships/image" Target="../media/image13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5.png"/><Relationship Id="rId5" Type="http://schemas.openxmlformats.org/officeDocument/2006/relationships/image" Target="../media/image16.png"/><Relationship Id="rId15" Type="http://schemas.openxmlformats.org/officeDocument/2006/relationships/image" Target="../media/image22.png"/><Relationship Id="rId10" Type="http://schemas.openxmlformats.org/officeDocument/2006/relationships/image" Target="../media/image21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7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6.png"/><Relationship Id="rId2" Type="http://schemas.openxmlformats.org/officeDocument/2006/relationships/image" Target="../media/image13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5.png"/><Relationship Id="rId5" Type="http://schemas.openxmlformats.org/officeDocument/2006/relationships/image" Target="../media/image16.png"/><Relationship Id="rId15" Type="http://schemas.openxmlformats.org/officeDocument/2006/relationships/image" Target="../media/image22.png"/><Relationship Id="rId10" Type="http://schemas.openxmlformats.org/officeDocument/2006/relationships/image" Target="../media/image21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33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2.png"/><Relationship Id="rId2" Type="http://schemas.openxmlformats.org/officeDocument/2006/relationships/image" Target="../media/image32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7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apifox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://localhost:90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17A4C1B-657F-7BA4-BF40-8A8DE9B68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  <a:r>
              <a:rPr lang="en-US" altLang="zh-CN"/>
              <a:t>(AI)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975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D7550A7-EB65-1CE1-5A9A-BA9EDFA30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</a:p>
        </p:txBody>
      </p:sp>
      <p:cxnSp>
        <p:nvCxnSpPr>
          <p:cNvPr id="5" name="Straight Connector 21">
            <a:extLst>
              <a:ext uri="{FF2B5EF4-FFF2-40B4-BE49-F238E27FC236}">
                <a16:creationId xmlns:a16="http://schemas.microsoft.com/office/drawing/2014/main" id="{59F1473A-64A8-E522-0DAE-A5ECD3CD20B7}"/>
              </a:ext>
            </a:extLst>
          </p:cNvPr>
          <p:cNvCxnSpPr>
            <a:cxnSpLocks/>
          </p:cNvCxnSpPr>
          <p:nvPr/>
        </p:nvCxnSpPr>
        <p:spPr>
          <a:xfrm rot="5400000">
            <a:off x="1624293" y="4381355"/>
            <a:ext cx="2538932" cy="186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83">
            <a:extLst>
              <a:ext uri="{FF2B5EF4-FFF2-40B4-BE49-F238E27FC236}">
                <a16:creationId xmlns:a16="http://schemas.microsoft.com/office/drawing/2014/main" id="{D9F887E5-078B-CE24-4C74-0E9998F8266A}"/>
              </a:ext>
            </a:extLst>
          </p:cNvPr>
          <p:cNvSpPr>
            <a:spLocks noEditPoints="1"/>
          </p:cNvSpPr>
          <p:nvPr/>
        </p:nvSpPr>
        <p:spPr bwMode="auto">
          <a:xfrm>
            <a:off x="1481899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cxnSp>
        <p:nvCxnSpPr>
          <p:cNvPr id="13" name="Straight Connector 21">
            <a:extLst>
              <a:ext uri="{FF2B5EF4-FFF2-40B4-BE49-F238E27FC236}">
                <a16:creationId xmlns:a16="http://schemas.microsoft.com/office/drawing/2014/main" id="{5214D90A-89B0-B2FF-C844-3B52A6B891D1}"/>
              </a:ext>
            </a:extLst>
          </p:cNvPr>
          <p:cNvCxnSpPr>
            <a:cxnSpLocks/>
          </p:cNvCxnSpPr>
          <p:nvPr/>
        </p:nvCxnSpPr>
        <p:spPr>
          <a:xfrm rot="5400000">
            <a:off x="3711811" y="4381355"/>
            <a:ext cx="2538932" cy="18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1">
            <a:extLst>
              <a:ext uri="{FF2B5EF4-FFF2-40B4-BE49-F238E27FC236}">
                <a16:creationId xmlns:a16="http://schemas.microsoft.com/office/drawing/2014/main" id="{E7936C02-4A5B-2215-2D56-6A840AD4F2CC}"/>
              </a:ext>
            </a:extLst>
          </p:cNvPr>
          <p:cNvCxnSpPr>
            <a:cxnSpLocks/>
          </p:cNvCxnSpPr>
          <p:nvPr/>
        </p:nvCxnSpPr>
        <p:spPr>
          <a:xfrm rot="5400000">
            <a:off x="5799329" y="4381355"/>
            <a:ext cx="2538932" cy="18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2B3053A-4D61-A11A-A5EB-D76E2D123F54}"/>
              </a:ext>
            </a:extLst>
          </p:cNvPr>
          <p:cNvGrpSpPr/>
          <p:nvPr/>
        </p:nvGrpSpPr>
        <p:grpSpPr>
          <a:xfrm>
            <a:off x="809043" y="2089191"/>
            <a:ext cx="2147451" cy="613931"/>
            <a:chOff x="1069135" y="2116795"/>
            <a:chExt cx="2147451" cy="613931"/>
          </a:xfrm>
        </p:grpSpPr>
        <p:sp>
          <p:nvSpPr>
            <p:cNvPr id="9" name="Chevron 17">
              <a:extLst>
                <a:ext uri="{FF2B5EF4-FFF2-40B4-BE49-F238E27FC236}">
                  <a16:creationId xmlns:a16="http://schemas.microsoft.com/office/drawing/2014/main" id="{0A4942E2-588F-FB39-B7AC-084F25D4CA7F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adFill>
              <a:gsLst>
                <a:gs pos="0">
                  <a:srgbClr val="C00000"/>
                </a:gs>
                <a:gs pos="100000">
                  <a:srgbClr val="C00000"/>
                </a:gs>
              </a:gsLst>
              <a:lin ang="2700000" scaled="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1C491C4-559F-D614-09BA-74819AB6F35F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前端基础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8" name="Chevron 17">
            <a:extLst>
              <a:ext uri="{FF2B5EF4-FFF2-40B4-BE49-F238E27FC236}">
                <a16:creationId xmlns:a16="http://schemas.microsoft.com/office/drawing/2014/main" id="{F8DF52A8-DEB8-B9ED-B057-A541078EA0B1}"/>
              </a:ext>
            </a:extLst>
          </p:cNvPr>
          <p:cNvSpPr/>
          <p:nvPr/>
        </p:nvSpPr>
        <p:spPr>
          <a:xfrm>
            <a:off x="2895627" y="2089191"/>
            <a:ext cx="2147451" cy="613931"/>
          </a:xfrm>
          <a:prstGeom prst="chevron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7127ED8-E109-8171-ADC2-F59F413BCE88}"/>
              </a:ext>
            </a:extLst>
          </p:cNvPr>
          <p:cNvSpPr/>
          <p:nvPr/>
        </p:nvSpPr>
        <p:spPr>
          <a:xfrm>
            <a:off x="3164232" y="2185906"/>
            <a:ext cx="1593599" cy="40549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>
                <a:solidFill>
                  <a:schemeClr val="bg1"/>
                </a:solidFill>
              </a:rPr>
              <a:t>Web</a:t>
            </a:r>
            <a:r>
              <a:rPr lang="zh-CN" altLang="en-US" b="1">
                <a:solidFill>
                  <a:schemeClr val="bg1"/>
                </a:solidFill>
              </a:rPr>
              <a:t>后端基础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1" name="Chevron 17">
            <a:extLst>
              <a:ext uri="{FF2B5EF4-FFF2-40B4-BE49-F238E27FC236}">
                <a16:creationId xmlns:a16="http://schemas.microsoft.com/office/drawing/2014/main" id="{121AB0CA-014E-3017-F545-9F968FC88816}"/>
              </a:ext>
            </a:extLst>
          </p:cNvPr>
          <p:cNvSpPr/>
          <p:nvPr/>
        </p:nvSpPr>
        <p:spPr>
          <a:xfrm>
            <a:off x="4982211" y="2089191"/>
            <a:ext cx="2147451" cy="613931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061DC84-A4B7-D464-254C-AC0DA646B94C}"/>
              </a:ext>
            </a:extLst>
          </p:cNvPr>
          <p:cNvSpPr/>
          <p:nvPr/>
        </p:nvSpPr>
        <p:spPr>
          <a:xfrm>
            <a:off x="5250816" y="2185906"/>
            <a:ext cx="1593599" cy="4054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>
                <a:solidFill>
                  <a:schemeClr val="bg1"/>
                </a:solidFill>
              </a:rPr>
              <a:t>Web</a:t>
            </a:r>
            <a:r>
              <a:rPr lang="zh-CN" altLang="en-US" b="1">
                <a:solidFill>
                  <a:schemeClr val="bg1"/>
                </a:solidFill>
              </a:rPr>
              <a:t>后端实战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6B47DB5-3E95-AF1B-304F-698578770E0A}"/>
              </a:ext>
            </a:extLst>
          </p:cNvPr>
          <p:cNvGrpSpPr/>
          <p:nvPr/>
        </p:nvGrpSpPr>
        <p:grpSpPr>
          <a:xfrm>
            <a:off x="7068795" y="2089191"/>
            <a:ext cx="2147451" cy="613931"/>
            <a:chOff x="1069135" y="2116795"/>
            <a:chExt cx="2147451" cy="613931"/>
          </a:xfrm>
          <a:solidFill>
            <a:schemeClr val="bg1">
              <a:lumMod val="75000"/>
            </a:schemeClr>
          </a:solidFill>
        </p:grpSpPr>
        <p:sp>
          <p:nvSpPr>
            <p:cNvPr id="44" name="Chevron 17">
              <a:extLst>
                <a:ext uri="{FF2B5EF4-FFF2-40B4-BE49-F238E27FC236}">
                  <a16:creationId xmlns:a16="http://schemas.microsoft.com/office/drawing/2014/main" id="{362B39C7-E9FA-4E49-D42C-535FA8AE147A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0A90EA3-F634-2D51-5F04-36D6DE93B3ED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  <a:grp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前端实战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757EBE7-6351-5A18-B539-3B8EADA13E2B}"/>
              </a:ext>
            </a:extLst>
          </p:cNvPr>
          <p:cNvGrpSpPr/>
          <p:nvPr/>
        </p:nvGrpSpPr>
        <p:grpSpPr>
          <a:xfrm>
            <a:off x="9155379" y="2089191"/>
            <a:ext cx="2147451" cy="613931"/>
            <a:chOff x="1069135" y="2116795"/>
            <a:chExt cx="2147451" cy="613931"/>
          </a:xfrm>
          <a:solidFill>
            <a:schemeClr val="bg1">
              <a:lumMod val="75000"/>
            </a:schemeClr>
          </a:solidFill>
        </p:grpSpPr>
        <p:sp>
          <p:nvSpPr>
            <p:cNvPr id="47" name="Chevron 17">
              <a:extLst>
                <a:ext uri="{FF2B5EF4-FFF2-40B4-BE49-F238E27FC236}">
                  <a16:creationId xmlns:a16="http://schemas.microsoft.com/office/drawing/2014/main" id="{639BC92B-1F18-17EA-D565-3D2BA2781364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E8B3751-6069-8238-1182-80CA48C8D024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  <a:grp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项目部署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0" name="Straight Connector 21">
            <a:extLst>
              <a:ext uri="{FF2B5EF4-FFF2-40B4-BE49-F238E27FC236}">
                <a16:creationId xmlns:a16="http://schemas.microsoft.com/office/drawing/2014/main" id="{A98EF234-3FC7-E867-2084-4CED8360ADCE}"/>
              </a:ext>
            </a:extLst>
          </p:cNvPr>
          <p:cNvCxnSpPr>
            <a:cxnSpLocks/>
          </p:cNvCxnSpPr>
          <p:nvPr/>
        </p:nvCxnSpPr>
        <p:spPr>
          <a:xfrm rot="5400000">
            <a:off x="7886846" y="4381355"/>
            <a:ext cx="2538932" cy="18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83">
            <a:extLst>
              <a:ext uri="{FF2B5EF4-FFF2-40B4-BE49-F238E27FC236}">
                <a16:creationId xmlns:a16="http://schemas.microsoft.com/office/drawing/2014/main" id="{F49C1183-41E3-F0CD-8058-128B00D53636}"/>
              </a:ext>
            </a:extLst>
          </p:cNvPr>
          <p:cNvSpPr>
            <a:spLocks noEditPoints="1"/>
          </p:cNvSpPr>
          <p:nvPr/>
        </p:nvSpPr>
        <p:spPr bwMode="auto">
          <a:xfrm>
            <a:off x="3596452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7" name="Freeform 83">
            <a:extLst>
              <a:ext uri="{FF2B5EF4-FFF2-40B4-BE49-F238E27FC236}">
                <a16:creationId xmlns:a16="http://schemas.microsoft.com/office/drawing/2014/main" id="{797717AC-4DDD-E71F-B0BD-50F0D9942AEF}"/>
              </a:ext>
            </a:extLst>
          </p:cNvPr>
          <p:cNvSpPr>
            <a:spLocks noEditPoints="1"/>
          </p:cNvSpPr>
          <p:nvPr/>
        </p:nvSpPr>
        <p:spPr bwMode="auto">
          <a:xfrm>
            <a:off x="5758310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9" name="Freeform 83">
            <a:extLst>
              <a:ext uri="{FF2B5EF4-FFF2-40B4-BE49-F238E27FC236}">
                <a16:creationId xmlns:a16="http://schemas.microsoft.com/office/drawing/2014/main" id="{203401C1-3518-611E-5F02-5F354DD660C1}"/>
              </a:ext>
            </a:extLst>
          </p:cNvPr>
          <p:cNvSpPr>
            <a:spLocks noEditPoints="1"/>
          </p:cNvSpPr>
          <p:nvPr/>
        </p:nvSpPr>
        <p:spPr bwMode="auto">
          <a:xfrm>
            <a:off x="7841091" y="3013249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1" name="Freeform 83">
            <a:extLst>
              <a:ext uri="{FF2B5EF4-FFF2-40B4-BE49-F238E27FC236}">
                <a16:creationId xmlns:a16="http://schemas.microsoft.com/office/drawing/2014/main" id="{1C98404D-0397-3830-914C-B79517CC847F}"/>
              </a:ext>
            </a:extLst>
          </p:cNvPr>
          <p:cNvSpPr>
            <a:spLocks noEditPoints="1"/>
          </p:cNvSpPr>
          <p:nvPr/>
        </p:nvSpPr>
        <p:spPr bwMode="auto">
          <a:xfrm>
            <a:off x="9955644" y="3013248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99C1B04-165E-8748-2FF6-D68B3F1FA828}"/>
              </a:ext>
            </a:extLst>
          </p:cNvPr>
          <p:cNvSpPr/>
          <p:nvPr/>
        </p:nvSpPr>
        <p:spPr>
          <a:xfrm>
            <a:off x="1167466" y="365344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HTML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CCD0E28-2EA8-FAA7-11EC-6A907C4539EE}"/>
              </a:ext>
            </a:extLst>
          </p:cNvPr>
          <p:cNvSpPr/>
          <p:nvPr/>
        </p:nvSpPr>
        <p:spPr>
          <a:xfrm>
            <a:off x="1167466" y="408171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CSS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3C6ABCE-43CB-6DEC-772D-71BDCCE2F793}"/>
              </a:ext>
            </a:extLst>
          </p:cNvPr>
          <p:cNvSpPr/>
          <p:nvPr/>
        </p:nvSpPr>
        <p:spPr>
          <a:xfrm>
            <a:off x="1167466" y="450998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JavaScript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4A9F8193-5B22-191A-4481-01F2750414C4}"/>
              </a:ext>
            </a:extLst>
          </p:cNvPr>
          <p:cNvSpPr/>
          <p:nvPr/>
        </p:nvSpPr>
        <p:spPr>
          <a:xfrm>
            <a:off x="1167466" y="493825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Vue3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9227435B-B3A9-CADB-00D7-944C84FB3A34}"/>
              </a:ext>
            </a:extLst>
          </p:cNvPr>
          <p:cNvSpPr/>
          <p:nvPr/>
        </p:nvSpPr>
        <p:spPr>
          <a:xfrm>
            <a:off x="1167466" y="536652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Ajax/Axios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FE9E1D98-2E8D-835C-E3D6-061E3DCD5DFD}"/>
              </a:ext>
            </a:extLst>
          </p:cNvPr>
          <p:cNvSpPr/>
          <p:nvPr/>
        </p:nvSpPr>
        <p:spPr>
          <a:xfrm>
            <a:off x="3321882" y="365344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Maven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081F69E0-90CA-3D35-F751-08D2386981E9}"/>
              </a:ext>
            </a:extLst>
          </p:cNvPr>
          <p:cNvSpPr/>
          <p:nvPr/>
        </p:nvSpPr>
        <p:spPr>
          <a:xfrm>
            <a:off x="3321882" y="408171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Web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基础知识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29716E5D-B193-46D7-5379-0837D4FB51AD}"/>
              </a:ext>
            </a:extLst>
          </p:cNvPr>
          <p:cNvSpPr/>
          <p:nvPr/>
        </p:nvSpPr>
        <p:spPr>
          <a:xfrm>
            <a:off x="3321882" y="450998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MySQL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1DA700E-363F-09E2-DBB1-35DB2725B04D}"/>
              </a:ext>
            </a:extLst>
          </p:cNvPr>
          <p:cNvSpPr/>
          <p:nvPr/>
        </p:nvSpPr>
        <p:spPr>
          <a:xfrm>
            <a:off x="3321882" y="493825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JDBC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214E0CDB-753B-18D6-1D5E-0E8B298E8098}"/>
              </a:ext>
            </a:extLst>
          </p:cNvPr>
          <p:cNvSpPr/>
          <p:nvPr/>
        </p:nvSpPr>
        <p:spPr>
          <a:xfrm>
            <a:off x="3321882" y="536652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Mybatis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!!矩形: 圆角 3">
            <a:extLst>
              <a:ext uri="{FF2B5EF4-FFF2-40B4-BE49-F238E27FC236}">
                <a16:creationId xmlns:a16="http://schemas.microsoft.com/office/drawing/2014/main" id="{4A8E1FEC-BE6E-02B0-FB10-518B14D497D5}"/>
              </a:ext>
            </a:extLst>
          </p:cNvPr>
          <p:cNvSpPr/>
          <p:nvPr/>
        </p:nvSpPr>
        <p:spPr>
          <a:xfrm>
            <a:off x="5431980" y="3653440"/>
            <a:ext cx="1231270" cy="85654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Tlias</a:t>
            </a:r>
            <a:r>
              <a:rPr lang="zh-CN" altLang="en-US" sz="1400">
                <a:solidFill>
                  <a:schemeClr val="bg1">
                    <a:lumMod val="50000"/>
                    <a:alpha val="70000"/>
                  </a:schemeClr>
                </a:solidFill>
              </a:rPr>
              <a:t>案例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33DA097-11C0-77E4-E7D2-6EC87470A7F5}"/>
              </a:ext>
            </a:extLst>
          </p:cNvPr>
          <p:cNvSpPr/>
          <p:nvPr/>
        </p:nvSpPr>
        <p:spPr>
          <a:xfrm>
            <a:off x="7496918" y="3653440"/>
            <a:ext cx="1231270" cy="85654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Tlias</a:t>
            </a:r>
            <a:r>
              <a:rPr lang="zh-CN" altLang="en-US" sz="1400">
                <a:solidFill>
                  <a:schemeClr val="bg1">
                    <a:lumMod val="50000"/>
                    <a:alpha val="70000"/>
                  </a:schemeClr>
                </a:solidFill>
              </a:rPr>
              <a:t>案例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A4419490-C1E9-53D1-B232-10AEE4D2F184}"/>
              </a:ext>
            </a:extLst>
          </p:cNvPr>
          <p:cNvSpPr/>
          <p:nvPr/>
        </p:nvSpPr>
        <p:spPr>
          <a:xfrm>
            <a:off x="9604113" y="3653439"/>
            <a:ext cx="1231270" cy="52820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Linux</a:t>
            </a:r>
            <a:endParaRPr lang="zh-CN" altLang="en-US" sz="1400">
              <a:solidFill>
                <a:schemeClr val="bg1">
                  <a:lumMod val="50000"/>
                  <a:alpha val="70000"/>
                </a:schemeClr>
              </a:solidFill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CCD52AB6-2C7B-F4C8-CEB8-86ACAE1F2240}"/>
              </a:ext>
            </a:extLst>
          </p:cNvPr>
          <p:cNvSpPr/>
          <p:nvPr/>
        </p:nvSpPr>
        <p:spPr>
          <a:xfrm>
            <a:off x="9604113" y="4336685"/>
            <a:ext cx="1231270" cy="52820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Docker</a:t>
            </a:r>
            <a:endParaRPr lang="zh-CN" altLang="en-US" sz="1400">
              <a:solidFill>
                <a:schemeClr val="bg1">
                  <a:lumMod val="50000"/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28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1E1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后端实战</a:t>
            </a:r>
          </a:p>
        </p:txBody>
      </p:sp>
      <p:sp>
        <p:nvSpPr>
          <p:cNvPr id="4" name="!!矩形: 圆角 3">
            <a:extLst>
              <a:ext uri="{FF2B5EF4-FFF2-40B4-BE49-F238E27FC236}">
                <a16:creationId xmlns:a16="http://schemas.microsoft.com/office/drawing/2014/main" id="{BD4AA065-A277-46CA-FA49-C56B5B460650}"/>
              </a:ext>
            </a:extLst>
          </p:cNvPr>
          <p:cNvSpPr/>
          <p:nvPr/>
        </p:nvSpPr>
        <p:spPr>
          <a:xfrm>
            <a:off x="585755" y="3549571"/>
            <a:ext cx="3684028" cy="8565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400">
                <a:solidFill>
                  <a:srgbClr val="000000"/>
                </a:solidFill>
              </a:rPr>
              <a:t>Tlias</a:t>
            </a:r>
            <a:r>
              <a:rPr lang="zh-CN" altLang="en-US" sz="2400">
                <a:solidFill>
                  <a:srgbClr val="000000"/>
                </a:solidFill>
              </a:rPr>
              <a:t>智能学习辅助系统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A99A0A-50A3-3C3F-A381-A92E454A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0" y="1065231"/>
            <a:ext cx="9426528" cy="3613675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AA9D184-3B2E-A882-71D4-55F35470E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070" y="1586551"/>
            <a:ext cx="9426527" cy="4202974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1DFE68-D063-729C-BC2F-B491E301A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191" y="2043751"/>
            <a:ext cx="9314329" cy="4120280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C36B35-908F-E104-2040-0A1970F52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763" y="2499365"/>
            <a:ext cx="9072003" cy="4121866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545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sp>
        <p:nvSpPr>
          <p:cNvPr id="4" name="文本占位符 9">
            <a:extLst>
              <a:ext uri="{FF2B5EF4-FFF2-40B4-BE49-F238E27FC236}">
                <a16:creationId xmlns:a16="http://schemas.microsoft.com/office/drawing/2014/main" id="{29A17D2A-7687-1C10-CB52-66E7012CE71F}"/>
              </a:ext>
            </a:extLst>
          </p:cNvPr>
          <p:cNvSpPr txBox="1">
            <a:spLocks/>
          </p:cNvSpPr>
          <p:nvPr/>
        </p:nvSpPr>
        <p:spPr>
          <a:xfrm>
            <a:off x="8426824" y="1631577"/>
            <a:ext cx="3576917" cy="42746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部门管理</a:t>
            </a:r>
            <a:endParaRPr lang="en-US" altLang="zh-CN"/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查询、新增、修改、删除</a:t>
            </a:r>
            <a:endParaRPr lang="en-US" altLang="zh-CN" sz="14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员工管理</a:t>
            </a:r>
            <a:endParaRPr lang="en-US" altLang="zh-CN"/>
          </a:p>
          <a:p>
            <a:pPr marL="540000" lvl="1" indent="-285750" defTabSz="1800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查询、新增、修改、删除</a:t>
            </a:r>
            <a:endParaRPr lang="en-US" altLang="zh-CN" sz="14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 defTabSz="1800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文件上传</a:t>
            </a:r>
            <a:endParaRPr lang="en-US" altLang="zh-CN" sz="14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报表统计</a:t>
            </a:r>
            <a:endParaRPr lang="en-US" altLang="zh-CN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登录认证</a:t>
            </a:r>
            <a:endParaRPr lang="en-US" altLang="zh-CN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日志管理</a:t>
            </a:r>
            <a:endParaRPr lang="en-US" altLang="zh-CN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班级、学员管理（实战内容）</a:t>
            </a:r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0810EC-0D82-3BDC-38FD-999105914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68" y="1638671"/>
            <a:ext cx="6569433" cy="2518403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A208BB0-A933-BE44-091C-82C4DD8ED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49" y="2152227"/>
            <a:ext cx="6569433" cy="2929091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069A458-71D3-65F6-0838-593958DE8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083" y="2593494"/>
            <a:ext cx="6491241" cy="2871461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2F7563-9D48-365C-B722-373CD8D11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6603" y="3091482"/>
            <a:ext cx="6195091" cy="2814740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9521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E15F35-6039-0A4D-21D8-97048E5A0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73" y="1064929"/>
            <a:ext cx="10832170" cy="4152530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4893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CA61343-E3CE-AAA2-1F09-6F8EBAD749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565" y="1303823"/>
            <a:ext cx="3692525" cy="3313001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/>
              <a:t>查询部门</a:t>
            </a:r>
            <a:endParaRPr lang="en-US" altLang="zh-CN"/>
          </a:p>
          <a:p>
            <a:r>
              <a:rPr lang="zh-CN" altLang="en-US"/>
              <a:t>删除部门</a:t>
            </a:r>
            <a:endParaRPr lang="en-US" altLang="zh-CN"/>
          </a:p>
          <a:p>
            <a:r>
              <a:rPr lang="zh-CN" altLang="en-US"/>
              <a:t>新增部门</a:t>
            </a:r>
            <a:endParaRPr lang="en-US" altLang="zh-CN"/>
          </a:p>
          <a:p>
            <a:r>
              <a:rPr lang="zh-CN" altLang="en-US"/>
              <a:t>修改部门</a:t>
            </a:r>
            <a:endParaRPr lang="en-US" altLang="zh-CN"/>
          </a:p>
          <a:p>
            <a:r>
              <a:rPr lang="zh-CN" altLang="en-US"/>
              <a:t>日志技术</a:t>
            </a:r>
          </a:p>
        </p:txBody>
      </p:sp>
    </p:spTree>
    <p:extLst>
      <p:ext uri="{BB962C8B-B14F-4D97-AF65-F5344CB8AC3E}">
        <p14:creationId xmlns:p14="http://schemas.microsoft.com/office/powerpoint/2010/main" val="187561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3167B7-7AFB-B8F3-F650-8EDCA8E530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准备工作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AAE48B-9EF8-4A05-89EC-C04E0EBD6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1629244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r>
              <a:rPr lang="en-US" altLang="zh-CN">
                <a:latin typeface="+mn-lt"/>
              </a:rPr>
              <a:t>-</a:t>
            </a:r>
            <a:r>
              <a:rPr lang="zh-CN" altLang="en-US">
                <a:latin typeface="+mn-lt"/>
              </a:rPr>
              <a:t>开发模式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开发规范</a:t>
            </a:r>
            <a:r>
              <a:rPr lang="en-US" altLang="zh-CN">
                <a:latin typeface="+mn-lt"/>
              </a:rPr>
              <a:t>-Restful</a:t>
            </a:r>
            <a:r>
              <a:rPr lang="zh-CN" altLang="en-US">
                <a:latin typeface="+mn-lt"/>
              </a:rPr>
              <a:t>风格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工程搭建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A633281-31C0-39C6-5C63-11B493BBBD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37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前后端混合开发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D36F5C-94A8-68C6-EE15-5B3F7D91D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3049839" y="2502534"/>
            <a:ext cx="1082891" cy="1082891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74A6779-CDC5-05C4-F4CB-05DE2DEF77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r="5942"/>
          <a:stretch>
            <a:fillRect/>
          </a:stretch>
        </p:blipFill>
        <p:spPr>
          <a:xfrm>
            <a:off x="3312920" y="2729316"/>
            <a:ext cx="577803" cy="655730"/>
          </a:xfrm>
          <a:prstGeom prst="rect">
            <a:avLst/>
          </a:prstGeom>
        </p:spPr>
      </p:pic>
      <p:pic>
        <p:nvPicPr>
          <p:cNvPr id="6" name="图片 3">
            <a:extLst>
              <a:ext uri="{FF2B5EF4-FFF2-40B4-BE49-F238E27FC236}">
                <a16:creationId xmlns:a16="http://schemas.microsoft.com/office/drawing/2014/main" id="{3F0CCA76-F9A5-5031-F4C7-5FEE4F058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6176523" y="2502534"/>
            <a:ext cx="1082891" cy="1082891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D04EA0D-1D21-FE51-95FE-66F43910E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82" y="2729316"/>
            <a:ext cx="577803" cy="655730"/>
          </a:xfrm>
          <a:prstGeom prst="rect">
            <a:avLst/>
          </a:prstGeom>
        </p:spPr>
      </p:pic>
      <p:pic>
        <p:nvPicPr>
          <p:cNvPr id="8" name="图片 5">
            <a:extLst>
              <a:ext uri="{FF2B5EF4-FFF2-40B4-BE49-F238E27FC236}">
                <a16:creationId xmlns:a16="http://schemas.microsoft.com/office/drawing/2014/main" id="{43A7B04F-C536-DF94-6781-225BA7853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5362733" y="3903374"/>
            <a:ext cx="1082891" cy="1082891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0404C4-3CA4-B51A-C7E4-817592000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191" y="4215726"/>
            <a:ext cx="786315" cy="677590"/>
          </a:xfrm>
          <a:prstGeom prst="rect">
            <a:avLst/>
          </a:prstGeom>
        </p:spPr>
      </p:pic>
      <p:pic>
        <p:nvPicPr>
          <p:cNvPr id="10" name="图片 4">
            <a:extLst>
              <a:ext uri="{FF2B5EF4-FFF2-40B4-BE49-F238E27FC236}">
                <a16:creationId xmlns:a16="http://schemas.microsoft.com/office/drawing/2014/main" id="{B9348195-95EF-FE54-77D6-C7B9046B6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3729375" y="3903374"/>
            <a:ext cx="1082891" cy="1082891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7102E6F-1CAB-FCDC-1BA4-32FF5C8E0C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814" y="4315681"/>
            <a:ext cx="981842" cy="258739"/>
          </a:xfrm>
          <a:prstGeom prst="rect">
            <a:avLst/>
          </a:prstGeom>
        </p:spPr>
      </p:pic>
      <p:pic>
        <p:nvPicPr>
          <p:cNvPr id="12" name="图片 2">
            <a:extLst>
              <a:ext uri="{FF2B5EF4-FFF2-40B4-BE49-F238E27FC236}">
                <a16:creationId xmlns:a16="http://schemas.microsoft.com/office/drawing/2014/main" id="{46D3BD36-0DE9-C000-0A5C-79CF5D91E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4613181" y="2502534"/>
            <a:ext cx="1082891" cy="1082891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BADDAF2-CE9A-3698-7796-79EC0291F9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0158" y="2729316"/>
            <a:ext cx="577803" cy="655730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7EF2CADC-C9CF-736E-4C45-4657A496EDFC}"/>
              </a:ext>
            </a:extLst>
          </p:cNvPr>
          <p:cNvSpPr/>
          <p:nvPr/>
        </p:nvSpPr>
        <p:spPr>
          <a:xfrm>
            <a:off x="7665204" y="2515735"/>
            <a:ext cx="1082891" cy="108289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787A503-B68E-EA5F-01AD-A2AF06FBC2DC}"/>
              </a:ext>
            </a:extLst>
          </p:cNvPr>
          <p:cNvGrpSpPr/>
          <p:nvPr/>
        </p:nvGrpSpPr>
        <p:grpSpPr>
          <a:xfrm>
            <a:off x="7975050" y="2639846"/>
            <a:ext cx="441729" cy="834667"/>
            <a:chOff x="7552801" y="2926397"/>
            <a:chExt cx="927173" cy="1751936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324C76EF-43B8-BC11-8428-22DF8DAFA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52801" y="2926397"/>
              <a:ext cx="898475" cy="120504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9F8B6AB4-A93A-E563-68A4-30A152D3D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52801" y="4184190"/>
              <a:ext cx="927173" cy="494143"/>
            </a:xfrm>
            <a:prstGeom prst="rect">
              <a:avLst/>
            </a:prstGeom>
          </p:spPr>
        </p:pic>
      </p:grpSp>
      <p:sp>
        <p:nvSpPr>
          <p:cNvPr id="18" name="椭圆 17">
            <a:extLst>
              <a:ext uri="{FF2B5EF4-FFF2-40B4-BE49-F238E27FC236}">
                <a16:creationId xmlns:a16="http://schemas.microsoft.com/office/drawing/2014/main" id="{81C2A6A1-8166-2728-3B7C-831177E1F624}"/>
              </a:ext>
            </a:extLst>
          </p:cNvPr>
          <p:cNvSpPr/>
          <p:nvPr/>
        </p:nvSpPr>
        <p:spPr>
          <a:xfrm>
            <a:off x="7647632" y="3903374"/>
            <a:ext cx="1082891" cy="108289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 descr="数据库 纯色填充">
            <a:extLst>
              <a:ext uri="{FF2B5EF4-FFF2-40B4-BE49-F238E27FC236}">
                <a16:creationId xmlns:a16="http://schemas.microsoft.com/office/drawing/2014/main" id="{75C38F33-7D3E-9F4C-355A-9940AF89F8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75975" y="4126895"/>
            <a:ext cx="626204" cy="626204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58D4205-6DA3-6836-B95E-5CF05FAAF0C9}"/>
              </a:ext>
            </a:extLst>
          </p:cNvPr>
          <p:cNvSpPr/>
          <p:nvPr/>
        </p:nvSpPr>
        <p:spPr>
          <a:xfrm>
            <a:off x="2770095" y="2250143"/>
            <a:ext cx="6239435" cy="2913530"/>
          </a:xfrm>
          <a:prstGeom prst="roundRect">
            <a:avLst>
              <a:gd name="adj" fmla="val 3945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8374760-69EC-A614-78BB-FB80EB620E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18" y="3996468"/>
            <a:ext cx="1116106" cy="111610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9EC6A70-C976-A2C9-FD21-D3415EE263F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008" y="5298617"/>
            <a:ext cx="923365" cy="92336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EE44AAC-7269-C392-823C-CCC5520642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23701" y="4291416"/>
            <a:ext cx="899689" cy="923365"/>
          </a:xfrm>
          <a:prstGeom prst="rect">
            <a:avLst/>
          </a:prstGeom>
        </p:spPr>
      </p:pic>
      <p:sp>
        <p:nvSpPr>
          <p:cNvPr id="25" name="爆炸形: 8 pt  24">
            <a:extLst>
              <a:ext uri="{FF2B5EF4-FFF2-40B4-BE49-F238E27FC236}">
                <a16:creationId xmlns:a16="http://schemas.microsoft.com/office/drawing/2014/main" id="{04A989F6-8752-0FCC-C39F-C0457BE14D96}"/>
              </a:ext>
            </a:extLst>
          </p:cNvPr>
          <p:cNvSpPr/>
          <p:nvPr/>
        </p:nvSpPr>
        <p:spPr>
          <a:xfrm>
            <a:off x="7722255" y="1403663"/>
            <a:ext cx="1287275" cy="1166677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难以维护</a:t>
            </a:r>
            <a:endParaRPr lang="en-US" altLang="zh-CN" sz="12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369C2068-7116-69A2-B6E2-93770E6186DD}"/>
              </a:ext>
            </a:extLst>
          </p:cNvPr>
          <p:cNvSpPr/>
          <p:nvPr/>
        </p:nvSpPr>
        <p:spPr>
          <a:xfrm>
            <a:off x="3228056" y="1403664"/>
            <a:ext cx="1287275" cy="1166677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分工不明确</a:t>
            </a:r>
            <a:endParaRPr lang="en-US" altLang="zh-CN" sz="12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爆炸形: 8 pt  26">
            <a:extLst>
              <a:ext uri="{FF2B5EF4-FFF2-40B4-BE49-F238E27FC236}">
                <a16:creationId xmlns:a16="http://schemas.microsoft.com/office/drawing/2014/main" id="{FF920F52-737C-0491-C469-EA68DCD58531}"/>
              </a:ext>
            </a:extLst>
          </p:cNvPr>
          <p:cNvSpPr/>
          <p:nvPr/>
        </p:nvSpPr>
        <p:spPr>
          <a:xfrm>
            <a:off x="5371840" y="1385231"/>
            <a:ext cx="1287275" cy="1166677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不便管理</a:t>
            </a:r>
            <a:endParaRPr lang="en-US" altLang="zh-CN" sz="12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413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0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前后端分离开发</a:t>
            </a:r>
          </a:p>
        </p:txBody>
      </p:sp>
      <p:sp>
        <p:nvSpPr>
          <p:cNvPr id="4" name="文本占位符 4">
            <a:extLst>
              <a:ext uri="{FF2B5EF4-FFF2-40B4-BE49-F238E27FC236}">
                <a16:creationId xmlns:a16="http://schemas.microsoft.com/office/drawing/2014/main" id="{F631D20A-C36B-D001-0117-580E44986C8C}"/>
              </a:ext>
            </a:extLst>
          </p:cNvPr>
          <p:cNvSpPr txBox="1">
            <a:spLocks/>
          </p:cNvSpPr>
          <p:nvPr/>
        </p:nvSpPr>
        <p:spPr>
          <a:xfrm>
            <a:off x="624893" y="1014229"/>
            <a:ext cx="10698800" cy="5171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当前最为主流的开发模式：前后端分离</a:t>
            </a:r>
          </a:p>
        </p:txBody>
      </p:sp>
      <p:sp>
        <p:nvSpPr>
          <p:cNvPr id="11" name="流程图: 多文档 10">
            <a:extLst>
              <a:ext uri="{FF2B5EF4-FFF2-40B4-BE49-F238E27FC236}">
                <a16:creationId xmlns:a16="http://schemas.microsoft.com/office/drawing/2014/main" id="{76DB0627-C761-3B3A-48C0-B2358F538954}"/>
              </a:ext>
            </a:extLst>
          </p:cNvPr>
          <p:cNvSpPr/>
          <p:nvPr/>
        </p:nvSpPr>
        <p:spPr>
          <a:xfrm>
            <a:off x="5095898" y="2969816"/>
            <a:ext cx="1389888" cy="896112"/>
          </a:xfrm>
          <a:prstGeom prst="flowChartMultidocument">
            <a:avLst/>
          </a:prstGeom>
          <a:solidFill>
            <a:srgbClr val="7030A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接口文档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8304556-C1E6-6F43-3216-B6C07E066059}"/>
              </a:ext>
            </a:extLst>
          </p:cNvPr>
          <p:cNvCxnSpPr>
            <a:cxnSpLocks/>
          </p:cNvCxnSpPr>
          <p:nvPr/>
        </p:nvCxnSpPr>
        <p:spPr>
          <a:xfrm flipV="1">
            <a:off x="1694330" y="3415192"/>
            <a:ext cx="3310128" cy="1086773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EB33748-8B27-6302-01B0-0E8ED58DEEF4}"/>
              </a:ext>
            </a:extLst>
          </p:cNvPr>
          <p:cNvCxnSpPr>
            <a:cxnSpLocks/>
          </p:cNvCxnSpPr>
          <p:nvPr/>
        </p:nvCxnSpPr>
        <p:spPr>
          <a:xfrm>
            <a:off x="6577226" y="3415192"/>
            <a:ext cx="3685032" cy="1067478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238DE77-DC54-46D9-A3EE-3BA1D715045B}"/>
              </a:ext>
            </a:extLst>
          </p:cNvPr>
          <p:cNvGrpSpPr/>
          <p:nvPr/>
        </p:nvGrpSpPr>
        <p:grpSpPr>
          <a:xfrm>
            <a:off x="3834026" y="4705765"/>
            <a:ext cx="4352544" cy="329071"/>
            <a:chOff x="3968496" y="5028495"/>
            <a:chExt cx="4352544" cy="329071"/>
          </a:xfrm>
        </p:grpSpPr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C6852B1-3AE0-21D9-C3E8-174A4350508D}"/>
                </a:ext>
              </a:extLst>
            </p:cNvPr>
            <p:cNvCxnSpPr/>
            <p:nvPr/>
          </p:nvCxnSpPr>
          <p:spPr>
            <a:xfrm>
              <a:off x="3968496" y="5357566"/>
              <a:ext cx="43525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9284D7C-2A0F-2EB4-BB06-F38CA1C2B50E}"/>
                </a:ext>
              </a:extLst>
            </p:cNvPr>
            <p:cNvSpPr txBox="1"/>
            <p:nvPr/>
          </p:nvSpPr>
          <p:spPr>
            <a:xfrm>
              <a:off x="5771291" y="5028495"/>
              <a:ext cx="5592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BE025BF-F23F-D1BF-F5CD-5870C943705F}"/>
              </a:ext>
            </a:extLst>
          </p:cNvPr>
          <p:cNvGrpSpPr/>
          <p:nvPr/>
        </p:nvGrpSpPr>
        <p:grpSpPr>
          <a:xfrm>
            <a:off x="3834026" y="5406692"/>
            <a:ext cx="4352544" cy="324782"/>
            <a:chOff x="3968496" y="5729422"/>
            <a:chExt cx="4352544" cy="324782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44A93DE4-E44E-DC27-FCEC-9F3ADD25FE8D}"/>
                </a:ext>
              </a:extLst>
            </p:cNvPr>
            <p:cNvCxnSpPr/>
            <p:nvPr/>
          </p:nvCxnSpPr>
          <p:spPr>
            <a:xfrm>
              <a:off x="3968496" y="5729422"/>
              <a:ext cx="43525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0312F57-6CDD-50F2-9297-0C24B079F89C}"/>
                </a:ext>
              </a:extLst>
            </p:cNvPr>
            <p:cNvSpPr txBox="1"/>
            <p:nvPr/>
          </p:nvSpPr>
          <p:spPr>
            <a:xfrm>
              <a:off x="5765159" y="5746427"/>
              <a:ext cx="5592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5B4FFF38-68C5-82BE-D389-0389A1C5878C}"/>
              </a:ext>
            </a:extLst>
          </p:cNvPr>
          <p:cNvSpPr txBox="1"/>
          <p:nvPr/>
        </p:nvSpPr>
        <p:spPr>
          <a:xfrm>
            <a:off x="8257592" y="3641154"/>
            <a:ext cx="101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4955EF-FDDE-0821-88B6-9EFB6A42EEDC}"/>
              </a:ext>
            </a:extLst>
          </p:cNvPr>
          <p:cNvSpPr txBox="1"/>
          <p:nvPr/>
        </p:nvSpPr>
        <p:spPr>
          <a:xfrm>
            <a:off x="2561601" y="3641153"/>
            <a:ext cx="101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5D4D295C-F826-5D3F-4A6C-1C761DD2904D}"/>
              </a:ext>
            </a:extLst>
          </p:cNvPr>
          <p:cNvSpPr/>
          <p:nvPr/>
        </p:nvSpPr>
        <p:spPr>
          <a:xfrm>
            <a:off x="4972321" y="1800701"/>
            <a:ext cx="1637042" cy="546935"/>
          </a:xfrm>
          <a:prstGeom prst="round2DiagRect">
            <a:avLst/>
          </a:prstGeom>
          <a:solidFill>
            <a:srgbClr val="00206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原型</a:t>
            </a:r>
            <a:r>
              <a:rPr lang="en-US" altLang="zh-CN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EAC31F1-D7C5-8499-E71E-B67E203F4F88}"/>
              </a:ext>
            </a:extLst>
          </p:cNvPr>
          <p:cNvCxnSpPr>
            <a:cxnSpLocks/>
          </p:cNvCxnSpPr>
          <p:nvPr/>
        </p:nvCxnSpPr>
        <p:spPr>
          <a:xfrm>
            <a:off x="5790842" y="2350658"/>
            <a:ext cx="0" cy="619158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C1B9554B-822C-1863-AC64-6C8713C46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r="5942"/>
          <a:stretch>
            <a:fillRect/>
          </a:stretch>
        </p:blipFill>
        <p:spPr>
          <a:xfrm>
            <a:off x="2537496" y="5254975"/>
            <a:ext cx="253724" cy="28794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198D11F-085B-EF63-1B05-5A6B8CA70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486" y="5242015"/>
            <a:ext cx="253724" cy="28794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F1229A7-C328-F12B-D52C-24DE30665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249" y="5179084"/>
            <a:ext cx="345285" cy="29754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6753B44-8090-AF4E-E817-885FCE09E2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819" y="5221937"/>
            <a:ext cx="431145" cy="11361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D84C5D2-F003-5658-635D-07F05EDFF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2532" y="5245095"/>
            <a:ext cx="253724" cy="287943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797A105F-D4AC-9232-8547-6B81577640B8}"/>
              </a:ext>
            </a:extLst>
          </p:cNvPr>
          <p:cNvGrpSpPr/>
          <p:nvPr/>
        </p:nvGrpSpPr>
        <p:grpSpPr>
          <a:xfrm>
            <a:off x="9385564" y="4992992"/>
            <a:ext cx="160828" cy="457890"/>
            <a:chOff x="7552801" y="2926397"/>
            <a:chExt cx="927173" cy="1751936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9EF81C78-B2FB-9A19-11B4-4E387E290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52801" y="2926397"/>
              <a:ext cx="898475" cy="1205041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BDF167AE-3FB8-DBA2-535C-61E78E55A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52801" y="4184190"/>
              <a:ext cx="927173" cy="494143"/>
            </a:xfrm>
            <a:prstGeom prst="rect">
              <a:avLst/>
            </a:prstGeom>
          </p:spPr>
        </p:pic>
      </p:grpSp>
      <p:pic>
        <p:nvPicPr>
          <p:cNvPr id="32" name="图形 31" descr="数据库 纯色填充">
            <a:extLst>
              <a:ext uri="{FF2B5EF4-FFF2-40B4-BE49-F238E27FC236}">
                <a16:creationId xmlns:a16="http://schemas.microsoft.com/office/drawing/2014/main" id="{54285701-7288-33BC-DF8B-5EBF05C4F4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67538" y="5096503"/>
            <a:ext cx="437909" cy="437909"/>
          </a:xfrm>
          <a:prstGeom prst="rect">
            <a:avLst/>
          </a:prstGeom>
        </p:spPr>
      </p:pic>
      <p:pic>
        <p:nvPicPr>
          <p:cNvPr id="33" name="图片 32" descr="蓝色的标志&#10;&#10;描述已自动生成">
            <a:extLst>
              <a:ext uri="{FF2B5EF4-FFF2-40B4-BE49-F238E27FC236}">
                <a16:creationId xmlns:a16="http://schemas.microsoft.com/office/drawing/2014/main" id="{4E877068-E2E8-6026-4C70-414B7E08CC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058" y="4600993"/>
            <a:ext cx="1483811" cy="1119843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4BA7B3F3-7058-E1E8-AB52-D9D9E3F205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247" y="4597599"/>
            <a:ext cx="1483811" cy="112323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47BD8F3-4406-49C3-CADF-D2A489252B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6726" y="5776269"/>
            <a:ext cx="645665" cy="462281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91EE7B68-6993-C074-964F-5FC6039F8D8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62621" y="5860878"/>
            <a:ext cx="1150684" cy="276747"/>
          </a:xfrm>
          <a:prstGeom prst="rect">
            <a:avLst/>
          </a:prstGeom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17201D55-9043-6477-8128-181D58FA4117}"/>
              </a:ext>
            </a:extLst>
          </p:cNvPr>
          <p:cNvGrpSpPr/>
          <p:nvPr/>
        </p:nvGrpSpPr>
        <p:grpSpPr>
          <a:xfrm>
            <a:off x="1053515" y="4705766"/>
            <a:ext cx="987912" cy="1498911"/>
            <a:chOff x="1053515" y="4705766"/>
            <a:chExt cx="987912" cy="149891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586EB7E6-642F-81AC-7078-9D7C99DB4AED}"/>
                </a:ext>
              </a:extLst>
            </p:cNvPr>
            <p:cNvSpPr/>
            <p:nvPr/>
          </p:nvSpPr>
          <p:spPr>
            <a:xfrm>
              <a:off x="1097945" y="5793828"/>
              <a:ext cx="943010" cy="410849"/>
            </a:xfrm>
            <a:prstGeom prst="roundRect">
              <a:avLst>
                <a:gd name="adj" fmla="val 5824"/>
              </a:avLst>
            </a:prstGeom>
            <a:solidFill>
              <a:srgbClr val="3BC5FF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前端开发</a:t>
              </a:r>
            </a:p>
          </p:txBody>
        </p:sp>
        <p:pic>
          <p:nvPicPr>
            <p:cNvPr id="38" name="图片 37" descr="图标&#10;&#10;描述已自动生成">
              <a:extLst>
                <a:ext uri="{FF2B5EF4-FFF2-40B4-BE49-F238E27FC236}">
                  <a16:creationId xmlns:a16="http://schemas.microsoft.com/office/drawing/2014/main" id="{7BE373EF-B3FB-FDAA-D447-3BF111A90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515" y="4705766"/>
              <a:ext cx="987912" cy="987912"/>
            </a:xfrm>
            <a:prstGeom prst="rect">
              <a:avLst/>
            </a:prstGeom>
          </p:spPr>
        </p:pic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33EBDD53-BA18-9585-53BE-B2CD4E9B7C70}"/>
              </a:ext>
            </a:extLst>
          </p:cNvPr>
          <p:cNvGrpSpPr/>
          <p:nvPr/>
        </p:nvGrpSpPr>
        <p:grpSpPr>
          <a:xfrm>
            <a:off x="9919002" y="4695232"/>
            <a:ext cx="1117658" cy="1496808"/>
            <a:chOff x="9919002" y="4695232"/>
            <a:chExt cx="1117658" cy="149680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97D2A164-F507-E71D-5B19-67CE85BB7E3B}"/>
                </a:ext>
              </a:extLst>
            </p:cNvPr>
            <p:cNvSpPr/>
            <p:nvPr/>
          </p:nvSpPr>
          <p:spPr>
            <a:xfrm>
              <a:off x="9919002" y="5781191"/>
              <a:ext cx="1117658" cy="410849"/>
            </a:xfrm>
            <a:prstGeom prst="roundRect">
              <a:avLst>
                <a:gd name="adj" fmla="val 5824"/>
              </a:avLst>
            </a:prstGeom>
            <a:solidFill>
              <a:srgbClr val="3BC5FF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后端开发</a:t>
              </a:r>
            </a:p>
          </p:txBody>
        </p:sp>
        <p:pic>
          <p:nvPicPr>
            <p:cNvPr id="46" name="图片 45" descr="图标&#10;&#10;描述已自动生成">
              <a:extLst>
                <a:ext uri="{FF2B5EF4-FFF2-40B4-BE49-F238E27FC236}">
                  <a16:creationId xmlns:a16="http://schemas.microsoft.com/office/drawing/2014/main" id="{8AB83898-5831-4E8A-DDEC-A83BAD0A6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9734" y="4695232"/>
              <a:ext cx="1074557" cy="11670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639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/>
      <p:bldP spid="21" grpId="0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前后端分离开发</a:t>
            </a:r>
          </a:p>
        </p:txBody>
      </p:sp>
      <p:sp>
        <p:nvSpPr>
          <p:cNvPr id="11" name="流程图: 多文档 10">
            <a:extLst>
              <a:ext uri="{FF2B5EF4-FFF2-40B4-BE49-F238E27FC236}">
                <a16:creationId xmlns:a16="http://schemas.microsoft.com/office/drawing/2014/main" id="{76DB0627-C761-3B3A-48C0-B2358F538954}"/>
              </a:ext>
            </a:extLst>
          </p:cNvPr>
          <p:cNvSpPr/>
          <p:nvPr/>
        </p:nvSpPr>
        <p:spPr>
          <a:xfrm>
            <a:off x="5123368" y="1955962"/>
            <a:ext cx="1165076" cy="751168"/>
          </a:xfrm>
          <a:prstGeom prst="flowChartMultidocument">
            <a:avLst/>
          </a:prstGeom>
          <a:solidFill>
            <a:srgbClr val="7030A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接口文档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8304556-C1E6-6F43-3216-B6C07E066059}"/>
              </a:ext>
            </a:extLst>
          </p:cNvPr>
          <p:cNvCxnSpPr>
            <a:cxnSpLocks/>
          </p:cNvCxnSpPr>
          <p:nvPr/>
        </p:nvCxnSpPr>
        <p:spPr>
          <a:xfrm flipV="1">
            <a:off x="2271996" y="2329299"/>
            <a:ext cx="2774721" cy="910990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EB33748-8B27-6302-01B0-0E8ED58DEEF4}"/>
              </a:ext>
            </a:extLst>
          </p:cNvPr>
          <p:cNvCxnSpPr>
            <a:cxnSpLocks/>
          </p:cNvCxnSpPr>
          <p:nvPr/>
        </p:nvCxnSpPr>
        <p:spPr>
          <a:xfrm>
            <a:off x="6365094" y="2329299"/>
            <a:ext cx="3088985" cy="894816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238DE77-DC54-46D9-A3EE-3BA1D715045B}"/>
              </a:ext>
            </a:extLst>
          </p:cNvPr>
          <p:cNvGrpSpPr/>
          <p:nvPr/>
        </p:nvGrpSpPr>
        <p:grpSpPr>
          <a:xfrm>
            <a:off x="4065601" y="3411125"/>
            <a:ext cx="3648529" cy="275844"/>
            <a:chOff x="3968496" y="5028495"/>
            <a:chExt cx="4352544" cy="329071"/>
          </a:xfrm>
        </p:grpSpPr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C6852B1-3AE0-21D9-C3E8-174A4350508D}"/>
                </a:ext>
              </a:extLst>
            </p:cNvPr>
            <p:cNvCxnSpPr/>
            <p:nvPr/>
          </p:nvCxnSpPr>
          <p:spPr>
            <a:xfrm>
              <a:off x="3968496" y="5357566"/>
              <a:ext cx="43525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9284D7C-2A0F-2EB4-BB06-F38CA1C2B50E}"/>
                </a:ext>
              </a:extLst>
            </p:cNvPr>
            <p:cNvSpPr txBox="1"/>
            <p:nvPr/>
          </p:nvSpPr>
          <p:spPr>
            <a:xfrm>
              <a:off x="5771291" y="5028495"/>
              <a:ext cx="5592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11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BE025BF-F23F-D1BF-F5CD-5870C943705F}"/>
              </a:ext>
            </a:extLst>
          </p:cNvPr>
          <p:cNvGrpSpPr/>
          <p:nvPr/>
        </p:nvGrpSpPr>
        <p:grpSpPr>
          <a:xfrm>
            <a:off x="4065601" y="3998678"/>
            <a:ext cx="3648529" cy="233550"/>
            <a:chOff x="3968496" y="5729422"/>
            <a:chExt cx="4352544" cy="278615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44A93DE4-E44E-DC27-FCEC-9F3ADD25FE8D}"/>
                </a:ext>
              </a:extLst>
            </p:cNvPr>
            <p:cNvCxnSpPr/>
            <p:nvPr/>
          </p:nvCxnSpPr>
          <p:spPr>
            <a:xfrm>
              <a:off x="3968496" y="5729422"/>
              <a:ext cx="43525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0312F57-6CDD-50F2-9297-0C24B079F89C}"/>
                </a:ext>
              </a:extLst>
            </p:cNvPr>
            <p:cNvSpPr txBox="1"/>
            <p:nvPr/>
          </p:nvSpPr>
          <p:spPr>
            <a:xfrm>
              <a:off x="5765159" y="5746427"/>
              <a:ext cx="5592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11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5B4FFF38-68C5-82BE-D389-0389A1C5878C}"/>
              </a:ext>
            </a:extLst>
          </p:cNvPr>
          <p:cNvSpPr txBox="1"/>
          <p:nvPr/>
        </p:nvSpPr>
        <p:spPr>
          <a:xfrm>
            <a:off x="7773664" y="2518712"/>
            <a:ext cx="853565" cy="21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1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4955EF-FDDE-0821-88B6-9EFB6A42EEDC}"/>
              </a:ext>
            </a:extLst>
          </p:cNvPr>
          <p:cNvSpPr txBox="1"/>
          <p:nvPr/>
        </p:nvSpPr>
        <p:spPr>
          <a:xfrm>
            <a:off x="2998988" y="2518712"/>
            <a:ext cx="853565" cy="21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1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5D4D295C-F826-5D3F-4A6C-1C761DD2904D}"/>
              </a:ext>
            </a:extLst>
          </p:cNvPr>
          <p:cNvSpPr/>
          <p:nvPr/>
        </p:nvSpPr>
        <p:spPr>
          <a:xfrm>
            <a:off x="5019779" y="975949"/>
            <a:ext cx="1372254" cy="458469"/>
          </a:xfrm>
          <a:prstGeom prst="round2DiagRect">
            <a:avLst/>
          </a:prstGeom>
          <a:solidFill>
            <a:srgbClr val="00206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原型</a:t>
            </a:r>
            <a:r>
              <a:rPr lang="en-US" altLang="zh-CN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EAC31F1-D7C5-8499-E71E-B67E203F4F88}"/>
              </a:ext>
            </a:extLst>
          </p:cNvPr>
          <p:cNvCxnSpPr>
            <a:cxnSpLocks/>
          </p:cNvCxnSpPr>
          <p:nvPr/>
        </p:nvCxnSpPr>
        <p:spPr>
          <a:xfrm>
            <a:off x="5705906" y="1436952"/>
            <a:ext cx="0" cy="519010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C1B9554B-822C-1863-AC64-6C8713C46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r="5942"/>
          <a:stretch>
            <a:fillRect/>
          </a:stretch>
        </p:blipFill>
        <p:spPr>
          <a:xfrm>
            <a:off x="2978782" y="3871501"/>
            <a:ext cx="212685" cy="24136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198D11F-085B-EF63-1B05-5A6B8CA70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324" y="3860637"/>
            <a:ext cx="212685" cy="24136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F1229A7-C328-F12B-D52C-24DE30665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355" y="3807885"/>
            <a:ext cx="289436" cy="24941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6753B44-8090-AF4E-E817-885FCE09E2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044" y="3843807"/>
            <a:ext cx="361408" cy="9524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D84C5D2-F003-5658-635D-07F05EDFF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3015" y="3863219"/>
            <a:ext cx="212685" cy="241369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797A105F-D4AC-9232-8547-6B81577640B8}"/>
              </a:ext>
            </a:extLst>
          </p:cNvPr>
          <p:cNvGrpSpPr/>
          <p:nvPr/>
        </p:nvGrpSpPr>
        <p:grpSpPr>
          <a:xfrm>
            <a:off x="8719189" y="3651893"/>
            <a:ext cx="134814" cy="383827"/>
            <a:chOff x="7552801" y="2926397"/>
            <a:chExt cx="927173" cy="1751936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9EF81C78-B2FB-9A19-11B4-4E387E290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52801" y="2926397"/>
              <a:ext cx="898475" cy="1205041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BDF167AE-3FB8-DBA2-535C-61E78E55A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52801" y="4184190"/>
              <a:ext cx="927173" cy="494143"/>
            </a:xfrm>
            <a:prstGeom prst="rect">
              <a:avLst/>
            </a:prstGeom>
          </p:spPr>
        </p:pic>
      </p:grpSp>
      <p:pic>
        <p:nvPicPr>
          <p:cNvPr id="32" name="图形 31" descr="数据库 纯色填充">
            <a:extLst>
              <a:ext uri="{FF2B5EF4-FFF2-40B4-BE49-F238E27FC236}">
                <a16:creationId xmlns:a16="http://schemas.microsoft.com/office/drawing/2014/main" id="{54285701-7288-33BC-DF8B-5EBF05C4F4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84952" y="3738662"/>
            <a:ext cx="367078" cy="367078"/>
          </a:xfrm>
          <a:prstGeom prst="rect">
            <a:avLst/>
          </a:prstGeom>
        </p:spPr>
      </p:pic>
      <p:pic>
        <p:nvPicPr>
          <p:cNvPr id="33" name="图片 32" descr="蓝色的标志&#10;&#10;描述已自动生成">
            <a:extLst>
              <a:ext uri="{FF2B5EF4-FFF2-40B4-BE49-F238E27FC236}">
                <a16:creationId xmlns:a16="http://schemas.microsoft.com/office/drawing/2014/main" id="{4E877068-E2E8-6026-4C70-414B7E08CC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746" y="3323299"/>
            <a:ext cx="1243807" cy="93871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4BA7B3F3-7058-E1E8-AB52-D9D9E3F205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27023" y="3320454"/>
            <a:ext cx="1243807" cy="941556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47BD8F3-4406-49C3-CADF-D2A489252B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00446" y="4308477"/>
            <a:ext cx="541230" cy="387508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91EE7B68-6993-C074-964F-5FC6039F8D8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8367" y="4379401"/>
            <a:ext cx="964563" cy="231984"/>
          </a:xfrm>
          <a:prstGeom prst="rect">
            <a:avLst/>
          </a:prstGeom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17201D55-9043-6477-8128-181D58FA4117}"/>
              </a:ext>
            </a:extLst>
          </p:cNvPr>
          <p:cNvGrpSpPr/>
          <p:nvPr/>
        </p:nvGrpSpPr>
        <p:grpSpPr>
          <a:xfrm>
            <a:off x="1734832" y="3411126"/>
            <a:ext cx="828119" cy="1256465"/>
            <a:chOff x="1053515" y="4705766"/>
            <a:chExt cx="987912" cy="149891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586EB7E6-642F-81AC-7078-9D7C99DB4AED}"/>
                </a:ext>
              </a:extLst>
            </p:cNvPr>
            <p:cNvSpPr/>
            <p:nvPr/>
          </p:nvSpPr>
          <p:spPr>
            <a:xfrm>
              <a:off x="1097945" y="5793828"/>
              <a:ext cx="943010" cy="410849"/>
            </a:xfrm>
            <a:prstGeom prst="roundRect">
              <a:avLst>
                <a:gd name="adj" fmla="val 5824"/>
              </a:avLst>
            </a:prstGeom>
            <a:solidFill>
              <a:srgbClr val="3BC5FF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前端开发</a:t>
              </a:r>
            </a:p>
          </p:txBody>
        </p:sp>
        <p:pic>
          <p:nvPicPr>
            <p:cNvPr id="38" name="图片 37" descr="图标&#10;&#10;描述已自动生成">
              <a:extLst>
                <a:ext uri="{FF2B5EF4-FFF2-40B4-BE49-F238E27FC236}">
                  <a16:creationId xmlns:a16="http://schemas.microsoft.com/office/drawing/2014/main" id="{7BE373EF-B3FB-FDAA-D447-3BF111A90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515" y="4705766"/>
              <a:ext cx="987912" cy="987912"/>
            </a:xfrm>
            <a:prstGeom prst="rect">
              <a:avLst/>
            </a:prstGeom>
          </p:spPr>
        </p:pic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33EBDD53-BA18-9585-53BE-B2CD4E9B7C70}"/>
              </a:ext>
            </a:extLst>
          </p:cNvPr>
          <p:cNvGrpSpPr/>
          <p:nvPr/>
        </p:nvGrpSpPr>
        <p:grpSpPr>
          <a:xfrm>
            <a:off x="9166344" y="3402296"/>
            <a:ext cx="936879" cy="1254702"/>
            <a:chOff x="9919002" y="4695232"/>
            <a:chExt cx="1117658" cy="149680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97D2A164-F507-E71D-5B19-67CE85BB7E3B}"/>
                </a:ext>
              </a:extLst>
            </p:cNvPr>
            <p:cNvSpPr/>
            <p:nvPr/>
          </p:nvSpPr>
          <p:spPr>
            <a:xfrm>
              <a:off x="9919002" y="5781191"/>
              <a:ext cx="1117658" cy="410849"/>
            </a:xfrm>
            <a:prstGeom prst="roundRect">
              <a:avLst>
                <a:gd name="adj" fmla="val 5824"/>
              </a:avLst>
            </a:prstGeom>
            <a:solidFill>
              <a:srgbClr val="3BC5FF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后端开发</a:t>
              </a:r>
            </a:p>
          </p:txBody>
        </p:sp>
        <p:pic>
          <p:nvPicPr>
            <p:cNvPr id="46" name="图片 45" descr="图标&#10;&#10;描述已自动生成">
              <a:extLst>
                <a:ext uri="{FF2B5EF4-FFF2-40B4-BE49-F238E27FC236}">
                  <a16:creationId xmlns:a16="http://schemas.microsoft.com/office/drawing/2014/main" id="{8AB83898-5831-4E8A-DDEC-A83BAD0A6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9734" y="4695232"/>
              <a:ext cx="1074557" cy="1167026"/>
            </a:xfrm>
            <a:prstGeom prst="rect">
              <a:avLst/>
            </a:prstGeom>
          </p:spPr>
        </p:pic>
      </p:grp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42E432CF-DFB0-AF63-0190-961C4882081E}"/>
              </a:ext>
            </a:extLst>
          </p:cNvPr>
          <p:cNvSpPr/>
          <p:nvPr/>
        </p:nvSpPr>
        <p:spPr>
          <a:xfrm>
            <a:off x="1224585" y="5434160"/>
            <a:ext cx="1310054" cy="844061"/>
          </a:xfrm>
          <a:prstGeom prst="flowChartDocumen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需求分析</a:t>
            </a:r>
          </a:p>
        </p:txBody>
      </p:sp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3511F8A7-5E8C-CCEA-876A-520863E65516}"/>
              </a:ext>
            </a:extLst>
          </p:cNvPr>
          <p:cNvSpPr/>
          <p:nvPr/>
        </p:nvSpPr>
        <p:spPr>
          <a:xfrm>
            <a:off x="3322465" y="5434159"/>
            <a:ext cx="1310054" cy="844061"/>
          </a:xfrm>
          <a:prstGeom prst="flowChartDocumen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接口设计</a:t>
            </a:r>
            <a:endParaRPr lang="en-US" altLang="zh-CN" sz="1400">
              <a:solidFill>
                <a:schemeClr val="bg1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(API</a:t>
            </a:r>
            <a:r>
              <a:rPr lang="zh-CN" altLang="en-US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接口文档</a:t>
            </a:r>
            <a:r>
              <a:rPr lang="en-US" altLang="zh-CN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050">
              <a:solidFill>
                <a:schemeClr val="bg1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流程图: 文档 7">
            <a:extLst>
              <a:ext uri="{FF2B5EF4-FFF2-40B4-BE49-F238E27FC236}">
                <a16:creationId xmlns:a16="http://schemas.microsoft.com/office/drawing/2014/main" id="{2B30CAA4-C7AF-8BF4-DC5B-7FDD5BE0BFA6}"/>
              </a:ext>
            </a:extLst>
          </p:cNvPr>
          <p:cNvSpPr/>
          <p:nvPr/>
        </p:nvSpPr>
        <p:spPr>
          <a:xfrm>
            <a:off x="5420345" y="5434158"/>
            <a:ext cx="1310054" cy="844061"/>
          </a:xfrm>
          <a:prstGeom prst="flowChartDocumen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前后端并行开发</a:t>
            </a:r>
            <a:endParaRPr lang="en-US" altLang="zh-CN" sz="1400">
              <a:solidFill>
                <a:schemeClr val="bg1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遵守规范</a:t>
            </a:r>
            <a:r>
              <a:rPr lang="en-US" altLang="zh-CN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050">
              <a:solidFill>
                <a:schemeClr val="bg1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流程图: 文档 8">
            <a:extLst>
              <a:ext uri="{FF2B5EF4-FFF2-40B4-BE49-F238E27FC236}">
                <a16:creationId xmlns:a16="http://schemas.microsoft.com/office/drawing/2014/main" id="{21371F25-45F5-D683-069F-A6025EAE9AF0}"/>
              </a:ext>
            </a:extLst>
          </p:cNvPr>
          <p:cNvSpPr/>
          <p:nvPr/>
        </p:nvSpPr>
        <p:spPr>
          <a:xfrm>
            <a:off x="7523000" y="5434157"/>
            <a:ext cx="1310054" cy="844061"/>
          </a:xfrm>
          <a:prstGeom prst="flowChartDocumen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测试</a:t>
            </a:r>
            <a:endParaRPr lang="en-US" altLang="zh-CN" sz="1400">
              <a:solidFill>
                <a:schemeClr val="bg1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前端、后端</a:t>
            </a:r>
            <a:r>
              <a:rPr lang="en-US" altLang="zh-CN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050">
              <a:solidFill>
                <a:schemeClr val="bg1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流程图: 文档 36">
            <a:extLst>
              <a:ext uri="{FF2B5EF4-FFF2-40B4-BE49-F238E27FC236}">
                <a16:creationId xmlns:a16="http://schemas.microsoft.com/office/drawing/2014/main" id="{832501D4-D4CA-29AA-C447-2A8F62698B62}"/>
              </a:ext>
            </a:extLst>
          </p:cNvPr>
          <p:cNvSpPr/>
          <p:nvPr/>
        </p:nvSpPr>
        <p:spPr>
          <a:xfrm>
            <a:off x="9625655" y="5434156"/>
            <a:ext cx="1310054" cy="844061"/>
          </a:xfrm>
          <a:prstGeom prst="flowChartDocumen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前后端联调测试</a:t>
            </a:r>
          </a:p>
        </p:txBody>
      </p:sp>
      <p:sp>
        <p:nvSpPr>
          <p:cNvPr id="39" name="箭头: 虚尾 38">
            <a:extLst>
              <a:ext uri="{FF2B5EF4-FFF2-40B4-BE49-F238E27FC236}">
                <a16:creationId xmlns:a16="http://schemas.microsoft.com/office/drawing/2014/main" id="{B0B0782A-598A-4762-6986-62AB97D8152D}"/>
              </a:ext>
            </a:extLst>
          </p:cNvPr>
          <p:cNvSpPr/>
          <p:nvPr/>
        </p:nvSpPr>
        <p:spPr>
          <a:xfrm>
            <a:off x="2649165" y="5582070"/>
            <a:ext cx="567143" cy="386862"/>
          </a:xfrm>
          <a:prstGeom prst="stripedRightArrow">
            <a:avLst>
              <a:gd name="adj1" fmla="val 50000"/>
              <a:gd name="adj2" fmla="val 77273"/>
            </a:avLst>
          </a:prstGeom>
          <a:gradFill flip="none" rotWithShape="1">
            <a:gsLst>
              <a:gs pos="0">
                <a:schemeClr val="tx1">
                  <a:lumMod val="95000"/>
                  <a:lumOff val="5000"/>
                  <a:tint val="66000"/>
                  <a:satMod val="160000"/>
                </a:schemeClr>
              </a:gs>
              <a:gs pos="50000">
                <a:schemeClr val="tx1">
                  <a:lumMod val="95000"/>
                  <a:lumOff val="5000"/>
                  <a:tint val="44500"/>
                  <a:satMod val="160000"/>
                </a:schemeClr>
              </a:gs>
              <a:gs pos="100000">
                <a:schemeClr val="tx1">
                  <a:lumMod val="95000"/>
                  <a:lumOff val="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虚尾 39">
            <a:extLst>
              <a:ext uri="{FF2B5EF4-FFF2-40B4-BE49-F238E27FC236}">
                <a16:creationId xmlns:a16="http://schemas.microsoft.com/office/drawing/2014/main" id="{7D6D9FA0-8DDC-6760-0908-4E2F306A7361}"/>
              </a:ext>
            </a:extLst>
          </p:cNvPr>
          <p:cNvSpPr/>
          <p:nvPr/>
        </p:nvSpPr>
        <p:spPr>
          <a:xfrm>
            <a:off x="4747045" y="5582070"/>
            <a:ext cx="567143" cy="386862"/>
          </a:xfrm>
          <a:prstGeom prst="stripedRightArrow">
            <a:avLst>
              <a:gd name="adj1" fmla="val 50000"/>
              <a:gd name="adj2" fmla="val 77273"/>
            </a:avLst>
          </a:prstGeom>
          <a:gradFill flip="none" rotWithShape="1">
            <a:gsLst>
              <a:gs pos="0">
                <a:schemeClr val="tx1">
                  <a:lumMod val="95000"/>
                  <a:lumOff val="5000"/>
                  <a:tint val="66000"/>
                  <a:satMod val="160000"/>
                </a:schemeClr>
              </a:gs>
              <a:gs pos="50000">
                <a:schemeClr val="tx1">
                  <a:lumMod val="95000"/>
                  <a:lumOff val="5000"/>
                  <a:tint val="44500"/>
                  <a:satMod val="160000"/>
                </a:schemeClr>
              </a:gs>
              <a:gs pos="100000">
                <a:schemeClr val="tx1">
                  <a:lumMod val="95000"/>
                  <a:lumOff val="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虚尾 41">
            <a:extLst>
              <a:ext uri="{FF2B5EF4-FFF2-40B4-BE49-F238E27FC236}">
                <a16:creationId xmlns:a16="http://schemas.microsoft.com/office/drawing/2014/main" id="{894A4245-E894-24CE-B0F7-769BDD7C7135}"/>
              </a:ext>
            </a:extLst>
          </p:cNvPr>
          <p:cNvSpPr/>
          <p:nvPr/>
        </p:nvSpPr>
        <p:spPr>
          <a:xfrm>
            <a:off x="6863011" y="5582070"/>
            <a:ext cx="567143" cy="386862"/>
          </a:xfrm>
          <a:prstGeom prst="stripedRightArrow">
            <a:avLst>
              <a:gd name="adj1" fmla="val 50000"/>
              <a:gd name="adj2" fmla="val 77273"/>
            </a:avLst>
          </a:prstGeom>
          <a:gradFill flip="none" rotWithShape="1">
            <a:gsLst>
              <a:gs pos="0">
                <a:schemeClr val="tx1">
                  <a:lumMod val="95000"/>
                  <a:lumOff val="5000"/>
                  <a:tint val="66000"/>
                  <a:satMod val="160000"/>
                </a:schemeClr>
              </a:gs>
              <a:gs pos="50000">
                <a:schemeClr val="tx1">
                  <a:lumMod val="95000"/>
                  <a:lumOff val="5000"/>
                  <a:tint val="44500"/>
                  <a:satMod val="160000"/>
                </a:schemeClr>
              </a:gs>
              <a:gs pos="100000">
                <a:schemeClr val="tx1">
                  <a:lumMod val="95000"/>
                  <a:lumOff val="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虚尾 42">
            <a:extLst>
              <a:ext uri="{FF2B5EF4-FFF2-40B4-BE49-F238E27FC236}">
                <a16:creationId xmlns:a16="http://schemas.microsoft.com/office/drawing/2014/main" id="{81598CA5-092E-D7BC-0515-0B387FB5C7FB}"/>
              </a:ext>
            </a:extLst>
          </p:cNvPr>
          <p:cNvSpPr/>
          <p:nvPr/>
        </p:nvSpPr>
        <p:spPr>
          <a:xfrm>
            <a:off x="8945783" y="5582070"/>
            <a:ext cx="567143" cy="386862"/>
          </a:xfrm>
          <a:prstGeom prst="stripedRightArrow">
            <a:avLst>
              <a:gd name="adj1" fmla="val 50000"/>
              <a:gd name="adj2" fmla="val 77273"/>
            </a:avLst>
          </a:prstGeom>
          <a:gradFill flip="none" rotWithShape="1">
            <a:gsLst>
              <a:gs pos="0">
                <a:schemeClr val="tx1">
                  <a:lumMod val="95000"/>
                  <a:lumOff val="5000"/>
                  <a:tint val="66000"/>
                  <a:satMod val="160000"/>
                </a:schemeClr>
              </a:gs>
              <a:gs pos="50000">
                <a:schemeClr val="tx1">
                  <a:lumMod val="95000"/>
                  <a:lumOff val="5000"/>
                  <a:tint val="44500"/>
                  <a:satMod val="160000"/>
                </a:schemeClr>
              </a:gs>
              <a:gs pos="100000">
                <a:schemeClr val="tx1">
                  <a:lumMod val="95000"/>
                  <a:lumOff val="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953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37" grpId="0" animBg="1"/>
      <p:bldP spid="39" grpId="0" animBg="1"/>
      <p:bldP spid="40" grpId="0" animBg="1"/>
      <p:bldP spid="42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25E2CB-1A84-E106-C906-302207DEBE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什么是前后端分离开发 </a:t>
            </a:r>
            <a:r>
              <a:rPr lang="en-US" altLang="zh-CN" sz="1800"/>
              <a:t>? 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前端项目、后端项目 开发和部署都是分开的。</a:t>
            </a:r>
            <a:endParaRPr lang="en-US" altLang="zh-CN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具体的开发流程</a:t>
            </a:r>
            <a:r>
              <a:rPr lang="en-US" altLang="zh-CN" sz="1800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需求分析 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-&gt;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接口设计 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-&gt;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前后端并行开发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-&gt;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测试 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-&gt;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联调</a:t>
            </a:r>
            <a:endParaRPr lang="en-US" altLang="zh-CN" sz="16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 descr="徽标&#10;&#10;描述已自动生成">
            <a:extLst>
              <a:ext uri="{FF2B5EF4-FFF2-40B4-BE49-F238E27FC236}">
                <a16:creationId xmlns:a16="http://schemas.microsoft.com/office/drawing/2014/main" id="{6396A639-97CA-C534-A542-5CE2DFB87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777" y="2376544"/>
            <a:ext cx="1160929" cy="116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1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3167B7-7AFB-B8F3-F650-8EDCA8E530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准备工作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AAE48B-9EF8-4A05-89EC-C04E0EBD6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1629244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r>
              <a:rPr lang="en-US" altLang="zh-CN">
                <a:latin typeface="+mn-lt"/>
              </a:rPr>
              <a:t>-</a:t>
            </a:r>
            <a:r>
              <a:rPr lang="zh-CN" altLang="en-US">
                <a:latin typeface="+mn-lt"/>
              </a:rPr>
              <a:t>开发模式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开发规范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-Restful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风格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工程搭建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A633281-31C0-39C6-5C63-11B493BBBD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535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Restful</a:t>
            </a:r>
            <a:endParaRPr lang="zh-CN" altLang="en-US"/>
          </a:p>
        </p:txBody>
      </p:sp>
      <p:sp>
        <p:nvSpPr>
          <p:cNvPr id="4" name="流程图: 多文档 3">
            <a:extLst>
              <a:ext uri="{FF2B5EF4-FFF2-40B4-BE49-F238E27FC236}">
                <a16:creationId xmlns:a16="http://schemas.microsoft.com/office/drawing/2014/main" id="{B994BF1C-78E5-9305-8A3F-690163B21369}"/>
              </a:ext>
            </a:extLst>
          </p:cNvPr>
          <p:cNvSpPr/>
          <p:nvPr/>
        </p:nvSpPr>
        <p:spPr>
          <a:xfrm>
            <a:off x="5113828" y="2700875"/>
            <a:ext cx="1389888" cy="896112"/>
          </a:xfrm>
          <a:prstGeom prst="flowChartMultidocument">
            <a:avLst/>
          </a:prstGeom>
          <a:solidFill>
            <a:srgbClr val="7030A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接口文档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920E274-0B2E-893D-99F1-EA2E2B64EE4E}"/>
              </a:ext>
            </a:extLst>
          </p:cNvPr>
          <p:cNvCxnSpPr>
            <a:cxnSpLocks/>
          </p:cNvCxnSpPr>
          <p:nvPr/>
        </p:nvCxnSpPr>
        <p:spPr>
          <a:xfrm flipV="1">
            <a:off x="1712260" y="3146251"/>
            <a:ext cx="3310128" cy="1086773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B580884-F022-CD11-5375-D8E980AFB2FA}"/>
              </a:ext>
            </a:extLst>
          </p:cNvPr>
          <p:cNvCxnSpPr>
            <a:cxnSpLocks/>
          </p:cNvCxnSpPr>
          <p:nvPr/>
        </p:nvCxnSpPr>
        <p:spPr>
          <a:xfrm>
            <a:off x="6595156" y="3146251"/>
            <a:ext cx="3685032" cy="1067478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2B421A9B-3523-B554-59B1-91AA7CC1AA49}"/>
              </a:ext>
            </a:extLst>
          </p:cNvPr>
          <p:cNvGrpSpPr/>
          <p:nvPr/>
        </p:nvGrpSpPr>
        <p:grpSpPr>
          <a:xfrm>
            <a:off x="3851956" y="4436824"/>
            <a:ext cx="4352544" cy="329071"/>
            <a:chOff x="3968496" y="5028495"/>
            <a:chExt cx="4352544" cy="329071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0017ADE6-06A5-6D7B-91E4-D6267D555250}"/>
                </a:ext>
              </a:extLst>
            </p:cNvPr>
            <p:cNvCxnSpPr/>
            <p:nvPr/>
          </p:nvCxnSpPr>
          <p:spPr>
            <a:xfrm>
              <a:off x="3968496" y="5357566"/>
              <a:ext cx="43525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6C9BE61-4E64-704F-C4D8-10E8E0E755CF}"/>
                </a:ext>
              </a:extLst>
            </p:cNvPr>
            <p:cNvSpPr txBox="1"/>
            <p:nvPr/>
          </p:nvSpPr>
          <p:spPr>
            <a:xfrm>
              <a:off x="5771291" y="5028495"/>
              <a:ext cx="5592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FC5FB8B-B3AD-D408-5981-FA3D59DA0770}"/>
              </a:ext>
            </a:extLst>
          </p:cNvPr>
          <p:cNvGrpSpPr/>
          <p:nvPr/>
        </p:nvGrpSpPr>
        <p:grpSpPr>
          <a:xfrm>
            <a:off x="3851956" y="5137751"/>
            <a:ext cx="4352544" cy="324782"/>
            <a:chOff x="3968496" y="5729422"/>
            <a:chExt cx="4352544" cy="324782"/>
          </a:xfrm>
        </p:grpSpPr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12607D95-77F2-F94B-9710-85114792C5A7}"/>
                </a:ext>
              </a:extLst>
            </p:cNvPr>
            <p:cNvCxnSpPr/>
            <p:nvPr/>
          </p:nvCxnSpPr>
          <p:spPr>
            <a:xfrm>
              <a:off x="3968496" y="5729422"/>
              <a:ext cx="43525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ACD8F92-98E9-4734-4125-1796843BFC96}"/>
                </a:ext>
              </a:extLst>
            </p:cNvPr>
            <p:cNvSpPr txBox="1"/>
            <p:nvPr/>
          </p:nvSpPr>
          <p:spPr>
            <a:xfrm>
              <a:off x="5765159" y="5746427"/>
              <a:ext cx="5592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AEAE71D2-8EB9-8B92-A779-201A57F9D9C7}"/>
              </a:ext>
            </a:extLst>
          </p:cNvPr>
          <p:cNvSpPr txBox="1"/>
          <p:nvPr/>
        </p:nvSpPr>
        <p:spPr>
          <a:xfrm>
            <a:off x="8275522" y="3372213"/>
            <a:ext cx="101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3EEA1B-C19D-4BCE-878D-0F7F77625033}"/>
              </a:ext>
            </a:extLst>
          </p:cNvPr>
          <p:cNvSpPr txBox="1"/>
          <p:nvPr/>
        </p:nvSpPr>
        <p:spPr>
          <a:xfrm>
            <a:off x="2579531" y="3372212"/>
            <a:ext cx="101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: 对角圆角 14">
            <a:extLst>
              <a:ext uri="{FF2B5EF4-FFF2-40B4-BE49-F238E27FC236}">
                <a16:creationId xmlns:a16="http://schemas.microsoft.com/office/drawing/2014/main" id="{267D9787-A308-2779-D25D-3BEA6862B878}"/>
              </a:ext>
            </a:extLst>
          </p:cNvPr>
          <p:cNvSpPr/>
          <p:nvPr/>
        </p:nvSpPr>
        <p:spPr>
          <a:xfrm>
            <a:off x="4990251" y="1495900"/>
            <a:ext cx="1637042" cy="546935"/>
          </a:xfrm>
          <a:prstGeom prst="round2DiagRect">
            <a:avLst/>
          </a:prstGeom>
          <a:solidFill>
            <a:srgbClr val="00206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原型</a:t>
            </a:r>
            <a:r>
              <a:rPr lang="en-US" altLang="zh-CN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ED2F7A7-E4F3-5969-415B-205E52E79711}"/>
              </a:ext>
            </a:extLst>
          </p:cNvPr>
          <p:cNvCxnSpPr>
            <a:cxnSpLocks/>
          </p:cNvCxnSpPr>
          <p:nvPr/>
        </p:nvCxnSpPr>
        <p:spPr>
          <a:xfrm>
            <a:off x="5808772" y="2081717"/>
            <a:ext cx="0" cy="619158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F182905E-6CA8-1B81-AC0A-9C8B90423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r="5942"/>
          <a:stretch>
            <a:fillRect/>
          </a:stretch>
        </p:blipFill>
        <p:spPr>
          <a:xfrm>
            <a:off x="2555426" y="4986034"/>
            <a:ext cx="253724" cy="28794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D3BC95D-080C-8CA3-A88F-86A081C4C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416" y="4973074"/>
            <a:ext cx="253724" cy="28794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D8E8BC7-E39F-F5C0-4E08-111E49184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179" y="4910143"/>
            <a:ext cx="345285" cy="29754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A45961B-26F3-9AB3-18FF-B387DB7C9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749" y="4952996"/>
            <a:ext cx="431145" cy="11361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0D2BFA6-F504-8456-8113-FC23E3B9F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462" y="4976154"/>
            <a:ext cx="253724" cy="287943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286F88F7-5EF6-123D-8A21-3CF2058FA830}"/>
              </a:ext>
            </a:extLst>
          </p:cNvPr>
          <p:cNvGrpSpPr/>
          <p:nvPr/>
        </p:nvGrpSpPr>
        <p:grpSpPr>
          <a:xfrm>
            <a:off x="9403494" y="4724051"/>
            <a:ext cx="160828" cy="457890"/>
            <a:chOff x="7552801" y="2926397"/>
            <a:chExt cx="927173" cy="1751936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ADF333EC-71C5-0980-2E43-2C3F0D804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52801" y="2926397"/>
              <a:ext cx="898475" cy="1205041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9F3AC151-E78B-13D1-9E28-4660C21E4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52801" y="4184190"/>
              <a:ext cx="927173" cy="494143"/>
            </a:xfrm>
            <a:prstGeom prst="rect">
              <a:avLst/>
            </a:prstGeom>
          </p:spPr>
        </p:pic>
      </p:grpSp>
      <p:pic>
        <p:nvPicPr>
          <p:cNvPr id="25" name="图形 24" descr="数据库 纯色填充">
            <a:extLst>
              <a:ext uri="{FF2B5EF4-FFF2-40B4-BE49-F238E27FC236}">
                <a16:creationId xmlns:a16="http://schemas.microsoft.com/office/drawing/2014/main" id="{42CA784B-A508-CEA1-C876-79376CBB7B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5468" y="4827562"/>
            <a:ext cx="437909" cy="437909"/>
          </a:xfrm>
          <a:prstGeom prst="rect">
            <a:avLst/>
          </a:prstGeom>
        </p:spPr>
      </p:pic>
      <p:pic>
        <p:nvPicPr>
          <p:cNvPr id="26" name="图片 25" descr="蓝色的标志&#10;&#10;描述已自动生成">
            <a:extLst>
              <a:ext uri="{FF2B5EF4-FFF2-40B4-BE49-F238E27FC236}">
                <a16:creationId xmlns:a16="http://schemas.microsoft.com/office/drawing/2014/main" id="{0B9E6843-91C2-5B52-E933-F7F7F432B4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988" y="4332052"/>
            <a:ext cx="1483811" cy="111984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7D84026-9BE6-884E-38F4-B52D229E36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9177" y="4328658"/>
            <a:ext cx="1483811" cy="11232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E0D6A76-92CC-5CC8-970D-66FE30C95D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84656" y="5507328"/>
            <a:ext cx="645665" cy="46228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12F40109-547D-B640-0C0A-000E3F6E844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0551" y="5591937"/>
            <a:ext cx="1150684" cy="276747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0AE7CB84-109B-375E-2DFF-A0BD83AF7468}"/>
              </a:ext>
            </a:extLst>
          </p:cNvPr>
          <p:cNvGrpSpPr/>
          <p:nvPr/>
        </p:nvGrpSpPr>
        <p:grpSpPr>
          <a:xfrm>
            <a:off x="1071445" y="4436825"/>
            <a:ext cx="987912" cy="1498911"/>
            <a:chOff x="1053515" y="4705766"/>
            <a:chExt cx="987912" cy="1498911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75EF0DA2-43C1-556D-FFBF-856AC3F2AB14}"/>
                </a:ext>
              </a:extLst>
            </p:cNvPr>
            <p:cNvSpPr/>
            <p:nvPr/>
          </p:nvSpPr>
          <p:spPr>
            <a:xfrm>
              <a:off x="1097945" y="5793828"/>
              <a:ext cx="943010" cy="410849"/>
            </a:xfrm>
            <a:prstGeom prst="roundRect">
              <a:avLst>
                <a:gd name="adj" fmla="val 5824"/>
              </a:avLst>
            </a:prstGeom>
            <a:solidFill>
              <a:srgbClr val="3BC5FF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前端开发</a:t>
              </a:r>
            </a:p>
          </p:txBody>
        </p:sp>
        <p:pic>
          <p:nvPicPr>
            <p:cNvPr id="32" name="图片 31" descr="图标&#10;&#10;描述已自动生成">
              <a:extLst>
                <a:ext uri="{FF2B5EF4-FFF2-40B4-BE49-F238E27FC236}">
                  <a16:creationId xmlns:a16="http://schemas.microsoft.com/office/drawing/2014/main" id="{F7983F77-0542-CB31-1F32-613D0C13A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515" y="4705766"/>
              <a:ext cx="987912" cy="987912"/>
            </a:xfrm>
            <a:prstGeom prst="rect">
              <a:avLst/>
            </a:prstGeom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0EE68AB-DFD7-E07A-EF8F-D4A6FD86B58B}"/>
              </a:ext>
            </a:extLst>
          </p:cNvPr>
          <p:cNvGrpSpPr/>
          <p:nvPr/>
        </p:nvGrpSpPr>
        <p:grpSpPr>
          <a:xfrm>
            <a:off x="9936932" y="4426291"/>
            <a:ext cx="1117658" cy="1496808"/>
            <a:chOff x="9919002" y="4695232"/>
            <a:chExt cx="1117658" cy="1496808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05793134-CBF2-2EDE-179C-B767EDA34C41}"/>
                </a:ext>
              </a:extLst>
            </p:cNvPr>
            <p:cNvSpPr/>
            <p:nvPr/>
          </p:nvSpPr>
          <p:spPr>
            <a:xfrm>
              <a:off x="9919002" y="5781191"/>
              <a:ext cx="1117658" cy="410849"/>
            </a:xfrm>
            <a:prstGeom prst="roundRect">
              <a:avLst>
                <a:gd name="adj" fmla="val 5824"/>
              </a:avLst>
            </a:prstGeom>
            <a:solidFill>
              <a:srgbClr val="3BC5FF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后端开发</a:t>
              </a:r>
            </a:p>
          </p:txBody>
        </p:sp>
        <p:pic>
          <p:nvPicPr>
            <p:cNvPr id="35" name="图片 34" descr="图标&#10;&#10;描述已自动生成">
              <a:extLst>
                <a:ext uri="{FF2B5EF4-FFF2-40B4-BE49-F238E27FC236}">
                  <a16:creationId xmlns:a16="http://schemas.microsoft.com/office/drawing/2014/main" id="{2F67C0C5-0295-2CB7-D5F4-C26232989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9734" y="4695232"/>
              <a:ext cx="1074557" cy="1167026"/>
            </a:xfrm>
            <a:prstGeom prst="rect">
              <a:avLst/>
            </a:prstGeom>
          </p:spPr>
        </p:pic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E11A54B7-FB40-47A0-CC2D-63ECD21170ED}"/>
              </a:ext>
            </a:extLst>
          </p:cNvPr>
          <p:cNvSpPr txBox="1"/>
          <p:nvPr/>
        </p:nvSpPr>
        <p:spPr>
          <a:xfrm>
            <a:off x="5427772" y="4800705"/>
            <a:ext cx="1000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C00000"/>
                </a:solidFill>
              </a:rPr>
              <a:t>Restful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64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Restful</a:t>
            </a:r>
            <a:endParaRPr lang="zh-CN" altLang="en-US"/>
          </a:p>
        </p:txBody>
      </p:sp>
      <p:sp>
        <p:nvSpPr>
          <p:cNvPr id="4" name="文本占位符 4">
            <a:extLst>
              <a:ext uri="{FF2B5EF4-FFF2-40B4-BE49-F238E27FC236}">
                <a16:creationId xmlns:a16="http://schemas.microsoft.com/office/drawing/2014/main" id="{A0549F59-32D4-FFA2-DB53-4D167E4C6FE9}"/>
              </a:ext>
            </a:extLst>
          </p:cNvPr>
          <p:cNvSpPr txBox="1">
            <a:spLocks/>
          </p:cNvSpPr>
          <p:nvPr/>
        </p:nvSpPr>
        <p:spPr>
          <a:xfrm>
            <a:off x="576196" y="1041498"/>
            <a:ext cx="10698800" cy="5171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ea typeface="Optima-Regular"/>
              </a:rPr>
              <a:t>REST</a:t>
            </a:r>
            <a:r>
              <a:rPr lang="zh-CN" altLang="en-US" sz="1600">
                <a:solidFill>
                  <a:srgbClr val="000000"/>
                </a:solidFill>
                <a:ea typeface="Optima-Regular"/>
              </a:rPr>
              <a:t>（</a:t>
            </a:r>
            <a:r>
              <a:rPr lang="en-US" altLang="zh-CN" sz="1600">
                <a:solidFill>
                  <a:srgbClr val="C00000"/>
                </a:solidFill>
                <a:ea typeface="Optima-Regular"/>
              </a:rPr>
              <a:t>RE</a:t>
            </a:r>
            <a:r>
              <a:rPr lang="en-US" altLang="zh-CN" sz="1600">
                <a:solidFill>
                  <a:srgbClr val="000000"/>
                </a:solidFill>
                <a:ea typeface="Optima-Regular"/>
              </a:rPr>
              <a:t>presentational </a:t>
            </a:r>
            <a:r>
              <a:rPr lang="en-US" altLang="zh-CN" sz="1600">
                <a:solidFill>
                  <a:srgbClr val="C00000"/>
                </a:solidFill>
                <a:ea typeface="Optima-Regular"/>
              </a:rPr>
              <a:t>S</a:t>
            </a:r>
            <a:r>
              <a:rPr lang="en-US" altLang="zh-CN" sz="1600">
                <a:solidFill>
                  <a:srgbClr val="000000"/>
                </a:solidFill>
                <a:ea typeface="Optima-Regular"/>
              </a:rPr>
              <a:t>tate </a:t>
            </a:r>
            <a:r>
              <a:rPr lang="en-US" altLang="zh-CN" sz="1600">
                <a:solidFill>
                  <a:srgbClr val="C00000"/>
                </a:solidFill>
                <a:ea typeface="Optima-Regular"/>
              </a:rPr>
              <a:t>T</a:t>
            </a:r>
            <a:r>
              <a:rPr lang="en-US" altLang="zh-CN" sz="1600">
                <a:solidFill>
                  <a:srgbClr val="000000"/>
                </a:solidFill>
                <a:ea typeface="Optima-Regular"/>
              </a:rPr>
              <a:t>ransfer</a:t>
            </a:r>
            <a:r>
              <a:rPr lang="zh-CN" altLang="en-US" sz="1600">
                <a:solidFill>
                  <a:srgbClr val="000000"/>
                </a:solidFill>
                <a:ea typeface="Optima-Regular"/>
              </a:rPr>
              <a:t>），</a:t>
            </a:r>
            <a:r>
              <a:rPr lang="zh-CN" altLang="en-US">
                <a:solidFill>
                  <a:srgbClr val="000000"/>
                </a:solidFill>
                <a:ea typeface="Optima-Regular"/>
              </a:rPr>
              <a:t>表述性</a:t>
            </a:r>
            <a:r>
              <a:rPr lang="zh-CN" altLang="en-US" sz="1600">
                <a:solidFill>
                  <a:srgbClr val="000000"/>
                </a:solidFill>
                <a:ea typeface="Optima-Regular"/>
              </a:rPr>
              <a:t>状态转换</a:t>
            </a:r>
            <a:r>
              <a:rPr lang="zh-CN" altLang="en-US">
                <a:solidFill>
                  <a:srgbClr val="000000"/>
                </a:solidFill>
                <a:ea typeface="Optima-Regular"/>
              </a:rPr>
              <a:t>，</a:t>
            </a:r>
            <a:r>
              <a:rPr lang="zh-CN" altLang="en-US" sz="1600">
                <a:solidFill>
                  <a:srgbClr val="000000"/>
                </a:solidFill>
                <a:ea typeface="Optima-Regular"/>
              </a:rPr>
              <a:t>它是一种软件架构风格。</a:t>
            </a:r>
            <a:endParaRPr lang="zh-CN" altLang="zh-CN" sz="2000"/>
          </a:p>
        </p:txBody>
      </p:sp>
      <p:graphicFrame>
        <p:nvGraphicFramePr>
          <p:cNvPr id="5" name="表格 2">
            <a:extLst>
              <a:ext uri="{FF2B5EF4-FFF2-40B4-BE49-F238E27FC236}">
                <a16:creationId xmlns:a16="http://schemas.microsoft.com/office/drawing/2014/main" id="{E4425C5A-98A7-5D61-2963-278F4FE15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041588"/>
              </p:ext>
            </p:extLst>
          </p:nvPr>
        </p:nvGraphicFramePr>
        <p:xfrm>
          <a:off x="929361" y="1637748"/>
          <a:ext cx="10345635" cy="23400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4281017">
                  <a:extLst>
                    <a:ext uri="{9D8B030D-6E8A-4147-A177-3AD203B41FA5}">
                      <a16:colId xmlns:a16="http://schemas.microsoft.com/office/drawing/2014/main" val="2557866498"/>
                    </a:ext>
                  </a:extLst>
                </a:gridCol>
                <a:gridCol w="1420464">
                  <a:extLst>
                    <a:ext uri="{9D8B030D-6E8A-4147-A177-3AD203B41FA5}">
                      <a16:colId xmlns:a16="http://schemas.microsoft.com/office/drawing/2014/main" val="208312605"/>
                    </a:ext>
                  </a:extLst>
                </a:gridCol>
                <a:gridCol w="2322077">
                  <a:extLst>
                    <a:ext uri="{9D8B030D-6E8A-4147-A177-3AD203B41FA5}">
                      <a16:colId xmlns:a16="http://schemas.microsoft.com/office/drawing/2014/main" val="1601882693"/>
                    </a:ext>
                  </a:extLst>
                </a:gridCol>
                <a:gridCol w="2322077">
                  <a:extLst>
                    <a:ext uri="{9D8B030D-6E8A-4147-A177-3AD203B41FA5}">
                      <a16:colId xmlns:a16="http://schemas.microsoft.com/office/drawing/2014/main" val="107450979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传统风格</a:t>
                      </a:r>
                      <a:r>
                        <a:rPr lang="en-US" altLang="zh-CN" sz="14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url</a:t>
                      </a:r>
                      <a:endParaRPr lang="zh-CN" altLang="en-US" sz="1400" b="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4D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请求方式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4D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4D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备注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4D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920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http://localhost:8080/user/getById?id=1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GET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查询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0">
                          <a:solidFill>
                            <a:srgbClr val="C00000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不规范</a:t>
                      </a:r>
                      <a:endParaRPr lang="en-US" altLang="zh-CN" sz="2400" b="0">
                        <a:solidFill>
                          <a:srgbClr val="C00000"/>
                        </a:solidFill>
                        <a:latin typeface="汉仪尚巍流云体简" panose="00020600040101010101" pitchFamily="18" charset="-122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400" b="0">
                          <a:solidFill>
                            <a:srgbClr val="C00000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难维护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702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http://localhost:8080/user/saveUser</a:t>
                      </a:r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POST</a:t>
                      </a:r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新增用户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70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http://localhost:8080/user/updateUser</a:t>
                      </a:r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POST</a:t>
                      </a:r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1954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http://localhost:8080/user/deleteUser?id=1</a:t>
                      </a:r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GET</a:t>
                      </a:r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62197"/>
                  </a:ext>
                </a:extLst>
              </a:tr>
            </a:tbl>
          </a:graphicData>
        </a:graphic>
      </p:graphicFrame>
      <p:graphicFrame>
        <p:nvGraphicFramePr>
          <p:cNvPr id="6" name="!!表格 3">
            <a:extLst>
              <a:ext uri="{FF2B5EF4-FFF2-40B4-BE49-F238E27FC236}">
                <a16:creationId xmlns:a16="http://schemas.microsoft.com/office/drawing/2014/main" id="{62EE3284-4F5D-5808-F079-6E6BFB457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749925"/>
              </p:ext>
            </p:extLst>
          </p:nvPr>
        </p:nvGraphicFramePr>
        <p:xfrm>
          <a:off x="929360" y="4281679"/>
          <a:ext cx="10345636" cy="23400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4153415">
                  <a:extLst>
                    <a:ext uri="{9D8B030D-6E8A-4147-A177-3AD203B41FA5}">
                      <a16:colId xmlns:a16="http://schemas.microsoft.com/office/drawing/2014/main" val="2557866498"/>
                    </a:ext>
                  </a:extLst>
                </a:gridCol>
                <a:gridCol w="1353670">
                  <a:extLst>
                    <a:ext uri="{9D8B030D-6E8A-4147-A177-3AD203B41FA5}">
                      <a16:colId xmlns:a16="http://schemas.microsoft.com/office/drawing/2014/main" val="208312605"/>
                    </a:ext>
                  </a:extLst>
                </a:gridCol>
                <a:gridCol w="2528047">
                  <a:extLst>
                    <a:ext uri="{9D8B030D-6E8A-4147-A177-3AD203B41FA5}">
                      <a16:colId xmlns:a16="http://schemas.microsoft.com/office/drawing/2014/main" val="1601882693"/>
                    </a:ext>
                  </a:extLst>
                </a:gridCol>
                <a:gridCol w="2310504">
                  <a:extLst>
                    <a:ext uri="{9D8B030D-6E8A-4147-A177-3AD203B41FA5}">
                      <a16:colId xmlns:a16="http://schemas.microsoft.com/office/drawing/2014/main" val="377734249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REST</a:t>
                      </a:r>
                      <a:r>
                        <a:rPr lang="zh-CN" altLang="en-US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风格</a:t>
                      </a:r>
                      <a:r>
                        <a:rPr lang="en-US" altLang="zh-CN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url</a:t>
                      </a:r>
                      <a:endParaRPr lang="zh-CN" altLang="en-US" sz="14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请求方式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备注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920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http://localhost:8080/users/1</a:t>
                      </a:r>
                      <a:endParaRPr lang="zh-CN" altLang="en-US" sz="12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GET</a:t>
                      </a:r>
                      <a:endParaRPr lang="zh-CN" altLang="en-US" sz="12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查询</a:t>
                      </a:r>
                      <a:r>
                        <a:rPr lang="en-US" altLang="zh-CN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0">
                          <a:solidFill>
                            <a:srgbClr val="42B883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URL</a:t>
                      </a:r>
                      <a:r>
                        <a:rPr lang="zh-CN" altLang="en-US" sz="1800" b="0">
                          <a:solidFill>
                            <a:srgbClr val="42B883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定位资源</a:t>
                      </a:r>
                      <a:endParaRPr lang="en-US" altLang="zh-CN" sz="1800" b="0">
                        <a:solidFill>
                          <a:srgbClr val="42B883"/>
                        </a:solidFill>
                        <a:latin typeface="汉仪尚巍流云体简" panose="00020600040101010101" pitchFamily="18" charset="-122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0">
                          <a:solidFill>
                            <a:srgbClr val="42B883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HTTP</a:t>
                      </a:r>
                      <a:r>
                        <a:rPr lang="zh-CN" altLang="en-US" sz="1800" b="0">
                          <a:solidFill>
                            <a:srgbClr val="42B883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动词描述操作</a:t>
                      </a:r>
                      <a:endParaRPr lang="en-US" altLang="zh-CN" sz="1800" b="0">
                        <a:solidFill>
                          <a:srgbClr val="42B883"/>
                        </a:solidFill>
                        <a:latin typeface="汉仪尚巍流云体简" panose="00020600040101010101" pitchFamily="18" charset="-122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800" b="0">
                        <a:solidFill>
                          <a:srgbClr val="42B883"/>
                        </a:solidFill>
                        <a:latin typeface="汉仪尚巍流云体简" panose="00020600040101010101" pitchFamily="18" charset="-122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b="0">
                          <a:solidFill>
                            <a:srgbClr val="42B883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简洁、规范、优雅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702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http://localhost:8080/users/1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DELETE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70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http://localhost:8080/users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POST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新增用户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1954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http://localhost:8080/users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PUT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62197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4D041C7E-622D-689C-A008-7227AF891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563" y="1619818"/>
            <a:ext cx="2466247" cy="240533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2F8BDBB-515A-6D05-CBD4-C29BA45E6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563" y="4274400"/>
            <a:ext cx="2466247" cy="240533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2E51F77-6311-161F-9E81-78452E16D105}"/>
              </a:ext>
            </a:extLst>
          </p:cNvPr>
          <p:cNvSpPr txBox="1"/>
          <p:nvPr/>
        </p:nvSpPr>
        <p:spPr>
          <a:xfrm>
            <a:off x="9230622" y="1942466"/>
            <a:ext cx="1898127" cy="2115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</a:rPr>
              <a:t>/user/addUser</a:t>
            </a: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</a:rPr>
              <a:t>/user/add</a:t>
            </a: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</a:rPr>
              <a:t>/user/insertUser</a:t>
            </a: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</a:rPr>
              <a:t>/user/insert</a:t>
            </a: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</a:rPr>
              <a:t>/user/saveUser</a:t>
            </a: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</a:rPr>
              <a:t>/user/save</a:t>
            </a:r>
            <a:endParaRPr lang="zh-CN" altLang="en-US" sz="1200" dirty="0"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69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Restful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5408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Optima-Regular"/>
              </a:rPr>
              <a:t>REST</a:t>
            </a: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Optima-Regular"/>
              </a:rPr>
              <a:t>（</a:t>
            </a: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Optima-Regular"/>
              </a:rPr>
              <a:t>REpresentational State Transfer</a:t>
            </a: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Optima-Regular"/>
              </a:rPr>
              <a:t>），</a:t>
            </a:r>
            <a:r>
              <a:rPr lang="zh-CN" altLang="en-US">
                <a:solidFill>
                  <a:srgbClr val="000000"/>
                </a:solidFill>
                <a:ea typeface="Optima-Regular"/>
              </a:rPr>
              <a:t>表述性</a:t>
            </a: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Optima-Regular"/>
              </a:rPr>
              <a:t>状态转换</a:t>
            </a:r>
            <a:r>
              <a:rPr lang="zh-CN" altLang="en-US">
                <a:solidFill>
                  <a:srgbClr val="000000"/>
                </a:solidFill>
                <a:ea typeface="Optima-Regular"/>
              </a:rPr>
              <a:t>，</a:t>
            </a: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ea typeface="Optima-Regular"/>
              </a:rPr>
              <a:t>它是一种软件架构风格。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4" name="!!表格 3">
            <a:extLst>
              <a:ext uri="{FF2B5EF4-FFF2-40B4-BE49-F238E27FC236}">
                <a16:creationId xmlns:a16="http://schemas.microsoft.com/office/drawing/2014/main" id="{365AE132-A3A5-C1D4-F408-426EB68A5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039857"/>
              </p:ext>
            </p:extLst>
          </p:nvPr>
        </p:nvGraphicFramePr>
        <p:xfrm>
          <a:off x="978057" y="1497106"/>
          <a:ext cx="10345636" cy="23400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4153415">
                  <a:extLst>
                    <a:ext uri="{9D8B030D-6E8A-4147-A177-3AD203B41FA5}">
                      <a16:colId xmlns:a16="http://schemas.microsoft.com/office/drawing/2014/main" val="2557866498"/>
                    </a:ext>
                  </a:extLst>
                </a:gridCol>
                <a:gridCol w="1353670">
                  <a:extLst>
                    <a:ext uri="{9D8B030D-6E8A-4147-A177-3AD203B41FA5}">
                      <a16:colId xmlns:a16="http://schemas.microsoft.com/office/drawing/2014/main" val="208312605"/>
                    </a:ext>
                  </a:extLst>
                </a:gridCol>
                <a:gridCol w="2528047">
                  <a:extLst>
                    <a:ext uri="{9D8B030D-6E8A-4147-A177-3AD203B41FA5}">
                      <a16:colId xmlns:a16="http://schemas.microsoft.com/office/drawing/2014/main" val="1601882693"/>
                    </a:ext>
                  </a:extLst>
                </a:gridCol>
                <a:gridCol w="2310504">
                  <a:extLst>
                    <a:ext uri="{9D8B030D-6E8A-4147-A177-3AD203B41FA5}">
                      <a16:colId xmlns:a16="http://schemas.microsoft.com/office/drawing/2014/main" val="377734249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REST</a:t>
                      </a:r>
                      <a:r>
                        <a:rPr lang="zh-CN" altLang="en-US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风格</a:t>
                      </a:r>
                      <a:r>
                        <a:rPr lang="en-US" altLang="zh-CN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url</a:t>
                      </a:r>
                      <a:endParaRPr lang="zh-CN" altLang="en-US" sz="14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请求方式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备注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920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http://localhost:8080/users/1</a:t>
                      </a:r>
                      <a:endParaRPr lang="zh-CN" altLang="en-US" sz="12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GET</a:t>
                      </a:r>
                      <a:endParaRPr lang="zh-CN" altLang="en-US" sz="12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查询</a:t>
                      </a:r>
                      <a:r>
                        <a:rPr lang="en-US" altLang="zh-CN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0">
                          <a:solidFill>
                            <a:srgbClr val="42B883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URL</a:t>
                      </a:r>
                      <a:r>
                        <a:rPr lang="zh-CN" altLang="en-US" sz="1800" b="0">
                          <a:solidFill>
                            <a:srgbClr val="42B883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定位资源</a:t>
                      </a:r>
                      <a:endParaRPr lang="en-US" altLang="zh-CN" sz="1800" b="0">
                        <a:solidFill>
                          <a:srgbClr val="42B883"/>
                        </a:solidFill>
                        <a:latin typeface="汉仪尚巍流云体简" panose="00020600040101010101" pitchFamily="18" charset="-122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0">
                          <a:solidFill>
                            <a:srgbClr val="42B883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HTTP</a:t>
                      </a:r>
                      <a:r>
                        <a:rPr lang="zh-CN" altLang="en-US" sz="1800" b="0">
                          <a:solidFill>
                            <a:srgbClr val="42B883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动词描述操作</a:t>
                      </a:r>
                      <a:endParaRPr lang="en-US" altLang="zh-CN" sz="1800" b="0">
                        <a:solidFill>
                          <a:srgbClr val="42B883"/>
                        </a:solidFill>
                        <a:latin typeface="汉仪尚巍流云体简" panose="00020600040101010101" pitchFamily="18" charset="-122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800" b="0">
                        <a:solidFill>
                          <a:srgbClr val="42B883"/>
                        </a:solidFill>
                        <a:latin typeface="汉仪尚巍流云体简" panose="00020600040101010101" pitchFamily="18" charset="-122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000" b="0">
                          <a:solidFill>
                            <a:srgbClr val="42B883"/>
                          </a:solidFill>
                          <a:latin typeface="汉仪尚巍流云体简" panose="00020600040101010101" pitchFamily="18" charset="-122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简洁、规范、优雅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702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http://localhost:8080/users/1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DELETE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70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http://localhost:8080/users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POST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新增用户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1954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http://localhost:8080/users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PUT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修改用户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62197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32AA0E3A-2D84-5DA4-3EB2-A23E9EF68529}"/>
              </a:ext>
            </a:extLst>
          </p:cNvPr>
          <p:cNvGrpSpPr/>
          <p:nvPr/>
        </p:nvGrpSpPr>
        <p:grpSpPr>
          <a:xfrm>
            <a:off x="978057" y="5927402"/>
            <a:ext cx="10345636" cy="687957"/>
            <a:chOff x="710879" y="5978767"/>
            <a:chExt cx="10040025" cy="687957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AE7A123-5216-1243-322D-0230A62B09CD}"/>
                </a:ext>
              </a:extLst>
            </p:cNvPr>
            <p:cNvSpPr/>
            <p:nvPr/>
          </p:nvSpPr>
          <p:spPr>
            <a:xfrm>
              <a:off x="710880" y="5978769"/>
              <a:ext cx="10040024" cy="687955"/>
            </a:xfrm>
            <a:prstGeom prst="roundRect">
              <a:avLst>
                <a:gd name="adj" fmla="val 9333"/>
              </a:avLst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 marL="285750" indent="-285750">
                <a:lnSpc>
                  <a:spcPct val="150000"/>
                </a:lnSpc>
                <a:buFont typeface="+mj-lt"/>
                <a:buAutoNum type="arabicPeriod"/>
              </a:pPr>
              <a:r>
                <a:rPr lang="en-US" altLang="zh-CN" sz="1400">
                  <a:solidFill>
                    <a:srgbClr val="C0000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REST</a:t>
              </a:r>
              <a:r>
                <a:rPr lang="zh-CN" altLang="en-US" sz="1400">
                  <a:solidFill>
                    <a:srgbClr val="C0000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是风格，是约定方式，约定不是规定，可以打破。 </a:t>
              </a:r>
              <a:endParaRPr lang="en-US" altLang="zh-CN" sz="1400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marL="285750" indent="-285750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>
                  <a:solidFill>
                    <a:srgbClr val="C0000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描述功能模块通常使用复数形式（加</a:t>
              </a:r>
              <a:r>
                <a:rPr lang="en-US" altLang="zh-CN" sz="1400">
                  <a:solidFill>
                    <a:srgbClr val="C0000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s</a:t>
              </a:r>
              <a:r>
                <a:rPr lang="zh-CN" altLang="en-US" sz="1400">
                  <a:solidFill>
                    <a:srgbClr val="C0000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），表示此类资源，而非单个资源。如：</a:t>
              </a:r>
              <a:r>
                <a:rPr lang="en-US" altLang="zh-CN" sz="1400">
                  <a:solidFill>
                    <a:srgbClr val="C0000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users</a:t>
              </a:r>
              <a:r>
                <a:rPr lang="zh-CN" altLang="en-US" sz="1400">
                  <a:solidFill>
                    <a:srgbClr val="C0000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、</a:t>
              </a:r>
              <a:r>
                <a:rPr lang="en-US" altLang="zh-CN" sz="1400">
                  <a:solidFill>
                    <a:srgbClr val="C0000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books...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18BADAA7-16E2-918F-CA5B-15860BA3A836}"/>
                </a:ext>
              </a:extLst>
            </p:cNvPr>
            <p:cNvSpPr/>
            <p:nvPr/>
          </p:nvSpPr>
          <p:spPr>
            <a:xfrm rot="16200000">
              <a:off x="880947" y="5808699"/>
              <a:ext cx="687954" cy="1028089"/>
            </a:xfrm>
            <a:prstGeom prst="round2SameRect">
              <a:avLst>
                <a:gd name="adj1" fmla="val 10555"/>
                <a:gd name="adj2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Shape 2468">
              <a:extLst>
                <a:ext uri="{FF2B5EF4-FFF2-40B4-BE49-F238E27FC236}">
                  <a16:creationId xmlns:a16="http://schemas.microsoft.com/office/drawing/2014/main" id="{32FC9792-48A4-9805-46D4-52EB5F78A318}"/>
                </a:ext>
              </a:extLst>
            </p:cNvPr>
            <p:cNvSpPr/>
            <p:nvPr/>
          </p:nvSpPr>
          <p:spPr>
            <a:xfrm>
              <a:off x="825974" y="6231355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C524EC0-3C85-B1EB-DEDF-4B372B96F634}"/>
                </a:ext>
              </a:extLst>
            </p:cNvPr>
            <p:cNvSpPr txBox="1"/>
            <p:nvPr/>
          </p:nvSpPr>
          <p:spPr>
            <a:xfrm>
              <a:off x="1085207" y="6198979"/>
              <a:ext cx="579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9498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E12ADA-CD01-065E-0FFF-416F54458D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REST</a:t>
            </a:r>
            <a:r>
              <a:rPr lang="zh-CN" altLang="en-US" sz="1800"/>
              <a:t>风格的特点 </a:t>
            </a:r>
            <a:r>
              <a:rPr lang="en-US" altLang="zh-CN" sz="1800"/>
              <a:t>?</a:t>
            </a: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URL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定义资源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HTTP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动词描述操作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REST</a:t>
            </a:r>
            <a:r>
              <a:rPr lang="zh-CN" altLang="en-US" sz="1800"/>
              <a:t>风格中的四种请求方式及对应的操作</a:t>
            </a:r>
            <a:r>
              <a:rPr lang="en-US" altLang="zh-CN" sz="1800"/>
              <a:t>?</a:t>
            </a: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GET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：查询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POST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：新增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PUT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：修改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DELETE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：删除</a:t>
            </a:r>
          </a:p>
        </p:txBody>
      </p:sp>
    </p:spTree>
    <p:extLst>
      <p:ext uri="{BB962C8B-B14F-4D97-AF65-F5344CB8AC3E}">
        <p14:creationId xmlns:p14="http://schemas.microsoft.com/office/powerpoint/2010/main" val="283682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47B8BB6-3050-D879-9998-69644097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Apifox</a:t>
            </a:r>
            <a:endParaRPr lang="zh-CN" altLang="en-US"/>
          </a:p>
        </p:txBody>
      </p:sp>
      <p:sp>
        <p:nvSpPr>
          <p:cNvPr id="30" name="文本占位符 56">
            <a:extLst>
              <a:ext uri="{FF2B5EF4-FFF2-40B4-BE49-F238E27FC236}">
                <a16:creationId xmlns:a16="http://schemas.microsoft.com/office/drawing/2014/main" id="{A6C1B849-72C8-8A83-83CD-B720468DF9A6}"/>
              </a:ext>
            </a:extLst>
          </p:cNvPr>
          <p:cNvSpPr txBox="1">
            <a:spLocks/>
          </p:cNvSpPr>
          <p:nvPr/>
        </p:nvSpPr>
        <p:spPr>
          <a:xfrm>
            <a:off x="710880" y="5207279"/>
            <a:ext cx="7286724" cy="12553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思考：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前后端都在并行开发，后端开发完对应的接口之后，如何对接口进行请求测试呢？</a:t>
            </a:r>
            <a:endParaRPr lang="en-US" altLang="zh-CN" sz="140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前后端都在并行开发，前端开发过程中，如何获取到数据，测试页面的渲染展示呢？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B0C700A0-79A3-EC66-602D-C820C998A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373" y="5424501"/>
            <a:ext cx="943711" cy="1038081"/>
          </a:xfrm>
          <a:prstGeom prst="rect">
            <a:avLst/>
          </a:prstGeom>
          <a:ln>
            <a:noFill/>
          </a:ln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D9E7E46-7508-23F3-D654-E2BA56099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8607" y="5424501"/>
            <a:ext cx="811828" cy="1042049"/>
          </a:xfrm>
          <a:prstGeom prst="rect">
            <a:avLst/>
          </a:prstGeom>
          <a:ln>
            <a:noFill/>
          </a:ln>
        </p:spPr>
      </p:pic>
      <p:sp>
        <p:nvSpPr>
          <p:cNvPr id="33" name="流程图: 多文档 32">
            <a:extLst>
              <a:ext uri="{FF2B5EF4-FFF2-40B4-BE49-F238E27FC236}">
                <a16:creationId xmlns:a16="http://schemas.microsoft.com/office/drawing/2014/main" id="{EA63697D-24E1-AB61-E2BC-F5A1B69D556A}"/>
              </a:ext>
            </a:extLst>
          </p:cNvPr>
          <p:cNvSpPr/>
          <p:nvPr/>
        </p:nvSpPr>
        <p:spPr>
          <a:xfrm>
            <a:off x="5123368" y="1955962"/>
            <a:ext cx="1165076" cy="751168"/>
          </a:xfrm>
          <a:prstGeom prst="flowChartMultidocument">
            <a:avLst/>
          </a:prstGeom>
          <a:solidFill>
            <a:srgbClr val="7030A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接口文档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BA1738B-B265-F02D-46FC-B8B092BB277B}"/>
              </a:ext>
            </a:extLst>
          </p:cNvPr>
          <p:cNvCxnSpPr>
            <a:cxnSpLocks/>
          </p:cNvCxnSpPr>
          <p:nvPr/>
        </p:nvCxnSpPr>
        <p:spPr>
          <a:xfrm flipV="1">
            <a:off x="2271996" y="2329299"/>
            <a:ext cx="2774721" cy="910990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D4D5824-5025-7C5C-A6D2-A1EB128BF702}"/>
              </a:ext>
            </a:extLst>
          </p:cNvPr>
          <p:cNvCxnSpPr>
            <a:cxnSpLocks/>
          </p:cNvCxnSpPr>
          <p:nvPr/>
        </p:nvCxnSpPr>
        <p:spPr>
          <a:xfrm>
            <a:off x="6365094" y="2329299"/>
            <a:ext cx="3088985" cy="894816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8FAB489-8D42-B7C4-2665-7025B5503C32}"/>
              </a:ext>
            </a:extLst>
          </p:cNvPr>
          <p:cNvGrpSpPr/>
          <p:nvPr/>
        </p:nvGrpSpPr>
        <p:grpSpPr>
          <a:xfrm>
            <a:off x="4065601" y="3411125"/>
            <a:ext cx="3648529" cy="275844"/>
            <a:chOff x="3968496" y="5028495"/>
            <a:chExt cx="4352544" cy="329071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54FACE1-458E-3D8D-8A17-A059C81596BD}"/>
                </a:ext>
              </a:extLst>
            </p:cNvPr>
            <p:cNvCxnSpPr/>
            <p:nvPr/>
          </p:nvCxnSpPr>
          <p:spPr>
            <a:xfrm>
              <a:off x="3968496" y="5357566"/>
              <a:ext cx="43525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324EFE0-C12C-F3C1-82B2-5033F13CCA73}"/>
                </a:ext>
              </a:extLst>
            </p:cNvPr>
            <p:cNvSpPr txBox="1"/>
            <p:nvPr/>
          </p:nvSpPr>
          <p:spPr>
            <a:xfrm>
              <a:off x="5771291" y="5028495"/>
              <a:ext cx="5592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11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94CD3F8-56AA-BBA5-9715-F0D1F302F04C}"/>
              </a:ext>
            </a:extLst>
          </p:cNvPr>
          <p:cNvGrpSpPr/>
          <p:nvPr/>
        </p:nvGrpSpPr>
        <p:grpSpPr>
          <a:xfrm>
            <a:off x="4065601" y="3998678"/>
            <a:ext cx="3648529" cy="233550"/>
            <a:chOff x="3968496" y="5729422"/>
            <a:chExt cx="4352544" cy="278615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25DF0031-B6A9-BC3B-7A36-699388C08AD5}"/>
                </a:ext>
              </a:extLst>
            </p:cNvPr>
            <p:cNvCxnSpPr/>
            <p:nvPr/>
          </p:nvCxnSpPr>
          <p:spPr>
            <a:xfrm>
              <a:off x="3968496" y="5729422"/>
              <a:ext cx="435254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700AEE0-CD87-2C5B-322A-E2EFF277EC28}"/>
                </a:ext>
              </a:extLst>
            </p:cNvPr>
            <p:cNvSpPr txBox="1"/>
            <p:nvPr/>
          </p:nvSpPr>
          <p:spPr>
            <a:xfrm>
              <a:off x="5765159" y="5746427"/>
              <a:ext cx="5592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11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BAB34A6A-0FAD-3339-3F0B-C9706EAF42DC}"/>
              </a:ext>
            </a:extLst>
          </p:cNvPr>
          <p:cNvSpPr txBox="1"/>
          <p:nvPr/>
        </p:nvSpPr>
        <p:spPr>
          <a:xfrm>
            <a:off x="7773664" y="2518712"/>
            <a:ext cx="853565" cy="21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1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BD74A43-B8F2-50C7-A1FB-C28DD0590B87}"/>
              </a:ext>
            </a:extLst>
          </p:cNvPr>
          <p:cNvSpPr txBox="1"/>
          <p:nvPr/>
        </p:nvSpPr>
        <p:spPr>
          <a:xfrm>
            <a:off x="2998988" y="2518712"/>
            <a:ext cx="853565" cy="21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1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: 对角圆角 43">
            <a:extLst>
              <a:ext uri="{FF2B5EF4-FFF2-40B4-BE49-F238E27FC236}">
                <a16:creationId xmlns:a16="http://schemas.microsoft.com/office/drawing/2014/main" id="{2E232548-76CC-3A54-3E23-A403FFE604F2}"/>
              </a:ext>
            </a:extLst>
          </p:cNvPr>
          <p:cNvSpPr/>
          <p:nvPr/>
        </p:nvSpPr>
        <p:spPr>
          <a:xfrm>
            <a:off x="5019779" y="975949"/>
            <a:ext cx="1372254" cy="458469"/>
          </a:xfrm>
          <a:prstGeom prst="round2DiagRect">
            <a:avLst/>
          </a:prstGeom>
          <a:solidFill>
            <a:srgbClr val="00206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原型</a:t>
            </a:r>
            <a:r>
              <a:rPr lang="en-US" altLang="zh-CN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B91D680-9EB2-D04E-85A3-EC7F6DC1ED5E}"/>
              </a:ext>
            </a:extLst>
          </p:cNvPr>
          <p:cNvCxnSpPr>
            <a:cxnSpLocks/>
          </p:cNvCxnSpPr>
          <p:nvPr/>
        </p:nvCxnSpPr>
        <p:spPr>
          <a:xfrm>
            <a:off x="5705906" y="1436952"/>
            <a:ext cx="0" cy="519010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>
            <a:extLst>
              <a:ext uri="{FF2B5EF4-FFF2-40B4-BE49-F238E27FC236}">
                <a16:creationId xmlns:a16="http://schemas.microsoft.com/office/drawing/2014/main" id="{9EEFEE87-1BAB-A2A0-F664-941CD5DF0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r="5942"/>
          <a:stretch>
            <a:fillRect/>
          </a:stretch>
        </p:blipFill>
        <p:spPr>
          <a:xfrm>
            <a:off x="2978782" y="3871501"/>
            <a:ext cx="212685" cy="24136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9A891A46-1AA8-EBA5-128B-856B55BBA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324" y="3860637"/>
            <a:ext cx="212685" cy="241369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52C21D6D-1314-48CA-2910-C2BC63A321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6355" y="3807885"/>
            <a:ext cx="289436" cy="24941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683C4194-529D-908D-AD05-851E1BE2A8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044" y="3843807"/>
            <a:ext cx="361408" cy="9524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A7BE64E1-DF51-0FFC-6F85-A43318D4D3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3015" y="3863219"/>
            <a:ext cx="212685" cy="241369"/>
          </a:xfrm>
          <a:prstGeom prst="rect">
            <a:avLst/>
          </a:prstGeom>
        </p:spPr>
      </p:pic>
      <p:grpSp>
        <p:nvGrpSpPr>
          <p:cNvPr id="51" name="组合 50">
            <a:extLst>
              <a:ext uri="{FF2B5EF4-FFF2-40B4-BE49-F238E27FC236}">
                <a16:creationId xmlns:a16="http://schemas.microsoft.com/office/drawing/2014/main" id="{3702D5A9-B32C-D60E-BC43-D963C9557170}"/>
              </a:ext>
            </a:extLst>
          </p:cNvPr>
          <p:cNvGrpSpPr/>
          <p:nvPr/>
        </p:nvGrpSpPr>
        <p:grpSpPr>
          <a:xfrm>
            <a:off x="8719189" y="3651893"/>
            <a:ext cx="134814" cy="383827"/>
            <a:chOff x="7552801" y="2926397"/>
            <a:chExt cx="927173" cy="1751936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53E48E57-EFC5-380A-D139-D80252474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52801" y="2926397"/>
              <a:ext cx="898475" cy="1205041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E4503D5E-0E47-C25E-B7E5-B64F9CCD4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52801" y="4184190"/>
              <a:ext cx="927173" cy="494143"/>
            </a:xfrm>
            <a:prstGeom prst="rect">
              <a:avLst/>
            </a:prstGeom>
          </p:spPr>
        </p:pic>
      </p:grpSp>
      <p:pic>
        <p:nvPicPr>
          <p:cNvPr id="54" name="图形 53" descr="数据库 纯色填充">
            <a:extLst>
              <a:ext uri="{FF2B5EF4-FFF2-40B4-BE49-F238E27FC236}">
                <a16:creationId xmlns:a16="http://schemas.microsoft.com/office/drawing/2014/main" id="{4D6AD8CA-D188-DB41-FBBC-4416FED8BD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84952" y="3738662"/>
            <a:ext cx="367078" cy="367078"/>
          </a:xfrm>
          <a:prstGeom prst="rect">
            <a:avLst/>
          </a:prstGeom>
        </p:spPr>
      </p:pic>
      <p:pic>
        <p:nvPicPr>
          <p:cNvPr id="55" name="图片 54" descr="蓝色的标志&#10;&#10;描述已自动生成">
            <a:extLst>
              <a:ext uri="{FF2B5EF4-FFF2-40B4-BE49-F238E27FC236}">
                <a16:creationId xmlns:a16="http://schemas.microsoft.com/office/drawing/2014/main" id="{2E6BEE3D-2695-73D4-4399-C1844A348F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746" y="3323299"/>
            <a:ext cx="1243807" cy="938711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043E9F05-1775-72EC-20E7-73C866D4E64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27023" y="3320454"/>
            <a:ext cx="1243807" cy="941556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688B740A-FBB9-D190-209E-038D018DEAF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0446" y="4308477"/>
            <a:ext cx="541230" cy="387508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73CF8DFA-080A-7AAB-51F8-EF5377E5226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8367" y="4379401"/>
            <a:ext cx="964563" cy="231984"/>
          </a:xfrm>
          <a:prstGeom prst="rect">
            <a:avLst/>
          </a:prstGeom>
        </p:spPr>
      </p:pic>
      <p:grpSp>
        <p:nvGrpSpPr>
          <p:cNvPr id="59" name="组合 58">
            <a:extLst>
              <a:ext uri="{FF2B5EF4-FFF2-40B4-BE49-F238E27FC236}">
                <a16:creationId xmlns:a16="http://schemas.microsoft.com/office/drawing/2014/main" id="{87CB60E3-A15E-1583-3502-4C07FB50CF8A}"/>
              </a:ext>
            </a:extLst>
          </p:cNvPr>
          <p:cNvGrpSpPr/>
          <p:nvPr/>
        </p:nvGrpSpPr>
        <p:grpSpPr>
          <a:xfrm>
            <a:off x="1734832" y="3411126"/>
            <a:ext cx="828119" cy="1256465"/>
            <a:chOff x="1053515" y="4705766"/>
            <a:chExt cx="987912" cy="1498911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A5397A51-7267-D0E9-0AD3-67BE83AD7A54}"/>
                </a:ext>
              </a:extLst>
            </p:cNvPr>
            <p:cNvSpPr/>
            <p:nvPr/>
          </p:nvSpPr>
          <p:spPr>
            <a:xfrm>
              <a:off x="1097945" y="5793828"/>
              <a:ext cx="943010" cy="410849"/>
            </a:xfrm>
            <a:prstGeom prst="roundRect">
              <a:avLst>
                <a:gd name="adj" fmla="val 5824"/>
              </a:avLst>
            </a:prstGeom>
            <a:solidFill>
              <a:srgbClr val="3BC5FF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前端开发</a:t>
              </a:r>
            </a:p>
          </p:txBody>
        </p:sp>
        <p:pic>
          <p:nvPicPr>
            <p:cNvPr id="61" name="图片 60" descr="图标&#10;&#10;描述已自动生成">
              <a:extLst>
                <a:ext uri="{FF2B5EF4-FFF2-40B4-BE49-F238E27FC236}">
                  <a16:creationId xmlns:a16="http://schemas.microsoft.com/office/drawing/2014/main" id="{CFF4F01D-32DE-9558-CBDC-D481A91AE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515" y="4705766"/>
              <a:ext cx="987912" cy="987912"/>
            </a:xfrm>
            <a:prstGeom prst="rect">
              <a:avLst/>
            </a:prstGeom>
          </p:spPr>
        </p:pic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DB1131A-3A91-E6CE-2829-86011075DFAA}"/>
              </a:ext>
            </a:extLst>
          </p:cNvPr>
          <p:cNvGrpSpPr/>
          <p:nvPr/>
        </p:nvGrpSpPr>
        <p:grpSpPr>
          <a:xfrm>
            <a:off x="9166344" y="3402296"/>
            <a:ext cx="936879" cy="1254702"/>
            <a:chOff x="9919002" y="4695232"/>
            <a:chExt cx="1117658" cy="1496808"/>
          </a:xfrm>
        </p:grpSpPr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017E7B82-8BCE-E5D7-F8A7-BE58D27715A0}"/>
                </a:ext>
              </a:extLst>
            </p:cNvPr>
            <p:cNvSpPr/>
            <p:nvPr/>
          </p:nvSpPr>
          <p:spPr>
            <a:xfrm>
              <a:off x="9919002" y="5781191"/>
              <a:ext cx="1117658" cy="410849"/>
            </a:xfrm>
            <a:prstGeom prst="roundRect">
              <a:avLst>
                <a:gd name="adj" fmla="val 5824"/>
              </a:avLst>
            </a:prstGeom>
            <a:solidFill>
              <a:srgbClr val="3BC5FF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后端开发</a:t>
              </a:r>
            </a:p>
          </p:txBody>
        </p:sp>
        <p:pic>
          <p:nvPicPr>
            <p:cNvPr id="64" name="图片 63" descr="图标&#10;&#10;描述已自动生成">
              <a:extLst>
                <a:ext uri="{FF2B5EF4-FFF2-40B4-BE49-F238E27FC236}">
                  <a16:creationId xmlns:a16="http://schemas.microsoft.com/office/drawing/2014/main" id="{2D2DA93C-2687-02F4-D267-CF820458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9734" y="4695232"/>
              <a:ext cx="1074557" cy="1167026"/>
            </a:xfrm>
            <a:prstGeom prst="rect">
              <a:avLst/>
            </a:prstGeom>
          </p:spPr>
        </p:pic>
      </p:grpSp>
      <p:sp>
        <p:nvSpPr>
          <p:cNvPr id="65" name="!!文本框 5">
            <a:extLst>
              <a:ext uri="{FF2B5EF4-FFF2-40B4-BE49-F238E27FC236}">
                <a16:creationId xmlns:a16="http://schemas.microsoft.com/office/drawing/2014/main" id="{0C445217-FF6D-D644-991D-1C39F05485C0}"/>
              </a:ext>
            </a:extLst>
          </p:cNvPr>
          <p:cNvSpPr txBox="1"/>
          <p:nvPr/>
        </p:nvSpPr>
        <p:spPr>
          <a:xfrm>
            <a:off x="4972863" y="3759039"/>
            <a:ext cx="63632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Restful</a:t>
            </a:r>
            <a:endParaRPr lang="zh-CN" altLang="en-US" sz="1100" b="1" dirty="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A266AEB-3063-FF24-3C05-4FE4D4D45DD3}"/>
              </a:ext>
            </a:extLst>
          </p:cNvPr>
          <p:cNvSpPr txBox="1"/>
          <p:nvPr/>
        </p:nvSpPr>
        <p:spPr>
          <a:xfrm>
            <a:off x="5485383" y="3712019"/>
            <a:ext cx="21659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rgbClr val="C00000"/>
                </a:solidFill>
                <a:ea typeface="Fira Code" panose="020B0809050000020004" pitchFamily="49" charset="0"/>
              </a:rPr>
              <a:t>(POST</a:t>
            </a:r>
            <a:r>
              <a:rPr lang="zh-CN" altLang="en-US" sz="1100">
                <a:solidFill>
                  <a:srgbClr val="C00000"/>
                </a:solidFill>
              </a:rPr>
              <a:t>、</a:t>
            </a:r>
            <a:r>
              <a:rPr lang="en-US" altLang="zh-CN" sz="1100">
                <a:solidFill>
                  <a:srgbClr val="C00000"/>
                </a:solidFill>
                <a:ea typeface="Fira Code" panose="020B0809050000020004" pitchFamily="49" charset="0"/>
              </a:rPr>
              <a:t>DELETE</a:t>
            </a:r>
            <a:r>
              <a:rPr lang="zh-CN" altLang="en-US" sz="1100">
                <a:solidFill>
                  <a:srgbClr val="C00000"/>
                </a:solidFill>
              </a:rPr>
              <a:t>、</a:t>
            </a:r>
            <a:r>
              <a:rPr lang="en-US" altLang="zh-CN" sz="1100">
                <a:solidFill>
                  <a:srgbClr val="C00000"/>
                </a:solidFill>
                <a:ea typeface="Fira Code" panose="020B0809050000020004" pitchFamily="49" charset="0"/>
              </a:rPr>
              <a:t>PUT</a:t>
            </a:r>
            <a:r>
              <a:rPr lang="zh-CN" altLang="en-US" sz="1100">
                <a:solidFill>
                  <a:srgbClr val="C00000"/>
                </a:solidFill>
              </a:rPr>
              <a:t>、</a:t>
            </a:r>
            <a:r>
              <a:rPr lang="en-US" altLang="zh-CN" sz="1100">
                <a:solidFill>
                  <a:srgbClr val="C00000"/>
                </a:solidFill>
                <a:ea typeface="Fira Code" panose="020B0809050000020004" pitchFamily="49" charset="0"/>
              </a:rPr>
              <a:t>GET)</a:t>
            </a:r>
            <a:endParaRPr lang="zh-CN" altLang="en-US" sz="11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74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  <p:bldP spid="65" grpId="0"/>
      <p:bldP spid="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7B6F1-187F-823C-6D5A-F2569350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Apifox</a:t>
            </a:r>
            <a:endParaRPr lang="zh-CN" altLang="en-US"/>
          </a:p>
        </p:txBody>
      </p:sp>
      <p:sp>
        <p:nvSpPr>
          <p:cNvPr id="3" name="文本占位符 1">
            <a:extLst>
              <a:ext uri="{FF2B5EF4-FFF2-40B4-BE49-F238E27FC236}">
                <a16:creationId xmlns:a16="http://schemas.microsoft.com/office/drawing/2014/main" id="{6FB98BD8-7F15-0A9F-8B56-C806605813B3}"/>
              </a:ext>
            </a:extLst>
          </p:cNvPr>
          <p:cNvSpPr txBox="1">
            <a:spLocks/>
          </p:cNvSpPr>
          <p:nvPr/>
        </p:nvSpPr>
        <p:spPr>
          <a:xfrm>
            <a:off x="576626" y="1070149"/>
            <a:ext cx="9562671" cy="15851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 介绍：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Apifox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是一款集成了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Api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文档、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Api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调试、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Api Mock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Api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测试的一体化协作平台。</a:t>
            </a:r>
            <a:endParaRPr lang="en-US" altLang="zh-CN" sz="16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 作用：接口文档管理、接口请求测试、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Mock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服务。</a:t>
            </a:r>
            <a:endParaRPr lang="en-US" altLang="zh-CN" sz="16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 官网：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hlinkClick r:id="rId2"/>
              </a:rPr>
              <a:t>https://apifox.com/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27C68E-73FC-DED1-3210-B2C6C5B4E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26" y="2720365"/>
            <a:ext cx="9126071" cy="3278564"/>
          </a:xfrm>
          <a:prstGeom prst="roundRect">
            <a:avLst>
              <a:gd name="adj" fmla="val 1753"/>
            </a:avLst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E9A4B4EC-91B6-B8D3-8671-89F78880AB2D}"/>
              </a:ext>
            </a:extLst>
          </p:cNvPr>
          <p:cNvSpPr/>
          <p:nvPr/>
        </p:nvSpPr>
        <p:spPr>
          <a:xfrm>
            <a:off x="4115016" y="5499424"/>
            <a:ext cx="1434353" cy="49950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C52729-3533-58DA-20D1-0D2C557B5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344" y="6211550"/>
            <a:ext cx="1742100" cy="42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2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7B6F1-187F-823C-6D5A-F2569350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Apifox</a:t>
            </a:r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EC7BAF-7F86-D2E5-AB25-F749BFFD7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57" y="1115897"/>
            <a:ext cx="8027867" cy="4978034"/>
          </a:xfrm>
          <a:prstGeom prst="roundRect">
            <a:avLst>
              <a:gd name="adj" fmla="val 172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148BC9A-CC56-0C4D-EADD-F58ADF1038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" t="251"/>
          <a:stretch/>
        </p:blipFill>
        <p:spPr>
          <a:xfrm>
            <a:off x="3017069" y="1876383"/>
            <a:ext cx="7745033" cy="4840803"/>
          </a:xfrm>
          <a:prstGeom prst="roundRect">
            <a:avLst>
              <a:gd name="adj" fmla="val 1661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155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58EAF5-23AE-02FF-3CDB-FD1057A5F8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为什么要使用</a:t>
            </a:r>
            <a:r>
              <a:rPr lang="en-US" altLang="zh-CN" sz="1800"/>
              <a:t>Apifox</a:t>
            </a:r>
            <a:r>
              <a:rPr lang="zh-CN" altLang="en-US" sz="1800"/>
              <a:t>？</a:t>
            </a:r>
            <a:endParaRPr lang="en-US" altLang="zh-CN" sz="1800"/>
          </a:p>
          <a:p>
            <a:pPr marL="360000"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由于浏览器地址栏发起的请求，都是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GET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方式的请求，如果我们需要发起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POST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PUT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DELETE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方式的请求，就需要借助于这类工具</a:t>
            </a:r>
          </a:p>
        </p:txBody>
      </p:sp>
    </p:spTree>
    <p:extLst>
      <p:ext uri="{BB962C8B-B14F-4D97-AF65-F5344CB8AC3E}">
        <p14:creationId xmlns:p14="http://schemas.microsoft.com/office/powerpoint/2010/main" val="195572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3167B7-7AFB-B8F3-F650-8EDCA8E530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准备工作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AAE48B-9EF8-4A05-89EC-C04E0EBD6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1629244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r>
              <a:rPr lang="en-US" altLang="zh-CN">
                <a:latin typeface="+mn-lt"/>
              </a:rPr>
              <a:t>-</a:t>
            </a:r>
            <a:r>
              <a:rPr lang="zh-CN" altLang="en-US">
                <a:latin typeface="+mn-lt"/>
              </a:rPr>
              <a:t>开发模式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开发规范</a:t>
            </a:r>
            <a:r>
              <a:rPr lang="en-US" altLang="zh-CN">
                <a:latin typeface="+mn-lt"/>
              </a:rPr>
              <a:t>-Restful</a:t>
            </a:r>
            <a:r>
              <a:rPr lang="zh-CN" altLang="en-US">
                <a:latin typeface="+mn-lt"/>
              </a:rPr>
              <a:t>风格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工程搭建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A633281-31C0-39C6-5C63-11B493BBBD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97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工程搭建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810814"/>
            <a:ext cx="8469192" cy="1300852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创建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SpringBoot</a:t>
            </a:r>
            <a:r>
              <a:rPr lang="zh-CN" altLang="en-US">
                <a:latin typeface="Fira Code" panose="020B0809050000020004" pitchFamily="49" charset="0"/>
              </a:rPr>
              <a:t>工程，并引入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web</a:t>
            </a:r>
            <a:r>
              <a:rPr lang="zh-CN" altLang="en-US">
                <a:latin typeface="Fira Code" panose="020B0809050000020004" pitchFamily="49" charset="0"/>
              </a:rPr>
              <a:t>开发起步依赖、</a:t>
            </a:r>
            <a:r>
              <a:rPr lang="en-US" altLang="zh-CN">
                <a:latin typeface="Fira Code" panose="020B0809050000020004" pitchFamily="49" charset="0"/>
              </a:rPr>
              <a:t>mybatis</a:t>
            </a:r>
            <a:r>
              <a:rPr lang="zh-CN" altLang="en-US">
                <a:latin typeface="Fira Code" panose="020B0809050000020004" pitchFamily="49" charset="0"/>
              </a:rPr>
              <a:t>、</a:t>
            </a:r>
            <a:r>
              <a:rPr lang="en-US" altLang="zh-CN">
                <a:latin typeface="Fira Code" panose="020B0809050000020004" pitchFamily="49" charset="0"/>
              </a:rPr>
              <a:t>mysql</a:t>
            </a:r>
            <a:r>
              <a:rPr lang="zh-CN" altLang="en-US">
                <a:latin typeface="Fira Code" panose="020B0809050000020004" pitchFamily="49" charset="0"/>
              </a:rPr>
              <a:t>驱动、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lombok</a:t>
            </a:r>
            <a:r>
              <a:rPr lang="zh-CN" altLang="en-US">
                <a:latin typeface="Fira Code" panose="020B0809050000020004" pitchFamily="49" charset="0"/>
              </a:rPr>
              <a:t>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创建数据库表</a:t>
            </a:r>
            <a:r>
              <a:rPr lang="en-US" altLang="zh-CN">
                <a:latin typeface="Fira Code" panose="020B0809050000020004" pitchFamily="49" charset="0"/>
              </a:rPr>
              <a:t>dept</a:t>
            </a:r>
            <a:r>
              <a:rPr lang="zh-CN" altLang="en-US">
                <a:latin typeface="Fira Code" panose="020B0809050000020004" pitchFamily="49" charset="0"/>
              </a:rPr>
              <a:t>，并在</a:t>
            </a:r>
            <a:r>
              <a:rPr lang="en-US" altLang="zh-CN">
                <a:latin typeface="Fira Code" panose="020B0809050000020004" pitchFamily="49" charset="0"/>
              </a:rPr>
              <a:t>application.yml</a:t>
            </a:r>
            <a:r>
              <a:rPr lang="zh-CN" altLang="en-US">
                <a:latin typeface="Fira Code" panose="020B0809050000020004" pitchFamily="49" charset="0"/>
              </a:rPr>
              <a:t>中配置数据库的基本信息。</a:t>
            </a:r>
            <a:endParaRPr lang="en-US" altLang="zh-CN">
              <a:latin typeface="Fira Code" panose="020B0809050000020004" pitchFamily="49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准备基础代码结构，并引入实体类</a:t>
            </a:r>
            <a:r>
              <a:rPr lang="en-US" altLang="zh-CN">
                <a:latin typeface="Fira Code" panose="020B0809050000020004" pitchFamily="49" charset="0"/>
              </a:rPr>
              <a:t>Dept</a:t>
            </a:r>
            <a:r>
              <a:rPr lang="zh-CN" altLang="en-US">
                <a:latin typeface="Fira Code" panose="020B0809050000020004" pitchFamily="49" charset="0"/>
              </a:rPr>
              <a:t>及统一的响应结果封装类 </a:t>
            </a:r>
            <a:r>
              <a:rPr lang="en-US" altLang="zh-CN">
                <a:latin typeface="Fira Code" panose="020B0809050000020004" pitchFamily="49" charset="0"/>
              </a:rPr>
              <a:t>Result</a:t>
            </a:r>
            <a:r>
              <a:rPr lang="zh-CN" altLang="en-US">
                <a:latin typeface="Fira Code" panose="020B0809050000020004" pitchFamily="49" charset="0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B3918C-795F-D72C-FA9D-64165568A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01" y="2138561"/>
            <a:ext cx="4791171" cy="44299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15FA7F8-EE63-8166-03B6-D1E375EE8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158" y="2389241"/>
            <a:ext cx="4813337" cy="44299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890055EA-70B0-7C3A-15DE-39E3B619C783}"/>
              </a:ext>
            </a:extLst>
          </p:cNvPr>
          <p:cNvSpPr/>
          <p:nvPr/>
        </p:nvSpPr>
        <p:spPr>
          <a:xfrm>
            <a:off x="6863602" y="5163251"/>
            <a:ext cx="2538834" cy="1426463"/>
          </a:xfrm>
          <a:prstGeom prst="roundRect">
            <a:avLst>
              <a:gd name="adj" fmla="val 6008"/>
            </a:avLst>
          </a:prstGeom>
          <a:solidFill>
            <a:srgbClr val="D5FFE8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    </a:t>
            </a:r>
            <a:r>
              <a:rPr lang="en-US" altLang="zh-CN" sz="1100">
                <a:solidFill>
                  <a:srgbClr val="A3151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"code"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: </a:t>
            </a:r>
            <a:r>
              <a:rPr lang="en-US" altLang="zh-CN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1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    </a:t>
            </a:r>
            <a:r>
              <a:rPr lang="en-US" altLang="zh-CN" sz="1100">
                <a:solidFill>
                  <a:srgbClr val="A3151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"msg"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: </a:t>
            </a:r>
            <a:r>
              <a:rPr lang="en-US" altLang="zh-CN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</a:t>
            </a:r>
            <a:r>
              <a:rPr lang="zh-CN" altLang="en-US" sz="1100" b="0">
                <a:solidFill>
                  <a:srgbClr val="0451A5"/>
                </a:solidFill>
                <a:effectLst/>
                <a:latin typeface="Fira Code" panose="020B0809050000020004" pitchFamily="49" charset="0"/>
              </a:rPr>
              <a:t>操作成功</a:t>
            </a:r>
            <a:r>
              <a:rPr lang="en-US" altLang="zh-CN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</a:t>
            </a:r>
            <a:r>
              <a:rPr lang="en-US" altLang="zh-CN" sz="1100" b="0">
                <a:solidFill>
                  <a:srgbClr val="0451A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A3151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"data"</a:t>
            </a:r>
            <a:r>
              <a:rPr lang="en-US" altLang="zh-CN" sz="110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: </a:t>
            </a:r>
            <a:r>
              <a:rPr lang="en-US" altLang="zh-CN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…</a:t>
            </a:r>
            <a:endParaRPr lang="zh-CN" altLang="en-US" sz="1100" b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}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A2363C3-B3BE-981A-4FAE-BE30B3ED8736}"/>
              </a:ext>
            </a:extLst>
          </p:cNvPr>
          <p:cNvSpPr/>
          <p:nvPr/>
        </p:nvSpPr>
        <p:spPr>
          <a:xfrm>
            <a:off x="9506725" y="5151026"/>
            <a:ext cx="2538834" cy="1426463"/>
          </a:xfrm>
          <a:prstGeom prst="roundRect">
            <a:avLst>
              <a:gd name="adj" fmla="val 6008"/>
            </a:avLst>
          </a:prstGeom>
          <a:solidFill>
            <a:srgbClr val="FED4CE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    </a:t>
            </a:r>
            <a:r>
              <a:rPr lang="en-US" altLang="zh-CN" sz="1100">
                <a:solidFill>
                  <a:srgbClr val="A3151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"code"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: </a:t>
            </a:r>
            <a:r>
              <a:rPr lang="en-US" altLang="zh-CN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0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    </a:t>
            </a:r>
            <a:r>
              <a:rPr lang="en-US" altLang="zh-CN" sz="1100">
                <a:solidFill>
                  <a:srgbClr val="A3151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"msg"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: </a:t>
            </a:r>
            <a:r>
              <a:rPr lang="en-US" altLang="zh-CN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</a:t>
            </a:r>
            <a:r>
              <a:rPr lang="zh-CN" altLang="en-US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密码错误</a:t>
            </a:r>
            <a:r>
              <a:rPr lang="en-US" altLang="zh-CN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</a:t>
            </a:r>
            <a:r>
              <a:rPr lang="en-US" altLang="zh-CN" sz="1100" b="0">
                <a:solidFill>
                  <a:srgbClr val="0451A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A3151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"data"</a:t>
            </a:r>
            <a:r>
              <a:rPr lang="en-US" altLang="zh-CN" sz="110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: </a:t>
            </a:r>
            <a:r>
              <a:rPr lang="en-US" altLang="zh-CN" sz="1100">
                <a:solidFill>
                  <a:srgbClr val="0451A5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…</a:t>
            </a:r>
            <a:endParaRPr lang="zh-CN" altLang="en-US" sz="1100" b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40134C-EA13-2717-18C2-0F5F4D386BCC}"/>
              </a:ext>
            </a:extLst>
          </p:cNvPr>
          <p:cNvSpPr txBox="1"/>
          <p:nvPr/>
        </p:nvSpPr>
        <p:spPr>
          <a:xfrm>
            <a:off x="8787732" y="5554827"/>
            <a:ext cx="14379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规范</a:t>
            </a:r>
            <a:endParaRPr lang="zh-CN" altLang="en-US" sz="4400" dirty="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grpSp>
        <p:nvGrpSpPr>
          <p:cNvPr id="9" name="组合 2">
            <a:extLst>
              <a:ext uri="{FF2B5EF4-FFF2-40B4-BE49-F238E27FC236}">
                <a16:creationId xmlns:a16="http://schemas.microsoft.com/office/drawing/2014/main" id="{E71754C4-E4E7-96DF-D2F2-07F833A113D7}"/>
              </a:ext>
            </a:extLst>
          </p:cNvPr>
          <p:cNvGrpSpPr/>
          <p:nvPr/>
        </p:nvGrpSpPr>
        <p:grpSpPr>
          <a:xfrm>
            <a:off x="6863602" y="2890084"/>
            <a:ext cx="5213666" cy="2059041"/>
            <a:chOff x="2297721" y="3660322"/>
            <a:chExt cx="5744493" cy="213904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C78840CF-2CBF-706F-6918-2B6EE80CC694}"/>
                </a:ext>
              </a:extLst>
            </p:cNvPr>
            <p:cNvSpPr/>
            <p:nvPr/>
          </p:nvSpPr>
          <p:spPr>
            <a:xfrm>
              <a:off x="2297728" y="3660324"/>
              <a:ext cx="5744486" cy="2139040"/>
            </a:xfrm>
            <a:prstGeom prst="roundRect">
              <a:avLst>
                <a:gd name="adj" fmla="val 359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@Data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class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Result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Integer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code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//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编码：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1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成功，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0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为失败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String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msg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//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错误信息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Object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data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//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数据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>
                  <a:solidFill>
                    <a:schemeClr val="tx1">
                      <a:lumMod val="50000"/>
                    </a:schemeClr>
                  </a:solidFill>
                  <a:ea typeface="宋体" panose="02010600030101010101" pitchFamily="2" charset="-122"/>
                </a:rPr>
                <a:t>}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endParaRPr>
            </a:p>
          </p:txBody>
        </p:sp>
        <p:sp>
          <p:nvSpPr>
            <p:cNvPr id="11" name="矩形: 圆顶角 10">
              <a:extLst>
                <a:ext uri="{FF2B5EF4-FFF2-40B4-BE49-F238E27FC236}">
                  <a16:creationId xmlns:a16="http://schemas.microsoft.com/office/drawing/2014/main" id="{C85ECC79-57B1-9AFC-07DF-E2AE51767B6A}"/>
                </a:ext>
              </a:extLst>
            </p:cNvPr>
            <p:cNvSpPr/>
            <p:nvPr/>
          </p:nvSpPr>
          <p:spPr>
            <a:xfrm>
              <a:off x="2297721" y="3660322"/>
              <a:ext cx="574448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5E3880B-4210-7B9B-168C-55E8625D79A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017A7D2-413D-5A31-E5D6-A78BA184737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48975CF-D63C-FF89-3784-C50B96A0922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Rectangle 1">
            <a:extLst>
              <a:ext uri="{FF2B5EF4-FFF2-40B4-BE49-F238E27FC236}">
                <a16:creationId xmlns:a16="http://schemas.microsoft.com/office/drawing/2014/main" id="{E5F7BA92-ADB6-A9CB-B201-2F8392674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B88613E-56B3-EFBB-4A19-6D9EBEF474D9}"/>
              </a:ext>
            </a:extLst>
          </p:cNvPr>
          <p:cNvSpPr/>
          <p:nvPr/>
        </p:nvSpPr>
        <p:spPr>
          <a:xfrm>
            <a:off x="8851328" y="862080"/>
            <a:ext cx="3257825" cy="423149"/>
          </a:xfrm>
          <a:prstGeom prst="roundRect">
            <a:avLst>
              <a:gd name="adj" fmla="val 6008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110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OK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1394A4C-6D41-0E02-61C8-69CD1A016706}"/>
              </a:ext>
            </a:extLst>
          </p:cNvPr>
          <p:cNvSpPr/>
          <p:nvPr/>
        </p:nvSpPr>
        <p:spPr>
          <a:xfrm>
            <a:off x="8851329" y="1386179"/>
            <a:ext cx="3257826" cy="423149"/>
          </a:xfrm>
          <a:prstGeom prst="roundRect">
            <a:avLst>
              <a:gd name="adj" fmla="val 6008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教研部</a:t>
            </a:r>
            <a:endParaRPr lang="en-US" altLang="zh-CN" sz="1100" b="0">
              <a:solidFill>
                <a:srgbClr val="C00000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082381-BB92-890C-9D7A-BEAC69D9299E}"/>
              </a:ext>
            </a:extLst>
          </p:cNvPr>
          <p:cNvSpPr/>
          <p:nvPr/>
        </p:nvSpPr>
        <p:spPr>
          <a:xfrm>
            <a:off x="8854201" y="1879276"/>
            <a:ext cx="3257827" cy="1300852"/>
          </a:xfrm>
          <a:prstGeom prst="roundRect">
            <a:avLst>
              <a:gd name="adj" fmla="val 6008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105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05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"id": </a:t>
            </a:r>
            <a:r>
              <a:rPr lang="en-US" altLang="zh-CN" sz="105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1</a:t>
            </a:r>
            <a:r>
              <a:rPr lang="en-US" altLang="zh-CN" sz="105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sz="105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"name": </a:t>
            </a:r>
            <a:r>
              <a:rPr lang="en-US" altLang="zh-CN" sz="105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</a:t>
            </a:r>
            <a:r>
              <a:rPr lang="zh-CN" altLang="en-US" sz="105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教研部</a:t>
            </a:r>
            <a:r>
              <a:rPr lang="en-US" altLang="zh-CN" sz="105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</a:t>
            </a:r>
            <a:r>
              <a:rPr lang="en-US" altLang="zh-CN" sz="105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sz="105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 "updateTime": </a:t>
            </a:r>
            <a:r>
              <a:rPr lang="en-US" altLang="zh-CN" sz="1050" b="0">
                <a:solidFill>
                  <a:srgbClr val="0070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"2024-10-20 00:00:00"</a:t>
            </a:r>
          </a:p>
          <a:p>
            <a:pPr>
              <a:lnSpc>
                <a:spcPct val="150000"/>
              </a:lnSpc>
            </a:pPr>
            <a:r>
              <a:rPr lang="en-US" altLang="zh-CN" sz="105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}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68E323A-7110-CA59-E38D-BD98940E7B2F}"/>
              </a:ext>
            </a:extLst>
          </p:cNvPr>
          <p:cNvSpPr/>
          <p:nvPr/>
        </p:nvSpPr>
        <p:spPr>
          <a:xfrm>
            <a:off x="8851329" y="3250076"/>
            <a:ext cx="3257824" cy="1273132"/>
          </a:xfrm>
          <a:prstGeom prst="roundRect">
            <a:avLst>
              <a:gd name="adj" fmla="val 6008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105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[{</a:t>
            </a:r>
          </a:p>
          <a:p>
            <a:pPr>
              <a:lnSpc>
                <a:spcPct val="150000"/>
              </a:lnSpc>
            </a:pPr>
            <a:r>
              <a:rPr lang="en-US" altLang="zh-CN" sz="105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"id": </a:t>
            </a:r>
            <a:r>
              <a:rPr lang="en-US" altLang="zh-CN" sz="105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1</a:t>
            </a:r>
            <a:r>
              <a:rPr lang="en-US" altLang="zh-CN" sz="105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sz="105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"name": </a:t>
            </a:r>
            <a:r>
              <a:rPr lang="en-US" altLang="zh-CN" sz="105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</a:t>
            </a:r>
            <a:r>
              <a:rPr lang="zh-CN" altLang="en-US" sz="105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教研部</a:t>
            </a:r>
            <a:r>
              <a:rPr lang="en-US" altLang="zh-CN" sz="105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"</a:t>
            </a:r>
            <a:r>
              <a:rPr lang="en-US" altLang="zh-CN" sz="105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sz="105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 "updateTime": </a:t>
            </a:r>
            <a:r>
              <a:rPr lang="en-US" altLang="zh-CN" sz="1050" b="0">
                <a:solidFill>
                  <a:srgbClr val="0070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"2024-10-20 00:00:00"</a:t>
            </a:r>
          </a:p>
          <a:p>
            <a:pPr>
              <a:lnSpc>
                <a:spcPct val="150000"/>
              </a:lnSpc>
            </a:pPr>
            <a:r>
              <a:rPr lang="en-US" altLang="zh-CN" sz="1050" b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}]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013E30D-02D0-EEFB-723D-E854D58BE121}"/>
              </a:ext>
            </a:extLst>
          </p:cNvPr>
          <p:cNvSpPr txBox="1"/>
          <p:nvPr/>
        </p:nvSpPr>
        <p:spPr>
          <a:xfrm>
            <a:off x="10282518" y="1359054"/>
            <a:ext cx="1909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不便管理</a:t>
            </a:r>
            <a:endParaRPr lang="zh-CN" altLang="en-US" sz="32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B44BB48-5A91-577C-9309-CD2679145AD8}"/>
              </a:ext>
            </a:extLst>
          </p:cNvPr>
          <p:cNvSpPr txBox="1"/>
          <p:nvPr/>
        </p:nvSpPr>
        <p:spPr>
          <a:xfrm>
            <a:off x="10282518" y="1845909"/>
            <a:ext cx="1909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难以维护</a:t>
            </a:r>
            <a:endParaRPr lang="zh-CN" altLang="en-US" sz="32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05507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  <p:bldP spid="16" grpId="0" animBg="1"/>
      <p:bldP spid="16" grpId="2" animBg="1"/>
      <p:bldP spid="27" grpId="0" animBg="1"/>
      <p:bldP spid="27" grpId="2" animBg="1"/>
      <p:bldP spid="28" grpId="0" animBg="1"/>
      <p:bldP spid="28" grpId="2" animBg="1"/>
      <p:bldP spid="29" grpId="0" animBg="1"/>
      <p:bldP spid="29" grpId="2" animBg="1"/>
      <p:bldP spid="30" grpId="0"/>
      <p:bldP spid="30" grpId="2"/>
      <p:bldP spid="31" grpId="0"/>
      <p:bldP spid="31" grpId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CA61343-E3CE-AAA2-1F09-6F8EBAD749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565" y="1303823"/>
            <a:ext cx="3692525" cy="3313001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查询部门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删除部门</a:t>
            </a:r>
            <a:endParaRPr lang="en-US" altLang="zh-CN"/>
          </a:p>
          <a:p>
            <a:r>
              <a:rPr lang="zh-CN" altLang="en-US"/>
              <a:t>新增部门</a:t>
            </a:r>
            <a:endParaRPr lang="en-US" altLang="zh-CN"/>
          </a:p>
          <a:p>
            <a:r>
              <a:rPr lang="zh-CN" altLang="en-US"/>
              <a:t>修改部门</a:t>
            </a:r>
            <a:endParaRPr lang="en-US" altLang="zh-CN"/>
          </a:p>
          <a:p>
            <a:r>
              <a:rPr lang="zh-CN" altLang="en-US"/>
              <a:t>日志技术</a:t>
            </a:r>
          </a:p>
        </p:txBody>
      </p:sp>
    </p:spTree>
    <p:extLst>
      <p:ext uri="{BB962C8B-B14F-4D97-AF65-F5344CB8AC3E}">
        <p14:creationId xmlns:p14="http://schemas.microsoft.com/office/powerpoint/2010/main" val="1728517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9820E4-A147-F455-FD30-ED55E41EF7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查询部门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C45EB4-9F20-AAD6-2D64-84B1AE5BAE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接口开发</a:t>
            </a:r>
            <a:endParaRPr lang="en-US" altLang="zh-CN"/>
          </a:p>
          <a:p>
            <a:r>
              <a:rPr lang="zh-CN" altLang="en-US"/>
              <a:t>前后端联调测试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8054435-47B8-0F00-706B-4CE0978737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69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查询部门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B25DAF-C9B0-4799-3BBE-D9BFF752D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12" y="1021086"/>
            <a:ext cx="9093439" cy="4169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48BD61-A90E-B7BA-E8B6-E2634EF34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787" y="2443207"/>
            <a:ext cx="6373906" cy="41827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955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思路分析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明确了查询部门的需求之后，再来梳理一下实现该功能时，三层架构每一层的职责：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EAD6A2C-06E2-FD14-9FCD-BC4712971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566" y="2777607"/>
            <a:ext cx="932333" cy="1302786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C758A8CF-EB76-5D05-9DC8-F1A2D71EC227}"/>
              </a:ext>
            </a:extLst>
          </p:cNvPr>
          <p:cNvGrpSpPr/>
          <p:nvPr/>
        </p:nvGrpSpPr>
        <p:grpSpPr>
          <a:xfrm>
            <a:off x="717173" y="3113455"/>
            <a:ext cx="780070" cy="786974"/>
            <a:chOff x="1288572" y="3466291"/>
            <a:chExt cx="1076475" cy="1086002"/>
          </a:xfrm>
        </p:grpSpPr>
        <p:pic>
          <p:nvPicPr>
            <p:cNvPr id="26" name="图片 0">
              <a:extLst>
                <a:ext uri="{FF2B5EF4-FFF2-40B4-BE49-F238E27FC236}">
                  <a16:creationId xmlns:a16="http://schemas.microsoft.com/office/drawing/2014/main" id="{B3BFFC96-516C-FB8F-9667-E7CE59F97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27" name="图片 1">
              <a:extLst>
                <a:ext uri="{FF2B5EF4-FFF2-40B4-BE49-F238E27FC236}">
                  <a16:creationId xmlns:a16="http://schemas.microsoft.com/office/drawing/2014/main" id="{EC4FA842-49E7-F527-E3AB-65FB3840C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28" name="箭头: 右 27">
            <a:extLst>
              <a:ext uri="{FF2B5EF4-FFF2-40B4-BE49-F238E27FC236}">
                <a16:creationId xmlns:a16="http://schemas.microsoft.com/office/drawing/2014/main" id="{F5DEB9DE-AB8C-18BC-7EF1-63115110C86A}"/>
              </a:ext>
            </a:extLst>
          </p:cNvPr>
          <p:cNvSpPr/>
          <p:nvPr/>
        </p:nvSpPr>
        <p:spPr>
          <a:xfrm>
            <a:off x="1664800" y="3311180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6FB2C6C6-338E-907C-C99B-7296EBC5016C}"/>
              </a:ext>
            </a:extLst>
          </p:cNvPr>
          <p:cNvSpPr/>
          <p:nvPr/>
        </p:nvSpPr>
        <p:spPr>
          <a:xfrm>
            <a:off x="4381106" y="3311180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42DF7656-ED6E-D5DD-A553-BF400BE6AE8A}"/>
              </a:ext>
            </a:extLst>
          </p:cNvPr>
          <p:cNvSpPr/>
          <p:nvPr/>
        </p:nvSpPr>
        <p:spPr>
          <a:xfrm>
            <a:off x="7178093" y="3311180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84A7BDE3-A778-43F7-E61C-3E12FA2BF2A4}"/>
              </a:ext>
            </a:extLst>
          </p:cNvPr>
          <p:cNvSpPr/>
          <p:nvPr/>
        </p:nvSpPr>
        <p:spPr>
          <a:xfrm>
            <a:off x="9894399" y="3311180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AF0B3BE-73FA-BDE2-EAF5-BBCD92D5F8D5}"/>
              </a:ext>
            </a:extLst>
          </p:cNvPr>
          <p:cNvGrpSpPr/>
          <p:nvPr/>
        </p:nvGrpSpPr>
        <p:grpSpPr>
          <a:xfrm>
            <a:off x="2294967" y="2275997"/>
            <a:ext cx="1900517" cy="2611635"/>
            <a:chOff x="2303931" y="2912210"/>
            <a:chExt cx="1900517" cy="2611635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D913BAE-6822-D0BA-814C-1E25BBFDBD89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4" name="流程图: 文档 33">
              <a:extLst>
                <a:ext uri="{FF2B5EF4-FFF2-40B4-BE49-F238E27FC236}">
                  <a16:creationId xmlns:a16="http://schemas.microsoft.com/office/drawing/2014/main" id="{D938B1B8-0DAB-59F6-DB3D-CF7CCFE6D688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5" name="!!流程图: 文档 1">
            <a:extLst>
              <a:ext uri="{FF2B5EF4-FFF2-40B4-BE49-F238E27FC236}">
                <a16:creationId xmlns:a16="http://schemas.microsoft.com/office/drawing/2014/main" id="{BBEDBBF2-9256-9809-9B76-3168AA94B294}"/>
              </a:ext>
            </a:extLst>
          </p:cNvPr>
          <p:cNvSpPr/>
          <p:nvPr/>
        </p:nvSpPr>
        <p:spPr>
          <a:xfrm>
            <a:off x="2294966" y="2676689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层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C309413-72FA-2940-E0F1-4FCFFD0D71A4}"/>
              </a:ext>
            </a:extLst>
          </p:cNvPr>
          <p:cNvGrpSpPr/>
          <p:nvPr/>
        </p:nvGrpSpPr>
        <p:grpSpPr>
          <a:xfrm>
            <a:off x="5091954" y="2275997"/>
            <a:ext cx="1900517" cy="2615624"/>
            <a:chOff x="5100918" y="2912210"/>
            <a:chExt cx="1900517" cy="2615624"/>
          </a:xfrm>
        </p:grpSpPr>
        <p:sp>
          <p:nvSpPr>
            <p:cNvPr id="37" name="流程图: 文档 36">
              <a:extLst>
                <a:ext uri="{FF2B5EF4-FFF2-40B4-BE49-F238E27FC236}">
                  <a16:creationId xmlns:a16="http://schemas.microsoft.com/office/drawing/2014/main" id="{72AD6D9C-8000-49EA-56C5-D3635D58133E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2BEC82C-2010-B6B7-6039-FC76FE8FBAC1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9" name="流程图: 文档 38">
            <a:extLst>
              <a:ext uri="{FF2B5EF4-FFF2-40B4-BE49-F238E27FC236}">
                <a16:creationId xmlns:a16="http://schemas.microsoft.com/office/drawing/2014/main" id="{A4492C3E-E8C6-C39F-D76E-A30ADBC6BDE1}"/>
              </a:ext>
            </a:extLst>
          </p:cNvPr>
          <p:cNvSpPr/>
          <p:nvPr/>
        </p:nvSpPr>
        <p:spPr>
          <a:xfrm>
            <a:off x="5091954" y="2679408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接口方法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12CB7E1-6A98-ACC2-6A4C-D0D60B793EB3}"/>
              </a:ext>
            </a:extLst>
          </p:cNvPr>
          <p:cNvGrpSpPr/>
          <p:nvPr/>
        </p:nvGrpSpPr>
        <p:grpSpPr>
          <a:xfrm>
            <a:off x="7888940" y="2275997"/>
            <a:ext cx="1900518" cy="2607825"/>
            <a:chOff x="7897904" y="2912210"/>
            <a:chExt cx="1900518" cy="2607825"/>
          </a:xfrm>
        </p:grpSpPr>
        <p:sp>
          <p:nvSpPr>
            <p:cNvPr id="41" name="流程图: 文档 40">
              <a:extLst>
                <a:ext uri="{FF2B5EF4-FFF2-40B4-BE49-F238E27FC236}">
                  <a16:creationId xmlns:a16="http://schemas.microsoft.com/office/drawing/2014/main" id="{73E9020A-4616-F234-2370-AA69415732B9}"/>
                </a:ext>
              </a:extLst>
            </p:cNvPr>
            <p:cNvSpPr/>
            <p:nvPr/>
          </p:nvSpPr>
          <p:spPr>
            <a:xfrm>
              <a:off x="7897904" y="331290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3E4DEF45-481D-DD50-936E-420C7FD439B0}"/>
                </a:ext>
              </a:extLst>
            </p:cNvPr>
            <p:cNvSpPr/>
            <p:nvPr/>
          </p:nvSpPr>
          <p:spPr>
            <a:xfrm>
              <a:off x="7897905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43" name="流程图: 文档 42">
            <a:extLst>
              <a:ext uri="{FF2B5EF4-FFF2-40B4-BE49-F238E27FC236}">
                <a16:creationId xmlns:a16="http://schemas.microsoft.com/office/drawing/2014/main" id="{E3CBE597-943F-5C10-3373-231949D99654}"/>
              </a:ext>
            </a:extLst>
          </p:cNvPr>
          <p:cNvSpPr/>
          <p:nvPr/>
        </p:nvSpPr>
        <p:spPr>
          <a:xfrm>
            <a:off x="7888939" y="2676688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select * from dept order by update_time desc;</a:t>
            </a:r>
            <a:endParaRPr lang="zh-CN" altLang="en-US" sz="11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895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5" grpId="0" animBg="1"/>
      <p:bldP spid="39" grpId="0" animBg="1"/>
      <p:bldP spid="4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功能实现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05BA7C11-239E-37D0-5C5E-221B9A2E2D91}"/>
              </a:ext>
            </a:extLst>
          </p:cNvPr>
          <p:cNvGrpSpPr/>
          <p:nvPr/>
        </p:nvGrpSpPr>
        <p:grpSpPr>
          <a:xfrm>
            <a:off x="576196" y="2053819"/>
            <a:ext cx="5213666" cy="3163637"/>
            <a:chOff x="2297721" y="3660322"/>
            <a:chExt cx="5744493" cy="3286555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0BF6088-7C9F-6C49-B22A-87D83A5EA84C}"/>
                </a:ext>
              </a:extLst>
            </p:cNvPr>
            <p:cNvSpPr/>
            <p:nvPr/>
          </p:nvSpPr>
          <p:spPr>
            <a:xfrm>
              <a:off x="2297728" y="3660324"/>
              <a:ext cx="5744486" cy="3286553"/>
            </a:xfrm>
            <a:prstGeom prst="roundRect">
              <a:avLst>
                <a:gd name="adj" fmla="val 272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@RestController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DeptController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@Autowired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DeptService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deptService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>
                  <a:solidFill>
                    <a:srgbClr val="080808"/>
                  </a:solidFill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@GetMapping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"/depts"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findAll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(){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List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deptList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deptService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.findAll();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success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deptList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}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EFAC4209-9883-5050-7AB7-28E6E66EF99F}"/>
                </a:ext>
              </a:extLst>
            </p:cNvPr>
            <p:cNvSpPr/>
            <p:nvPr/>
          </p:nvSpPr>
          <p:spPr>
            <a:xfrm>
              <a:off x="2297721" y="3660322"/>
              <a:ext cx="574448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Controller: </a:t>
              </a:r>
              <a:r>
                <a:rPr lang="zh-CN" altLang="en-US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接收请求，处理响应</a:t>
              </a:r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FEE766C-7F09-0A2D-C5F9-AD04782974A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7BB2B77-5545-1DCC-E8FB-44E18E487E5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2605697-01A2-3EDF-210D-2E9F68CF622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EFBC3886-1A7E-54B2-02A1-0F7A21626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组合 2">
            <a:extLst>
              <a:ext uri="{FF2B5EF4-FFF2-40B4-BE49-F238E27FC236}">
                <a16:creationId xmlns:a16="http://schemas.microsoft.com/office/drawing/2014/main" id="{261560D5-255E-BF51-5EE3-5100E288C617}"/>
              </a:ext>
            </a:extLst>
          </p:cNvPr>
          <p:cNvGrpSpPr/>
          <p:nvPr/>
        </p:nvGrpSpPr>
        <p:grpSpPr>
          <a:xfrm>
            <a:off x="6200956" y="993526"/>
            <a:ext cx="5505775" cy="2817315"/>
            <a:chOff x="2297720" y="3660322"/>
            <a:chExt cx="6066343" cy="2926777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C9B93C3-6AA2-DC89-CF63-C17A4A198EAC}"/>
                </a:ext>
              </a:extLst>
            </p:cNvPr>
            <p:cNvSpPr/>
            <p:nvPr/>
          </p:nvSpPr>
          <p:spPr>
            <a:xfrm>
              <a:off x="2297728" y="3660325"/>
              <a:ext cx="6066335" cy="2926774"/>
            </a:xfrm>
            <a:prstGeom prst="roundRect">
              <a:avLst>
                <a:gd name="adj" fmla="val 272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@Service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DeptServiceImpl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implements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DeptService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@Autowired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DeptMapper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deptMapper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@Override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List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findAll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() 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deptMapper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.findAll();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}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91D29E31-5111-A909-6E02-5ADA695DFCC0}"/>
                </a:ext>
              </a:extLst>
            </p:cNvPr>
            <p:cNvSpPr/>
            <p:nvPr/>
          </p:nvSpPr>
          <p:spPr>
            <a:xfrm>
              <a:off x="2297720" y="3660322"/>
              <a:ext cx="606633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Service: </a:t>
              </a:r>
              <a:r>
                <a:rPr lang="zh-CN" altLang="en-US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业务处理</a:t>
              </a:r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263A4A7-CE85-DD90-10C3-C4517565911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6EAB6B-0060-BB83-5C52-12549F69EC1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63A742A-B85A-8050-517D-9C7A37B970F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Rectangle 2">
            <a:extLst>
              <a:ext uri="{FF2B5EF4-FFF2-40B4-BE49-F238E27FC236}">
                <a16:creationId xmlns:a16="http://schemas.microsoft.com/office/drawing/2014/main" id="{ED7202E5-3440-C2D1-B1B8-96248AA51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8" name="组合 2">
            <a:extLst>
              <a:ext uri="{FF2B5EF4-FFF2-40B4-BE49-F238E27FC236}">
                <a16:creationId xmlns:a16="http://schemas.microsoft.com/office/drawing/2014/main" id="{0B4BE118-E1DB-A365-1123-883264933734}"/>
              </a:ext>
            </a:extLst>
          </p:cNvPr>
          <p:cNvGrpSpPr/>
          <p:nvPr/>
        </p:nvGrpSpPr>
        <p:grpSpPr>
          <a:xfrm>
            <a:off x="6200956" y="4145954"/>
            <a:ext cx="5505770" cy="2528047"/>
            <a:chOff x="2297720" y="3660322"/>
            <a:chExt cx="6066337" cy="2626270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C0ED7C6F-C41C-B4B0-14FC-76674F097F1C}"/>
                </a:ext>
              </a:extLst>
            </p:cNvPr>
            <p:cNvSpPr/>
            <p:nvPr/>
          </p:nvSpPr>
          <p:spPr>
            <a:xfrm>
              <a:off x="2297727" y="3660324"/>
              <a:ext cx="6066330" cy="2626268"/>
            </a:xfrm>
            <a:prstGeom prst="roundRect">
              <a:avLst>
                <a:gd name="adj" fmla="val 272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@Mapper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interface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DeptMapper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/**</a:t>
              </a:r>
              <a:b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 * </a:t>
              </a:r>
              <a: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查询全部部门</a:t>
              </a:r>
              <a:br>
                <a:rPr kumimoji="0" lang="zh-CN" altLang="zh-CN" sz="1200" b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 */</a:t>
              </a:r>
              <a:b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@Select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"select </a:t>
              </a:r>
              <a:r>
                <a:rPr lang="en-US" altLang="zh-CN" sz="1200">
                  <a:solidFill>
                    <a:srgbClr val="067D17"/>
                  </a:solidFill>
                </a:rPr>
                <a:t>*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 from dept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 order by update_time desc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List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findAll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() 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0" name="矩形: 圆顶角 19">
              <a:extLst>
                <a:ext uri="{FF2B5EF4-FFF2-40B4-BE49-F238E27FC236}">
                  <a16:creationId xmlns:a16="http://schemas.microsoft.com/office/drawing/2014/main" id="{CEDF3439-ECDB-2D04-7ADC-DF26DC79274F}"/>
                </a:ext>
              </a:extLst>
            </p:cNvPr>
            <p:cNvSpPr/>
            <p:nvPr/>
          </p:nvSpPr>
          <p:spPr>
            <a:xfrm>
              <a:off x="2297720" y="3660322"/>
              <a:ext cx="606632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Dao/Mapper: </a:t>
              </a:r>
              <a:r>
                <a:rPr lang="zh-CN" altLang="en-US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数据访问操作（增删改查）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875701D-E0DC-BEF5-2F0F-F813193EA68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4AF96F8-2AEB-B2E1-22CB-B51D94B103D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5B0F4F9C-E678-19F4-E323-8A85CC9CFBA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Rectangle 3">
            <a:extLst>
              <a:ext uri="{FF2B5EF4-FFF2-40B4-BE49-F238E27FC236}">
                <a16:creationId xmlns:a16="http://schemas.microsoft.com/office/drawing/2014/main" id="{77012439-1754-EAB1-8C4E-DC2E90FD8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27932BA-E9EE-BD99-2EA2-F831B757E130}"/>
              </a:ext>
            </a:extLst>
          </p:cNvPr>
          <p:cNvSpPr/>
          <p:nvPr/>
        </p:nvSpPr>
        <p:spPr>
          <a:xfrm>
            <a:off x="3290504" y="4025153"/>
            <a:ext cx="2142565" cy="295095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2D8E275-8D21-C341-0DD9-FDC33F440C59}"/>
              </a:ext>
            </a:extLst>
          </p:cNvPr>
          <p:cNvSpPr/>
          <p:nvPr/>
        </p:nvSpPr>
        <p:spPr>
          <a:xfrm>
            <a:off x="8230057" y="2626659"/>
            <a:ext cx="896013" cy="260086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B9B2D56-0084-A640-BFD0-6C0A86683103}"/>
              </a:ext>
            </a:extLst>
          </p:cNvPr>
          <p:cNvSpPr/>
          <p:nvPr/>
        </p:nvSpPr>
        <p:spPr>
          <a:xfrm>
            <a:off x="8179276" y="6042210"/>
            <a:ext cx="896013" cy="295095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03D0271-A244-25DF-18D8-A229FEAE68A4}"/>
              </a:ext>
            </a:extLst>
          </p:cNvPr>
          <p:cNvSpPr/>
          <p:nvPr/>
        </p:nvSpPr>
        <p:spPr>
          <a:xfrm>
            <a:off x="8576502" y="2906411"/>
            <a:ext cx="896013" cy="260085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D9A8C433-A4EB-C1CF-74DB-B398391AE523}"/>
              </a:ext>
            </a:extLst>
          </p:cNvPr>
          <p:cNvCxnSpPr>
            <a:cxnSpLocks/>
            <a:stCxn id="25" idx="0"/>
            <a:endCxn id="26" idx="2"/>
          </p:cNvCxnSpPr>
          <p:nvPr/>
        </p:nvCxnSpPr>
        <p:spPr>
          <a:xfrm rot="5400000" flipH="1" flipV="1">
            <a:off x="5661697" y="1456793"/>
            <a:ext cx="1268451" cy="3868270"/>
          </a:xfrm>
          <a:prstGeom prst="curvedConnector2">
            <a:avLst/>
          </a:prstGeom>
          <a:ln w="19050"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46A3CD69-E2C4-3E8B-9301-1DA7F4E95B58}"/>
              </a:ext>
            </a:extLst>
          </p:cNvPr>
          <p:cNvCxnSpPr>
            <a:cxnSpLocks/>
            <a:stCxn id="28" idx="4"/>
          </p:cNvCxnSpPr>
          <p:nvPr/>
        </p:nvCxnSpPr>
        <p:spPr>
          <a:xfrm rot="5400000">
            <a:off x="7413429" y="4431130"/>
            <a:ext cx="2875714" cy="346446"/>
          </a:xfrm>
          <a:prstGeom prst="curvedConnector3">
            <a:avLst>
              <a:gd name="adj1" fmla="val 2928"/>
            </a:avLst>
          </a:prstGeom>
          <a:ln w="19050"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633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数据封装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8013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/>
              </a:rPr>
              <a:t>实体类属性名 和 数据库表查询返回的字段名一致，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mybatis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/>
              </a:rPr>
              <a:t>会自动封装。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/>
              </a:rPr>
              <a:t>如果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/>
              </a:rPr>
              <a:t>实体类属性名 和 数据库表查询返回的字段名不一致，不能自动封装。</a:t>
            </a:r>
            <a:endParaRPr lang="zh-CN" altLang="en-US">
              <a:latin typeface="Fira Code" panose="020B08090500000200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FF8262-6BA6-E497-EF74-34A94EE22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44" y="2747636"/>
            <a:ext cx="4234857" cy="2052964"/>
          </a:xfrm>
          <a:prstGeom prst="roundRect">
            <a:avLst>
              <a:gd name="adj" fmla="val 2859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D14669-4518-1530-9FD2-B3155BB8E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215" y="2747636"/>
            <a:ext cx="4358990" cy="2052964"/>
          </a:xfrm>
          <a:prstGeom prst="roundRect">
            <a:avLst>
              <a:gd name="adj" fmla="val 2859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EDA0E5B-D127-C5D7-0ED0-488DDF26C0B5}"/>
              </a:ext>
            </a:extLst>
          </p:cNvPr>
          <p:cNvSpPr/>
          <p:nvPr/>
        </p:nvSpPr>
        <p:spPr>
          <a:xfrm>
            <a:off x="1030843" y="3777726"/>
            <a:ext cx="4234856" cy="614670"/>
          </a:xfrm>
          <a:prstGeom prst="roundRect">
            <a:avLst>
              <a:gd name="adj" fmla="val 0"/>
            </a:avLst>
          </a:prstGeom>
          <a:solidFill>
            <a:srgbClr val="FF0000">
              <a:alpha val="20000"/>
            </a:srgbClr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DE6ACA9-01D9-8C92-9E10-AA8A30AABB2B}"/>
              </a:ext>
            </a:extLst>
          </p:cNvPr>
          <p:cNvSpPr/>
          <p:nvPr/>
        </p:nvSpPr>
        <p:spPr>
          <a:xfrm>
            <a:off x="1030843" y="3134371"/>
            <a:ext cx="4234857" cy="614670"/>
          </a:xfrm>
          <a:prstGeom prst="roundRect">
            <a:avLst>
              <a:gd name="adj" fmla="val 0"/>
            </a:avLst>
          </a:prstGeom>
          <a:solidFill>
            <a:srgbClr val="00B050">
              <a:alpha val="20000"/>
            </a:srgbClr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C833733-DF50-C1D6-EA8D-D7C3F44DF8BF}"/>
              </a:ext>
            </a:extLst>
          </p:cNvPr>
          <p:cNvSpPr/>
          <p:nvPr/>
        </p:nvSpPr>
        <p:spPr>
          <a:xfrm>
            <a:off x="5624212" y="3459995"/>
            <a:ext cx="4358989" cy="627374"/>
          </a:xfrm>
          <a:prstGeom prst="roundRect">
            <a:avLst>
              <a:gd name="adj" fmla="val 0"/>
            </a:avLst>
          </a:prstGeom>
          <a:solidFill>
            <a:srgbClr val="00B050">
              <a:alpha val="20000"/>
            </a:srgbClr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ED23B92-2AB9-1834-86C8-3175F4A4CB47}"/>
              </a:ext>
            </a:extLst>
          </p:cNvPr>
          <p:cNvSpPr/>
          <p:nvPr/>
        </p:nvSpPr>
        <p:spPr>
          <a:xfrm>
            <a:off x="5624212" y="4118361"/>
            <a:ext cx="4358988" cy="614670"/>
          </a:xfrm>
          <a:prstGeom prst="roundRect">
            <a:avLst>
              <a:gd name="adj" fmla="val 0"/>
            </a:avLst>
          </a:prstGeom>
          <a:solidFill>
            <a:srgbClr val="FF0000">
              <a:alpha val="20000"/>
            </a:srgbClr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标&#10;&#10;描述已自动生成">
            <a:extLst>
              <a:ext uri="{FF2B5EF4-FFF2-40B4-BE49-F238E27FC236}">
                <a16:creationId xmlns:a16="http://schemas.microsoft.com/office/drawing/2014/main" id="{2AC89C7A-DAE8-1116-756B-44C22DB758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951" y="4461400"/>
            <a:ext cx="1582784" cy="158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4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数据封装</a:t>
            </a:r>
          </a:p>
        </p:txBody>
      </p:sp>
      <p:sp>
        <p:nvSpPr>
          <p:cNvPr id="4" name="文本占位符 4">
            <a:extLst>
              <a:ext uri="{FF2B5EF4-FFF2-40B4-BE49-F238E27FC236}">
                <a16:creationId xmlns:a16="http://schemas.microsoft.com/office/drawing/2014/main" id="{CD2BD0E3-A78F-6180-871A-44F8E47B8FE1}"/>
              </a:ext>
            </a:extLst>
          </p:cNvPr>
          <p:cNvSpPr txBox="1">
            <a:spLocks/>
          </p:cNvSpPr>
          <p:nvPr/>
        </p:nvSpPr>
        <p:spPr>
          <a:xfrm>
            <a:off x="576196" y="810814"/>
            <a:ext cx="10219439" cy="55541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b="1">
                <a:latin typeface="Fira Code" panose="020B0809050000020004" pitchFamily="49" charset="0"/>
              </a:rPr>
              <a:t>手动结果映射</a:t>
            </a:r>
            <a:r>
              <a:rPr lang="zh-CN" altLang="en-US">
                <a:latin typeface="Fira Code" panose="020B0809050000020004" pitchFamily="49" charset="0"/>
              </a:rPr>
              <a:t>：通过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@Results</a:t>
            </a:r>
            <a:r>
              <a:rPr lang="zh-CN" altLang="en-US">
                <a:latin typeface="Fira Code" panose="020B0809050000020004" pitchFamily="49" charset="0"/>
              </a:rPr>
              <a:t>及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@Result </a:t>
            </a:r>
            <a:r>
              <a:rPr lang="zh-CN" altLang="en-US">
                <a:latin typeface="Fira Code" panose="020B0809050000020004" pitchFamily="49" charset="0"/>
              </a:rPr>
              <a:t>进行手动结果映射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/>
              </a:rPr>
              <a:t>。</a:t>
            </a:r>
            <a:endParaRPr lang="en-US" altLang="zh-CN" sz="1600">
              <a:latin typeface="Fira Code" panose="020B0809050000020004" pitchFamily="49" charset="0"/>
              <a:ea typeface="阿里巴巴普惠体" panose="00020600040101010101"/>
            </a:endParaRPr>
          </a:p>
          <a:p>
            <a:pPr marL="28575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>
              <a:latin typeface="Fira Code" panose="020B0809050000020004" pitchFamily="49" charset="0"/>
              <a:ea typeface="阿里巴巴普惠体" panose="00020600040101010101"/>
            </a:endParaRPr>
          </a:p>
          <a:p>
            <a:pPr marL="28575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1600">
              <a:latin typeface="Fira Code" panose="020B0809050000020004" pitchFamily="49" charset="0"/>
              <a:ea typeface="阿里巴巴普惠体" panose="00020600040101010101"/>
            </a:endParaRPr>
          </a:p>
          <a:p>
            <a:pPr marL="28575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b="1">
                <a:latin typeface="Fira Code" panose="020B0809050000020004" pitchFamily="49" charset="0"/>
              </a:rPr>
              <a:t>起别名</a:t>
            </a:r>
            <a:r>
              <a:rPr lang="zh-CN" altLang="en-US">
                <a:latin typeface="Fira Code" panose="020B0809050000020004" pitchFamily="49" charset="0"/>
              </a:rPr>
              <a:t>：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/>
              </a:rPr>
              <a:t>在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/>
              </a:rPr>
              <a:t>语句中，对不一样的列名起别名，别名和实体类属性名一样。</a:t>
            </a:r>
            <a:endParaRPr lang="en-US" altLang="zh-CN" sz="1400">
              <a:latin typeface="Fira Code" panose="020B0809050000020004" pitchFamily="49" charset="0"/>
              <a:ea typeface="阿里巴巴普惠体" panose="00020600040101010101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endParaRPr lang="en-US" altLang="zh-CN" sz="1400">
              <a:latin typeface="Fira Code" panose="020B0809050000020004" pitchFamily="49" charset="0"/>
              <a:ea typeface="阿里巴巴普惠体" panose="00020600040101010101"/>
            </a:endParaRPr>
          </a:p>
          <a:p>
            <a:pPr marL="28575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b="1">
                <a:latin typeface="Fira Code" panose="020B0809050000020004" pitchFamily="49" charset="0"/>
              </a:rPr>
              <a:t>开启驼峰命名</a:t>
            </a:r>
            <a:r>
              <a:rPr lang="zh-CN" altLang="en-US">
                <a:latin typeface="Fira Code" panose="020B0809050000020004" pitchFamily="49" charset="0"/>
              </a:rPr>
              <a:t>：如果字段名与属性名符合驼峰命名规则，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mybatis</a:t>
            </a:r>
            <a:r>
              <a:rPr lang="zh-CN" altLang="en-US">
                <a:latin typeface="Fira Code" panose="020B0809050000020004" pitchFamily="49" charset="0"/>
              </a:rPr>
              <a:t>会自动通过驼峰命名规则映射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/>
              </a:rPr>
              <a:t>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F73A5A32-FBDF-C81C-A0ED-A648264BBAF2}"/>
              </a:ext>
            </a:extLst>
          </p:cNvPr>
          <p:cNvGrpSpPr/>
          <p:nvPr/>
        </p:nvGrpSpPr>
        <p:grpSpPr>
          <a:xfrm>
            <a:off x="942043" y="1478641"/>
            <a:ext cx="8838785" cy="1938870"/>
            <a:chOff x="2297720" y="3660322"/>
            <a:chExt cx="9738703" cy="193898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073F3DA-6498-5C23-7444-53F128EF600F}"/>
                </a:ext>
              </a:extLst>
            </p:cNvPr>
            <p:cNvSpPr/>
            <p:nvPr/>
          </p:nvSpPr>
          <p:spPr>
            <a:xfrm>
              <a:off x="2297727" y="3660325"/>
              <a:ext cx="9738696" cy="1938982"/>
            </a:xfrm>
            <a:prstGeom prst="roundRect">
              <a:avLst>
                <a:gd name="adj" fmla="val 483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@Results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({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9E880D"/>
                  </a:solidFill>
                  <a:effectLst/>
                </a:rPr>
                <a:t>@Result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(column = 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"create_time"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, property = 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"createTime"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),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9E880D"/>
                  </a:solidFill>
                  <a:effectLst/>
                </a:rPr>
                <a:t>@Result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(column = 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"update_time"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, property = 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"updateTime"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})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9E880D"/>
                  </a:solidFill>
                  <a:effectLst/>
                </a:rPr>
                <a:t>@Select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"select id, name, create_time, update_time from dept order by update_time desc"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Dept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findAll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();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F90E539D-DBE2-F78B-C57C-8EF1F8A67E40}"/>
                </a:ext>
              </a:extLst>
            </p:cNvPr>
            <p:cNvSpPr/>
            <p:nvPr/>
          </p:nvSpPr>
          <p:spPr>
            <a:xfrm>
              <a:off x="2297720" y="3660322"/>
              <a:ext cx="973869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900A2B1-19AA-760A-5410-57AC5823211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E039CE8-0312-06D0-AEF7-CDB15AFB21A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5F9F4FB-893C-E366-28A6-E9477F51784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2">
            <a:extLst>
              <a:ext uri="{FF2B5EF4-FFF2-40B4-BE49-F238E27FC236}">
                <a16:creationId xmlns:a16="http://schemas.microsoft.com/office/drawing/2014/main" id="{1D509F02-0339-86DC-DFDC-C30B7C48E70A}"/>
              </a:ext>
            </a:extLst>
          </p:cNvPr>
          <p:cNvGrpSpPr/>
          <p:nvPr/>
        </p:nvGrpSpPr>
        <p:grpSpPr>
          <a:xfrm>
            <a:off x="942044" y="4063736"/>
            <a:ext cx="8838790" cy="819202"/>
            <a:chOff x="2297720" y="3660322"/>
            <a:chExt cx="9738709" cy="81925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448F99A-40E5-F45F-3EF6-528379D14682}"/>
                </a:ext>
              </a:extLst>
            </p:cNvPr>
            <p:cNvSpPr/>
            <p:nvPr/>
          </p:nvSpPr>
          <p:spPr>
            <a:xfrm>
              <a:off x="2297727" y="3660326"/>
              <a:ext cx="9738702" cy="819247"/>
            </a:xfrm>
            <a:prstGeom prst="roundRect">
              <a:avLst>
                <a:gd name="adj" fmla="val 85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@Select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"select id, name, create_time createTime, update_time updateTime from dept ..."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Dept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findAll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();</a:t>
              </a: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1534D1C5-2745-818E-116F-993FA6D11786}"/>
                </a:ext>
              </a:extLst>
            </p:cNvPr>
            <p:cNvSpPr/>
            <p:nvPr/>
          </p:nvSpPr>
          <p:spPr>
            <a:xfrm>
              <a:off x="2297720" y="3660322"/>
              <a:ext cx="973870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E00EEEA-F23B-2849-D2F2-149DF28CBA0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A11073F-632D-2309-CB3C-D3EF92E6B84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73BBFC9-1419-2BA9-5EF4-1BC3A0C202E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2">
            <a:extLst>
              <a:ext uri="{FF2B5EF4-FFF2-40B4-BE49-F238E27FC236}">
                <a16:creationId xmlns:a16="http://schemas.microsoft.com/office/drawing/2014/main" id="{C454C5F9-59C3-56F7-C907-5DB1F7380352}"/>
              </a:ext>
            </a:extLst>
          </p:cNvPr>
          <p:cNvGrpSpPr/>
          <p:nvPr/>
        </p:nvGrpSpPr>
        <p:grpSpPr>
          <a:xfrm>
            <a:off x="942043" y="5605203"/>
            <a:ext cx="8838790" cy="1145221"/>
            <a:chOff x="2297720" y="3660322"/>
            <a:chExt cx="9738709" cy="1145290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9DB65CEC-87CD-83E3-594F-BC217FEB16C2}"/>
                </a:ext>
              </a:extLst>
            </p:cNvPr>
            <p:cNvSpPr/>
            <p:nvPr/>
          </p:nvSpPr>
          <p:spPr>
            <a:xfrm>
              <a:off x="2297727" y="3660327"/>
              <a:ext cx="9738702" cy="1145285"/>
            </a:xfrm>
            <a:prstGeom prst="roundRect">
              <a:avLst>
                <a:gd name="adj" fmla="val 993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000FF"/>
                  </a:solidFill>
                  <a:effectLst/>
                </a:rPr>
                <a:t>mybatis: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000FF"/>
                  </a:solidFill>
                </a:rPr>
                <a:t>  </a:t>
              </a:r>
              <a:r>
                <a:rPr lang="en-US" altLang="zh-CN" sz="1200">
                  <a:solidFill>
                    <a:srgbClr val="0000FF"/>
                  </a:solidFill>
                  <a:effectLst/>
                </a:rPr>
                <a:t>configuration</a:t>
              </a:r>
              <a:r>
                <a:rPr lang="en-US" altLang="zh-CN" sz="1200">
                  <a:solidFill>
                    <a:srgbClr val="0000FF"/>
                  </a:solidFill>
                </a:rPr>
                <a:t>: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000FF"/>
                  </a:solidFill>
                  <a:effectLst/>
                </a:rPr>
                <a:t>    map-underscore-to-camel-case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: 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true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29E3A6A9-CE3C-70BB-4291-CA3CC14F7653}"/>
                </a:ext>
              </a:extLst>
            </p:cNvPr>
            <p:cNvSpPr/>
            <p:nvPr/>
          </p:nvSpPr>
          <p:spPr>
            <a:xfrm>
              <a:off x="2297720" y="3660322"/>
              <a:ext cx="973870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application.yml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853D8A9-09EF-F255-5847-2455695D5C0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CABD798-1BDF-8804-8DEA-030CE3399BC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C49A85A2-5DAB-E77D-1782-B767C52EA2A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B093345E-B94D-A873-2F41-2C5868D4DFC4}"/>
              </a:ext>
            </a:extLst>
          </p:cNvPr>
          <p:cNvSpPr txBox="1"/>
          <p:nvPr/>
        </p:nvSpPr>
        <p:spPr>
          <a:xfrm>
            <a:off x="10046820" y="5575707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推荐</a:t>
            </a:r>
            <a:endParaRPr lang="zh-CN" altLang="en-US" sz="4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780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C751A0-7582-7449-0430-AFACDBCA4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Mybatis</a:t>
            </a:r>
            <a:r>
              <a:rPr lang="zh-CN" altLang="en-US" sz="1800"/>
              <a:t>默认数据封装的规则 </a:t>
            </a:r>
            <a:r>
              <a:rPr lang="en-US" altLang="zh-CN" sz="1800"/>
              <a:t>?</a:t>
            </a:r>
          </a:p>
          <a:p>
            <a:pPr marL="717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实体类属性名 和 数据库表的字段名一致，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mybatis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会自动封装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如果字段名与实体类属性名不一致，如何解决 ？</a:t>
            </a:r>
            <a:endParaRPr lang="en-US" altLang="zh-CN" sz="1800"/>
          </a:p>
          <a:p>
            <a:pPr marL="717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手动结果映射 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@Results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@Result</a:t>
            </a:r>
          </a:p>
          <a:p>
            <a:pPr marL="717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起别名</a:t>
            </a:r>
            <a:endParaRPr lang="en-US" altLang="zh-CN" sz="16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17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开启驼峰命名开关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要求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xxx_abc -&gt; xxxAbc)</a:t>
            </a:r>
            <a:endParaRPr lang="zh-CN" altLang="en-US" sz="16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169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9820E4-A147-F455-FD30-ED55E41EF7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查询部门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C45EB4-9F20-AAD6-2D64-84B1AE5BAE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060909"/>
          </a:xfrm>
        </p:spPr>
        <p:txBody>
          <a:bodyPr/>
          <a:lstStyle/>
          <a:p>
            <a:r>
              <a:rPr lang="zh-CN" altLang="en-US"/>
              <a:t>基本实现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前后端联调测试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8054435-47B8-0F00-706B-4CE0978737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9C846BA-E23A-5C7D-DB91-F26EA5D370F6}"/>
              </a:ext>
            </a:extLst>
          </p:cNvPr>
          <p:cNvGrpSpPr/>
          <p:nvPr/>
        </p:nvGrpSpPr>
        <p:grpSpPr>
          <a:xfrm>
            <a:off x="8243154" y="4964785"/>
            <a:ext cx="2173834" cy="219295"/>
            <a:chOff x="3968496" y="5095956"/>
            <a:chExt cx="2593294" cy="261610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B21EA4BC-B307-D50B-9FD6-753E7C36FFBB}"/>
                </a:ext>
              </a:extLst>
            </p:cNvPr>
            <p:cNvCxnSpPr>
              <a:cxnSpLocks/>
            </p:cNvCxnSpPr>
            <p:nvPr/>
          </p:nvCxnSpPr>
          <p:spPr>
            <a:xfrm>
              <a:off x="3968496" y="5357566"/>
              <a:ext cx="259329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771B942-8959-3171-05FE-263B4AFE9C9F}"/>
                </a:ext>
              </a:extLst>
            </p:cNvPr>
            <p:cNvSpPr txBox="1"/>
            <p:nvPr/>
          </p:nvSpPr>
          <p:spPr>
            <a:xfrm>
              <a:off x="4985496" y="5095956"/>
              <a:ext cx="55929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11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60E491-8C92-63C3-8B3E-B2DA9F9D92E8}"/>
              </a:ext>
            </a:extLst>
          </p:cNvPr>
          <p:cNvGrpSpPr/>
          <p:nvPr/>
        </p:nvGrpSpPr>
        <p:grpSpPr>
          <a:xfrm>
            <a:off x="8243154" y="5495003"/>
            <a:ext cx="2173834" cy="219295"/>
            <a:chOff x="3968496" y="5728482"/>
            <a:chExt cx="2593294" cy="261609"/>
          </a:xfrm>
        </p:grpSpPr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AF4BC96A-A64C-D086-1FB9-AA9564B59717}"/>
                </a:ext>
              </a:extLst>
            </p:cNvPr>
            <p:cNvCxnSpPr>
              <a:cxnSpLocks/>
            </p:cNvCxnSpPr>
            <p:nvPr/>
          </p:nvCxnSpPr>
          <p:spPr>
            <a:xfrm>
              <a:off x="3968496" y="5729422"/>
              <a:ext cx="259329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7002E98-418B-E082-4B0B-5705EF329D55}"/>
                </a:ext>
              </a:extLst>
            </p:cNvPr>
            <p:cNvSpPr txBox="1"/>
            <p:nvPr/>
          </p:nvSpPr>
          <p:spPr>
            <a:xfrm>
              <a:off x="4985496" y="5728482"/>
              <a:ext cx="559294" cy="2616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11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11" name="图片 10" descr="蓝色的标志&#10;&#10;描述已自动生成">
            <a:extLst>
              <a:ext uri="{FF2B5EF4-FFF2-40B4-BE49-F238E27FC236}">
                <a16:creationId xmlns:a16="http://schemas.microsoft.com/office/drawing/2014/main" id="{21A49D20-CFD1-399C-9581-261D1E451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299" y="4820405"/>
            <a:ext cx="1243807" cy="93871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4DF22DF-5BBB-8DCB-DFD4-783513F9C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0035" y="4820405"/>
            <a:ext cx="1243807" cy="94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3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前后端联调测试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02495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将资料中提供的前端工程文件夹中的压缩包，拷贝到一个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没有中文不带空格</a:t>
            </a:r>
            <a:r>
              <a:rPr lang="zh-CN" altLang="en-US">
                <a:latin typeface="Fira Code" panose="020B0809050000020004" pitchFamily="49" charset="0"/>
              </a:rPr>
              <a:t>的目录下，解压。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启动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nginx</a:t>
            </a:r>
            <a:r>
              <a:rPr lang="zh-CN" altLang="en-US">
                <a:latin typeface="Fira Code" panose="020B0809050000020004" pitchFamily="49" charset="0"/>
              </a:rPr>
              <a:t>，访问测试：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http://localhost:90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43BFD7-6692-80D7-9B30-938F89D1D2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8576" b="-13900"/>
          <a:stretch/>
        </p:blipFill>
        <p:spPr>
          <a:xfrm>
            <a:off x="9353254" y="1321734"/>
            <a:ext cx="2381547" cy="5171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6734079-E99E-B3E5-4D53-3F52EF3A9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73" y="1981200"/>
            <a:ext cx="10629263" cy="29230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484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前后端联调测试</a:t>
            </a:r>
          </a:p>
        </p:txBody>
      </p:sp>
      <p:sp>
        <p:nvSpPr>
          <p:cNvPr id="6" name="文本占位符 7">
            <a:extLst>
              <a:ext uri="{FF2B5EF4-FFF2-40B4-BE49-F238E27FC236}">
                <a16:creationId xmlns:a16="http://schemas.microsoft.com/office/drawing/2014/main" id="{46506B3D-E1D6-5F84-EA22-BD6EAB97EE7C}"/>
              </a:ext>
            </a:extLst>
          </p:cNvPr>
          <p:cNvSpPr txBox="1">
            <a:spLocks/>
          </p:cNvSpPr>
          <p:nvPr/>
        </p:nvSpPr>
        <p:spPr>
          <a:xfrm>
            <a:off x="576195" y="1104251"/>
            <a:ext cx="11302039" cy="5171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前端工程请求服务器的地址为                          ，是如何访问到后端的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tomcat</a:t>
            </a:r>
            <a:r>
              <a:rPr lang="zh-CN" altLang="en-US">
                <a:latin typeface="Fira Code" panose="020B0809050000020004" pitchFamily="49" charset="0"/>
              </a:rPr>
              <a:t>服务器的？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FA6BDA-5B32-C9F5-2589-A41DD3D34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14" y="1676019"/>
            <a:ext cx="7067852" cy="1641942"/>
          </a:xfrm>
          <a:prstGeom prst="roundRect">
            <a:avLst>
              <a:gd name="adj" fmla="val 3363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9DFCB82-90CB-04BD-6BE0-9AFE69C8D783}"/>
              </a:ext>
            </a:extLst>
          </p:cNvPr>
          <p:cNvSpPr txBox="1"/>
          <p:nvPr/>
        </p:nvSpPr>
        <p:spPr>
          <a:xfrm>
            <a:off x="8123559" y="2036523"/>
            <a:ext cx="2658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Nginx</a:t>
            </a:r>
            <a:r>
              <a:rPr lang="zh-CN" altLang="en-US" sz="28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的反向代理</a:t>
            </a:r>
            <a:endParaRPr lang="zh-CN" altLang="en-US" sz="28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9" name="!!流程图: 接点 2">
            <a:extLst>
              <a:ext uri="{FF2B5EF4-FFF2-40B4-BE49-F238E27FC236}">
                <a16:creationId xmlns:a16="http://schemas.microsoft.com/office/drawing/2014/main" id="{9454AADC-D5AA-E0A0-4E8E-7DD16EA084DC}"/>
              </a:ext>
            </a:extLst>
          </p:cNvPr>
          <p:cNvSpPr/>
          <p:nvPr/>
        </p:nvSpPr>
        <p:spPr>
          <a:xfrm>
            <a:off x="1024432" y="5188296"/>
            <a:ext cx="501769" cy="513257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前端</a:t>
            </a:r>
          </a:p>
        </p:txBody>
      </p:sp>
      <p:sp>
        <p:nvSpPr>
          <p:cNvPr id="10" name="!!流程图: 接点 4">
            <a:extLst>
              <a:ext uri="{FF2B5EF4-FFF2-40B4-BE49-F238E27FC236}">
                <a16:creationId xmlns:a16="http://schemas.microsoft.com/office/drawing/2014/main" id="{4733E7FC-02CA-3A66-2723-1E651601D665}"/>
              </a:ext>
            </a:extLst>
          </p:cNvPr>
          <p:cNvSpPr/>
          <p:nvPr/>
        </p:nvSpPr>
        <p:spPr>
          <a:xfrm>
            <a:off x="3518244" y="4425388"/>
            <a:ext cx="501769" cy="513257"/>
          </a:xfrm>
          <a:prstGeom prst="flowChartConnector">
            <a:avLst/>
          </a:prstGeom>
          <a:solidFill>
            <a:srgbClr val="42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代理</a:t>
            </a:r>
          </a:p>
        </p:txBody>
      </p:sp>
      <p:sp>
        <p:nvSpPr>
          <p:cNvPr id="11" name="!!流程图: 接点 5">
            <a:extLst>
              <a:ext uri="{FF2B5EF4-FFF2-40B4-BE49-F238E27FC236}">
                <a16:creationId xmlns:a16="http://schemas.microsoft.com/office/drawing/2014/main" id="{2A46BBEA-C6AD-E02B-4669-E50F58D6C2FA}"/>
              </a:ext>
            </a:extLst>
          </p:cNvPr>
          <p:cNvSpPr/>
          <p:nvPr/>
        </p:nvSpPr>
        <p:spPr>
          <a:xfrm>
            <a:off x="6598066" y="5188296"/>
            <a:ext cx="501769" cy="51325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后端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3BD0036-59ED-9AF4-6C69-2F32C5425EC3}"/>
              </a:ext>
            </a:extLst>
          </p:cNvPr>
          <p:cNvCxnSpPr>
            <a:cxnSpLocks/>
          </p:cNvCxnSpPr>
          <p:nvPr/>
        </p:nvCxnSpPr>
        <p:spPr>
          <a:xfrm>
            <a:off x="1569724" y="5444924"/>
            <a:ext cx="4920510" cy="24695"/>
          </a:xfrm>
          <a:prstGeom prst="straightConnector1">
            <a:avLst/>
          </a:prstGeom>
          <a:ln w="19050">
            <a:solidFill>
              <a:srgbClr val="4B4D57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B69F953-A5C5-562A-6D19-16213B40499B}"/>
              </a:ext>
            </a:extLst>
          </p:cNvPr>
          <p:cNvCxnSpPr>
            <a:cxnSpLocks/>
          </p:cNvCxnSpPr>
          <p:nvPr/>
        </p:nvCxnSpPr>
        <p:spPr>
          <a:xfrm flipV="1">
            <a:off x="1541747" y="4682016"/>
            <a:ext cx="1906692" cy="617143"/>
          </a:xfrm>
          <a:prstGeom prst="straightConnector1">
            <a:avLst/>
          </a:prstGeom>
          <a:ln w="19050">
            <a:solidFill>
              <a:srgbClr val="4B4D57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D5CBB83-C767-0A20-8000-BE7B884837A1}"/>
              </a:ext>
            </a:extLst>
          </p:cNvPr>
          <p:cNvCxnSpPr>
            <a:cxnSpLocks/>
          </p:cNvCxnSpPr>
          <p:nvPr/>
        </p:nvCxnSpPr>
        <p:spPr>
          <a:xfrm>
            <a:off x="4062133" y="4809033"/>
            <a:ext cx="2447328" cy="587329"/>
          </a:xfrm>
          <a:prstGeom prst="straightConnector1">
            <a:avLst/>
          </a:prstGeom>
          <a:ln w="19050">
            <a:solidFill>
              <a:srgbClr val="4B4D57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EB149C07-B0C0-2564-9BC6-1B3105C34E0F}"/>
              </a:ext>
            </a:extLst>
          </p:cNvPr>
          <p:cNvSpPr/>
          <p:nvPr/>
        </p:nvSpPr>
        <p:spPr>
          <a:xfrm>
            <a:off x="6593700" y="4589691"/>
            <a:ext cx="501769" cy="51325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后端</a:t>
            </a:r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93AC082E-38A4-49E8-572C-D9155EA6251D}"/>
              </a:ext>
            </a:extLst>
          </p:cNvPr>
          <p:cNvSpPr/>
          <p:nvPr/>
        </p:nvSpPr>
        <p:spPr>
          <a:xfrm>
            <a:off x="6593700" y="3991087"/>
            <a:ext cx="501769" cy="51325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后端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E1C6CC2-393D-BB53-CAA9-00192795082E}"/>
              </a:ext>
            </a:extLst>
          </p:cNvPr>
          <p:cNvCxnSpPr>
            <a:cxnSpLocks/>
          </p:cNvCxnSpPr>
          <p:nvPr/>
        </p:nvCxnSpPr>
        <p:spPr>
          <a:xfrm>
            <a:off x="4062133" y="4682017"/>
            <a:ext cx="2428101" cy="156908"/>
          </a:xfrm>
          <a:prstGeom prst="straightConnector1">
            <a:avLst/>
          </a:prstGeom>
          <a:ln w="19050">
            <a:solidFill>
              <a:srgbClr val="4B4D57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BBF0A23-F0C0-0F72-1270-24ADFD15B21B}"/>
              </a:ext>
            </a:extLst>
          </p:cNvPr>
          <p:cNvCxnSpPr>
            <a:cxnSpLocks/>
          </p:cNvCxnSpPr>
          <p:nvPr/>
        </p:nvCxnSpPr>
        <p:spPr>
          <a:xfrm flipV="1">
            <a:off x="4062133" y="4247715"/>
            <a:ext cx="2428101" cy="301348"/>
          </a:xfrm>
          <a:prstGeom prst="straightConnector1">
            <a:avLst/>
          </a:prstGeom>
          <a:ln w="19050">
            <a:solidFill>
              <a:srgbClr val="4B4D57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4DAB0991-EF59-7BFF-FE05-D033C1534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488" y="5293206"/>
            <a:ext cx="333290" cy="34092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8549DBD-770A-069B-87DE-18ACF71CFDAA}"/>
              </a:ext>
            </a:extLst>
          </p:cNvPr>
          <p:cNvSpPr txBox="1"/>
          <p:nvPr/>
        </p:nvSpPr>
        <p:spPr>
          <a:xfrm>
            <a:off x="7709825" y="3772078"/>
            <a:ext cx="162095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安全</a:t>
            </a:r>
            <a:endParaRPr lang="en-US" altLang="zh-CN" sz="200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灵活</a:t>
            </a:r>
            <a:endParaRPr lang="en-US" altLang="zh-CN" sz="200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负载均衡</a:t>
            </a:r>
            <a:endParaRPr lang="zh-CN" altLang="en-US" sz="2000" dirty="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1" name="!!文本框 30">
            <a:extLst>
              <a:ext uri="{FF2B5EF4-FFF2-40B4-BE49-F238E27FC236}">
                <a16:creationId xmlns:a16="http://schemas.microsoft.com/office/drawing/2014/main" id="{66585F29-8739-94F6-99E0-4A60823782E0}"/>
              </a:ext>
            </a:extLst>
          </p:cNvPr>
          <p:cNvSpPr txBox="1"/>
          <p:nvPr/>
        </p:nvSpPr>
        <p:spPr>
          <a:xfrm>
            <a:off x="3913418" y="1146071"/>
            <a:ext cx="369981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http://localhost:90/api/depts </a:t>
            </a:r>
            <a:endParaRPr lang="zh-CN" altLang="en-US" sz="1600"/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19D04BDD-8839-53E8-9305-BB7372E6B0F6}"/>
              </a:ext>
            </a:extLst>
          </p:cNvPr>
          <p:cNvSpPr/>
          <p:nvPr/>
        </p:nvSpPr>
        <p:spPr>
          <a:xfrm>
            <a:off x="854103" y="6038177"/>
            <a:ext cx="10763942" cy="513257"/>
          </a:xfrm>
          <a:prstGeom prst="round2DiagRect">
            <a:avLst>
              <a:gd name="adj1" fmla="val 12173"/>
              <a:gd name="adj2" fmla="val 0"/>
            </a:avLst>
          </a:prstGeom>
          <a:solidFill>
            <a:srgbClr val="42B883">
              <a:alpha val="25098"/>
            </a:srgbClr>
          </a:solidFill>
          <a:ln w="63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反向代理是一种网络架构，通过代理服务器为后端的服务器做代理，客户端的请求直接请求代理服务器，然后转发给后端的服务器。（安全、灵活、负载均衡）</a:t>
            </a:r>
            <a:endParaRPr lang="zh-CN" altLang="zh-CN" sz="12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!!流程图: 接点 5">
            <a:extLst>
              <a:ext uri="{FF2B5EF4-FFF2-40B4-BE49-F238E27FC236}">
                <a16:creationId xmlns:a16="http://schemas.microsoft.com/office/drawing/2014/main" id="{E4E7CD5E-EBDE-1B15-C822-6C963F22DF92}"/>
              </a:ext>
            </a:extLst>
          </p:cNvPr>
          <p:cNvSpPr/>
          <p:nvPr/>
        </p:nvSpPr>
        <p:spPr>
          <a:xfrm>
            <a:off x="7207667" y="5188296"/>
            <a:ext cx="501769" cy="51325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后端</a:t>
            </a:r>
          </a:p>
        </p:txBody>
      </p:sp>
      <p:sp>
        <p:nvSpPr>
          <p:cNvPr id="24" name="流程图: 接点 23">
            <a:extLst>
              <a:ext uri="{FF2B5EF4-FFF2-40B4-BE49-F238E27FC236}">
                <a16:creationId xmlns:a16="http://schemas.microsoft.com/office/drawing/2014/main" id="{E86CFE0F-CC23-F979-F886-FC4BFCD8C50B}"/>
              </a:ext>
            </a:extLst>
          </p:cNvPr>
          <p:cNvSpPr/>
          <p:nvPr/>
        </p:nvSpPr>
        <p:spPr>
          <a:xfrm>
            <a:off x="7203301" y="4589691"/>
            <a:ext cx="501769" cy="51325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后端</a:t>
            </a:r>
          </a:p>
        </p:txBody>
      </p: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1F52C308-CAEC-5A1B-A64E-2AACE4B5398D}"/>
              </a:ext>
            </a:extLst>
          </p:cNvPr>
          <p:cNvSpPr/>
          <p:nvPr/>
        </p:nvSpPr>
        <p:spPr>
          <a:xfrm>
            <a:off x="7203301" y="3991087"/>
            <a:ext cx="501769" cy="51325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后端</a:t>
            </a:r>
          </a:p>
        </p:txBody>
      </p:sp>
    </p:spTree>
    <p:extLst>
      <p:ext uri="{BB962C8B-B14F-4D97-AF65-F5344CB8AC3E}">
        <p14:creationId xmlns:p14="http://schemas.microsoft.com/office/powerpoint/2010/main" val="800362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5" grpId="0" animBg="1"/>
      <p:bldP spid="16" grpId="0" animBg="1"/>
      <p:bldP spid="20" grpId="0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前后端联调测试</a:t>
            </a:r>
          </a:p>
        </p:txBody>
      </p:sp>
      <p:sp>
        <p:nvSpPr>
          <p:cNvPr id="4" name="!!流程图: 接点 2">
            <a:extLst>
              <a:ext uri="{FF2B5EF4-FFF2-40B4-BE49-F238E27FC236}">
                <a16:creationId xmlns:a16="http://schemas.microsoft.com/office/drawing/2014/main" id="{D86D22E5-E279-90B5-5F42-B3842B412D56}"/>
              </a:ext>
            </a:extLst>
          </p:cNvPr>
          <p:cNvSpPr/>
          <p:nvPr/>
        </p:nvSpPr>
        <p:spPr>
          <a:xfrm>
            <a:off x="576196" y="3877222"/>
            <a:ext cx="2946939" cy="411073"/>
          </a:xfrm>
          <a:prstGeom prst="round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!!文本框 30">
            <a:extLst>
              <a:ext uri="{FF2B5EF4-FFF2-40B4-BE49-F238E27FC236}">
                <a16:creationId xmlns:a16="http://schemas.microsoft.com/office/drawing/2014/main" id="{481339C0-7349-8507-6074-912683D3A28B}"/>
              </a:ext>
            </a:extLst>
          </p:cNvPr>
          <p:cNvSpPr txBox="1">
            <a:spLocks/>
          </p:cNvSpPr>
          <p:nvPr/>
        </p:nvSpPr>
        <p:spPr>
          <a:xfrm>
            <a:off x="702754" y="4001642"/>
            <a:ext cx="2820381" cy="16223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http://localhost:90/api/depts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28315F1-C1FA-6031-6C52-0D14D361128C}"/>
              </a:ext>
            </a:extLst>
          </p:cNvPr>
          <p:cNvSpPr/>
          <p:nvPr/>
        </p:nvSpPr>
        <p:spPr>
          <a:xfrm>
            <a:off x="4675395" y="1285187"/>
            <a:ext cx="3419079" cy="2426202"/>
          </a:xfrm>
          <a:prstGeom prst="roundRect">
            <a:avLst>
              <a:gd name="adj" fmla="val 3732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server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  </a:t>
            </a: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listen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90;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 </a:t>
            </a:r>
            <a:r>
              <a:rPr lang="en-US" altLang="zh-CN" sz="11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#</a:t>
            </a:r>
            <a:r>
              <a:rPr lang="zh-CN" altLang="en-US" sz="11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省略</a:t>
            </a:r>
            <a:r>
              <a:rPr lang="en-US" altLang="zh-CN" sz="11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...</a:t>
            </a:r>
            <a:endParaRPr lang="en-US" altLang="zh-CN" sz="1100">
              <a:solidFill>
                <a:srgbClr val="00B050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  </a:t>
            </a: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location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^~ /api/ {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    </a:t>
            </a: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rewrite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^/api/(.*)$ /$1 break;</a:t>
            </a:r>
          </a:p>
          <a:p>
            <a:pPr defTabSz="540000">
              <a:lnSpc>
                <a:spcPct val="150000"/>
              </a:lnSpc>
            </a:pP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     proxy_pass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http://localhost:8080;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  }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}</a:t>
            </a:r>
          </a:p>
        </p:txBody>
      </p:sp>
      <p:sp>
        <p:nvSpPr>
          <p:cNvPr id="7" name="!!流程图: 接点 4">
            <a:extLst>
              <a:ext uri="{FF2B5EF4-FFF2-40B4-BE49-F238E27FC236}">
                <a16:creationId xmlns:a16="http://schemas.microsoft.com/office/drawing/2014/main" id="{2E9D77E9-28D2-35ED-4464-0402BACB6BA0}"/>
              </a:ext>
            </a:extLst>
          </p:cNvPr>
          <p:cNvSpPr/>
          <p:nvPr/>
        </p:nvSpPr>
        <p:spPr>
          <a:xfrm>
            <a:off x="4675388" y="1285184"/>
            <a:ext cx="3419079" cy="302106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42B88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</a:rPr>
              <a:t>Nginx/conf/nginx.conf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F059DA9-2476-EE87-0159-1BD43F136CE6}"/>
              </a:ext>
            </a:extLst>
          </p:cNvPr>
          <p:cNvSpPr>
            <a:spLocks/>
          </p:cNvSpPr>
          <p:nvPr/>
        </p:nvSpPr>
        <p:spPr>
          <a:xfrm>
            <a:off x="4753061" y="1363608"/>
            <a:ext cx="110654" cy="113616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662CDE9-9BD3-3A2F-2ABF-E3CFC39DEB17}"/>
              </a:ext>
            </a:extLst>
          </p:cNvPr>
          <p:cNvSpPr>
            <a:spLocks/>
          </p:cNvSpPr>
          <p:nvPr/>
        </p:nvSpPr>
        <p:spPr>
          <a:xfrm>
            <a:off x="5129709" y="1366735"/>
            <a:ext cx="110654" cy="113616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B03E5D5-0E52-B449-BFCA-732AF5AF2BDD}"/>
              </a:ext>
            </a:extLst>
          </p:cNvPr>
          <p:cNvSpPr/>
          <p:nvPr/>
        </p:nvSpPr>
        <p:spPr>
          <a:xfrm>
            <a:off x="4941385" y="1363608"/>
            <a:ext cx="110654" cy="113616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!!流程图: 接点 5">
            <a:extLst>
              <a:ext uri="{FF2B5EF4-FFF2-40B4-BE49-F238E27FC236}">
                <a16:creationId xmlns:a16="http://schemas.microsoft.com/office/drawing/2014/main" id="{3E051B3B-32DB-3C0A-A979-C4B2C1502D37}"/>
              </a:ext>
            </a:extLst>
          </p:cNvPr>
          <p:cNvSpPr/>
          <p:nvPr/>
        </p:nvSpPr>
        <p:spPr>
          <a:xfrm>
            <a:off x="9652716" y="3237184"/>
            <a:ext cx="1567590" cy="1366684"/>
          </a:xfrm>
          <a:prstGeom prst="flowChartDocument">
            <a:avLst/>
          </a:prstGeom>
          <a:solidFill>
            <a:srgbClr val="E46C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Tomcat</a:t>
            </a: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105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(8080)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C78D789-1676-5B18-44F5-8DEC26BB99FD}"/>
              </a:ext>
            </a:extLst>
          </p:cNvPr>
          <p:cNvCxnSpPr>
            <a:cxnSpLocks/>
          </p:cNvCxnSpPr>
          <p:nvPr/>
        </p:nvCxnSpPr>
        <p:spPr>
          <a:xfrm flipV="1">
            <a:off x="3573779" y="2420418"/>
            <a:ext cx="1011235" cy="1662340"/>
          </a:xfrm>
          <a:prstGeom prst="straightConnector1">
            <a:avLst/>
          </a:prstGeom>
          <a:ln w="19050">
            <a:solidFill>
              <a:srgbClr val="4B4D57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824FB08-DD17-5C2C-695A-D17C9E7E6D3F}"/>
              </a:ext>
            </a:extLst>
          </p:cNvPr>
          <p:cNvCxnSpPr>
            <a:cxnSpLocks/>
          </p:cNvCxnSpPr>
          <p:nvPr/>
        </p:nvCxnSpPr>
        <p:spPr>
          <a:xfrm>
            <a:off x="8184855" y="2420418"/>
            <a:ext cx="1380027" cy="1554517"/>
          </a:xfrm>
          <a:prstGeom prst="straightConnector1">
            <a:avLst/>
          </a:prstGeom>
          <a:ln w="19050">
            <a:solidFill>
              <a:srgbClr val="4B4D57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811AE36-A153-C0E9-04AD-F263506EC53C}"/>
              </a:ext>
            </a:extLst>
          </p:cNvPr>
          <p:cNvSpPr/>
          <p:nvPr/>
        </p:nvSpPr>
        <p:spPr>
          <a:xfrm>
            <a:off x="5240363" y="3121454"/>
            <a:ext cx="2766277" cy="491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!!文本框 30">
            <a:extLst>
              <a:ext uri="{FF2B5EF4-FFF2-40B4-BE49-F238E27FC236}">
                <a16:creationId xmlns:a16="http://schemas.microsoft.com/office/drawing/2014/main" id="{03ACF143-0C7E-EC25-993E-C90B50F5E61C}"/>
              </a:ext>
            </a:extLst>
          </p:cNvPr>
          <p:cNvSpPr txBox="1">
            <a:spLocks/>
          </p:cNvSpPr>
          <p:nvPr/>
        </p:nvSpPr>
        <p:spPr>
          <a:xfrm>
            <a:off x="8767987" y="2846151"/>
            <a:ext cx="2591454" cy="324464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</a:rPr>
              <a:t>http://localhost:8080/depts</a:t>
            </a:r>
            <a:endParaRPr lang="zh-CN" altLang="en-US" sz="1200"/>
          </a:p>
        </p:txBody>
      </p:sp>
      <p:sp>
        <p:nvSpPr>
          <p:cNvPr id="16" name="矩形: 对角圆角 15">
            <a:extLst>
              <a:ext uri="{FF2B5EF4-FFF2-40B4-BE49-F238E27FC236}">
                <a16:creationId xmlns:a16="http://schemas.microsoft.com/office/drawing/2014/main" id="{821386C1-48B0-7547-F2DE-32CC984B6AAA}"/>
              </a:ext>
            </a:extLst>
          </p:cNvPr>
          <p:cNvSpPr/>
          <p:nvPr/>
        </p:nvSpPr>
        <p:spPr>
          <a:xfrm>
            <a:off x="652110" y="5288896"/>
            <a:ext cx="10894431" cy="1366684"/>
          </a:xfrm>
          <a:prstGeom prst="round2DiagRect">
            <a:avLst>
              <a:gd name="adj1" fmla="val 12173"/>
              <a:gd name="adj2" fmla="val 0"/>
            </a:avLst>
          </a:prstGeom>
          <a:solidFill>
            <a:srgbClr val="42B883">
              <a:alpha val="25098"/>
            </a:srgbClr>
          </a:solidFill>
          <a:ln w="63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zh-CN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location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用于定义匹配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路径匹配</a:t>
            </a:r>
            <a:r>
              <a:rPr lang="zh-CN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的规则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zh-CN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^~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/api/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：</a:t>
            </a:r>
            <a:r>
              <a:rPr lang="zh-CN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表示精确匹配，即只匹配以/api/开头的路径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rewrite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：该指令用于重写匹配到的路径。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proxy_pass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：该指令用于代理转发，它将匹配到的请求转发给位于后端的指令服务器。</a:t>
            </a:r>
            <a:endParaRPr lang="zh-CN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5969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22446109-FA7F-6E4E-00E8-B6B914F3D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21899" y="995083"/>
            <a:ext cx="8008841" cy="408865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什么是反向代理</a:t>
            </a:r>
            <a:r>
              <a:rPr lang="en-US" altLang="zh-CN" sz="1800"/>
              <a:t>?  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反向代理是一种网络架构技术，通过反向代理服务器为后端服务器做代理</a:t>
            </a:r>
            <a:r>
              <a:rPr lang="en-US" alt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(</a:t>
            </a: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安全、灵活、负载均衡</a:t>
            </a:r>
            <a:r>
              <a:rPr lang="en-US" alt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Nginx</a:t>
            </a:r>
            <a:r>
              <a:rPr lang="zh-CN" altLang="en-US" sz="1800"/>
              <a:t>中反向代理的配置 </a:t>
            </a:r>
            <a:r>
              <a:rPr lang="en-US" altLang="zh-CN" sz="1800"/>
              <a:t>?</a:t>
            </a:r>
          </a:p>
          <a:p>
            <a:pPr marL="1314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400" b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</a:t>
            </a:r>
            <a:r>
              <a:rPr lang="en-US" altLang="zh-CN" sz="1400" b="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location</a:t>
            </a:r>
            <a:r>
              <a:rPr lang="en-US" altLang="zh-CN" sz="1400" b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^~ /api/ {</a:t>
            </a:r>
          </a:p>
          <a:p>
            <a:pPr marL="1314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400" b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  </a:t>
            </a:r>
            <a:r>
              <a:rPr lang="en-US" altLang="zh-CN" sz="1400" b="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rewrite</a:t>
            </a:r>
            <a:r>
              <a:rPr lang="en-US" altLang="zh-CN" sz="1400" b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^/api/(.*)$ /$1 break;</a:t>
            </a:r>
          </a:p>
          <a:p>
            <a:pPr marL="1314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400" b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  </a:t>
            </a:r>
            <a:r>
              <a:rPr lang="en-US" altLang="zh-CN" sz="1400" b="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proxy_pass</a:t>
            </a:r>
            <a:r>
              <a:rPr lang="en-US" altLang="zh-CN" sz="1400" b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http://localhost:8080;</a:t>
            </a:r>
          </a:p>
          <a:p>
            <a:pPr marL="1314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400" b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 }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102CC36-5806-446E-43F8-B60D553DCC94}"/>
              </a:ext>
            </a:extLst>
          </p:cNvPr>
          <p:cNvSpPr/>
          <p:nvPr/>
        </p:nvSpPr>
        <p:spPr>
          <a:xfrm>
            <a:off x="3899645" y="3034803"/>
            <a:ext cx="986117" cy="304270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64FA5D4-CA4C-A1DB-BA81-A0B983D2A757}"/>
              </a:ext>
            </a:extLst>
          </p:cNvPr>
          <p:cNvSpPr/>
          <p:nvPr/>
        </p:nvSpPr>
        <p:spPr>
          <a:xfrm>
            <a:off x="4132727" y="3459957"/>
            <a:ext cx="851646" cy="290570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FC1E6B2-1A73-9920-4D93-1391A0969D22}"/>
              </a:ext>
            </a:extLst>
          </p:cNvPr>
          <p:cNvSpPr/>
          <p:nvPr/>
        </p:nvSpPr>
        <p:spPr>
          <a:xfrm>
            <a:off x="4141691" y="3853481"/>
            <a:ext cx="1156446" cy="290570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14">
            <a:extLst>
              <a:ext uri="{FF2B5EF4-FFF2-40B4-BE49-F238E27FC236}">
                <a16:creationId xmlns:a16="http://schemas.microsoft.com/office/drawing/2014/main" id="{DE8D86D4-B5C4-1312-37E4-2DD1038D3970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H="1" flipV="1">
            <a:off x="3899645" y="3186938"/>
            <a:ext cx="222248" cy="2646984"/>
          </a:xfrm>
          <a:prstGeom prst="bentConnector4">
            <a:avLst>
              <a:gd name="adj1" fmla="val -102858"/>
              <a:gd name="adj2" fmla="val 100085"/>
            </a:avLst>
          </a:prstGeom>
          <a:ln w="19050">
            <a:solidFill>
              <a:srgbClr val="C0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A38B762-E6FE-25E8-C52B-BA102082D857}"/>
              </a:ext>
            </a:extLst>
          </p:cNvPr>
          <p:cNvSpPr txBox="1"/>
          <p:nvPr/>
        </p:nvSpPr>
        <p:spPr>
          <a:xfrm>
            <a:off x="4179204" y="5680033"/>
            <a:ext cx="2111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定义路径匹配方式</a:t>
            </a:r>
            <a:endParaRPr lang="zh-CN" altLang="en-US" sz="1400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3" name="直接连接符 14">
            <a:extLst>
              <a:ext uri="{FF2B5EF4-FFF2-40B4-BE49-F238E27FC236}">
                <a16:creationId xmlns:a16="http://schemas.microsoft.com/office/drawing/2014/main" id="{7311CD9D-0844-6FD3-0C7F-44484695813B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H="1" flipV="1">
            <a:off x="4132727" y="3605241"/>
            <a:ext cx="15798" cy="1874309"/>
          </a:xfrm>
          <a:prstGeom prst="bentConnector4">
            <a:avLst>
              <a:gd name="adj1" fmla="val -2071224"/>
              <a:gd name="adj2" fmla="val 100063"/>
            </a:avLst>
          </a:prstGeom>
          <a:ln w="19050">
            <a:solidFill>
              <a:srgbClr val="C0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BF359B51-FB54-5EA0-954C-C3A720950EC1}"/>
              </a:ext>
            </a:extLst>
          </p:cNvPr>
          <p:cNvSpPr txBox="1"/>
          <p:nvPr/>
        </p:nvSpPr>
        <p:spPr>
          <a:xfrm>
            <a:off x="4185178" y="5356410"/>
            <a:ext cx="161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路径重写指令</a:t>
            </a:r>
            <a:endParaRPr lang="zh-CN" altLang="en-US" sz="1400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D5364B7-4984-FE91-18DD-BE1EADF0633A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H="1" flipV="1">
            <a:off x="4141690" y="3998765"/>
            <a:ext cx="15793" cy="1141297"/>
          </a:xfrm>
          <a:prstGeom prst="bentConnector4">
            <a:avLst>
              <a:gd name="adj1" fmla="val -1447477"/>
              <a:gd name="adj2" fmla="val 99986"/>
            </a:avLst>
          </a:prstGeom>
          <a:ln w="19050">
            <a:solidFill>
              <a:srgbClr val="C0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136EFE9-3CB7-870E-FFC0-700871518C32}"/>
              </a:ext>
            </a:extLst>
          </p:cNvPr>
          <p:cNvSpPr txBox="1"/>
          <p:nvPr/>
        </p:nvSpPr>
        <p:spPr>
          <a:xfrm>
            <a:off x="4179204" y="4997166"/>
            <a:ext cx="161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代理转发指令</a:t>
            </a:r>
            <a:endParaRPr lang="zh-CN" altLang="en-US" sz="1400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027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/>
      <p:bldP spid="14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CA61343-E3CE-AAA2-1F09-6F8EBAD749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565" y="1303823"/>
            <a:ext cx="3692525" cy="3313001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查询部门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删除部门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新增部门</a:t>
            </a:r>
            <a:endParaRPr lang="en-US" altLang="zh-CN"/>
          </a:p>
          <a:p>
            <a:r>
              <a:rPr lang="zh-CN" altLang="en-US"/>
              <a:t>修改部门</a:t>
            </a:r>
            <a:endParaRPr lang="en-US" altLang="zh-CN"/>
          </a:p>
          <a:p>
            <a:r>
              <a:rPr lang="zh-CN" altLang="en-US"/>
              <a:t>日志技术</a:t>
            </a:r>
          </a:p>
        </p:txBody>
      </p:sp>
    </p:spTree>
    <p:extLst>
      <p:ext uri="{BB962C8B-B14F-4D97-AF65-F5344CB8AC3E}">
        <p14:creationId xmlns:p14="http://schemas.microsoft.com/office/powerpoint/2010/main" val="3435026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D36411-5407-A668-9C8C-C127739D80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删除部门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246FB4-1C5C-2D72-FABA-A7F95FA523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307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EE704C-2A44-A93E-F951-130CB3389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83" y="992942"/>
            <a:ext cx="8339256" cy="39824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占位符 14">
            <a:extLst>
              <a:ext uri="{FF2B5EF4-FFF2-40B4-BE49-F238E27FC236}">
                <a16:creationId xmlns:a16="http://schemas.microsoft.com/office/drawing/2014/main" id="{F172CCC5-2591-B7F7-D1C4-C060C8C9E3DD}"/>
              </a:ext>
            </a:extLst>
          </p:cNvPr>
          <p:cNvSpPr txBox="1">
            <a:spLocks/>
          </p:cNvSpPr>
          <p:nvPr/>
        </p:nvSpPr>
        <p:spPr>
          <a:xfrm>
            <a:off x="9414124" y="1958171"/>
            <a:ext cx="2651055" cy="5171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删除的条件：主键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ID</a:t>
            </a:r>
            <a:endParaRPr lang="zh-CN" altLang="en-US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750451E-EE20-3F99-6714-1688FA812AF8}"/>
              </a:ext>
            </a:extLst>
          </p:cNvPr>
          <p:cNvSpPr/>
          <p:nvPr/>
        </p:nvSpPr>
        <p:spPr>
          <a:xfrm>
            <a:off x="7723095" y="2106815"/>
            <a:ext cx="384585" cy="21990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98275A3-9058-F651-A26C-C8FF6D216807}"/>
              </a:ext>
            </a:extLst>
          </p:cNvPr>
          <p:cNvCxnSpPr>
            <a:cxnSpLocks/>
          </p:cNvCxnSpPr>
          <p:nvPr/>
        </p:nvCxnSpPr>
        <p:spPr>
          <a:xfrm>
            <a:off x="8107680" y="2216766"/>
            <a:ext cx="1151414" cy="0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81081DD5-B218-3D68-77B6-5F6A17F6F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709" y="2831686"/>
            <a:ext cx="6987597" cy="36899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743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思路分析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明确了删除部门的需求之后，再来梳理一下实现该功能时，三层架构每一层的职责：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CC7751-78BB-8291-9141-39B0DFFC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530" y="3413820"/>
            <a:ext cx="932333" cy="1302786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A99D0AB-EA4D-C2D8-7AC6-9E02B5862C47}"/>
              </a:ext>
            </a:extLst>
          </p:cNvPr>
          <p:cNvGrpSpPr/>
          <p:nvPr/>
        </p:nvGrpSpPr>
        <p:grpSpPr>
          <a:xfrm>
            <a:off x="726137" y="3749668"/>
            <a:ext cx="780070" cy="786974"/>
            <a:chOff x="1288572" y="3466291"/>
            <a:chExt cx="1076475" cy="1086002"/>
          </a:xfrm>
        </p:grpSpPr>
        <p:pic>
          <p:nvPicPr>
            <p:cNvPr id="6" name="图片 0">
              <a:extLst>
                <a:ext uri="{FF2B5EF4-FFF2-40B4-BE49-F238E27FC236}">
                  <a16:creationId xmlns:a16="http://schemas.microsoft.com/office/drawing/2014/main" id="{F26DA8C5-B30B-73E3-12CE-F2B8DA7F8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7" name="图片 1">
              <a:extLst>
                <a:ext uri="{FF2B5EF4-FFF2-40B4-BE49-F238E27FC236}">
                  <a16:creationId xmlns:a16="http://schemas.microsoft.com/office/drawing/2014/main" id="{64795ADD-BF51-F7B6-6DC7-A5F54F0C9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9F237490-42A1-4653-C238-DC9D745CA951}"/>
              </a:ext>
            </a:extLst>
          </p:cNvPr>
          <p:cNvSpPr/>
          <p:nvPr/>
        </p:nvSpPr>
        <p:spPr>
          <a:xfrm>
            <a:off x="1673764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FFDEBCA-9A14-16A8-FB79-C00D29D4B29C}"/>
              </a:ext>
            </a:extLst>
          </p:cNvPr>
          <p:cNvSpPr/>
          <p:nvPr/>
        </p:nvSpPr>
        <p:spPr>
          <a:xfrm>
            <a:off x="4390070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6DA8259D-6D79-BA2E-156B-11BEC3CB3059}"/>
              </a:ext>
            </a:extLst>
          </p:cNvPr>
          <p:cNvSpPr/>
          <p:nvPr/>
        </p:nvSpPr>
        <p:spPr>
          <a:xfrm>
            <a:off x="7187057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507EB657-854D-B2EE-A488-433C4DF5D5CF}"/>
              </a:ext>
            </a:extLst>
          </p:cNvPr>
          <p:cNvSpPr/>
          <p:nvPr/>
        </p:nvSpPr>
        <p:spPr>
          <a:xfrm>
            <a:off x="9903363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7BF1F78-CAE9-8389-20D7-7A335B8B5D7D}"/>
              </a:ext>
            </a:extLst>
          </p:cNvPr>
          <p:cNvGrpSpPr/>
          <p:nvPr/>
        </p:nvGrpSpPr>
        <p:grpSpPr>
          <a:xfrm>
            <a:off x="2303931" y="2912210"/>
            <a:ext cx="1900517" cy="2611635"/>
            <a:chOff x="2303931" y="2912210"/>
            <a:chExt cx="1900517" cy="261163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F4F67DF-AC52-8B78-E46F-3AA3FCD8B986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流程图: 文档 13">
              <a:extLst>
                <a:ext uri="{FF2B5EF4-FFF2-40B4-BE49-F238E27FC236}">
                  <a16:creationId xmlns:a16="http://schemas.microsoft.com/office/drawing/2014/main" id="{E8240F19-9ED4-5691-E96E-AFFC5A324796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5" name="!!流程图: 文档 1">
            <a:extLst>
              <a:ext uri="{FF2B5EF4-FFF2-40B4-BE49-F238E27FC236}">
                <a16:creationId xmlns:a16="http://schemas.microsoft.com/office/drawing/2014/main" id="{5952FDFD-DC81-F6D9-5CEC-161A6775FF1D}"/>
              </a:ext>
            </a:extLst>
          </p:cNvPr>
          <p:cNvSpPr/>
          <p:nvPr/>
        </p:nvSpPr>
        <p:spPr>
          <a:xfrm>
            <a:off x="2303930" y="3312902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(/depts?id=8)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层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CEBF0FD-67B7-B1DD-9065-0F3DF616E938}"/>
              </a:ext>
            </a:extLst>
          </p:cNvPr>
          <p:cNvGrpSpPr/>
          <p:nvPr/>
        </p:nvGrpSpPr>
        <p:grpSpPr>
          <a:xfrm>
            <a:off x="5100918" y="2912210"/>
            <a:ext cx="1900517" cy="2615624"/>
            <a:chOff x="5100918" y="2912210"/>
            <a:chExt cx="1900517" cy="2615624"/>
          </a:xfrm>
        </p:grpSpPr>
        <p:sp>
          <p:nvSpPr>
            <p:cNvPr id="17" name="流程图: 文档 16">
              <a:extLst>
                <a:ext uri="{FF2B5EF4-FFF2-40B4-BE49-F238E27FC236}">
                  <a16:creationId xmlns:a16="http://schemas.microsoft.com/office/drawing/2014/main" id="{F4867767-3FF0-D205-0681-4B732226DB73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254681E-18C5-638E-520A-9B3C6E6328F4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9" name="流程图: 文档 18">
            <a:extLst>
              <a:ext uri="{FF2B5EF4-FFF2-40B4-BE49-F238E27FC236}">
                <a16:creationId xmlns:a16="http://schemas.microsoft.com/office/drawing/2014/main" id="{6A29EDA9-DEBE-1C0D-B0E0-AF69079AFC82}"/>
              </a:ext>
            </a:extLst>
          </p:cNvPr>
          <p:cNvSpPr/>
          <p:nvPr/>
        </p:nvSpPr>
        <p:spPr>
          <a:xfrm>
            <a:off x="5100918" y="3315621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接口方法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A6925A7-0F52-7E68-0B16-0150A565A0D2}"/>
              </a:ext>
            </a:extLst>
          </p:cNvPr>
          <p:cNvGrpSpPr/>
          <p:nvPr/>
        </p:nvGrpSpPr>
        <p:grpSpPr>
          <a:xfrm>
            <a:off x="7897904" y="2912210"/>
            <a:ext cx="1900518" cy="2607825"/>
            <a:chOff x="7897904" y="2912210"/>
            <a:chExt cx="1900518" cy="2607825"/>
          </a:xfrm>
        </p:grpSpPr>
        <p:sp>
          <p:nvSpPr>
            <p:cNvPr id="21" name="流程图: 文档 20">
              <a:extLst>
                <a:ext uri="{FF2B5EF4-FFF2-40B4-BE49-F238E27FC236}">
                  <a16:creationId xmlns:a16="http://schemas.microsoft.com/office/drawing/2014/main" id="{BBDF154B-0F1F-A494-0501-5C99D6341CCD}"/>
                </a:ext>
              </a:extLst>
            </p:cNvPr>
            <p:cNvSpPr/>
            <p:nvPr/>
          </p:nvSpPr>
          <p:spPr>
            <a:xfrm>
              <a:off x="7897904" y="331290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F51ACB8-8FC6-AE73-F10B-B76BE782CFB4}"/>
                </a:ext>
              </a:extLst>
            </p:cNvPr>
            <p:cNvSpPr/>
            <p:nvPr/>
          </p:nvSpPr>
          <p:spPr>
            <a:xfrm>
              <a:off x="7897905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3" name="流程图: 文档 22">
            <a:extLst>
              <a:ext uri="{FF2B5EF4-FFF2-40B4-BE49-F238E27FC236}">
                <a16:creationId xmlns:a16="http://schemas.microsoft.com/office/drawing/2014/main" id="{8495C9E5-11E0-D91D-432F-271706055700}"/>
              </a:ext>
            </a:extLst>
          </p:cNvPr>
          <p:cNvSpPr/>
          <p:nvPr/>
        </p:nvSpPr>
        <p:spPr>
          <a:xfrm>
            <a:off x="7897903" y="3312901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delete from dept where id = ?</a:t>
            </a:r>
            <a:endParaRPr lang="zh-CN" altLang="en-US" sz="11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190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5" grpId="0" animBg="1"/>
      <p:bldP spid="15" grpId="1" animBg="1"/>
      <p:bldP spid="19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Controller</a:t>
            </a:r>
            <a:r>
              <a:rPr lang="zh-CN" altLang="en-US"/>
              <a:t>接收参数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05" y="2403834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方式一：通过原始的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HttpServletRequest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zh-CN" altLang="en-US">
                <a:latin typeface="Fira Code" panose="020B0809050000020004" pitchFamily="49" charset="0"/>
              </a:rPr>
              <a:t>对象获取请求参数。</a:t>
            </a:r>
          </a:p>
        </p:txBody>
      </p:sp>
      <p:sp>
        <p:nvSpPr>
          <p:cNvPr id="4" name="!!流程图: 文档 1">
            <a:extLst>
              <a:ext uri="{FF2B5EF4-FFF2-40B4-BE49-F238E27FC236}">
                <a16:creationId xmlns:a16="http://schemas.microsoft.com/office/drawing/2014/main" id="{7CC8DDB9-1691-8B18-487C-03EB30F7347E}"/>
              </a:ext>
            </a:extLst>
          </p:cNvPr>
          <p:cNvSpPr/>
          <p:nvPr/>
        </p:nvSpPr>
        <p:spPr>
          <a:xfrm>
            <a:off x="696260" y="1136218"/>
            <a:ext cx="10507830" cy="623255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接收请求参数：</a:t>
            </a:r>
            <a:r>
              <a:rPr lang="en-US" altLang="zh-CN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  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/depts?id=8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51E969-7718-7186-7411-B0422950C00D}"/>
              </a:ext>
            </a:extLst>
          </p:cNvPr>
          <p:cNvSpPr txBox="1"/>
          <p:nvPr/>
        </p:nvSpPr>
        <p:spPr>
          <a:xfrm>
            <a:off x="10167770" y="1202219"/>
            <a:ext cx="10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简单参数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34EFD2-37A7-6580-F51C-47BC186FA4AB}"/>
              </a:ext>
            </a:extLst>
          </p:cNvPr>
          <p:cNvSpPr/>
          <p:nvPr/>
        </p:nvSpPr>
        <p:spPr>
          <a:xfrm>
            <a:off x="3974947" y="1551307"/>
            <a:ext cx="561195" cy="609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7" name="组合 2">
            <a:extLst>
              <a:ext uri="{FF2B5EF4-FFF2-40B4-BE49-F238E27FC236}">
                <a16:creationId xmlns:a16="http://schemas.microsoft.com/office/drawing/2014/main" id="{3D441E88-F12B-B714-2963-3C4FDF4FF52E}"/>
              </a:ext>
            </a:extLst>
          </p:cNvPr>
          <p:cNvGrpSpPr/>
          <p:nvPr/>
        </p:nvGrpSpPr>
        <p:grpSpPr>
          <a:xfrm>
            <a:off x="1017191" y="2966797"/>
            <a:ext cx="5915511" cy="2358239"/>
            <a:chOff x="2297720" y="3660322"/>
            <a:chExt cx="6517796" cy="235837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73DA870-8943-5B4D-363C-8E5CFBA27D6E}"/>
                </a:ext>
              </a:extLst>
            </p:cNvPr>
            <p:cNvSpPr/>
            <p:nvPr/>
          </p:nvSpPr>
          <p:spPr>
            <a:xfrm>
              <a:off x="2297727" y="3660324"/>
              <a:ext cx="6517789" cy="2358377"/>
            </a:xfrm>
            <a:prstGeom prst="roundRect">
              <a:avLst>
                <a:gd name="adj" fmla="val 277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@DeleteMapping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"/depts"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  <a:ea typeface="Fira Code" panose="020B0809050000020004" pitchFamily="49" charset="0"/>
                </a:rPr>
                <a:t>delete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HttpServletRequest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request){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String idStr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= request.getParameter(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"id"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int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id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=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Integer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parseInt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idStr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System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out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.println(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ID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删除部门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: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 "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+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id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57A7DA32-4793-0F06-8798-36649C742B68}"/>
                </a:ext>
              </a:extLst>
            </p:cNvPr>
            <p:cNvSpPr/>
            <p:nvPr/>
          </p:nvSpPr>
          <p:spPr>
            <a:xfrm>
              <a:off x="2297720" y="3660322"/>
              <a:ext cx="65177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946D64-E68F-0641-EEC9-8BE76685B8F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151D3E6-41C1-8961-71B7-10F21F163BE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43C4F060-7358-F40C-2E69-827889CC138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8C490D75-1AB8-4535-F168-45D19F0EE4EB}"/>
              </a:ext>
            </a:extLst>
          </p:cNvPr>
          <p:cNvSpPr/>
          <p:nvPr/>
        </p:nvSpPr>
        <p:spPr>
          <a:xfrm>
            <a:off x="1017190" y="3876626"/>
            <a:ext cx="5915505" cy="568445"/>
          </a:xfrm>
          <a:prstGeom prst="rect">
            <a:avLst/>
          </a:prstGeom>
          <a:solidFill>
            <a:srgbClr val="FF0000">
              <a:alpha val="2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73B99B-D128-1513-5340-4BB3405D1DA1}"/>
              </a:ext>
            </a:extLst>
          </p:cNvPr>
          <p:cNvSpPr txBox="1"/>
          <p:nvPr/>
        </p:nvSpPr>
        <p:spPr>
          <a:xfrm>
            <a:off x="6932695" y="3808599"/>
            <a:ext cx="2079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繁琐</a:t>
            </a:r>
            <a:endParaRPr lang="en-US" altLang="zh-CN" sz="240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手动类型转换</a:t>
            </a:r>
            <a:endParaRPr lang="zh-CN" altLang="en-US" sz="24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1669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Controller</a:t>
            </a:r>
            <a:r>
              <a:rPr lang="zh-CN" altLang="en-US"/>
              <a:t>接收参数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05" y="2403834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方式二：通过</a:t>
            </a:r>
            <a:r>
              <a:rPr lang="en-US" altLang="zh-CN">
                <a:latin typeface="Fira Code" panose="020B0809050000020004" pitchFamily="49" charset="0"/>
              </a:rPr>
              <a:t>Spring</a:t>
            </a:r>
            <a:r>
              <a:rPr lang="zh-CN" altLang="en-US">
                <a:latin typeface="Fira Code" panose="020B0809050000020004" pitchFamily="49" charset="0"/>
              </a:rPr>
              <a:t>提供的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</a:rPr>
              <a:t>@RequestParam</a:t>
            </a:r>
            <a:r>
              <a:rPr lang="en-US" altLang="zh-CN">
                <a:latin typeface="Fira Code" panose="020B0809050000020004" pitchFamily="49" charset="0"/>
              </a:rPr>
              <a:t> </a:t>
            </a:r>
            <a:r>
              <a:rPr lang="zh-CN" altLang="en-US">
                <a:latin typeface="Fira Code" panose="020B0809050000020004" pitchFamily="49" charset="0"/>
              </a:rPr>
              <a:t>注解，将请求参数绑定给方法形参。</a:t>
            </a:r>
          </a:p>
        </p:txBody>
      </p:sp>
      <p:sp>
        <p:nvSpPr>
          <p:cNvPr id="4" name="!!流程图: 文档 1">
            <a:extLst>
              <a:ext uri="{FF2B5EF4-FFF2-40B4-BE49-F238E27FC236}">
                <a16:creationId xmlns:a16="http://schemas.microsoft.com/office/drawing/2014/main" id="{7CC8DDB9-1691-8B18-487C-03EB30F7347E}"/>
              </a:ext>
            </a:extLst>
          </p:cNvPr>
          <p:cNvSpPr/>
          <p:nvPr/>
        </p:nvSpPr>
        <p:spPr>
          <a:xfrm>
            <a:off x="696260" y="1136218"/>
            <a:ext cx="10507830" cy="623255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接收请求参数：</a:t>
            </a:r>
            <a:r>
              <a:rPr lang="en-US" altLang="zh-CN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  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/depts?id=8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51E969-7718-7186-7411-B0422950C00D}"/>
              </a:ext>
            </a:extLst>
          </p:cNvPr>
          <p:cNvSpPr txBox="1"/>
          <p:nvPr/>
        </p:nvSpPr>
        <p:spPr>
          <a:xfrm>
            <a:off x="10167770" y="1202219"/>
            <a:ext cx="10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简单参数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34EFD2-37A7-6580-F51C-47BC186FA4AB}"/>
              </a:ext>
            </a:extLst>
          </p:cNvPr>
          <p:cNvSpPr/>
          <p:nvPr/>
        </p:nvSpPr>
        <p:spPr>
          <a:xfrm>
            <a:off x="3974947" y="1551307"/>
            <a:ext cx="561195" cy="609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5" name="组合 2">
            <a:extLst>
              <a:ext uri="{FF2B5EF4-FFF2-40B4-BE49-F238E27FC236}">
                <a16:creationId xmlns:a16="http://schemas.microsoft.com/office/drawing/2014/main" id="{648EBB2B-DB0D-5080-D517-F1F3B0089F11}"/>
              </a:ext>
            </a:extLst>
          </p:cNvPr>
          <p:cNvGrpSpPr/>
          <p:nvPr/>
        </p:nvGrpSpPr>
        <p:grpSpPr>
          <a:xfrm>
            <a:off x="1017191" y="3056837"/>
            <a:ext cx="5915511" cy="1845827"/>
            <a:chOff x="2297720" y="3660322"/>
            <a:chExt cx="6517796" cy="1845936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80A4CAD2-3837-5290-D090-F8E4D4BE64AB}"/>
                </a:ext>
              </a:extLst>
            </p:cNvPr>
            <p:cNvSpPr/>
            <p:nvPr/>
          </p:nvSpPr>
          <p:spPr>
            <a:xfrm>
              <a:off x="2297727" y="3660324"/>
              <a:ext cx="6517789" cy="1845934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@DeleteMapping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"/depts"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delete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@RequestParam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"id"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Integer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deptId){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out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.println(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ID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删除部门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: "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+ deptId);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17" name="矩形: 圆顶角 16">
              <a:extLst>
                <a:ext uri="{FF2B5EF4-FFF2-40B4-BE49-F238E27FC236}">
                  <a16:creationId xmlns:a16="http://schemas.microsoft.com/office/drawing/2014/main" id="{EA458FB2-DD54-93CC-96E4-C86088E4F5C6}"/>
                </a:ext>
              </a:extLst>
            </p:cNvPr>
            <p:cNvSpPr/>
            <p:nvPr/>
          </p:nvSpPr>
          <p:spPr>
            <a:xfrm>
              <a:off x="2297720" y="3660322"/>
              <a:ext cx="65177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5C1AAA8C-9838-E3A8-350D-C8DDDBBDD2C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ED09D48-2BE5-E9E9-B609-B4D7706FD1E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5D43DC0-9FCE-7C54-DEA4-64370DE6364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65D8FDA0-9183-827E-109F-51B10672000B}"/>
              </a:ext>
            </a:extLst>
          </p:cNvPr>
          <p:cNvSpPr/>
          <p:nvPr/>
        </p:nvSpPr>
        <p:spPr>
          <a:xfrm>
            <a:off x="3042617" y="3931361"/>
            <a:ext cx="1771426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0A5FAE5-6C78-6DBF-2E26-4F652FDDBD1B}"/>
              </a:ext>
            </a:extLst>
          </p:cNvPr>
          <p:cNvGrpSpPr/>
          <p:nvPr/>
        </p:nvGrpSpPr>
        <p:grpSpPr>
          <a:xfrm>
            <a:off x="1017191" y="6073193"/>
            <a:ext cx="10502452" cy="448408"/>
            <a:chOff x="710879" y="5978768"/>
            <a:chExt cx="10502686" cy="448408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5F2745DA-ACD7-9B2A-3D17-3B7078FAE41F}"/>
                </a:ext>
              </a:extLst>
            </p:cNvPr>
            <p:cNvSpPr/>
            <p:nvPr/>
          </p:nvSpPr>
          <p:spPr>
            <a:xfrm>
              <a:off x="710880" y="5978769"/>
              <a:ext cx="10502685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@RequestParam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注解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required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属性默认为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true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，代表该参数必须传递，如果不传递将报错。 如果参数可选，可以将属性设置为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false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。</a:t>
              </a:r>
              <a:endPara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Alibaba PuHuiTi R" pitchFamily="18" charset="-122"/>
              </a:endParaRPr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5314AB83-A786-0C23-6D85-F2A8631A5F25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Shape 2468">
              <a:extLst>
                <a:ext uri="{FF2B5EF4-FFF2-40B4-BE49-F238E27FC236}">
                  <a16:creationId xmlns:a16="http://schemas.microsoft.com/office/drawing/2014/main" id="{FC3FE77E-771E-B6BE-38B8-8EA47ED0BDE8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BB06F60-9510-5642-F9F4-153D2536A87D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982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Controller</a:t>
            </a:r>
            <a:r>
              <a:rPr lang="zh-CN" altLang="en-US"/>
              <a:t>接收参数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05" y="2403834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方式三：如果请求参数名与形参变量名相同，直接定义方法形参即可接收。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（省略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</a:rPr>
              <a:t>@RequestParam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）</a:t>
            </a:r>
          </a:p>
        </p:txBody>
      </p:sp>
      <p:sp>
        <p:nvSpPr>
          <p:cNvPr id="4" name="!!流程图: 文档 1">
            <a:extLst>
              <a:ext uri="{FF2B5EF4-FFF2-40B4-BE49-F238E27FC236}">
                <a16:creationId xmlns:a16="http://schemas.microsoft.com/office/drawing/2014/main" id="{7CC8DDB9-1691-8B18-487C-03EB30F7347E}"/>
              </a:ext>
            </a:extLst>
          </p:cNvPr>
          <p:cNvSpPr/>
          <p:nvPr/>
        </p:nvSpPr>
        <p:spPr>
          <a:xfrm>
            <a:off x="696260" y="1136218"/>
            <a:ext cx="10507830" cy="623255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接收请求参数：</a:t>
            </a:r>
            <a:r>
              <a:rPr lang="en-US" altLang="zh-CN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  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/depts?id=8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51E969-7718-7186-7411-B0422950C00D}"/>
              </a:ext>
            </a:extLst>
          </p:cNvPr>
          <p:cNvSpPr txBox="1"/>
          <p:nvPr/>
        </p:nvSpPr>
        <p:spPr>
          <a:xfrm>
            <a:off x="10167770" y="1202219"/>
            <a:ext cx="10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简单参数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34EFD2-37A7-6580-F51C-47BC186FA4AB}"/>
              </a:ext>
            </a:extLst>
          </p:cNvPr>
          <p:cNvSpPr/>
          <p:nvPr/>
        </p:nvSpPr>
        <p:spPr>
          <a:xfrm>
            <a:off x="3974947" y="1551307"/>
            <a:ext cx="561195" cy="609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7" name="组合 2">
            <a:extLst>
              <a:ext uri="{FF2B5EF4-FFF2-40B4-BE49-F238E27FC236}">
                <a16:creationId xmlns:a16="http://schemas.microsoft.com/office/drawing/2014/main" id="{0ECA3E96-D504-4D53-C764-796DA099A110}"/>
              </a:ext>
            </a:extLst>
          </p:cNvPr>
          <p:cNvGrpSpPr/>
          <p:nvPr/>
        </p:nvGrpSpPr>
        <p:grpSpPr>
          <a:xfrm>
            <a:off x="1017191" y="2977185"/>
            <a:ext cx="5915511" cy="1845827"/>
            <a:chOff x="2297720" y="3660322"/>
            <a:chExt cx="6517796" cy="184593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3E05842-5887-C898-24F8-4753436D1472}"/>
                </a:ext>
              </a:extLst>
            </p:cNvPr>
            <p:cNvSpPr/>
            <p:nvPr/>
          </p:nvSpPr>
          <p:spPr>
            <a:xfrm>
              <a:off x="2297727" y="3660324"/>
              <a:ext cx="6517789" cy="1845934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@DeleteMapping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"/depts"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delete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@RequestParam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"id"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Integer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id){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out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.println(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ID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删除部门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: "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+ id);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085A33AB-B5F0-05FD-14E7-12F20D0C3E00}"/>
                </a:ext>
              </a:extLst>
            </p:cNvPr>
            <p:cNvSpPr/>
            <p:nvPr/>
          </p:nvSpPr>
          <p:spPr>
            <a:xfrm>
              <a:off x="2297720" y="3660322"/>
              <a:ext cx="65177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B304065-BBCE-B1F1-74E5-A3F3E7E3034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8926C0C-F68F-BA83-FD53-4637BD8F659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36D0B85-88EC-7022-1EFC-174B765B31D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D25F86D-C526-F480-653D-E26E7DEEA1C1}"/>
              </a:ext>
            </a:extLst>
          </p:cNvPr>
          <p:cNvSpPr/>
          <p:nvPr/>
        </p:nvSpPr>
        <p:spPr>
          <a:xfrm>
            <a:off x="3024096" y="3605582"/>
            <a:ext cx="3726323" cy="303029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Integer 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id){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A576FB-3633-F76F-C68E-30CF136852CB}"/>
              </a:ext>
            </a:extLst>
          </p:cNvPr>
          <p:cNvSpPr/>
          <p:nvPr/>
        </p:nvSpPr>
        <p:spPr>
          <a:xfrm>
            <a:off x="3013338" y="3860729"/>
            <a:ext cx="110145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937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E927E9-293A-050A-B930-934EDBEA95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简单参数接收方式</a:t>
            </a:r>
            <a:endParaRPr lang="en-US" altLang="zh-CN" sz="1800"/>
          </a:p>
          <a:p>
            <a:pPr marL="753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方式一：通过原始的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HttpServletRequest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对象获取</a:t>
            </a:r>
            <a:endParaRPr lang="en-US" altLang="zh-CN" sz="14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394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  String xxx = request.getParameter("xxx");</a:t>
            </a:r>
          </a:p>
          <a:p>
            <a:pPr marL="753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方式二：通过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@RequestParam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注解进行参数绑定</a:t>
            </a:r>
            <a:endParaRPr lang="en-US" altLang="zh-CN" sz="1400" b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394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public Result del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(@RequestParam("id")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Integer deptId){}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53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方式三：保证请求参数名与形参变量名相同，直接接收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推荐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注意事项</a:t>
            </a:r>
            <a:endParaRPr lang="en-US" altLang="zh-CN" sz="1800"/>
          </a:p>
          <a:p>
            <a:pPr marL="2394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一旦加了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@RequestParam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注解，该参数必须传递，因为默认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required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为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050474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思路分析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明确了删除部门的需求之后，再来梳理一下实现该功能时，三层架构每一层的职责：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CC7751-78BB-8291-9141-39B0DFFC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530" y="3413820"/>
            <a:ext cx="932333" cy="1302786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A99D0AB-EA4D-C2D8-7AC6-9E02B5862C47}"/>
              </a:ext>
            </a:extLst>
          </p:cNvPr>
          <p:cNvGrpSpPr/>
          <p:nvPr/>
        </p:nvGrpSpPr>
        <p:grpSpPr>
          <a:xfrm>
            <a:off x="726137" y="3749668"/>
            <a:ext cx="780070" cy="786974"/>
            <a:chOff x="1288572" y="3466291"/>
            <a:chExt cx="1076475" cy="1086002"/>
          </a:xfrm>
        </p:grpSpPr>
        <p:pic>
          <p:nvPicPr>
            <p:cNvPr id="6" name="图片 0">
              <a:extLst>
                <a:ext uri="{FF2B5EF4-FFF2-40B4-BE49-F238E27FC236}">
                  <a16:creationId xmlns:a16="http://schemas.microsoft.com/office/drawing/2014/main" id="{F26DA8C5-B30B-73E3-12CE-F2B8DA7F8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7" name="图片 1">
              <a:extLst>
                <a:ext uri="{FF2B5EF4-FFF2-40B4-BE49-F238E27FC236}">
                  <a16:creationId xmlns:a16="http://schemas.microsoft.com/office/drawing/2014/main" id="{64795ADD-BF51-F7B6-6DC7-A5F54F0C9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9F237490-42A1-4653-C238-DC9D745CA951}"/>
              </a:ext>
            </a:extLst>
          </p:cNvPr>
          <p:cNvSpPr/>
          <p:nvPr/>
        </p:nvSpPr>
        <p:spPr>
          <a:xfrm>
            <a:off x="1673764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FFDEBCA-9A14-16A8-FB79-C00D29D4B29C}"/>
              </a:ext>
            </a:extLst>
          </p:cNvPr>
          <p:cNvSpPr/>
          <p:nvPr/>
        </p:nvSpPr>
        <p:spPr>
          <a:xfrm>
            <a:off x="4390070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6DA8259D-6D79-BA2E-156B-11BEC3CB3059}"/>
              </a:ext>
            </a:extLst>
          </p:cNvPr>
          <p:cNvSpPr/>
          <p:nvPr/>
        </p:nvSpPr>
        <p:spPr>
          <a:xfrm>
            <a:off x="7187057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507EB657-854D-B2EE-A488-433C4DF5D5CF}"/>
              </a:ext>
            </a:extLst>
          </p:cNvPr>
          <p:cNvSpPr/>
          <p:nvPr/>
        </p:nvSpPr>
        <p:spPr>
          <a:xfrm>
            <a:off x="9903363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7BF1F78-CAE9-8389-20D7-7A335B8B5D7D}"/>
              </a:ext>
            </a:extLst>
          </p:cNvPr>
          <p:cNvGrpSpPr/>
          <p:nvPr/>
        </p:nvGrpSpPr>
        <p:grpSpPr>
          <a:xfrm>
            <a:off x="2303931" y="2912210"/>
            <a:ext cx="1900517" cy="2611635"/>
            <a:chOff x="2303931" y="2912210"/>
            <a:chExt cx="1900517" cy="261163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F4F67DF-AC52-8B78-E46F-3AA3FCD8B986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流程图: 文档 13">
              <a:extLst>
                <a:ext uri="{FF2B5EF4-FFF2-40B4-BE49-F238E27FC236}">
                  <a16:creationId xmlns:a16="http://schemas.microsoft.com/office/drawing/2014/main" id="{E8240F19-9ED4-5691-E96E-AFFC5A324796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5" name="!!流程图: 文档 1">
            <a:extLst>
              <a:ext uri="{FF2B5EF4-FFF2-40B4-BE49-F238E27FC236}">
                <a16:creationId xmlns:a16="http://schemas.microsoft.com/office/drawing/2014/main" id="{5952FDFD-DC81-F6D9-5CEC-161A6775FF1D}"/>
              </a:ext>
            </a:extLst>
          </p:cNvPr>
          <p:cNvSpPr/>
          <p:nvPr/>
        </p:nvSpPr>
        <p:spPr>
          <a:xfrm>
            <a:off x="2303930" y="3312902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(/depts?id=8)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层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CEBF0FD-67B7-B1DD-9065-0F3DF616E938}"/>
              </a:ext>
            </a:extLst>
          </p:cNvPr>
          <p:cNvGrpSpPr/>
          <p:nvPr/>
        </p:nvGrpSpPr>
        <p:grpSpPr>
          <a:xfrm>
            <a:off x="5100918" y="2912210"/>
            <a:ext cx="1900517" cy="2615624"/>
            <a:chOff x="5100918" y="2912210"/>
            <a:chExt cx="1900517" cy="2615624"/>
          </a:xfrm>
        </p:grpSpPr>
        <p:sp>
          <p:nvSpPr>
            <p:cNvPr id="17" name="流程图: 文档 16">
              <a:extLst>
                <a:ext uri="{FF2B5EF4-FFF2-40B4-BE49-F238E27FC236}">
                  <a16:creationId xmlns:a16="http://schemas.microsoft.com/office/drawing/2014/main" id="{F4867767-3FF0-D205-0681-4B732226DB73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254681E-18C5-638E-520A-9B3C6E6328F4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9" name="流程图: 文档 18">
            <a:extLst>
              <a:ext uri="{FF2B5EF4-FFF2-40B4-BE49-F238E27FC236}">
                <a16:creationId xmlns:a16="http://schemas.microsoft.com/office/drawing/2014/main" id="{6A29EDA9-DEBE-1C0D-B0E0-AF69079AFC82}"/>
              </a:ext>
            </a:extLst>
          </p:cNvPr>
          <p:cNvSpPr/>
          <p:nvPr/>
        </p:nvSpPr>
        <p:spPr>
          <a:xfrm>
            <a:off x="5100918" y="3315621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接口方法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A6925A7-0F52-7E68-0B16-0150A565A0D2}"/>
              </a:ext>
            </a:extLst>
          </p:cNvPr>
          <p:cNvGrpSpPr/>
          <p:nvPr/>
        </p:nvGrpSpPr>
        <p:grpSpPr>
          <a:xfrm>
            <a:off x="7897904" y="2912210"/>
            <a:ext cx="1900518" cy="2607825"/>
            <a:chOff x="7897904" y="2912210"/>
            <a:chExt cx="1900518" cy="2607825"/>
          </a:xfrm>
        </p:grpSpPr>
        <p:sp>
          <p:nvSpPr>
            <p:cNvPr id="21" name="流程图: 文档 20">
              <a:extLst>
                <a:ext uri="{FF2B5EF4-FFF2-40B4-BE49-F238E27FC236}">
                  <a16:creationId xmlns:a16="http://schemas.microsoft.com/office/drawing/2014/main" id="{BBDF154B-0F1F-A494-0501-5C99D6341CCD}"/>
                </a:ext>
              </a:extLst>
            </p:cNvPr>
            <p:cNvSpPr/>
            <p:nvPr/>
          </p:nvSpPr>
          <p:spPr>
            <a:xfrm>
              <a:off x="7897904" y="331290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F51ACB8-8FC6-AE73-F10B-B76BE782CFB4}"/>
                </a:ext>
              </a:extLst>
            </p:cNvPr>
            <p:cNvSpPr/>
            <p:nvPr/>
          </p:nvSpPr>
          <p:spPr>
            <a:xfrm>
              <a:off x="7897905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3" name="流程图: 文档 22">
            <a:extLst>
              <a:ext uri="{FF2B5EF4-FFF2-40B4-BE49-F238E27FC236}">
                <a16:creationId xmlns:a16="http://schemas.microsoft.com/office/drawing/2014/main" id="{8495C9E5-11E0-D91D-432F-271706055700}"/>
              </a:ext>
            </a:extLst>
          </p:cNvPr>
          <p:cNvSpPr/>
          <p:nvPr/>
        </p:nvSpPr>
        <p:spPr>
          <a:xfrm>
            <a:off x="7897903" y="3312901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delete from dept where id = ?</a:t>
            </a:r>
            <a:endParaRPr lang="zh-CN" altLang="en-US" sz="11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86581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删除部门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DB0B6F3B-2DE3-22D0-ECAB-E6C2DA37D859}"/>
              </a:ext>
            </a:extLst>
          </p:cNvPr>
          <p:cNvGrpSpPr/>
          <p:nvPr/>
        </p:nvGrpSpPr>
        <p:grpSpPr>
          <a:xfrm>
            <a:off x="685496" y="1048741"/>
            <a:ext cx="7483144" cy="2214410"/>
            <a:chOff x="2297719" y="3660322"/>
            <a:chExt cx="8245037" cy="221454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D57C9DD0-04DE-B69F-128A-2ACBAC9F8772}"/>
                </a:ext>
              </a:extLst>
            </p:cNvPr>
            <p:cNvSpPr/>
            <p:nvPr/>
          </p:nvSpPr>
          <p:spPr>
            <a:xfrm>
              <a:off x="2297727" y="3660324"/>
              <a:ext cx="8245029" cy="2214539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@DeleteMapping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"/depts"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delete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){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System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out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.println(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"根据ID删除部门数据: "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+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deptService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.delete(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success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();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A67BC174-2334-90B5-D9D9-4E592EBC41DC}"/>
                </a:ext>
              </a:extLst>
            </p:cNvPr>
            <p:cNvSpPr/>
            <p:nvPr/>
          </p:nvSpPr>
          <p:spPr>
            <a:xfrm>
              <a:off x="2297719" y="3660322"/>
              <a:ext cx="824502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DeptController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03C7303-BCB8-8A4D-CC1E-D859278CBF1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C7A8B25-020C-1F4E-F030-5C0488797CF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F8FF452-0C2D-666E-761E-2B39A7F90F5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B96681B7-8DA6-F8C0-BA81-7141C8234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组合 2">
            <a:extLst>
              <a:ext uri="{FF2B5EF4-FFF2-40B4-BE49-F238E27FC236}">
                <a16:creationId xmlns:a16="http://schemas.microsoft.com/office/drawing/2014/main" id="{8E87BFB2-7145-D779-F339-35B184727665}"/>
              </a:ext>
            </a:extLst>
          </p:cNvPr>
          <p:cNvGrpSpPr/>
          <p:nvPr/>
        </p:nvGrpSpPr>
        <p:grpSpPr>
          <a:xfrm>
            <a:off x="685490" y="3572500"/>
            <a:ext cx="7483143" cy="1609098"/>
            <a:chOff x="2297719" y="3660322"/>
            <a:chExt cx="8245036" cy="16091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4207F41-214F-9676-1040-1FF704A2D7AA}"/>
                </a:ext>
              </a:extLst>
            </p:cNvPr>
            <p:cNvSpPr/>
            <p:nvPr/>
          </p:nvSpPr>
          <p:spPr>
            <a:xfrm>
              <a:off x="2297727" y="3660324"/>
              <a:ext cx="8245028" cy="1609191"/>
            </a:xfrm>
            <a:prstGeom prst="roundRect">
              <a:avLst>
                <a:gd name="adj" fmla="val 480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@Override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void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delete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{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deptMapper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.delete(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98E881DE-448E-D733-E872-10BC8DC0640F}"/>
                </a:ext>
              </a:extLst>
            </p:cNvPr>
            <p:cNvSpPr/>
            <p:nvPr/>
          </p:nvSpPr>
          <p:spPr>
            <a:xfrm>
              <a:off x="2297719" y="3660322"/>
              <a:ext cx="824502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DeptServiceImpl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A331416-9546-465D-596D-02E293FEC55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B629053-3D72-15B2-7A22-CF1D8F6A451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B3E48B6-C688-343A-C4CE-5C24F9462A0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Rectangle 2">
            <a:extLst>
              <a:ext uri="{FF2B5EF4-FFF2-40B4-BE49-F238E27FC236}">
                <a16:creationId xmlns:a16="http://schemas.microsoft.com/office/drawing/2014/main" id="{F7026F8B-F164-A70F-11F8-4FC864685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8" name="组合 2">
            <a:extLst>
              <a:ext uri="{FF2B5EF4-FFF2-40B4-BE49-F238E27FC236}">
                <a16:creationId xmlns:a16="http://schemas.microsoft.com/office/drawing/2014/main" id="{5D736D17-06EA-E0F7-7757-0D29FA7EEE91}"/>
              </a:ext>
            </a:extLst>
          </p:cNvPr>
          <p:cNvGrpSpPr/>
          <p:nvPr/>
        </p:nvGrpSpPr>
        <p:grpSpPr>
          <a:xfrm>
            <a:off x="685485" y="5490949"/>
            <a:ext cx="7483141" cy="1026609"/>
            <a:chOff x="2297720" y="3660322"/>
            <a:chExt cx="8245033" cy="1026670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6DA2C7F8-6938-058A-79C2-0EE91FC18053}"/>
                </a:ext>
              </a:extLst>
            </p:cNvPr>
            <p:cNvSpPr/>
            <p:nvPr/>
          </p:nvSpPr>
          <p:spPr>
            <a:xfrm>
              <a:off x="2297727" y="3660324"/>
              <a:ext cx="8245026" cy="1026668"/>
            </a:xfrm>
            <a:prstGeom prst="roundRect">
              <a:avLst>
                <a:gd name="adj" fmla="val 648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@Delete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delete from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dept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 where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rPr>
                <a:t> =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#{id}"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void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delete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zh-CN" altLang="zh-CN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0" name="矩形: 圆顶角 19">
              <a:extLst>
                <a:ext uri="{FF2B5EF4-FFF2-40B4-BE49-F238E27FC236}">
                  <a16:creationId xmlns:a16="http://schemas.microsoft.com/office/drawing/2014/main" id="{5D0457A8-56A9-2C7A-0DDB-8FA1570E48E4}"/>
                </a:ext>
              </a:extLst>
            </p:cNvPr>
            <p:cNvSpPr/>
            <p:nvPr/>
          </p:nvSpPr>
          <p:spPr>
            <a:xfrm>
              <a:off x="2297720" y="3660322"/>
              <a:ext cx="824502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2430D97-43E3-8ACE-28DE-72D11347A36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702720D-311E-BA35-596F-1F911552C25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87566FFE-FF75-B1E4-2C27-123086554FF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Rectangle 3">
            <a:extLst>
              <a:ext uri="{FF2B5EF4-FFF2-40B4-BE49-F238E27FC236}">
                <a16:creationId xmlns:a16="http://schemas.microsoft.com/office/drawing/2014/main" id="{B630DC65-DAF3-749B-6770-AC49C2DC1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8076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CA61343-E3CE-AAA2-1F09-6F8EBAD749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565" y="1303823"/>
            <a:ext cx="3692525" cy="3313001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查询部门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删除部门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新增部门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修改部门</a:t>
            </a:r>
            <a:endParaRPr lang="en-US" altLang="zh-CN"/>
          </a:p>
          <a:p>
            <a:r>
              <a:rPr lang="zh-CN" altLang="en-US"/>
              <a:t>日志技术</a:t>
            </a:r>
          </a:p>
        </p:txBody>
      </p:sp>
    </p:spTree>
    <p:extLst>
      <p:ext uri="{BB962C8B-B14F-4D97-AF65-F5344CB8AC3E}">
        <p14:creationId xmlns:p14="http://schemas.microsoft.com/office/powerpoint/2010/main" val="24691745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E98E7A-723A-69C9-B3D5-D54982339F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新增部门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0564AB-C583-4BE4-82C8-1D05F2F822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1290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E55D11-CBF4-6CA3-D8CF-22520AD1F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1131276"/>
            <a:ext cx="8762177" cy="50944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E0AE2F2-315A-6422-110D-E21D4E93DC6D}"/>
              </a:ext>
            </a:extLst>
          </p:cNvPr>
          <p:cNvSpPr/>
          <p:nvPr/>
        </p:nvSpPr>
        <p:spPr>
          <a:xfrm>
            <a:off x="717177" y="1122311"/>
            <a:ext cx="8771142" cy="5103428"/>
          </a:xfrm>
          <a:prstGeom prst="rect">
            <a:avLst/>
          </a:prstGeom>
          <a:solidFill>
            <a:srgbClr val="262626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EF5844-E7A4-1DDE-8BB9-1A6F74285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93" y="3060608"/>
            <a:ext cx="3768610" cy="1789298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E2330A7C-F9DF-BA6D-95F2-BD4A7A990E2B}"/>
              </a:ext>
            </a:extLst>
          </p:cNvPr>
          <p:cNvSpPr/>
          <p:nvPr/>
        </p:nvSpPr>
        <p:spPr>
          <a:xfrm>
            <a:off x="5504330" y="4285130"/>
            <a:ext cx="851647" cy="31376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ACA249A-C53E-51AB-B592-E50122644318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355977" y="4422490"/>
            <a:ext cx="1483658" cy="19522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C2C02DF-8E2B-16D0-42A3-A6CFEAE517BD}"/>
              </a:ext>
            </a:extLst>
          </p:cNvPr>
          <p:cNvSpPr txBox="1"/>
          <p:nvPr/>
        </p:nvSpPr>
        <p:spPr>
          <a:xfrm>
            <a:off x="7911949" y="4268601"/>
            <a:ext cx="2024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往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dept</a:t>
            </a:r>
            <a:r>
              <a:rPr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表插入一条数据</a:t>
            </a:r>
            <a:endParaRPr lang="zh-CN" altLang="en-US" sz="1400" dirty="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98CA021-2F14-6122-0B80-0D576B088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893" y="1719603"/>
            <a:ext cx="8322907" cy="49252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073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思路分析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明确了新增部门的需求之后，再来梳理一下实现该功能时，三层架构每一层的职责：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ED5B6F-DDFE-4093-93DE-D6CE68022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530" y="3413820"/>
            <a:ext cx="932333" cy="1302786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8EB25623-6D64-9151-0EF6-CE8A0E781BE9}"/>
              </a:ext>
            </a:extLst>
          </p:cNvPr>
          <p:cNvGrpSpPr/>
          <p:nvPr/>
        </p:nvGrpSpPr>
        <p:grpSpPr>
          <a:xfrm>
            <a:off x="726137" y="3749668"/>
            <a:ext cx="780070" cy="786974"/>
            <a:chOff x="1288572" y="3466291"/>
            <a:chExt cx="1076475" cy="1086002"/>
          </a:xfrm>
        </p:grpSpPr>
        <p:pic>
          <p:nvPicPr>
            <p:cNvPr id="6" name="图片 0">
              <a:extLst>
                <a:ext uri="{FF2B5EF4-FFF2-40B4-BE49-F238E27FC236}">
                  <a16:creationId xmlns:a16="http://schemas.microsoft.com/office/drawing/2014/main" id="{37CBFC32-7E2F-8A4F-700C-93BAC8611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7" name="图片 1">
              <a:extLst>
                <a:ext uri="{FF2B5EF4-FFF2-40B4-BE49-F238E27FC236}">
                  <a16:creationId xmlns:a16="http://schemas.microsoft.com/office/drawing/2014/main" id="{02333CE1-8CCD-E23C-0754-2CB64FEDC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A87F17BB-5663-085B-1A52-D3BB280F3374}"/>
              </a:ext>
            </a:extLst>
          </p:cNvPr>
          <p:cNvSpPr/>
          <p:nvPr/>
        </p:nvSpPr>
        <p:spPr>
          <a:xfrm>
            <a:off x="1673764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5782464-F93E-E97B-6886-53686CC7ADBA}"/>
              </a:ext>
            </a:extLst>
          </p:cNvPr>
          <p:cNvSpPr/>
          <p:nvPr/>
        </p:nvSpPr>
        <p:spPr>
          <a:xfrm>
            <a:off x="4390070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6A45E731-C025-C751-F2B4-586BACCA2D3E}"/>
              </a:ext>
            </a:extLst>
          </p:cNvPr>
          <p:cNvSpPr/>
          <p:nvPr/>
        </p:nvSpPr>
        <p:spPr>
          <a:xfrm>
            <a:off x="7187057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160570EE-C00C-A10F-BA5F-FA93ADA1F2D8}"/>
              </a:ext>
            </a:extLst>
          </p:cNvPr>
          <p:cNvSpPr/>
          <p:nvPr/>
        </p:nvSpPr>
        <p:spPr>
          <a:xfrm>
            <a:off x="9903363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1BE0E89-9EC3-1E23-E15E-7402B3B58516}"/>
              </a:ext>
            </a:extLst>
          </p:cNvPr>
          <p:cNvGrpSpPr/>
          <p:nvPr/>
        </p:nvGrpSpPr>
        <p:grpSpPr>
          <a:xfrm>
            <a:off x="2303931" y="2912210"/>
            <a:ext cx="1900517" cy="2611635"/>
            <a:chOff x="2303931" y="2912210"/>
            <a:chExt cx="1900517" cy="261163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2C65C03-7FF9-D2BE-AADD-B1526C9DC68D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流程图: 文档 13">
              <a:extLst>
                <a:ext uri="{FF2B5EF4-FFF2-40B4-BE49-F238E27FC236}">
                  <a16:creationId xmlns:a16="http://schemas.microsoft.com/office/drawing/2014/main" id="{4E1A4DC0-18AC-F429-00EB-61A848D2EB78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5" name="!!流程图: 文档 1">
            <a:extLst>
              <a:ext uri="{FF2B5EF4-FFF2-40B4-BE49-F238E27FC236}">
                <a16:creationId xmlns:a16="http://schemas.microsoft.com/office/drawing/2014/main" id="{950DB348-6490-3030-6A60-1FE0F18D27BB}"/>
              </a:ext>
            </a:extLst>
          </p:cNvPr>
          <p:cNvSpPr/>
          <p:nvPr/>
        </p:nvSpPr>
        <p:spPr>
          <a:xfrm>
            <a:off x="2303930" y="3312902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{"name":"</a:t>
            </a:r>
            <a:r>
              <a:rPr lang="zh-CN" altLang="en-US" sz="11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教研部</a:t>
            </a:r>
            <a:r>
              <a:rPr lang="en-US" altLang="zh-CN" sz="11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"}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(/depts)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层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A98B349-2C7C-3D19-8D16-5FD3621FB1F2}"/>
              </a:ext>
            </a:extLst>
          </p:cNvPr>
          <p:cNvGrpSpPr/>
          <p:nvPr/>
        </p:nvGrpSpPr>
        <p:grpSpPr>
          <a:xfrm>
            <a:off x="5100918" y="2912210"/>
            <a:ext cx="1900517" cy="2615624"/>
            <a:chOff x="5100918" y="2912210"/>
            <a:chExt cx="1900517" cy="2615624"/>
          </a:xfrm>
        </p:grpSpPr>
        <p:sp>
          <p:nvSpPr>
            <p:cNvPr id="17" name="流程图: 文档 16">
              <a:extLst>
                <a:ext uri="{FF2B5EF4-FFF2-40B4-BE49-F238E27FC236}">
                  <a16:creationId xmlns:a16="http://schemas.microsoft.com/office/drawing/2014/main" id="{8E8D4F94-B917-93CE-A88C-A9D7A57EFC6A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9B1931C-F439-821D-70ED-B9D06597DF5F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9" name="流程图: 文档 18">
            <a:extLst>
              <a:ext uri="{FF2B5EF4-FFF2-40B4-BE49-F238E27FC236}">
                <a16:creationId xmlns:a16="http://schemas.microsoft.com/office/drawing/2014/main" id="{220117EE-9D64-B71F-419F-C238B8B79536}"/>
              </a:ext>
            </a:extLst>
          </p:cNvPr>
          <p:cNvSpPr/>
          <p:nvPr/>
        </p:nvSpPr>
        <p:spPr>
          <a:xfrm>
            <a:off x="5100918" y="3315621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补全基础属性</a:t>
            </a:r>
            <a:endParaRPr lang="en-US" altLang="zh-CN" sz="11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接口方法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D61B87C-7BDF-95E2-16FD-0E0DEB57ABC1}"/>
              </a:ext>
            </a:extLst>
          </p:cNvPr>
          <p:cNvGrpSpPr/>
          <p:nvPr/>
        </p:nvGrpSpPr>
        <p:grpSpPr>
          <a:xfrm>
            <a:off x="7897904" y="2912210"/>
            <a:ext cx="1900518" cy="2607825"/>
            <a:chOff x="7897904" y="2912210"/>
            <a:chExt cx="1900518" cy="2607825"/>
          </a:xfrm>
        </p:grpSpPr>
        <p:sp>
          <p:nvSpPr>
            <p:cNvPr id="21" name="流程图: 文档 20">
              <a:extLst>
                <a:ext uri="{FF2B5EF4-FFF2-40B4-BE49-F238E27FC236}">
                  <a16:creationId xmlns:a16="http://schemas.microsoft.com/office/drawing/2014/main" id="{0CE6C14B-40B6-26F2-C8C3-2A052EB60FF1}"/>
                </a:ext>
              </a:extLst>
            </p:cNvPr>
            <p:cNvSpPr/>
            <p:nvPr/>
          </p:nvSpPr>
          <p:spPr>
            <a:xfrm>
              <a:off x="7897904" y="331290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3CAA816-CF8E-EBFB-E1FF-BBC6649220A9}"/>
                </a:ext>
              </a:extLst>
            </p:cNvPr>
            <p:cNvSpPr/>
            <p:nvPr/>
          </p:nvSpPr>
          <p:spPr>
            <a:xfrm>
              <a:off x="7897905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3" name="流程图: 文档 22">
            <a:extLst>
              <a:ext uri="{FF2B5EF4-FFF2-40B4-BE49-F238E27FC236}">
                <a16:creationId xmlns:a16="http://schemas.microsoft.com/office/drawing/2014/main" id="{8E4CB929-105A-B148-2E42-A25E2234D3DB}"/>
              </a:ext>
            </a:extLst>
          </p:cNvPr>
          <p:cNvSpPr/>
          <p:nvPr/>
        </p:nvSpPr>
        <p:spPr>
          <a:xfrm>
            <a:off x="7897903" y="3312901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insert into dept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(name,create_time,update_time) values (?,?,?)</a:t>
            </a:r>
            <a:endParaRPr lang="zh-CN" altLang="en-US" sz="11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05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5" grpId="0" animBg="1"/>
      <p:bldP spid="15" grpId="1" animBg="1"/>
      <p:bldP spid="19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Controller</a:t>
            </a:r>
            <a:r>
              <a:rPr lang="zh-CN" altLang="en-US"/>
              <a:t>接收参数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1927412"/>
            <a:ext cx="11060481" cy="103094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JSON</a:t>
            </a:r>
            <a:r>
              <a:rPr lang="zh-CN" altLang="en-US">
                <a:latin typeface="Fira Code" panose="020B0809050000020004" pitchFamily="49" charset="0"/>
              </a:rPr>
              <a:t>格式的参数，通常会使用一个实体对象进行接收 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规则：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JSON</a:t>
            </a:r>
            <a:r>
              <a:rPr lang="zh-CN" altLang="en-US">
                <a:latin typeface="Fira Code" panose="020B0809050000020004" pitchFamily="49" charset="0"/>
              </a:rPr>
              <a:t>数据的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键名</a:t>
            </a:r>
            <a:r>
              <a:rPr lang="zh-CN" altLang="en-US">
                <a:latin typeface="Fira Code" panose="020B0809050000020004" pitchFamily="49" charset="0"/>
              </a:rPr>
              <a:t>与方法形参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对象的属性名</a:t>
            </a:r>
            <a:r>
              <a:rPr lang="zh-CN" altLang="en-US">
                <a:latin typeface="Fira Code" panose="020B0809050000020004" pitchFamily="49" charset="0"/>
              </a:rPr>
              <a:t>相同，并需要使用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@RequestBody</a:t>
            </a:r>
            <a:r>
              <a:rPr lang="zh-CN" altLang="en-US">
                <a:latin typeface="Fira Code" panose="020B0809050000020004" pitchFamily="49" charset="0"/>
              </a:rPr>
              <a:t>注解标识。</a:t>
            </a:r>
          </a:p>
        </p:txBody>
      </p:sp>
      <p:sp>
        <p:nvSpPr>
          <p:cNvPr id="4" name="!!流程图: 文档 1">
            <a:extLst>
              <a:ext uri="{FF2B5EF4-FFF2-40B4-BE49-F238E27FC236}">
                <a16:creationId xmlns:a16="http://schemas.microsoft.com/office/drawing/2014/main" id="{AD6BF6A4-6FAA-9B42-9E88-904B7F933635}"/>
              </a:ext>
            </a:extLst>
          </p:cNvPr>
          <p:cNvSpPr/>
          <p:nvPr/>
        </p:nvSpPr>
        <p:spPr>
          <a:xfrm>
            <a:off x="624893" y="1045888"/>
            <a:ext cx="10698800" cy="676391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</a:t>
            </a: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json</a:t>
            </a:r>
            <a:r>
              <a:rPr lang="zh-CN" altLang="en-US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格式的请求参数：</a:t>
            </a: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POST   </a:t>
            </a: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/depts  {"name":"</a:t>
            </a:r>
            <a:r>
              <a:rPr lang="zh-CN" altLang="en-US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教研部</a:t>
            </a: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"}    </a:t>
            </a:r>
          </a:p>
        </p:txBody>
      </p:sp>
      <p:grpSp>
        <p:nvGrpSpPr>
          <p:cNvPr id="5" name="!!组合 2">
            <a:extLst>
              <a:ext uri="{FF2B5EF4-FFF2-40B4-BE49-F238E27FC236}">
                <a16:creationId xmlns:a16="http://schemas.microsoft.com/office/drawing/2014/main" id="{481D5A4D-C27F-E59C-61A6-B84A85554E1A}"/>
              </a:ext>
            </a:extLst>
          </p:cNvPr>
          <p:cNvGrpSpPr/>
          <p:nvPr/>
        </p:nvGrpSpPr>
        <p:grpSpPr>
          <a:xfrm>
            <a:off x="945478" y="3044461"/>
            <a:ext cx="5915511" cy="2060979"/>
            <a:chOff x="2297720" y="3660322"/>
            <a:chExt cx="6517796" cy="206110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2B92CD7-DBE4-6051-35D7-10DA07A466E3}"/>
                </a:ext>
              </a:extLst>
            </p:cNvPr>
            <p:cNvSpPr/>
            <p:nvPr/>
          </p:nvSpPr>
          <p:spPr>
            <a:xfrm>
              <a:off x="2297727" y="3660324"/>
              <a:ext cx="6517789" cy="2061099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@PostMapping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"/depts"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  <a:ea typeface="Fira Code" panose="020B0809050000020004" pitchFamily="49" charset="0"/>
                </a:rPr>
                <a:t>add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@RequestBody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Dept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dept){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System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out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.println(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添加部门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: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 "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+ dept);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deptService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.add(dept);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B98299A1-6C56-7D99-6391-C3DD886BE5FC}"/>
                </a:ext>
              </a:extLst>
            </p:cNvPr>
            <p:cNvSpPr/>
            <p:nvPr/>
          </p:nvSpPr>
          <p:spPr>
            <a:xfrm>
              <a:off x="2297720" y="3660322"/>
              <a:ext cx="65177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FAC2634-3CF8-3F76-1C6A-4D2AEC6809E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7F53A31-2D07-B26E-A997-FD0E8C72EC0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2F1C929-902B-A397-46DF-B6979EEBB69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2">
            <a:extLst>
              <a:ext uri="{FF2B5EF4-FFF2-40B4-BE49-F238E27FC236}">
                <a16:creationId xmlns:a16="http://schemas.microsoft.com/office/drawing/2014/main" id="{A20F1A91-F699-CCE9-DA6E-BC815014CBAE}"/>
              </a:ext>
            </a:extLst>
          </p:cNvPr>
          <p:cNvGrpSpPr/>
          <p:nvPr/>
        </p:nvGrpSpPr>
        <p:grpSpPr>
          <a:xfrm>
            <a:off x="7407836" y="3044461"/>
            <a:ext cx="3743066" cy="2060979"/>
            <a:chOff x="2297720" y="3660322"/>
            <a:chExt cx="4124164" cy="206110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C322E3BB-A325-4F8E-C9EA-2202B38B4CE3}"/>
                </a:ext>
              </a:extLst>
            </p:cNvPr>
            <p:cNvSpPr/>
            <p:nvPr/>
          </p:nvSpPr>
          <p:spPr>
            <a:xfrm>
              <a:off x="2297728" y="3660324"/>
              <a:ext cx="4124156" cy="2061099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class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Dept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{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private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id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private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String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name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private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LocalDateTime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createTime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private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LocalDateTime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updateTime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A53E3169-E844-A13A-09E5-20456D9F344A}"/>
                </a:ext>
              </a:extLst>
            </p:cNvPr>
            <p:cNvSpPr/>
            <p:nvPr/>
          </p:nvSpPr>
          <p:spPr>
            <a:xfrm>
              <a:off x="2297720" y="3660322"/>
              <a:ext cx="412416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449E576-7019-6B94-E669-E3554DA0749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4F467F1-0E8C-AD03-DA0B-F6EB10646A0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FF65565-7B54-3354-1991-F1924345EBE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5E0BB50D-D821-E21C-1358-0FDEA0C1A465}"/>
              </a:ext>
            </a:extLst>
          </p:cNvPr>
          <p:cNvSpPr/>
          <p:nvPr/>
        </p:nvSpPr>
        <p:spPr>
          <a:xfrm>
            <a:off x="7407829" y="3939862"/>
            <a:ext cx="3743059" cy="300783"/>
          </a:xfrm>
          <a:prstGeom prst="rect">
            <a:avLst/>
          </a:prstGeom>
          <a:solidFill>
            <a:srgbClr val="C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6339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新增部门</a:t>
            </a:r>
          </a:p>
        </p:txBody>
      </p:sp>
      <p:grpSp>
        <p:nvGrpSpPr>
          <p:cNvPr id="4" name="!!组合 2">
            <a:extLst>
              <a:ext uri="{FF2B5EF4-FFF2-40B4-BE49-F238E27FC236}">
                <a16:creationId xmlns:a16="http://schemas.microsoft.com/office/drawing/2014/main" id="{C1C93F60-95E0-998C-FDC5-EF76D922C387}"/>
              </a:ext>
            </a:extLst>
          </p:cNvPr>
          <p:cNvGrpSpPr/>
          <p:nvPr/>
        </p:nvGrpSpPr>
        <p:grpSpPr>
          <a:xfrm>
            <a:off x="676536" y="991541"/>
            <a:ext cx="10038402" cy="2060979"/>
            <a:chOff x="2297719" y="3660322"/>
            <a:chExt cx="11060457" cy="206110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AC32947-77CB-CD32-12B9-A67EA5B45F76}"/>
                </a:ext>
              </a:extLst>
            </p:cNvPr>
            <p:cNvSpPr/>
            <p:nvPr/>
          </p:nvSpPr>
          <p:spPr>
            <a:xfrm>
              <a:off x="2297727" y="3660324"/>
              <a:ext cx="11060449" cy="2061099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@PostMapping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"/depts"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  <a:ea typeface="Fira Code" panose="020B0809050000020004" pitchFamily="49" charset="0"/>
                </a:rPr>
                <a:t>add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@RequestBody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Dept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dept){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System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out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.println(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添加部门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: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 "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+ dept);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deptService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.add(dept);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A775EBBB-AB3C-7A83-BCE1-86C3AAE38998}"/>
                </a:ext>
              </a:extLst>
            </p:cNvPr>
            <p:cNvSpPr/>
            <p:nvPr/>
          </p:nvSpPr>
          <p:spPr>
            <a:xfrm>
              <a:off x="2297719" y="3660322"/>
              <a:ext cx="1106044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DeptController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D3968C5-259B-A615-1C24-22D1A943FBA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2747E93-8C7B-9A72-5831-41C883FA903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98C925A-88E2-3327-72D8-FE898354CCA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71D8B281-85FD-1B5E-6E73-F404E1E941C4}"/>
              </a:ext>
            </a:extLst>
          </p:cNvPr>
          <p:cNvGrpSpPr/>
          <p:nvPr/>
        </p:nvGrpSpPr>
        <p:grpSpPr>
          <a:xfrm>
            <a:off x="676537" y="3295418"/>
            <a:ext cx="10038395" cy="2060979"/>
            <a:chOff x="2297720" y="3660322"/>
            <a:chExt cx="11060449" cy="206110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8974D858-F587-3BDB-722C-3AC61CCCE631}"/>
                </a:ext>
              </a:extLst>
            </p:cNvPr>
            <p:cNvSpPr/>
            <p:nvPr/>
          </p:nvSpPr>
          <p:spPr>
            <a:xfrm>
              <a:off x="2297727" y="3660324"/>
              <a:ext cx="11060442" cy="2061099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@Override</a:t>
              </a:r>
              <a:br>
                <a:rPr lang="en-US" altLang="zh-CN" sz="1200">
                  <a:solidFill>
                    <a:srgbClr val="9E880D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void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add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Dept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dept) {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dept.setCreateTime(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LocalDateTime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</a:rPr>
                <a:t>now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dept.setUpdateTime(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LocalDateTime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</a:rPr>
                <a:t>now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deptMapper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.add(dept);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2C500AD9-EE41-16CA-6666-A32973E7BAB6}"/>
                </a:ext>
              </a:extLst>
            </p:cNvPr>
            <p:cNvSpPr/>
            <p:nvPr/>
          </p:nvSpPr>
          <p:spPr>
            <a:xfrm>
              <a:off x="2297720" y="3660322"/>
              <a:ext cx="11060441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DeptServiceImpl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7459A4C-5E0A-BD65-B190-BA62B7980B7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CFADFE8-5D2B-5547-A380-337CF0A0C27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2170F97-685B-DE90-707B-5B0C6268573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">
            <a:extLst>
              <a:ext uri="{FF2B5EF4-FFF2-40B4-BE49-F238E27FC236}">
                <a16:creationId xmlns:a16="http://schemas.microsoft.com/office/drawing/2014/main" id="{17F1F483-A41F-529F-B7C5-8ED891D0DA4A}"/>
              </a:ext>
            </a:extLst>
          </p:cNvPr>
          <p:cNvGrpSpPr/>
          <p:nvPr/>
        </p:nvGrpSpPr>
        <p:grpSpPr>
          <a:xfrm>
            <a:off x="676536" y="5542370"/>
            <a:ext cx="10038407" cy="1062953"/>
            <a:chOff x="2297720" y="3660322"/>
            <a:chExt cx="11060463" cy="106301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11B42B4-E19E-4780-9386-865D3DEF012D}"/>
                </a:ext>
              </a:extLst>
            </p:cNvPr>
            <p:cNvSpPr/>
            <p:nvPr/>
          </p:nvSpPr>
          <p:spPr>
            <a:xfrm>
              <a:off x="2297727" y="3660325"/>
              <a:ext cx="11060456" cy="1063013"/>
            </a:xfrm>
            <a:prstGeom prst="roundRect">
              <a:avLst>
                <a:gd name="adj" fmla="val 672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@Insert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200">
                  <a:solidFill>
                    <a:srgbClr val="3333FF"/>
                  </a:solidFill>
                  <a:effectLst/>
                </a:rPr>
                <a:t>insert into 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dept</a:t>
              </a:r>
              <a:r>
                <a:rPr lang="en-US" altLang="zh-CN" sz="1200">
                  <a:solidFill>
                    <a:schemeClr val="tx1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name, create_time, update_time</a:t>
              </a:r>
              <a:r>
                <a:rPr lang="en-US" altLang="zh-CN" sz="1200">
                  <a:solidFill>
                    <a:schemeClr val="tx1"/>
                  </a:solidFill>
                  <a:effectLst/>
                </a:rPr>
                <a:t>)</a:t>
              </a:r>
              <a:r>
                <a:rPr lang="en-US" altLang="zh-CN" sz="1200">
                  <a:solidFill>
                    <a:srgbClr val="3333FF"/>
                  </a:solidFill>
                  <a:effectLst/>
                </a:rPr>
                <a:t> values</a:t>
              </a:r>
              <a:r>
                <a:rPr lang="en-US" altLang="zh-CN" sz="1200">
                  <a:solidFill>
                    <a:schemeClr val="tx1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#{name}</a:t>
              </a:r>
              <a:r>
                <a:rPr lang="en-US" altLang="zh-CN" sz="1200">
                  <a:solidFill>
                    <a:schemeClr val="tx1"/>
                  </a:solidFill>
                  <a:effectLst/>
                </a:rPr>
                <a:t>,</a:t>
              </a:r>
              <a:r>
                <a:rPr lang="en-US" altLang="zh-CN" sz="1200">
                  <a:solidFill>
                    <a:srgbClr val="00B050"/>
                  </a:solidFill>
                  <a:effectLst/>
                </a:rPr>
                <a:t> 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#{createTime}</a:t>
              </a:r>
              <a:r>
                <a:rPr lang="en-US" altLang="zh-CN" sz="1200">
                  <a:solidFill>
                    <a:schemeClr val="tx1"/>
                  </a:solidFill>
                  <a:effectLst/>
                </a:rPr>
                <a:t>,</a:t>
              </a:r>
              <a:r>
                <a:rPr lang="en-US" altLang="zh-CN" sz="1200">
                  <a:solidFill>
                    <a:srgbClr val="00B050"/>
                  </a:solidFill>
                  <a:effectLst/>
                </a:rPr>
                <a:t> 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#{updateTime}</a:t>
              </a:r>
              <a:r>
                <a:rPr lang="en-US" altLang="zh-CN" sz="1200">
                  <a:solidFill>
                    <a:schemeClr val="tx1"/>
                  </a:solidFill>
                  <a:effectLst/>
                </a:rPr>
                <a:t>)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void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add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Dept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dept);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68EA8A27-2280-8DA2-2476-B40758AF6C26}"/>
                </a:ext>
              </a:extLst>
            </p:cNvPr>
            <p:cNvSpPr/>
            <p:nvPr/>
          </p:nvSpPr>
          <p:spPr>
            <a:xfrm>
              <a:off x="2297720" y="3660322"/>
              <a:ext cx="1106045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FE9601F-295F-1E70-90E2-CA2D4A8267E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5192ED6B-3B03-EF61-426D-B0BF8ADA64E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2170B5F-26FE-8127-DE66-C1F89DD892A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3023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842D05-2AE8-97ED-D4C6-8A5223F3E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如何接收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JSON</a:t>
            </a:r>
            <a:r>
              <a:rPr lang="zh-CN" altLang="en-US" sz="1800">
                <a:latin typeface="Fira Code" panose="020B0809050000020004" pitchFamily="49" charset="0"/>
              </a:rPr>
              <a:t>格式的请求参数 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3600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通常通过实体对象接收，保证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json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格式的键名与对象属性名保持一致，并添加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@RequestBody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latin typeface="Fira Code" panose="020B0809050000020004" pitchFamily="49" charset="0"/>
              </a:rPr>
              <a:t>json</a:t>
            </a:r>
            <a:r>
              <a:rPr lang="zh-CN" altLang="en-US" sz="1800">
                <a:latin typeface="Fira Code" panose="020B0809050000020004" pitchFamily="49" charset="0"/>
              </a:rPr>
              <a:t>格式的请求参数适用场景</a:t>
            </a:r>
            <a:r>
              <a:rPr lang="en-US" altLang="zh-CN" sz="1800">
                <a:latin typeface="Fira Code" panose="020B0809050000020004" pitchFamily="49" charset="0"/>
              </a:rPr>
              <a:t>?</a:t>
            </a:r>
          </a:p>
          <a:p>
            <a:pPr marL="3600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主要在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POST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PUT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请求中，在请求体传递请求参数</a:t>
            </a:r>
          </a:p>
        </p:txBody>
      </p:sp>
    </p:spTree>
    <p:extLst>
      <p:ext uri="{BB962C8B-B14F-4D97-AF65-F5344CB8AC3E}">
        <p14:creationId xmlns:p14="http://schemas.microsoft.com/office/powerpoint/2010/main" val="404952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CA61343-E3CE-AAA2-1F09-6F8EBAD749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565" y="1303823"/>
            <a:ext cx="3692525" cy="3313001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查询部门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删除部门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新增部门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修改部门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日志技术</a:t>
            </a:r>
          </a:p>
        </p:txBody>
      </p:sp>
    </p:spTree>
    <p:extLst>
      <p:ext uri="{BB962C8B-B14F-4D97-AF65-F5344CB8AC3E}">
        <p14:creationId xmlns:p14="http://schemas.microsoft.com/office/powerpoint/2010/main" val="36374878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646466-FE37-305F-9389-B8E318249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修改部门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52B02B-1913-CFA8-7908-9D5DFF45EE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9871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sp>
        <p:nvSpPr>
          <p:cNvPr id="4" name="!!文本占位符 10">
            <a:extLst>
              <a:ext uri="{FF2B5EF4-FFF2-40B4-BE49-F238E27FC236}">
                <a16:creationId xmlns:a16="http://schemas.microsoft.com/office/drawing/2014/main" id="{8AF8C34D-55C4-634F-D58C-15593BC9D613}"/>
              </a:ext>
            </a:extLst>
          </p:cNvPr>
          <p:cNvSpPr txBox="1">
            <a:spLocks/>
          </p:cNvSpPr>
          <p:nvPr/>
        </p:nvSpPr>
        <p:spPr>
          <a:xfrm>
            <a:off x="9959788" y="3315436"/>
            <a:ext cx="1775012" cy="9412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zh-CN" altLang="en-US"/>
              <a:t>查询回显</a:t>
            </a:r>
            <a:endParaRPr lang="en-US" altLang="zh-CN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zh-CN" altLang="en-US"/>
              <a:t>修改数据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2C5E01-850D-561C-CCDC-CFE1F13C3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65" y="1247817"/>
            <a:ext cx="8597152" cy="49985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13235D5-2008-2E15-846C-12F273428CBF}"/>
              </a:ext>
            </a:extLst>
          </p:cNvPr>
          <p:cNvSpPr/>
          <p:nvPr/>
        </p:nvSpPr>
        <p:spPr>
          <a:xfrm>
            <a:off x="761999" y="1238852"/>
            <a:ext cx="8606117" cy="5094463"/>
          </a:xfrm>
          <a:prstGeom prst="rect">
            <a:avLst/>
          </a:prstGeom>
          <a:solidFill>
            <a:srgbClr val="262626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0F0D13-F61A-7671-D30D-9F85F8461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758" y="3061447"/>
            <a:ext cx="3390900" cy="161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3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F2048D-6FFE-9857-7560-8FB5EF58E3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修改部门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2DFB9F-BBB1-2CB4-4C49-68223FCE8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1172044"/>
          </a:xfrm>
        </p:spPr>
        <p:txBody>
          <a:bodyPr/>
          <a:lstStyle/>
          <a:p>
            <a:r>
              <a:rPr lang="zh-CN" altLang="en-US"/>
              <a:t>查询回显</a:t>
            </a:r>
            <a:endParaRPr lang="en-US" altLang="zh-CN"/>
          </a:p>
          <a:p>
            <a:r>
              <a:rPr lang="zh-CN" altLang="en-US"/>
              <a:t>修改数据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E7F0962-492B-29A3-E31D-342FBF5C04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94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DEF3C7-7F83-ABA7-BE3B-FCB81067F9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261"/>
          <a:stretch/>
        </p:blipFill>
        <p:spPr>
          <a:xfrm>
            <a:off x="687803" y="1157978"/>
            <a:ext cx="6373142" cy="21395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0A16FBF-5BB0-A67D-B59D-22FF6DD4C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447" y="1565246"/>
            <a:ext cx="3432399" cy="163424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9975E078-7588-67D2-3766-670768A4F524}"/>
              </a:ext>
            </a:extLst>
          </p:cNvPr>
          <p:cNvSpPr/>
          <p:nvPr/>
        </p:nvSpPr>
        <p:spPr>
          <a:xfrm>
            <a:off x="5513294" y="2227731"/>
            <a:ext cx="385482" cy="309279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D314647-99B8-7772-DA5E-47B81A37372B}"/>
              </a:ext>
            </a:extLst>
          </p:cNvPr>
          <p:cNvCxnSpPr>
            <a:cxnSpLocks/>
          </p:cNvCxnSpPr>
          <p:nvPr/>
        </p:nvCxnSpPr>
        <p:spPr>
          <a:xfrm>
            <a:off x="5916706" y="2382371"/>
            <a:ext cx="2296811" cy="0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FA50FB9-8125-96D0-FA55-8DDE8A27EB04}"/>
              </a:ext>
            </a:extLst>
          </p:cNvPr>
          <p:cNvSpPr txBox="1"/>
          <p:nvPr/>
        </p:nvSpPr>
        <p:spPr>
          <a:xfrm>
            <a:off x="6562165" y="2105371"/>
            <a:ext cx="12729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查询部门</a:t>
            </a:r>
            <a:endParaRPr lang="zh-CN" altLang="en-US" sz="12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DD48A55-37AA-E37F-A898-737E941B7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135" y="1565246"/>
            <a:ext cx="8902428" cy="51065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909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思路分析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明确了根据</a:t>
            </a:r>
            <a:r>
              <a:rPr lang="en-US" altLang="zh-CN"/>
              <a:t>ID</a:t>
            </a:r>
            <a:r>
              <a:rPr lang="zh-CN" altLang="en-US"/>
              <a:t>查询部门的需求之后，再来梳理一下实现该功能时，三层架构每一层的职责：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AD81A0-9107-F771-C79F-42CA3017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530" y="3413820"/>
            <a:ext cx="932333" cy="1302786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970A5F51-08BB-3291-2918-35A5B6539E42}"/>
              </a:ext>
            </a:extLst>
          </p:cNvPr>
          <p:cNvGrpSpPr/>
          <p:nvPr/>
        </p:nvGrpSpPr>
        <p:grpSpPr>
          <a:xfrm>
            <a:off x="726137" y="3749668"/>
            <a:ext cx="780070" cy="786974"/>
            <a:chOff x="1288572" y="3466291"/>
            <a:chExt cx="1076475" cy="1086002"/>
          </a:xfrm>
        </p:grpSpPr>
        <p:pic>
          <p:nvPicPr>
            <p:cNvPr id="6" name="图片 0">
              <a:extLst>
                <a:ext uri="{FF2B5EF4-FFF2-40B4-BE49-F238E27FC236}">
                  <a16:creationId xmlns:a16="http://schemas.microsoft.com/office/drawing/2014/main" id="{657006EC-8D0F-9DB6-1D9A-214147F00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7" name="图片 1">
              <a:extLst>
                <a:ext uri="{FF2B5EF4-FFF2-40B4-BE49-F238E27FC236}">
                  <a16:creationId xmlns:a16="http://schemas.microsoft.com/office/drawing/2014/main" id="{C3B79781-16DE-6B6F-9A47-57A909223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11B80D71-147B-C39C-62BB-EC2BC18F5B86}"/>
              </a:ext>
            </a:extLst>
          </p:cNvPr>
          <p:cNvSpPr/>
          <p:nvPr/>
        </p:nvSpPr>
        <p:spPr>
          <a:xfrm>
            <a:off x="1673764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336520F-8F55-4D5C-61F6-38754C6DFA0A}"/>
              </a:ext>
            </a:extLst>
          </p:cNvPr>
          <p:cNvSpPr/>
          <p:nvPr/>
        </p:nvSpPr>
        <p:spPr>
          <a:xfrm>
            <a:off x="4390070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F6FB298A-D313-7D0F-A0C6-068EFA4D3682}"/>
              </a:ext>
            </a:extLst>
          </p:cNvPr>
          <p:cNvSpPr/>
          <p:nvPr/>
        </p:nvSpPr>
        <p:spPr>
          <a:xfrm>
            <a:off x="7187057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0D833257-D7E8-4FD2-6C61-4FD5EA0C94EB}"/>
              </a:ext>
            </a:extLst>
          </p:cNvPr>
          <p:cNvSpPr/>
          <p:nvPr/>
        </p:nvSpPr>
        <p:spPr>
          <a:xfrm>
            <a:off x="9903363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A79F949-966D-D5EA-12DE-88A826660E5C}"/>
              </a:ext>
            </a:extLst>
          </p:cNvPr>
          <p:cNvGrpSpPr/>
          <p:nvPr/>
        </p:nvGrpSpPr>
        <p:grpSpPr>
          <a:xfrm>
            <a:off x="2303931" y="2912210"/>
            <a:ext cx="1900517" cy="2611635"/>
            <a:chOff x="2303931" y="2912210"/>
            <a:chExt cx="1900517" cy="261163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AD494E1-D3A9-0EF1-3599-79CE9F8EBBB9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流程图: 文档 13">
              <a:extLst>
                <a:ext uri="{FF2B5EF4-FFF2-40B4-BE49-F238E27FC236}">
                  <a16:creationId xmlns:a16="http://schemas.microsoft.com/office/drawing/2014/main" id="{3C832A1A-C046-E3D0-0FA5-E4CA9DC8C0FF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5" name="!!流程图: 文档 1">
            <a:extLst>
              <a:ext uri="{FF2B5EF4-FFF2-40B4-BE49-F238E27FC236}">
                <a16:creationId xmlns:a16="http://schemas.microsoft.com/office/drawing/2014/main" id="{4492EBB0-D764-23C8-A6EA-FC823B644E94}"/>
              </a:ext>
            </a:extLst>
          </p:cNvPr>
          <p:cNvSpPr/>
          <p:nvPr/>
        </p:nvSpPr>
        <p:spPr>
          <a:xfrm>
            <a:off x="2303930" y="3312902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/depts/1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路径参数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层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F576361-E61E-E5F9-5A48-4A87D2B522E0}"/>
              </a:ext>
            </a:extLst>
          </p:cNvPr>
          <p:cNvGrpSpPr/>
          <p:nvPr/>
        </p:nvGrpSpPr>
        <p:grpSpPr>
          <a:xfrm>
            <a:off x="5100918" y="2912210"/>
            <a:ext cx="1900517" cy="2615624"/>
            <a:chOff x="5100918" y="2912210"/>
            <a:chExt cx="1900517" cy="2615624"/>
          </a:xfrm>
        </p:grpSpPr>
        <p:sp>
          <p:nvSpPr>
            <p:cNvPr id="17" name="流程图: 文档 16">
              <a:extLst>
                <a:ext uri="{FF2B5EF4-FFF2-40B4-BE49-F238E27FC236}">
                  <a16:creationId xmlns:a16="http://schemas.microsoft.com/office/drawing/2014/main" id="{F797627A-C00D-992A-D51D-A65A7AD0CD3E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5A94C42-1DAD-9707-7A48-1C235047143C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9" name="流程图: 文档 18">
            <a:extLst>
              <a:ext uri="{FF2B5EF4-FFF2-40B4-BE49-F238E27FC236}">
                <a16:creationId xmlns:a16="http://schemas.microsoft.com/office/drawing/2014/main" id="{0C4504B3-4C2B-D5BE-FA72-A95395F01D10}"/>
              </a:ext>
            </a:extLst>
          </p:cNvPr>
          <p:cNvSpPr/>
          <p:nvPr/>
        </p:nvSpPr>
        <p:spPr>
          <a:xfrm>
            <a:off x="5100918" y="3315621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接口方法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36D1A36-4A01-88E5-2A12-A16F63A5CC08}"/>
              </a:ext>
            </a:extLst>
          </p:cNvPr>
          <p:cNvGrpSpPr/>
          <p:nvPr/>
        </p:nvGrpSpPr>
        <p:grpSpPr>
          <a:xfrm>
            <a:off x="7897904" y="2912210"/>
            <a:ext cx="1900518" cy="2607825"/>
            <a:chOff x="7897904" y="2912210"/>
            <a:chExt cx="1900518" cy="2607825"/>
          </a:xfrm>
        </p:grpSpPr>
        <p:sp>
          <p:nvSpPr>
            <p:cNvPr id="21" name="流程图: 文档 20">
              <a:extLst>
                <a:ext uri="{FF2B5EF4-FFF2-40B4-BE49-F238E27FC236}">
                  <a16:creationId xmlns:a16="http://schemas.microsoft.com/office/drawing/2014/main" id="{CC64DBBA-CF7E-87A9-8C1E-0784F00E8B6B}"/>
                </a:ext>
              </a:extLst>
            </p:cNvPr>
            <p:cNvSpPr/>
            <p:nvPr/>
          </p:nvSpPr>
          <p:spPr>
            <a:xfrm>
              <a:off x="7897904" y="331290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D816DC0-AFE0-6538-5C39-86D23A0B6051}"/>
                </a:ext>
              </a:extLst>
            </p:cNvPr>
            <p:cNvSpPr/>
            <p:nvPr/>
          </p:nvSpPr>
          <p:spPr>
            <a:xfrm>
              <a:off x="7897905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3" name="流程图: 文档 22">
            <a:extLst>
              <a:ext uri="{FF2B5EF4-FFF2-40B4-BE49-F238E27FC236}">
                <a16:creationId xmlns:a16="http://schemas.microsoft.com/office/drawing/2014/main" id="{A070F536-CA43-C3B6-A977-AD3DFBC4317A}"/>
              </a:ext>
            </a:extLst>
          </p:cNvPr>
          <p:cNvSpPr/>
          <p:nvPr/>
        </p:nvSpPr>
        <p:spPr>
          <a:xfrm>
            <a:off x="7897903" y="3312901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select * from dept where id = ?</a:t>
            </a:r>
          </a:p>
        </p:txBody>
      </p:sp>
    </p:spTree>
    <p:extLst>
      <p:ext uri="{BB962C8B-B14F-4D97-AF65-F5344CB8AC3E}">
        <p14:creationId xmlns:p14="http://schemas.microsoft.com/office/powerpoint/2010/main" val="160251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5" grpId="0" animBg="1"/>
      <p:bldP spid="15" grpId="1" animBg="1"/>
      <p:bldP spid="19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Controller</a:t>
            </a:r>
            <a:r>
              <a:rPr lang="zh-CN" altLang="en-US"/>
              <a:t>接收参数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6" y="2203399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路径参数：通过请求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URL</a:t>
            </a:r>
            <a:r>
              <a:rPr lang="zh-CN" altLang="en-US">
                <a:latin typeface="Fira Code" panose="020B0809050000020004" pitchFamily="49" charset="0"/>
              </a:rPr>
              <a:t>直接传递参数，使用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{…}</a:t>
            </a:r>
            <a:r>
              <a:rPr lang="zh-CN" altLang="en-US">
                <a:latin typeface="Fira Code" panose="020B0809050000020004" pitchFamily="49" charset="0"/>
              </a:rPr>
              <a:t>来标识该路径参数，需要使用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@PathVariable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zh-CN" altLang="en-US">
                <a:latin typeface="Fira Code" panose="020B0809050000020004" pitchFamily="49" charset="0"/>
              </a:rPr>
              <a:t>获取路径参数。</a:t>
            </a:r>
          </a:p>
        </p:txBody>
      </p:sp>
      <p:sp>
        <p:nvSpPr>
          <p:cNvPr id="4" name="!!流程图: 文档 1">
            <a:extLst>
              <a:ext uri="{FF2B5EF4-FFF2-40B4-BE49-F238E27FC236}">
                <a16:creationId xmlns:a16="http://schemas.microsoft.com/office/drawing/2014/main" id="{31BDA864-FB53-C299-8950-B4AFEA54CFF3}"/>
              </a:ext>
            </a:extLst>
          </p:cNvPr>
          <p:cNvSpPr/>
          <p:nvPr/>
        </p:nvSpPr>
        <p:spPr>
          <a:xfrm>
            <a:off x="662183" y="1108300"/>
            <a:ext cx="10698800" cy="676391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路径参数</a:t>
            </a: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   </a:t>
            </a: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/depts/1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016C67-5FB6-765F-4BB2-4EC52DCB1B16}"/>
              </a:ext>
            </a:extLst>
          </p:cNvPr>
          <p:cNvSpPr txBox="1"/>
          <p:nvPr/>
        </p:nvSpPr>
        <p:spPr>
          <a:xfrm>
            <a:off x="10343193" y="1229828"/>
            <a:ext cx="1002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路径参数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A5AA07-084D-D09D-8306-CECA1BB066AC}"/>
              </a:ext>
            </a:extLst>
          </p:cNvPr>
          <p:cNvSpPr txBox="1"/>
          <p:nvPr/>
        </p:nvSpPr>
        <p:spPr>
          <a:xfrm>
            <a:off x="4500434" y="1497836"/>
            <a:ext cx="291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endParaRPr lang="zh-CN" altLang="en-US" sz="140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7" name="!!组合 2">
            <a:extLst>
              <a:ext uri="{FF2B5EF4-FFF2-40B4-BE49-F238E27FC236}">
                <a16:creationId xmlns:a16="http://schemas.microsoft.com/office/drawing/2014/main" id="{27EDE584-8929-4C88-1BBA-71E6C5084F6C}"/>
              </a:ext>
            </a:extLst>
          </p:cNvPr>
          <p:cNvGrpSpPr/>
          <p:nvPr/>
        </p:nvGrpSpPr>
        <p:grpSpPr>
          <a:xfrm>
            <a:off x="855827" y="2901094"/>
            <a:ext cx="5386322" cy="2082386"/>
            <a:chOff x="2297720" y="3660322"/>
            <a:chExt cx="5934726" cy="208250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02E298C9-4F11-123F-375F-D8592B7D05F7}"/>
                </a:ext>
              </a:extLst>
            </p:cNvPr>
            <p:cNvSpPr/>
            <p:nvPr/>
          </p:nvSpPr>
          <p:spPr>
            <a:xfrm>
              <a:off x="2297728" y="3660324"/>
              <a:ext cx="5934718" cy="2082507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@GetMapping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"/depts/{id}"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getInfo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2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@PathVariable(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"id"</a:t>
              </a:r>
              <a:r>
                <a:rPr lang="en-US" altLang="zh-CN" sz="12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Integer </a:t>
              </a:r>
              <a:r>
                <a:rPr lang="en-US" altLang="zh-CN" sz="12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deptI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d){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System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200" i="1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out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.println(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查询部门数据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: "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+ </a:t>
              </a:r>
              <a:r>
                <a:rPr lang="en-US" altLang="zh-CN" sz="12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deptI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 dept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2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deptService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.getInfo(id);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EFC27745-03AA-90C7-AD46-448F3671D710}"/>
                </a:ext>
              </a:extLst>
            </p:cNvPr>
            <p:cNvSpPr/>
            <p:nvPr/>
          </p:nvSpPr>
          <p:spPr>
            <a:xfrm>
              <a:off x="2297720" y="3660322"/>
              <a:ext cx="593471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50882300-108D-6DF5-3ACA-29CC7B94F31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CED804A-EC26-0B99-15F3-92B8D475873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E3A9E5E-2D10-4636-654C-44A8C814D15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流程图: 接点 12">
            <a:extLst>
              <a:ext uri="{FF2B5EF4-FFF2-40B4-BE49-F238E27FC236}">
                <a16:creationId xmlns:a16="http://schemas.microsoft.com/office/drawing/2014/main" id="{2ACC46BA-8911-688D-05EA-C065DAA2448B}"/>
              </a:ext>
            </a:extLst>
          </p:cNvPr>
          <p:cNvSpPr/>
          <p:nvPr/>
        </p:nvSpPr>
        <p:spPr>
          <a:xfrm>
            <a:off x="2736029" y="3282672"/>
            <a:ext cx="393192" cy="260327"/>
          </a:xfrm>
          <a:prstGeom prst="flowChartConnector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816E2355-530F-C1CB-746D-42C8B026E7A2}"/>
              </a:ext>
            </a:extLst>
          </p:cNvPr>
          <p:cNvSpPr/>
          <p:nvPr/>
        </p:nvSpPr>
        <p:spPr>
          <a:xfrm>
            <a:off x="4211175" y="3542999"/>
            <a:ext cx="393192" cy="260326"/>
          </a:xfrm>
          <a:prstGeom prst="flowChartConnector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5" name="组合 2">
            <a:extLst>
              <a:ext uri="{FF2B5EF4-FFF2-40B4-BE49-F238E27FC236}">
                <a16:creationId xmlns:a16="http://schemas.microsoft.com/office/drawing/2014/main" id="{272F48E7-72A9-D56E-AA45-D749DFB29CD0}"/>
              </a:ext>
            </a:extLst>
          </p:cNvPr>
          <p:cNvGrpSpPr/>
          <p:nvPr/>
        </p:nvGrpSpPr>
        <p:grpSpPr>
          <a:xfrm>
            <a:off x="6418877" y="2901094"/>
            <a:ext cx="5119148" cy="2082386"/>
            <a:chOff x="2297720" y="3660322"/>
            <a:chExt cx="5640351" cy="2082509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CAAF222-40F2-CFCB-21D0-5A06F7E04588}"/>
                </a:ext>
              </a:extLst>
            </p:cNvPr>
            <p:cNvSpPr/>
            <p:nvPr/>
          </p:nvSpPr>
          <p:spPr>
            <a:xfrm>
              <a:off x="2297727" y="3660324"/>
              <a:ext cx="5640344" cy="2082507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@GetMapping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"/depts/{id}"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getInfo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200"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@PathVariable</a:t>
              </a:r>
              <a:r>
                <a:rPr lang="en-US" altLang="zh-CN" sz="1200">
                  <a:solidFill>
                    <a:srgbClr val="9E880D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Integer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id){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System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200" i="1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out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.println(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查询部门数据</a:t>
              </a: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: "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+ id);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 dept 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2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deptService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.getInfo(id);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200" i="1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</p:txBody>
        </p:sp>
        <p:sp>
          <p:nvSpPr>
            <p:cNvPr id="17" name="矩形: 圆顶角 16">
              <a:extLst>
                <a:ext uri="{FF2B5EF4-FFF2-40B4-BE49-F238E27FC236}">
                  <a16:creationId xmlns:a16="http://schemas.microsoft.com/office/drawing/2014/main" id="{FF981FC9-5311-6736-AB99-BB4734BD9856}"/>
                </a:ext>
              </a:extLst>
            </p:cNvPr>
            <p:cNvSpPr/>
            <p:nvPr/>
          </p:nvSpPr>
          <p:spPr>
            <a:xfrm>
              <a:off x="2297720" y="3660322"/>
              <a:ext cx="564034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EE78EB6-5ADC-4B0E-0C0B-7241E4850C6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6B9EE2A5-526E-FD5A-057E-AA69FF4EC47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908E770-01C2-0F08-17FC-EDF736352FE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流程图: 接点 20">
            <a:extLst>
              <a:ext uri="{FF2B5EF4-FFF2-40B4-BE49-F238E27FC236}">
                <a16:creationId xmlns:a16="http://schemas.microsoft.com/office/drawing/2014/main" id="{ECA5E749-D100-5D77-6864-FC9E4604C456}"/>
              </a:ext>
            </a:extLst>
          </p:cNvPr>
          <p:cNvSpPr/>
          <p:nvPr/>
        </p:nvSpPr>
        <p:spPr>
          <a:xfrm>
            <a:off x="8300455" y="3282672"/>
            <a:ext cx="393192" cy="260327"/>
          </a:xfrm>
          <a:prstGeom prst="flowChartConnector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DEC9DF6D-961E-59D0-943F-809082567BE4}"/>
              </a:ext>
            </a:extLst>
          </p:cNvPr>
          <p:cNvSpPr/>
          <p:nvPr/>
        </p:nvSpPr>
        <p:spPr>
          <a:xfrm>
            <a:off x="10474635" y="3549094"/>
            <a:ext cx="282206" cy="260327"/>
          </a:xfrm>
          <a:prstGeom prst="flowChartConnector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677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4" grpId="0" animBg="1"/>
      <p:bldP spid="21" grpId="0" animBg="1"/>
      <p:bldP spid="2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根据</a:t>
            </a:r>
            <a:r>
              <a:rPr lang="en-US" altLang="zh-CN"/>
              <a:t>ID</a:t>
            </a:r>
            <a:r>
              <a:rPr lang="zh-CN" altLang="en-US"/>
              <a:t>查询部门</a:t>
            </a:r>
          </a:p>
        </p:txBody>
      </p:sp>
      <p:grpSp>
        <p:nvGrpSpPr>
          <p:cNvPr id="4" name="!!组合 2">
            <a:extLst>
              <a:ext uri="{FF2B5EF4-FFF2-40B4-BE49-F238E27FC236}">
                <a16:creationId xmlns:a16="http://schemas.microsoft.com/office/drawing/2014/main" id="{A70B5603-B37B-F177-C0B6-1736D2ADE972}"/>
              </a:ext>
            </a:extLst>
          </p:cNvPr>
          <p:cNvGrpSpPr/>
          <p:nvPr/>
        </p:nvGrpSpPr>
        <p:grpSpPr>
          <a:xfrm>
            <a:off x="676536" y="991541"/>
            <a:ext cx="10038402" cy="2060979"/>
            <a:chOff x="2297719" y="3660322"/>
            <a:chExt cx="11060457" cy="206110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D9211B4-3A14-C1C6-E3DD-E2075901B103}"/>
                </a:ext>
              </a:extLst>
            </p:cNvPr>
            <p:cNvSpPr/>
            <p:nvPr/>
          </p:nvSpPr>
          <p:spPr>
            <a:xfrm>
              <a:off x="2297727" y="3660324"/>
              <a:ext cx="11060449" cy="2061099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@GetMapping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"/depts/{id}"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getInfo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@PathVariable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){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System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out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.println(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"根据ID查询部门数据: "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+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 dept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deptService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.getInfo(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success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87D5E3F8-0056-7D4E-E5A9-85BD132007BD}"/>
                </a:ext>
              </a:extLst>
            </p:cNvPr>
            <p:cNvSpPr/>
            <p:nvPr/>
          </p:nvSpPr>
          <p:spPr>
            <a:xfrm>
              <a:off x="2297719" y="3660322"/>
              <a:ext cx="1106044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DeptController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BCE2511-6EE7-D386-0921-BBBCA52A6E2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8CDCC66-B90A-16F6-A82D-6EFF05DE692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050C4A7-DFCC-D775-5442-7084D0D83C9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8C9CAEBC-A487-CD64-969B-26F027A0F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组合 3">
            <a:extLst>
              <a:ext uri="{FF2B5EF4-FFF2-40B4-BE49-F238E27FC236}">
                <a16:creationId xmlns:a16="http://schemas.microsoft.com/office/drawing/2014/main" id="{ECA4A1CF-4BB8-1BC9-F90A-05A015B88C14}"/>
              </a:ext>
            </a:extLst>
          </p:cNvPr>
          <p:cNvGrpSpPr/>
          <p:nvPr/>
        </p:nvGrpSpPr>
        <p:grpSpPr>
          <a:xfrm>
            <a:off x="676536" y="3233250"/>
            <a:ext cx="10038402" cy="1527011"/>
            <a:chOff x="2297719" y="3660322"/>
            <a:chExt cx="11060457" cy="152710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40D7F57-542E-04CD-195A-6C2F124A4349}"/>
                </a:ext>
              </a:extLst>
            </p:cNvPr>
            <p:cNvSpPr/>
            <p:nvPr/>
          </p:nvSpPr>
          <p:spPr>
            <a:xfrm>
              <a:off x="2297727" y="3660325"/>
              <a:ext cx="11060449" cy="1527098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@Override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getInfo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{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deptMapper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.getById(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42A29961-99AF-47CF-35E3-A7B6F58700CF}"/>
                </a:ext>
              </a:extLst>
            </p:cNvPr>
            <p:cNvSpPr/>
            <p:nvPr/>
          </p:nvSpPr>
          <p:spPr>
            <a:xfrm>
              <a:off x="2297719" y="3660322"/>
              <a:ext cx="1106044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DeptServiceImpl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18C774B-B2E1-E14C-914B-A07A7AE0B2C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DFD20AD-001A-0D16-94DF-68BE3D53F4E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6706453-9616-4D69-D7D7-F3E0B12EF55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Rectangle 2">
            <a:extLst>
              <a:ext uri="{FF2B5EF4-FFF2-40B4-BE49-F238E27FC236}">
                <a16:creationId xmlns:a16="http://schemas.microsoft.com/office/drawing/2014/main" id="{93FE4188-68A9-C5F7-6DB4-20562535F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8" name="组合 4">
            <a:extLst>
              <a:ext uri="{FF2B5EF4-FFF2-40B4-BE49-F238E27FC236}">
                <a16:creationId xmlns:a16="http://schemas.microsoft.com/office/drawing/2014/main" id="{531FCCC3-51FC-9312-6E35-3EC9EAF66DFE}"/>
              </a:ext>
            </a:extLst>
          </p:cNvPr>
          <p:cNvGrpSpPr/>
          <p:nvPr/>
        </p:nvGrpSpPr>
        <p:grpSpPr>
          <a:xfrm>
            <a:off x="676536" y="4940993"/>
            <a:ext cx="10038402" cy="1047430"/>
            <a:chOff x="2297719" y="3660322"/>
            <a:chExt cx="11060457" cy="1047492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6636AB12-5541-A92A-B918-5BEBD3D5681A}"/>
                </a:ext>
              </a:extLst>
            </p:cNvPr>
            <p:cNvSpPr/>
            <p:nvPr/>
          </p:nvSpPr>
          <p:spPr>
            <a:xfrm>
              <a:off x="2297727" y="3660325"/>
              <a:ext cx="11060449" cy="1047489"/>
            </a:xfrm>
            <a:prstGeom prst="roundRect">
              <a:avLst>
                <a:gd name="adj" fmla="val 814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@Select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select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rPr>
                <a:t>,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 name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rPr>
                <a:t>,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 create_time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rPr>
                <a:t>,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 update_time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 from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rPr>
                <a:t>dept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 where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rPr>
                <a:t>id =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</a:rPr>
                <a:t>#{id}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getById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id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zh-CN" altLang="zh-CN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0" name="矩形: 圆顶角 19">
              <a:extLst>
                <a:ext uri="{FF2B5EF4-FFF2-40B4-BE49-F238E27FC236}">
                  <a16:creationId xmlns:a16="http://schemas.microsoft.com/office/drawing/2014/main" id="{5EE852AA-6C91-3DAA-35B5-CFB9EF3BC9C2}"/>
                </a:ext>
              </a:extLst>
            </p:cNvPr>
            <p:cNvSpPr/>
            <p:nvPr/>
          </p:nvSpPr>
          <p:spPr>
            <a:xfrm>
              <a:off x="2297719" y="3660322"/>
              <a:ext cx="1106044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DeptMapper</a:t>
              </a: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A12A816-B5C2-169C-B360-0D3A9F73A67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5557E09-43E7-8C35-CBC9-57A5090E698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F4A84865-21C9-DB7C-8416-C6D4A5C6A1F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Rectangle 3">
            <a:extLst>
              <a:ext uri="{FF2B5EF4-FFF2-40B4-BE49-F238E27FC236}">
                <a16:creationId xmlns:a16="http://schemas.microsoft.com/office/drawing/2014/main" id="{5F0B4586-2C30-C63E-5590-59881842D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525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6290F4-5E60-A8D9-331A-5959252AD8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5859" y="2394439"/>
            <a:ext cx="7346922" cy="206912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如何接收路径参数 ？</a:t>
            </a:r>
            <a:endParaRPr lang="en-US" altLang="zh-CN" sz="18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@PathVariable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注解来声明获取的是路径参数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在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url</a:t>
            </a:r>
            <a:r>
              <a:rPr lang="zh-CN" altLang="en-US" sz="1800">
                <a:latin typeface="Fira Code" panose="020B0809050000020004" pitchFamily="49" charset="0"/>
              </a:rPr>
              <a:t>中是否可以携带多个路径参数呢 ，如：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/depts/1/0</a:t>
            </a: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可以，接收方式如下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88393C-0C77-0A69-0033-1F74BEBD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44" y="4463561"/>
            <a:ext cx="7029334" cy="1112486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93E419A-BDE3-5A2F-BA4C-5853751BC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611" y="897644"/>
            <a:ext cx="4393170" cy="1327041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124BE0-E56B-692C-6A7F-5DB549E39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320" y="1639725"/>
            <a:ext cx="4197293" cy="1327041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399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F2048D-6FFE-9857-7560-8FB5EF58E3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修改部门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2DFB9F-BBB1-2CB4-4C49-68223FCE8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1172044"/>
          </a:xfrm>
        </p:spPr>
        <p:txBody>
          <a:bodyPr/>
          <a:lstStyle/>
          <a:p>
            <a:r>
              <a:rPr lang="zh-CN" altLang="en-US"/>
              <a:t>查询回显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修改数据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E7F0962-492B-29A3-E31D-342FBF5C04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222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56CBF2-72D0-0AE6-5518-903176A5B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7" y="1104381"/>
            <a:ext cx="9421047" cy="54775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4879C26-785C-498A-71E3-537CFE99D23C}"/>
              </a:ext>
            </a:extLst>
          </p:cNvPr>
          <p:cNvSpPr/>
          <p:nvPr/>
        </p:nvSpPr>
        <p:spPr>
          <a:xfrm>
            <a:off x="690282" y="1095416"/>
            <a:ext cx="9430871" cy="5486505"/>
          </a:xfrm>
          <a:prstGeom prst="rect">
            <a:avLst/>
          </a:prstGeom>
          <a:solidFill>
            <a:srgbClr val="262626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9E6C40-295D-D700-BAA1-5C34C13B3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041" y="2918011"/>
            <a:ext cx="3715862" cy="176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0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思路分析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参照接口文档，再来梳理一下实现该功能时，三层架构每一层的职责：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06B0DB-7844-8761-D9AA-84F9FC2DC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530" y="3413820"/>
            <a:ext cx="932333" cy="1302786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5F0ABB2A-E791-6730-D375-8E693DF0290F}"/>
              </a:ext>
            </a:extLst>
          </p:cNvPr>
          <p:cNvGrpSpPr/>
          <p:nvPr/>
        </p:nvGrpSpPr>
        <p:grpSpPr>
          <a:xfrm>
            <a:off x="726137" y="3749668"/>
            <a:ext cx="780070" cy="786974"/>
            <a:chOff x="1288572" y="3466291"/>
            <a:chExt cx="1076475" cy="1086002"/>
          </a:xfrm>
        </p:grpSpPr>
        <p:pic>
          <p:nvPicPr>
            <p:cNvPr id="6" name="图片 0">
              <a:extLst>
                <a:ext uri="{FF2B5EF4-FFF2-40B4-BE49-F238E27FC236}">
                  <a16:creationId xmlns:a16="http://schemas.microsoft.com/office/drawing/2014/main" id="{8EA242B6-A5E7-54EF-5F22-B15376177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7" name="图片 1">
              <a:extLst>
                <a:ext uri="{FF2B5EF4-FFF2-40B4-BE49-F238E27FC236}">
                  <a16:creationId xmlns:a16="http://schemas.microsoft.com/office/drawing/2014/main" id="{8C701FD4-3494-273F-1852-35540DAC1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F634C29B-84D5-892B-7C64-8B5D21F14800}"/>
              </a:ext>
            </a:extLst>
          </p:cNvPr>
          <p:cNvSpPr/>
          <p:nvPr/>
        </p:nvSpPr>
        <p:spPr>
          <a:xfrm>
            <a:off x="1673764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E422E4A-A09D-47FA-1DD1-2ADE73617C46}"/>
              </a:ext>
            </a:extLst>
          </p:cNvPr>
          <p:cNvSpPr/>
          <p:nvPr/>
        </p:nvSpPr>
        <p:spPr>
          <a:xfrm>
            <a:off x="4390070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980AD58-33E1-53C7-055F-97DFE00148C2}"/>
              </a:ext>
            </a:extLst>
          </p:cNvPr>
          <p:cNvSpPr/>
          <p:nvPr/>
        </p:nvSpPr>
        <p:spPr>
          <a:xfrm>
            <a:off x="7187057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CD70C14-3D45-F130-F937-4B9AA9D16D73}"/>
              </a:ext>
            </a:extLst>
          </p:cNvPr>
          <p:cNvSpPr/>
          <p:nvPr/>
        </p:nvSpPr>
        <p:spPr>
          <a:xfrm>
            <a:off x="9903363" y="3947393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4D3D166-A67B-92F5-A2E2-52386A5A0E80}"/>
              </a:ext>
            </a:extLst>
          </p:cNvPr>
          <p:cNvGrpSpPr/>
          <p:nvPr/>
        </p:nvGrpSpPr>
        <p:grpSpPr>
          <a:xfrm>
            <a:off x="2303931" y="2912210"/>
            <a:ext cx="1900517" cy="2611635"/>
            <a:chOff x="2303931" y="2912210"/>
            <a:chExt cx="1900517" cy="261163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2A6B14C-6710-6378-3C98-93EC850F1533}"/>
                </a:ext>
              </a:extLst>
            </p:cNvPr>
            <p:cNvSpPr/>
            <p:nvPr/>
          </p:nvSpPr>
          <p:spPr>
            <a:xfrm>
              <a:off x="2303931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流程图: 文档 13">
              <a:extLst>
                <a:ext uri="{FF2B5EF4-FFF2-40B4-BE49-F238E27FC236}">
                  <a16:creationId xmlns:a16="http://schemas.microsoft.com/office/drawing/2014/main" id="{ED7CC20C-DF2E-F5C2-1D80-2845D0728E3C}"/>
                </a:ext>
              </a:extLst>
            </p:cNvPr>
            <p:cNvSpPr/>
            <p:nvPr/>
          </p:nvSpPr>
          <p:spPr>
            <a:xfrm>
              <a:off x="2303931" y="331671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5" name="!!流程图: 文档 1">
            <a:extLst>
              <a:ext uri="{FF2B5EF4-FFF2-40B4-BE49-F238E27FC236}">
                <a16:creationId xmlns:a16="http://schemas.microsoft.com/office/drawing/2014/main" id="{5D4DF1FA-DFF8-A019-044D-2455EDD4E325}"/>
              </a:ext>
            </a:extLst>
          </p:cNvPr>
          <p:cNvSpPr/>
          <p:nvPr/>
        </p:nvSpPr>
        <p:spPr>
          <a:xfrm>
            <a:off x="2303930" y="3312902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10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{"id":1,"name":"</a:t>
            </a:r>
            <a:r>
              <a:rPr lang="zh-CN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教研部</a:t>
            </a:r>
            <a:r>
              <a:rPr lang="en-US" altLang="zh-CN" sz="100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"}</a:t>
            </a:r>
            <a:endParaRPr lang="en-US" altLang="zh-CN" sz="1050">
              <a:solidFill>
                <a:schemeClr val="tx1">
                  <a:lumMod val="95000"/>
                  <a:lumOff val="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接收请求参数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json</a:t>
            </a:r>
            <a:r>
              <a:rPr lang="zh-CN" altLang="en-US" sz="105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层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D522705-562B-75EE-F95E-F3C929C7299C}"/>
              </a:ext>
            </a:extLst>
          </p:cNvPr>
          <p:cNvGrpSpPr/>
          <p:nvPr/>
        </p:nvGrpSpPr>
        <p:grpSpPr>
          <a:xfrm>
            <a:off x="5100918" y="2912210"/>
            <a:ext cx="1900517" cy="2615624"/>
            <a:chOff x="5100918" y="2912210"/>
            <a:chExt cx="1900517" cy="2615624"/>
          </a:xfrm>
        </p:grpSpPr>
        <p:sp>
          <p:nvSpPr>
            <p:cNvPr id="17" name="流程图: 文档 16">
              <a:extLst>
                <a:ext uri="{FF2B5EF4-FFF2-40B4-BE49-F238E27FC236}">
                  <a16:creationId xmlns:a16="http://schemas.microsoft.com/office/drawing/2014/main" id="{41C59924-85D6-D5B9-7D9A-93B51F4984E7}"/>
                </a:ext>
              </a:extLst>
            </p:cNvPr>
            <p:cNvSpPr/>
            <p:nvPr/>
          </p:nvSpPr>
          <p:spPr>
            <a:xfrm>
              <a:off x="5100918" y="3320701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8663DDA-00D4-B917-0FE7-B89C9E39D7DB}"/>
                </a:ext>
              </a:extLst>
            </p:cNvPr>
            <p:cNvSpPr/>
            <p:nvPr/>
          </p:nvSpPr>
          <p:spPr>
            <a:xfrm>
              <a:off x="5100918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9" name="流程图: 文档 18">
            <a:extLst>
              <a:ext uri="{FF2B5EF4-FFF2-40B4-BE49-F238E27FC236}">
                <a16:creationId xmlns:a16="http://schemas.microsoft.com/office/drawing/2014/main" id="{9D5B6E0E-F22A-EDBE-AB02-96FF45CC32A7}"/>
              </a:ext>
            </a:extLst>
          </p:cNvPr>
          <p:cNvSpPr/>
          <p:nvPr/>
        </p:nvSpPr>
        <p:spPr>
          <a:xfrm>
            <a:off x="5100918" y="3315621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补全基础属性</a:t>
            </a:r>
            <a:endParaRPr lang="en-US" altLang="zh-CN" sz="11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接口方法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50946FB-66D9-86F9-1E71-569851DE7294}"/>
              </a:ext>
            </a:extLst>
          </p:cNvPr>
          <p:cNvGrpSpPr/>
          <p:nvPr/>
        </p:nvGrpSpPr>
        <p:grpSpPr>
          <a:xfrm>
            <a:off x="7897904" y="2912210"/>
            <a:ext cx="1900518" cy="2607825"/>
            <a:chOff x="7897904" y="2912210"/>
            <a:chExt cx="1900518" cy="2607825"/>
          </a:xfrm>
        </p:grpSpPr>
        <p:sp>
          <p:nvSpPr>
            <p:cNvPr id="21" name="流程图: 文档 20">
              <a:extLst>
                <a:ext uri="{FF2B5EF4-FFF2-40B4-BE49-F238E27FC236}">
                  <a16:creationId xmlns:a16="http://schemas.microsoft.com/office/drawing/2014/main" id="{0D8A7386-56C5-E22B-89DB-A837B85FCD47}"/>
                </a:ext>
              </a:extLst>
            </p:cNvPr>
            <p:cNvSpPr/>
            <p:nvPr/>
          </p:nvSpPr>
          <p:spPr>
            <a:xfrm>
              <a:off x="7897904" y="3312902"/>
              <a:ext cx="19005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EFF5780-70FA-02E6-C693-5A24BDC8754A}"/>
                </a:ext>
              </a:extLst>
            </p:cNvPr>
            <p:cNvSpPr/>
            <p:nvPr/>
          </p:nvSpPr>
          <p:spPr>
            <a:xfrm>
              <a:off x="7897905" y="2912210"/>
              <a:ext cx="19005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3" name="流程图: 文档 22">
            <a:extLst>
              <a:ext uri="{FF2B5EF4-FFF2-40B4-BE49-F238E27FC236}">
                <a16:creationId xmlns:a16="http://schemas.microsoft.com/office/drawing/2014/main" id="{413762FE-3A57-4574-6E4B-105FB6EA15DE}"/>
              </a:ext>
            </a:extLst>
          </p:cNvPr>
          <p:cNvSpPr/>
          <p:nvPr/>
        </p:nvSpPr>
        <p:spPr>
          <a:xfrm>
            <a:off x="7897903" y="3312901"/>
            <a:ext cx="1900517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update dept set name = ? , update_time = ? where id = ?</a:t>
            </a:r>
          </a:p>
        </p:txBody>
      </p:sp>
    </p:spTree>
    <p:extLst>
      <p:ext uri="{BB962C8B-B14F-4D97-AF65-F5344CB8AC3E}">
        <p14:creationId xmlns:p14="http://schemas.microsoft.com/office/powerpoint/2010/main" val="227470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5" grpId="0" animBg="1"/>
      <p:bldP spid="19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修改数据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24FBA944-8076-AC11-448D-4A82BE9CB273}"/>
              </a:ext>
            </a:extLst>
          </p:cNvPr>
          <p:cNvGrpSpPr/>
          <p:nvPr/>
        </p:nvGrpSpPr>
        <p:grpSpPr>
          <a:xfrm>
            <a:off x="680122" y="1120852"/>
            <a:ext cx="5144548" cy="2060979"/>
            <a:chOff x="2297720" y="3660322"/>
            <a:chExt cx="5668337" cy="206110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57858E8-68F6-9DB6-5F18-E97334D29833}"/>
                </a:ext>
              </a:extLst>
            </p:cNvPr>
            <p:cNvSpPr/>
            <p:nvPr/>
          </p:nvSpPr>
          <p:spPr>
            <a:xfrm>
              <a:off x="2297727" y="3660324"/>
              <a:ext cx="5668330" cy="2061099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3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@PutMapping</a:t>
              </a: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3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"/depts"</a:t>
              </a: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)</a:t>
              </a:r>
              <a:b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3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public </a:t>
              </a:r>
              <a:r>
                <a:rPr lang="en-US" altLang="zh-CN" sz="13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Result </a:t>
              </a:r>
              <a:r>
                <a:rPr lang="en-US" altLang="zh-CN" sz="1300">
                  <a:solidFill>
                    <a:srgbClr val="00627A"/>
                  </a:solidFill>
                  <a:effectLst/>
                  <a:ea typeface="Fira Code" panose="020B0809050000020004" pitchFamily="49" charset="0"/>
                </a:rPr>
                <a:t>update</a:t>
              </a: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300">
                  <a:solidFill>
                    <a:srgbClr val="9E880D"/>
                  </a:solidFill>
                  <a:effectLst/>
                  <a:ea typeface="Fira Code" panose="020B0809050000020004" pitchFamily="49" charset="0"/>
                </a:rPr>
                <a:t>@RequestBody </a:t>
              </a:r>
              <a:r>
                <a:rPr lang="en-US" altLang="zh-CN" sz="13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Dept </a:t>
              </a: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dept){</a:t>
              </a:r>
              <a:b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3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System</a:t>
              </a: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</a:t>
              </a:r>
              <a:r>
                <a:rPr lang="en-US" altLang="zh-CN" sz="1300" i="1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out</a:t>
              </a: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.println(</a:t>
              </a:r>
              <a:r>
                <a:rPr lang="en-US" altLang="zh-CN" sz="13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zh-CN" altLang="en-US" sz="13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修改部门数据</a:t>
              </a:r>
              <a:r>
                <a:rPr lang="en-US" altLang="zh-CN" sz="13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: </a:t>
              </a:r>
              <a:r>
                <a:rPr lang="en-US" altLang="zh-CN" sz="1300">
                  <a:solidFill>
                    <a:srgbClr val="067D17"/>
                  </a:solidFill>
                  <a:effectLst/>
                  <a:ea typeface="Fira Code" panose="020B0809050000020004" pitchFamily="49" charset="0"/>
                </a:rPr>
                <a:t>" </a:t>
              </a: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+ dept);</a:t>
              </a:r>
              <a:b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300">
                  <a:solidFill>
                    <a:srgbClr val="871094"/>
                  </a:solidFill>
                  <a:effectLst/>
                  <a:ea typeface="Fira Code" panose="020B0809050000020004" pitchFamily="49" charset="0"/>
                </a:rPr>
                <a:t>deptService</a:t>
              </a: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.update(dept);</a:t>
              </a:r>
              <a:b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    </a:t>
              </a:r>
              <a:r>
                <a:rPr lang="en-US" altLang="zh-CN" sz="1300">
                  <a:solidFill>
                    <a:srgbClr val="0033B3"/>
                  </a:solidFill>
                  <a:effectLst/>
                  <a:ea typeface="Fira Code" panose="020B0809050000020004" pitchFamily="49" charset="0"/>
                </a:rPr>
                <a:t>return </a:t>
              </a:r>
              <a:r>
                <a:rPr lang="en-US" altLang="zh-CN" sz="130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Result</a:t>
              </a: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.</a:t>
              </a:r>
              <a:r>
                <a:rPr lang="en-US" altLang="zh-CN" sz="1300" i="1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success</a:t>
              </a: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();</a:t>
              </a:r>
              <a:b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300">
                  <a:solidFill>
                    <a:srgbClr val="080808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D113B54F-F6AF-0613-008E-946104D7D786}"/>
                </a:ext>
              </a:extLst>
            </p:cNvPr>
            <p:cNvSpPr/>
            <p:nvPr/>
          </p:nvSpPr>
          <p:spPr>
            <a:xfrm>
              <a:off x="2297720" y="3660322"/>
              <a:ext cx="566833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100" b="1"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DeptController</a:t>
              </a:r>
              <a:endParaRPr lang="zh-CN" altLang="en-US" sz="1100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EC1FD2F-4E48-EDFE-B6DB-FA8DA8295AE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FC95268-3A07-5FB7-92E5-FE46695CE8D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D81157A-C4C2-CA74-39A2-FEDB87B4A9E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6DAD81A8-BFB9-C3EC-AC79-5848F1502908}"/>
              </a:ext>
            </a:extLst>
          </p:cNvPr>
          <p:cNvGrpSpPr/>
          <p:nvPr/>
        </p:nvGrpSpPr>
        <p:grpSpPr>
          <a:xfrm>
            <a:off x="6386136" y="1120852"/>
            <a:ext cx="4850846" cy="2060979"/>
            <a:chOff x="2297720" y="3660322"/>
            <a:chExt cx="5344732" cy="206110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86CF128-7FDC-F3B2-995D-F3E65E26419A}"/>
                </a:ext>
              </a:extLst>
            </p:cNvPr>
            <p:cNvSpPr/>
            <p:nvPr/>
          </p:nvSpPr>
          <p:spPr>
            <a:xfrm>
              <a:off x="2297728" y="3660324"/>
              <a:ext cx="5344724" cy="2061099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300">
                  <a:solidFill>
                    <a:srgbClr val="9E880D"/>
                  </a:solidFill>
                  <a:effectLst/>
                </a:rPr>
                <a:t>@Override</a:t>
              </a:r>
              <a:br>
                <a:rPr lang="en-US" altLang="zh-CN" sz="1300">
                  <a:solidFill>
                    <a:srgbClr val="9E880D"/>
                  </a:solidFill>
                  <a:effectLst/>
                </a:rPr>
              </a:br>
              <a:r>
                <a:rPr lang="en-US" altLang="zh-CN" sz="1300">
                  <a:solidFill>
                    <a:srgbClr val="0033B3"/>
                  </a:solidFill>
                  <a:effectLst/>
                </a:rPr>
                <a:t>public void </a:t>
              </a:r>
              <a:r>
                <a:rPr lang="en-US" altLang="zh-CN" sz="1300">
                  <a:solidFill>
                    <a:srgbClr val="00627A"/>
                  </a:solidFill>
                  <a:effectLst/>
                </a:rPr>
                <a:t>update</a:t>
              </a:r>
              <a:r>
                <a:rPr lang="en-US" altLang="zh-CN" sz="13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300">
                  <a:solidFill>
                    <a:srgbClr val="000000"/>
                  </a:solidFill>
                  <a:effectLst/>
                </a:rPr>
                <a:t>Dept </a:t>
              </a:r>
              <a:r>
                <a:rPr lang="en-US" altLang="zh-CN" sz="1300">
                  <a:solidFill>
                    <a:srgbClr val="080808"/>
                  </a:solidFill>
                  <a:effectLst/>
                </a:rPr>
                <a:t>dept) {</a:t>
              </a:r>
              <a:br>
                <a:rPr lang="en-US" altLang="zh-CN" sz="1300">
                  <a:solidFill>
                    <a:srgbClr val="080808"/>
                  </a:solidFill>
                  <a:effectLst/>
                </a:rPr>
              </a:br>
              <a:r>
                <a:rPr lang="en-US" altLang="zh-CN" sz="1300">
                  <a:solidFill>
                    <a:srgbClr val="080808"/>
                  </a:solidFill>
                  <a:effectLst/>
                </a:rPr>
                <a:t>    dept.setUpdateTime(</a:t>
              </a:r>
              <a:r>
                <a:rPr lang="en-US" altLang="zh-CN" sz="1300">
                  <a:solidFill>
                    <a:srgbClr val="000000"/>
                  </a:solidFill>
                  <a:effectLst/>
                </a:rPr>
                <a:t>LocalDateTime</a:t>
              </a:r>
              <a:r>
                <a:rPr lang="en-US" altLang="zh-CN" sz="13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300" i="1">
                  <a:solidFill>
                    <a:srgbClr val="080808"/>
                  </a:solidFill>
                  <a:effectLst/>
                </a:rPr>
                <a:t>now</a:t>
              </a:r>
              <a:r>
                <a:rPr lang="en-US" altLang="zh-CN" sz="1300">
                  <a:solidFill>
                    <a:srgbClr val="080808"/>
                  </a:solidFill>
                  <a:effectLst/>
                </a:rPr>
                <a:t>());</a:t>
              </a:r>
              <a:br>
                <a:rPr lang="en-US" altLang="zh-CN" sz="1300">
                  <a:solidFill>
                    <a:srgbClr val="080808"/>
                  </a:solidFill>
                  <a:effectLst/>
                </a:rPr>
              </a:br>
              <a:r>
                <a:rPr lang="en-US" altLang="zh-CN" sz="13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300">
                  <a:solidFill>
                    <a:srgbClr val="871094"/>
                  </a:solidFill>
                  <a:effectLst/>
                </a:rPr>
                <a:t>deptMapper</a:t>
              </a:r>
              <a:r>
                <a:rPr lang="en-US" altLang="zh-CN" sz="1300">
                  <a:solidFill>
                    <a:srgbClr val="080808"/>
                  </a:solidFill>
                  <a:effectLst/>
                </a:rPr>
                <a:t>.update(dept);</a:t>
              </a:r>
              <a:br>
                <a:rPr lang="en-US" altLang="zh-CN" sz="1300">
                  <a:solidFill>
                    <a:srgbClr val="080808"/>
                  </a:solidFill>
                  <a:effectLst/>
                </a:rPr>
              </a:br>
              <a:r>
                <a:rPr lang="en-US" altLang="zh-CN" sz="13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840FC324-967C-09AD-09A1-B408E67B3AFC}"/>
                </a:ext>
              </a:extLst>
            </p:cNvPr>
            <p:cNvSpPr/>
            <p:nvPr/>
          </p:nvSpPr>
          <p:spPr>
            <a:xfrm>
              <a:off x="2297720" y="3660322"/>
              <a:ext cx="5344731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100" b="1"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DeptServiceImpl</a:t>
              </a:r>
              <a:endParaRPr lang="zh-CN" altLang="en-US" sz="1100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95B82AC-E3A9-3AE2-DF18-093FB3084A0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2EDA888-800E-51A9-218E-A787488CE20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F59074C-A7A5-500E-F954-74CD3867E05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">
            <a:extLst>
              <a:ext uri="{FF2B5EF4-FFF2-40B4-BE49-F238E27FC236}">
                <a16:creationId xmlns:a16="http://schemas.microsoft.com/office/drawing/2014/main" id="{6AFA8103-ABD2-C3D0-CA78-0C5DC4A15E9A}"/>
              </a:ext>
            </a:extLst>
          </p:cNvPr>
          <p:cNvGrpSpPr/>
          <p:nvPr/>
        </p:nvGrpSpPr>
        <p:grpSpPr>
          <a:xfrm>
            <a:off x="680122" y="3908310"/>
            <a:ext cx="10556859" cy="1004383"/>
            <a:chOff x="2297720" y="3660322"/>
            <a:chExt cx="11631701" cy="1004442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3A20DFF-404C-ADEA-805A-D6EFA063C28A}"/>
                </a:ext>
              </a:extLst>
            </p:cNvPr>
            <p:cNvSpPr/>
            <p:nvPr/>
          </p:nvSpPr>
          <p:spPr>
            <a:xfrm>
              <a:off x="2297727" y="3660325"/>
              <a:ext cx="11631694" cy="1004439"/>
            </a:xfrm>
            <a:prstGeom prst="roundRect">
              <a:avLst>
                <a:gd name="adj" fmla="val 841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300">
                  <a:solidFill>
                    <a:srgbClr val="9E880D"/>
                  </a:solidFill>
                  <a:effectLst/>
                </a:rPr>
                <a:t>@Update</a:t>
              </a:r>
              <a:r>
                <a:rPr lang="en-US" altLang="zh-CN" sz="13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3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300">
                  <a:solidFill>
                    <a:srgbClr val="0000FF"/>
                  </a:solidFill>
                  <a:effectLst/>
                </a:rPr>
                <a:t>update</a:t>
              </a:r>
              <a:r>
                <a:rPr lang="en-US" altLang="zh-CN" sz="1300">
                  <a:solidFill>
                    <a:srgbClr val="067D17"/>
                  </a:solidFill>
                  <a:effectLst/>
                </a:rPr>
                <a:t> dept</a:t>
              </a:r>
              <a:r>
                <a:rPr lang="en-US" altLang="zh-CN" sz="1300">
                  <a:solidFill>
                    <a:srgbClr val="000000"/>
                  </a:solidFill>
                  <a:effectLst/>
                </a:rPr>
                <a:t> </a:t>
              </a:r>
              <a:r>
                <a:rPr lang="en-US" altLang="zh-CN" sz="1300">
                  <a:solidFill>
                    <a:srgbClr val="0000FF"/>
                  </a:solidFill>
                  <a:effectLst/>
                </a:rPr>
                <a:t>set</a:t>
              </a:r>
              <a:r>
                <a:rPr lang="en-US" altLang="zh-CN" sz="13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300">
                  <a:solidFill>
                    <a:srgbClr val="871094"/>
                  </a:solidFill>
                  <a:effectLst/>
                </a:rPr>
                <a:t>name </a:t>
              </a:r>
              <a:r>
                <a:rPr lang="en-US" altLang="zh-CN" sz="1300">
                  <a:solidFill>
                    <a:srgbClr val="067D17"/>
                  </a:solidFill>
                  <a:effectLst/>
                </a:rPr>
                <a:t>= #{name}, </a:t>
              </a:r>
              <a:r>
                <a:rPr lang="en-US" altLang="zh-CN" sz="1300">
                  <a:solidFill>
                    <a:srgbClr val="871094"/>
                  </a:solidFill>
                  <a:effectLst/>
                </a:rPr>
                <a:t>update_time </a:t>
              </a:r>
              <a:r>
                <a:rPr lang="en-US" altLang="zh-CN" sz="1300">
                  <a:solidFill>
                    <a:srgbClr val="067D17"/>
                  </a:solidFill>
                  <a:effectLst/>
                </a:rPr>
                <a:t>= #{updateTime} </a:t>
              </a:r>
              <a:r>
                <a:rPr lang="en-US" altLang="zh-CN" sz="1300">
                  <a:solidFill>
                    <a:srgbClr val="0000FF"/>
                  </a:solidFill>
                  <a:effectLst/>
                </a:rPr>
                <a:t>where</a:t>
              </a:r>
              <a:r>
                <a:rPr lang="en-US" altLang="zh-CN" sz="13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300">
                  <a:solidFill>
                    <a:srgbClr val="871094"/>
                  </a:solidFill>
                  <a:effectLst/>
                </a:rPr>
                <a:t>id </a:t>
              </a:r>
              <a:r>
                <a:rPr lang="en-US" altLang="zh-CN" sz="1300">
                  <a:solidFill>
                    <a:srgbClr val="067D17"/>
                  </a:solidFill>
                  <a:effectLst/>
                </a:rPr>
                <a:t>= #{id}"</a:t>
              </a:r>
              <a:r>
                <a:rPr lang="en-US" altLang="zh-CN" sz="13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300">
                  <a:solidFill>
                    <a:srgbClr val="080808"/>
                  </a:solidFill>
                  <a:effectLst/>
                </a:rPr>
              </a:br>
              <a:r>
                <a:rPr lang="en-US" altLang="zh-CN" sz="1300">
                  <a:solidFill>
                    <a:srgbClr val="0033B3"/>
                  </a:solidFill>
                  <a:effectLst/>
                </a:rPr>
                <a:t>void </a:t>
              </a:r>
              <a:r>
                <a:rPr lang="en-US" altLang="zh-CN" sz="1300">
                  <a:solidFill>
                    <a:srgbClr val="00627A"/>
                  </a:solidFill>
                  <a:effectLst/>
                </a:rPr>
                <a:t>update</a:t>
              </a:r>
              <a:r>
                <a:rPr lang="en-US" altLang="zh-CN" sz="13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300">
                  <a:solidFill>
                    <a:srgbClr val="000000"/>
                  </a:solidFill>
                  <a:effectLst/>
                </a:rPr>
                <a:t>Dept </a:t>
              </a:r>
              <a:r>
                <a:rPr lang="en-US" altLang="zh-CN" sz="1300">
                  <a:solidFill>
                    <a:srgbClr val="080808"/>
                  </a:solidFill>
                  <a:effectLst/>
                </a:rPr>
                <a:t>dept);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5AC5A3AF-8761-2C99-BF23-F3E16D744E3D}"/>
                </a:ext>
              </a:extLst>
            </p:cNvPr>
            <p:cNvSpPr/>
            <p:nvPr/>
          </p:nvSpPr>
          <p:spPr>
            <a:xfrm>
              <a:off x="2297720" y="3660322"/>
              <a:ext cx="116316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100" b="1"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DeptMapper</a:t>
              </a:r>
              <a:endParaRPr lang="zh-CN" altLang="en-US" sz="1100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61D8BF9-FF80-9B84-D7C1-740C6A0EC79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641FC04-2CDE-1070-7EB4-A030C804FBD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7E5DD84-DB29-2B84-3E2A-19C45FDB7B6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95105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@RequestMapping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CBE1B9-5E7C-35E4-9154-8A1E1332CA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092"/>
          <a:stretch/>
        </p:blipFill>
        <p:spPr>
          <a:xfrm>
            <a:off x="653059" y="1026365"/>
            <a:ext cx="4371185" cy="5333795"/>
          </a:xfrm>
          <a:prstGeom prst="flowChartDocumen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2E0DDE-C3B8-3D70-0154-F5815C595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085" y="1026365"/>
            <a:ext cx="4082835" cy="5333795"/>
          </a:xfrm>
          <a:prstGeom prst="flowChartDocumen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0FE80F6-A741-01B4-8C4F-9DF8A4603D79}"/>
              </a:ext>
            </a:extLst>
          </p:cNvPr>
          <p:cNvSpPr/>
          <p:nvPr/>
        </p:nvSpPr>
        <p:spPr>
          <a:xfrm>
            <a:off x="1775142" y="1915904"/>
            <a:ext cx="937658" cy="249283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D6E3ED-43C6-E5A3-91F8-16831B5379F3}"/>
              </a:ext>
            </a:extLst>
          </p:cNvPr>
          <p:cNvSpPr/>
          <p:nvPr/>
        </p:nvSpPr>
        <p:spPr>
          <a:xfrm>
            <a:off x="1964845" y="3027388"/>
            <a:ext cx="937658" cy="249283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6FC8A8-B8F7-5892-DF09-DC2E4B90DC87}"/>
              </a:ext>
            </a:extLst>
          </p:cNvPr>
          <p:cNvSpPr/>
          <p:nvPr/>
        </p:nvSpPr>
        <p:spPr>
          <a:xfrm>
            <a:off x="1825745" y="4128642"/>
            <a:ext cx="937658" cy="249283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FDBFC1-BDBD-4EC3-9DE1-4838AF2BCFC4}"/>
              </a:ext>
            </a:extLst>
          </p:cNvPr>
          <p:cNvSpPr/>
          <p:nvPr/>
        </p:nvSpPr>
        <p:spPr>
          <a:xfrm>
            <a:off x="1746037" y="5256343"/>
            <a:ext cx="731961" cy="249283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8B0291-D8E6-7041-88A2-75E099F63ADC}"/>
              </a:ext>
            </a:extLst>
          </p:cNvPr>
          <p:cNvSpPr/>
          <p:nvPr/>
        </p:nvSpPr>
        <p:spPr>
          <a:xfrm>
            <a:off x="5945085" y="1026365"/>
            <a:ext cx="4082835" cy="218215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9C856017-87B6-B9F6-F8AB-13F87A6C0C08}"/>
              </a:ext>
            </a:extLst>
          </p:cNvPr>
          <p:cNvSpPr txBox="1">
            <a:spLocks/>
          </p:cNvSpPr>
          <p:nvPr/>
        </p:nvSpPr>
        <p:spPr>
          <a:xfrm>
            <a:off x="576196" y="6374005"/>
            <a:ext cx="11084880" cy="4034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500">
                <a:latin typeface="Fira Code" panose="020B0809050000020004" pitchFamily="49" charset="0"/>
                <a:sym typeface="Consolas" panose="020B0609020204030204" pitchFamily="49" charset="0"/>
              </a:rPr>
              <a:t>一个完整的请求路径，应该是类上的 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  <a:sym typeface="Consolas" panose="020B0609020204030204" pitchFamily="49" charset="0"/>
              </a:rPr>
              <a:t>@RequestMapping </a:t>
            </a:r>
            <a:r>
              <a:rPr lang="zh-CN" altLang="en-US" sz="1500">
                <a:latin typeface="Fira Code" panose="020B0809050000020004" pitchFamily="49" charset="0"/>
                <a:sym typeface="Consolas" panose="020B0609020204030204" pitchFamily="49" charset="0"/>
              </a:rPr>
              <a:t>的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  <a:sym typeface="Consolas" panose="020B0609020204030204" pitchFamily="49" charset="0"/>
              </a:rPr>
              <a:t>value</a:t>
            </a:r>
            <a:r>
              <a:rPr lang="zh-CN" altLang="en-US" sz="1500">
                <a:latin typeface="Fira Code" panose="020B0809050000020004" pitchFamily="49" charset="0"/>
                <a:sym typeface="Consolas" panose="020B0609020204030204" pitchFamily="49" charset="0"/>
              </a:rPr>
              <a:t>属性 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  <a:sym typeface="Consolas" panose="020B0609020204030204" pitchFamily="49" charset="0"/>
              </a:rPr>
              <a:t>+ </a:t>
            </a:r>
            <a:r>
              <a:rPr lang="zh-CN" altLang="en-US" sz="1500">
                <a:latin typeface="Fira Code" panose="020B0809050000020004" pitchFamily="49" charset="0"/>
                <a:sym typeface="Consolas" panose="020B0609020204030204" pitchFamily="49" charset="0"/>
              </a:rPr>
              <a:t>方法上的 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  <a:sym typeface="Consolas" panose="020B0609020204030204" pitchFamily="49" charset="0"/>
              </a:rPr>
              <a:t>@RequestMapping</a:t>
            </a:r>
            <a:r>
              <a:rPr lang="zh-CN" altLang="en-US" sz="1500">
                <a:latin typeface="Fira Code" panose="020B0809050000020004" pitchFamily="49" charset="0"/>
                <a:sym typeface="Consolas" panose="020B0609020204030204" pitchFamily="49" charset="0"/>
              </a:rPr>
              <a:t>的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  <a:sym typeface="Consolas" panose="020B0609020204030204" pitchFamily="49" charset="0"/>
              </a:rPr>
              <a:t>value</a:t>
            </a:r>
            <a:r>
              <a:rPr lang="zh-CN" altLang="en-US" sz="1500">
                <a:latin typeface="Fira Code" panose="020B0809050000020004" pitchFamily="49" charset="0"/>
                <a:sym typeface="Consolas" panose="020B0609020204030204" pitchFamily="49" charset="0"/>
              </a:rPr>
              <a:t>属性。</a:t>
            </a:r>
            <a:endParaRPr lang="en-US" altLang="zh-CN" sz="1500">
              <a:latin typeface="Fira Code" panose="020B0809050000020004" pitchFamily="49" charset="0"/>
              <a:ea typeface="Fira Code" panose="020B0809050000020004" pitchFamily="49" charset="0"/>
              <a:sym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5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2FD574-FA5C-8AA2-DE6A-771C5A3750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@RequestMapping </a:t>
            </a:r>
            <a:r>
              <a:rPr lang="zh-CN" altLang="en-US" sz="1800">
                <a:latin typeface="Fira Code" panose="020B0809050000020004" pitchFamily="49" charset="0"/>
              </a:rPr>
              <a:t>注解可以加在哪儿？</a:t>
            </a:r>
            <a:endParaRPr lang="en-US" altLang="zh-CN" sz="1800">
              <a:latin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类上（可选的）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方法上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一个完整的请求路径 </a:t>
            </a:r>
            <a:r>
              <a:rPr lang="en-US" alt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类上 </a:t>
            </a:r>
            <a:r>
              <a:rPr lang="en-US" altLang="zh-CN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方法上的</a:t>
            </a:r>
          </a:p>
        </p:txBody>
      </p:sp>
    </p:spTree>
    <p:extLst>
      <p:ext uri="{BB962C8B-B14F-4D97-AF65-F5344CB8AC3E}">
        <p14:creationId xmlns:p14="http://schemas.microsoft.com/office/powerpoint/2010/main" val="375401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F9C4848-2850-8E57-1B00-7635122D0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916260"/>
            <a:ext cx="4971358" cy="5025479"/>
          </a:xfrm>
          <a:prstGeom prst="roundRect">
            <a:avLst>
              <a:gd name="adj" fmla="val 1952"/>
            </a:avLst>
          </a:prstGeom>
          <a:ln w="6350"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513EC39-F89F-F08C-39DB-D9184977CE5A}"/>
              </a:ext>
            </a:extLst>
          </p:cNvPr>
          <p:cNvSpPr/>
          <p:nvPr/>
        </p:nvSpPr>
        <p:spPr>
          <a:xfrm>
            <a:off x="3931920" y="2207976"/>
            <a:ext cx="4971358" cy="31496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E6F68D-1C33-9FF6-5650-FC3D27FF8FC1}"/>
              </a:ext>
            </a:extLst>
          </p:cNvPr>
          <p:cNvSpPr/>
          <p:nvPr/>
        </p:nvSpPr>
        <p:spPr>
          <a:xfrm>
            <a:off x="3931920" y="4802384"/>
            <a:ext cx="4971358" cy="31496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588D699-0A61-B2F3-5CD5-17262715A3F7}"/>
              </a:ext>
            </a:extLst>
          </p:cNvPr>
          <p:cNvSpPr txBox="1">
            <a:spLocks/>
          </p:cNvSpPr>
          <p:nvPr/>
        </p:nvSpPr>
        <p:spPr>
          <a:xfrm>
            <a:off x="9022080" y="3056336"/>
            <a:ext cx="3169920" cy="13868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只能输出到控制台</a:t>
            </a:r>
            <a:endParaRPr lang="en-US" altLang="zh-CN" sz="240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不便于扩展、维护</a:t>
            </a:r>
          </a:p>
        </p:txBody>
      </p:sp>
    </p:spTree>
    <p:extLst>
      <p:ext uri="{BB962C8B-B14F-4D97-AF65-F5344CB8AC3E}">
        <p14:creationId xmlns:p14="http://schemas.microsoft.com/office/powerpoint/2010/main" val="209910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CA61343-E3CE-AAA2-1F09-6F8EBAD749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565" y="1303823"/>
            <a:ext cx="3692525" cy="3313001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查询部门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删除部门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/>
              <a:t>新增部门</a:t>
            </a:r>
            <a:endParaRPr lang="en-US" altLang="zh-CN"/>
          </a:p>
          <a:p>
            <a:r>
              <a:rPr lang="zh-CN" altLang="en-US"/>
              <a:t>修改部门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日志技术</a:t>
            </a:r>
          </a:p>
        </p:txBody>
      </p:sp>
    </p:spTree>
    <p:extLst>
      <p:ext uri="{BB962C8B-B14F-4D97-AF65-F5344CB8AC3E}">
        <p14:creationId xmlns:p14="http://schemas.microsoft.com/office/powerpoint/2010/main" val="23491876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日志技术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303C0AB-0D46-886D-62E5-2B5B0EAB1A0D}"/>
              </a:ext>
            </a:extLst>
          </p:cNvPr>
          <p:cNvGrpSpPr/>
          <p:nvPr/>
        </p:nvGrpSpPr>
        <p:grpSpPr>
          <a:xfrm>
            <a:off x="736705" y="2772664"/>
            <a:ext cx="1954874" cy="1238024"/>
            <a:chOff x="844909" y="3118104"/>
            <a:chExt cx="1954874" cy="123802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938E5F1-EF96-E58F-6497-6F8D3D82E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909" y="3118104"/>
              <a:ext cx="1852571" cy="1076701"/>
            </a:xfrm>
            <a:prstGeom prst="roundRect">
              <a:avLst>
                <a:gd name="adj" fmla="val 4511"/>
              </a:avLst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78B113A-6425-CE3E-BC72-B739E7174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4936" y="3467733"/>
              <a:ext cx="644847" cy="888395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FDF114B4-88BC-732D-E114-A3391538D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05" y="1424142"/>
            <a:ext cx="1422803" cy="1187199"/>
          </a:xfrm>
          <a:prstGeom prst="roundRect">
            <a:avLst>
              <a:gd name="adj" fmla="val 4961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8" name="文本占位符 4">
            <a:extLst>
              <a:ext uri="{FF2B5EF4-FFF2-40B4-BE49-F238E27FC236}">
                <a16:creationId xmlns:a16="http://schemas.microsoft.com/office/drawing/2014/main" id="{C01D780F-CAF4-709B-7B94-629EA94DD329}"/>
              </a:ext>
            </a:extLst>
          </p:cNvPr>
          <p:cNvSpPr txBox="1">
            <a:spLocks/>
          </p:cNvSpPr>
          <p:nvPr/>
        </p:nvSpPr>
        <p:spPr>
          <a:xfrm>
            <a:off x="2266188" y="1749263"/>
            <a:ext cx="7659624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好比生活中的日记，可以记录你生活中的点点滴滴。</a:t>
            </a:r>
            <a:endParaRPr lang="en-US" altLang="zh-CN"/>
          </a:p>
        </p:txBody>
      </p:sp>
      <p:sp>
        <p:nvSpPr>
          <p:cNvPr id="9" name="文本占位符 4">
            <a:extLst>
              <a:ext uri="{FF2B5EF4-FFF2-40B4-BE49-F238E27FC236}">
                <a16:creationId xmlns:a16="http://schemas.microsoft.com/office/drawing/2014/main" id="{D4C128A4-0FC4-50B4-FAB9-901D00EC559C}"/>
              </a:ext>
            </a:extLst>
          </p:cNvPr>
          <p:cNvSpPr txBox="1">
            <a:spLocks/>
          </p:cNvSpPr>
          <p:nvPr/>
        </p:nvSpPr>
        <p:spPr>
          <a:xfrm>
            <a:off x="2738628" y="3148894"/>
            <a:ext cx="7187184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程序中的</a:t>
            </a:r>
            <a:r>
              <a:rPr lang="zh-CN" altLang="en-US">
                <a:solidFill>
                  <a:srgbClr val="C00000"/>
                </a:solidFill>
              </a:rPr>
              <a:t>日志</a:t>
            </a:r>
            <a:r>
              <a:rPr lang="zh-CN" altLang="en-US"/>
              <a:t>，是用来记录应用程序的运行信息、状态信息、错误信息等。</a:t>
            </a:r>
            <a:endParaRPr lang="en-US" altLang="zh-CN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D775A5C-70CF-B3F2-EF71-2607A11AD642}"/>
              </a:ext>
            </a:extLst>
          </p:cNvPr>
          <p:cNvGrpSpPr/>
          <p:nvPr/>
        </p:nvGrpSpPr>
        <p:grpSpPr>
          <a:xfrm>
            <a:off x="892712" y="4511413"/>
            <a:ext cx="1414116" cy="1414116"/>
            <a:chOff x="1337494" y="4480716"/>
            <a:chExt cx="1737204" cy="1737204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53CB7C07-F5D7-C6FF-D19F-FB27409690D5}"/>
                </a:ext>
              </a:extLst>
            </p:cNvPr>
            <p:cNvSpPr/>
            <p:nvPr/>
          </p:nvSpPr>
          <p:spPr>
            <a:xfrm>
              <a:off x="1381761" y="4524983"/>
              <a:ext cx="1648669" cy="1648669"/>
            </a:xfrm>
            <a:prstGeom prst="ellipse">
              <a:avLst/>
            </a:prstGeom>
            <a:gradFill flip="none" rotWithShape="1">
              <a:gsLst>
                <a:gs pos="18000">
                  <a:srgbClr val="0070C0"/>
                </a:gs>
                <a:gs pos="100000">
                  <a:srgbClr val="1EF8AF"/>
                </a:gs>
              </a:gsLst>
              <a:lin ang="2700000" scaled="1"/>
              <a:tileRect/>
            </a:gradFill>
            <a:ln>
              <a:noFill/>
            </a:ln>
            <a:effectLst>
              <a:reflection stA="52000" endPos="15000" dist="1016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>
                  <a:solidFill>
                    <a:prstClr val="white"/>
                  </a:solidFill>
                  <a:latin typeface="Arial"/>
                  <a:ea typeface="微软雅黑 Light"/>
                </a:rPr>
                <a:t>数据追踪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5A9868E9-D49E-549A-A044-43FA9312F291}"/>
                </a:ext>
              </a:extLst>
            </p:cNvPr>
            <p:cNvSpPr/>
            <p:nvPr/>
          </p:nvSpPr>
          <p:spPr>
            <a:xfrm>
              <a:off x="1337494" y="4480716"/>
              <a:ext cx="1737204" cy="1737204"/>
            </a:xfrm>
            <a:prstGeom prst="ellipse">
              <a:avLst/>
            </a:prstGeom>
            <a:noFill/>
            <a:ln w="6350">
              <a:solidFill>
                <a:srgbClr val="15D1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/>
                <a:ea typeface="微软雅黑 Light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D02AE6B-0C8A-3E76-BB24-95B0DB2197C7}"/>
              </a:ext>
            </a:extLst>
          </p:cNvPr>
          <p:cNvGrpSpPr/>
          <p:nvPr/>
        </p:nvGrpSpPr>
        <p:grpSpPr>
          <a:xfrm>
            <a:off x="3685019" y="4511413"/>
            <a:ext cx="1414116" cy="1414116"/>
            <a:chOff x="1337494" y="4480716"/>
            <a:chExt cx="1737204" cy="1737204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10CD761-B8A3-A0FF-4362-8A5E6A756601}"/>
                </a:ext>
              </a:extLst>
            </p:cNvPr>
            <p:cNvSpPr/>
            <p:nvPr/>
          </p:nvSpPr>
          <p:spPr>
            <a:xfrm>
              <a:off x="1381761" y="4524983"/>
              <a:ext cx="1648669" cy="1648669"/>
            </a:xfrm>
            <a:prstGeom prst="ellipse">
              <a:avLst/>
            </a:prstGeom>
            <a:gradFill flip="none" rotWithShape="1">
              <a:gsLst>
                <a:gs pos="18000">
                  <a:srgbClr val="0070C0"/>
                </a:gs>
                <a:gs pos="100000">
                  <a:srgbClr val="1EF8AF"/>
                </a:gs>
              </a:gsLst>
              <a:lin ang="2700000" scaled="1"/>
              <a:tileRect/>
            </a:gradFill>
            <a:ln>
              <a:noFill/>
            </a:ln>
            <a:effectLst>
              <a:reflection stA="52000" endPos="15000" dist="1016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>
                  <a:solidFill>
                    <a:prstClr val="white"/>
                  </a:solidFill>
                  <a:latin typeface="Arial"/>
                  <a:ea typeface="微软雅黑 Light"/>
                </a:rPr>
                <a:t>性能优化</a:t>
              </a: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6BA08FC-9F0B-BD03-8B83-E05ED80D9D57}"/>
                </a:ext>
              </a:extLst>
            </p:cNvPr>
            <p:cNvSpPr/>
            <p:nvPr/>
          </p:nvSpPr>
          <p:spPr>
            <a:xfrm>
              <a:off x="1337494" y="4480716"/>
              <a:ext cx="1737204" cy="1737204"/>
            </a:xfrm>
            <a:prstGeom prst="ellipse">
              <a:avLst/>
            </a:prstGeom>
            <a:noFill/>
            <a:ln w="6350">
              <a:solidFill>
                <a:srgbClr val="15D1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/>
                <a:ea typeface="微软雅黑 Ligh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666C677-49C1-570A-6ADD-71E1CE65FAFC}"/>
              </a:ext>
            </a:extLst>
          </p:cNvPr>
          <p:cNvGrpSpPr/>
          <p:nvPr/>
        </p:nvGrpSpPr>
        <p:grpSpPr>
          <a:xfrm>
            <a:off x="6477326" y="4511413"/>
            <a:ext cx="1414116" cy="1414116"/>
            <a:chOff x="1337494" y="4480716"/>
            <a:chExt cx="1737204" cy="173720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99894E7C-A7BF-7987-B8B3-1B97B0A4D9A2}"/>
                </a:ext>
              </a:extLst>
            </p:cNvPr>
            <p:cNvSpPr/>
            <p:nvPr/>
          </p:nvSpPr>
          <p:spPr>
            <a:xfrm>
              <a:off x="1381761" y="4524983"/>
              <a:ext cx="1648669" cy="1648669"/>
            </a:xfrm>
            <a:prstGeom prst="ellipse">
              <a:avLst/>
            </a:prstGeom>
            <a:gradFill flip="none" rotWithShape="1">
              <a:gsLst>
                <a:gs pos="18000">
                  <a:srgbClr val="0070C0"/>
                </a:gs>
                <a:gs pos="100000">
                  <a:srgbClr val="1EF8AF"/>
                </a:gs>
              </a:gsLst>
              <a:lin ang="2700000" scaled="1"/>
              <a:tileRect/>
            </a:gradFill>
            <a:ln>
              <a:noFill/>
            </a:ln>
            <a:effectLst>
              <a:reflection stA="52000" endPos="15000" dist="1016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>
                  <a:solidFill>
                    <a:prstClr val="white"/>
                  </a:solidFill>
                  <a:latin typeface="Arial"/>
                  <a:ea typeface="微软雅黑 Light"/>
                </a:rPr>
                <a:t>问题排查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4928AFFA-78EE-828E-6935-DF37173299F3}"/>
                </a:ext>
              </a:extLst>
            </p:cNvPr>
            <p:cNvSpPr/>
            <p:nvPr/>
          </p:nvSpPr>
          <p:spPr>
            <a:xfrm>
              <a:off x="1337494" y="4480716"/>
              <a:ext cx="1737204" cy="1737204"/>
            </a:xfrm>
            <a:prstGeom prst="ellipse">
              <a:avLst/>
            </a:prstGeom>
            <a:noFill/>
            <a:ln w="6350">
              <a:solidFill>
                <a:srgbClr val="15D1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/>
                <a:ea typeface="微软雅黑 Light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A99DEF6-6CBF-37CA-CFEE-A548B64228C2}"/>
              </a:ext>
            </a:extLst>
          </p:cNvPr>
          <p:cNvGrpSpPr/>
          <p:nvPr/>
        </p:nvGrpSpPr>
        <p:grpSpPr>
          <a:xfrm>
            <a:off x="9269632" y="4511413"/>
            <a:ext cx="1414116" cy="1414116"/>
            <a:chOff x="1337494" y="4480716"/>
            <a:chExt cx="1737204" cy="1737204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49B1779-F219-B55B-96A4-038EA7516583}"/>
                </a:ext>
              </a:extLst>
            </p:cNvPr>
            <p:cNvSpPr/>
            <p:nvPr/>
          </p:nvSpPr>
          <p:spPr>
            <a:xfrm>
              <a:off x="1381761" y="4524983"/>
              <a:ext cx="1648669" cy="1648669"/>
            </a:xfrm>
            <a:prstGeom prst="ellipse">
              <a:avLst/>
            </a:prstGeom>
            <a:gradFill flip="none" rotWithShape="1">
              <a:gsLst>
                <a:gs pos="18000">
                  <a:srgbClr val="0070C0"/>
                </a:gs>
                <a:gs pos="100000">
                  <a:srgbClr val="1EF8AF"/>
                </a:gs>
              </a:gsLst>
              <a:lin ang="2700000" scaled="1"/>
              <a:tileRect/>
            </a:gradFill>
            <a:ln>
              <a:noFill/>
            </a:ln>
            <a:effectLst>
              <a:reflection stA="52000" endPos="15000" dist="1016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>
                  <a:solidFill>
                    <a:prstClr val="white"/>
                  </a:solidFill>
                  <a:latin typeface="Arial"/>
                  <a:ea typeface="微软雅黑 Light"/>
                </a:rPr>
                <a:t>系统监控</a:t>
              </a: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B1425F1-0D02-541B-91CF-1214DE85CD06}"/>
                </a:ext>
              </a:extLst>
            </p:cNvPr>
            <p:cNvSpPr/>
            <p:nvPr/>
          </p:nvSpPr>
          <p:spPr>
            <a:xfrm>
              <a:off x="1337494" y="4480716"/>
              <a:ext cx="1737204" cy="1737204"/>
            </a:xfrm>
            <a:prstGeom prst="ellipse">
              <a:avLst/>
            </a:prstGeom>
            <a:noFill/>
            <a:ln w="6350">
              <a:solidFill>
                <a:srgbClr val="15D1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/>
                <a:ea typeface="微软雅黑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240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日志技术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6" y="3903037"/>
            <a:ext cx="11060481" cy="265040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JUL</a:t>
            </a:r>
            <a:r>
              <a:rPr lang="zh-CN" altLang="en-US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：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这是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JavaSE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平台提供的官方日志框架，也被称为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JUL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。配置相对简单，但不够灵活，性能较差。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Log4j</a:t>
            </a:r>
            <a:r>
              <a:rPr lang="zh-CN" altLang="en-US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：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一个流行的日志框架，提供了灵活的配置选项，支持多种输出目标。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Logback</a:t>
            </a:r>
            <a:r>
              <a:rPr lang="zh-CN" altLang="en-US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：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基于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Log4j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升级而来，提供了更多的功能和配置选项，性能优于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Log4j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。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Slf4j</a:t>
            </a:r>
            <a:r>
              <a:rPr lang="zh-CN" altLang="en-US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（</a:t>
            </a: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Simple Logging Facade for Java</a:t>
            </a:r>
            <a:r>
              <a:rPr lang="zh-CN" altLang="en-US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）：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简单日志门面，提供了一套日志操作的标准接口及抽象类，允许应用程序使用不同的底层日志框架。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11" name="流程图: 文档 10">
            <a:extLst>
              <a:ext uri="{FF2B5EF4-FFF2-40B4-BE49-F238E27FC236}">
                <a16:creationId xmlns:a16="http://schemas.microsoft.com/office/drawing/2014/main" id="{D8771C2E-DCFA-7DE4-5828-BD5B361B3EDF}"/>
              </a:ext>
            </a:extLst>
          </p:cNvPr>
          <p:cNvSpPr/>
          <p:nvPr/>
        </p:nvSpPr>
        <p:spPr>
          <a:xfrm>
            <a:off x="985520" y="2587695"/>
            <a:ext cx="1889760" cy="883920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6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JUL</a:t>
            </a:r>
          </a:p>
          <a:p>
            <a:pPr algn="ctr">
              <a:lnSpc>
                <a:spcPct val="150000"/>
              </a:lnSpc>
            </a:pPr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java.util.logging</a:t>
            </a:r>
            <a:r>
              <a:rPr lang="zh-CN" altLang="en-US" sz="12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12" name="流程图: 文档 11">
            <a:extLst>
              <a:ext uri="{FF2B5EF4-FFF2-40B4-BE49-F238E27FC236}">
                <a16:creationId xmlns:a16="http://schemas.microsoft.com/office/drawing/2014/main" id="{6B09B118-E3FE-1D6A-54F4-A459007F12A7}"/>
              </a:ext>
            </a:extLst>
          </p:cNvPr>
          <p:cNvSpPr/>
          <p:nvPr/>
        </p:nvSpPr>
        <p:spPr>
          <a:xfrm>
            <a:off x="4424680" y="2587695"/>
            <a:ext cx="1889760" cy="883920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600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Log4j</a:t>
            </a:r>
            <a:endParaRPr lang="zh-CN" altLang="en-US" sz="1200" b="1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流程图: 文档 12">
            <a:extLst>
              <a:ext uri="{FF2B5EF4-FFF2-40B4-BE49-F238E27FC236}">
                <a16:creationId xmlns:a16="http://schemas.microsoft.com/office/drawing/2014/main" id="{F06BE1EF-8CE3-FAA4-6F52-C39A8A37FBAC}"/>
              </a:ext>
            </a:extLst>
          </p:cNvPr>
          <p:cNvSpPr/>
          <p:nvPr/>
        </p:nvSpPr>
        <p:spPr>
          <a:xfrm>
            <a:off x="7863840" y="2587695"/>
            <a:ext cx="1889760" cy="883920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600" b="1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Logback</a:t>
            </a:r>
            <a:endParaRPr lang="zh-CN" altLang="en-US" sz="1200" b="1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流程图: 多文档 13">
            <a:extLst>
              <a:ext uri="{FF2B5EF4-FFF2-40B4-BE49-F238E27FC236}">
                <a16:creationId xmlns:a16="http://schemas.microsoft.com/office/drawing/2014/main" id="{DA6555D5-1E28-A2E6-9635-D62793266925}"/>
              </a:ext>
            </a:extLst>
          </p:cNvPr>
          <p:cNvSpPr/>
          <p:nvPr/>
        </p:nvSpPr>
        <p:spPr>
          <a:xfrm>
            <a:off x="6314440" y="1109917"/>
            <a:ext cx="1696720" cy="883920"/>
          </a:xfrm>
          <a:prstGeom prst="flowChartMultidocument">
            <a:avLst/>
          </a:prstGeom>
          <a:solidFill>
            <a:srgbClr val="002060"/>
          </a:solidFill>
          <a:ln w="6350">
            <a:solidFill>
              <a:schemeClr val="bg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Slf4j</a:t>
            </a:r>
            <a:endParaRPr lang="zh-CN" altLang="en-US" sz="1600" b="1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EE3D41B-1042-E953-9B2E-0CC868624EEE}"/>
              </a:ext>
            </a:extLst>
          </p:cNvPr>
          <p:cNvCxnSpPr>
            <a:cxnSpLocks/>
          </p:cNvCxnSpPr>
          <p:nvPr/>
        </p:nvCxnSpPr>
        <p:spPr>
          <a:xfrm flipV="1">
            <a:off x="5323841" y="1866335"/>
            <a:ext cx="944880" cy="690880"/>
          </a:xfrm>
          <a:prstGeom prst="straightConnector1">
            <a:avLst/>
          </a:prstGeom>
          <a:ln w="19050">
            <a:solidFill>
              <a:srgbClr val="00206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CD5EDDC-7C07-3693-8C40-2780EABD72E1}"/>
              </a:ext>
            </a:extLst>
          </p:cNvPr>
          <p:cNvCxnSpPr>
            <a:cxnSpLocks/>
          </p:cNvCxnSpPr>
          <p:nvPr/>
        </p:nvCxnSpPr>
        <p:spPr>
          <a:xfrm flipH="1" flipV="1">
            <a:off x="7863840" y="1866335"/>
            <a:ext cx="1036320" cy="644692"/>
          </a:xfrm>
          <a:prstGeom prst="straightConnector1">
            <a:avLst/>
          </a:prstGeom>
          <a:ln w="19050">
            <a:solidFill>
              <a:srgbClr val="00206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73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2" grpId="0" animBg="1"/>
      <p:bldP spid="13" grpId="0" animBg="1"/>
      <p:bldP spid="13" grpId="1" animBg="1"/>
      <p:bldP spid="1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AE3164-6C9E-5B0A-B1F4-E1FE9B14E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3337204"/>
            <a:ext cx="3692525" cy="1709926"/>
          </a:xfrm>
        </p:spPr>
        <p:txBody>
          <a:bodyPr/>
          <a:lstStyle/>
          <a:p>
            <a:r>
              <a:rPr lang="en-US" altLang="zh-CN">
                <a:latin typeface="+mn-lt"/>
              </a:rPr>
              <a:t>Logback</a:t>
            </a:r>
            <a:r>
              <a:rPr lang="zh-CN" altLang="en-US">
                <a:latin typeface="+mn-lt"/>
              </a:rPr>
              <a:t>快速入门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Logback</a:t>
            </a:r>
            <a:r>
              <a:rPr lang="zh-CN" altLang="en-US">
                <a:latin typeface="+mn-lt"/>
              </a:rPr>
              <a:t>配置文件详解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Logback</a:t>
            </a:r>
            <a:r>
              <a:rPr lang="zh-CN" altLang="en-US">
                <a:latin typeface="+mn-lt"/>
              </a:rPr>
              <a:t>日志级别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BAEAFD-DFAE-3436-A1E1-1244BC249F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59811" y="2616303"/>
            <a:ext cx="3484714" cy="668338"/>
          </a:xfrm>
        </p:spPr>
        <p:txBody>
          <a:bodyPr/>
          <a:lstStyle/>
          <a:p>
            <a:r>
              <a:rPr lang="zh-CN" altLang="en-US"/>
              <a:t>日志技术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6C7C07-BC72-8C23-039F-29BC99111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07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Logback</a:t>
            </a:r>
            <a:r>
              <a:rPr lang="zh-CN" altLang="en-US"/>
              <a:t>快速入门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11460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准备工作：引入</a:t>
            </a:r>
            <a:r>
              <a:rPr lang="en-US" altLang="zh-CN"/>
              <a:t>logback</a:t>
            </a:r>
            <a:r>
              <a:rPr lang="zh-CN" altLang="en-US"/>
              <a:t>的依赖</a:t>
            </a:r>
            <a:r>
              <a:rPr lang="en-US" altLang="zh-CN">
                <a:solidFill>
                  <a:srgbClr val="C00000"/>
                </a:solidFill>
              </a:rPr>
              <a:t>(springboot</a:t>
            </a:r>
            <a:r>
              <a:rPr lang="zh-CN" altLang="en-US">
                <a:solidFill>
                  <a:srgbClr val="C00000"/>
                </a:solidFill>
              </a:rPr>
              <a:t>项目中该依赖已传递</a:t>
            </a:r>
            <a:r>
              <a:rPr lang="en-US" altLang="zh-CN">
                <a:solidFill>
                  <a:srgbClr val="C00000"/>
                </a:solidFill>
              </a:rPr>
              <a:t>)</a:t>
            </a:r>
            <a:r>
              <a:rPr lang="zh-CN" altLang="en-US"/>
              <a:t>、配置文件</a:t>
            </a:r>
            <a:r>
              <a:rPr lang="en-US" altLang="zh-CN"/>
              <a:t>logback.xml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记录日志：定义日志记录对象</a:t>
            </a:r>
            <a:r>
              <a:rPr lang="en-US" altLang="zh-CN"/>
              <a:t>Logger</a:t>
            </a:r>
            <a:r>
              <a:rPr lang="zh-CN" altLang="en-US"/>
              <a:t>，记录日志。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80D55F29-C4CD-AA41-04B6-A7AC78531853}"/>
              </a:ext>
            </a:extLst>
          </p:cNvPr>
          <p:cNvGrpSpPr/>
          <p:nvPr/>
        </p:nvGrpSpPr>
        <p:grpSpPr>
          <a:xfrm>
            <a:off x="861450" y="2036317"/>
            <a:ext cx="4384440" cy="1758443"/>
            <a:chOff x="2297720" y="3660322"/>
            <a:chExt cx="4830840" cy="175854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57593FA-D664-A3ED-C1FC-37FA936DB1C3}"/>
                </a:ext>
              </a:extLst>
            </p:cNvPr>
            <p:cNvSpPr/>
            <p:nvPr/>
          </p:nvSpPr>
          <p:spPr>
            <a:xfrm>
              <a:off x="2297729" y="3660324"/>
              <a:ext cx="4830831" cy="1758545"/>
            </a:xfrm>
            <a:prstGeom prst="roundRect">
              <a:avLst>
                <a:gd name="adj" fmla="val 459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&lt;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dependency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&lt;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groupId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&gt;ch.qos.logback&lt;/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groupId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&lt;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artifactId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&gt;logback-classic&lt;/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artifactId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&lt;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version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&gt;1.4.11&lt;/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version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&lt;/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dependency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&gt;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BC4F77B4-B156-915C-87B8-C72A1C32CB02}"/>
                </a:ext>
              </a:extLst>
            </p:cNvPr>
            <p:cNvSpPr/>
            <p:nvPr/>
          </p:nvSpPr>
          <p:spPr>
            <a:xfrm>
              <a:off x="2297720" y="3660322"/>
              <a:ext cx="483083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pom.xml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E78020A-B897-D30B-D58C-4188D238EC1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77F3E41-9BD5-5A75-9036-5D1A867BDB0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BBFEB1B-4B9A-2645-9656-2DE7E6C5EB7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B6E29DC0-EE22-4166-F298-4F5DD8B583DE}"/>
              </a:ext>
            </a:extLst>
          </p:cNvPr>
          <p:cNvGrpSpPr/>
          <p:nvPr/>
        </p:nvGrpSpPr>
        <p:grpSpPr>
          <a:xfrm>
            <a:off x="5323549" y="2036317"/>
            <a:ext cx="6468462" cy="3402211"/>
            <a:chOff x="2297720" y="3660322"/>
            <a:chExt cx="7127044" cy="340241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6681D19B-A3C9-C9F3-B6AD-23647221D861}"/>
                </a:ext>
              </a:extLst>
            </p:cNvPr>
            <p:cNvSpPr/>
            <p:nvPr/>
          </p:nvSpPr>
          <p:spPr>
            <a:xfrm>
              <a:off x="2297728" y="3660324"/>
              <a:ext cx="7127036" cy="3402410"/>
            </a:xfrm>
            <a:prstGeom prst="roundRect">
              <a:avLst>
                <a:gd name="adj" fmla="val 229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private static final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Logger </a:t>
              </a:r>
              <a:r>
                <a:rPr lang="en-US" altLang="zh-CN" sz="1100" i="1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LoggerFactory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getLogger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LogTest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class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@Test</a:t>
              </a:r>
              <a:b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public void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testLog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(){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 i="1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.debug(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开始计算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..."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int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sum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[]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nums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{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3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7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34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23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for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int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nums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100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length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++) {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sum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+=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nums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[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];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}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 i="1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.info(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计算结果为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+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sum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100" i="1">
                  <a:solidFill>
                    <a:srgbClr val="87109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log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.debug(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结束计算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..."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39189C65-62A6-252E-E68C-27BDE4E87E9F}"/>
                </a:ext>
              </a:extLst>
            </p:cNvPr>
            <p:cNvSpPr/>
            <p:nvPr/>
          </p:nvSpPr>
          <p:spPr>
            <a:xfrm>
              <a:off x="2297720" y="3660322"/>
              <a:ext cx="712703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记录日志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D77EEEC-E410-D31E-E942-9B8ECA5D82C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EDFC69A-0CA8-3BA2-6153-76F8C50A369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1F3FAE4-43E3-BD64-413F-CBDD8642DF2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7904EB9A-C8EC-CC18-B27B-6696D5C66B42}"/>
              </a:ext>
            </a:extLst>
          </p:cNvPr>
          <p:cNvSpPr/>
          <p:nvPr/>
        </p:nvSpPr>
        <p:spPr>
          <a:xfrm>
            <a:off x="5323548" y="2321836"/>
            <a:ext cx="6468455" cy="270174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075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B0DA48-5A2A-3985-36E4-7A62C2F4EC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4141" y="1382137"/>
            <a:ext cx="7409675" cy="163433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Logback</a:t>
            </a:r>
            <a:r>
              <a:rPr lang="zh-CN" altLang="en-US" sz="1800"/>
              <a:t>记录日志的步骤 </a:t>
            </a:r>
            <a:r>
              <a:rPr lang="en-US" altLang="zh-CN" sz="1800"/>
              <a:t>?</a:t>
            </a: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logback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的依赖、配置文件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logback.xml</a:t>
            </a: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定义日志记录对象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Logger,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调用方法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(debug/info/…)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记录日志</a:t>
            </a:r>
            <a:endParaRPr lang="zh-CN" altLang="en-US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DD17AC-0F0C-158B-1626-78508AA63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509" y="2998541"/>
            <a:ext cx="5757114" cy="2714429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863C0C-CFCA-AF6E-97FA-3E8E97E2A1B8}"/>
              </a:ext>
            </a:extLst>
          </p:cNvPr>
          <p:cNvSpPr/>
          <p:nvPr/>
        </p:nvSpPr>
        <p:spPr>
          <a:xfrm>
            <a:off x="4498510" y="2998541"/>
            <a:ext cx="5757114" cy="264612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308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AE3164-6C9E-5B0A-B1F4-E1FE9B14E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3337204"/>
            <a:ext cx="3692525" cy="1709926"/>
          </a:xfrm>
        </p:spPr>
        <p:txBody>
          <a:bodyPr/>
          <a:lstStyle/>
          <a:p>
            <a:r>
              <a:rPr lang="en-US" altLang="zh-CN">
                <a:latin typeface="+mn-lt"/>
              </a:rPr>
              <a:t>Logback</a:t>
            </a:r>
            <a:r>
              <a:rPr lang="zh-CN" altLang="en-US">
                <a:latin typeface="+mn-lt"/>
              </a:rPr>
              <a:t>快速入门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Logback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配置文件详解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en-US" altLang="zh-CN">
                <a:latin typeface="+mn-lt"/>
              </a:rPr>
              <a:t>Logback</a:t>
            </a:r>
            <a:r>
              <a:rPr lang="zh-CN" altLang="en-US">
                <a:latin typeface="+mn-lt"/>
              </a:rPr>
              <a:t>日志级别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BAEAFD-DFAE-3436-A1E1-1244BC249F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59811" y="2616303"/>
            <a:ext cx="3484714" cy="668338"/>
          </a:xfrm>
        </p:spPr>
        <p:txBody>
          <a:bodyPr/>
          <a:lstStyle/>
          <a:p>
            <a:r>
              <a:rPr lang="zh-CN" altLang="en-US"/>
              <a:t>日志技术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6C7C07-BC72-8C23-039F-29BC99111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4417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配置文件详解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52958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配置文件名：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logback.xml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该配置文件是对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Logback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日志框架输出的日志进行控制的，可以来配置输出的格式、位置及日志开关等。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常用的两种输出日志的位置：控制台、系统文件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D415890-DA41-EBB1-61D9-70C9014CAACE}"/>
              </a:ext>
            </a:extLst>
          </p:cNvPr>
          <p:cNvSpPr/>
          <p:nvPr/>
        </p:nvSpPr>
        <p:spPr>
          <a:xfrm>
            <a:off x="956844" y="2537214"/>
            <a:ext cx="10562802" cy="626548"/>
          </a:xfrm>
          <a:prstGeom prst="roundRect">
            <a:avLst>
              <a:gd name="adj" fmla="val 8255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>
                <a:solidFill>
                  <a:srgbClr val="8C8C8C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&lt;!-- </a:t>
            </a:r>
            <a:r>
              <a:rPr lang="zh-CN" altLang="en-US" sz="1200">
                <a:solidFill>
                  <a:srgbClr val="8C8C8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控制台输出 </a:t>
            </a:r>
            <a:r>
              <a:rPr lang="en-US" altLang="zh-CN" sz="1200">
                <a:solidFill>
                  <a:srgbClr val="8C8C8C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--&gt;</a:t>
            </a:r>
            <a:br>
              <a:rPr lang="en-US" altLang="zh-CN" sz="1200" i="1">
                <a:solidFill>
                  <a:srgbClr val="8C8C8C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&lt;</a:t>
            </a:r>
            <a:r>
              <a:rPr lang="en-US" altLang="zh-CN" sz="1200">
                <a:solidFill>
                  <a:srgbClr val="0033B3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appender </a:t>
            </a:r>
            <a:r>
              <a:rPr lang="en-US" altLang="zh-CN" sz="1200">
                <a:solidFill>
                  <a:srgbClr val="174AD4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name</a:t>
            </a:r>
            <a:r>
              <a:rPr lang="en-US" altLang="zh-CN" sz="1200">
                <a:solidFill>
                  <a:srgbClr val="067D17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="STDOUT" </a:t>
            </a:r>
            <a:r>
              <a:rPr lang="en-US" altLang="zh-CN" sz="1200">
                <a:solidFill>
                  <a:srgbClr val="174AD4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class</a:t>
            </a:r>
            <a:r>
              <a:rPr lang="en-US" altLang="zh-CN" sz="1200">
                <a:solidFill>
                  <a:srgbClr val="067D17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="ch.qos.logback.core.ConsoleAppender"</a:t>
            </a: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&gt;...&lt;/</a:t>
            </a:r>
            <a:r>
              <a:rPr lang="en-US" altLang="zh-CN" sz="1200">
                <a:solidFill>
                  <a:srgbClr val="0033B3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appender</a:t>
            </a: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&gt;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41AE404-1255-7377-B18D-ED7268836BC2}"/>
              </a:ext>
            </a:extLst>
          </p:cNvPr>
          <p:cNvSpPr/>
          <p:nvPr/>
        </p:nvSpPr>
        <p:spPr>
          <a:xfrm>
            <a:off x="956844" y="3348817"/>
            <a:ext cx="10562802" cy="706822"/>
          </a:xfrm>
          <a:prstGeom prst="roundRect">
            <a:avLst>
              <a:gd name="adj" fmla="val 8255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>
                <a:solidFill>
                  <a:srgbClr val="8C8C8C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&lt;!-- </a:t>
            </a:r>
            <a:r>
              <a:rPr lang="zh-CN" altLang="en-US" sz="1200">
                <a:solidFill>
                  <a:srgbClr val="8C8C8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系统文件</a:t>
            </a:r>
            <a:r>
              <a:rPr lang="zh-CN" altLang="en-US" sz="1200">
                <a:solidFill>
                  <a:srgbClr val="8C8C8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输出 </a:t>
            </a:r>
            <a:r>
              <a:rPr lang="en-US" altLang="zh-CN" sz="1200">
                <a:solidFill>
                  <a:srgbClr val="8C8C8C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--&gt;</a:t>
            </a:r>
            <a:br>
              <a:rPr lang="en-US" altLang="zh-CN" sz="1200" i="1">
                <a:solidFill>
                  <a:srgbClr val="8C8C8C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&lt;</a:t>
            </a:r>
            <a:r>
              <a:rPr lang="en-US" altLang="zh-CN" sz="1200">
                <a:solidFill>
                  <a:srgbClr val="0033B3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appender </a:t>
            </a:r>
            <a:r>
              <a:rPr lang="en-US" altLang="zh-CN" sz="1200">
                <a:solidFill>
                  <a:srgbClr val="174AD4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name</a:t>
            </a:r>
            <a:r>
              <a:rPr lang="en-US" altLang="zh-CN" sz="1200">
                <a:solidFill>
                  <a:srgbClr val="067D17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="FILE" </a:t>
            </a:r>
            <a:r>
              <a:rPr lang="en-US" altLang="zh-CN" sz="1200">
                <a:solidFill>
                  <a:srgbClr val="174AD4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class</a:t>
            </a:r>
            <a:r>
              <a:rPr lang="en-US" altLang="zh-CN" sz="1200">
                <a:solidFill>
                  <a:srgbClr val="067D17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="ch.qos.logback.core.rolling.RollingFileAppender"</a:t>
            </a: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&gt;...&lt;/</a:t>
            </a:r>
            <a:r>
              <a:rPr lang="en-US" altLang="zh-CN" sz="1200">
                <a:solidFill>
                  <a:srgbClr val="0033B3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appender</a:t>
            </a: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&gt;</a:t>
            </a:r>
          </a:p>
        </p:txBody>
      </p: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56F3F20F-BB1F-12BD-0256-D4D366292F32}"/>
              </a:ext>
            </a:extLst>
          </p:cNvPr>
          <p:cNvSpPr txBox="1">
            <a:spLocks/>
          </p:cNvSpPr>
          <p:nvPr/>
        </p:nvSpPr>
        <p:spPr>
          <a:xfrm>
            <a:off x="710880" y="4310635"/>
            <a:ext cx="10997026" cy="49444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开启日志（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ALL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），关闭日志（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OFF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）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D78E69F-C730-7B4B-7892-FAC1192862FC}"/>
              </a:ext>
            </a:extLst>
          </p:cNvPr>
          <p:cNvSpPr/>
          <p:nvPr/>
        </p:nvSpPr>
        <p:spPr>
          <a:xfrm>
            <a:off x="1073386" y="4862455"/>
            <a:ext cx="4000638" cy="1233545"/>
          </a:xfrm>
          <a:prstGeom prst="roundRect">
            <a:avLst>
              <a:gd name="adj" fmla="val 8255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  <a:t>&lt;</a:t>
            </a:r>
            <a:r>
              <a:rPr lang="en-US" altLang="zh-CN" sz="1200">
                <a:solidFill>
                  <a:srgbClr val="0033B3"/>
                </a:solidFill>
                <a:effectLst/>
                <a:ea typeface="Fira Code" panose="020B0809050000020004" pitchFamily="49" charset="0"/>
              </a:rPr>
              <a:t>root </a:t>
            </a:r>
            <a:r>
              <a:rPr lang="en-US" altLang="zh-CN" sz="1200">
                <a:solidFill>
                  <a:srgbClr val="174AD4"/>
                </a:solidFill>
                <a:effectLst/>
                <a:ea typeface="Fira Code" panose="020B0809050000020004" pitchFamily="49" charset="0"/>
              </a:rPr>
              <a:t>level</a:t>
            </a:r>
            <a:r>
              <a:rPr lang="en-US" altLang="zh-CN" sz="1200">
                <a:solidFill>
                  <a:srgbClr val="067D17"/>
                </a:solidFill>
                <a:effectLst/>
                <a:ea typeface="Fira Code" panose="020B0809050000020004" pitchFamily="49" charset="0"/>
              </a:rPr>
              <a:t>="ALL"</a:t>
            </a: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  <a:t>&gt;</a:t>
            </a:r>
            <a:b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  <a:t>    &lt;</a:t>
            </a:r>
            <a:r>
              <a:rPr lang="en-US" altLang="zh-CN" sz="1200">
                <a:solidFill>
                  <a:srgbClr val="0033B3"/>
                </a:solidFill>
                <a:effectLst/>
                <a:ea typeface="Fira Code" panose="020B0809050000020004" pitchFamily="49" charset="0"/>
              </a:rPr>
              <a:t>appender-ref </a:t>
            </a:r>
            <a:r>
              <a:rPr lang="en-US" altLang="zh-CN" sz="1200">
                <a:solidFill>
                  <a:srgbClr val="174AD4"/>
                </a:solidFill>
                <a:effectLst/>
                <a:ea typeface="Fira Code" panose="020B0809050000020004" pitchFamily="49" charset="0"/>
              </a:rPr>
              <a:t>ref</a:t>
            </a:r>
            <a:r>
              <a:rPr lang="en-US" altLang="zh-CN" sz="1200">
                <a:solidFill>
                  <a:srgbClr val="067D17"/>
                </a:solidFill>
                <a:effectLst/>
                <a:ea typeface="Fira Code" panose="020B0809050000020004" pitchFamily="49" charset="0"/>
              </a:rPr>
              <a:t>="STDOUT" </a:t>
            </a: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  <a:t>/&gt;</a:t>
            </a:r>
            <a:b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  <a:t>    &lt;</a:t>
            </a:r>
            <a:r>
              <a:rPr lang="en-US" altLang="zh-CN" sz="1200">
                <a:solidFill>
                  <a:srgbClr val="0033B3"/>
                </a:solidFill>
                <a:effectLst/>
                <a:ea typeface="Fira Code" panose="020B0809050000020004" pitchFamily="49" charset="0"/>
              </a:rPr>
              <a:t>appender-ref </a:t>
            </a:r>
            <a:r>
              <a:rPr lang="en-US" altLang="zh-CN" sz="1200">
                <a:solidFill>
                  <a:srgbClr val="174AD4"/>
                </a:solidFill>
                <a:effectLst/>
                <a:ea typeface="Fira Code" panose="020B0809050000020004" pitchFamily="49" charset="0"/>
              </a:rPr>
              <a:t>ref</a:t>
            </a:r>
            <a:r>
              <a:rPr lang="en-US" altLang="zh-CN" sz="1200">
                <a:solidFill>
                  <a:srgbClr val="067D17"/>
                </a:solidFill>
                <a:effectLst/>
                <a:ea typeface="Fira Code" panose="020B0809050000020004" pitchFamily="49" charset="0"/>
              </a:rPr>
              <a:t>="FILE" </a:t>
            </a: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  <a:t>/&gt;</a:t>
            </a:r>
            <a:b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  <a:t>&lt;/</a:t>
            </a:r>
            <a:r>
              <a:rPr lang="en-US" altLang="zh-CN" sz="1200">
                <a:solidFill>
                  <a:srgbClr val="0033B3"/>
                </a:solidFill>
                <a:effectLst/>
                <a:ea typeface="Fira Code" panose="020B0809050000020004" pitchFamily="49" charset="0"/>
              </a:rPr>
              <a:t>root</a:t>
            </a:r>
            <a:r>
              <a: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51895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AE3164-6C9E-5B0A-B1F4-E1FE9B14E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3337204"/>
            <a:ext cx="3692525" cy="1709926"/>
          </a:xfrm>
        </p:spPr>
        <p:txBody>
          <a:bodyPr/>
          <a:lstStyle/>
          <a:p>
            <a:r>
              <a:rPr lang="en-US" altLang="zh-CN">
                <a:latin typeface="+mn-lt"/>
              </a:rPr>
              <a:t>Logback</a:t>
            </a:r>
            <a:r>
              <a:rPr lang="zh-CN" altLang="en-US">
                <a:latin typeface="+mn-lt"/>
              </a:rPr>
              <a:t>快速入门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+mn-lt"/>
              </a:rPr>
              <a:t>Logback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n-lt"/>
              </a:rPr>
              <a:t>配置文件详解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Logback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日志级别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BAEAFD-DFAE-3436-A1E1-1244BC249F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59811" y="2616303"/>
            <a:ext cx="3484714" cy="668338"/>
          </a:xfrm>
        </p:spPr>
        <p:txBody>
          <a:bodyPr/>
          <a:lstStyle/>
          <a:p>
            <a:r>
              <a:rPr lang="zh-CN" altLang="en-US"/>
              <a:t>日志技术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6C7C07-BC72-8C23-039F-29BC99111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8973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14F22-F64C-35B6-CD21-206F874A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日志级别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475B-BC11-C256-6C63-35F513A1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日志级别指的是日志信息的类型，日志都会分级别，常见的日志级别如下（</a:t>
            </a:r>
            <a:r>
              <a:rPr lang="zh-CN" altLang="en-US">
                <a:solidFill>
                  <a:srgbClr val="C00000"/>
                </a:solidFill>
              </a:rPr>
              <a:t>级别由低到高</a:t>
            </a:r>
            <a:r>
              <a:rPr lang="zh-CN" altLang="en-US"/>
              <a:t>）：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F2E72D0-3D9F-9356-0767-3CD130717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37253"/>
              </p:ext>
            </p:extLst>
          </p:nvPr>
        </p:nvGraphicFramePr>
        <p:xfrm>
          <a:off x="971176" y="1475481"/>
          <a:ext cx="10249648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695">
                  <a:extLst>
                    <a:ext uri="{9D8B030D-6E8A-4147-A177-3AD203B41FA5}">
                      <a16:colId xmlns:a16="http://schemas.microsoft.com/office/drawing/2014/main" val="98807894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546140320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0054546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日志级别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记录方式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94706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trace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追踪，记录程序运行轨迹 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【</a:t>
                      </a: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使用很少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】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log.trace("...")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5959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debug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调试，记录程序调试过程中的信息，实际应用中一般将其视为最低级别 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【</a:t>
                      </a: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使用较多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】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log.debug("...")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858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info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记录一般信息，描述程序运行的关键事件，如：网络连接、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io</a:t>
                      </a: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操作 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【</a:t>
                      </a: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使用较多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】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log.info("...")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9240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warn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警告信息，记录潜在有害的情况 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【</a:t>
                      </a: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使用较多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】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log.warn("...")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46769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error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错误信息 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【</a:t>
                      </a:r>
                      <a:r>
                        <a:rPr lang="zh-CN" alt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使用较多</a:t>
                      </a: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】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log.error("...")</a:t>
                      </a: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7D3">
                        <a:alpha val="1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00985"/>
                  </a:ext>
                </a:extLst>
              </a:tr>
            </a:tbl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4DA5AF4F-C7C8-4FAF-C7C5-16616D456EE7}"/>
              </a:ext>
            </a:extLst>
          </p:cNvPr>
          <p:cNvSpPr/>
          <p:nvPr/>
        </p:nvSpPr>
        <p:spPr>
          <a:xfrm>
            <a:off x="971176" y="5059610"/>
            <a:ext cx="4000638" cy="1233545"/>
          </a:xfrm>
          <a:prstGeom prst="roundRect">
            <a:avLst>
              <a:gd name="adj" fmla="val 5669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&lt;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root </a:t>
            </a:r>
            <a:r>
              <a:rPr lang="en-US" altLang="zh-CN" sz="1200">
                <a:solidFill>
                  <a:srgbClr val="174A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level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="info"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&gt;</a:t>
            </a:r>
            <a:b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   &lt;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appender-ref </a:t>
            </a:r>
            <a:r>
              <a:rPr lang="en-US" altLang="zh-CN" sz="1200">
                <a:solidFill>
                  <a:srgbClr val="174A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ref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="STDOUT" 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/&gt;</a:t>
            </a:r>
            <a:b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   &lt;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appender-ref </a:t>
            </a:r>
            <a:r>
              <a:rPr lang="en-US" altLang="zh-CN" sz="1200">
                <a:solidFill>
                  <a:srgbClr val="174A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ref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="FILE" 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/&gt;</a:t>
            </a:r>
            <a:b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&lt;/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root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&gt;</a:t>
            </a:r>
          </a:p>
        </p:txBody>
      </p: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1F8EFA36-C76D-2737-BE79-979968E35EFA}"/>
              </a:ext>
            </a:extLst>
          </p:cNvPr>
          <p:cNvSpPr txBox="1">
            <a:spLocks/>
          </p:cNvSpPr>
          <p:nvPr/>
        </p:nvSpPr>
        <p:spPr>
          <a:xfrm>
            <a:off x="576196" y="4485476"/>
            <a:ext cx="10698800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可以在配置文件中，灵活的控制输出那些类型的日志。</a:t>
            </a:r>
            <a:r>
              <a:rPr lang="zh-CN" altLang="en-US">
                <a:solidFill>
                  <a:srgbClr val="C00000"/>
                </a:solidFill>
              </a:rPr>
              <a:t>（大于等于配置的日志级别的日志才会输出）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287456-D561-7498-0ADC-28B8B3F9D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580" y="4587847"/>
            <a:ext cx="4206172" cy="31244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9FA423C-90F2-C576-1D9F-742C44341C16}"/>
              </a:ext>
            </a:extLst>
          </p:cNvPr>
          <p:cNvCxnSpPr>
            <a:cxnSpLocks/>
          </p:cNvCxnSpPr>
          <p:nvPr/>
        </p:nvCxnSpPr>
        <p:spPr>
          <a:xfrm>
            <a:off x="1568824" y="5387788"/>
            <a:ext cx="112058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91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CFFF3FA-AA74-6840-831F-BFD433D7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优化</a:t>
            </a:r>
            <a:r>
              <a:rPr lang="en-US" altLang="zh-CN"/>
              <a:t>tlias</a:t>
            </a:r>
            <a:r>
              <a:rPr lang="zh-CN" altLang="en-US"/>
              <a:t>案例日志记录</a:t>
            </a:r>
          </a:p>
        </p:txBody>
      </p:sp>
      <p:grpSp>
        <p:nvGrpSpPr>
          <p:cNvPr id="6" name="组合 2">
            <a:extLst>
              <a:ext uri="{FF2B5EF4-FFF2-40B4-BE49-F238E27FC236}">
                <a16:creationId xmlns:a16="http://schemas.microsoft.com/office/drawing/2014/main" id="{C9012EF5-95A6-7694-63A4-8C4A86E40910}"/>
              </a:ext>
            </a:extLst>
          </p:cNvPr>
          <p:cNvGrpSpPr/>
          <p:nvPr/>
        </p:nvGrpSpPr>
        <p:grpSpPr>
          <a:xfrm>
            <a:off x="620438" y="1030172"/>
            <a:ext cx="8702856" cy="4797655"/>
            <a:chOff x="2297719" y="3660322"/>
            <a:chExt cx="9588931" cy="4797939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DF9734F6-EE8C-A256-2002-8F011892AB57}"/>
                </a:ext>
              </a:extLst>
            </p:cNvPr>
            <p:cNvSpPr/>
            <p:nvPr/>
          </p:nvSpPr>
          <p:spPr>
            <a:xfrm>
              <a:off x="2297728" y="3660322"/>
              <a:ext cx="9588922" cy="4797939"/>
            </a:xfrm>
            <a:prstGeom prst="roundRect">
              <a:avLst>
                <a:gd name="adj" fmla="val 185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50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@RestController</a:t>
              </a:r>
              <a:br>
                <a:rPr lang="en-US" altLang="zh-CN" sz="1200">
                  <a:solidFill>
                    <a:srgbClr val="9E880D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class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DeptController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{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private static final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Logger </a:t>
              </a:r>
              <a:r>
                <a:rPr lang="en-US" altLang="zh-CN" sz="1200" i="1">
                  <a:solidFill>
                    <a:srgbClr val="871094"/>
                  </a:solidFill>
                  <a:effectLst/>
                </a:rPr>
                <a:t>log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LoggerFactory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getLogger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DeptController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class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9E880D"/>
                  </a:solidFill>
                  <a:effectLst/>
                </a:rPr>
                <a:t>@Autowired</a:t>
              </a:r>
              <a:br>
                <a:rPr lang="en-US" altLang="zh-CN" sz="1200">
                  <a:solidFill>
                    <a:srgbClr val="9E880D"/>
                  </a:solidFill>
                  <a:effectLst/>
                </a:rPr>
              </a:br>
              <a:r>
                <a:rPr lang="en-US" altLang="zh-CN" sz="1200">
                  <a:solidFill>
                    <a:srgbClr val="9E880D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private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DeptService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deptService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;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 i="1">
                  <a:solidFill>
                    <a:srgbClr val="8C8C8C"/>
                  </a:solidFill>
                  <a:effectLst/>
                </a:rPr>
                <a:t>    /**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 i="1">
                  <a:solidFill>
                    <a:srgbClr val="8C8C8C"/>
                  </a:solidFill>
                  <a:effectLst/>
                </a:rPr>
                <a:t>     *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根据</a:t>
              </a:r>
              <a:r>
                <a:rPr lang="en-US" altLang="zh-CN" sz="1200">
                  <a:solidFill>
                    <a:srgbClr val="8C8C8C"/>
                  </a:solidFill>
                  <a:effectLst/>
                </a:rPr>
                <a:t>ID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删除部门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 i="1">
                  <a:solidFill>
                    <a:srgbClr val="8C8C8C"/>
                  </a:solidFill>
                  <a:effectLst/>
                </a:rPr>
                <a:t>     */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 i="1">
                  <a:solidFill>
                    <a:srgbClr val="8C8C8C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9E880D"/>
                  </a:solidFill>
                  <a:effectLst/>
                </a:rPr>
                <a:t>@DeleteMapping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"/depts"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Result </a:t>
              </a:r>
              <a:r>
                <a:rPr lang="en-US" altLang="zh-CN" sz="1200">
                  <a:solidFill>
                    <a:srgbClr val="00627A"/>
                  </a:solidFill>
                  <a:effectLst/>
                </a:rPr>
                <a:t>delete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id){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 i="1">
                  <a:solidFill>
                    <a:srgbClr val="8C8C8C"/>
                  </a:solidFill>
                  <a:effectLst/>
                </a:rPr>
                <a:t>        </a:t>
              </a:r>
              <a:r>
                <a:rPr lang="en-US" altLang="zh-CN" sz="12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cs typeface="阿里巴巴普惠体" panose="00020600040101010101" pitchFamily="18" charset="-122"/>
                </a:rPr>
                <a:t>根据</a:t>
              </a:r>
              <a:r>
                <a:rPr lang="en-US" altLang="zh-CN" sz="1200">
                  <a:solidFill>
                    <a:srgbClr val="067D17"/>
                  </a:solidFill>
                  <a:effectLst/>
                  <a:cs typeface="阿里巴巴普惠体" panose="00020600040101010101" pitchFamily="18" charset="-122"/>
                </a:rPr>
                <a:t>ID</a:t>
              </a:r>
              <a:r>
                <a:rPr lang="zh-CN" altLang="en-US" sz="1200">
                  <a:solidFill>
                    <a:srgbClr val="067D17"/>
                  </a:solidFill>
                  <a:effectLst/>
                  <a:cs typeface="阿里巴巴普惠体" panose="00020600040101010101" pitchFamily="18" charset="-122"/>
                </a:rPr>
                <a:t>删除部门</a:t>
              </a:r>
              <a:r>
                <a:rPr lang="en-US" altLang="zh-CN" sz="1200">
                  <a:solidFill>
                    <a:srgbClr val="067D17"/>
                  </a:solidFill>
                  <a:effectLst/>
                  <a:cs typeface="阿里巴巴普惠体" panose="00020600040101010101" pitchFamily="18" charset="-122"/>
                </a:rPr>
                <a:t>: {}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, id); </a:t>
              </a:r>
              <a:r>
                <a:rPr lang="en-US" altLang="zh-CN" sz="1200" i="1">
                  <a:solidFill>
                    <a:srgbClr val="8C8C8C"/>
                  </a:solidFill>
                  <a:effectLst/>
                </a:rPr>
                <a:t>//System.out.println("</a:t>
              </a:r>
              <a:r>
                <a:rPr lang="zh-CN" altLang="en-US" sz="1200" i="1">
                  <a:solidFill>
                    <a:srgbClr val="8C8C8C"/>
                  </a:solidFill>
                  <a:effectLst/>
                </a:rPr>
                <a:t>根据</a:t>
              </a:r>
              <a:r>
                <a:rPr lang="en-US" altLang="zh-CN" sz="1200" i="1">
                  <a:solidFill>
                    <a:srgbClr val="8C8C8C"/>
                  </a:solidFill>
                  <a:effectLst/>
                </a:rPr>
                <a:t>ID</a:t>
              </a:r>
              <a:r>
                <a:rPr lang="zh-CN" altLang="en-US" sz="1200" i="1">
                  <a:solidFill>
                    <a:srgbClr val="8C8C8C"/>
                  </a:solidFill>
                  <a:effectLst/>
                </a:rPr>
                <a:t>删除部门</a:t>
              </a:r>
              <a:r>
                <a:rPr lang="en-US" altLang="zh-CN" sz="1200" i="1">
                  <a:solidFill>
                    <a:srgbClr val="8C8C8C"/>
                  </a:solidFill>
                  <a:effectLst/>
                </a:rPr>
                <a:t>: " + id);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200">
                  <a:solidFill>
                    <a:srgbClr val="871094"/>
                  </a:solidFill>
                  <a:effectLst/>
                </a:rPr>
                <a:t>deptService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.delete(id);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Result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200" i="1">
                  <a:solidFill>
                    <a:srgbClr val="00627A"/>
                  </a:solidFill>
                  <a:effectLst/>
                </a:rPr>
                <a:t>success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();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}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80808"/>
                  </a:solidFill>
                </a:rPr>
                <a:t>}</a:t>
              </a:r>
              <a:endParaRPr lang="en-US" altLang="zh-CN" sz="12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7A54BFFB-EB17-30C4-6D85-4E106D5E6AC8}"/>
                </a:ext>
              </a:extLst>
            </p:cNvPr>
            <p:cNvSpPr/>
            <p:nvPr/>
          </p:nvSpPr>
          <p:spPr>
            <a:xfrm>
              <a:off x="2297719" y="3660322"/>
              <a:ext cx="9588921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DeptController</a:t>
              </a: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5E37C6E-1152-12F7-E2C0-8A5CD5AA91F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341DAB62-B096-EB46-9A5B-3FA194FA2EA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FC51791-9259-9A05-F8F1-889F9E61441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9AFE5D0-5D3C-3718-D71A-B80E69373265}"/>
              </a:ext>
            </a:extLst>
          </p:cNvPr>
          <p:cNvSpPr/>
          <p:nvPr/>
        </p:nvSpPr>
        <p:spPr>
          <a:xfrm>
            <a:off x="7570916" y="2712431"/>
            <a:ext cx="4000638" cy="1233545"/>
          </a:xfrm>
          <a:prstGeom prst="roundRect">
            <a:avLst>
              <a:gd name="adj" fmla="val 5669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&lt;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root </a:t>
            </a:r>
            <a:r>
              <a:rPr lang="en-US" altLang="zh-CN" sz="1200">
                <a:solidFill>
                  <a:srgbClr val="174A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level</a:t>
            </a:r>
            <a:r>
              <a:rPr lang="en-US" altLang="zh-CN" sz="1200">
                <a:solidFill>
                  <a:srgbClr val="067D17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="info"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&gt;</a:t>
            </a:r>
            <a:b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   &lt;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appender-ref </a:t>
            </a:r>
            <a:r>
              <a:rPr lang="en-US" altLang="zh-CN" sz="1200">
                <a:solidFill>
                  <a:srgbClr val="174A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ref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="STDOUT" 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/&gt;</a:t>
            </a:r>
            <a:b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   &lt;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appender-ref </a:t>
            </a:r>
            <a:r>
              <a:rPr lang="en-US" altLang="zh-CN" sz="1200">
                <a:solidFill>
                  <a:srgbClr val="174A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ref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="FILE" 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/&gt;</a:t>
            </a:r>
            <a:b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&lt;/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root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&gt;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D99E27B-B85A-BD0C-E81F-5888CFB4D857}"/>
              </a:ext>
            </a:extLst>
          </p:cNvPr>
          <p:cNvSpPr/>
          <p:nvPr/>
        </p:nvSpPr>
        <p:spPr>
          <a:xfrm>
            <a:off x="647333" y="1326517"/>
            <a:ext cx="2351742" cy="270174"/>
          </a:xfrm>
          <a:prstGeom prst="roundRect">
            <a:avLst>
              <a:gd name="adj" fmla="val 5669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r>
              <a:rPr lang="en-US" altLang="zh-CN" sz="1200">
                <a:solidFill>
                  <a:srgbClr val="9E880D"/>
                </a:solidFill>
                <a:ea typeface="Fira Code" panose="020B0809050000020004" pitchFamily="49" charset="0"/>
              </a:rPr>
              <a:t>@Slf4j</a:t>
            </a:r>
            <a:endParaRPr lang="en-US" altLang="zh-CN" sz="1200">
              <a:solidFill>
                <a:srgbClr val="080808"/>
              </a:solidFill>
              <a:effectLst/>
              <a:ea typeface="Fira Code" panose="020B08090500000200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F6F2AB-3D61-D076-BFC5-019C8E148D2E}"/>
              </a:ext>
            </a:extLst>
          </p:cNvPr>
          <p:cNvSpPr/>
          <p:nvPr/>
        </p:nvSpPr>
        <p:spPr>
          <a:xfrm>
            <a:off x="620429" y="1318276"/>
            <a:ext cx="8702846" cy="301234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057B8CE-2D23-734D-565D-517A46AE5930}"/>
              </a:ext>
            </a:extLst>
          </p:cNvPr>
          <p:cNvSpPr/>
          <p:nvPr/>
        </p:nvSpPr>
        <p:spPr>
          <a:xfrm>
            <a:off x="997090" y="2138265"/>
            <a:ext cx="7592173" cy="270174"/>
          </a:xfrm>
          <a:prstGeom prst="roundRect">
            <a:avLst>
              <a:gd name="adj" fmla="val 5669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endParaRPr lang="en-US" altLang="zh-CN" sz="1100">
              <a:solidFill>
                <a:schemeClr val="bg1">
                  <a:lumMod val="50000"/>
                </a:schemeClr>
              </a:solidFill>
              <a:effectLst/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7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3" grpId="0" animBg="1"/>
      <p:bldP spid="1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6D3C7C-E433-67CB-C067-C41C7FD5E4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Logback</a:t>
            </a:r>
            <a:r>
              <a:rPr lang="zh-CN" altLang="en-US" sz="1800"/>
              <a:t>日志级别有哪些，依次从低到高 ？</a:t>
            </a:r>
            <a:endParaRPr lang="en-US" altLang="zh-CN" sz="1800"/>
          </a:p>
          <a:p>
            <a:pPr marL="342900" indent="-342900">
              <a:buFont typeface="+mj-lt"/>
              <a:buAutoNum type="arabicPeriod"/>
            </a:pPr>
            <a:endParaRPr lang="en-US" altLang="zh-CN" sz="1800"/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常用的有哪些</a:t>
            </a:r>
            <a:r>
              <a:rPr lang="en-US" altLang="zh-CN" sz="1800"/>
              <a:t>? </a:t>
            </a:r>
            <a:r>
              <a:rPr lang="zh-CN" altLang="en-US" sz="1800"/>
              <a:t>具体的使用场景 ？</a:t>
            </a:r>
            <a:endParaRPr lang="en-US" altLang="zh-CN" sz="18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E389C7-088F-BF4D-A16C-22B96A754953}"/>
              </a:ext>
            </a:extLst>
          </p:cNvPr>
          <p:cNvSpPr txBox="1"/>
          <p:nvPr/>
        </p:nvSpPr>
        <p:spPr>
          <a:xfrm>
            <a:off x="4013735" y="3104474"/>
            <a:ext cx="612648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8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trace, debug, info, warn, error</a:t>
            </a:r>
            <a:endParaRPr lang="zh-CN" altLang="en-US" b="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8810BE-7595-7D68-318E-CC81529EFB33}"/>
              </a:ext>
            </a:extLst>
          </p:cNvPr>
          <p:cNvSpPr txBox="1"/>
          <p:nvPr/>
        </p:nvSpPr>
        <p:spPr>
          <a:xfrm>
            <a:off x="4013735" y="4152694"/>
            <a:ext cx="6126480" cy="1362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debug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：记录程序的调试信息</a:t>
            </a:r>
            <a:endParaRPr lang="en-US" altLang="zh-CN" sz="16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60000"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info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：记录正常系统运行日志，重要信息</a:t>
            </a:r>
            <a:endParaRPr lang="en-US" altLang="zh-CN" sz="16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60000"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error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：记录错误异常信息</a:t>
            </a:r>
            <a:endParaRPr lang="zh-CN" altLang="en-US" sz="1600" b="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76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12884</TotalTime>
  <Words>4553</Words>
  <Application>Microsoft Office PowerPoint</Application>
  <PresentationFormat>宽屏</PresentationFormat>
  <Paragraphs>623</Paragraphs>
  <Slides>82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82</vt:i4>
      </vt:variant>
    </vt:vector>
  </HeadingPairs>
  <TitlesOfParts>
    <vt:vector size="101" baseType="lpstr">
      <vt:lpstr>Alibaba PuHuiTi B</vt:lpstr>
      <vt:lpstr>Optima-Regular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宋体</vt:lpstr>
      <vt:lpstr>Arial</vt:lpstr>
      <vt:lpstr>Calisto MT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Web开发(AI)</vt:lpstr>
      <vt:lpstr>Web开发</vt:lpstr>
      <vt:lpstr>Web后端实战</vt:lpstr>
      <vt:lpstr>需求</vt:lpstr>
      <vt:lpstr>需求</vt:lpstr>
      <vt:lpstr>需求</vt:lpstr>
      <vt:lpstr>PowerPoint 演示文稿</vt:lpstr>
      <vt:lpstr>PowerPoint 演示文稿</vt:lpstr>
      <vt:lpstr>前后端混合开发</vt:lpstr>
      <vt:lpstr>前后端分离开发</vt:lpstr>
      <vt:lpstr>前后端分离开发</vt:lpstr>
      <vt:lpstr>PowerPoint 演示文稿</vt:lpstr>
      <vt:lpstr>PowerPoint 演示文稿</vt:lpstr>
      <vt:lpstr>Restful</vt:lpstr>
      <vt:lpstr>Restful</vt:lpstr>
      <vt:lpstr>Restful</vt:lpstr>
      <vt:lpstr>PowerPoint 演示文稿</vt:lpstr>
      <vt:lpstr>Apifox</vt:lpstr>
      <vt:lpstr>Apifox</vt:lpstr>
      <vt:lpstr>Apifox</vt:lpstr>
      <vt:lpstr>PowerPoint 演示文稿</vt:lpstr>
      <vt:lpstr>PowerPoint 演示文稿</vt:lpstr>
      <vt:lpstr>工程搭建</vt:lpstr>
      <vt:lpstr>PowerPoint 演示文稿</vt:lpstr>
      <vt:lpstr>PowerPoint 演示文稿</vt:lpstr>
      <vt:lpstr>查询部门</vt:lpstr>
      <vt:lpstr>思路分析</vt:lpstr>
      <vt:lpstr>功能实现</vt:lpstr>
      <vt:lpstr>数据封装</vt:lpstr>
      <vt:lpstr>数据封装</vt:lpstr>
      <vt:lpstr>PowerPoint 演示文稿</vt:lpstr>
      <vt:lpstr>PowerPoint 演示文稿</vt:lpstr>
      <vt:lpstr>前后端联调测试</vt:lpstr>
      <vt:lpstr>前后端联调测试</vt:lpstr>
      <vt:lpstr>前后端联调测试</vt:lpstr>
      <vt:lpstr>PowerPoint 演示文稿</vt:lpstr>
      <vt:lpstr>PowerPoint 演示文稿</vt:lpstr>
      <vt:lpstr>PowerPoint 演示文稿</vt:lpstr>
      <vt:lpstr>需求分析</vt:lpstr>
      <vt:lpstr>思路分析</vt:lpstr>
      <vt:lpstr>Controller接收参数</vt:lpstr>
      <vt:lpstr>Controller接收参数</vt:lpstr>
      <vt:lpstr>Controller接收参数</vt:lpstr>
      <vt:lpstr>PowerPoint 演示文稿</vt:lpstr>
      <vt:lpstr>思路分析</vt:lpstr>
      <vt:lpstr>删除部门</vt:lpstr>
      <vt:lpstr>PowerPoint 演示文稿</vt:lpstr>
      <vt:lpstr>PowerPoint 演示文稿</vt:lpstr>
      <vt:lpstr>需求分析</vt:lpstr>
      <vt:lpstr>思路分析</vt:lpstr>
      <vt:lpstr>Controller接收参数</vt:lpstr>
      <vt:lpstr>新增部门</vt:lpstr>
      <vt:lpstr>PowerPoint 演示文稿</vt:lpstr>
      <vt:lpstr>PowerPoint 演示文稿</vt:lpstr>
      <vt:lpstr>PowerPoint 演示文稿</vt:lpstr>
      <vt:lpstr>需求</vt:lpstr>
      <vt:lpstr>PowerPoint 演示文稿</vt:lpstr>
      <vt:lpstr>需求分析</vt:lpstr>
      <vt:lpstr>思路分析</vt:lpstr>
      <vt:lpstr>Controller接收参数</vt:lpstr>
      <vt:lpstr>根据ID查询部门</vt:lpstr>
      <vt:lpstr>PowerPoint 演示文稿</vt:lpstr>
      <vt:lpstr>PowerPoint 演示文稿</vt:lpstr>
      <vt:lpstr>需求分析</vt:lpstr>
      <vt:lpstr>思路分析</vt:lpstr>
      <vt:lpstr>修改数据</vt:lpstr>
      <vt:lpstr>@RequestMapping</vt:lpstr>
      <vt:lpstr>PowerPoint 演示文稿</vt:lpstr>
      <vt:lpstr>PowerPoint 演示文稿</vt:lpstr>
      <vt:lpstr>PowerPoint 演示文稿</vt:lpstr>
      <vt:lpstr>日志技术</vt:lpstr>
      <vt:lpstr>日志技术</vt:lpstr>
      <vt:lpstr>PowerPoint 演示文稿</vt:lpstr>
      <vt:lpstr>Logback快速入门</vt:lpstr>
      <vt:lpstr>PowerPoint 演示文稿</vt:lpstr>
      <vt:lpstr>PowerPoint 演示文稿</vt:lpstr>
      <vt:lpstr>配置文件详解</vt:lpstr>
      <vt:lpstr>PowerPoint 演示文稿</vt:lpstr>
      <vt:lpstr>日志级别</vt:lpstr>
      <vt:lpstr>优化tlias案例日志记录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696</cp:revision>
  <cp:lastPrinted>2022-05-29T16:00:00Z</cp:lastPrinted>
  <dcterms:created xsi:type="dcterms:W3CDTF">2022-05-29T16:00:00Z</dcterms:created>
  <dcterms:modified xsi:type="dcterms:W3CDTF">2024-11-03T09:54:59Z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