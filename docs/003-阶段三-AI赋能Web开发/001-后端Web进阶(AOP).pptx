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1"/>
  </p:notesMasterIdLst>
  <p:handoutMasterIdLst>
    <p:handoutMasterId r:id="rId42"/>
  </p:handoutMasterIdLst>
  <p:sldIdLst>
    <p:sldId id="280" r:id="rId6"/>
    <p:sldId id="661" r:id="rId7"/>
    <p:sldId id="670" r:id="rId8"/>
    <p:sldId id="663" r:id="rId9"/>
    <p:sldId id="662" r:id="rId10"/>
    <p:sldId id="667" r:id="rId11"/>
    <p:sldId id="668" r:id="rId12"/>
    <p:sldId id="669" r:id="rId13"/>
    <p:sldId id="677" r:id="rId14"/>
    <p:sldId id="664" r:id="rId15"/>
    <p:sldId id="665" r:id="rId16"/>
    <p:sldId id="666" r:id="rId17"/>
    <p:sldId id="678" r:id="rId18"/>
    <p:sldId id="671" r:id="rId19"/>
    <p:sldId id="672" r:id="rId20"/>
    <p:sldId id="673" r:id="rId21"/>
    <p:sldId id="674" r:id="rId22"/>
    <p:sldId id="693" r:id="rId23"/>
    <p:sldId id="675" r:id="rId24"/>
    <p:sldId id="683" r:id="rId25"/>
    <p:sldId id="676" r:id="rId26"/>
    <p:sldId id="679" r:id="rId27"/>
    <p:sldId id="680" r:id="rId28"/>
    <p:sldId id="684" r:id="rId29"/>
    <p:sldId id="685" r:id="rId30"/>
    <p:sldId id="694" r:id="rId31"/>
    <p:sldId id="686" r:id="rId32"/>
    <p:sldId id="690" r:id="rId33"/>
    <p:sldId id="681" r:id="rId34"/>
    <p:sldId id="682" r:id="rId35"/>
    <p:sldId id="687" r:id="rId36"/>
    <p:sldId id="688" r:id="rId37"/>
    <p:sldId id="691" r:id="rId38"/>
    <p:sldId id="692" r:id="rId39"/>
    <p:sldId id="288" r:id="rId40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D5"/>
    <a:srgbClr val="871094"/>
    <a:srgbClr val="3561FF"/>
    <a:srgbClr val="8037B7"/>
    <a:srgbClr val="9933FF"/>
    <a:srgbClr val="00B050"/>
    <a:srgbClr val="FF0000"/>
    <a:srgbClr val="067D17"/>
    <a:srgbClr val="3333FF"/>
    <a:srgbClr val="BB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2" d="100"/>
          <a:sy n="82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80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请帮我基于</a:t>
            </a:r>
            <a:r>
              <a:rPr lang="en-US" altLang="zh-CN"/>
              <a:t>Spring AOP</a:t>
            </a:r>
            <a:r>
              <a:rPr lang="zh-CN" altLang="en-US"/>
              <a:t>实现记录系统所有增、删、改功能接口的操作日志。具体信息如下：</a:t>
            </a:r>
          </a:p>
          <a:p>
            <a:r>
              <a:rPr lang="en-US" altLang="zh-CN"/>
              <a:t>1. </a:t>
            </a:r>
            <a:r>
              <a:rPr lang="zh-CN" altLang="en-US"/>
              <a:t>日志信息包含：操作人、操作时间、执行方法的全类名、执行方法名、方法运行时参数、返回值、方法执行时长</a:t>
            </a:r>
          </a:p>
          <a:p>
            <a:r>
              <a:rPr lang="en-US" altLang="zh-CN"/>
              <a:t>2. </a:t>
            </a:r>
            <a:r>
              <a:rPr lang="zh-CN" altLang="en-US"/>
              <a:t>功能接口所在包为 </a:t>
            </a:r>
            <a:r>
              <a:rPr lang="en-US" altLang="zh-CN"/>
              <a:t>com.itheima.controller</a:t>
            </a:r>
          </a:p>
          <a:p>
            <a:r>
              <a:rPr lang="en-US" altLang="zh-CN"/>
              <a:t>3. </a:t>
            </a:r>
            <a:r>
              <a:rPr lang="zh-CN" altLang="en-US"/>
              <a:t>日志表为 </a:t>
            </a:r>
            <a:r>
              <a:rPr lang="en-US" altLang="zh-CN"/>
              <a:t>operate_log </a:t>
            </a:r>
            <a:r>
              <a:rPr lang="zh-CN" altLang="en-US"/>
              <a:t>表，对应的实体类为 </a:t>
            </a:r>
            <a:r>
              <a:rPr lang="en-US" altLang="zh-CN"/>
              <a:t>OperateLog</a:t>
            </a:r>
            <a:r>
              <a:rPr lang="zh-CN" altLang="en-US"/>
              <a:t>。 具体表结构如下：</a:t>
            </a:r>
          </a:p>
          <a:p>
            <a:r>
              <a:rPr lang="zh-CN" altLang="en-US"/>
              <a:t>   </a:t>
            </a:r>
            <a:r>
              <a:rPr lang="en-US" altLang="zh-CN"/>
              <a:t>create table operate_log(</a:t>
            </a:r>
          </a:p>
          <a:p>
            <a:r>
              <a:rPr lang="en-US" altLang="zh-CN"/>
              <a:t>    id int unsigned primary key auto_increment comment 'ID',</a:t>
            </a:r>
          </a:p>
          <a:p>
            <a:r>
              <a:rPr lang="en-US" altLang="zh-CN"/>
              <a:t>    operate_emp_id int unsigned comment '</a:t>
            </a:r>
            <a:r>
              <a:rPr lang="zh-CN" altLang="en-US"/>
              <a:t>操作人</a:t>
            </a:r>
            <a:r>
              <a:rPr lang="en-US" altLang="zh-CN"/>
              <a:t>ID',</a:t>
            </a:r>
          </a:p>
          <a:p>
            <a:r>
              <a:rPr lang="en-US" altLang="zh-CN"/>
              <a:t>    operate_time datetime comment '</a:t>
            </a:r>
            <a:r>
              <a:rPr lang="zh-CN" altLang="en-US"/>
              <a:t>操作时间</a:t>
            </a:r>
            <a:r>
              <a:rPr lang="en-US" altLang="zh-CN"/>
              <a:t>',</a:t>
            </a:r>
          </a:p>
          <a:p>
            <a:r>
              <a:rPr lang="en-US" altLang="zh-CN"/>
              <a:t>    class_name varchar(100) comment '</a:t>
            </a:r>
            <a:r>
              <a:rPr lang="zh-CN" altLang="en-US"/>
              <a:t>操作的类名</a:t>
            </a:r>
            <a:r>
              <a:rPr lang="en-US" altLang="zh-CN"/>
              <a:t>',</a:t>
            </a:r>
          </a:p>
          <a:p>
            <a:r>
              <a:rPr lang="en-US" altLang="zh-CN"/>
              <a:t>    method_name varchar(100) comment '</a:t>
            </a:r>
            <a:r>
              <a:rPr lang="zh-CN" altLang="en-US"/>
              <a:t>操作的方法名</a:t>
            </a:r>
            <a:r>
              <a:rPr lang="en-US" altLang="zh-CN"/>
              <a:t>',</a:t>
            </a:r>
          </a:p>
          <a:p>
            <a:r>
              <a:rPr lang="en-US" altLang="zh-CN"/>
              <a:t>    method_params varchar(1000) comment '</a:t>
            </a:r>
            <a:r>
              <a:rPr lang="zh-CN" altLang="en-US"/>
              <a:t>方法参数</a:t>
            </a:r>
            <a:r>
              <a:rPr lang="en-US" altLang="zh-CN"/>
              <a:t>',</a:t>
            </a:r>
          </a:p>
          <a:p>
            <a:r>
              <a:rPr lang="en-US" altLang="zh-CN"/>
              <a:t>    return_value varchar(2000) comment '</a:t>
            </a:r>
            <a:r>
              <a:rPr lang="zh-CN" altLang="en-US"/>
              <a:t>返回值</a:t>
            </a:r>
            <a:r>
              <a:rPr lang="en-US" altLang="zh-CN"/>
              <a:t>',</a:t>
            </a:r>
          </a:p>
          <a:p>
            <a:r>
              <a:rPr lang="en-US" altLang="zh-CN"/>
              <a:t>    cost_time bigint comment '</a:t>
            </a:r>
            <a:r>
              <a:rPr lang="zh-CN" altLang="en-US"/>
              <a:t>方法执行耗时</a:t>
            </a:r>
            <a:r>
              <a:rPr lang="en-US" altLang="zh-CN"/>
              <a:t>, </a:t>
            </a:r>
            <a:r>
              <a:rPr lang="zh-CN" altLang="en-US"/>
              <a:t>单位</a:t>
            </a:r>
            <a:r>
              <a:rPr lang="en-US" altLang="zh-CN"/>
              <a:t>:ms'</a:t>
            </a:r>
          </a:p>
          <a:p>
            <a:r>
              <a:rPr lang="en-US" altLang="zh-CN"/>
              <a:t>  ) comment '</a:t>
            </a:r>
            <a:r>
              <a:rPr lang="zh-CN" altLang="en-US"/>
              <a:t>操作日志表</a:t>
            </a:r>
            <a:r>
              <a:rPr lang="en-US" altLang="zh-CN"/>
              <a:t>';</a:t>
            </a:r>
          </a:p>
          <a:p>
            <a:r>
              <a:rPr lang="en-US" altLang="zh-CN"/>
              <a:t>4. </a:t>
            </a:r>
            <a:r>
              <a:rPr lang="zh-CN" altLang="en-US"/>
              <a:t>并且已经提供了</a:t>
            </a:r>
            <a:r>
              <a:rPr lang="en-US" altLang="zh-CN"/>
              <a:t>OperateLogMapper</a:t>
            </a:r>
            <a:r>
              <a:rPr lang="zh-CN" altLang="en-US"/>
              <a:t>接口来操作 </a:t>
            </a:r>
            <a:r>
              <a:rPr lang="en-US" altLang="zh-CN"/>
              <a:t>operate_log, </a:t>
            </a:r>
            <a:r>
              <a:rPr lang="zh-CN" altLang="en-US"/>
              <a:t>并在其中已经定义好了</a:t>
            </a:r>
            <a:r>
              <a:rPr lang="en-US" altLang="zh-CN"/>
              <a:t> insert </a:t>
            </a:r>
            <a:r>
              <a:rPr lang="zh-CN" altLang="en-US"/>
              <a:t>方法用来保存日志数据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45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AOP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7117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AOP</a:t>
            </a:r>
            <a:r>
              <a:rPr lang="zh-CN" altLang="en-US" b="1">
                <a:latin typeface="Fira Code" panose="020B0809050000020004" pitchFamily="49" charset="0"/>
              </a:rPr>
              <a:t>：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spect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O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riented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rogramming</a:t>
            </a:r>
            <a:r>
              <a:rPr lang="zh-CN" altLang="en-US">
                <a:latin typeface="Fira Code" panose="020B0809050000020004" pitchFamily="49" charset="0"/>
              </a:rPr>
              <a:t>（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面向切面编程、面向方面编程</a:t>
            </a:r>
            <a:r>
              <a:rPr lang="zh-CN" altLang="en-US">
                <a:latin typeface="Fira Code" panose="020B0809050000020004" pitchFamily="49" charset="0"/>
              </a:rPr>
              <a:t>），可简单理解为就是面向特定方法编程。</a:t>
            </a:r>
            <a:endParaRPr lang="en-US" altLang="zh-CN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场景：案例中部分业务方法运行较慢，定位执行耗时较长的方法，此时需要统计每一个业务方法的执行耗时。</a:t>
            </a:r>
          </a:p>
        </p:txBody>
      </p:sp>
      <p:sp>
        <p:nvSpPr>
          <p:cNvPr id="37" name="!!矩形 1">
            <a:extLst>
              <a:ext uri="{FF2B5EF4-FFF2-40B4-BE49-F238E27FC236}">
                <a16:creationId xmlns:a16="http://schemas.microsoft.com/office/drawing/2014/main" id="{586FDF9B-70B7-A9C9-D141-DC3894D51511}"/>
              </a:ext>
            </a:extLst>
          </p:cNvPr>
          <p:cNvSpPr/>
          <p:nvPr/>
        </p:nvSpPr>
        <p:spPr>
          <a:xfrm>
            <a:off x="0" y="0"/>
            <a:ext cx="12192000" cy="6983506"/>
          </a:xfrm>
          <a:prstGeom prst="rect">
            <a:avLst/>
          </a:prstGeom>
          <a:solidFill>
            <a:srgbClr val="0D0D0D">
              <a:alpha val="50196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AOP</a:t>
            </a:r>
            <a:endParaRPr lang="zh-CN" altLang="en-US"/>
          </a:p>
        </p:txBody>
      </p:sp>
      <p:grpSp>
        <p:nvGrpSpPr>
          <p:cNvPr id="38" name="!!组合 2">
            <a:extLst>
              <a:ext uri="{FF2B5EF4-FFF2-40B4-BE49-F238E27FC236}">
                <a16:creationId xmlns:a16="http://schemas.microsoft.com/office/drawing/2014/main" id="{1D8A8DC5-887F-7502-84D6-320A8DDF47F2}"/>
              </a:ext>
            </a:extLst>
          </p:cNvPr>
          <p:cNvGrpSpPr/>
          <p:nvPr/>
        </p:nvGrpSpPr>
        <p:grpSpPr>
          <a:xfrm>
            <a:off x="4408100" y="2188070"/>
            <a:ext cx="3331243" cy="3331265"/>
            <a:chOff x="2297722" y="3660322"/>
            <a:chExt cx="3670411" cy="339243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CE86915-65F4-41C7-ECC3-7C07F0C7B601}"/>
                </a:ext>
              </a:extLst>
            </p:cNvPr>
            <p:cNvSpPr/>
            <p:nvPr/>
          </p:nvSpPr>
          <p:spPr>
            <a:xfrm>
              <a:off x="2297729" y="3660324"/>
              <a:ext cx="3670404" cy="3392430"/>
            </a:xfrm>
            <a:prstGeom prst="roundRect">
              <a:avLst>
                <a:gd name="adj" fmla="val 19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871094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.list();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delete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id)  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871094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.delete(id);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Dept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getById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id) 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Dept dept =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deptMapper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.getById(id);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</a:rPr>
                <a:t> 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00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ea typeface="Fira Code" panose="020B0809050000020004" pitchFamily="49" charset="0"/>
                </a:rPr>
                <a:t>dept;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4055F456-4A71-08AA-6603-04D922A865EF}"/>
                </a:ext>
              </a:extLst>
            </p:cNvPr>
            <p:cNvSpPr/>
            <p:nvPr/>
          </p:nvSpPr>
          <p:spPr>
            <a:xfrm>
              <a:off x="2297722" y="3660322"/>
              <a:ext cx="367041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DeptServiceImpl</a:t>
              </a: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2CDD22F-AB00-4BCC-0F90-98753D70E03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3744EAF-3C03-058A-7F46-02FF9D1568A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2E13881-EEA6-1EC3-045B-838E545238D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5ADB530-7FF5-1E92-8306-FF92031CC38C}"/>
              </a:ext>
            </a:extLst>
          </p:cNvPr>
          <p:cNvGrpSpPr/>
          <p:nvPr/>
        </p:nvGrpSpPr>
        <p:grpSpPr>
          <a:xfrm>
            <a:off x="154201" y="590116"/>
            <a:ext cx="3883281" cy="5965463"/>
            <a:chOff x="2297722" y="3660322"/>
            <a:chExt cx="4278653" cy="5804556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FD03F0E4-EDB6-5ACE-0776-46E7E738BE02}"/>
                </a:ext>
              </a:extLst>
            </p:cNvPr>
            <p:cNvSpPr/>
            <p:nvPr/>
          </p:nvSpPr>
          <p:spPr>
            <a:xfrm>
              <a:off x="2297730" y="3660323"/>
              <a:ext cx="4278645" cy="5804555"/>
            </a:xfrm>
            <a:prstGeom prst="roundRect">
              <a:avLst>
                <a:gd name="adj" fmla="val 155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9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1B48BA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long</a:t>
              </a: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beginTime = System.currentTimeMillis();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 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.list();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</a:rPr>
                <a:t>long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90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900">
                  <a:solidFill>
                    <a:srgbClr val="080808"/>
                  </a:solidFill>
                  <a:effectLst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9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" </a:t>
              </a:r>
              <a:r>
                <a:rPr lang="zh-CN" altLang="en-US" sz="90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: {} ms"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-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zh-CN" altLang="en-US" sz="9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b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void </a:t>
              </a:r>
              <a:r>
                <a:rPr lang="en-US" altLang="zh-CN" sz="9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delete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id)  {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1B48BA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long</a:t>
              </a: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beginTime = System.currentTimeMillis();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.delete(id);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033B3"/>
                  </a:solidFill>
                  <a:effectLst/>
                </a:rPr>
                <a:t>    long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90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900">
                  <a:solidFill>
                    <a:srgbClr val="080808"/>
                  </a:solidFill>
                  <a:effectLst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9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" </a:t>
              </a:r>
              <a:r>
                <a:rPr lang="zh-CN" altLang="en-US" sz="90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: {} ms"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-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zh-CN" altLang="en-US" sz="9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br>
                <a:rPr lang="en-US" altLang="zh-CN" sz="9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 </a:t>
              </a:r>
              <a:r>
                <a:rPr lang="en-US" altLang="zh-CN" sz="9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getById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Integer 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id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){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1B48BA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long</a:t>
              </a: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beginTime = System.currentTimeMillis();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Dept dept = </a:t>
              </a:r>
              <a:r>
                <a:rPr lang="en-US" altLang="zh-CN" sz="9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deptMapper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.getById(id);</a:t>
              </a:r>
              <a:endParaRPr lang="en-US" altLang="zh-CN" sz="9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</a:rPr>
                <a:t>long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90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900">
                  <a:solidFill>
                    <a:srgbClr val="080808"/>
                  </a:solidFill>
                  <a:effectLst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9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" </a:t>
              </a:r>
              <a:r>
                <a:rPr lang="zh-CN" altLang="en-US" sz="90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900">
                  <a:solidFill>
                    <a:srgbClr val="067D17"/>
                  </a:solidFill>
                  <a:effectLst/>
                </a:rPr>
                <a:t>: {} ms"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- </a:t>
              </a:r>
              <a:r>
                <a:rPr lang="en-US" altLang="zh-CN" sz="90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9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D3DB6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</a:t>
              </a: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dept;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9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9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其他方法省略</a:t>
              </a:r>
              <a:r>
                <a:rPr lang="en-US" altLang="zh-CN" sz="9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</a:t>
              </a:r>
              <a:endParaRPr lang="en-US" altLang="zh-CN" sz="900">
                <a:solidFill>
                  <a:schemeClr val="bg1">
                    <a:lumMod val="50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6" name="矩形: 圆顶角 45">
              <a:extLst>
                <a:ext uri="{FF2B5EF4-FFF2-40B4-BE49-F238E27FC236}">
                  <a16:creationId xmlns:a16="http://schemas.microsoft.com/office/drawing/2014/main" id="{E63EE190-C42F-AC62-90B5-0EB465FF6794}"/>
                </a:ext>
              </a:extLst>
            </p:cNvPr>
            <p:cNvSpPr/>
            <p:nvPr/>
          </p:nvSpPr>
          <p:spPr>
            <a:xfrm>
              <a:off x="2297722" y="3660322"/>
              <a:ext cx="427864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原始方式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3518591-47D1-F494-4C7E-88469F04D4F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154853C-3A52-4426-F59B-AD10DCD7CBA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C285E2DB-CA22-692D-2A3E-29A595983CF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BF9403F9-E9C3-3093-7F70-A342F5FABBC4}"/>
              </a:ext>
            </a:extLst>
          </p:cNvPr>
          <p:cNvSpPr/>
          <p:nvPr/>
        </p:nvSpPr>
        <p:spPr>
          <a:xfrm>
            <a:off x="150950" y="1163271"/>
            <a:ext cx="3887009" cy="250639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6E498EB-CCDE-2945-245D-B69AFFDEED9A}"/>
              </a:ext>
            </a:extLst>
          </p:cNvPr>
          <p:cNvSpPr/>
          <p:nvPr/>
        </p:nvSpPr>
        <p:spPr>
          <a:xfrm>
            <a:off x="153082" y="1680734"/>
            <a:ext cx="3884393" cy="464983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767D1BB-D697-CF03-785C-9A5B40A05281}"/>
              </a:ext>
            </a:extLst>
          </p:cNvPr>
          <p:cNvSpPr/>
          <p:nvPr/>
        </p:nvSpPr>
        <p:spPr>
          <a:xfrm>
            <a:off x="151116" y="3146734"/>
            <a:ext cx="3887008" cy="250639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A0C34C7-C67D-C375-45C4-3EB73C8C4642}"/>
              </a:ext>
            </a:extLst>
          </p:cNvPr>
          <p:cNvSpPr/>
          <p:nvPr/>
        </p:nvSpPr>
        <p:spPr>
          <a:xfrm>
            <a:off x="151115" y="3667306"/>
            <a:ext cx="3887009" cy="464983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23E904-EFB2-7806-92CC-B3D48EE1887B}"/>
              </a:ext>
            </a:extLst>
          </p:cNvPr>
          <p:cNvSpPr/>
          <p:nvPr/>
        </p:nvSpPr>
        <p:spPr>
          <a:xfrm>
            <a:off x="157079" y="4858831"/>
            <a:ext cx="3889624" cy="274890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C5B606E-B48A-2A23-C905-3CCF7BF507D3}"/>
              </a:ext>
            </a:extLst>
          </p:cNvPr>
          <p:cNvSpPr/>
          <p:nvPr/>
        </p:nvSpPr>
        <p:spPr>
          <a:xfrm>
            <a:off x="159694" y="5374740"/>
            <a:ext cx="3887009" cy="472383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E0813F9-938A-5F85-C7D9-048940A86EAC}"/>
              </a:ext>
            </a:extLst>
          </p:cNvPr>
          <p:cNvGrpSpPr/>
          <p:nvPr/>
        </p:nvGrpSpPr>
        <p:grpSpPr>
          <a:xfrm>
            <a:off x="7945538" y="1638796"/>
            <a:ext cx="4199188" cy="3767912"/>
            <a:chOff x="2297722" y="3660322"/>
            <a:chExt cx="3899780" cy="3837097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31B71BD0-A6CE-FDDE-70CD-88D76C72CF8D}"/>
                </a:ext>
              </a:extLst>
            </p:cNvPr>
            <p:cNvSpPr/>
            <p:nvPr/>
          </p:nvSpPr>
          <p:spPr>
            <a:xfrm>
              <a:off x="2297730" y="3660324"/>
              <a:ext cx="3899772" cy="3837095"/>
            </a:xfrm>
            <a:prstGeom prst="roundRect">
              <a:avLst>
                <a:gd name="adj" fmla="val 19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80000"/>
                </a:lnSpc>
              </a:pPr>
              <a:r>
                <a:rPr lang="en-US" altLang="zh-CN" sz="950">
                  <a:solidFill>
                    <a:srgbClr val="9E880D"/>
                  </a:solidFill>
                  <a:effectLst/>
                </a:rPr>
                <a:t>@Slf4j</a:t>
              </a:r>
              <a:br>
                <a:rPr lang="en-US" altLang="zh-CN" sz="950">
                  <a:solidFill>
                    <a:srgbClr val="9E880D"/>
                  </a:solidFill>
                  <a:effectLst/>
                </a:rPr>
              </a:br>
              <a:r>
                <a:rPr lang="en-US" altLang="zh-CN" sz="950">
                  <a:solidFill>
                    <a:srgbClr val="9E880D"/>
                  </a:solidFill>
                  <a:effectLst/>
                </a:rPr>
                <a:t>@Aspect</a:t>
              </a:r>
              <a:br>
                <a:rPr lang="en-US" altLang="zh-CN" sz="950">
                  <a:solidFill>
                    <a:srgbClr val="9E880D"/>
                  </a:solidFill>
                  <a:effectLst/>
                </a:rPr>
              </a:br>
              <a:r>
                <a:rPr lang="en-US" altLang="zh-CN" sz="950">
                  <a:solidFill>
                    <a:srgbClr val="9E880D"/>
                  </a:solidFill>
                  <a:effectLst/>
                </a:rPr>
                <a:t>@Component</a:t>
              </a:r>
              <a:br>
                <a:rPr lang="en-US" altLang="zh-CN" sz="950">
                  <a:solidFill>
                    <a:srgbClr val="9E880D"/>
                  </a:solidFill>
                  <a:effectLst/>
                </a:rPr>
              </a:br>
              <a:r>
                <a:rPr lang="en-US" altLang="zh-CN" sz="95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RecordTimeApsect 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{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</a:t>
              </a:r>
              <a:r>
                <a:rPr lang="en-US" altLang="zh-CN" sz="950">
                  <a:solidFill>
                    <a:srgbClr val="9E880D"/>
                  </a:solidFill>
                  <a:effectLst/>
                </a:rPr>
                <a:t>@Around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950">
                  <a:solidFill>
                    <a:srgbClr val="067D17"/>
                  </a:solidFill>
                  <a:effectLst/>
                </a:rPr>
                <a:t>"execution(* com.itheima.service.*.*(..))"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</a:t>
              </a:r>
              <a:r>
                <a:rPr lang="en-US" altLang="zh-CN" sz="95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Object </a:t>
              </a:r>
              <a:r>
                <a:rPr lang="en-US" altLang="zh-CN" sz="950">
                  <a:solidFill>
                    <a:srgbClr val="00627A"/>
                  </a:solidFill>
                  <a:effectLst/>
                </a:rPr>
                <a:t>recordTime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ProceedingJoinPoint 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pjp) {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  </a:t>
              </a:r>
              <a:r>
                <a:rPr lang="en-US" altLang="zh-CN" sz="950">
                  <a:solidFill>
                    <a:srgbClr val="0033B3"/>
                  </a:solidFill>
                  <a:effectLst/>
                </a:rPr>
                <a:t>long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beginTime 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95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 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Object result 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= pjp.proceed();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  </a:t>
              </a:r>
              <a:r>
                <a:rPr lang="en-US" altLang="zh-CN" sz="950">
                  <a:solidFill>
                    <a:srgbClr val="0033B3"/>
                  </a:solidFill>
                  <a:effectLst/>
                </a:rPr>
                <a:t>long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95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  </a:t>
              </a:r>
              <a:r>
                <a:rPr lang="en-US" altLang="zh-CN" sz="95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95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95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950">
                  <a:solidFill>
                    <a:srgbClr val="067D17"/>
                  </a:solidFill>
                  <a:effectLst/>
                </a:rPr>
                <a:t>:{}ms"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endTime</a:t>
              </a:r>
              <a:r>
                <a:rPr lang="en-US" altLang="zh-CN" sz="950">
                  <a:solidFill>
                    <a:srgbClr val="080808"/>
                  </a:solidFill>
                </a:rPr>
                <a:t>-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  </a:t>
              </a:r>
              <a:r>
                <a:rPr lang="en-US" altLang="zh-CN" sz="95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95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95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   }</a:t>
              </a:r>
              <a:br>
                <a:rPr lang="en-US" altLang="zh-CN" sz="950">
                  <a:solidFill>
                    <a:srgbClr val="080808"/>
                  </a:solidFill>
                  <a:effectLst/>
                </a:rPr>
              </a:br>
              <a:r>
                <a:rPr lang="en-US" altLang="zh-CN" sz="95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58" name="矩形: 圆顶角 57">
              <a:extLst>
                <a:ext uri="{FF2B5EF4-FFF2-40B4-BE49-F238E27FC236}">
                  <a16:creationId xmlns:a16="http://schemas.microsoft.com/office/drawing/2014/main" id="{B9C21C50-337A-3B88-90EE-E2E96B74C6E4}"/>
                </a:ext>
              </a:extLst>
            </p:cNvPr>
            <p:cNvSpPr/>
            <p:nvPr/>
          </p:nvSpPr>
          <p:spPr>
            <a:xfrm>
              <a:off x="2297722" y="3660322"/>
              <a:ext cx="38997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AOP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方式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C0829643-8D77-4428-7F87-9A0442AF244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93308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E09B86D-1CCD-C17C-8B5A-6CDC45968D3D}"/>
                </a:ext>
              </a:extLst>
            </p:cNvPr>
            <p:cNvSpPr>
              <a:spLocks/>
            </p:cNvSpPr>
            <p:nvPr/>
          </p:nvSpPr>
          <p:spPr>
            <a:xfrm>
              <a:off x="2775653" y="3733257"/>
              <a:ext cx="93308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2E6B0505-E82B-DC6F-3E7D-C44BD4ADBC5B}"/>
                </a:ext>
              </a:extLst>
            </p:cNvPr>
            <p:cNvSpPr/>
            <p:nvPr/>
          </p:nvSpPr>
          <p:spPr>
            <a:xfrm>
              <a:off x="2573816" y="3730461"/>
              <a:ext cx="93308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B239E3F7-DE6B-8411-3EBB-A4F8E096E547}"/>
              </a:ext>
            </a:extLst>
          </p:cNvPr>
          <p:cNvSpPr/>
          <p:nvPr/>
        </p:nvSpPr>
        <p:spPr>
          <a:xfrm>
            <a:off x="7945538" y="3557885"/>
            <a:ext cx="4204878" cy="237546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40581EC-1504-ADCF-CD13-368F989A1E7B}"/>
              </a:ext>
            </a:extLst>
          </p:cNvPr>
          <p:cNvSpPr/>
          <p:nvPr/>
        </p:nvSpPr>
        <p:spPr>
          <a:xfrm>
            <a:off x="7946486" y="4072240"/>
            <a:ext cx="4199179" cy="49128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4" name="箭头: 虚尾 63">
            <a:extLst>
              <a:ext uri="{FF2B5EF4-FFF2-40B4-BE49-F238E27FC236}">
                <a16:creationId xmlns:a16="http://schemas.microsoft.com/office/drawing/2014/main" id="{325D7299-0B71-7538-A818-DBAAE81C8733}"/>
              </a:ext>
            </a:extLst>
          </p:cNvPr>
          <p:cNvSpPr/>
          <p:nvPr/>
        </p:nvSpPr>
        <p:spPr>
          <a:xfrm rot="10800000">
            <a:off x="3802752" y="3410251"/>
            <a:ext cx="656854" cy="274889"/>
          </a:xfrm>
          <a:prstGeom prst="stripedRightArrow">
            <a:avLst>
              <a:gd name="adj1" fmla="val 50000"/>
              <a:gd name="adj2" fmla="val 92345"/>
            </a:avLst>
          </a:prstGeom>
          <a:gradFill flip="none" rotWithShape="1">
            <a:gsLst>
              <a:gs pos="0">
                <a:srgbClr val="FFC000"/>
              </a:gs>
              <a:gs pos="100000">
                <a:srgbClr val="FFEBAB"/>
              </a:gs>
            </a:gsLst>
            <a:lin ang="0" scaled="1"/>
            <a:tileRect/>
          </a:gra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5" name="!!文本框 8">
            <a:extLst>
              <a:ext uri="{FF2B5EF4-FFF2-40B4-BE49-F238E27FC236}">
                <a16:creationId xmlns:a16="http://schemas.microsoft.com/office/drawing/2014/main" id="{0E1A6908-FD21-5D0D-0EFC-A19D2BA7162F}"/>
              </a:ext>
            </a:extLst>
          </p:cNvPr>
          <p:cNvSpPr txBox="1"/>
          <p:nvPr/>
        </p:nvSpPr>
        <p:spPr>
          <a:xfrm>
            <a:off x="9517849" y="1602099"/>
            <a:ext cx="1963271" cy="1193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lvl="1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减少重复代码</a:t>
            </a:r>
            <a:endParaRPr lang="en-US" altLang="zh-CN" sz="1400" b="1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代码无侵入</a:t>
            </a:r>
            <a:endParaRPr lang="en-US" altLang="zh-CN" sz="1400" b="1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提高开发效率</a:t>
            </a:r>
            <a:endParaRPr lang="en-US" altLang="zh-CN" sz="1400" b="1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14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维护方便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B8D6A8ED-F501-B262-BB3E-8CA5100B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463" y="3534785"/>
            <a:ext cx="4199178" cy="26397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8FADDFF2-4609-BF78-9334-6D1C0CFE1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39" y="3797904"/>
            <a:ext cx="4199178" cy="263971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645AD135-445A-0EA9-3102-EC406BE95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814" y="4064487"/>
            <a:ext cx="4199178" cy="70948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CFCA3556-7BDB-3D18-4AD0-48F19CC0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38" y="3042120"/>
            <a:ext cx="4199178" cy="263971"/>
          </a:xfrm>
          <a:prstGeom prst="rect">
            <a:avLst/>
          </a:prstGeom>
        </p:spPr>
      </p:pic>
      <p:sp>
        <p:nvSpPr>
          <p:cNvPr id="70" name="箭头: 虚尾 69">
            <a:extLst>
              <a:ext uri="{FF2B5EF4-FFF2-40B4-BE49-F238E27FC236}">
                <a16:creationId xmlns:a16="http://schemas.microsoft.com/office/drawing/2014/main" id="{E9C2E9AC-13A9-61B1-60EC-54891CC599BA}"/>
              </a:ext>
            </a:extLst>
          </p:cNvPr>
          <p:cNvSpPr/>
          <p:nvPr/>
        </p:nvSpPr>
        <p:spPr>
          <a:xfrm>
            <a:off x="7460233" y="3443259"/>
            <a:ext cx="656854" cy="267829"/>
          </a:xfrm>
          <a:prstGeom prst="stripedRightArrow">
            <a:avLst>
              <a:gd name="adj1" fmla="val 50000"/>
              <a:gd name="adj2" fmla="val 92345"/>
            </a:avLst>
          </a:prstGeom>
          <a:gradFill flip="none" rotWithShape="1">
            <a:gsLst>
              <a:gs pos="0">
                <a:srgbClr val="FFC000"/>
              </a:gs>
              <a:gs pos="100000">
                <a:srgbClr val="FFEBAB"/>
              </a:gs>
            </a:gsLst>
            <a:lin ang="0" scaled="1"/>
            <a:tileRect/>
          </a:gra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48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2" grpId="0" animBg="1"/>
      <p:bldP spid="63" grpId="0" animBg="1"/>
      <p:bldP spid="64" grpId="0" animBg="1"/>
      <p:bldP spid="7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7319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AOP</a:t>
            </a:r>
            <a:r>
              <a:rPr lang="zh-CN" altLang="en-US" b="1">
                <a:latin typeface="Fira Code" panose="020B0809050000020004" pitchFamily="49" charset="0"/>
              </a:rPr>
              <a:t>：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spect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O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riented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rogramming</a:t>
            </a:r>
            <a:r>
              <a:rPr lang="zh-CN" altLang="en-US">
                <a:latin typeface="Fira Code" panose="020B0809050000020004" pitchFamily="49" charset="0"/>
              </a:rPr>
              <a:t>（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面向切面编程、面向方面编程</a:t>
            </a:r>
            <a:r>
              <a:rPr lang="zh-CN" altLang="en-US">
                <a:latin typeface="Fira Code" panose="020B0809050000020004" pitchFamily="49" charset="0"/>
              </a:rPr>
              <a:t>），可简单理解为就是面向特定方法编程。</a:t>
            </a:r>
            <a:endParaRPr lang="en-US" altLang="zh-CN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场景：案例中部分业务方法运行较慢，定位执行耗时较长的接口，此时需要统计每一个业务方法的执行耗时。</a:t>
            </a:r>
            <a:endParaRPr lang="en-US" altLang="zh-CN"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优势：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AOP</a:t>
            </a:r>
            <a:endParaRPr lang="zh-CN" altLang="en-US"/>
          </a:p>
        </p:txBody>
      </p:sp>
      <p:sp>
        <p:nvSpPr>
          <p:cNvPr id="4" name="!!文本框 8">
            <a:extLst>
              <a:ext uri="{FF2B5EF4-FFF2-40B4-BE49-F238E27FC236}">
                <a16:creationId xmlns:a16="http://schemas.microsoft.com/office/drawing/2014/main" id="{E14831C1-A84A-0544-688D-EA53671F01D1}"/>
              </a:ext>
            </a:extLst>
          </p:cNvPr>
          <p:cNvSpPr txBox="1"/>
          <p:nvPr/>
        </p:nvSpPr>
        <p:spPr>
          <a:xfrm>
            <a:off x="901517" y="2429435"/>
            <a:ext cx="3077349" cy="158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减少重复代码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代码无侵入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提高开发效率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维护方便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1B9EF7-DAE8-F6F3-C478-8882663371CE}"/>
              </a:ext>
            </a:extLst>
          </p:cNvPr>
          <p:cNvGrpSpPr/>
          <p:nvPr/>
        </p:nvGrpSpPr>
        <p:grpSpPr>
          <a:xfrm>
            <a:off x="746600" y="6025890"/>
            <a:ext cx="10698799" cy="448408"/>
            <a:chOff x="710880" y="5745685"/>
            <a:chExt cx="10317054" cy="4484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528C960-45FF-D258-F0C2-4E22ADE81CD7}"/>
                </a:ext>
              </a:extLst>
            </p:cNvPr>
            <p:cNvSpPr/>
            <p:nvPr/>
          </p:nvSpPr>
          <p:spPr>
            <a:xfrm>
              <a:off x="710880" y="5745686"/>
              <a:ext cx="10317054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AOP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是一种思想，而在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Spring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框架中对这种思想进行的实现，那我们要学习的就是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Spring AOP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6E2FAD4F-BCBA-F741-3E23-C81E6C2A7B07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pic>
          <p:nvPicPr>
            <p:cNvPr id="8" name="图形 7" descr="发送 纯色填充">
              <a:extLst>
                <a:ext uri="{FF2B5EF4-FFF2-40B4-BE49-F238E27FC236}">
                  <a16:creationId xmlns:a16="http://schemas.microsoft.com/office/drawing/2014/main" id="{F748545E-070B-DB24-DC00-CC82C9F8A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4CF1375-4462-0E91-6040-AB4E01F62CAF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347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274DC9-6CC6-01C4-2FB0-07C84E3E4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基础</a:t>
            </a:r>
            <a:endParaRPr lang="en-US" altLang="zh-CN"/>
          </a:p>
          <a:p>
            <a:r>
              <a:rPr lang="en-US" altLang="zh-CN"/>
              <a:t>AOP</a:t>
            </a:r>
            <a:r>
              <a:rPr lang="zh-CN" altLang="en-US"/>
              <a:t>进阶</a:t>
            </a:r>
            <a:endParaRPr lang="en-US" altLang="zh-CN"/>
          </a:p>
          <a:p>
            <a:r>
              <a:rPr lang="en-US" altLang="zh-CN"/>
              <a:t>AOP</a:t>
            </a:r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179869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D6E136-7995-A952-C732-CD8F6AC46D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基础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736104-3BDC-3F1F-A0DC-7DCF115B1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快速入门</a:t>
            </a:r>
            <a:endParaRPr lang="en-US" altLang="zh-CN"/>
          </a:p>
          <a:p>
            <a:r>
              <a:rPr lang="en-US" altLang="zh-CN"/>
              <a:t>AOP</a:t>
            </a:r>
            <a:r>
              <a:rPr lang="zh-CN" altLang="en-US"/>
              <a:t>核心概念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F05397-1F87-709F-44D6-8890400AB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快速入门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需求：统计所有业务层方法的执行耗时。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988900C-0931-A173-40F3-FC61AF4B4DCC}"/>
              </a:ext>
            </a:extLst>
          </p:cNvPr>
          <p:cNvGrpSpPr/>
          <p:nvPr/>
        </p:nvGrpSpPr>
        <p:grpSpPr>
          <a:xfrm>
            <a:off x="898585" y="1703924"/>
            <a:ext cx="4042050" cy="4483523"/>
            <a:chOff x="2297721" y="3660322"/>
            <a:chExt cx="4453587" cy="428418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883664B-8CED-7A9C-966B-CC4510A500BC}"/>
                </a:ext>
              </a:extLst>
            </p:cNvPr>
            <p:cNvSpPr/>
            <p:nvPr/>
          </p:nvSpPr>
          <p:spPr>
            <a:xfrm>
              <a:off x="2297729" y="3660323"/>
              <a:ext cx="4453579" cy="4284184"/>
            </a:xfrm>
            <a:prstGeom prst="roundRect">
              <a:avLst>
                <a:gd name="adj" fmla="val 18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1B48BA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long</a:t>
              </a: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beginTime = System.currentTimeMillis();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.list();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long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</a:t>
              </a:r>
              <a:r>
                <a:rPr lang="en-US" altLang="zh-CN" sz="10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 </a:t>
              </a:r>
              <a:r>
                <a:rPr lang="zh-CN" altLang="en-US" sz="100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: {} ms"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-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80000"/>
                </a:lnSpc>
              </a:pP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delete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id)  {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1B48BA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long</a:t>
              </a:r>
              <a:r>
                <a:rPr lang="en-US" altLang="zh-CN" sz="10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beginTime = System.currentTimeMillis();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.delete(id);</a:t>
              </a:r>
            </a:p>
            <a:p>
              <a:pPr>
                <a:lnSpc>
                  <a:spcPct val="18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</a:rPr>
                <a:t>  long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</a:rPr>
                <a:t>currentTimeMillis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</a:t>
              </a:r>
              <a:r>
                <a:rPr lang="en-US" altLang="zh-CN" sz="10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 </a:t>
              </a:r>
              <a:r>
                <a:rPr lang="zh-CN" altLang="en-US" sz="1000">
                  <a:solidFill>
                    <a:srgbClr val="067D17"/>
                  </a:solidFill>
                  <a:effectLst/>
                  <a:ea typeface="宋体" panose="02010600030101010101" pitchFamily="2" charset="-122"/>
                </a:rPr>
                <a:t>执行耗时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: {} ms"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-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beginTime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其他方法省略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36A8388-F65C-9C38-EB22-FEBD504623CF}"/>
                </a:ext>
              </a:extLst>
            </p:cNvPr>
            <p:cNvSpPr/>
            <p:nvPr/>
          </p:nvSpPr>
          <p:spPr>
            <a:xfrm>
              <a:off x="2297721" y="3660322"/>
              <a:ext cx="4447775" cy="270190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原始方式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0406699-FEAC-EB6C-B1CF-8499A57B134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5C4E984-CBAE-EC83-1AE8-1359E844686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A7D8A97-296A-D37C-A842-13A09516F39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E0E0F5-B70C-790C-277F-E5A1D2FF9D0C}"/>
              </a:ext>
            </a:extLst>
          </p:cNvPr>
          <p:cNvGrpSpPr/>
          <p:nvPr/>
        </p:nvGrpSpPr>
        <p:grpSpPr>
          <a:xfrm>
            <a:off x="5020579" y="2470407"/>
            <a:ext cx="3317520" cy="2950558"/>
            <a:chOff x="2297722" y="3660322"/>
            <a:chExt cx="3655289" cy="281937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C46723B-5B3F-8105-A115-513E53606E28}"/>
                </a:ext>
              </a:extLst>
            </p:cNvPr>
            <p:cNvSpPr/>
            <p:nvPr/>
          </p:nvSpPr>
          <p:spPr>
            <a:xfrm>
              <a:off x="2297730" y="3660323"/>
              <a:ext cx="3655281" cy="2819375"/>
            </a:xfrm>
            <a:prstGeom prst="roundRect">
              <a:avLst>
                <a:gd name="adj" fmla="val 24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80000"/>
                </a:lnSpc>
                <a:spcBef>
                  <a:spcPts val="600"/>
                </a:spcBef>
              </a:pP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.list();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80000"/>
                </a:lnSpc>
                <a:spcBef>
                  <a:spcPts val="600"/>
                </a:spcBef>
              </a:pP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void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delete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id)  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en-US" altLang="zh-CN" sz="10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.delete(id);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br>
                <a:rPr lang="zh-CN" altLang="en-US" sz="100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其他方法省略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71770B79-1ECA-27A4-D046-055B97442704}"/>
                </a:ext>
              </a:extLst>
            </p:cNvPr>
            <p:cNvSpPr/>
            <p:nvPr/>
          </p:nvSpPr>
          <p:spPr>
            <a:xfrm>
              <a:off x="2297722" y="3660322"/>
              <a:ext cx="3655281" cy="270190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DeptServiceImpl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CDC95C1-A7CA-77A5-390A-E4A63626085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63DC362-3EC8-CFD7-E347-EFABD1AEBBF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438B6AA-69AC-63FD-539D-A3E437BF48F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2F567E2A-94AB-AF99-D251-463993F52EC5}"/>
              </a:ext>
            </a:extLst>
          </p:cNvPr>
          <p:cNvSpPr/>
          <p:nvPr/>
        </p:nvSpPr>
        <p:spPr>
          <a:xfrm>
            <a:off x="894850" y="2316858"/>
            <a:ext cx="4042044" cy="282762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019368-1C69-7201-15C3-0AFA668787B8}"/>
              </a:ext>
            </a:extLst>
          </p:cNvPr>
          <p:cNvSpPr/>
          <p:nvPr/>
        </p:nvSpPr>
        <p:spPr>
          <a:xfrm>
            <a:off x="897467" y="2916904"/>
            <a:ext cx="4039427" cy="515201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709366-10EE-2F06-61F4-4422807E3470}"/>
              </a:ext>
            </a:extLst>
          </p:cNvPr>
          <p:cNvSpPr/>
          <p:nvPr/>
        </p:nvSpPr>
        <p:spPr>
          <a:xfrm>
            <a:off x="895934" y="4516467"/>
            <a:ext cx="4039427" cy="276062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002D01-6A5D-BBF4-2DC9-5C438C8B82D5}"/>
              </a:ext>
            </a:extLst>
          </p:cNvPr>
          <p:cNvSpPr/>
          <p:nvPr/>
        </p:nvSpPr>
        <p:spPr>
          <a:xfrm>
            <a:off x="897467" y="5074854"/>
            <a:ext cx="4037894" cy="504059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0111F2-A927-F5A5-5357-D8CC26D80AA8}"/>
              </a:ext>
            </a:extLst>
          </p:cNvPr>
          <p:cNvSpPr/>
          <p:nvPr/>
        </p:nvSpPr>
        <p:spPr>
          <a:xfrm>
            <a:off x="8410872" y="3515912"/>
            <a:ext cx="3629629" cy="8617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0" tIns="0" rIns="0" bIns="0" rtlCol="0" anchor="ctr">
            <a:spAutoFit/>
          </a:bodyPr>
          <a:lstStyle/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获取方法运行的开始时间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运行原始方法</a:t>
            </a:r>
            <a:endParaRPr lang="en-US" altLang="zh-CN" sz="12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获取方法运行结束时间，计算执行耗时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851475-FB4E-C71C-5748-D79608862857}"/>
              </a:ext>
            </a:extLst>
          </p:cNvPr>
          <p:cNvSpPr/>
          <p:nvPr/>
        </p:nvSpPr>
        <p:spPr>
          <a:xfrm>
            <a:off x="8410871" y="3520021"/>
            <a:ext cx="3629629" cy="296340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4CFF67-4492-4E47-28E8-B610D47F6C18}"/>
              </a:ext>
            </a:extLst>
          </p:cNvPr>
          <p:cNvSpPr/>
          <p:nvPr/>
        </p:nvSpPr>
        <p:spPr>
          <a:xfrm>
            <a:off x="8418043" y="4078073"/>
            <a:ext cx="3629629" cy="29634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344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uiExpand="1" build="allAtOnce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DD1DE4D7-D280-CCE8-4028-545E92ED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SpringAOP</a:t>
            </a:r>
            <a:r>
              <a:rPr lang="zh-CN" altLang="en-US"/>
              <a:t>快速入门：统计所有业务层方法的执行耗时</a:t>
            </a:r>
          </a:p>
        </p:txBody>
      </p:sp>
      <p:sp>
        <p:nvSpPr>
          <p:cNvPr id="14" name="文本占位符 6">
            <a:extLst>
              <a:ext uri="{FF2B5EF4-FFF2-40B4-BE49-F238E27FC236}">
                <a16:creationId xmlns:a16="http://schemas.microsoft.com/office/drawing/2014/main" id="{D3FE1B82-56B6-6367-1282-3266A0A22E33}"/>
              </a:ext>
            </a:extLst>
          </p:cNvPr>
          <p:cNvSpPr txBox="1">
            <a:spLocks/>
          </p:cNvSpPr>
          <p:nvPr/>
        </p:nvSpPr>
        <p:spPr>
          <a:xfrm>
            <a:off x="578088" y="1063685"/>
            <a:ext cx="10652298" cy="21784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导入依赖：在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pom.xml</a:t>
            </a:r>
            <a:r>
              <a:rPr lang="zh-CN" altLang="en-US">
                <a:latin typeface="Fira Code" panose="020B0809050000020004" pitchFamily="49" charset="0"/>
              </a:rPr>
              <a:t>中引入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AOP</a:t>
            </a:r>
            <a:r>
              <a:rPr lang="zh-CN" altLang="en-US">
                <a:latin typeface="Fira Code" panose="020B0809050000020004" pitchFamily="49" charset="0"/>
              </a:rPr>
              <a:t>的依赖</a:t>
            </a:r>
            <a:endParaRPr lang="en-US" altLang="zh-CN">
              <a:latin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latin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编写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AOP</a:t>
            </a:r>
            <a:r>
              <a:rPr lang="zh-CN" altLang="en-US">
                <a:latin typeface="Fira Code" panose="020B0809050000020004" pitchFamily="49" charset="0"/>
              </a:rPr>
              <a:t>程序：针对于特定的方法根据业务需要进行编程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F41F59E-8ED5-4003-BC42-3262D224DA55}"/>
              </a:ext>
            </a:extLst>
          </p:cNvPr>
          <p:cNvGrpSpPr/>
          <p:nvPr/>
        </p:nvGrpSpPr>
        <p:grpSpPr>
          <a:xfrm>
            <a:off x="1006725" y="1466074"/>
            <a:ext cx="6198749" cy="1298459"/>
            <a:chOff x="2297722" y="3660322"/>
            <a:chExt cx="6829868" cy="1240729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65D00142-FF47-C635-27D3-5AD4262341E1}"/>
                </a:ext>
              </a:extLst>
            </p:cNvPr>
            <p:cNvSpPr/>
            <p:nvPr/>
          </p:nvSpPr>
          <p:spPr>
            <a:xfrm>
              <a:off x="2297729" y="3660323"/>
              <a:ext cx="6829861" cy="1240728"/>
            </a:xfrm>
            <a:prstGeom prst="roundRect">
              <a:avLst>
                <a:gd name="adj" fmla="val 35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2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&gt;org.springframework.boot&lt;/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groupId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&gt;spring-boot-starter-aop&lt;/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artifactId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dependency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8E56EE51-F99C-8BAA-7C4B-C05E3E6E8FA5}"/>
                </a:ext>
              </a:extLst>
            </p:cNvPr>
            <p:cNvSpPr/>
            <p:nvPr/>
          </p:nvSpPr>
          <p:spPr>
            <a:xfrm>
              <a:off x="2297722" y="3660322"/>
              <a:ext cx="6829861" cy="270190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4FBEA85-E8E6-35FB-C1C7-90ED08F1A20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9A9D514-869B-F569-61AF-E7E557D27CC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7420A79-301D-66DE-9A82-2BB79B72E23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C69C145-1C53-EBA9-9E45-8D75568A3F3A}"/>
              </a:ext>
            </a:extLst>
          </p:cNvPr>
          <p:cNvGrpSpPr/>
          <p:nvPr/>
        </p:nvGrpSpPr>
        <p:grpSpPr>
          <a:xfrm>
            <a:off x="1006706" y="3375210"/>
            <a:ext cx="6198762" cy="3012824"/>
            <a:chOff x="2297722" y="3660323"/>
            <a:chExt cx="6829882" cy="2774404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29BD3AC-2541-4486-2B0D-1BEB4DD8E165}"/>
                </a:ext>
              </a:extLst>
            </p:cNvPr>
            <p:cNvSpPr/>
            <p:nvPr/>
          </p:nvSpPr>
          <p:spPr>
            <a:xfrm>
              <a:off x="2297729" y="3660323"/>
              <a:ext cx="6829875" cy="2774404"/>
            </a:xfrm>
            <a:prstGeom prst="roundRect">
              <a:avLst>
                <a:gd name="adj" fmla="val 19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@Aspect</a:t>
              </a: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@Component</a:t>
              </a:r>
              <a:b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RecordTimeApsect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@Around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"execution(* com.itheima.service.impl.*.*(..))"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Object </a:t>
              </a:r>
              <a:r>
                <a:rPr lang="en-US" altLang="zh-CN" sz="10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recordTime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ProceedingJoinPoint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pjp)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throws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Throwable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{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long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beginTime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currentTimeMillis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Object result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pjp.proceed();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long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currentTimeMillis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 i="1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log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.info(</a:t>
              </a:r>
              <a:r>
                <a:rPr lang="en-US" altLang="zh-CN" sz="10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 </a:t>
              </a:r>
              <a:r>
                <a:rPr lang="zh-CN" altLang="en-US" sz="10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执行耗时</a:t>
              </a:r>
              <a:r>
                <a:rPr lang="en-US" altLang="zh-CN" sz="10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: {} ms"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endTime 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beginTime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0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</a:t>
              </a: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E530C0E5-37A4-9FF7-5913-FEF9B7B6FBAA}"/>
                </a:ext>
              </a:extLst>
            </p:cNvPr>
            <p:cNvSpPr/>
            <p:nvPr/>
          </p:nvSpPr>
          <p:spPr>
            <a:xfrm>
              <a:off x="2297722" y="3660323"/>
              <a:ext cx="6829875" cy="247482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AOP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程序 </a:t>
              </a: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RecordTimeAspect</a:t>
              </a: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14233ED-534D-FD0C-7B8E-94AEF4303DD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5A9E043-6E7A-18CD-6740-DC91EEA51E4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F131A41-DC1A-14B7-C1B4-E8A43FBAD3B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68D7585-8938-B625-B838-17A3C917070D}"/>
              </a:ext>
            </a:extLst>
          </p:cNvPr>
          <p:cNvSpPr/>
          <p:nvPr/>
        </p:nvSpPr>
        <p:spPr>
          <a:xfrm>
            <a:off x="7924232" y="1193992"/>
            <a:ext cx="3629629" cy="8617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0" tIns="0" rIns="0" bIns="0" rtlCol="0" anchor="ctr">
            <a:spAutoFit/>
          </a:bodyPr>
          <a:lstStyle/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获取方法运行的开始时间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运行原始方法</a:t>
            </a:r>
            <a:endParaRPr lang="en-US" altLang="zh-CN" sz="12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414900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获取方法运行结束时间，计算执行耗时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BF6F36-B88C-7D14-D57C-A4CBD09D75E1}"/>
              </a:ext>
            </a:extLst>
          </p:cNvPr>
          <p:cNvSpPr/>
          <p:nvPr/>
        </p:nvSpPr>
        <p:spPr>
          <a:xfrm>
            <a:off x="7924231" y="1198101"/>
            <a:ext cx="3629629" cy="296340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96ED7A-36F5-F418-E667-20A57A62BDD0}"/>
              </a:ext>
            </a:extLst>
          </p:cNvPr>
          <p:cNvSpPr/>
          <p:nvPr/>
        </p:nvSpPr>
        <p:spPr>
          <a:xfrm>
            <a:off x="7931403" y="1756153"/>
            <a:ext cx="3629629" cy="29634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BFD3175-B878-29D0-6925-D774FBFED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02" y="4279944"/>
            <a:ext cx="5755390" cy="26875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83A876D-A800-4EC3-5748-7E99010C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78" y="3676312"/>
            <a:ext cx="1501770" cy="42887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DF5F18D-E65F-52ED-E0BC-8C8145E70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96" y="4979357"/>
            <a:ext cx="4197232" cy="26875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D2D1227B-B692-BE08-B45A-75FB6A942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96" y="4741170"/>
            <a:ext cx="4197232" cy="26875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278E2B7-C9EF-8B42-5D9B-6F4B841A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80" y="5217543"/>
            <a:ext cx="4197232" cy="474775"/>
          </a:xfrm>
          <a:prstGeom prst="rect">
            <a:avLst/>
          </a:prstGeom>
        </p:spPr>
      </p:pic>
      <p:sp>
        <p:nvSpPr>
          <p:cNvPr id="35" name="矩形 111">
            <a:extLst>
              <a:ext uri="{FF2B5EF4-FFF2-40B4-BE49-F238E27FC236}">
                <a16:creationId xmlns:a16="http://schemas.microsoft.com/office/drawing/2014/main" id="{1E70BD85-35FF-EF81-48F1-E9EEA579CEAD}"/>
              </a:ext>
            </a:extLst>
          </p:cNvPr>
          <p:cNvSpPr/>
          <p:nvPr/>
        </p:nvSpPr>
        <p:spPr>
          <a:xfrm>
            <a:off x="1006706" y="4745644"/>
            <a:ext cx="6198750" cy="268750"/>
          </a:xfrm>
          <a:prstGeom prst="rect">
            <a:avLst/>
          </a:prstGeom>
          <a:solidFill>
            <a:srgbClr val="8C61FF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112">
            <a:extLst>
              <a:ext uri="{FF2B5EF4-FFF2-40B4-BE49-F238E27FC236}">
                <a16:creationId xmlns:a16="http://schemas.microsoft.com/office/drawing/2014/main" id="{A964316D-21D3-18E5-8E19-D2C299F927FB}"/>
              </a:ext>
            </a:extLst>
          </p:cNvPr>
          <p:cNvSpPr/>
          <p:nvPr/>
        </p:nvSpPr>
        <p:spPr>
          <a:xfrm>
            <a:off x="1006706" y="5236838"/>
            <a:ext cx="6198750" cy="45548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  <a:prstDash val="lgDash"/>
          </a:ln>
        </p:spPr>
        <p:txBody>
          <a:bodyPr wrap="square" lIns="0" tIns="0" rIns="0" bIns="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26B756B-4646-872E-3B79-A4977AFC7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80" y="5711613"/>
            <a:ext cx="1310754" cy="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45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3AF4C7-3CE6-AB1A-5636-284A970573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1617" y="1359878"/>
            <a:ext cx="7582200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SpringAOP</a:t>
            </a:r>
            <a:r>
              <a:rPr lang="zh-CN" altLang="en-US"/>
              <a:t>程序的开发步骤 </a:t>
            </a:r>
            <a:r>
              <a:rPr lang="en-US" altLang="zh-CN"/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AOP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的依赖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AOP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的程序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公共的逻辑代码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SpringAOP</a:t>
            </a:r>
            <a:r>
              <a:rPr lang="zh-CN" altLang="en-US"/>
              <a:t>的应用场景 </a:t>
            </a:r>
            <a:r>
              <a:rPr lang="en-US" altLang="zh-CN"/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记录系统的操作日志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事务管理</a:t>
            </a:r>
            <a:endParaRPr lang="en-US" altLang="zh-CN" sz="16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权限控制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  <a:endParaRPr lang="zh-CN" altLang="en-US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072727-5B73-AFC9-7843-132BC4C8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600" y="652194"/>
            <a:ext cx="3970157" cy="1201302"/>
          </a:xfrm>
          <a:prstGeom prst="roundRect">
            <a:avLst>
              <a:gd name="adj" fmla="val 4993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19FFF3-E6A0-B667-AAA7-3627DBC7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600" y="2005140"/>
            <a:ext cx="5018069" cy="2671873"/>
          </a:xfrm>
          <a:prstGeom prst="roundRect">
            <a:avLst>
              <a:gd name="adj" fmla="val 2445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647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D6E136-7995-A952-C732-CD8F6AC46D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基础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736104-3BDC-3F1F-A0DC-7DCF115B1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快速入门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AOP</a:t>
            </a:r>
            <a:r>
              <a:rPr lang="zh-CN" altLang="en-US">
                <a:solidFill>
                  <a:srgbClr val="C00000"/>
                </a:solidFill>
              </a:rPr>
              <a:t>核心概念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F05397-1F87-709F-44D6-8890400AB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1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8C8DC9CB-006A-B9F3-A3D9-5266F0DC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93"/>
          <a:stretch/>
        </p:blipFill>
        <p:spPr>
          <a:xfrm>
            <a:off x="995201" y="3367760"/>
            <a:ext cx="6140884" cy="3207544"/>
          </a:xfrm>
          <a:prstGeom prst="roundRect">
            <a:avLst>
              <a:gd name="adj" fmla="val 2445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27105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400" b="1">
                <a:latin typeface="Fira Code" panose="020B0809050000020004" pitchFamily="49" charset="0"/>
              </a:rPr>
              <a:t>连接点：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JoinPoint</a:t>
            </a:r>
            <a:r>
              <a:rPr lang="zh-CN" altLang="en-US" sz="1400">
                <a:latin typeface="Fira Code" panose="020B0809050000020004" pitchFamily="49" charset="0"/>
              </a:rPr>
              <a:t>，可以被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AOP</a:t>
            </a:r>
            <a:r>
              <a:rPr lang="zh-CN" altLang="en-US" sz="1400">
                <a:latin typeface="Fira Code" panose="020B0809050000020004" pitchFamily="49" charset="0"/>
              </a:rPr>
              <a:t>控制的方法（暗含方法执行时的相关信息）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400" b="1">
                <a:latin typeface="Fira Code" panose="020B0809050000020004" pitchFamily="49" charset="0"/>
              </a:rPr>
              <a:t>通知：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Advice</a:t>
            </a:r>
            <a:r>
              <a:rPr lang="zh-CN" altLang="en-US" sz="1400">
                <a:latin typeface="Fira Code" panose="020B0809050000020004" pitchFamily="49" charset="0"/>
              </a:rPr>
              <a:t>，指那些重复的逻辑，也就是共性功能（最终体现为一个方法）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400" b="1">
                <a:latin typeface="Fira Code" panose="020B0809050000020004" pitchFamily="49" charset="0"/>
              </a:rPr>
              <a:t>切入点：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PointCut</a:t>
            </a:r>
            <a:r>
              <a:rPr lang="zh-CN" altLang="en-US" sz="1400">
                <a:latin typeface="Fira Code" panose="020B0809050000020004" pitchFamily="49" charset="0"/>
              </a:rPr>
              <a:t>，匹配连接点的条件，通知仅会在切入点方法执行时被应用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400" b="1">
                <a:latin typeface="Fira Code" panose="020B0809050000020004" pitchFamily="49" charset="0"/>
              </a:rPr>
              <a:t>切面：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Aspect</a:t>
            </a:r>
            <a:r>
              <a:rPr lang="zh-CN" altLang="en-US" sz="1400">
                <a:latin typeface="Fira Code" panose="020B0809050000020004" pitchFamily="49" charset="0"/>
              </a:rPr>
              <a:t>，描述通知与切入点的对应关系（通知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+</a:t>
            </a:r>
            <a:r>
              <a:rPr lang="zh-CN" altLang="en-US" sz="1400">
                <a:latin typeface="Fira Code" panose="020B0809050000020004" pitchFamily="49" charset="0"/>
              </a:rPr>
              <a:t>切入点）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400" b="1">
                <a:latin typeface="Fira Code" panose="020B0809050000020004" pitchFamily="49" charset="0"/>
              </a:rPr>
              <a:t>目标对象：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Target</a:t>
            </a:r>
            <a:r>
              <a:rPr lang="zh-CN" altLang="en-US" sz="1400">
                <a:latin typeface="Fira Code" panose="020B0809050000020004" pitchFamily="49" charset="0"/>
              </a:rPr>
              <a:t>，通知所应用的对象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" name="!!图片 22">
            <a:extLst>
              <a:ext uri="{FF2B5EF4-FFF2-40B4-BE49-F238E27FC236}">
                <a16:creationId xmlns:a16="http://schemas.microsoft.com/office/drawing/2014/main" id="{3D6BC4F8-A2D1-BE9D-A7A0-2A8EE29E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71" y="1370213"/>
            <a:ext cx="3966964" cy="5185565"/>
          </a:xfrm>
          <a:prstGeom prst="roundRect">
            <a:avLst>
              <a:gd name="adj" fmla="val 1521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0C83CE0-1E70-390A-5712-9169FB660FE3}"/>
              </a:ext>
            </a:extLst>
          </p:cNvPr>
          <p:cNvSpPr/>
          <p:nvPr/>
        </p:nvSpPr>
        <p:spPr>
          <a:xfrm>
            <a:off x="7632884" y="2282981"/>
            <a:ext cx="3966963" cy="1031891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61C9FD-A3F9-750F-4487-5061042581D5}"/>
              </a:ext>
            </a:extLst>
          </p:cNvPr>
          <p:cNvSpPr/>
          <p:nvPr/>
        </p:nvSpPr>
        <p:spPr>
          <a:xfrm>
            <a:off x="7636385" y="3336069"/>
            <a:ext cx="3966963" cy="818685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D2D95C-0D5C-19BC-E9E7-0B3DF22E5D01}"/>
              </a:ext>
            </a:extLst>
          </p:cNvPr>
          <p:cNvSpPr/>
          <p:nvPr/>
        </p:nvSpPr>
        <p:spPr>
          <a:xfrm>
            <a:off x="7622731" y="4177668"/>
            <a:ext cx="3977116" cy="1310119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9EE6D4-FF3F-CEF8-07EA-968669E35402}"/>
              </a:ext>
            </a:extLst>
          </p:cNvPr>
          <p:cNvSpPr txBox="1"/>
          <p:nvPr/>
        </p:nvSpPr>
        <p:spPr>
          <a:xfrm>
            <a:off x="10770411" y="4182843"/>
            <a:ext cx="958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连接点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2075FE-D731-97CC-EAC5-D9784DC10866}"/>
              </a:ext>
            </a:extLst>
          </p:cNvPr>
          <p:cNvSpPr txBox="1"/>
          <p:nvPr/>
        </p:nvSpPr>
        <p:spPr>
          <a:xfrm>
            <a:off x="9539788" y="1351354"/>
            <a:ext cx="1230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目标对象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DB070C-626B-101F-C370-459FD6A37F45}"/>
              </a:ext>
            </a:extLst>
          </p:cNvPr>
          <p:cNvSpPr/>
          <p:nvPr/>
        </p:nvSpPr>
        <p:spPr>
          <a:xfrm>
            <a:off x="7632158" y="5508704"/>
            <a:ext cx="3977116" cy="818685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A23EFE-02B1-2738-F050-EE0FA20648E4}"/>
              </a:ext>
            </a:extLst>
          </p:cNvPr>
          <p:cNvSpPr/>
          <p:nvPr/>
        </p:nvSpPr>
        <p:spPr>
          <a:xfrm>
            <a:off x="997979" y="4274267"/>
            <a:ext cx="6140884" cy="2053122"/>
          </a:xfrm>
          <a:prstGeom prst="rect">
            <a:avLst/>
          </a:prstGeom>
          <a:solidFill>
            <a:srgbClr val="00B05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AC4B4B-BBF2-865C-6CE4-ECA3A8FD8798}"/>
              </a:ext>
            </a:extLst>
          </p:cNvPr>
          <p:cNvSpPr txBox="1"/>
          <p:nvPr/>
        </p:nvSpPr>
        <p:spPr>
          <a:xfrm>
            <a:off x="3654402" y="3671829"/>
            <a:ext cx="1793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切入点表达式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F33F6B-59AC-3938-6E33-F8CA2D3915F0}"/>
              </a:ext>
            </a:extLst>
          </p:cNvPr>
          <p:cNvSpPr txBox="1"/>
          <p:nvPr/>
        </p:nvSpPr>
        <p:spPr>
          <a:xfrm>
            <a:off x="5834013" y="5031278"/>
            <a:ext cx="82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通知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7C1FEE-6FB5-CB13-1067-9A923413A58E}"/>
              </a:ext>
            </a:extLst>
          </p:cNvPr>
          <p:cNvSpPr txBox="1"/>
          <p:nvPr/>
        </p:nvSpPr>
        <p:spPr>
          <a:xfrm>
            <a:off x="6744696" y="5108594"/>
            <a:ext cx="82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切 面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680AB8-E618-7947-F97D-2F989377408E}"/>
              </a:ext>
            </a:extLst>
          </p:cNvPr>
          <p:cNvSpPr/>
          <p:nvPr/>
        </p:nvSpPr>
        <p:spPr>
          <a:xfrm>
            <a:off x="1882684" y="4055455"/>
            <a:ext cx="3249154" cy="200315"/>
          </a:xfrm>
          <a:prstGeom prst="rect">
            <a:avLst/>
          </a:prstGeom>
          <a:solidFill>
            <a:srgbClr val="FFC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AF5E7F-0614-7BE0-B2CF-9E4BA93D6739}"/>
              </a:ext>
            </a:extLst>
          </p:cNvPr>
          <p:cNvSpPr txBox="1"/>
          <p:nvPr/>
        </p:nvSpPr>
        <p:spPr>
          <a:xfrm>
            <a:off x="1734291" y="3314872"/>
            <a:ext cx="1181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切 面类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90A4A8-1B7B-D355-99D7-E5936986DEA7}"/>
              </a:ext>
            </a:extLst>
          </p:cNvPr>
          <p:cNvSpPr txBox="1"/>
          <p:nvPr/>
        </p:nvSpPr>
        <p:spPr>
          <a:xfrm>
            <a:off x="7596715" y="2707570"/>
            <a:ext cx="961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切入点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48C52C-1650-A2FC-6180-308A836DD791}"/>
              </a:ext>
            </a:extLst>
          </p:cNvPr>
          <p:cNvSpPr/>
          <p:nvPr/>
        </p:nvSpPr>
        <p:spPr>
          <a:xfrm>
            <a:off x="995201" y="4028785"/>
            <a:ext cx="6140884" cy="229860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8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2" grpId="0" animBg="1"/>
      <p:bldP spid="13" grpId="0"/>
      <p:bldP spid="14" grpId="0"/>
      <p:bldP spid="16" grpId="0"/>
      <p:bldP spid="17" grpId="0" animBg="1"/>
      <p:bldP spid="18" grpId="0"/>
      <p:bldP spid="19" grpId="0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执行流程</a:t>
            </a:r>
          </a:p>
        </p:txBody>
      </p:sp>
      <p:pic>
        <p:nvPicPr>
          <p:cNvPr id="4" name="!!图片 22">
            <a:extLst>
              <a:ext uri="{FF2B5EF4-FFF2-40B4-BE49-F238E27FC236}">
                <a16:creationId xmlns:a16="http://schemas.microsoft.com/office/drawing/2014/main" id="{F8BB6751-7B48-EEDD-0865-3A2EDECCC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6" y="1665399"/>
            <a:ext cx="4899295" cy="1851902"/>
          </a:xfrm>
          <a:prstGeom prst="roundRect">
            <a:avLst>
              <a:gd name="adj" fmla="val 1521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" name="!!图片 20">
            <a:extLst>
              <a:ext uri="{FF2B5EF4-FFF2-40B4-BE49-F238E27FC236}">
                <a16:creationId xmlns:a16="http://schemas.microsoft.com/office/drawing/2014/main" id="{9093644D-7AD1-C62E-08EA-001D9F5EC7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58"/>
          <a:stretch/>
        </p:blipFill>
        <p:spPr>
          <a:xfrm>
            <a:off x="681358" y="1672000"/>
            <a:ext cx="5317666" cy="2403356"/>
          </a:xfrm>
          <a:prstGeom prst="roundRect">
            <a:avLst>
              <a:gd name="adj" fmla="val 2445"/>
            </a:avLst>
          </a:prstGeom>
          <a:ln w="3175">
            <a:solidFill>
              <a:schemeClr val="tx1"/>
            </a:solidFill>
            <a:prstDash val="dash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3">
            <a:extLst>
              <a:ext uri="{FF2B5EF4-FFF2-40B4-BE49-F238E27FC236}">
                <a16:creationId xmlns:a16="http://schemas.microsoft.com/office/drawing/2014/main" id="{48E67F02-E709-18DD-53C0-6695E7A2A4AC}"/>
              </a:ext>
            </a:extLst>
          </p:cNvPr>
          <p:cNvSpPr/>
          <p:nvPr/>
        </p:nvSpPr>
        <p:spPr>
          <a:xfrm>
            <a:off x="6405352" y="4175700"/>
            <a:ext cx="4960134" cy="2165811"/>
          </a:xfrm>
          <a:prstGeom prst="roundRect">
            <a:avLst>
              <a:gd name="adj" fmla="val 322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C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</a:t>
            </a:r>
            <a:r>
              <a:rPr lang="en-US" altLang="zh-CN" sz="1050">
                <a:solidFill>
                  <a:srgbClr val="C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Proxy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implements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 {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@Override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List&lt;Dept&gt; </a:t>
            </a:r>
            <a:r>
              <a:rPr lang="zh-CN" altLang="zh-CN" sz="1050">
                <a:solidFill>
                  <a:srgbClr val="27798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endParaRPr lang="en-US" altLang="zh-CN" sz="1050">
              <a:solidFill>
                <a:schemeClr val="tx1">
                  <a:lumMod val="95000"/>
                  <a:lumOff val="5000"/>
                </a:schemeClr>
              </a:solidFill>
              <a:latin typeface="Tenorite" panose="020B0604020202020204" pitchFamily="2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 = System.currentTimeMillis();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deptList 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目标对象</a:t>
            </a:r>
            <a:r>
              <a:rPr lang="en-US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.list()</a:t>
            </a:r>
            <a:r>
              <a:rPr lang="zh-CN" altLang="en-US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；</a:t>
            </a:r>
            <a:r>
              <a:rPr lang="en-US" altLang="zh-CN" sz="1050">
                <a:solidFill>
                  <a:schemeClr val="bg1">
                    <a:lumMod val="50000"/>
                  </a:schemeClr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伪代码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end = System.currentTimeMillis();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8C1B9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log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.info(</a:t>
            </a:r>
            <a:r>
              <a:rPr lang="zh-CN" altLang="zh-CN" sz="1050">
                <a:solidFill>
                  <a:srgbClr val="00B05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"执行耗时 : {} ms"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(end-begin));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deptList;</a:t>
            </a: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</a:p>
        </p:txBody>
      </p:sp>
      <p:sp>
        <p:nvSpPr>
          <p:cNvPr id="8" name="矩形: 圆角 3">
            <a:extLst>
              <a:ext uri="{FF2B5EF4-FFF2-40B4-BE49-F238E27FC236}">
                <a16:creationId xmlns:a16="http://schemas.microsoft.com/office/drawing/2014/main" id="{01D84B44-6662-F761-A271-6CAE2275FB62}"/>
              </a:ext>
            </a:extLst>
          </p:cNvPr>
          <p:cNvSpPr/>
          <p:nvPr/>
        </p:nvSpPr>
        <p:spPr>
          <a:xfrm>
            <a:off x="636621" y="1625667"/>
            <a:ext cx="5432889" cy="2510477"/>
          </a:xfrm>
          <a:prstGeom prst="roundRect">
            <a:avLst>
              <a:gd name="adj" fmla="val 281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</a:pPr>
            <a:r>
              <a:rPr kumimoji="0" lang="en-US" altLang="zh-CN" sz="1050" b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@Aspect</a:t>
            </a:r>
          </a:p>
          <a:p>
            <a:pPr>
              <a:lnSpc>
                <a:spcPct val="150000"/>
              </a:lnSpc>
            </a:pP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en-US" altLang="zh-CN" sz="1050" b="0" u="none" strike="noStrike" cap="none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Record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TimeAspect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@Around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"execution(* com.itheima.service.impl.</a:t>
            </a:r>
            <a:r>
              <a:rPr kumimoji="0" lang="en-US" altLang="zh-CN" sz="1050" b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.*(..))"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recordTime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ProceedingJoinPoint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joinPoint)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033B3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 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 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.currentTimeMillis();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 result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joinPoint.proceed();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050" b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//调用原始操作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033B3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 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end 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.currentTimeMillis();</a:t>
            </a:r>
            <a:b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871094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log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.info(</a:t>
            </a:r>
            <a:r>
              <a:rPr lang="zh-CN" altLang="zh-CN" sz="1050">
                <a:solidFill>
                  <a:srgbClr val="067D17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"执行耗时 : {} ms"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(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end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zh-CN" sz="1050">
                <a:solidFill>
                  <a:srgbClr val="000000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</a:t>
            </a:r>
            <a:r>
              <a:rPr lang="zh-CN" altLang="zh-CN" sz="1050">
                <a:solidFill>
                  <a:srgbClr val="08080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));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 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</a:t>
            </a: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endParaRPr kumimoji="0" lang="zh-CN" altLang="zh-CN" sz="1050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enorite" panose="020B0604020202020204" pitchFamily="2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3">
            <a:extLst>
              <a:ext uri="{FF2B5EF4-FFF2-40B4-BE49-F238E27FC236}">
                <a16:creationId xmlns:a16="http://schemas.microsoft.com/office/drawing/2014/main" id="{DA00E6F7-FDBB-2D00-AAFD-8368F74DF266}"/>
              </a:ext>
            </a:extLst>
          </p:cNvPr>
          <p:cNvSpPr/>
          <p:nvPr/>
        </p:nvSpPr>
        <p:spPr>
          <a:xfrm>
            <a:off x="636621" y="4548182"/>
            <a:ext cx="5432889" cy="1939350"/>
          </a:xfrm>
          <a:prstGeom prst="roundRect">
            <a:avLst>
              <a:gd name="adj" fmla="val 391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DeptController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@Autowired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8C1B98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en-US" altLang="zh-CN" sz="1050">
              <a:solidFill>
                <a:schemeClr val="tx1">
                  <a:lumMod val="95000"/>
                  <a:lumOff val="5000"/>
                </a:schemeClr>
              </a:solidFill>
              <a:latin typeface="Tenorite" panose="020B0604020202020204" pitchFamily="2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@GetMapping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rgbClr val="27798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(){</a:t>
            </a:r>
            <a:b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List&lt;Dept&gt; deptList = deptService.list();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zh-CN" sz="1050">
                <a:solidFill>
                  <a:srgbClr val="0D3DB6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zh-CN" sz="1050">
                <a:solidFill>
                  <a:srgbClr val="9E880D"/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Result.success(deptList);</a:t>
            </a:r>
            <a:b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zh-CN" altLang="zh-CN" sz="1050">
                <a:solidFill>
                  <a:schemeClr val="tx1">
                    <a:lumMod val="95000"/>
                    <a:lumOff val="5000"/>
                  </a:schemeClr>
                </a:solidFill>
                <a:latin typeface="Tenorite" panose="020B0604020202020204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</a:p>
        </p:txBody>
      </p:sp>
      <p:sp>
        <p:nvSpPr>
          <p:cNvPr id="10" name="矩形: 圆角 3">
            <a:extLst>
              <a:ext uri="{FF2B5EF4-FFF2-40B4-BE49-F238E27FC236}">
                <a16:creationId xmlns:a16="http://schemas.microsoft.com/office/drawing/2014/main" id="{684FA062-C6FA-C0A4-8A8F-6F599BBFD99D}"/>
              </a:ext>
            </a:extLst>
          </p:cNvPr>
          <p:cNvSpPr/>
          <p:nvPr/>
        </p:nvSpPr>
        <p:spPr>
          <a:xfrm>
            <a:off x="6405352" y="1625667"/>
            <a:ext cx="4960134" cy="1933033"/>
          </a:xfrm>
          <a:prstGeom prst="roundRect">
            <a:avLst>
              <a:gd name="adj" fmla="val 355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180000" rtlCol="0" anchor="ctr"/>
          <a:lstStyle/>
          <a:p>
            <a:pPr>
              <a:lnSpc>
                <a:spcPct val="15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DeptServiceImpl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implements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DeptService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@Autowired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DeptMapper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deptMapper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@Override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deptList 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050">
                <a:solidFill>
                  <a:srgbClr val="871094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deptMapper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.list();</a:t>
            </a:r>
            <a:b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050">
                <a:solidFill>
                  <a:srgbClr val="0033B3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 </a:t>
            </a:r>
            <a:r>
              <a:rPr lang="zh-CN" altLang="zh-CN" sz="1050">
                <a:solidFill>
                  <a:srgbClr val="000000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deptList</a:t>
            </a:r>
            <a:r>
              <a:rPr lang="zh-CN" altLang="zh-CN" sz="1050">
                <a:solidFill>
                  <a:srgbClr val="080808"/>
                </a:solidFill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Tenorite" panose="000005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endParaRPr kumimoji="0" lang="zh-CN" altLang="zh-CN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enorite" panose="00000500000000000000" pitchFamily="2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010DE30-10D4-BA45-CDBB-E7DE0BA9948A}"/>
              </a:ext>
            </a:extLst>
          </p:cNvPr>
          <p:cNvSpPr/>
          <p:nvPr/>
        </p:nvSpPr>
        <p:spPr>
          <a:xfrm>
            <a:off x="1269323" y="5060726"/>
            <a:ext cx="1559111" cy="264825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72000">
              <a:lnSpc>
                <a:spcPct val="200000"/>
              </a:lnSpc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1C0BB96-BC4D-F367-4BB4-46E631AC8CC7}"/>
              </a:ext>
            </a:extLst>
          </p:cNvPr>
          <p:cNvSpPr/>
          <p:nvPr/>
        </p:nvSpPr>
        <p:spPr>
          <a:xfrm>
            <a:off x="7183576" y="4181653"/>
            <a:ext cx="1050236" cy="302751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72000">
              <a:lnSpc>
                <a:spcPct val="200000"/>
              </a:lnSpc>
            </a:pPr>
            <a:endParaRPr lang="zh-CN" altLang="en-US" sz="7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EC7E1176-F88D-3330-8E30-4FF9781C1BBE}"/>
              </a:ext>
            </a:extLst>
          </p:cNvPr>
          <p:cNvCxnSpPr>
            <a:cxnSpLocks/>
            <a:stCxn id="11" idx="0"/>
            <a:endCxn id="12" idx="0"/>
          </p:cNvCxnSpPr>
          <p:nvPr/>
        </p:nvCxnSpPr>
        <p:spPr>
          <a:xfrm rot="5400000" flipH="1" flipV="1">
            <a:off x="4439250" y="1791283"/>
            <a:ext cx="879073" cy="5659815"/>
          </a:xfrm>
          <a:prstGeom prst="curvedConnector3">
            <a:avLst>
              <a:gd name="adj1" fmla="val 126005"/>
            </a:avLst>
          </a:prstGeom>
          <a:ln w="127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B1BE5C-414E-37C3-7D2C-22AF2BBF2041}"/>
              </a:ext>
            </a:extLst>
          </p:cNvPr>
          <p:cNvSpPr/>
          <p:nvPr/>
        </p:nvSpPr>
        <p:spPr>
          <a:xfrm>
            <a:off x="644241" y="2692333"/>
            <a:ext cx="5425269" cy="22915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ADDA723-CC70-84F1-9FAE-E86E7E77F2EF}"/>
              </a:ext>
            </a:extLst>
          </p:cNvPr>
          <p:cNvSpPr/>
          <p:nvPr/>
        </p:nvSpPr>
        <p:spPr>
          <a:xfrm>
            <a:off x="644241" y="3187538"/>
            <a:ext cx="5425269" cy="43882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6F1A13-3723-1B2A-91D9-4BDFAEE75183}"/>
              </a:ext>
            </a:extLst>
          </p:cNvPr>
          <p:cNvSpPr/>
          <p:nvPr/>
        </p:nvSpPr>
        <p:spPr>
          <a:xfrm>
            <a:off x="644241" y="2949055"/>
            <a:ext cx="5425269" cy="208827"/>
          </a:xfrm>
          <a:prstGeom prst="roundRect">
            <a:avLst>
              <a:gd name="adj" fmla="val 0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81D7712-1D8E-6D71-E062-ACDC7F7110F9}"/>
              </a:ext>
            </a:extLst>
          </p:cNvPr>
          <p:cNvSpPr/>
          <p:nvPr/>
        </p:nvSpPr>
        <p:spPr>
          <a:xfrm>
            <a:off x="7627556" y="2540000"/>
            <a:ext cx="365760" cy="32425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6D1D2535-66A2-37B5-AB7E-BB755CB21804}"/>
              </a:ext>
            </a:extLst>
          </p:cNvPr>
          <p:cNvCxnSpPr>
            <a:cxnSpLocks/>
            <a:stCxn id="17" idx="3"/>
            <a:endCxn id="23" idx="3"/>
          </p:cNvCxnSpPr>
          <p:nvPr/>
        </p:nvCxnSpPr>
        <p:spPr>
          <a:xfrm>
            <a:off x="7993316" y="2702126"/>
            <a:ext cx="3362388" cy="2582826"/>
          </a:xfrm>
          <a:prstGeom prst="curvedConnector3">
            <a:avLst>
              <a:gd name="adj1" fmla="val 10679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CFD673B-A893-9375-EF98-0483C4B961F4}"/>
              </a:ext>
            </a:extLst>
          </p:cNvPr>
          <p:cNvSpPr/>
          <p:nvPr/>
        </p:nvSpPr>
        <p:spPr>
          <a:xfrm>
            <a:off x="6415816" y="4902142"/>
            <a:ext cx="4940978" cy="22915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70EDF55-13F8-70E8-C4E3-5ABA6649DD84}"/>
              </a:ext>
            </a:extLst>
          </p:cNvPr>
          <p:cNvSpPr/>
          <p:nvPr/>
        </p:nvSpPr>
        <p:spPr>
          <a:xfrm>
            <a:off x="6417338" y="5139778"/>
            <a:ext cx="4939456" cy="286180"/>
          </a:xfrm>
          <a:prstGeom prst="roundRect">
            <a:avLst>
              <a:gd name="adj" fmla="val 0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9259F58-DD49-F72E-608A-5388867B87AB}"/>
              </a:ext>
            </a:extLst>
          </p:cNvPr>
          <p:cNvSpPr/>
          <p:nvPr/>
        </p:nvSpPr>
        <p:spPr>
          <a:xfrm>
            <a:off x="6409720" y="5434443"/>
            <a:ext cx="4943698" cy="673694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9F8ACC6-21A6-0B69-2B0D-D2E13EABD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006" y="4895096"/>
            <a:ext cx="4945984" cy="23907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E7ECD5C-CF88-0617-0795-4495CAB51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249" y="5138338"/>
            <a:ext cx="4939455" cy="29322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2C7E5B5-8291-2EB6-5FE9-46BB66FFF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0" y="5426649"/>
            <a:ext cx="4943698" cy="6820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8F083A35-EE6B-4ED3-17D4-446F1DD8D3FD}"/>
              </a:ext>
            </a:extLst>
          </p:cNvPr>
          <p:cNvSpPr txBox="1"/>
          <p:nvPr/>
        </p:nvSpPr>
        <p:spPr>
          <a:xfrm>
            <a:off x="10246506" y="1672000"/>
            <a:ext cx="1230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目标对象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7811C7-CE8D-0408-8BC1-9DFC67F2745A}"/>
              </a:ext>
            </a:extLst>
          </p:cNvPr>
          <p:cNvSpPr txBox="1"/>
          <p:nvPr/>
        </p:nvSpPr>
        <p:spPr>
          <a:xfrm>
            <a:off x="10233034" y="4218613"/>
            <a:ext cx="1230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代理对象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256607DB-81BA-B438-938D-1327A34ED55B}"/>
              </a:ext>
            </a:extLst>
          </p:cNvPr>
          <p:cNvSpPr txBox="1">
            <a:spLocks/>
          </p:cNvSpPr>
          <p:nvPr/>
        </p:nvSpPr>
        <p:spPr>
          <a:xfrm>
            <a:off x="5303976" y="940444"/>
            <a:ext cx="1879600" cy="4760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b="1">
                <a:solidFill>
                  <a:srgbClr val="C00000"/>
                </a:solidFill>
                <a:latin typeface="Fira Code" panose="020B0809050000020004" pitchFamily="49" charset="0"/>
              </a:rPr>
              <a:t>动态代理</a:t>
            </a:r>
            <a:endParaRPr lang="zh-CN" altLang="en-US" sz="320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75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5" grpId="0"/>
      <p:bldP spid="26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A5AC0-DC5D-4510-98E0-33E5E7245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AOP</a:t>
            </a:r>
            <a:r>
              <a:rPr lang="zh-CN" altLang="en-US"/>
              <a:t>核心概念</a:t>
            </a:r>
            <a:endParaRPr lang="en-US" altLang="zh-CN"/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连接点（</a:t>
            </a:r>
            <a:r>
              <a:rPr lang="en-US" altLang="zh-CN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JoinPoint</a:t>
            </a: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b="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切入点（</a:t>
            </a:r>
            <a:r>
              <a:rPr lang="en-US" altLang="zh-CN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PointCut</a:t>
            </a: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b="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通知（</a:t>
            </a:r>
            <a:r>
              <a:rPr lang="en-US" altLang="zh-CN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Advice</a:t>
            </a: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b="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切面（</a:t>
            </a:r>
            <a:r>
              <a:rPr lang="en-US" altLang="zh-CN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Aspect</a:t>
            </a: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b="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目标对象（</a:t>
            </a:r>
            <a:r>
              <a:rPr lang="en-US" altLang="zh-CN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Target</a:t>
            </a:r>
            <a:r>
              <a:rPr lang="zh-CN" altLang="en-US" sz="1400" b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F5F775-F8EF-9A5B-944D-8D9A9CEE1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496" y="477789"/>
            <a:ext cx="4542488" cy="2179244"/>
          </a:xfrm>
          <a:prstGeom prst="roundRect">
            <a:avLst>
              <a:gd name="adj" fmla="val 3257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2117B99-0567-F239-5F62-68C568FC8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-24628"/>
          <a:stretch/>
        </p:blipFill>
        <p:spPr>
          <a:xfrm>
            <a:off x="7030069" y="2685314"/>
            <a:ext cx="4542488" cy="3504649"/>
          </a:xfrm>
          <a:prstGeom prst="roundRect">
            <a:avLst>
              <a:gd name="adj" fmla="val 2181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18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274DC9-6CC6-01C4-2FB0-07C84E3E4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基础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AOP</a:t>
            </a:r>
            <a:r>
              <a:rPr lang="zh-CN" altLang="en-US">
                <a:solidFill>
                  <a:srgbClr val="C00000"/>
                </a:solidFill>
              </a:rPr>
              <a:t>进阶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AOP</a:t>
            </a:r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3103738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699183-2E65-547E-7E44-37B294BAD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进阶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22E12E-BF81-362B-AF31-A52DDB3AAB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通知类型</a:t>
            </a:r>
            <a:endParaRPr lang="en-US" altLang="zh-CN"/>
          </a:p>
          <a:p>
            <a:r>
              <a:rPr lang="zh-CN" altLang="en-US"/>
              <a:t>通知顺序</a:t>
            </a:r>
            <a:endParaRPr lang="en-US" altLang="zh-CN"/>
          </a:p>
          <a:p>
            <a:r>
              <a:rPr lang="zh-CN" altLang="en-US"/>
              <a:t>切入点表达式</a:t>
            </a:r>
            <a:endParaRPr lang="en-US" altLang="zh-CN"/>
          </a:p>
          <a:p>
            <a:r>
              <a:rPr lang="zh-CN" altLang="en-US"/>
              <a:t>连接点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8883FF7-B688-8172-56A6-6142BC6AA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2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通知类型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4727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根据通知方法执行时机的不同，将通知类型分为以下常见的五类：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@Around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：环绕通知，此注解标注的通知方法在目标方法前、后都被执行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@Before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：前置通知，此注解标注的通知方法在目标方法前被执行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 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：后置通知，此注解标注的通知方法在目标方法后被执行，无论是否有异常都会执行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@AfterReturning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返回后通知，此注解标注的通知方法在目标方法后被执行，有异常不会执行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@AfterThrowing 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异常后通知，此注解标注的通知方法发生异常后执行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FF39C2-B5F0-AEA3-C0FD-C8E5B15EAF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680"/>
          <a:stretch/>
        </p:blipFill>
        <p:spPr>
          <a:xfrm>
            <a:off x="7396483" y="697432"/>
            <a:ext cx="4795517" cy="1570640"/>
          </a:xfrm>
          <a:prstGeom prst="flowChartDocument">
            <a:avLst/>
          </a:prstGeom>
          <a:ln w="3175"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677487C-4F51-6C6E-9A63-C168649D0983}"/>
              </a:ext>
            </a:extLst>
          </p:cNvPr>
          <p:cNvGrpSpPr/>
          <p:nvPr/>
        </p:nvGrpSpPr>
        <p:grpSpPr>
          <a:xfrm>
            <a:off x="799299" y="5524073"/>
            <a:ext cx="10521961" cy="448408"/>
            <a:chOff x="710879" y="5978768"/>
            <a:chExt cx="10521961" cy="4484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64BE903-0BC1-0A45-2634-9E13C46F48F8}"/>
                </a:ext>
              </a:extLst>
            </p:cNvPr>
            <p:cNvSpPr/>
            <p:nvPr/>
          </p:nvSpPr>
          <p:spPr>
            <a:xfrm>
              <a:off x="710880" y="5978769"/>
              <a:ext cx="1052196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@Around</a:t>
              </a:r>
              <a:r>
                <a:rPr lang="zh-CN" altLang="en-US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环绕通知需要自己调用 </a:t>
              </a:r>
              <a:r>
                <a:rPr lang="en-US" altLang="zh-CN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ProceedingJoinPoint.proceed() </a:t>
              </a:r>
              <a:r>
                <a:rPr lang="zh-CN" altLang="en-US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来让原始方法执行，其他通知不需要考虑目标方法执行</a:t>
              </a:r>
              <a:endParaRPr lang="en-US" altLang="zh-CN" sz="130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1B45DCF7-73FE-BFB3-088E-598383E17D82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Shape 2468">
              <a:extLst>
                <a:ext uri="{FF2B5EF4-FFF2-40B4-BE49-F238E27FC236}">
                  <a16:creationId xmlns:a16="http://schemas.microsoft.com/office/drawing/2014/main" id="{CA2142B0-2268-1ED8-B3FE-77937803CFF6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1569F83-5E8E-B15D-C1DB-15339F78EAF5}"/>
                </a:ext>
              </a:extLst>
            </p:cNvPr>
            <p:cNvSpPr txBox="1"/>
            <p:nvPr/>
          </p:nvSpPr>
          <p:spPr>
            <a:xfrm>
              <a:off x="1054035" y="607162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</a:t>
              </a:r>
              <a:r>
                <a:rPr lang="en-US" altLang="zh-CN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6EA5CDA-9925-69E5-7ABD-BD138F062B57}"/>
              </a:ext>
            </a:extLst>
          </p:cNvPr>
          <p:cNvGrpSpPr/>
          <p:nvPr/>
        </p:nvGrpSpPr>
        <p:grpSpPr>
          <a:xfrm>
            <a:off x="799299" y="6078592"/>
            <a:ext cx="10521961" cy="448408"/>
            <a:chOff x="710879" y="5978768"/>
            <a:chExt cx="10521961" cy="4484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6622C1C-7DBC-1823-248B-191E5683A7A8}"/>
                </a:ext>
              </a:extLst>
            </p:cNvPr>
            <p:cNvSpPr/>
            <p:nvPr/>
          </p:nvSpPr>
          <p:spPr>
            <a:xfrm>
              <a:off x="710880" y="5978769"/>
              <a:ext cx="1052196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@Around</a:t>
              </a:r>
              <a:r>
                <a:rPr lang="zh-CN" altLang="en-US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环绕通知方法的返回值，必须指定为</a:t>
              </a:r>
              <a:r>
                <a:rPr lang="en-US" altLang="zh-CN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Object</a:t>
              </a:r>
              <a:r>
                <a:rPr lang="zh-CN" altLang="en-US" sz="130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，来接收原始方法的返回值。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17735EC1-37AC-3888-CE54-C32E046471FA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Shape 2468">
              <a:extLst>
                <a:ext uri="{FF2B5EF4-FFF2-40B4-BE49-F238E27FC236}">
                  <a16:creationId xmlns:a16="http://schemas.microsoft.com/office/drawing/2014/main" id="{13DDDD89-E932-2B35-A928-E2A32BDD603D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3378CED-91E2-D859-0393-5173828A4376}"/>
                </a:ext>
              </a:extLst>
            </p:cNvPr>
            <p:cNvSpPr txBox="1"/>
            <p:nvPr/>
          </p:nvSpPr>
          <p:spPr>
            <a:xfrm>
              <a:off x="1054035" y="608488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</a:t>
              </a:r>
              <a:r>
                <a:rPr lang="en-US" altLang="zh-CN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10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@PointCut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该注解的作用是将公共</a:t>
            </a:r>
            <a:r>
              <a:rPr lang="zh-CN" altLang="en-US" b="0" i="0">
                <a:solidFill>
                  <a:srgbClr val="494949"/>
                </a:solidFill>
                <a:effectLst/>
                <a:latin typeface="PingFang SC"/>
              </a:rPr>
              <a:t>的切点表达式抽取出来</a:t>
            </a:r>
            <a:r>
              <a:rPr lang="zh-CN" altLang="en-US">
                <a:solidFill>
                  <a:srgbClr val="494949"/>
                </a:solidFill>
                <a:latin typeface="PingFang SC"/>
              </a:rPr>
              <a:t>，需要用到时引用该切点表达式即可。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8CC18D-EF95-2360-E0EB-0BCD4220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46" y="1576086"/>
            <a:ext cx="7105629" cy="1336653"/>
          </a:xfrm>
          <a:prstGeom prst="roundRect">
            <a:avLst>
              <a:gd name="adj" fmla="val 2784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A793D08-3B0A-1B0D-8BC2-76C128AA87A4}"/>
              </a:ext>
            </a:extLst>
          </p:cNvPr>
          <p:cNvSpPr/>
          <p:nvPr/>
        </p:nvSpPr>
        <p:spPr>
          <a:xfrm>
            <a:off x="1769865" y="2330509"/>
            <a:ext cx="641641" cy="26031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olid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81231E-0820-C454-3BAD-969C515C58A9}"/>
              </a:ext>
            </a:extLst>
          </p:cNvPr>
          <p:cNvSpPr/>
          <p:nvPr/>
        </p:nvSpPr>
        <p:spPr>
          <a:xfrm>
            <a:off x="1010146" y="1707971"/>
            <a:ext cx="7105629" cy="461125"/>
          </a:xfrm>
          <a:prstGeom prst="rect">
            <a:avLst/>
          </a:prstGeom>
          <a:solidFill>
            <a:srgbClr val="FF0000">
              <a:alpha val="25098"/>
            </a:srgbClr>
          </a:solidFill>
          <a:ln w="3175">
            <a:solidFill>
              <a:schemeClr val="bg1">
                <a:lumMod val="50000"/>
              </a:schemeClr>
            </a:solidFill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BF4B6117-4FB6-8D1B-CA3F-6BCE1D43467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7374" y="3098933"/>
            <a:ext cx="2124132" cy="175846"/>
          </a:xfrm>
          <a:prstGeom prst="bentConnector3">
            <a:avLst>
              <a:gd name="adj1" fmla="val 10008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701E268-4AC9-862D-80C9-206937808305}"/>
              </a:ext>
            </a:extLst>
          </p:cNvPr>
          <p:cNvSpPr txBox="1"/>
          <p:nvPr/>
        </p:nvSpPr>
        <p:spPr>
          <a:xfrm>
            <a:off x="1547364" y="3896738"/>
            <a:ext cx="4897315" cy="892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private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：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仅能在当前切面类中引用该表达式</a:t>
            </a:r>
            <a:endParaRPr lang="en-US" altLang="zh-CN" sz="14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public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：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在其他外部的切面类中也可以引用该表达式</a:t>
            </a:r>
            <a:endParaRPr lang="zh-CN" altLang="en-US" sz="14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52ADDF-A455-8763-F4A0-D5C2C9951659}"/>
              </a:ext>
            </a:extLst>
          </p:cNvPr>
          <p:cNvSpPr/>
          <p:nvPr/>
        </p:nvSpPr>
        <p:spPr>
          <a:xfrm>
            <a:off x="1066973" y="2105447"/>
            <a:ext cx="615461" cy="45719"/>
          </a:xfrm>
          <a:prstGeom prst="rect">
            <a:avLst/>
          </a:prstGeom>
          <a:solidFill>
            <a:srgbClr val="C00000"/>
          </a:solidFill>
          <a:ln w="3175">
            <a:solidFill>
              <a:srgbClr val="C00000"/>
            </a:solidFill>
            <a:prstDash val="lgDash"/>
          </a:ln>
        </p:spPr>
        <p:txBody>
          <a:bodyPr wrap="square" lIns="144000" tIns="468000" rIns="72000" bIns="108000" rtlCol="0" anchor="ctr">
            <a:sp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428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EA2466-2B8F-6F46-1D23-8F9EBAC22E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常见的通知类型有哪些？分别在什么时候执行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@Before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（前置通知）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（后置通知）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@Around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（环绕通知，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重点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@AfterReturning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（返回后通知）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@AfterThrowing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（异常后通知）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@PointCut</a:t>
            </a:r>
            <a:r>
              <a:rPr lang="zh-CN" altLang="en-US"/>
              <a:t>注解的作用是什么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抽取公共的切点表达式，提高复用性</a:t>
            </a:r>
            <a:endParaRPr lang="en-US" altLang="zh-CN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638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195E-0EF2-B175-CE85-A043B509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4E0E4B-21E5-56AA-8601-3542FCC647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进阶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E86A53-1ABD-9472-4EF8-A135C2B317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通知类型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通知顺序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切入点表达式</a:t>
            </a:r>
            <a:endParaRPr lang="en-US" altLang="zh-CN"/>
          </a:p>
          <a:p>
            <a:r>
              <a:rPr lang="zh-CN" altLang="en-US"/>
              <a:t>连接点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E3B625D-74CB-A1BF-0355-BCE537BE81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27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通知顺序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4992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当有多个切面的切入点都匹配到了目标方法，目标方法运行时，多个通知方法都会被执行。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执行顺序：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不同切面类中，默认按照切面类的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类名字母排序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目标方法前的通知方法：字母排名靠前的先执行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目标方法后的通知方法：字母排名靠前的后执行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 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@Order(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加在切面类上来控制顺序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目标方法前的通知方法：数字小的先执行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目标方法后的通知方法：数字小的后执行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71F697-8C5B-8234-9A05-4B086D7C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479" y="2115476"/>
            <a:ext cx="4786426" cy="2226981"/>
          </a:xfrm>
          <a:prstGeom prst="roundRect">
            <a:avLst>
              <a:gd name="adj" fmla="val 2275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30B60A-D279-2076-5356-6442F0CE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127" y="4036616"/>
            <a:ext cx="4786426" cy="2167937"/>
          </a:xfrm>
          <a:prstGeom prst="roundRect">
            <a:avLst>
              <a:gd name="adj" fmla="val 2488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5F26B7-900D-88E9-852C-4BAF7D3E3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206" y="4532734"/>
            <a:ext cx="3162300" cy="1457325"/>
          </a:xfrm>
          <a:prstGeom prst="roundRect">
            <a:avLst>
              <a:gd name="adj" fmla="val 2488"/>
            </a:avLst>
          </a:prstGeom>
          <a:ln w="6350">
            <a:solidFill>
              <a:schemeClr val="bg1">
                <a:lumMod val="6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5FEFB3C-C0B7-51AE-CCF0-D7FDE94D5EEC}"/>
              </a:ext>
            </a:extLst>
          </p:cNvPr>
          <p:cNvSpPr/>
          <p:nvPr/>
        </p:nvSpPr>
        <p:spPr>
          <a:xfrm>
            <a:off x="1535206" y="4823784"/>
            <a:ext cx="3162300" cy="244479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8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699183-2E65-547E-7E44-37B294BAD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进阶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22E12E-BF81-362B-AF31-A52DDB3AAB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通知类型</a:t>
            </a:r>
            <a:endParaRPr lang="en-US" altLang="zh-CN"/>
          </a:p>
          <a:p>
            <a:r>
              <a:rPr lang="zh-CN" altLang="en-US"/>
              <a:t>通知顺序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切入点表达式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连接点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8883FF7-B688-8172-56A6-6142BC6AA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64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切入点表达式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32484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介绍：描述切入点方法的一种表达式。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作用：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用来决定项目中的哪些方法需要加入通知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常见形式：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execution(……)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：根据方法的签名来匹配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@annotation(……)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：根据注解匹配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3F9C56-119C-C5FA-C682-4CA29B56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72" y="3348997"/>
            <a:ext cx="9996196" cy="665865"/>
          </a:xfrm>
          <a:prstGeom prst="roundRect">
            <a:avLst>
              <a:gd name="adj" fmla="val 6968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FE8AED-68DE-E961-D203-4413998C08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8" r="-8017" b="49043"/>
          <a:stretch/>
        </p:blipFill>
        <p:spPr>
          <a:xfrm>
            <a:off x="927572" y="4253834"/>
            <a:ext cx="9996196" cy="600690"/>
          </a:xfrm>
          <a:prstGeom prst="roundRect">
            <a:avLst>
              <a:gd name="adj" fmla="val 5184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4BD972B-5459-4935-3230-819BF6D34EA8}"/>
              </a:ext>
            </a:extLst>
          </p:cNvPr>
          <p:cNvCxnSpPr>
            <a:cxnSpLocks/>
          </p:cNvCxnSpPr>
          <p:nvPr/>
        </p:nvCxnSpPr>
        <p:spPr>
          <a:xfrm>
            <a:off x="1891552" y="3666565"/>
            <a:ext cx="8740589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3632008-AC30-94FD-B3E3-D6A205A6CF89}"/>
              </a:ext>
            </a:extLst>
          </p:cNvPr>
          <p:cNvCxnSpPr>
            <a:cxnSpLocks/>
          </p:cNvCxnSpPr>
          <p:nvPr/>
        </p:nvCxnSpPr>
        <p:spPr>
          <a:xfrm>
            <a:off x="1891552" y="4563035"/>
            <a:ext cx="3137647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9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切入点表达式</a:t>
            </a:r>
            <a:r>
              <a:rPr lang="en-US" altLang="zh-CN"/>
              <a:t>-execution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31" y="1663850"/>
            <a:ext cx="10978047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execution </a:t>
            </a:r>
            <a:r>
              <a:rPr lang="zh-CN" altLang="en-US"/>
              <a:t>主要根据方法的返回值、包名、类名、方法名、方法参数等信息来匹配，语法为：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D6FA3B-42CA-FD85-0CEB-BB96D37C6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1" y="956241"/>
            <a:ext cx="9345981" cy="622553"/>
          </a:xfrm>
          <a:prstGeom prst="roundRect">
            <a:avLst>
              <a:gd name="adj" fmla="val 6968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3A6E09-58B6-8CD0-24F4-003F603544B9}"/>
              </a:ext>
            </a:extLst>
          </p:cNvPr>
          <p:cNvCxnSpPr>
            <a:cxnSpLocks/>
          </p:cNvCxnSpPr>
          <p:nvPr/>
        </p:nvCxnSpPr>
        <p:spPr>
          <a:xfrm>
            <a:off x="1568822" y="1282774"/>
            <a:ext cx="8175813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070B083-2991-D6D6-34DC-379D69BDCBBE}"/>
              </a:ext>
            </a:extLst>
          </p:cNvPr>
          <p:cNvSpPr/>
          <p:nvPr/>
        </p:nvSpPr>
        <p:spPr>
          <a:xfrm>
            <a:off x="1013469" y="2106893"/>
            <a:ext cx="10404347" cy="38098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execution(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访问修饰符</a:t>
            </a:r>
            <a:r>
              <a:rPr lang="en-US" altLang="zh-CN" sz="13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返回值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  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包名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类名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3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方法名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方法参数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) throws </a:t>
            </a:r>
            <a:r>
              <a:rPr lang="zh-CN" altLang="en-US" sz="13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异常</a:t>
            </a:r>
            <a:r>
              <a:rPr lang="en-US" altLang="zh-CN" sz="13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en-US" altLang="zh-CN" sz="13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lang="zh-CN" altLang="en-US" sz="1300">
              <a:solidFill>
                <a:srgbClr val="00B05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Courier New" panose="02070309020205020404" pitchFamily="49" charset="0"/>
            </a:endParaRP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312C0885-E3DC-5346-0508-64F8AFC98022}"/>
              </a:ext>
            </a:extLst>
          </p:cNvPr>
          <p:cNvSpPr txBox="1">
            <a:spLocks/>
          </p:cNvSpPr>
          <p:nvPr/>
        </p:nvSpPr>
        <p:spPr>
          <a:xfrm>
            <a:off x="710880" y="2591838"/>
            <a:ext cx="10434961" cy="170115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其中带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的表示可以省略的部分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97150" lvl="1" indent="-342900" defTabSz="612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访问修饰符：可省略（比如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: public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protected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597150" lvl="1" indent="-342900" defTabSz="612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包名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类名： 可省略</a:t>
            </a:r>
          </a:p>
          <a:p>
            <a:pPr marL="597150" lvl="1" indent="-342900" defTabSz="612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throws 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异常：可省略（注意是方法上声明抛出的异常，不是实际抛出的异常）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E46145AA-34EF-BA0A-926A-389395DC76CC}"/>
              </a:ext>
            </a:extLst>
          </p:cNvPr>
          <p:cNvSpPr txBox="1">
            <a:spLocks/>
          </p:cNvSpPr>
          <p:nvPr/>
        </p:nvSpPr>
        <p:spPr>
          <a:xfrm>
            <a:off x="710880" y="4086539"/>
            <a:ext cx="11204312" cy="164730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/>
                </a:solidFill>
              </a:rPr>
              <a:t>可以使用通配符描述切入点</a:t>
            </a: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 ：单个独立的任意符号，可以通配任意返回值、包名、类名、方法名、任意类型的一个参数，也可以通配包、类、方法名的一部分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：多个连续的任意符号，可以通配任意层级的包，或任意类型、任意个数的参数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D43B6A-E94F-22CF-3872-779E47C82E12}"/>
              </a:ext>
            </a:extLst>
          </p:cNvPr>
          <p:cNvSpPr/>
          <p:nvPr/>
        </p:nvSpPr>
        <p:spPr>
          <a:xfrm>
            <a:off x="1375757" y="4925742"/>
            <a:ext cx="10033923" cy="3681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execution(* com.*.service.*.update*(*))</a:t>
            </a:r>
            <a:endParaRPr lang="zh-CN" altLang="en-US" sz="11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Courier New" panose="020703090202050204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7DFA50-9B81-95BA-10B6-E89D3DE47B3B}"/>
              </a:ext>
            </a:extLst>
          </p:cNvPr>
          <p:cNvSpPr/>
          <p:nvPr/>
        </p:nvSpPr>
        <p:spPr>
          <a:xfrm>
            <a:off x="1375756" y="5733848"/>
            <a:ext cx="10033923" cy="3681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execution(* com.itheima..DeptService.*(..))</a:t>
            </a:r>
            <a:endParaRPr lang="zh-CN" altLang="en-US" sz="120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Courier New" panose="02070309020205020404" pitchFamily="49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B4E4577-4C9A-F77C-ECF9-986A36FCD8AF}"/>
              </a:ext>
            </a:extLst>
          </p:cNvPr>
          <p:cNvGrpSpPr/>
          <p:nvPr/>
        </p:nvGrpSpPr>
        <p:grpSpPr>
          <a:xfrm>
            <a:off x="774183" y="6377968"/>
            <a:ext cx="10643633" cy="448408"/>
            <a:chOff x="710879" y="5978768"/>
            <a:chExt cx="10643633" cy="448408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2A690D0-AB11-32C2-D61A-DC980F59A5BA}"/>
                </a:ext>
              </a:extLst>
            </p:cNvPr>
            <p:cNvSpPr/>
            <p:nvPr/>
          </p:nvSpPr>
          <p:spPr>
            <a:xfrm>
              <a:off x="710880" y="5978769"/>
              <a:ext cx="10643632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根据业务需要，可以使用 且（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&amp;&amp;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）、或（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||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）、非（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!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 来组合比较复杂的切入点表达式。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: 圆顶角 15">
              <a:extLst>
                <a:ext uri="{FF2B5EF4-FFF2-40B4-BE49-F238E27FC236}">
                  <a16:creationId xmlns:a16="http://schemas.microsoft.com/office/drawing/2014/main" id="{CD67283A-E10E-62EF-FEFB-E24B3D69D11C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Shape 2468">
              <a:extLst>
                <a:ext uri="{FF2B5EF4-FFF2-40B4-BE49-F238E27FC236}">
                  <a16:creationId xmlns:a16="http://schemas.microsoft.com/office/drawing/2014/main" id="{3A84669C-0E26-4DED-F1CE-1A2CF541D8F0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1407A31-3A7F-9CC2-F66B-DB100E1A42B2}"/>
                </a:ext>
              </a:extLst>
            </p:cNvPr>
            <p:cNvSpPr txBox="1"/>
            <p:nvPr/>
          </p:nvSpPr>
          <p:spPr>
            <a:xfrm>
              <a:off x="1054035" y="607162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</a:t>
              </a:r>
              <a:r>
                <a:rPr lang="en-US" altLang="zh-CN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31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/>
      <p:bldP spid="11" grpId="0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D319E8-F82B-F0EB-4151-49984D015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9255" y="1045699"/>
            <a:ext cx="8462745" cy="476660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execution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切入点表达式的完整语法 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execution(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访问修饰符</a:t>
            </a:r>
            <a:r>
              <a:rPr lang="en-US" altLang="zh-CN" sz="1400" b="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返回值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包名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类名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400" b="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方法名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方法参数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) throws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异常</a:t>
            </a:r>
            <a:r>
              <a:rPr lang="en-US" altLang="zh-CN" sz="1400" b="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?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通配符有哪些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 ：单个独立的任意符号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..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：多个连续的任意符号</a:t>
            </a:r>
            <a:endParaRPr lang="en-US" altLang="zh-CN" sz="14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书写建议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所有业务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命名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时尽量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，方便切入点表达式快速匹配。如：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findXxx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updateXxx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描述切入点方法通常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基于接口描述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，而不是直接描述实现类，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增强拓展性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在满足业务需要的前提下，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尽量缩小切入点的匹配范围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。如：包名尽量不使用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..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，使用*匹配单个包。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14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切入点表达式</a:t>
            </a:r>
            <a:r>
              <a:rPr lang="en-US" altLang="zh-CN"/>
              <a:t>-@annotation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@annotation </a:t>
            </a:r>
            <a:r>
              <a:rPr lang="zh-CN" altLang="en-US"/>
              <a:t>切入点表达式，用于匹配标识有特定注解的方法。</a:t>
            </a:r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AF472A-EB7D-EBF6-C74F-C7F2CE08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9" y="1554868"/>
            <a:ext cx="7234518" cy="13203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85F64D-E342-8DF6-7964-76EF2F411BBF}"/>
              </a:ext>
            </a:extLst>
          </p:cNvPr>
          <p:cNvSpPr/>
          <p:nvPr/>
        </p:nvSpPr>
        <p:spPr>
          <a:xfrm>
            <a:off x="968187" y="1554866"/>
            <a:ext cx="7234517" cy="38098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69F2D1-0B5B-F518-277B-C461F368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7" y="3093387"/>
            <a:ext cx="3837368" cy="34282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10F992-5379-92BD-78C8-F00A6D5A63B6}"/>
              </a:ext>
            </a:extLst>
          </p:cNvPr>
          <p:cNvCxnSpPr>
            <a:cxnSpLocks/>
          </p:cNvCxnSpPr>
          <p:nvPr/>
        </p:nvCxnSpPr>
        <p:spPr>
          <a:xfrm>
            <a:off x="1036767" y="3354145"/>
            <a:ext cx="982533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84FC005-B094-9E2F-ABD1-75217080D5C7}"/>
              </a:ext>
            </a:extLst>
          </p:cNvPr>
          <p:cNvCxnSpPr>
            <a:cxnSpLocks/>
          </p:cNvCxnSpPr>
          <p:nvPr/>
        </p:nvCxnSpPr>
        <p:spPr>
          <a:xfrm>
            <a:off x="1036767" y="5068645"/>
            <a:ext cx="982533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6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F96379-F64D-296A-3AFF-C5AF1FF41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@annotation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切入点表达式的写法 ？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@annotation(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注解全类名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execution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切入点表达式与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@annotation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切入点表达式的应用场景 ？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如果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execution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切入点表达式方便描述指定的方法，就使用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execution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表达式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否则，就使用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@annotation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cs typeface="阿里巴巴普惠体" panose="00020600040101010101" pitchFamily="18" charset="-122"/>
              </a:rPr>
              <a:t>切入点表达式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36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FC9E-52EC-2787-BE9D-A7EB9FBF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5F7B7A-D93D-124B-FD6E-92079F3FEA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进阶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3123DF-54E5-515A-219E-64011ECCA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通知类型</a:t>
            </a:r>
            <a:endParaRPr lang="en-US" altLang="zh-CN"/>
          </a:p>
          <a:p>
            <a:r>
              <a:rPr lang="zh-CN" altLang="en-US"/>
              <a:t>通知顺序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切入点表达式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连接点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A430E12-4808-EE9B-31C4-0BC247D2A4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10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连接点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367081"/>
          </a:xfrm>
        </p:spPr>
        <p:txBody>
          <a:bodyPr/>
          <a:lstStyle/>
          <a:p>
            <a:pPr marL="288000" indent="-288000" defTabSz="324000">
              <a:spcBef>
                <a:spcPts val="600"/>
              </a:spcBef>
              <a:buFont typeface="Wingdings" panose="05000000000000000000" pitchFamily="2" charset="2"/>
              <a:buChar char="l"/>
              <a:tabLst>
                <a:tab pos="180000" algn="l"/>
              </a:tabLst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在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中用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JoinPoint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抽象了连接点，用它可以获得方法执行时的相关信息，如目标类名、方法名、方法参数等。</a:t>
            </a:r>
          </a:p>
          <a:p>
            <a:pPr marL="540000" lvl="2" indent="-288000" defTabSz="324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180000" algn="l"/>
              </a:tabLst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对于 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@Around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通知，获取连接点信息只能使用 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ProceedingJoinPoint</a:t>
            </a:r>
          </a:p>
          <a:p>
            <a:pPr marL="540000" lvl="2" indent="-288000" defTabSz="324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180000" algn="l"/>
              </a:tabLst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对于其它四种通知，获取连接点信息只能使用 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JoinPoint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，它是 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ProceedingJoinPoint 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的父类型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C362DB-0D03-F10A-AECA-521BD75C209D}"/>
              </a:ext>
            </a:extLst>
          </p:cNvPr>
          <p:cNvGrpSpPr/>
          <p:nvPr/>
        </p:nvGrpSpPr>
        <p:grpSpPr>
          <a:xfrm>
            <a:off x="940940" y="2305628"/>
            <a:ext cx="7405008" cy="3302070"/>
            <a:chOff x="2297721" y="3660321"/>
            <a:chExt cx="8158942" cy="315526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F6C8A5E-2E09-5CC2-F940-30793B4489BD}"/>
                </a:ext>
              </a:extLst>
            </p:cNvPr>
            <p:cNvSpPr/>
            <p:nvPr/>
          </p:nvSpPr>
          <p:spPr>
            <a:xfrm>
              <a:off x="2297729" y="3660321"/>
              <a:ext cx="8158934" cy="3155260"/>
            </a:xfrm>
            <a:prstGeom prst="roundRect">
              <a:avLst>
                <a:gd name="adj" fmla="val 266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2000" rIns="0" bIns="0" rtlCol="0" anchor="t"/>
            <a:lstStyle/>
            <a:p>
              <a:pPr>
                <a:lnSpc>
                  <a:spcPct val="180000"/>
                </a:lnSpc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@Around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"execution(* com.itheima.service.DeptService.*(..))"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Object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cs typeface="Courier New" panose="02070309020205020404" pitchFamily="49" charset="0"/>
                </a:rPr>
                <a:t>around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ProceedingJoinPoint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joinPoint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throws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Throwable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{</a:t>
              </a:r>
              <a:endParaRPr lang="en-US" altLang="zh-CN" sz="1200" b="0" i="0" u="none">
                <a:solidFill>
                  <a:schemeClr val="tx1">
                    <a:lumMod val="75000"/>
                    <a:lumOff val="25000"/>
                  </a:schemeClr>
                </a:solidFill>
                <a:ea typeface="Fira Code" panose="020B08090500000200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80000"/>
                </a:lnSpc>
              </a:pP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ea typeface="Fira Code" panose="020B0809050000020004" pitchFamily="49" charset="0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String className = joinPoint.getTarget().getClass().getName();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类名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Signature signature = joinPoint.getSignature();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方法签名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String methodName = joinPoint.getSignature().getName();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Object[] args = joinPoint.getArgs();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</a:t>
              </a:r>
              <a:r>
                <a:rPr kumimoji="0" lang="zh-CN" altLang="en-US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运行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参数</a:t>
              </a: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Object res = joinPoint.proceed();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//执行原始方法</a:t>
              </a:r>
              <a:r>
                <a:rPr lang="en-US" altLang="zh-CN" sz="12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获取返回值</a:t>
              </a:r>
              <a:r>
                <a:rPr kumimoji="0" lang="zh-CN" altLang="en-US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（环绕通知）</a:t>
              </a:r>
              <a:endParaRPr kumimoji="0" lang="en-US" altLang="zh-CN" sz="1200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80000"/>
                </a:lnSpc>
              </a:pPr>
              <a:r>
                <a:rPr lang="en-US" altLang="zh-CN" sz="1200">
                  <a:solidFill>
                    <a:schemeClr val="tx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return res;</a:t>
              </a:r>
            </a:p>
            <a:p>
              <a:pPr>
                <a:lnSpc>
                  <a:spcPct val="180000"/>
                </a:lnSpc>
              </a:pP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endParaRPr kumimoji="0" lang="zh-CN" altLang="zh-CN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A02D643-8B25-5D38-3E6B-D628398ED8BF}"/>
                </a:ext>
              </a:extLst>
            </p:cNvPr>
            <p:cNvSpPr/>
            <p:nvPr/>
          </p:nvSpPr>
          <p:spPr>
            <a:xfrm>
              <a:off x="2297721" y="3660322"/>
              <a:ext cx="8158934" cy="270190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@Around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环绕通知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428067D-03CC-FD4C-BC5C-72D9061470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AD09EBD-4E2D-F446-86A0-F5012E7F661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73666BF-C6FD-0C24-FB43-026ACBB2E03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1C065A2-EA48-7EC0-B7DF-D9E4CC91A910}"/>
              </a:ext>
            </a:extLst>
          </p:cNvPr>
          <p:cNvGrpSpPr/>
          <p:nvPr/>
        </p:nvGrpSpPr>
        <p:grpSpPr>
          <a:xfrm>
            <a:off x="4643440" y="3956663"/>
            <a:ext cx="7405001" cy="2829619"/>
            <a:chOff x="2297722" y="3660321"/>
            <a:chExt cx="8158934" cy="270381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CD31A50-D075-8794-5D8F-9530F5C89C1A}"/>
                </a:ext>
              </a:extLst>
            </p:cNvPr>
            <p:cNvSpPr/>
            <p:nvPr/>
          </p:nvSpPr>
          <p:spPr>
            <a:xfrm>
              <a:off x="2297730" y="3660321"/>
              <a:ext cx="8158926" cy="2703814"/>
            </a:xfrm>
            <a:prstGeom prst="roundRect">
              <a:avLst>
                <a:gd name="adj" fmla="val 266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2000" rIns="0" bIns="0" rtlCol="0" anchor="t"/>
            <a:lstStyle/>
            <a:p>
              <a:pPr>
                <a:lnSpc>
                  <a:spcPct val="200000"/>
                </a:lnSpc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Courier New" panose="02070309020205020404" pitchFamily="49" charset="0"/>
                </a:rPr>
                <a:t>Before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"execution(* com.itheima.service.DeptService.*(..))"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public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Courier New" panose="02070309020205020404" pitchFamily="49" charset="0"/>
                </a:rPr>
                <a:t>void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Courier New" panose="02070309020205020404" pitchFamily="49" charset="0"/>
                </a:rPr>
                <a:t>before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JoinPoint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joinPoint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) {</a:t>
              </a:r>
              <a:endParaRPr lang="en-US" altLang="zh-CN" sz="1200" b="0" i="0" u="none">
                <a:solidFill>
                  <a:schemeClr val="tx1">
                    <a:lumMod val="75000"/>
                    <a:lumOff val="25000"/>
                  </a:schemeClr>
                </a:solidFill>
                <a:ea typeface="Fira Code" panose="020B08090500000200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200000"/>
                </a:lnSpc>
              </a:pP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String className = joinPoint.getTarget().getClass().getName();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类名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Signature signature = joinPoint.getSignature();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方法签名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String methodName = joinPoint.getSignature().getName();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方法名</a:t>
              </a:r>
              <a:b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</a:b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  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cs typeface="Courier New" panose="02070309020205020404" pitchFamily="49" charset="0"/>
                </a:rPr>
                <a:t>Object[] args = joinPoint.getArgs(); 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//获取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目标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</a:t>
              </a:r>
              <a:r>
                <a:rPr kumimoji="0" lang="zh-CN" altLang="en-US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运行</a:t>
              </a:r>
              <a:r>
                <a:rPr kumimoji="0" lang="zh-CN" altLang="zh-CN" sz="1200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参数</a:t>
              </a: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endParaRPr lang="en-US" altLang="zh-CN" sz="1200">
                <a:solidFill>
                  <a:schemeClr val="tx1"/>
                </a:solidFill>
                <a:ea typeface="Fira Code" panose="020B08090500000200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200000"/>
                </a:lnSpc>
              </a:pPr>
              <a:r>
                <a:rPr kumimoji="0" lang="en-US" altLang="zh-CN" sz="1200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endParaRPr kumimoji="0" lang="zh-CN" altLang="zh-CN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4967C1E4-BBD0-0CDC-B8BC-5BFA6A9895C9}"/>
                </a:ext>
              </a:extLst>
            </p:cNvPr>
            <p:cNvSpPr/>
            <p:nvPr/>
          </p:nvSpPr>
          <p:spPr>
            <a:xfrm>
              <a:off x="2297722" y="3660322"/>
              <a:ext cx="8158926" cy="270190"/>
            </a:xfrm>
            <a:prstGeom prst="round2SameRect">
              <a:avLst>
                <a:gd name="adj1" fmla="val 16144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其它通知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A3001B0-E118-18BA-4A82-C1C5FDE6AAE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43430AC-1FD6-685C-945A-F66F19BD53B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32A0C36-8CB6-784D-6557-C71BB3389ED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211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274DC9-6CC6-01C4-2FB0-07C84E3E4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AOP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基础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AOP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进阶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AOP</a:t>
            </a:r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1608184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19D99-F33F-0449-CCA7-56816CB73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AOP</a:t>
            </a:r>
            <a:r>
              <a:rPr lang="zh-CN" altLang="en-US"/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54BC03-3B5B-05FF-7CE6-C6C7A5AAE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544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ADA238D-2F45-B086-26BC-66514A79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将案例中增、删、改相关接口的操作日志记录到数据库表中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3D13AC-D336-7C0F-459E-EEF969A904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8480" y="1024932"/>
            <a:ext cx="10785159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日志信息包含：操作人、操作时间、执行方法的全类名、执行方法名、方法运行时参数、返回值、方法执行时长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87FFA23-45F8-F5E1-E755-F77353A122E2}"/>
              </a:ext>
            </a:extLst>
          </p:cNvPr>
          <p:cNvSpPr txBox="1">
            <a:spLocks/>
          </p:cNvSpPr>
          <p:nvPr/>
        </p:nvSpPr>
        <p:spPr>
          <a:xfrm>
            <a:off x="473479" y="1572657"/>
            <a:ext cx="3649806" cy="9662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采用哪种通知类型 ？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切入点表达式该怎么写 ？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C56805-0BFA-E333-76D9-5F4B31345098}"/>
              </a:ext>
            </a:extLst>
          </p:cNvPr>
          <p:cNvSpPr txBox="1"/>
          <p:nvPr/>
        </p:nvSpPr>
        <p:spPr>
          <a:xfrm>
            <a:off x="3079500" y="1659731"/>
            <a:ext cx="188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@Around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环绕通知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01E836-7A59-568D-EEC3-C1C9741AD177}"/>
              </a:ext>
            </a:extLst>
          </p:cNvPr>
          <p:cNvSpPr txBox="1"/>
          <p:nvPr/>
        </p:nvSpPr>
        <p:spPr>
          <a:xfrm>
            <a:off x="778175" y="2469750"/>
            <a:ext cx="8150671" cy="42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由于增、删、改 方法名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我们定义的比较规范，分别为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save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656D178-030A-B07C-DDF6-051F753F73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432"/>
          <a:stretch/>
        </p:blipFill>
        <p:spPr>
          <a:xfrm>
            <a:off x="8401874" y="1567160"/>
            <a:ext cx="3390300" cy="41999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4F1AC39-F65D-A735-F6BE-B33504054A89}"/>
              </a:ext>
            </a:extLst>
          </p:cNvPr>
          <p:cNvSpPr/>
          <p:nvPr/>
        </p:nvSpPr>
        <p:spPr>
          <a:xfrm>
            <a:off x="8401874" y="2052451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8E9A13-C919-D401-3A62-76F9BD40716E}"/>
              </a:ext>
            </a:extLst>
          </p:cNvPr>
          <p:cNvSpPr/>
          <p:nvPr/>
        </p:nvSpPr>
        <p:spPr>
          <a:xfrm>
            <a:off x="8401872" y="2974686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A8FFBA-4E52-CB7F-F71C-45A3772426C0}"/>
              </a:ext>
            </a:extLst>
          </p:cNvPr>
          <p:cNvSpPr/>
          <p:nvPr/>
        </p:nvSpPr>
        <p:spPr>
          <a:xfrm>
            <a:off x="8401872" y="3205528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3C0755-26A9-3AFA-98DD-5D4D0ED62030}"/>
              </a:ext>
            </a:extLst>
          </p:cNvPr>
          <p:cNvSpPr/>
          <p:nvPr/>
        </p:nvSpPr>
        <p:spPr>
          <a:xfrm>
            <a:off x="8401872" y="3903531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3CD043-8EE0-49E7-6DC4-C397CAB0B753}"/>
              </a:ext>
            </a:extLst>
          </p:cNvPr>
          <p:cNvSpPr/>
          <p:nvPr/>
        </p:nvSpPr>
        <p:spPr>
          <a:xfrm>
            <a:off x="8401872" y="4600808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DE2A0A-6292-F149-30D2-13FEF798EEAB}"/>
              </a:ext>
            </a:extLst>
          </p:cNvPr>
          <p:cNvSpPr/>
          <p:nvPr/>
        </p:nvSpPr>
        <p:spPr>
          <a:xfrm>
            <a:off x="8401872" y="4829564"/>
            <a:ext cx="3390300" cy="201804"/>
          </a:xfrm>
          <a:prstGeom prst="rect">
            <a:avLst/>
          </a:prstGeom>
          <a:solidFill>
            <a:srgbClr val="FF0000">
              <a:alpha val="14902"/>
            </a:srgbClr>
          </a:solidFill>
          <a:ln w="3175">
            <a:noFill/>
            <a:prstDash val="lgDash"/>
          </a:ln>
        </p:spPr>
        <p:txBody>
          <a:bodyPr wrap="square" lIns="144000" tIns="468000" rIns="72000" bIns="108000" rtlCol="0" anchor="ctr">
            <a:noAutofit/>
          </a:bodyPr>
          <a:lstStyle/>
          <a:p>
            <a:pPr marL="357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A11EAF9-3E77-F46C-A75C-F346E910E1C9}"/>
              </a:ext>
            </a:extLst>
          </p:cNvPr>
          <p:cNvSpPr/>
          <p:nvPr/>
        </p:nvSpPr>
        <p:spPr>
          <a:xfrm>
            <a:off x="922486" y="3047475"/>
            <a:ext cx="6911787" cy="956958"/>
          </a:xfrm>
          <a:prstGeom prst="roundRect">
            <a:avLst>
              <a:gd name="adj" fmla="val 729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zh-CN" sz="1200">
                <a:solidFill>
                  <a:srgbClr val="9E880D"/>
                </a:solidFill>
                <a:latin typeface="Fira Code" panose="020B0809050000020004" pitchFamily="49" charset="0"/>
              </a:rPr>
              <a:t>@Around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(</a:t>
            </a:r>
            <a:r>
              <a:rPr lang="zh-CN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"execution(* com.itheima.controller.*.save(..)) ||" 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+</a:t>
            </a:r>
            <a:b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"execution(* com.itheima.controller.*.delete(..)) ||" 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+</a:t>
            </a:r>
            <a:b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"execution(* com.itheima.controller.*.update(..))"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)</a:t>
            </a:r>
            <a:endParaRPr lang="zh-CN" altLang="zh-CN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700B921-030E-B637-1A3B-38D277A9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734CAD2-216F-93B2-5CE5-49B6BB46AEF3}"/>
              </a:ext>
            </a:extLst>
          </p:cNvPr>
          <p:cNvGrpSpPr/>
          <p:nvPr/>
        </p:nvGrpSpPr>
        <p:grpSpPr>
          <a:xfrm>
            <a:off x="778175" y="6143374"/>
            <a:ext cx="11022375" cy="448410"/>
            <a:chOff x="931791" y="6014676"/>
            <a:chExt cx="11022375" cy="44841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913610CC-336A-3351-26D6-B64FBF2FE22E}"/>
                </a:ext>
              </a:extLst>
            </p:cNvPr>
            <p:cNvGrpSpPr/>
            <p:nvPr/>
          </p:nvGrpSpPr>
          <p:grpSpPr>
            <a:xfrm>
              <a:off x="931791" y="6014676"/>
              <a:ext cx="11022375" cy="448410"/>
              <a:chOff x="710880" y="5745683"/>
              <a:chExt cx="10629082" cy="44841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941A9CB-BDE0-5610-D7BC-E54DA6C899DD}"/>
                  </a:ext>
                </a:extLst>
              </p:cNvPr>
              <p:cNvSpPr/>
              <p:nvPr/>
            </p:nvSpPr>
            <p:spPr>
              <a:xfrm>
                <a:off x="710880" y="5745686"/>
                <a:ext cx="10629082" cy="448407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8000" rtlCol="0" anchor="ctr"/>
              <a:lstStyle/>
              <a:p>
                <a:r>
                  <a:rPr lang="zh-CN" altLang="en-US" sz="1400" b="0" i="0">
                    <a:solidFill>
                      <a:schemeClr val="tx1"/>
                    </a:solidFill>
                    <a:effectLst/>
                    <a:cs typeface="阿里巴巴普惠体" panose="00020600040101010101" pitchFamily="18" charset="-122"/>
                  </a:rPr>
                  <a:t>请帮我基于</a:t>
                </a:r>
                <a:r>
                  <a:rPr lang="en-US" altLang="zh-CN" sz="1400" b="0" i="0">
                    <a:solidFill>
                      <a:schemeClr val="tx1"/>
                    </a:solidFill>
                    <a:effectLst/>
                    <a:cs typeface="阿里巴巴普惠体" panose="00020600040101010101" pitchFamily="18" charset="-122"/>
                  </a:rPr>
                  <a:t>Spring AOP</a:t>
                </a:r>
                <a:r>
                  <a:rPr lang="zh-CN" altLang="en-US" sz="1400" b="0" i="0">
                    <a:solidFill>
                      <a:schemeClr val="tx1"/>
                    </a:solidFill>
                    <a:effectLst/>
                    <a:cs typeface="阿里巴巴普惠体" panose="00020600040101010101" pitchFamily="18" charset="-122"/>
                  </a:rPr>
                  <a:t>实现记录系统所有增、删、改功能接口的操作日志。具体信息如下：</a:t>
                </a:r>
                <a:r>
                  <a:rPr lang="en-US" altLang="zh-CN" sz="1400" b="0" i="0">
                    <a:solidFill>
                      <a:schemeClr val="tx1"/>
                    </a:solidFill>
                    <a:effectLst/>
                    <a:cs typeface="阿里巴巴普惠体" panose="00020600040101010101" pitchFamily="18" charset="-122"/>
                  </a:rPr>
                  <a:t>...</a:t>
                </a:r>
                <a:endParaRPr lang="zh-CN" altLang="en-US" sz="1400" dirty="0">
                  <a:solidFill>
                    <a:schemeClr val="tx1"/>
                  </a:solidFill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24" name="矩形: 圆顶角 23">
                <a:extLst>
                  <a:ext uri="{FF2B5EF4-FFF2-40B4-BE49-F238E27FC236}">
                    <a16:creationId xmlns:a16="http://schemas.microsoft.com/office/drawing/2014/main" id="{31496C21-D84E-3C4C-C27F-80B4D8B13E59}"/>
                  </a:ext>
                </a:extLst>
              </p:cNvPr>
              <p:cNvSpPr/>
              <p:nvPr/>
            </p:nvSpPr>
            <p:spPr>
              <a:xfrm rot="16200000">
                <a:off x="1044529" y="5412035"/>
                <a:ext cx="448407" cy="1115704"/>
              </a:xfrm>
              <a:prstGeom prst="round2Same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3257D67-4EC9-8A5C-A380-2B898A02533C}"/>
                  </a:ext>
                </a:extLst>
              </p:cNvPr>
              <p:cNvSpPr txBox="1"/>
              <p:nvPr/>
            </p:nvSpPr>
            <p:spPr>
              <a:xfrm>
                <a:off x="912553" y="5815679"/>
                <a:ext cx="9770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400" b="1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Prompt</a:t>
                </a:r>
                <a:r>
                  <a:rPr lang="zh-CN" altLang="en-US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：</a:t>
                </a:r>
                <a:endParaRPr lang="zh-CN" altLang="en-US" sz="1050" dirty="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2" name="quill-drawing-a-line_16294">
              <a:extLst>
                <a:ext uri="{FF2B5EF4-FFF2-40B4-BE49-F238E27FC236}">
                  <a16:creationId xmlns:a16="http://schemas.microsoft.com/office/drawing/2014/main" id="{5A1AEE1D-3E39-34CF-2F11-FEAF828731F5}"/>
                </a:ext>
              </a:extLst>
            </p:cNvPr>
            <p:cNvSpPr/>
            <p:nvPr/>
          </p:nvSpPr>
          <p:spPr>
            <a:xfrm>
              <a:off x="962614" y="6051604"/>
              <a:ext cx="343465" cy="373915"/>
            </a:xfrm>
            <a:custGeom>
              <a:avLst/>
              <a:gdLst>
                <a:gd name="connsiteX0" fmla="*/ 15523 w 556212"/>
                <a:gd name="connsiteY0" fmla="*/ 565364 h 605522"/>
                <a:gd name="connsiteX1" fmla="*/ 12638 w 556212"/>
                <a:gd name="connsiteY1" fmla="*/ 572217 h 605522"/>
                <a:gd name="connsiteX2" fmla="*/ 19782 w 556212"/>
                <a:gd name="connsiteY2" fmla="*/ 575095 h 605522"/>
                <a:gd name="connsiteX3" fmla="*/ 22667 w 556212"/>
                <a:gd name="connsiteY3" fmla="*/ 568242 h 605522"/>
                <a:gd name="connsiteX4" fmla="*/ 15523 w 556212"/>
                <a:gd name="connsiteY4" fmla="*/ 565364 h 605522"/>
                <a:gd name="connsiteX5" fmla="*/ 16347 w 556212"/>
                <a:gd name="connsiteY5" fmla="*/ 539049 h 605522"/>
                <a:gd name="connsiteX6" fmla="*/ 38740 w 556212"/>
                <a:gd name="connsiteY6" fmla="*/ 547821 h 605522"/>
                <a:gd name="connsiteX7" fmla="*/ 30635 w 556212"/>
                <a:gd name="connsiteY7" fmla="*/ 580166 h 605522"/>
                <a:gd name="connsiteX8" fmla="*/ 0 w 556212"/>
                <a:gd name="connsiteY8" fmla="*/ 605522 h 605522"/>
                <a:gd name="connsiteX9" fmla="*/ 961 w 556212"/>
                <a:gd name="connsiteY9" fmla="*/ 564268 h 605522"/>
                <a:gd name="connsiteX10" fmla="*/ 22661 w 556212"/>
                <a:gd name="connsiteY10" fmla="*/ 519856 h 605522"/>
                <a:gd name="connsiteX11" fmla="*/ 47914 w 556212"/>
                <a:gd name="connsiteY11" fmla="*/ 530030 h 605522"/>
                <a:gd name="connsiteX12" fmla="*/ 43248 w 556212"/>
                <a:gd name="connsiteY12" fmla="*/ 541167 h 605522"/>
                <a:gd name="connsiteX13" fmla="*/ 17994 w 556212"/>
                <a:gd name="connsiteY13" fmla="*/ 530993 h 605522"/>
                <a:gd name="connsiteX14" fmla="*/ 546427 w 556212"/>
                <a:gd name="connsiteY14" fmla="*/ 448764 h 605522"/>
                <a:gd name="connsiteX15" fmla="*/ 550546 w 556212"/>
                <a:gd name="connsiteY15" fmla="*/ 458359 h 605522"/>
                <a:gd name="connsiteX16" fmla="*/ 279951 w 556212"/>
                <a:gd name="connsiteY16" fmla="*/ 543077 h 605522"/>
                <a:gd name="connsiteX17" fmla="*/ 28440 w 556212"/>
                <a:gd name="connsiteY17" fmla="*/ 602708 h 605522"/>
                <a:gd name="connsiteX18" fmla="*/ 28440 w 556212"/>
                <a:gd name="connsiteY18" fmla="*/ 592701 h 605522"/>
                <a:gd name="connsiteX19" fmla="*/ 298897 w 556212"/>
                <a:gd name="connsiteY19" fmla="*/ 521692 h 605522"/>
                <a:gd name="connsiteX20" fmla="*/ 546427 w 556212"/>
                <a:gd name="connsiteY20" fmla="*/ 448764 h 605522"/>
                <a:gd name="connsiteX21" fmla="*/ 522536 w 556212"/>
                <a:gd name="connsiteY21" fmla="*/ 36059 h 605522"/>
                <a:gd name="connsiteX22" fmla="*/ 383043 w 556212"/>
                <a:gd name="connsiteY22" fmla="*/ 135701 h 605522"/>
                <a:gd name="connsiteX23" fmla="*/ 52709 w 556212"/>
                <a:gd name="connsiteY23" fmla="*/ 502058 h 605522"/>
                <a:gd name="connsiteX24" fmla="*/ 45707 w 556212"/>
                <a:gd name="connsiteY24" fmla="*/ 520561 h 605522"/>
                <a:gd name="connsiteX25" fmla="*/ 32389 w 556212"/>
                <a:gd name="connsiteY25" fmla="*/ 515490 h 605522"/>
                <a:gd name="connsiteX26" fmla="*/ 44883 w 556212"/>
                <a:gd name="connsiteY26" fmla="*/ 493423 h 605522"/>
                <a:gd name="connsiteX27" fmla="*/ 44883 w 556212"/>
                <a:gd name="connsiteY27" fmla="*/ 493560 h 605522"/>
                <a:gd name="connsiteX28" fmla="*/ 264694 w 556212"/>
                <a:gd name="connsiteY28" fmla="*/ 205875 h 605522"/>
                <a:gd name="connsiteX29" fmla="*/ 454437 w 556212"/>
                <a:gd name="connsiteY29" fmla="*/ 79232 h 605522"/>
                <a:gd name="connsiteX30" fmla="*/ 522536 w 556212"/>
                <a:gd name="connsiteY30" fmla="*/ 36059 h 605522"/>
                <a:gd name="connsiteX31" fmla="*/ 542327 w 556212"/>
                <a:gd name="connsiteY31" fmla="*/ 25898 h 605522"/>
                <a:gd name="connsiteX32" fmla="*/ 551114 w 556212"/>
                <a:gd name="connsiteY32" fmla="*/ 48102 h 605522"/>
                <a:gd name="connsiteX33" fmla="*/ 508689 w 556212"/>
                <a:gd name="connsiteY33" fmla="*/ 75652 h 605522"/>
                <a:gd name="connsiteX34" fmla="*/ 551526 w 556212"/>
                <a:gd name="connsiteY34" fmla="*/ 59889 h 605522"/>
                <a:gd name="connsiteX35" fmla="*/ 551526 w 556212"/>
                <a:gd name="connsiteY35" fmla="*/ 80175 h 605522"/>
                <a:gd name="connsiteX36" fmla="*/ 476973 w 556212"/>
                <a:gd name="connsiteY36" fmla="*/ 106628 h 605522"/>
                <a:gd name="connsiteX37" fmla="*/ 546720 w 556212"/>
                <a:gd name="connsiteY37" fmla="*/ 92921 h 605522"/>
                <a:gd name="connsiteX38" fmla="*/ 534089 w 556212"/>
                <a:gd name="connsiteY38" fmla="*/ 113069 h 605522"/>
                <a:gd name="connsiteX39" fmla="*/ 442236 w 556212"/>
                <a:gd name="connsiteY39" fmla="*/ 138015 h 605522"/>
                <a:gd name="connsiteX40" fmla="*/ 526812 w 556212"/>
                <a:gd name="connsiteY40" fmla="*/ 129243 h 605522"/>
                <a:gd name="connsiteX41" fmla="*/ 485897 w 556212"/>
                <a:gd name="connsiteY41" fmla="*/ 192017 h 605522"/>
                <a:gd name="connsiteX42" fmla="*/ 430566 w 556212"/>
                <a:gd name="connsiteY42" fmla="*/ 210795 h 605522"/>
                <a:gd name="connsiteX43" fmla="*/ 480131 w 556212"/>
                <a:gd name="connsiteY43" fmla="*/ 202845 h 605522"/>
                <a:gd name="connsiteX44" fmla="*/ 420681 w 556212"/>
                <a:gd name="connsiteY44" fmla="*/ 226009 h 605522"/>
                <a:gd name="connsiteX45" fmla="*/ 463380 w 556212"/>
                <a:gd name="connsiteY45" fmla="*/ 220389 h 605522"/>
                <a:gd name="connsiteX46" fmla="*/ 381963 w 556212"/>
                <a:gd name="connsiteY46" fmla="*/ 269183 h 605522"/>
                <a:gd name="connsiteX47" fmla="*/ 276792 w 556212"/>
                <a:gd name="connsiteY47" fmla="*/ 288783 h 605522"/>
                <a:gd name="connsiteX48" fmla="*/ 217342 w 556212"/>
                <a:gd name="connsiteY48" fmla="*/ 296596 h 605522"/>
                <a:gd name="connsiteX49" fmla="*/ 285305 w 556212"/>
                <a:gd name="connsiteY49" fmla="*/ 296596 h 605522"/>
                <a:gd name="connsiteX50" fmla="*/ 379079 w 556212"/>
                <a:gd name="connsiteY50" fmla="*/ 293580 h 605522"/>
                <a:gd name="connsiteX51" fmla="*/ 314137 w 556212"/>
                <a:gd name="connsiteY51" fmla="*/ 356355 h 605522"/>
                <a:gd name="connsiteX52" fmla="*/ 275831 w 556212"/>
                <a:gd name="connsiteY52" fmla="*/ 370198 h 605522"/>
                <a:gd name="connsiteX53" fmla="*/ 184116 w 556212"/>
                <a:gd name="connsiteY53" fmla="*/ 388153 h 605522"/>
                <a:gd name="connsiteX54" fmla="*/ 240271 w 556212"/>
                <a:gd name="connsiteY54" fmla="*/ 388153 h 605522"/>
                <a:gd name="connsiteX55" fmla="*/ 291620 w 556212"/>
                <a:gd name="connsiteY55" fmla="*/ 374995 h 605522"/>
                <a:gd name="connsiteX56" fmla="*/ 144025 w 556212"/>
                <a:gd name="connsiteY56" fmla="*/ 445719 h 605522"/>
                <a:gd name="connsiteX57" fmla="*/ 99540 w 556212"/>
                <a:gd name="connsiteY57" fmla="*/ 459151 h 605522"/>
                <a:gd name="connsiteX58" fmla="*/ 151302 w 556212"/>
                <a:gd name="connsiteY58" fmla="*/ 453532 h 605522"/>
                <a:gd name="connsiteX59" fmla="*/ 220088 w 556212"/>
                <a:gd name="connsiteY59" fmla="*/ 429957 h 605522"/>
                <a:gd name="connsiteX60" fmla="*/ 138258 w 556212"/>
                <a:gd name="connsiteY60" fmla="*/ 475736 h 605522"/>
                <a:gd name="connsiteX61" fmla="*/ 81417 w 556212"/>
                <a:gd name="connsiteY61" fmla="*/ 496569 h 605522"/>
                <a:gd name="connsiteX62" fmla="*/ 63156 w 556212"/>
                <a:gd name="connsiteY62" fmla="*/ 496569 h 605522"/>
                <a:gd name="connsiteX63" fmla="*/ 388827 w 556212"/>
                <a:gd name="connsiteY63" fmla="*/ 144457 h 605522"/>
                <a:gd name="connsiteX64" fmla="*/ 486035 w 556212"/>
                <a:gd name="connsiteY64" fmla="*/ 73596 h 605522"/>
                <a:gd name="connsiteX65" fmla="*/ 542327 w 556212"/>
                <a:gd name="connsiteY65" fmla="*/ 25898 h 605522"/>
                <a:gd name="connsiteX66" fmla="*/ 499939 w 556212"/>
                <a:gd name="connsiteY66" fmla="*/ 0 h 605522"/>
                <a:gd name="connsiteX67" fmla="*/ 472204 w 556212"/>
                <a:gd name="connsiteY67" fmla="*/ 47014 h 605522"/>
                <a:gd name="connsiteX68" fmla="*/ 514767 w 556212"/>
                <a:gd name="connsiteY68" fmla="*/ 3975 h 605522"/>
                <a:gd name="connsiteX69" fmla="*/ 492524 w 556212"/>
                <a:gd name="connsiteY69" fmla="*/ 37968 h 605522"/>
                <a:gd name="connsiteX70" fmla="*/ 542365 w 556212"/>
                <a:gd name="connsiteY70" fmla="*/ 5209 h 605522"/>
                <a:gd name="connsiteX71" fmla="*/ 486071 w 556212"/>
                <a:gd name="connsiteY71" fmla="*/ 52908 h 605522"/>
                <a:gd name="connsiteX72" fmla="*/ 435132 w 556212"/>
                <a:gd name="connsiteY72" fmla="*/ 85668 h 605522"/>
                <a:gd name="connsiteX73" fmla="*/ 251559 w 556212"/>
                <a:gd name="connsiteY73" fmla="*/ 204643 h 605522"/>
                <a:gd name="connsiteX74" fmla="*/ 36406 w 556212"/>
                <a:gd name="connsiteY74" fmla="*/ 495228 h 605522"/>
                <a:gd name="connsiteX75" fmla="*/ 27481 w 556212"/>
                <a:gd name="connsiteY75" fmla="*/ 495228 h 605522"/>
                <a:gd name="connsiteX76" fmla="*/ 35720 w 556212"/>
                <a:gd name="connsiteY76" fmla="*/ 393660 h 605522"/>
                <a:gd name="connsiteX77" fmla="*/ 45056 w 556212"/>
                <a:gd name="connsiteY77" fmla="*/ 442045 h 605522"/>
                <a:gd name="connsiteX78" fmla="*/ 53157 w 556212"/>
                <a:gd name="connsiteY78" fmla="*/ 378583 h 605522"/>
                <a:gd name="connsiteX79" fmla="*/ 53157 w 556212"/>
                <a:gd name="connsiteY79" fmla="*/ 421759 h 605522"/>
                <a:gd name="connsiteX80" fmla="*/ 73478 w 556212"/>
                <a:gd name="connsiteY80" fmla="*/ 325537 h 605522"/>
                <a:gd name="connsiteX81" fmla="*/ 144326 w 556212"/>
                <a:gd name="connsiteY81" fmla="*/ 234798 h 605522"/>
                <a:gd name="connsiteX82" fmla="*/ 151740 w 556212"/>
                <a:gd name="connsiteY82" fmla="*/ 286336 h 605522"/>
                <a:gd name="connsiteX83" fmla="*/ 166569 w 556212"/>
                <a:gd name="connsiteY83" fmla="*/ 191622 h 605522"/>
                <a:gd name="connsiteX84" fmla="*/ 271880 w 556212"/>
                <a:gd name="connsiteY84" fmla="*/ 96085 h 605522"/>
                <a:gd name="connsiteX85" fmla="*/ 261719 w 556212"/>
                <a:gd name="connsiteY85" fmla="*/ 149679 h 605522"/>
                <a:gd name="connsiteX86" fmla="*/ 289729 w 556212"/>
                <a:gd name="connsiteY86" fmla="*/ 85668 h 605522"/>
                <a:gd name="connsiteX87" fmla="*/ 344787 w 556212"/>
                <a:gd name="connsiteY87" fmla="*/ 55513 h 605522"/>
                <a:gd name="connsiteX88" fmla="*/ 329821 w 556212"/>
                <a:gd name="connsiteY88" fmla="*/ 113081 h 605522"/>
                <a:gd name="connsiteX89" fmla="*/ 373758 w 556212"/>
                <a:gd name="connsiteY89" fmla="*/ 38516 h 605522"/>
                <a:gd name="connsiteX90" fmla="*/ 499939 w 556212"/>
                <a:gd name="connsiteY90" fmla="*/ 0 h 60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56212" h="605522">
                  <a:moveTo>
                    <a:pt x="15523" y="565364"/>
                  </a:moveTo>
                  <a:cubicBezTo>
                    <a:pt x="12776" y="566461"/>
                    <a:pt x="11539" y="569613"/>
                    <a:pt x="12638" y="572217"/>
                  </a:cubicBezTo>
                  <a:cubicBezTo>
                    <a:pt x="13737" y="574958"/>
                    <a:pt x="17034" y="576192"/>
                    <a:pt x="19782" y="575095"/>
                  </a:cubicBezTo>
                  <a:cubicBezTo>
                    <a:pt x="22530" y="573999"/>
                    <a:pt x="23766" y="570846"/>
                    <a:pt x="22667" y="568242"/>
                  </a:cubicBezTo>
                  <a:cubicBezTo>
                    <a:pt x="21431" y="565501"/>
                    <a:pt x="18271" y="564268"/>
                    <a:pt x="15523" y="565364"/>
                  </a:cubicBezTo>
                  <a:close/>
                  <a:moveTo>
                    <a:pt x="16347" y="539049"/>
                  </a:moveTo>
                  <a:lnTo>
                    <a:pt x="38740" y="547821"/>
                  </a:lnTo>
                  <a:lnTo>
                    <a:pt x="30635" y="580166"/>
                  </a:lnTo>
                  <a:cubicBezTo>
                    <a:pt x="11814" y="585512"/>
                    <a:pt x="137" y="605522"/>
                    <a:pt x="0" y="605522"/>
                  </a:cubicBezTo>
                  <a:cubicBezTo>
                    <a:pt x="9479" y="587156"/>
                    <a:pt x="961" y="564268"/>
                    <a:pt x="961" y="564268"/>
                  </a:cubicBezTo>
                  <a:close/>
                  <a:moveTo>
                    <a:pt x="22661" y="519856"/>
                  </a:moveTo>
                  <a:lnTo>
                    <a:pt x="47914" y="530030"/>
                  </a:lnTo>
                  <a:lnTo>
                    <a:pt x="43248" y="541167"/>
                  </a:lnTo>
                  <a:lnTo>
                    <a:pt x="17994" y="530993"/>
                  </a:lnTo>
                  <a:close/>
                  <a:moveTo>
                    <a:pt x="546427" y="448764"/>
                  </a:moveTo>
                  <a:cubicBezTo>
                    <a:pt x="556312" y="447667"/>
                    <a:pt x="560430" y="457263"/>
                    <a:pt x="550546" y="458359"/>
                  </a:cubicBezTo>
                  <a:cubicBezTo>
                    <a:pt x="443736" y="469737"/>
                    <a:pt x="365344" y="503186"/>
                    <a:pt x="279951" y="543077"/>
                  </a:cubicBezTo>
                  <a:cubicBezTo>
                    <a:pt x="203345" y="578992"/>
                    <a:pt x="123993" y="599418"/>
                    <a:pt x="28440" y="602708"/>
                  </a:cubicBezTo>
                  <a:cubicBezTo>
                    <a:pt x="18418" y="602982"/>
                    <a:pt x="18556" y="593112"/>
                    <a:pt x="28440" y="592701"/>
                  </a:cubicBezTo>
                  <a:cubicBezTo>
                    <a:pt x="135250" y="589137"/>
                    <a:pt x="215426" y="561857"/>
                    <a:pt x="298897" y="521692"/>
                  </a:cubicBezTo>
                  <a:cubicBezTo>
                    <a:pt x="374954" y="485228"/>
                    <a:pt x="451836" y="458771"/>
                    <a:pt x="546427" y="448764"/>
                  </a:cubicBezTo>
                  <a:close/>
                  <a:moveTo>
                    <a:pt x="522536" y="36059"/>
                  </a:moveTo>
                  <a:cubicBezTo>
                    <a:pt x="453339" y="93898"/>
                    <a:pt x="383043" y="135701"/>
                    <a:pt x="383043" y="135701"/>
                  </a:cubicBezTo>
                  <a:cubicBezTo>
                    <a:pt x="194124" y="254667"/>
                    <a:pt x="90877" y="433529"/>
                    <a:pt x="52709" y="502058"/>
                  </a:cubicBezTo>
                  <a:lnTo>
                    <a:pt x="45707" y="520561"/>
                  </a:lnTo>
                  <a:lnTo>
                    <a:pt x="32389" y="515490"/>
                  </a:lnTo>
                  <a:lnTo>
                    <a:pt x="44883" y="493423"/>
                  </a:lnTo>
                  <a:lnTo>
                    <a:pt x="44883" y="493560"/>
                  </a:lnTo>
                  <a:cubicBezTo>
                    <a:pt x="116277" y="366918"/>
                    <a:pt x="200440" y="258505"/>
                    <a:pt x="264694" y="205875"/>
                  </a:cubicBezTo>
                  <a:cubicBezTo>
                    <a:pt x="348582" y="137208"/>
                    <a:pt x="407070" y="109111"/>
                    <a:pt x="454437" y="79232"/>
                  </a:cubicBezTo>
                  <a:cubicBezTo>
                    <a:pt x="472423" y="67857"/>
                    <a:pt x="505786" y="50176"/>
                    <a:pt x="522536" y="36059"/>
                  </a:cubicBezTo>
                  <a:close/>
                  <a:moveTo>
                    <a:pt x="542327" y="25898"/>
                  </a:moveTo>
                  <a:cubicBezTo>
                    <a:pt x="542327" y="25898"/>
                    <a:pt x="553585" y="34396"/>
                    <a:pt x="551114" y="48102"/>
                  </a:cubicBezTo>
                  <a:lnTo>
                    <a:pt x="508689" y="75652"/>
                  </a:lnTo>
                  <a:cubicBezTo>
                    <a:pt x="508689" y="75652"/>
                    <a:pt x="535874" y="68798"/>
                    <a:pt x="551526" y="59889"/>
                  </a:cubicBezTo>
                  <a:lnTo>
                    <a:pt x="551526" y="80175"/>
                  </a:lnTo>
                  <a:cubicBezTo>
                    <a:pt x="551526" y="80175"/>
                    <a:pt x="517064" y="100460"/>
                    <a:pt x="476973" y="106628"/>
                  </a:cubicBezTo>
                  <a:cubicBezTo>
                    <a:pt x="476973" y="106628"/>
                    <a:pt x="514043" y="104709"/>
                    <a:pt x="546720" y="92921"/>
                  </a:cubicBezTo>
                  <a:cubicBezTo>
                    <a:pt x="546720" y="92921"/>
                    <a:pt x="543013" y="109232"/>
                    <a:pt x="534089" y="113069"/>
                  </a:cubicBezTo>
                  <a:cubicBezTo>
                    <a:pt x="525027" y="117044"/>
                    <a:pt x="507041" y="133629"/>
                    <a:pt x="442236" y="138015"/>
                  </a:cubicBezTo>
                  <a:cubicBezTo>
                    <a:pt x="442236" y="138015"/>
                    <a:pt x="479582" y="145416"/>
                    <a:pt x="526812" y="129243"/>
                  </a:cubicBezTo>
                  <a:cubicBezTo>
                    <a:pt x="526812" y="129243"/>
                    <a:pt x="519261" y="166661"/>
                    <a:pt x="485897" y="192017"/>
                  </a:cubicBezTo>
                  <a:cubicBezTo>
                    <a:pt x="485897" y="192017"/>
                    <a:pt x="466126" y="202845"/>
                    <a:pt x="430566" y="210795"/>
                  </a:cubicBezTo>
                  <a:cubicBezTo>
                    <a:pt x="430566" y="210795"/>
                    <a:pt x="460772" y="208190"/>
                    <a:pt x="480131" y="202845"/>
                  </a:cubicBezTo>
                  <a:cubicBezTo>
                    <a:pt x="480131" y="202845"/>
                    <a:pt x="448552" y="221348"/>
                    <a:pt x="420681" y="226009"/>
                  </a:cubicBezTo>
                  <a:lnTo>
                    <a:pt x="463380" y="220389"/>
                  </a:lnTo>
                  <a:cubicBezTo>
                    <a:pt x="463380" y="220389"/>
                    <a:pt x="445394" y="247390"/>
                    <a:pt x="381963" y="269183"/>
                  </a:cubicBezTo>
                  <a:cubicBezTo>
                    <a:pt x="318531" y="290976"/>
                    <a:pt x="286678" y="288372"/>
                    <a:pt x="276792" y="288783"/>
                  </a:cubicBezTo>
                  <a:cubicBezTo>
                    <a:pt x="266907" y="289194"/>
                    <a:pt x="257845" y="283026"/>
                    <a:pt x="217342" y="296596"/>
                  </a:cubicBezTo>
                  <a:cubicBezTo>
                    <a:pt x="217342" y="296596"/>
                    <a:pt x="260179" y="289194"/>
                    <a:pt x="285305" y="296596"/>
                  </a:cubicBezTo>
                  <a:cubicBezTo>
                    <a:pt x="310430" y="303997"/>
                    <a:pt x="371116" y="296596"/>
                    <a:pt x="379079" y="293580"/>
                  </a:cubicBezTo>
                  <a:cubicBezTo>
                    <a:pt x="379079" y="293580"/>
                    <a:pt x="359995" y="341004"/>
                    <a:pt x="314137" y="356355"/>
                  </a:cubicBezTo>
                  <a:cubicBezTo>
                    <a:pt x="314137" y="356355"/>
                    <a:pt x="316334" y="354984"/>
                    <a:pt x="275831" y="370198"/>
                  </a:cubicBezTo>
                  <a:cubicBezTo>
                    <a:pt x="235328" y="385549"/>
                    <a:pt x="210614" y="381985"/>
                    <a:pt x="184116" y="388153"/>
                  </a:cubicBezTo>
                  <a:cubicBezTo>
                    <a:pt x="184116" y="388153"/>
                    <a:pt x="224070" y="386782"/>
                    <a:pt x="240271" y="388153"/>
                  </a:cubicBezTo>
                  <a:cubicBezTo>
                    <a:pt x="256472" y="389386"/>
                    <a:pt x="291620" y="374995"/>
                    <a:pt x="291620" y="374995"/>
                  </a:cubicBezTo>
                  <a:cubicBezTo>
                    <a:pt x="291620" y="374995"/>
                    <a:pt x="199905" y="437358"/>
                    <a:pt x="144025" y="445719"/>
                  </a:cubicBezTo>
                  <a:cubicBezTo>
                    <a:pt x="88282" y="453943"/>
                    <a:pt x="99540" y="459151"/>
                    <a:pt x="99540" y="459151"/>
                  </a:cubicBezTo>
                  <a:cubicBezTo>
                    <a:pt x="99540" y="459151"/>
                    <a:pt x="129197" y="450927"/>
                    <a:pt x="151302" y="453532"/>
                  </a:cubicBezTo>
                  <a:cubicBezTo>
                    <a:pt x="173269" y="456136"/>
                    <a:pt x="220088" y="429957"/>
                    <a:pt x="220088" y="429957"/>
                  </a:cubicBezTo>
                  <a:cubicBezTo>
                    <a:pt x="220088" y="429957"/>
                    <a:pt x="189471" y="460933"/>
                    <a:pt x="138258" y="475736"/>
                  </a:cubicBezTo>
                  <a:cubicBezTo>
                    <a:pt x="97618" y="487386"/>
                    <a:pt x="87870" y="491361"/>
                    <a:pt x="81417" y="496569"/>
                  </a:cubicBezTo>
                  <a:lnTo>
                    <a:pt x="63156" y="496569"/>
                  </a:lnTo>
                  <a:cubicBezTo>
                    <a:pt x="97618" y="434754"/>
                    <a:pt x="201827" y="254792"/>
                    <a:pt x="388827" y="144457"/>
                  </a:cubicBezTo>
                  <a:cubicBezTo>
                    <a:pt x="388827" y="144457"/>
                    <a:pt x="436470" y="112521"/>
                    <a:pt x="486035" y="73596"/>
                  </a:cubicBezTo>
                  <a:cubicBezTo>
                    <a:pt x="517750" y="49747"/>
                    <a:pt x="542327" y="25898"/>
                    <a:pt x="542327" y="25898"/>
                  </a:cubicBezTo>
                  <a:close/>
                  <a:moveTo>
                    <a:pt x="499939" y="0"/>
                  </a:moveTo>
                  <a:lnTo>
                    <a:pt x="472204" y="47014"/>
                  </a:lnTo>
                  <a:lnTo>
                    <a:pt x="514767" y="3975"/>
                  </a:lnTo>
                  <a:lnTo>
                    <a:pt x="492524" y="37968"/>
                  </a:lnTo>
                  <a:lnTo>
                    <a:pt x="542365" y="5209"/>
                  </a:lnTo>
                  <a:cubicBezTo>
                    <a:pt x="525202" y="21246"/>
                    <a:pt x="505568" y="37557"/>
                    <a:pt x="486071" y="52908"/>
                  </a:cubicBezTo>
                  <a:cubicBezTo>
                    <a:pt x="470144" y="64833"/>
                    <a:pt x="452432" y="76758"/>
                    <a:pt x="435132" y="85668"/>
                  </a:cubicBezTo>
                  <a:cubicBezTo>
                    <a:pt x="385978" y="110751"/>
                    <a:pt x="327487" y="145292"/>
                    <a:pt x="251559" y="204643"/>
                  </a:cubicBezTo>
                  <a:cubicBezTo>
                    <a:pt x="178377" y="261938"/>
                    <a:pt x="60846" y="444787"/>
                    <a:pt x="36406" y="495228"/>
                  </a:cubicBezTo>
                  <a:lnTo>
                    <a:pt x="27481" y="495228"/>
                  </a:lnTo>
                  <a:cubicBezTo>
                    <a:pt x="21852" y="484400"/>
                    <a:pt x="21028" y="445198"/>
                    <a:pt x="35720" y="393660"/>
                  </a:cubicBezTo>
                  <a:cubicBezTo>
                    <a:pt x="35720" y="393660"/>
                    <a:pt x="37642" y="439304"/>
                    <a:pt x="45056" y="442045"/>
                  </a:cubicBezTo>
                  <a:cubicBezTo>
                    <a:pt x="45056" y="442045"/>
                    <a:pt x="37642" y="411205"/>
                    <a:pt x="53157" y="378583"/>
                  </a:cubicBezTo>
                  <a:cubicBezTo>
                    <a:pt x="53157" y="378583"/>
                    <a:pt x="47116" y="415180"/>
                    <a:pt x="53157" y="421759"/>
                  </a:cubicBezTo>
                  <a:cubicBezTo>
                    <a:pt x="53157" y="421759"/>
                    <a:pt x="62631" y="351717"/>
                    <a:pt x="73478" y="325537"/>
                  </a:cubicBezTo>
                  <a:cubicBezTo>
                    <a:pt x="73478" y="325537"/>
                    <a:pt x="80206" y="296205"/>
                    <a:pt x="144326" y="234798"/>
                  </a:cubicBezTo>
                  <a:cubicBezTo>
                    <a:pt x="144326" y="234798"/>
                    <a:pt x="142266" y="275233"/>
                    <a:pt x="151740" y="286336"/>
                  </a:cubicBezTo>
                  <a:cubicBezTo>
                    <a:pt x="161214" y="297438"/>
                    <a:pt x="136225" y="251109"/>
                    <a:pt x="166569" y="191622"/>
                  </a:cubicBezTo>
                  <a:cubicBezTo>
                    <a:pt x="166569" y="191622"/>
                    <a:pt x="210368" y="131449"/>
                    <a:pt x="271880" y="96085"/>
                  </a:cubicBezTo>
                  <a:cubicBezTo>
                    <a:pt x="271880" y="96085"/>
                    <a:pt x="257737" y="131449"/>
                    <a:pt x="261719" y="149679"/>
                  </a:cubicBezTo>
                  <a:cubicBezTo>
                    <a:pt x="261719" y="149679"/>
                    <a:pt x="268310" y="103350"/>
                    <a:pt x="289729" y="85668"/>
                  </a:cubicBezTo>
                  <a:cubicBezTo>
                    <a:pt x="289729" y="85668"/>
                    <a:pt x="333254" y="60858"/>
                    <a:pt x="344787" y="55513"/>
                  </a:cubicBezTo>
                  <a:cubicBezTo>
                    <a:pt x="344787" y="55513"/>
                    <a:pt x="329135" y="90191"/>
                    <a:pt x="329821" y="113081"/>
                  </a:cubicBezTo>
                  <a:cubicBezTo>
                    <a:pt x="329821" y="113081"/>
                    <a:pt x="349455" y="67301"/>
                    <a:pt x="373758" y="38516"/>
                  </a:cubicBezTo>
                  <a:cubicBezTo>
                    <a:pt x="373758" y="38516"/>
                    <a:pt x="434446" y="5894"/>
                    <a:pt x="4999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EBE99FF-A828-052B-016D-38E97127ACA9}"/>
              </a:ext>
            </a:extLst>
          </p:cNvPr>
          <p:cNvSpPr/>
          <p:nvPr/>
        </p:nvSpPr>
        <p:spPr>
          <a:xfrm>
            <a:off x="922486" y="4098450"/>
            <a:ext cx="6911787" cy="448407"/>
          </a:xfrm>
          <a:prstGeom prst="roundRect">
            <a:avLst>
              <a:gd name="adj" fmla="val 729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zh-CN" sz="1200">
                <a:solidFill>
                  <a:srgbClr val="9E880D"/>
                </a:solidFill>
                <a:latin typeface="Fira Code" panose="020B0809050000020004" pitchFamily="49" charset="0"/>
              </a:rPr>
              <a:t>@Around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(</a:t>
            </a:r>
            <a:r>
              <a:rPr lang="zh-CN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en-US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@annotation(com.itheima.anno.Log)</a:t>
            </a:r>
            <a:r>
              <a:rPr lang="zh-CN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)</a:t>
            </a:r>
            <a:endParaRPr lang="zh-CN" altLang="zh-CN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00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获取当前登录员工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0378673" cy="158077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员工登录成功后，哪里存储的有当前登录员工的信息？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如何从</a:t>
            </a:r>
            <a:r>
              <a:rPr lang="en-US" altLang="zh-CN"/>
              <a:t>jwt</a:t>
            </a:r>
            <a:r>
              <a:rPr lang="zh-CN" altLang="en-US"/>
              <a:t>令牌中获取到当前登录的员工信息？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TokenFilter</a:t>
            </a:r>
            <a:r>
              <a:rPr lang="zh-CN" altLang="en-US"/>
              <a:t>中已经解析了令牌的信息，如何将其传递给</a:t>
            </a:r>
            <a:r>
              <a:rPr lang="en-US" altLang="zh-CN"/>
              <a:t>AOP</a:t>
            </a:r>
            <a:r>
              <a:rPr lang="zh-CN" altLang="en-US"/>
              <a:t>程序、</a:t>
            </a:r>
            <a:r>
              <a:rPr lang="en-US" altLang="zh-CN"/>
              <a:t>Controller</a:t>
            </a:r>
            <a:r>
              <a:rPr lang="zh-CN" altLang="en-US"/>
              <a:t>、</a:t>
            </a:r>
            <a:r>
              <a:rPr lang="en-US" altLang="zh-CN"/>
              <a:t>Service</a:t>
            </a:r>
            <a:r>
              <a:rPr lang="zh-CN" altLang="en-US"/>
              <a:t>呢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B266DE-5EF2-2B95-8F27-7AE71A852219}"/>
              </a:ext>
            </a:extLst>
          </p:cNvPr>
          <p:cNvSpPr txBox="1"/>
          <p:nvPr/>
        </p:nvSpPr>
        <p:spPr>
          <a:xfrm>
            <a:off x="6239435" y="1057835"/>
            <a:ext cx="3180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给客户端浏览器下发的</a:t>
            </a:r>
            <a:r>
              <a:rPr lang="en-US" altLang="zh-CN" sz="1600">
                <a:solidFill>
                  <a:srgbClr val="C00000"/>
                </a:solidFill>
              </a:rPr>
              <a:t>jwt</a:t>
            </a:r>
            <a:r>
              <a:rPr lang="zh-CN" altLang="en-US" sz="1600">
                <a:solidFill>
                  <a:srgbClr val="C00000"/>
                </a:solidFill>
              </a:rPr>
              <a:t>令牌中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E5A803-F3A7-92F0-4847-9E68F618EFDE}"/>
              </a:ext>
            </a:extLst>
          </p:cNvPr>
          <p:cNvSpPr txBox="1"/>
          <p:nvPr/>
        </p:nvSpPr>
        <p:spPr>
          <a:xfrm>
            <a:off x="6239435" y="1541817"/>
            <a:ext cx="3584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获取请求头中传递的</a:t>
            </a:r>
            <a:r>
              <a:rPr lang="en-US" altLang="zh-CN" sz="1600">
                <a:solidFill>
                  <a:srgbClr val="C00000"/>
                </a:solidFill>
              </a:rPr>
              <a:t>jwt</a:t>
            </a:r>
            <a:r>
              <a:rPr lang="zh-CN" altLang="en-US" sz="1600">
                <a:solidFill>
                  <a:srgbClr val="C00000"/>
                </a:solidFill>
              </a:rPr>
              <a:t>令牌，并解析</a:t>
            </a:r>
          </a:p>
        </p:txBody>
      </p:sp>
      <p:sp>
        <p:nvSpPr>
          <p:cNvPr id="6" name="!!文本框 5">
            <a:extLst>
              <a:ext uri="{FF2B5EF4-FFF2-40B4-BE49-F238E27FC236}">
                <a16:creationId xmlns:a16="http://schemas.microsoft.com/office/drawing/2014/main" id="{AB688059-9D06-A2B0-30C0-859320EF8971}"/>
              </a:ext>
            </a:extLst>
          </p:cNvPr>
          <p:cNvSpPr txBox="1"/>
          <p:nvPr/>
        </p:nvSpPr>
        <p:spPr>
          <a:xfrm>
            <a:off x="10073393" y="203498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ThreadLocal</a:t>
            </a:r>
            <a:endParaRPr lang="zh-CN" altLang="en-US" sz="1600">
              <a:solidFill>
                <a:srgbClr val="C00000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A3081D8-B3D6-7EB0-AF5A-8293A35D3675}"/>
              </a:ext>
            </a:extLst>
          </p:cNvPr>
          <p:cNvGrpSpPr/>
          <p:nvPr/>
        </p:nvGrpSpPr>
        <p:grpSpPr>
          <a:xfrm>
            <a:off x="593428" y="5901758"/>
            <a:ext cx="11022375" cy="531961"/>
            <a:chOff x="931791" y="6014675"/>
            <a:chExt cx="11022375" cy="53196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A5CFE27-F23A-C660-DF52-5290D596598D}"/>
                </a:ext>
              </a:extLst>
            </p:cNvPr>
            <p:cNvGrpSpPr/>
            <p:nvPr/>
          </p:nvGrpSpPr>
          <p:grpSpPr>
            <a:xfrm>
              <a:off x="931791" y="6014675"/>
              <a:ext cx="11022375" cy="531961"/>
              <a:chOff x="710880" y="5745682"/>
              <a:chExt cx="10629082" cy="531961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A8E03A7A-C5D3-289E-379F-3AB955CEB731}"/>
                  </a:ext>
                </a:extLst>
              </p:cNvPr>
              <p:cNvSpPr/>
              <p:nvPr/>
            </p:nvSpPr>
            <p:spPr>
              <a:xfrm>
                <a:off x="710880" y="5745686"/>
                <a:ext cx="10629082" cy="531957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8000" rtlCol="0" anchor="ctr"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我在令牌校验过滤器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TokenFilter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中获取了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jwt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令牌，并对其进行解析获取当了当前登录员工的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ID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，如何将这个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ID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传递给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AOP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程序、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Controller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、</a:t>
                </a:r>
                <a:r>
                  <a:rPr lang="en-US" altLang="zh-CN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Service</a:t>
                </a:r>
                <a:r>
                  <a:rPr lang="zh-CN" altLang="en-US" sz="1400" b="0" i="0">
                    <a:solidFill>
                      <a:schemeClr val="tx1">
                        <a:lumMod val="50000"/>
                      </a:schemeClr>
                    </a:solidFill>
                    <a:effectLst/>
                    <a:cs typeface="阿里巴巴普惠体" panose="00020600040101010101" pitchFamily="18" charset="-122"/>
                  </a:rPr>
                  <a:t>中呢？</a:t>
                </a:r>
                <a:endParaRPr lang="zh-CN" altLang="en-US" sz="1400" dirty="0">
                  <a:solidFill>
                    <a:schemeClr val="tx1">
                      <a:lumMod val="50000"/>
                    </a:schemeClr>
                  </a:solidFill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1" name="矩形: 圆顶角 10">
                <a:extLst>
                  <a:ext uri="{FF2B5EF4-FFF2-40B4-BE49-F238E27FC236}">
                    <a16:creationId xmlns:a16="http://schemas.microsoft.com/office/drawing/2014/main" id="{8899F752-F00D-E70C-B73C-EC3A4CE8D7D3}"/>
                  </a:ext>
                </a:extLst>
              </p:cNvPr>
              <p:cNvSpPr/>
              <p:nvPr/>
            </p:nvSpPr>
            <p:spPr>
              <a:xfrm rot="16200000">
                <a:off x="1002755" y="5453808"/>
                <a:ext cx="531955" cy="1115704"/>
              </a:xfrm>
              <a:prstGeom prst="round2Same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6FC741E-F710-6619-2C5B-1ED7BC74C42C}"/>
                  </a:ext>
                </a:extLst>
              </p:cNvPr>
              <p:cNvSpPr txBox="1"/>
              <p:nvPr/>
            </p:nvSpPr>
            <p:spPr>
              <a:xfrm>
                <a:off x="912553" y="5860504"/>
                <a:ext cx="9770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400" b="1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Prompt</a:t>
                </a:r>
                <a:r>
                  <a:rPr lang="zh-CN" altLang="en-US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：</a:t>
                </a:r>
                <a:endParaRPr lang="zh-CN" altLang="en-US" sz="1050" dirty="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9" name="quill-drawing-a-line_16294">
              <a:extLst>
                <a:ext uri="{FF2B5EF4-FFF2-40B4-BE49-F238E27FC236}">
                  <a16:creationId xmlns:a16="http://schemas.microsoft.com/office/drawing/2014/main" id="{512606C6-2E8A-EA42-9E4D-6DD6A449ED8C}"/>
                </a:ext>
              </a:extLst>
            </p:cNvPr>
            <p:cNvSpPr/>
            <p:nvPr/>
          </p:nvSpPr>
          <p:spPr>
            <a:xfrm>
              <a:off x="962614" y="6096429"/>
              <a:ext cx="343465" cy="373915"/>
            </a:xfrm>
            <a:custGeom>
              <a:avLst/>
              <a:gdLst>
                <a:gd name="connsiteX0" fmla="*/ 15523 w 556212"/>
                <a:gd name="connsiteY0" fmla="*/ 565364 h 605522"/>
                <a:gd name="connsiteX1" fmla="*/ 12638 w 556212"/>
                <a:gd name="connsiteY1" fmla="*/ 572217 h 605522"/>
                <a:gd name="connsiteX2" fmla="*/ 19782 w 556212"/>
                <a:gd name="connsiteY2" fmla="*/ 575095 h 605522"/>
                <a:gd name="connsiteX3" fmla="*/ 22667 w 556212"/>
                <a:gd name="connsiteY3" fmla="*/ 568242 h 605522"/>
                <a:gd name="connsiteX4" fmla="*/ 15523 w 556212"/>
                <a:gd name="connsiteY4" fmla="*/ 565364 h 605522"/>
                <a:gd name="connsiteX5" fmla="*/ 16347 w 556212"/>
                <a:gd name="connsiteY5" fmla="*/ 539049 h 605522"/>
                <a:gd name="connsiteX6" fmla="*/ 38740 w 556212"/>
                <a:gd name="connsiteY6" fmla="*/ 547821 h 605522"/>
                <a:gd name="connsiteX7" fmla="*/ 30635 w 556212"/>
                <a:gd name="connsiteY7" fmla="*/ 580166 h 605522"/>
                <a:gd name="connsiteX8" fmla="*/ 0 w 556212"/>
                <a:gd name="connsiteY8" fmla="*/ 605522 h 605522"/>
                <a:gd name="connsiteX9" fmla="*/ 961 w 556212"/>
                <a:gd name="connsiteY9" fmla="*/ 564268 h 605522"/>
                <a:gd name="connsiteX10" fmla="*/ 22661 w 556212"/>
                <a:gd name="connsiteY10" fmla="*/ 519856 h 605522"/>
                <a:gd name="connsiteX11" fmla="*/ 47914 w 556212"/>
                <a:gd name="connsiteY11" fmla="*/ 530030 h 605522"/>
                <a:gd name="connsiteX12" fmla="*/ 43248 w 556212"/>
                <a:gd name="connsiteY12" fmla="*/ 541167 h 605522"/>
                <a:gd name="connsiteX13" fmla="*/ 17994 w 556212"/>
                <a:gd name="connsiteY13" fmla="*/ 530993 h 605522"/>
                <a:gd name="connsiteX14" fmla="*/ 546427 w 556212"/>
                <a:gd name="connsiteY14" fmla="*/ 448764 h 605522"/>
                <a:gd name="connsiteX15" fmla="*/ 550546 w 556212"/>
                <a:gd name="connsiteY15" fmla="*/ 458359 h 605522"/>
                <a:gd name="connsiteX16" fmla="*/ 279951 w 556212"/>
                <a:gd name="connsiteY16" fmla="*/ 543077 h 605522"/>
                <a:gd name="connsiteX17" fmla="*/ 28440 w 556212"/>
                <a:gd name="connsiteY17" fmla="*/ 602708 h 605522"/>
                <a:gd name="connsiteX18" fmla="*/ 28440 w 556212"/>
                <a:gd name="connsiteY18" fmla="*/ 592701 h 605522"/>
                <a:gd name="connsiteX19" fmla="*/ 298897 w 556212"/>
                <a:gd name="connsiteY19" fmla="*/ 521692 h 605522"/>
                <a:gd name="connsiteX20" fmla="*/ 546427 w 556212"/>
                <a:gd name="connsiteY20" fmla="*/ 448764 h 605522"/>
                <a:gd name="connsiteX21" fmla="*/ 522536 w 556212"/>
                <a:gd name="connsiteY21" fmla="*/ 36059 h 605522"/>
                <a:gd name="connsiteX22" fmla="*/ 383043 w 556212"/>
                <a:gd name="connsiteY22" fmla="*/ 135701 h 605522"/>
                <a:gd name="connsiteX23" fmla="*/ 52709 w 556212"/>
                <a:gd name="connsiteY23" fmla="*/ 502058 h 605522"/>
                <a:gd name="connsiteX24" fmla="*/ 45707 w 556212"/>
                <a:gd name="connsiteY24" fmla="*/ 520561 h 605522"/>
                <a:gd name="connsiteX25" fmla="*/ 32389 w 556212"/>
                <a:gd name="connsiteY25" fmla="*/ 515490 h 605522"/>
                <a:gd name="connsiteX26" fmla="*/ 44883 w 556212"/>
                <a:gd name="connsiteY26" fmla="*/ 493423 h 605522"/>
                <a:gd name="connsiteX27" fmla="*/ 44883 w 556212"/>
                <a:gd name="connsiteY27" fmla="*/ 493560 h 605522"/>
                <a:gd name="connsiteX28" fmla="*/ 264694 w 556212"/>
                <a:gd name="connsiteY28" fmla="*/ 205875 h 605522"/>
                <a:gd name="connsiteX29" fmla="*/ 454437 w 556212"/>
                <a:gd name="connsiteY29" fmla="*/ 79232 h 605522"/>
                <a:gd name="connsiteX30" fmla="*/ 522536 w 556212"/>
                <a:gd name="connsiteY30" fmla="*/ 36059 h 605522"/>
                <a:gd name="connsiteX31" fmla="*/ 542327 w 556212"/>
                <a:gd name="connsiteY31" fmla="*/ 25898 h 605522"/>
                <a:gd name="connsiteX32" fmla="*/ 551114 w 556212"/>
                <a:gd name="connsiteY32" fmla="*/ 48102 h 605522"/>
                <a:gd name="connsiteX33" fmla="*/ 508689 w 556212"/>
                <a:gd name="connsiteY33" fmla="*/ 75652 h 605522"/>
                <a:gd name="connsiteX34" fmla="*/ 551526 w 556212"/>
                <a:gd name="connsiteY34" fmla="*/ 59889 h 605522"/>
                <a:gd name="connsiteX35" fmla="*/ 551526 w 556212"/>
                <a:gd name="connsiteY35" fmla="*/ 80175 h 605522"/>
                <a:gd name="connsiteX36" fmla="*/ 476973 w 556212"/>
                <a:gd name="connsiteY36" fmla="*/ 106628 h 605522"/>
                <a:gd name="connsiteX37" fmla="*/ 546720 w 556212"/>
                <a:gd name="connsiteY37" fmla="*/ 92921 h 605522"/>
                <a:gd name="connsiteX38" fmla="*/ 534089 w 556212"/>
                <a:gd name="connsiteY38" fmla="*/ 113069 h 605522"/>
                <a:gd name="connsiteX39" fmla="*/ 442236 w 556212"/>
                <a:gd name="connsiteY39" fmla="*/ 138015 h 605522"/>
                <a:gd name="connsiteX40" fmla="*/ 526812 w 556212"/>
                <a:gd name="connsiteY40" fmla="*/ 129243 h 605522"/>
                <a:gd name="connsiteX41" fmla="*/ 485897 w 556212"/>
                <a:gd name="connsiteY41" fmla="*/ 192017 h 605522"/>
                <a:gd name="connsiteX42" fmla="*/ 430566 w 556212"/>
                <a:gd name="connsiteY42" fmla="*/ 210795 h 605522"/>
                <a:gd name="connsiteX43" fmla="*/ 480131 w 556212"/>
                <a:gd name="connsiteY43" fmla="*/ 202845 h 605522"/>
                <a:gd name="connsiteX44" fmla="*/ 420681 w 556212"/>
                <a:gd name="connsiteY44" fmla="*/ 226009 h 605522"/>
                <a:gd name="connsiteX45" fmla="*/ 463380 w 556212"/>
                <a:gd name="connsiteY45" fmla="*/ 220389 h 605522"/>
                <a:gd name="connsiteX46" fmla="*/ 381963 w 556212"/>
                <a:gd name="connsiteY46" fmla="*/ 269183 h 605522"/>
                <a:gd name="connsiteX47" fmla="*/ 276792 w 556212"/>
                <a:gd name="connsiteY47" fmla="*/ 288783 h 605522"/>
                <a:gd name="connsiteX48" fmla="*/ 217342 w 556212"/>
                <a:gd name="connsiteY48" fmla="*/ 296596 h 605522"/>
                <a:gd name="connsiteX49" fmla="*/ 285305 w 556212"/>
                <a:gd name="connsiteY49" fmla="*/ 296596 h 605522"/>
                <a:gd name="connsiteX50" fmla="*/ 379079 w 556212"/>
                <a:gd name="connsiteY50" fmla="*/ 293580 h 605522"/>
                <a:gd name="connsiteX51" fmla="*/ 314137 w 556212"/>
                <a:gd name="connsiteY51" fmla="*/ 356355 h 605522"/>
                <a:gd name="connsiteX52" fmla="*/ 275831 w 556212"/>
                <a:gd name="connsiteY52" fmla="*/ 370198 h 605522"/>
                <a:gd name="connsiteX53" fmla="*/ 184116 w 556212"/>
                <a:gd name="connsiteY53" fmla="*/ 388153 h 605522"/>
                <a:gd name="connsiteX54" fmla="*/ 240271 w 556212"/>
                <a:gd name="connsiteY54" fmla="*/ 388153 h 605522"/>
                <a:gd name="connsiteX55" fmla="*/ 291620 w 556212"/>
                <a:gd name="connsiteY55" fmla="*/ 374995 h 605522"/>
                <a:gd name="connsiteX56" fmla="*/ 144025 w 556212"/>
                <a:gd name="connsiteY56" fmla="*/ 445719 h 605522"/>
                <a:gd name="connsiteX57" fmla="*/ 99540 w 556212"/>
                <a:gd name="connsiteY57" fmla="*/ 459151 h 605522"/>
                <a:gd name="connsiteX58" fmla="*/ 151302 w 556212"/>
                <a:gd name="connsiteY58" fmla="*/ 453532 h 605522"/>
                <a:gd name="connsiteX59" fmla="*/ 220088 w 556212"/>
                <a:gd name="connsiteY59" fmla="*/ 429957 h 605522"/>
                <a:gd name="connsiteX60" fmla="*/ 138258 w 556212"/>
                <a:gd name="connsiteY60" fmla="*/ 475736 h 605522"/>
                <a:gd name="connsiteX61" fmla="*/ 81417 w 556212"/>
                <a:gd name="connsiteY61" fmla="*/ 496569 h 605522"/>
                <a:gd name="connsiteX62" fmla="*/ 63156 w 556212"/>
                <a:gd name="connsiteY62" fmla="*/ 496569 h 605522"/>
                <a:gd name="connsiteX63" fmla="*/ 388827 w 556212"/>
                <a:gd name="connsiteY63" fmla="*/ 144457 h 605522"/>
                <a:gd name="connsiteX64" fmla="*/ 486035 w 556212"/>
                <a:gd name="connsiteY64" fmla="*/ 73596 h 605522"/>
                <a:gd name="connsiteX65" fmla="*/ 542327 w 556212"/>
                <a:gd name="connsiteY65" fmla="*/ 25898 h 605522"/>
                <a:gd name="connsiteX66" fmla="*/ 499939 w 556212"/>
                <a:gd name="connsiteY66" fmla="*/ 0 h 605522"/>
                <a:gd name="connsiteX67" fmla="*/ 472204 w 556212"/>
                <a:gd name="connsiteY67" fmla="*/ 47014 h 605522"/>
                <a:gd name="connsiteX68" fmla="*/ 514767 w 556212"/>
                <a:gd name="connsiteY68" fmla="*/ 3975 h 605522"/>
                <a:gd name="connsiteX69" fmla="*/ 492524 w 556212"/>
                <a:gd name="connsiteY69" fmla="*/ 37968 h 605522"/>
                <a:gd name="connsiteX70" fmla="*/ 542365 w 556212"/>
                <a:gd name="connsiteY70" fmla="*/ 5209 h 605522"/>
                <a:gd name="connsiteX71" fmla="*/ 486071 w 556212"/>
                <a:gd name="connsiteY71" fmla="*/ 52908 h 605522"/>
                <a:gd name="connsiteX72" fmla="*/ 435132 w 556212"/>
                <a:gd name="connsiteY72" fmla="*/ 85668 h 605522"/>
                <a:gd name="connsiteX73" fmla="*/ 251559 w 556212"/>
                <a:gd name="connsiteY73" fmla="*/ 204643 h 605522"/>
                <a:gd name="connsiteX74" fmla="*/ 36406 w 556212"/>
                <a:gd name="connsiteY74" fmla="*/ 495228 h 605522"/>
                <a:gd name="connsiteX75" fmla="*/ 27481 w 556212"/>
                <a:gd name="connsiteY75" fmla="*/ 495228 h 605522"/>
                <a:gd name="connsiteX76" fmla="*/ 35720 w 556212"/>
                <a:gd name="connsiteY76" fmla="*/ 393660 h 605522"/>
                <a:gd name="connsiteX77" fmla="*/ 45056 w 556212"/>
                <a:gd name="connsiteY77" fmla="*/ 442045 h 605522"/>
                <a:gd name="connsiteX78" fmla="*/ 53157 w 556212"/>
                <a:gd name="connsiteY78" fmla="*/ 378583 h 605522"/>
                <a:gd name="connsiteX79" fmla="*/ 53157 w 556212"/>
                <a:gd name="connsiteY79" fmla="*/ 421759 h 605522"/>
                <a:gd name="connsiteX80" fmla="*/ 73478 w 556212"/>
                <a:gd name="connsiteY80" fmla="*/ 325537 h 605522"/>
                <a:gd name="connsiteX81" fmla="*/ 144326 w 556212"/>
                <a:gd name="connsiteY81" fmla="*/ 234798 h 605522"/>
                <a:gd name="connsiteX82" fmla="*/ 151740 w 556212"/>
                <a:gd name="connsiteY82" fmla="*/ 286336 h 605522"/>
                <a:gd name="connsiteX83" fmla="*/ 166569 w 556212"/>
                <a:gd name="connsiteY83" fmla="*/ 191622 h 605522"/>
                <a:gd name="connsiteX84" fmla="*/ 271880 w 556212"/>
                <a:gd name="connsiteY84" fmla="*/ 96085 h 605522"/>
                <a:gd name="connsiteX85" fmla="*/ 261719 w 556212"/>
                <a:gd name="connsiteY85" fmla="*/ 149679 h 605522"/>
                <a:gd name="connsiteX86" fmla="*/ 289729 w 556212"/>
                <a:gd name="connsiteY86" fmla="*/ 85668 h 605522"/>
                <a:gd name="connsiteX87" fmla="*/ 344787 w 556212"/>
                <a:gd name="connsiteY87" fmla="*/ 55513 h 605522"/>
                <a:gd name="connsiteX88" fmla="*/ 329821 w 556212"/>
                <a:gd name="connsiteY88" fmla="*/ 113081 h 605522"/>
                <a:gd name="connsiteX89" fmla="*/ 373758 w 556212"/>
                <a:gd name="connsiteY89" fmla="*/ 38516 h 605522"/>
                <a:gd name="connsiteX90" fmla="*/ 499939 w 556212"/>
                <a:gd name="connsiteY90" fmla="*/ 0 h 60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56212" h="605522">
                  <a:moveTo>
                    <a:pt x="15523" y="565364"/>
                  </a:moveTo>
                  <a:cubicBezTo>
                    <a:pt x="12776" y="566461"/>
                    <a:pt x="11539" y="569613"/>
                    <a:pt x="12638" y="572217"/>
                  </a:cubicBezTo>
                  <a:cubicBezTo>
                    <a:pt x="13737" y="574958"/>
                    <a:pt x="17034" y="576192"/>
                    <a:pt x="19782" y="575095"/>
                  </a:cubicBezTo>
                  <a:cubicBezTo>
                    <a:pt x="22530" y="573999"/>
                    <a:pt x="23766" y="570846"/>
                    <a:pt x="22667" y="568242"/>
                  </a:cubicBezTo>
                  <a:cubicBezTo>
                    <a:pt x="21431" y="565501"/>
                    <a:pt x="18271" y="564268"/>
                    <a:pt x="15523" y="565364"/>
                  </a:cubicBezTo>
                  <a:close/>
                  <a:moveTo>
                    <a:pt x="16347" y="539049"/>
                  </a:moveTo>
                  <a:lnTo>
                    <a:pt x="38740" y="547821"/>
                  </a:lnTo>
                  <a:lnTo>
                    <a:pt x="30635" y="580166"/>
                  </a:lnTo>
                  <a:cubicBezTo>
                    <a:pt x="11814" y="585512"/>
                    <a:pt x="137" y="605522"/>
                    <a:pt x="0" y="605522"/>
                  </a:cubicBezTo>
                  <a:cubicBezTo>
                    <a:pt x="9479" y="587156"/>
                    <a:pt x="961" y="564268"/>
                    <a:pt x="961" y="564268"/>
                  </a:cubicBezTo>
                  <a:close/>
                  <a:moveTo>
                    <a:pt x="22661" y="519856"/>
                  </a:moveTo>
                  <a:lnTo>
                    <a:pt x="47914" y="530030"/>
                  </a:lnTo>
                  <a:lnTo>
                    <a:pt x="43248" y="541167"/>
                  </a:lnTo>
                  <a:lnTo>
                    <a:pt x="17994" y="530993"/>
                  </a:lnTo>
                  <a:close/>
                  <a:moveTo>
                    <a:pt x="546427" y="448764"/>
                  </a:moveTo>
                  <a:cubicBezTo>
                    <a:pt x="556312" y="447667"/>
                    <a:pt x="560430" y="457263"/>
                    <a:pt x="550546" y="458359"/>
                  </a:cubicBezTo>
                  <a:cubicBezTo>
                    <a:pt x="443736" y="469737"/>
                    <a:pt x="365344" y="503186"/>
                    <a:pt x="279951" y="543077"/>
                  </a:cubicBezTo>
                  <a:cubicBezTo>
                    <a:pt x="203345" y="578992"/>
                    <a:pt x="123993" y="599418"/>
                    <a:pt x="28440" y="602708"/>
                  </a:cubicBezTo>
                  <a:cubicBezTo>
                    <a:pt x="18418" y="602982"/>
                    <a:pt x="18556" y="593112"/>
                    <a:pt x="28440" y="592701"/>
                  </a:cubicBezTo>
                  <a:cubicBezTo>
                    <a:pt x="135250" y="589137"/>
                    <a:pt x="215426" y="561857"/>
                    <a:pt x="298897" y="521692"/>
                  </a:cubicBezTo>
                  <a:cubicBezTo>
                    <a:pt x="374954" y="485228"/>
                    <a:pt x="451836" y="458771"/>
                    <a:pt x="546427" y="448764"/>
                  </a:cubicBezTo>
                  <a:close/>
                  <a:moveTo>
                    <a:pt x="522536" y="36059"/>
                  </a:moveTo>
                  <a:cubicBezTo>
                    <a:pt x="453339" y="93898"/>
                    <a:pt x="383043" y="135701"/>
                    <a:pt x="383043" y="135701"/>
                  </a:cubicBezTo>
                  <a:cubicBezTo>
                    <a:pt x="194124" y="254667"/>
                    <a:pt x="90877" y="433529"/>
                    <a:pt x="52709" y="502058"/>
                  </a:cubicBezTo>
                  <a:lnTo>
                    <a:pt x="45707" y="520561"/>
                  </a:lnTo>
                  <a:lnTo>
                    <a:pt x="32389" y="515490"/>
                  </a:lnTo>
                  <a:lnTo>
                    <a:pt x="44883" y="493423"/>
                  </a:lnTo>
                  <a:lnTo>
                    <a:pt x="44883" y="493560"/>
                  </a:lnTo>
                  <a:cubicBezTo>
                    <a:pt x="116277" y="366918"/>
                    <a:pt x="200440" y="258505"/>
                    <a:pt x="264694" y="205875"/>
                  </a:cubicBezTo>
                  <a:cubicBezTo>
                    <a:pt x="348582" y="137208"/>
                    <a:pt x="407070" y="109111"/>
                    <a:pt x="454437" y="79232"/>
                  </a:cubicBezTo>
                  <a:cubicBezTo>
                    <a:pt x="472423" y="67857"/>
                    <a:pt x="505786" y="50176"/>
                    <a:pt x="522536" y="36059"/>
                  </a:cubicBezTo>
                  <a:close/>
                  <a:moveTo>
                    <a:pt x="542327" y="25898"/>
                  </a:moveTo>
                  <a:cubicBezTo>
                    <a:pt x="542327" y="25898"/>
                    <a:pt x="553585" y="34396"/>
                    <a:pt x="551114" y="48102"/>
                  </a:cubicBezTo>
                  <a:lnTo>
                    <a:pt x="508689" y="75652"/>
                  </a:lnTo>
                  <a:cubicBezTo>
                    <a:pt x="508689" y="75652"/>
                    <a:pt x="535874" y="68798"/>
                    <a:pt x="551526" y="59889"/>
                  </a:cubicBezTo>
                  <a:lnTo>
                    <a:pt x="551526" y="80175"/>
                  </a:lnTo>
                  <a:cubicBezTo>
                    <a:pt x="551526" y="80175"/>
                    <a:pt x="517064" y="100460"/>
                    <a:pt x="476973" y="106628"/>
                  </a:cubicBezTo>
                  <a:cubicBezTo>
                    <a:pt x="476973" y="106628"/>
                    <a:pt x="514043" y="104709"/>
                    <a:pt x="546720" y="92921"/>
                  </a:cubicBezTo>
                  <a:cubicBezTo>
                    <a:pt x="546720" y="92921"/>
                    <a:pt x="543013" y="109232"/>
                    <a:pt x="534089" y="113069"/>
                  </a:cubicBezTo>
                  <a:cubicBezTo>
                    <a:pt x="525027" y="117044"/>
                    <a:pt x="507041" y="133629"/>
                    <a:pt x="442236" y="138015"/>
                  </a:cubicBezTo>
                  <a:cubicBezTo>
                    <a:pt x="442236" y="138015"/>
                    <a:pt x="479582" y="145416"/>
                    <a:pt x="526812" y="129243"/>
                  </a:cubicBezTo>
                  <a:cubicBezTo>
                    <a:pt x="526812" y="129243"/>
                    <a:pt x="519261" y="166661"/>
                    <a:pt x="485897" y="192017"/>
                  </a:cubicBezTo>
                  <a:cubicBezTo>
                    <a:pt x="485897" y="192017"/>
                    <a:pt x="466126" y="202845"/>
                    <a:pt x="430566" y="210795"/>
                  </a:cubicBezTo>
                  <a:cubicBezTo>
                    <a:pt x="430566" y="210795"/>
                    <a:pt x="460772" y="208190"/>
                    <a:pt x="480131" y="202845"/>
                  </a:cubicBezTo>
                  <a:cubicBezTo>
                    <a:pt x="480131" y="202845"/>
                    <a:pt x="448552" y="221348"/>
                    <a:pt x="420681" y="226009"/>
                  </a:cubicBezTo>
                  <a:lnTo>
                    <a:pt x="463380" y="220389"/>
                  </a:lnTo>
                  <a:cubicBezTo>
                    <a:pt x="463380" y="220389"/>
                    <a:pt x="445394" y="247390"/>
                    <a:pt x="381963" y="269183"/>
                  </a:cubicBezTo>
                  <a:cubicBezTo>
                    <a:pt x="318531" y="290976"/>
                    <a:pt x="286678" y="288372"/>
                    <a:pt x="276792" y="288783"/>
                  </a:cubicBezTo>
                  <a:cubicBezTo>
                    <a:pt x="266907" y="289194"/>
                    <a:pt x="257845" y="283026"/>
                    <a:pt x="217342" y="296596"/>
                  </a:cubicBezTo>
                  <a:cubicBezTo>
                    <a:pt x="217342" y="296596"/>
                    <a:pt x="260179" y="289194"/>
                    <a:pt x="285305" y="296596"/>
                  </a:cubicBezTo>
                  <a:cubicBezTo>
                    <a:pt x="310430" y="303997"/>
                    <a:pt x="371116" y="296596"/>
                    <a:pt x="379079" y="293580"/>
                  </a:cubicBezTo>
                  <a:cubicBezTo>
                    <a:pt x="379079" y="293580"/>
                    <a:pt x="359995" y="341004"/>
                    <a:pt x="314137" y="356355"/>
                  </a:cubicBezTo>
                  <a:cubicBezTo>
                    <a:pt x="314137" y="356355"/>
                    <a:pt x="316334" y="354984"/>
                    <a:pt x="275831" y="370198"/>
                  </a:cubicBezTo>
                  <a:cubicBezTo>
                    <a:pt x="235328" y="385549"/>
                    <a:pt x="210614" y="381985"/>
                    <a:pt x="184116" y="388153"/>
                  </a:cubicBezTo>
                  <a:cubicBezTo>
                    <a:pt x="184116" y="388153"/>
                    <a:pt x="224070" y="386782"/>
                    <a:pt x="240271" y="388153"/>
                  </a:cubicBezTo>
                  <a:cubicBezTo>
                    <a:pt x="256472" y="389386"/>
                    <a:pt x="291620" y="374995"/>
                    <a:pt x="291620" y="374995"/>
                  </a:cubicBezTo>
                  <a:cubicBezTo>
                    <a:pt x="291620" y="374995"/>
                    <a:pt x="199905" y="437358"/>
                    <a:pt x="144025" y="445719"/>
                  </a:cubicBezTo>
                  <a:cubicBezTo>
                    <a:pt x="88282" y="453943"/>
                    <a:pt x="99540" y="459151"/>
                    <a:pt x="99540" y="459151"/>
                  </a:cubicBezTo>
                  <a:cubicBezTo>
                    <a:pt x="99540" y="459151"/>
                    <a:pt x="129197" y="450927"/>
                    <a:pt x="151302" y="453532"/>
                  </a:cubicBezTo>
                  <a:cubicBezTo>
                    <a:pt x="173269" y="456136"/>
                    <a:pt x="220088" y="429957"/>
                    <a:pt x="220088" y="429957"/>
                  </a:cubicBezTo>
                  <a:cubicBezTo>
                    <a:pt x="220088" y="429957"/>
                    <a:pt x="189471" y="460933"/>
                    <a:pt x="138258" y="475736"/>
                  </a:cubicBezTo>
                  <a:cubicBezTo>
                    <a:pt x="97618" y="487386"/>
                    <a:pt x="87870" y="491361"/>
                    <a:pt x="81417" y="496569"/>
                  </a:cubicBezTo>
                  <a:lnTo>
                    <a:pt x="63156" y="496569"/>
                  </a:lnTo>
                  <a:cubicBezTo>
                    <a:pt x="97618" y="434754"/>
                    <a:pt x="201827" y="254792"/>
                    <a:pt x="388827" y="144457"/>
                  </a:cubicBezTo>
                  <a:cubicBezTo>
                    <a:pt x="388827" y="144457"/>
                    <a:pt x="436470" y="112521"/>
                    <a:pt x="486035" y="73596"/>
                  </a:cubicBezTo>
                  <a:cubicBezTo>
                    <a:pt x="517750" y="49747"/>
                    <a:pt x="542327" y="25898"/>
                    <a:pt x="542327" y="25898"/>
                  </a:cubicBezTo>
                  <a:close/>
                  <a:moveTo>
                    <a:pt x="499939" y="0"/>
                  </a:moveTo>
                  <a:lnTo>
                    <a:pt x="472204" y="47014"/>
                  </a:lnTo>
                  <a:lnTo>
                    <a:pt x="514767" y="3975"/>
                  </a:lnTo>
                  <a:lnTo>
                    <a:pt x="492524" y="37968"/>
                  </a:lnTo>
                  <a:lnTo>
                    <a:pt x="542365" y="5209"/>
                  </a:lnTo>
                  <a:cubicBezTo>
                    <a:pt x="525202" y="21246"/>
                    <a:pt x="505568" y="37557"/>
                    <a:pt x="486071" y="52908"/>
                  </a:cubicBezTo>
                  <a:cubicBezTo>
                    <a:pt x="470144" y="64833"/>
                    <a:pt x="452432" y="76758"/>
                    <a:pt x="435132" y="85668"/>
                  </a:cubicBezTo>
                  <a:cubicBezTo>
                    <a:pt x="385978" y="110751"/>
                    <a:pt x="327487" y="145292"/>
                    <a:pt x="251559" y="204643"/>
                  </a:cubicBezTo>
                  <a:cubicBezTo>
                    <a:pt x="178377" y="261938"/>
                    <a:pt x="60846" y="444787"/>
                    <a:pt x="36406" y="495228"/>
                  </a:cubicBezTo>
                  <a:lnTo>
                    <a:pt x="27481" y="495228"/>
                  </a:lnTo>
                  <a:cubicBezTo>
                    <a:pt x="21852" y="484400"/>
                    <a:pt x="21028" y="445198"/>
                    <a:pt x="35720" y="393660"/>
                  </a:cubicBezTo>
                  <a:cubicBezTo>
                    <a:pt x="35720" y="393660"/>
                    <a:pt x="37642" y="439304"/>
                    <a:pt x="45056" y="442045"/>
                  </a:cubicBezTo>
                  <a:cubicBezTo>
                    <a:pt x="45056" y="442045"/>
                    <a:pt x="37642" y="411205"/>
                    <a:pt x="53157" y="378583"/>
                  </a:cubicBezTo>
                  <a:cubicBezTo>
                    <a:pt x="53157" y="378583"/>
                    <a:pt x="47116" y="415180"/>
                    <a:pt x="53157" y="421759"/>
                  </a:cubicBezTo>
                  <a:cubicBezTo>
                    <a:pt x="53157" y="421759"/>
                    <a:pt x="62631" y="351717"/>
                    <a:pt x="73478" y="325537"/>
                  </a:cubicBezTo>
                  <a:cubicBezTo>
                    <a:pt x="73478" y="325537"/>
                    <a:pt x="80206" y="296205"/>
                    <a:pt x="144326" y="234798"/>
                  </a:cubicBezTo>
                  <a:cubicBezTo>
                    <a:pt x="144326" y="234798"/>
                    <a:pt x="142266" y="275233"/>
                    <a:pt x="151740" y="286336"/>
                  </a:cubicBezTo>
                  <a:cubicBezTo>
                    <a:pt x="161214" y="297438"/>
                    <a:pt x="136225" y="251109"/>
                    <a:pt x="166569" y="191622"/>
                  </a:cubicBezTo>
                  <a:cubicBezTo>
                    <a:pt x="166569" y="191622"/>
                    <a:pt x="210368" y="131449"/>
                    <a:pt x="271880" y="96085"/>
                  </a:cubicBezTo>
                  <a:cubicBezTo>
                    <a:pt x="271880" y="96085"/>
                    <a:pt x="257737" y="131449"/>
                    <a:pt x="261719" y="149679"/>
                  </a:cubicBezTo>
                  <a:cubicBezTo>
                    <a:pt x="261719" y="149679"/>
                    <a:pt x="268310" y="103350"/>
                    <a:pt x="289729" y="85668"/>
                  </a:cubicBezTo>
                  <a:cubicBezTo>
                    <a:pt x="289729" y="85668"/>
                    <a:pt x="333254" y="60858"/>
                    <a:pt x="344787" y="55513"/>
                  </a:cubicBezTo>
                  <a:cubicBezTo>
                    <a:pt x="344787" y="55513"/>
                    <a:pt x="329135" y="90191"/>
                    <a:pt x="329821" y="113081"/>
                  </a:cubicBezTo>
                  <a:cubicBezTo>
                    <a:pt x="329821" y="113081"/>
                    <a:pt x="349455" y="67301"/>
                    <a:pt x="373758" y="38516"/>
                  </a:cubicBezTo>
                  <a:cubicBezTo>
                    <a:pt x="373758" y="38516"/>
                    <a:pt x="434446" y="5894"/>
                    <a:pt x="4999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594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22616543-C7B3-49BB-5D74-10A08B73C3B7}"/>
              </a:ext>
            </a:extLst>
          </p:cNvPr>
          <p:cNvGrpSpPr/>
          <p:nvPr/>
        </p:nvGrpSpPr>
        <p:grpSpPr>
          <a:xfrm>
            <a:off x="968188" y="2026023"/>
            <a:ext cx="1730189" cy="1819836"/>
            <a:chOff x="968188" y="2241177"/>
            <a:chExt cx="1730189" cy="181983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FB63843-C8C3-34B3-2044-B8E5C338DCF1}"/>
                </a:ext>
              </a:extLst>
            </p:cNvPr>
            <p:cNvSpPr/>
            <p:nvPr/>
          </p:nvSpPr>
          <p:spPr>
            <a:xfrm>
              <a:off x="968188" y="2241177"/>
              <a:ext cx="1730189" cy="1819836"/>
            </a:xfrm>
            <a:prstGeom prst="roundRect">
              <a:avLst>
                <a:gd name="adj" fmla="val 7859"/>
              </a:avLst>
            </a:prstGeom>
            <a:solidFill>
              <a:srgbClr val="FFFFD5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Thread-1</a:t>
              </a: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6CA3F59-2014-9885-329F-C6EFC5692B95}"/>
                </a:ext>
              </a:extLst>
            </p:cNvPr>
            <p:cNvSpPr/>
            <p:nvPr/>
          </p:nvSpPr>
          <p:spPr>
            <a:xfrm>
              <a:off x="1084729" y="3227295"/>
              <a:ext cx="1497105" cy="7530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/>
                <a:t>线程本地变量</a:t>
              </a:r>
              <a:endParaRPr lang="en-US" altLang="zh-CN" sz="1200"/>
            </a:p>
            <a:p>
              <a:pPr algn="ctr"/>
              <a:r>
                <a:rPr lang="en-US" altLang="zh-CN" sz="1200"/>
                <a:t>ThreadLocalMap</a:t>
              </a:r>
              <a:endParaRPr lang="zh-CN" altLang="en-US" sz="1200"/>
            </a:p>
          </p:txBody>
        </p:sp>
      </p:grpSp>
      <p:sp>
        <p:nvSpPr>
          <p:cNvPr id="2" name="!!文本框 5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36399"/>
            <a:ext cx="2220792" cy="474415"/>
          </a:xfrm>
        </p:spPr>
        <p:txBody>
          <a:bodyPr/>
          <a:lstStyle/>
          <a:p>
            <a:r>
              <a:rPr lang="en-US" altLang="zh-CN"/>
              <a:t>ThreadLocal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1FE1D-1E67-09A8-67D1-C22E8E88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051852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C00000"/>
                </a:solidFill>
                <a:ea typeface="阿里巴巴普惠体" panose="00020600040101010101" pitchFamily="18" charset="-122"/>
              </a:rPr>
              <a:t>ThreadLocal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并不是一个Thread，而是Thread的局部变量。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ea typeface="Source Code Pro" panose="020B05090304030202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ThreadLocal为每个线程提供一份单独的存储空间，具有线程隔离的效果，不同的线程之间不会相互干扰。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95EF65F-3A72-0EE0-D308-B5FE3EB0195B}"/>
              </a:ext>
            </a:extLst>
          </p:cNvPr>
          <p:cNvGrpSpPr/>
          <p:nvPr/>
        </p:nvGrpSpPr>
        <p:grpSpPr>
          <a:xfrm>
            <a:off x="6454588" y="2026023"/>
            <a:ext cx="1730189" cy="1819836"/>
            <a:chOff x="5271246" y="2241177"/>
            <a:chExt cx="1730189" cy="181983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34C2C76-2A1A-BBBC-D72D-8AA73AEBDF61}"/>
                </a:ext>
              </a:extLst>
            </p:cNvPr>
            <p:cNvSpPr/>
            <p:nvPr/>
          </p:nvSpPr>
          <p:spPr>
            <a:xfrm>
              <a:off x="5271246" y="2241177"/>
              <a:ext cx="1730189" cy="1819836"/>
            </a:xfrm>
            <a:prstGeom prst="roundRect">
              <a:avLst>
                <a:gd name="adj" fmla="val 7859"/>
              </a:avLst>
            </a:prstGeom>
            <a:solidFill>
              <a:srgbClr val="FFFFD5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Thread-3</a:t>
              </a: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839DBC4-2353-7C1F-918C-1D73A9C7C693}"/>
                </a:ext>
              </a:extLst>
            </p:cNvPr>
            <p:cNvSpPr/>
            <p:nvPr/>
          </p:nvSpPr>
          <p:spPr>
            <a:xfrm>
              <a:off x="5387787" y="3227295"/>
              <a:ext cx="1497105" cy="7530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/>
                <a:t>线程本地变量</a:t>
              </a:r>
              <a:endParaRPr lang="en-US" altLang="zh-CN" sz="1200"/>
            </a:p>
            <a:p>
              <a:pPr algn="ctr"/>
              <a:r>
                <a:rPr lang="en-US" altLang="zh-CN" sz="1200"/>
                <a:t>ThreadLocalMap</a:t>
              </a:r>
              <a:endParaRPr lang="zh-CN" altLang="en-US" sz="120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A83C353-2B06-E8A4-426E-54676762705A}"/>
              </a:ext>
            </a:extLst>
          </p:cNvPr>
          <p:cNvGrpSpPr/>
          <p:nvPr/>
        </p:nvGrpSpPr>
        <p:grpSpPr>
          <a:xfrm>
            <a:off x="3711388" y="2026023"/>
            <a:ext cx="1730189" cy="1819836"/>
            <a:chOff x="3119717" y="2241177"/>
            <a:chExt cx="1730189" cy="1819836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A74BE14-4713-CB24-71AE-6A851CBCC4B3}"/>
                </a:ext>
              </a:extLst>
            </p:cNvPr>
            <p:cNvSpPr/>
            <p:nvPr/>
          </p:nvSpPr>
          <p:spPr>
            <a:xfrm>
              <a:off x="3119717" y="2241177"/>
              <a:ext cx="1730189" cy="1819836"/>
            </a:xfrm>
            <a:prstGeom prst="roundRect">
              <a:avLst>
                <a:gd name="adj" fmla="val 7859"/>
              </a:avLst>
            </a:prstGeom>
            <a:solidFill>
              <a:srgbClr val="FFFFD5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Thread-2</a:t>
              </a: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E988AC2-E21C-3B40-4A4A-0B29AEA31284}"/>
                </a:ext>
              </a:extLst>
            </p:cNvPr>
            <p:cNvSpPr/>
            <p:nvPr/>
          </p:nvSpPr>
          <p:spPr>
            <a:xfrm>
              <a:off x="3236258" y="3227295"/>
              <a:ext cx="1497105" cy="7530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/>
                <a:t>线程本地变量</a:t>
              </a:r>
              <a:endParaRPr lang="en-US" altLang="zh-CN" sz="1200"/>
            </a:p>
            <a:p>
              <a:pPr algn="ctr"/>
              <a:r>
                <a:rPr lang="en-US" altLang="zh-CN" sz="1200"/>
                <a:t>ThreadLocalMap</a:t>
              </a:r>
              <a:endParaRPr lang="zh-CN" altLang="en-US" sz="120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89937B9-90B1-0CC5-CB77-3AE237184A1C}"/>
              </a:ext>
            </a:extLst>
          </p:cNvPr>
          <p:cNvGrpSpPr/>
          <p:nvPr/>
        </p:nvGrpSpPr>
        <p:grpSpPr>
          <a:xfrm>
            <a:off x="9197787" y="2026023"/>
            <a:ext cx="1730189" cy="1819836"/>
            <a:chOff x="9197787" y="2317377"/>
            <a:chExt cx="1730189" cy="181983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69422F6-1F63-36BD-BF78-BF515211A947}"/>
                </a:ext>
              </a:extLst>
            </p:cNvPr>
            <p:cNvSpPr/>
            <p:nvPr/>
          </p:nvSpPr>
          <p:spPr>
            <a:xfrm>
              <a:off x="9197787" y="2317377"/>
              <a:ext cx="1730189" cy="1819836"/>
            </a:xfrm>
            <a:prstGeom prst="roundRect">
              <a:avLst>
                <a:gd name="adj" fmla="val 7859"/>
              </a:avLst>
            </a:prstGeom>
            <a:solidFill>
              <a:srgbClr val="FFFFD5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Thread-4</a:t>
              </a: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D18E7F1-2683-9675-A6C2-9CED4BDDC1D4}"/>
                </a:ext>
              </a:extLst>
            </p:cNvPr>
            <p:cNvSpPr/>
            <p:nvPr/>
          </p:nvSpPr>
          <p:spPr>
            <a:xfrm>
              <a:off x="9314328" y="3303495"/>
              <a:ext cx="1497105" cy="7530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/>
                <a:t>线程本地变量</a:t>
              </a:r>
              <a:endParaRPr lang="en-US" altLang="zh-CN" sz="1200"/>
            </a:p>
            <a:p>
              <a:pPr algn="ctr"/>
              <a:r>
                <a:rPr lang="en-US" altLang="zh-CN" sz="1200"/>
                <a:t>ThreadLocalMap</a:t>
              </a:r>
              <a:endParaRPr lang="zh-CN" altLang="en-US" sz="1200"/>
            </a:p>
          </p:txBody>
        </p:sp>
      </p:grp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2FB678AF-CCD4-D1BC-58C7-4F6694FCC262}"/>
              </a:ext>
            </a:extLst>
          </p:cNvPr>
          <p:cNvCxnSpPr>
            <a:cxnSpLocks/>
          </p:cNvCxnSpPr>
          <p:nvPr/>
        </p:nvCxnSpPr>
        <p:spPr>
          <a:xfrm>
            <a:off x="1037665" y="2590799"/>
            <a:ext cx="452717" cy="421342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6CF0E036-FF91-6434-2639-701C182151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63127" y="2550402"/>
            <a:ext cx="436470" cy="517488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内容占位符 2">
            <a:extLst>
              <a:ext uri="{FF2B5EF4-FFF2-40B4-BE49-F238E27FC236}">
                <a16:creationId xmlns:a16="http://schemas.microsoft.com/office/drawing/2014/main" id="{873CEFF3-654E-C017-3B8C-627E6FAA1C96}"/>
              </a:ext>
            </a:extLst>
          </p:cNvPr>
          <p:cNvSpPr txBox="1">
            <a:spLocks/>
          </p:cNvSpPr>
          <p:nvPr/>
        </p:nvSpPr>
        <p:spPr>
          <a:xfrm>
            <a:off x="576197" y="4120784"/>
            <a:ext cx="11060481" cy="19034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ThreadLocal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常用方法：</a:t>
            </a:r>
            <a:endParaRPr lang="en-US" altLang="zh-CN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latin typeface="Source Code Pro" panose="020B0509030403020204" pitchFamily="49" charset="0"/>
                <a:ea typeface="Source Code Pro" panose="020B0509030403020204" pitchFamily="49" charset="0"/>
              </a:rPr>
              <a:t>public 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void set(</a:t>
            </a:r>
            <a:r>
              <a:rPr lang="en-US" altLang="zh-CN" sz="1400">
                <a:latin typeface="Source Code Pro" panose="020B0509030403020204" pitchFamily="49" charset="0"/>
                <a:ea typeface="Source Code Pro" panose="020B0509030403020204" pitchFamily="49" charset="0"/>
              </a:rPr>
              <a:t>T 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value) </a:t>
            </a:r>
            <a:r>
              <a:rPr lang="en-US" altLang="zh-CN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	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设置当前线程的线程局部变量的值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public </a:t>
            </a:r>
            <a:r>
              <a:rPr lang="en-US" altLang="zh-CN" sz="1400">
                <a:latin typeface="Source Code Pro" panose="020B0509030403020204" pitchFamily="49" charset="0"/>
                <a:ea typeface="Source Code Pro" panose="020B0509030403020204" pitchFamily="49" charset="0"/>
              </a:rPr>
              <a:t>T 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get() </a:t>
            </a:r>
            <a:r>
              <a:rPr lang="en-US" altLang="zh-CN" sz="1400">
                <a:latin typeface="Source Code Pro" panose="020B0509030403020204" pitchFamily="49" charset="0"/>
                <a:ea typeface="Source Code Pro" panose="020B0509030403020204" pitchFamily="49" charset="0"/>
              </a:rPr>
              <a:t>		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返回当前线程所对应的线程局部变量的值</a:t>
            </a:r>
            <a:endParaRPr lang="en-US" altLang="zh-CN" sz="140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>
                <a:latin typeface="Source Code Pro" panose="020B0509030403020204" pitchFamily="49" charset="0"/>
                <a:ea typeface="Source Code Pro" panose="020B0509030403020204" pitchFamily="49" charset="0"/>
              </a:rPr>
              <a:t>public void remove()        	</a:t>
            </a:r>
            <a:r>
              <a:rPr lang="zh-CN" altLang="en-US" sz="1400">
                <a:latin typeface="Source Code Pro" panose="020B0509030403020204" pitchFamily="49" charset="0"/>
                <a:ea typeface="阿里巴巴普惠体" panose="00020600040101010101" pitchFamily="18" charset="-122"/>
              </a:rPr>
              <a:t>移除当前线程的线程局部变量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7D2475-BDA5-E0B5-6087-07758EDDD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35" y="0"/>
            <a:ext cx="5633265" cy="1317812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1241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C7155E06-63FC-CE82-2281-A3CC54850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4827973"/>
            <a:ext cx="11060481" cy="1862093"/>
          </a:xfrm>
        </p:spPr>
        <p:txBody>
          <a:bodyPr/>
          <a:lstStyle/>
          <a:p>
            <a:r>
              <a:rPr lang="zh-CN" altLang="en-US"/>
              <a:t>具体操作步骤：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定义</a:t>
            </a:r>
            <a:r>
              <a:rPr lang="en-US" altLang="zh-CN" sz="1400"/>
              <a:t>ThreadLocal</a:t>
            </a:r>
            <a:r>
              <a:rPr lang="zh-CN" altLang="en-US" sz="1400"/>
              <a:t>操作的工具类，用于操作当前登录员工</a:t>
            </a:r>
            <a:r>
              <a:rPr lang="en-US" altLang="zh-CN" sz="1400"/>
              <a:t>ID</a:t>
            </a:r>
            <a:r>
              <a:rPr lang="zh-CN" altLang="en-US" sz="1400"/>
              <a:t>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在</a:t>
            </a:r>
            <a:r>
              <a:rPr lang="en-US" altLang="zh-CN" sz="1400"/>
              <a:t>TokenFilter</a:t>
            </a:r>
            <a:r>
              <a:rPr lang="zh-CN" altLang="en-US" sz="1400"/>
              <a:t>中，解析完当前登录员工</a:t>
            </a:r>
            <a:r>
              <a:rPr lang="en-US" altLang="zh-CN" sz="1400"/>
              <a:t>ID</a:t>
            </a:r>
            <a:r>
              <a:rPr lang="zh-CN" altLang="en-US" sz="1400"/>
              <a:t>，将其存入</a:t>
            </a:r>
            <a:r>
              <a:rPr lang="en-US" altLang="zh-CN" sz="1400"/>
              <a:t>ThreadLocal</a:t>
            </a:r>
            <a:r>
              <a:rPr lang="zh-CN" altLang="en-US" sz="1400"/>
              <a:t>（用完之后需将其删除）。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在</a:t>
            </a:r>
            <a:r>
              <a:rPr lang="en-US" altLang="zh-CN" sz="1400"/>
              <a:t>AOP</a:t>
            </a:r>
            <a:r>
              <a:rPr lang="zh-CN" altLang="en-US" sz="1400"/>
              <a:t>程序中，从</a:t>
            </a:r>
            <a:r>
              <a:rPr lang="en-US" altLang="zh-CN" sz="1400"/>
              <a:t>ThreadLocal</a:t>
            </a:r>
            <a:r>
              <a:rPr lang="zh-CN" altLang="en-US" sz="1400"/>
              <a:t>中获取当前登录员工的</a:t>
            </a:r>
            <a:r>
              <a:rPr lang="en-US" altLang="zh-CN" sz="1400"/>
              <a:t>ID</a:t>
            </a:r>
            <a:r>
              <a:rPr lang="zh-CN" altLang="en-US" sz="1400"/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CF6510-D11A-FAA5-28D2-29DEB7C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获取当前登录员工</a:t>
            </a:r>
          </a:p>
        </p:txBody>
      </p:sp>
      <p:sp>
        <p:nvSpPr>
          <p:cNvPr id="76" name="矩形: 对角圆角 75">
            <a:extLst>
              <a:ext uri="{FF2B5EF4-FFF2-40B4-BE49-F238E27FC236}">
                <a16:creationId xmlns:a16="http://schemas.microsoft.com/office/drawing/2014/main" id="{11CE0CE2-7A43-5514-4841-AB9E46E4D4F4}"/>
              </a:ext>
            </a:extLst>
          </p:cNvPr>
          <p:cNvSpPr/>
          <p:nvPr/>
        </p:nvSpPr>
        <p:spPr>
          <a:xfrm>
            <a:off x="3685382" y="2330567"/>
            <a:ext cx="1027886" cy="1908699"/>
          </a:xfrm>
          <a:prstGeom prst="round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OperateLogAspect</a:t>
            </a:r>
            <a:endParaRPr lang="zh-CN" altLang="en-US" sz="1200">
              <a:solidFill>
                <a:schemeClr val="tx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C99CB3-1CA0-10DF-BE65-8D65106B7BF2}"/>
              </a:ext>
            </a:extLst>
          </p:cNvPr>
          <p:cNvGrpSpPr/>
          <p:nvPr/>
        </p:nvGrpSpPr>
        <p:grpSpPr>
          <a:xfrm>
            <a:off x="699247" y="2133604"/>
            <a:ext cx="10355505" cy="2302626"/>
            <a:chOff x="699247" y="2133604"/>
            <a:chExt cx="10355505" cy="2302626"/>
          </a:xfrm>
        </p:grpSpPr>
        <p:sp>
          <p:nvSpPr>
            <p:cNvPr id="77" name="矩形: 对角圆角 76">
              <a:extLst>
                <a:ext uri="{FF2B5EF4-FFF2-40B4-BE49-F238E27FC236}">
                  <a16:creationId xmlns:a16="http://schemas.microsoft.com/office/drawing/2014/main" id="{924AB1C5-79FC-6CF3-CEA7-D12CBD04091F}"/>
                </a:ext>
              </a:extLst>
            </p:cNvPr>
            <p:cNvSpPr/>
            <p:nvPr/>
          </p:nvSpPr>
          <p:spPr>
            <a:xfrm>
              <a:off x="5234024" y="2330567"/>
              <a:ext cx="1027886" cy="1908699"/>
            </a:xfrm>
            <a:prstGeom prst="round2Diag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Controller</a:t>
              </a:r>
              <a:endParaRPr lang="zh-CN" altLang="en-US" sz="12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8" name="矩形: 对角圆角 77">
              <a:extLst>
                <a:ext uri="{FF2B5EF4-FFF2-40B4-BE49-F238E27FC236}">
                  <a16:creationId xmlns:a16="http://schemas.microsoft.com/office/drawing/2014/main" id="{333B670B-9E24-3418-27F3-E3CE4120E0A9}"/>
                </a:ext>
              </a:extLst>
            </p:cNvPr>
            <p:cNvSpPr/>
            <p:nvPr/>
          </p:nvSpPr>
          <p:spPr>
            <a:xfrm>
              <a:off x="6782666" y="2330567"/>
              <a:ext cx="1027886" cy="1908699"/>
            </a:xfrm>
            <a:prstGeom prst="round2Diag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Service</a:t>
              </a:r>
              <a:endParaRPr lang="zh-CN" altLang="en-US" sz="12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5" name="矩形: 对角圆角 74">
              <a:extLst>
                <a:ext uri="{FF2B5EF4-FFF2-40B4-BE49-F238E27FC236}">
                  <a16:creationId xmlns:a16="http://schemas.microsoft.com/office/drawing/2014/main" id="{06CE5F52-3D61-EB8E-4B23-CD48855D9DCD}"/>
                </a:ext>
              </a:extLst>
            </p:cNvPr>
            <p:cNvSpPr/>
            <p:nvPr/>
          </p:nvSpPr>
          <p:spPr>
            <a:xfrm>
              <a:off x="2136740" y="2330567"/>
              <a:ext cx="1027886" cy="1908699"/>
            </a:xfrm>
            <a:prstGeom prst="round2Diag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TokenFilter</a:t>
              </a:r>
              <a:endParaRPr lang="zh-CN" altLang="en-US" sz="11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矩形: 对角圆角 58">
              <a:extLst>
                <a:ext uri="{FF2B5EF4-FFF2-40B4-BE49-F238E27FC236}">
                  <a16:creationId xmlns:a16="http://schemas.microsoft.com/office/drawing/2014/main" id="{B9FF8B4C-B19E-1AE2-EA02-C928D5452E75}"/>
                </a:ext>
              </a:extLst>
            </p:cNvPr>
            <p:cNvSpPr/>
            <p:nvPr/>
          </p:nvSpPr>
          <p:spPr>
            <a:xfrm>
              <a:off x="8331310" y="2330567"/>
              <a:ext cx="1027886" cy="1908699"/>
            </a:xfrm>
            <a:prstGeom prst="round2Diag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Mapper</a:t>
              </a:r>
              <a:endParaRPr lang="zh-CN" altLang="en-US" sz="1200">
                <a:solidFill>
                  <a:schemeClr val="tx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942B866-D986-8A72-F0B6-D7F8046C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9247" y="2865349"/>
              <a:ext cx="777307" cy="792549"/>
            </a:xfrm>
            <a:prstGeom prst="rect">
              <a:avLst/>
            </a:prstGeom>
          </p:spPr>
        </p:pic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AE24BAA4-3BA5-FC6E-3D3D-619EDD6A1782}"/>
                </a:ext>
              </a:extLst>
            </p:cNvPr>
            <p:cNvGrpSpPr/>
            <p:nvPr/>
          </p:nvGrpSpPr>
          <p:grpSpPr>
            <a:xfrm>
              <a:off x="10395801" y="2865349"/>
              <a:ext cx="658951" cy="872746"/>
              <a:chOff x="9061143" y="4430901"/>
              <a:chExt cx="807868" cy="872746"/>
            </a:xfrm>
          </p:grpSpPr>
          <p:sp>
            <p:nvSpPr>
              <p:cNvPr id="63" name="流程图: 磁盘 62">
                <a:extLst>
                  <a:ext uri="{FF2B5EF4-FFF2-40B4-BE49-F238E27FC236}">
                    <a16:creationId xmlns:a16="http://schemas.microsoft.com/office/drawing/2014/main" id="{8B8F952D-60EB-4B7D-AB0F-81750B4898B4}"/>
                  </a:ext>
                </a:extLst>
              </p:cNvPr>
              <p:cNvSpPr/>
              <p:nvPr/>
            </p:nvSpPr>
            <p:spPr>
              <a:xfrm>
                <a:off x="9061143" y="4958361"/>
                <a:ext cx="807868" cy="345286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流程图: 磁盘 63">
                <a:extLst>
                  <a:ext uri="{FF2B5EF4-FFF2-40B4-BE49-F238E27FC236}">
                    <a16:creationId xmlns:a16="http://schemas.microsoft.com/office/drawing/2014/main" id="{737F37F9-4D76-3787-E5F3-44A62C6878E9}"/>
                  </a:ext>
                </a:extLst>
              </p:cNvPr>
              <p:cNvSpPr/>
              <p:nvPr/>
            </p:nvSpPr>
            <p:spPr>
              <a:xfrm>
                <a:off x="9061143" y="4694631"/>
                <a:ext cx="807868" cy="345286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流程图: 磁盘 64">
                <a:extLst>
                  <a:ext uri="{FF2B5EF4-FFF2-40B4-BE49-F238E27FC236}">
                    <a16:creationId xmlns:a16="http://schemas.microsoft.com/office/drawing/2014/main" id="{CF4E3178-6F6C-0BE7-91B0-06DE23A726F3}"/>
                  </a:ext>
                </a:extLst>
              </p:cNvPr>
              <p:cNvSpPr/>
              <p:nvPr/>
            </p:nvSpPr>
            <p:spPr>
              <a:xfrm>
                <a:off x="9061143" y="4430901"/>
                <a:ext cx="807868" cy="345286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2143B7E-8EE6-32DC-74C1-576E4DBD6D7A}"/>
                </a:ext>
              </a:extLst>
            </p:cNvPr>
            <p:cNvSpPr/>
            <p:nvPr/>
          </p:nvSpPr>
          <p:spPr>
            <a:xfrm>
              <a:off x="1793460" y="2133604"/>
              <a:ext cx="7825670" cy="2302626"/>
            </a:xfrm>
            <a:prstGeom prst="roundRect">
              <a:avLst>
                <a:gd name="adj" fmla="val 2862"/>
              </a:avLst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21D78E7C-D9A1-B58B-0D4C-3245F8AC0186}"/>
              </a:ext>
            </a:extLst>
          </p:cNvPr>
          <p:cNvSpPr/>
          <p:nvPr/>
        </p:nvSpPr>
        <p:spPr>
          <a:xfrm>
            <a:off x="4957742" y="1111624"/>
            <a:ext cx="1497105" cy="53788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/>
              <a:t>线程本地变量</a:t>
            </a:r>
            <a:endParaRPr lang="en-US" altLang="zh-CN" sz="1200"/>
          </a:p>
          <a:p>
            <a:pPr algn="ctr"/>
            <a:r>
              <a:rPr lang="en-US" altLang="zh-CN" sz="1200"/>
              <a:t>ThreadLocalMap</a:t>
            </a:r>
            <a:endParaRPr lang="zh-CN" altLang="en-US" sz="1200"/>
          </a:p>
        </p:txBody>
      </p: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2A2FCF94-E594-8A2B-3CC3-A0395D564E0B}"/>
              </a:ext>
            </a:extLst>
          </p:cNvPr>
          <p:cNvCxnSpPr>
            <a:cxnSpLocks/>
          </p:cNvCxnSpPr>
          <p:nvPr/>
        </p:nvCxnSpPr>
        <p:spPr>
          <a:xfrm>
            <a:off x="1633650" y="2936637"/>
            <a:ext cx="2714" cy="649974"/>
          </a:xfrm>
          <a:prstGeom prst="curvedConnector3">
            <a:avLst>
              <a:gd name="adj1" fmla="val 312622992"/>
            </a:avLst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10BDC0B4-C268-2DC0-14A5-DCE73A1DDC7B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rot="5400000" flipH="1" flipV="1">
            <a:off x="3329212" y="702038"/>
            <a:ext cx="950001" cy="2307059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61A1C353-9A7A-08CF-419D-8A47CE8082AB}"/>
              </a:ext>
            </a:extLst>
          </p:cNvPr>
          <p:cNvCxnSpPr>
            <a:cxnSpLocks/>
            <a:stCxn id="79" idx="2"/>
            <a:endCxn id="76" idx="3"/>
          </p:cNvCxnSpPr>
          <p:nvPr/>
        </p:nvCxnSpPr>
        <p:spPr>
          <a:xfrm rot="5400000">
            <a:off x="4612280" y="1236552"/>
            <a:ext cx="681060" cy="1506970"/>
          </a:xfrm>
          <a:prstGeom prst="curvedConnector3">
            <a:avLst>
              <a:gd name="adj1" fmla="val 50000"/>
            </a:avLst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曲线 87">
            <a:extLst>
              <a:ext uri="{FF2B5EF4-FFF2-40B4-BE49-F238E27FC236}">
                <a16:creationId xmlns:a16="http://schemas.microsoft.com/office/drawing/2014/main" id="{17A889F5-0971-F4F5-2809-78F467EA1BA3}"/>
              </a:ext>
            </a:extLst>
          </p:cNvPr>
          <p:cNvCxnSpPr>
            <a:cxnSpLocks/>
            <a:stCxn id="79" idx="2"/>
            <a:endCxn id="77" idx="3"/>
          </p:cNvCxnSpPr>
          <p:nvPr/>
        </p:nvCxnSpPr>
        <p:spPr>
          <a:xfrm rot="16200000" flipH="1">
            <a:off x="5386601" y="1969201"/>
            <a:ext cx="681060" cy="41672"/>
          </a:xfrm>
          <a:prstGeom prst="curvedConnector3">
            <a:avLst>
              <a:gd name="adj1" fmla="val 50000"/>
            </a:avLst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7CB0FDFF-0BAE-A876-A4E9-BCCF66F4ECB7}"/>
              </a:ext>
            </a:extLst>
          </p:cNvPr>
          <p:cNvCxnSpPr>
            <a:cxnSpLocks/>
            <a:stCxn id="79" idx="3"/>
            <a:endCxn id="78" idx="3"/>
          </p:cNvCxnSpPr>
          <p:nvPr/>
        </p:nvCxnSpPr>
        <p:spPr>
          <a:xfrm>
            <a:off x="6454847" y="1380566"/>
            <a:ext cx="841762" cy="950001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曲线 92">
            <a:extLst>
              <a:ext uri="{FF2B5EF4-FFF2-40B4-BE49-F238E27FC236}">
                <a16:creationId xmlns:a16="http://schemas.microsoft.com/office/drawing/2014/main" id="{895F064D-302F-7D88-54F2-268307078E6D}"/>
              </a:ext>
            </a:extLst>
          </p:cNvPr>
          <p:cNvCxnSpPr>
            <a:cxnSpLocks/>
            <a:stCxn id="79" idx="3"/>
            <a:endCxn id="59" idx="3"/>
          </p:cNvCxnSpPr>
          <p:nvPr/>
        </p:nvCxnSpPr>
        <p:spPr>
          <a:xfrm>
            <a:off x="6454847" y="1380566"/>
            <a:ext cx="2390406" cy="950001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01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76" grpId="0" animBg="1"/>
      <p:bldP spid="7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0110E-B5CA-DE53-FCF0-22B6889CD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96677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</a:t>
            </a:r>
            <a:r>
              <a:rPr lang="en-US" altLang="zh-CN"/>
              <a:t>ThreadLocal</a:t>
            </a:r>
          </a:p>
          <a:p>
            <a:pPr marL="360000"/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ThreadLocal其实是线程的局部变量，为每个线程提供单独一份存储空间，具有线程隔离的效果，不同的线程之间不会相互干扰</a:t>
            </a:r>
            <a:endParaRPr lang="en-US" altLang="zh-CN" sz="1400"/>
          </a:p>
          <a:p>
            <a:r>
              <a:rPr lang="en-US" altLang="zh-CN"/>
              <a:t>2. ThreadLocal</a:t>
            </a:r>
            <a:r>
              <a:rPr lang="zh-CN" altLang="en-US"/>
              <a:t>的应用场景</a:t>
            </a:r>
            <a:endParaRPr lang="en-US" altLang="zh-CN"/>
          </a:p>
          <a:p>
            <a:pPr marL="360000"/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在同一个线程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/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</a:rPr>
              <a:t>同一个请求中，进行数据共享。</a:t>
            </a:r>
          </a:p>
        </p:txBody>
      </p:sp>
    </p:spTree>
    <p:extLst>
      <p:ext uri="{BB962C8B-B14F-4D97-AF65-F5344CB8AC3E}">
        <p14:creationId xmlns:p14="http://schemas.microsoft.com/office/powerpoint/2010/main" val="31925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18907</TotalTime>
  <Words>3310</Words>
  <Application>Microsoft Office PowerPoint</Application>
  <PresentationFormat>宽屏</PresentationFormat>
  <Paragraphs>309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35</vt:i4>
      </vt:variant>
    </vt:vector>
  </HeadingPairs>
  <TitlesOfParts>
    <vt:vector size="57" baseType="lpstr">
      <vt:lpstr>Alibaba PuHuiTi B</vt:lpstr>
      <vt:lpstr>PingFang SC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Calisto MT</vt:lpstr>
      <vt:lpstr>Consolas</vt:lpstr>
      <vt:lpstr>Courier New</vt:lpstr>
      <vt:lpstr>Fira Code</vt:lpstr>
      <vt:lpstr>Source Code Pro</vt:lpstr>
      <vt:lpstr>Tenorite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什么是AOP</vt:lpstr>
      <vt:lpstr>什么是AOP</vt:lpstr>
      <vt:lpstr>PowerPoint 演示文稿</vt:lpstr>
      <vt:lpstr>PowerPoint 演示文稿</vt:lpstr>
      <vt:lpstr>AOP快速入门</vt:lpstr>
      <vt:lpstr>SpringAOP快速入门：统计所有业务层方法的执行耗时</vt:lpstr>
      <vt:lpstr>PowerPoint 演示文稿</vt:lpstr>
      <vt:lpstr>PowerPoint 演示文稿</vt:lpstr>
      <vt:lpstr>AOP核心概念</vt:lpstr>
      <vt:lpstr>AOP执行流程</vt:lpstr>
      <vt:lpstr>PowerPoint 演示文稿</vt:lpstr>
      <vt:lpstr>PowerPoint 演示文稿</vt:lpstr>
      <vt:lpstr>PowerPoint 演示文稿</vt:lpstr>
      <vt:lpstr>通知类型</vt:lpstr>
      <vt:lpstr>@PointCut</vt:lpstr>
      <vt:lpstr>PowerPoint 演示文稿</vt:lpstr>
      <vt:lpstr>PowerPoint 演示文稿</vt:lpstr>
      <vt:lpstr>通知顺序</vt:lpstr>
      <vt:lpstr>PowerPoint 演示文稿</vt:lpstr>
      <vt:lpstr>切入点表达式</vt:lpstr>
      <vt:lpstr>切入点表达式-execution</vt:lpstr>
      <vt:lpstr>PowerPoint 演示文稿</vt:lpstr>
      <vt:lpstr>切入点表达式-@annotation</vt:lpstr>
      <vt:lpstr>PowerPoint 演示文稿</vt:lpstr>
      <vt:lpstr>PowerPoint 演示文稿</vt:lpstr>
      <vt:lpstr>连接点</vt:lpstr>
      <vt:lpstr>PowerPoint 演示文稿</vt:lpstr>
      <vt:lpstr>PowerPoint 演示文稿</vt:lpstr>
      <vt:lpstr>将案例中增、删、改相关接口的操作日志记录到数据库表中</vt:lpstr>
      <vt:lpstr>获取当前登录员工</vt:lpstr>
      <vt:lpstr>ThreadLocal</vt:lpstr>
      <vt:lpstr>获取当前登录员工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1537</cp:revision>
  <cp:lastPrinted>2022-05-29T16:00:00Z</cp:lastPrinted>
  <dcterms:created xsi:type="dcterms:W3CDTF">2022-05-29T16:00:00Z</dcterms:created>
  <dcterms:modified xsi:type="dcterms:W3CDTF">2024-12-04T09:30:53Z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