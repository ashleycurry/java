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45"/>
  </p:notesMasterIdLst>
  <p:handoutMasterIdLst>
    <p:handoutMasterId r:id="rId46"/>
  </p:handoutMasterIdLst>
  <p:sldIdLst>
    <p:sldId id="280" r:id="rId6"/>
    <p:sldId id="693" r:id="rId7"/>
    <p:sldId id="694" r:id="rId8"/>
    <p:sldId id="695" r:id="rId9"/>
    <p:sldId id="696" r:id="rId10"/>
    <p:sldId id="697" r:id="rId11"/>
    <p:sldId id="698" r:id="rId12"/>
    <p:sldId id="710" r:id="rId13"/>
    <p:sldId id="699" r:id="rId14"/>
    <p:sldId id="700" r:id="rId15"/>
    <p:sldId id="733" r:id="rId16"/>
    <p:sldId id="732" r:id="rId17"/>
    <p:sldId id="711" r:id="rId18"/>
    <p:sldId id="702" r:id="rId19"/>
    <p:sldId id="703" r:id="rId20"/>
    <p:sldId id="712" r:id="rId21"/>
    <p:sldId id="704" r:id="rId22"/>
    <p:sldId id="705" r:id="rId23"/>
    <p:sldId id="706" r:id="rId24"/>
    <p:sldId id="707" r:id="rId25"/>
    <p:sldId id="718" r:id="rId26"/>
    <p:sldId id="719" r:id="rId27"/>
    <p:sldId id="720" r:id="rId28"/>
    <p:sldId id="709" r:id="rId29"/>
    <p:sldId id="721" r:id="rId30"/>
    <p:sldId id="713" r:id="rId31"/>
    <p:sldId id="727" r:id="rId32"/>
    <p:sldId id="731" r:id="rId33"/>
    <p:sldId id="714" r:id="rId34"/>
    <p:sldId id="729" r:id="rId35"/>
    <p:sldId id="715" r:id="rId36"/>
    <p:sldId id="716" r:id="rId37"/>
    <p:sldId id="717" r:id="rId38"/>
    <p:sldId id="723" r:id="rId39"/>
    <p:sldId id="724" r:id="rId40"/>
    <p:sldId id="730" r:id="rId41"/>
    <p:sldId id="725" r:id="rId42"/>
    <p:sldId id="726" r:id="rId43"/>
    <p:sldId id="288" r:id="rId44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1094"/>
    <a:srgbClr val="067D17"/>
    <a:srgbClr val="9E880D"/>
    <a:srgbClr val="C00000"/>
    <a:srgbClr val="282D2C"/>
    <a:srgbClr val="00B050"/>
    <a:srgbClr val="FFC000"/>
    <a:srgbClr val="9933FF"/>
    <a:srgbClr val="363C3B"/>
    <a:srgbClr val="FFF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2" d="100"/>
          <a:sy n="82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8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1" y="3586894"/>
            <a:ext cx="4619812" cy="563562"/>
          </a:xfrm>
        </p:spPr>
        <p:txBody>
          <a:bodyPr/>
          <a:lstStyle/>
          <a:p>
            <a:r>
              <a:rPr lang="en-US" altLang="zh-CN" sz="2400"/>
              <a:t>SpringBoot</a:t>
            </a:r>
            <a:r>
              <a:rPr lang="zh-CN" altLang="en-US" sz="2400"/>
              <a:t>原理篇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  <a:endParaRPr lang="en-US" altLang="zh-CN"/>
          </a:p>
          <a:p>
            <a:r>
              <a:rPr lang="en-US" altLang="zh-CN"/>
              <a:t>Bean</a:t>
            </a:r>
            <a:r>
              <a:rPr lang="zh-CN" altLang="en-US"/>
              <a:t>管理</a:t>
            </a:r>
            <a:endParaRPr lang="en-US" altLang="zh-CN"/>
          </a:p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89375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824413-C41D-0B0A-3C20-B2C9947307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080D6DA-B580-C8B2-DFC0-8AA6FC8DF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51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SpringBoot </a:t>
            </a:r>
            <a:r>
              <a:rPr lang="zh-CN" altLang="en-US"/>
              <a:t>中支持三种格式的配置文件：</a:t>
            </a:r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0F1A8716-D6D6-FFD1-7A82-E696726ECA7D}"/>
              </a:ext>
            </a:extLst>
          </p:cNvPr>
          <p:cNvGrpSpPr/>
          <p:nvPr/>
        </p:nvGrpSpPr>
        <p:grpSpPr>
          <a:xfrm>
            <a:off x="968126" y="1576086"/>
            <a:ext cx="5441568" cy="817331"/>
            <a:chOff x="2297722" y="3660322"/>
            <a:chExt cx="5995598" cy="81737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D9F21B6-A777-EB0A-3F71-03D3411A2E55}"/>
                </a:ext>
              </a:extLst>
            </p:cNvPr>
            <p:cNvSpPr/>
            <p:nvPr/>
          </p:nvSpPr>
          <p:spPr>
            <a:xfrm>
              <a:off x="2297726" y="3660325"/>
              <a:ext cx="5995594" cy="817376"/>
            </a:xfrm>
            <a:prstGeom prst="roundRect">
              <a:avLst>
                <a:gd name="adj" fmla="val 1151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0" rIns="0" bIns="0" rtlCol="0" anchor="t"/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server.port</a:t>
              </a:r>
              <a:r>
                <a:rPr lang="zh-CN" altLang="zh-CN" sz="1200">
                  <a:solidFill>
                    <a:srgbClr val="080808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=</a:t>
              </a:r>
              <a:r>
                <a:rPr lang="zh-CN" altLang="zh-CN" sz="1200">
                  <a:solidFill>
                    <a:srgbClr val="1750EB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808</a:t>
              </a:r>
              <a:r>
                <a:rPr lang="en-US" altLang="zh-CN" sz="1200">
                  <a:solidFill>
                    <a:srgbClr val="1750EB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endParaRPr lang="zh-CN" altLang="zh-CN" sz="200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56D4499-2865-1AE2-AA17-70B3E47DB633}"/>
                </a:ext>
              </a:extLst>
            </p:cNvPr>
            <p:cNvSpPr/>
            <p:nvPr/>
          </p:nvSpPr>
          <p:spPr>
            <a:xfrm>
              <a:off x="2297722" y="3660322"/>
              <a:ext cx="59955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0FA18A4-08DE-BDFD-4119-43959608925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FD491CD-FDAA-42C0-458D-E19DB7B5478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DD7AE8E-7137-909C-93DA-C4BDC9222FC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B9B804FF-DBDF-4090-2D68-28F26D94B484}"/>
              </a:ext>
            </a:extLst>
          </p:cNvPr>
          <p:cNvGrpSpPr/>
          <p:nvPr/>
        </p:nvGrpSpPr>
        <p:grpSpPr>
          <a:xfrm>
            <a:off x="968122" y="2577852"/>
            <a:ext cx="5441568" cy="1001765"/>
            <a:chOff x="2297722" y="3660322"/>
            <a:chExt cx="5995598" cy="100182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FD7AC45-0346-7F74-34FF-56BF40CE7B0F}"/>
                </a:ext>
              </a:extLst>
            </p:cNvPr>
            <p:cNvSpPr/>
            <p:nvPr/>
          </p:nvSpPr>
          <p:spPr>
            <a:xfrm>
              <a:off x="2297726" y="3660324"/>
              <a:ext cx="5995594" cy="1001822"/>
            </a:xfrm>
            <a:prstGeom prst="roundRect">
              <a:avLst>
                <a:gd name="adj" fmla="val 882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0" rIns="0" bIns="0" rtlCol="0" anchor="t"/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erver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port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zh-CN" altLang="zh-CN" sz="1200">
                  <a:solidFill>
                    <a:srgbClr val="1750EB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808</a:t>
              </a:r>
              <a:r>
                <a:rPr lang="en-US" altLang="zh-CN" sz="1200">
                  <a:solidFill>
                    <a:srgbClr val="1750EB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2</a:t>
              </a:r>
              <a:endParaRPr lang="zh-CN" altLang="zh-CN" sz="2000"/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629C6B58-8093-5FF0-CB59-01F7A503183E}"/>
                </a:ext>
              </a:extLst>
            </p:cNvPr>
            <p:cNvSpPr/>
            <p:nvPr/>
          </p:nvSpPr>
          <p:spPr>
            <a:xfrm>
              <a:off x="2297722" y="3660322"/>
              <a:ext cx="59955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7B8571F-E8BD-88D5-095E-791F9D6BDA5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2F549C9-9718-1F10-3909-083BD54A665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233C822-5F41-6D78-5018-DFD1CDCC59C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9F9F55F0-3DDE-A057-5D5A-EFB9A1625DFC}"/>
              </a:ext>
            </a:extLst>
          </p:cNvPr>
          <p:cNvGrpSpPr/>
          <p:nvPr/>
        </p:nvGrpSpPr>
        <p:grpSpPr>
          <a:xfrm>
            <a:off x="968118" y="3764054"/>
            <a:ext cx="5441568" cy="1001765"/>
            <a:chOff x="2297722" y="3660322"/>
            <a:chExt cx="5995598" cy="100182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EA16DDF-8B3E-AE53-46D8-11C4C1486D72}"/>
                </a:ext>
              </a:extLst>
            </p:cNvPr>
            <p:cNvSpPr/>
            <p:nvPr/>
          </p:nvSpPr>
          <p:spPr>
            <a:xfrm>
              <a:off x="2297726" y="3660324"/>
              <a:ext cx="5995594" cy="1001822"/>
            </a:xfrm>
            <a:prstGeom prst="roundRect">
              <a:avLst>
                <a:gd name="adj" fmla="val 882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24000" rIns="0" bIns="0" rtlCol="0" anchor="t"/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s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erver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</a:t>
              </a:r>
            </a:p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>
                  <a:solidFill>
                    <a:srgbClr val="0033B3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</a:t>
              </a:r>
              <a:r>
                <a:rPr lang="zh-CN" altLang="zh-CN" sz="1200">
                  <a:solidFill>
                    <a:srgbClr val="0033B3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port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zh-CN" altLang="zh-CN" sz="1200">
                  <a:solidFill>
                    <a:srgbClr val="1750EB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808</a:t>
              </a:r>
              <a:r>
                <a:rPr lang="en-US" altLang="zh-CN" sz="1200">
                  <a:solidFill>
                    <a:srgbClr val="1750EB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3</a:t>
              </a:r>
              <a:endParaRPr lang="zh-CN" altLang="zh-CN" sz="2000"/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4AFE570F-D1B2-B284-1E20-EDD29B165DC0}"/>
                </a:ext>
              </a:extLst>
            </p:cNvPr>
            <p:cNvSpPr/>
            <p:nvPr/>
          </p:nvSpPr>
          <p:spPr>
            <a:xfrm>
              <a:off x="2297722" y="3660322"/>
              <a:ext cx="59955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application.yaml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08A089B-F301-C5DD-6F64-167524919E7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85DF628-67BE-8C12-3B09-991AB87C92E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2B7FB92-0F02-8BFE-E0F5-3272A00478C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B897534B-5E35-3444-74FF-A922E2F4C1DE}"/>
              </a:ext>
            </a:extLst>
          </p:cNvPr>
          <p:cNvSpPr txBox="1"/>
          <p:nvPr/>
        </p:nvSpPr>
        <p:spPr>
          <a:xfrm>
            <a:off x="6075058" y="195934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endParaRPr lang="zh-CN" altLang="en-US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20AAF9-0A4F-7134-3FCE-976801F916B8}"/>
              </a:ext>
            </a:extLst>
          </p:cNvPr>
          <p:cNvSpPr txBox="1"/>
          <p:nvPr/>
        </p:nvSpPr>
        <p:spPr>
          <a:xfrm>
            <a:off x="6075058" y="2993178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endParaRPr lang="zh-CN" altLang="en-US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BD2588-6681-C644-9DAD-25F55DE5313A}"/>
              </a:ext>
            </a:extLst>
          </p:cNvPr>
          <p:cNvSpPr txBox="1"/>
          <p:nvPr/>
        </p:nvSpPr>
        <p:spPr>
          <a:xfrm>
            <a:off x="6075058" y="4139288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endParaRPr lang="zh-CN" altLang="en-US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567BB9D-16D8-822A-7C07-5C24BA36DC62}"/>
              </a:ext>
            </a:extLst>
          </p:cNvPr>
          <p:cNvGrpSpPr/>
          <p:nvPr/>
        </p:nvGrpSpPr>
        <p:grpSpPr>
          <a:xfrm>
            <a:off x="961856" y="6069500"/>
            <a:ext cx="10289162" cy="448408"/>
            <a:chOff x="710879" y="5978768"/>
            <a:chExt cx="10289391" cy="448408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731699B-616F-3754-63A9-63CF0F2BE0CE}"/>
                </a:ext>
              </a:extLst>
            </p:cNvPr>
            <p:cNvSpPr/>
            <p:nvPr/>
          </p:nvSpPr>
          <p:spPr>
            <a:xfrm>
              <a:off x="710880" y="5978769"/>
              <a:ext cx="1028939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虽然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springboot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支持多种格式配置文件，但是在项目开发时，推荐统一使用一种格式的配置 （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yml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是主流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）。</a:t>
              </a: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A13B1B5B-0BDB-A1D9-363F-F331C9BDC1C1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Shape 2468">
              <a:extLst>
                <a:ext uri="{FF2B5EF4-FFF2-40B4-BE49-F238E27FC236}">
                  <a16:creationId xmlns:a16="http://schemas.microsoft.com/office/drawing/2014/main" id="{399F4046-FC62-F235-AD9E-B54F1637047B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FB11F6E-4944-9CC5-436A-834AE7C16DC0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229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 </a:t>
            </a:r>
            <a:r>
              <a:rPr lang="zh-CN" altLang="en-US">
                <a:latin typeface="Fira Code" panose="020B0809050000020004" pitchFamily="49" charset="0"/>
              </a:rPr>
              <a:t>除了支持配置文件属性配置，还支持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系统属性</a:t>
            </a:r>
            <a:r>
              <a:rPr lang="zh-CN" altLang="en-US">
                <a:latin typeface="Fira Code" panose="020B0809050000020004" pitchFamily="49" charset="0"/>
              </a:rPr>
              <a:t>和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命令行参数</a:t>
            </a:r>
            <a:r>
              <a:rPr lang="zh-CN" altLang="en-US">
                <a:latin typeface="Fira Code" panose="020B0809050000020004" pitchFamily="49" charset="0"/>
              </a:rPr>
              <a:t>的方式进行属性配置。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39B535-9FD5-5CFF-8A5D-CBA6645DD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473" y="2463752"/>
            <a:ext cx="6390300" cy="3712735"/>
          </a:xfrm>
          <a:prstGeom prst="rect">
            <a:avLst/>
          </a:prstGeom>
        </p:spPr>
      </p:pic>
      <p:sp>
        <p:nvSpPr>
          <p:cNvPr id="5" name="!!MyService">
            <a:extLst>
              <a:ext uri="{FF2B5EF4-FFF2-40B4-BE49-F238E27FC236}">
                <a16:creationId xmlns:a16="http://schemas.microsoft.com/office/drawing/2014/main" id="{29808717-677D-D216-4422-B4DFDFAB3340}"/>
              </a:ext>
            </a:extLst>
          </p:cNvPr>
          <p:cNvSpPr txBox="1"/>
          <p:nvPr/>
        </p:nvSpPr>
        <p:spPr>
          <a:xfrm>
            <a:off x="1161802" y="2045698"/>
            <a:ext cx="3548199" cy="3244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  <a:effectLst/>
        </p:spPr>
        <p:txBody>
          <a:bodyPr wrap="square" tIns="72000" bIns="36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-D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9000</a:t>
            </a:r>
            <a:endParaRPr lang="zh-CN" altLang="zh-CN" sz="2400"/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2EB695C0-BAF9-6888-2C57-BB90EFA1817C}"/>
              </a:ext>
            </a:extLst>
          </p:cNvPr>
          <p:cNvCxnSpPr>
            <a:cxnSpLocks/>
            <a:stCxn id="8" idx="2"/>
            <a:endCxn id="10" idx="3"/>
          </p:cNvCxnSpPr>
          <p:nvPr/>
        </p:nvCxnSpPr>
        <p:spPr>
          <a:xfrm rot="5400000">
            <a:off x="6247349" y="2822651"/>
            <a:ext cx="2500926" cy="1596015"/>
          </a:xfrm>
          <a:prstGeom prst="bentConnector2">
            <a:avLst/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01E6D7D-DDB4-7EF0-0E99-E6798779266B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3107660" y="2198437"/>
            <a:ext cx="2232585" cy="2576101"/>
          </a:xfrm>
          <a:prstGeom prst="bentConnector2">
            <a:avLst/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!!MyService">
            <a:extLst>
              <a:ext uri="{FF2B5EF4-FFF2-40B4-BE49-F238E27FC236}">
                <a16:creationId xmlns:a16="http://schemas.microsoft.com/office/drawing/2014/main" id="{EE34A84A-F217-A48E-E209-AE75CE5DAC55}"/>
              </a:ext>
            </a:extLst>
          </p:cNvPr>
          <p:cNvSpPr txBox="1"/>
          <p:nvPr/>
        </p:nvSpPr>
        <p:spPr>
          <a:xfrm>
            <a:off x="6521719" y="2041703"/>
            <a:ext cx="3548199" cy="3608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  <a:effectLst/>
        </p:spPr>
        <p:txBody>
          <a:bodyPr wrap="square" tIns="72000" bIns="72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--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10010</a:t>
            </a:r>
            <a:endParaRPr lang="zh-CN" altLang="zh-CN" sz="2400"/>
          </a:p>
        </p:txBody>
      </p:sp>
      <p:sp>
        <p:nvSpPr>
          <p:cNvPr id="9" name="矩形 6533">
            <a:extLst>
              <a:ext uri="{FF2B5EF4-FFF2-40B4-BE49-F238E27FC236}">
                <a16:creationId xmlns:a16="http://schemas.microsoft.com/office/drawing/2014/main" id="{2BBF648D-3F07-9025-579A-56618018B1D2}"/>
              </a:ext>
            </a:extLst>
          </p:cNvPr>
          <p:cNvSpPr/>
          <p:nvPr/>
        </p:nvSpPr>
        <p:spPr>
          <a:xfrm>
            <a:off x="5512003" y="4494638"/>
            <a:ext cx="1187801" cy="21628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7F2F08-4E9C-BA80-7ACD-01EEEC90E345}"/>
              </a:ext>
            </a:extLst>
          </p:cNvPr>
          <p:cNvSpPr/>
          <p:nvPr/>
        </p:nvSpPr>
        <p:spPr>
          <a:xfrm>
            <a:off x="5512003" y="4762978"/>
            <a:ext cx="1187801" cy="216285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3FD3C2BE-9959-DEC2-4296-7380861354BE}"/>
              </a:ext>
            </a:extLst>
          </p:cNvPr>
          <p:cNvSpPr txBox="1">
            <a:spLocks/>
          </p:cNvSpPr>
          <p:nvPr/>
        </p:nvSpPr>
        <p:spPr>
          <a:xfrm>
            <a:off x="1005168" y="1576086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</a:rPr>
              <a:t>系统属性</a:t>
            </a:r>
            <a:endParaRPr lang="en-US" altLang="zh-CN" sz="1400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53D2799F-6534-E8F9-0F5E-505CF6E905A1}"/>
              </a:ext>
            </a:extLst>
          </p:cNvPr>
          <p:cNvSpPr txBox="1">
            <a:spLocks/>
          </p:cNvSpPr>
          <p:nvPr/>
        </p:nvSpPr>
        <p:spPr>
          <a:xfrm>
            <a:off x="6442604" y="1594147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/>
                </a:solidFill>
              </a:rPr>
              <a:t>命令行参数</a:t>
            </a:r>
            <a:endParaRPr lang="en-US" altLang="zh-CN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72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 </a:t>
            </a:r>
            <a:r>
              <a:rPr lang="zh-CN" altLang="en-US">
                <a:latin typeface="Fira Code" panose="020B0809050000020004" pitchFamily="49" charset="0"/>
              </a:rPr>
              <a:t>除了支持配置文件属性配置，还支持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系统属性</a:t>
            </a:r>
            <a:r>
              <a:rPr lang="zh-CN" altLang="en-US">
                <a:latin typeface="Fira Code" panose="020B0809050000020004" pitchFamily="49" charset="0"/>
              </a:rPr>
              <a:t>和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命令行参数</a:t>
            </a:r>
            <a:r>
              <a:rPr lang="zh-CN" altLang="en-US">
                <a:latin typeface="Fira Code" panose="020B0809050000020004" pitchFamily="49" charset="0"/>
              </a:rPr>
              <a:t>的方式进行属性配置。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</a:t>
            </a:r>
          </a:p>
        </p:txBody>
      </p:sp>
      <p:sp>
        <p:nvSpPr>
          <p:cNvPr id="2" name="!!MyService">
            <a:extLst>
              <a:ext uri="{FF2B5EF4-FFF2-40B4-BE49-F238E27FC236}">
                <a16:creationId xmlns:a16="http://schemas.microsoft.com/office/drawing/2014/main" id="{B34B431E-4C41-22B4-633A-835F2CE0D88E}"/>
              </a:ext>
            </a:extLst>
          </p:cNvPr>
          <p:cNvSpPr txBox="1"/>
          <p:nvPr/>
        </p:nvSpPr>
        <p:spPr>
          <a:xfrm>
            <a:off x="1105698" y="2045698"/>
            <a:ext cx="3548199" cy="3244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</p:spPr>
        <p:txBody>
          <a:bodyPr wrap="square" tIns="72000" bIns="36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-D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9000</a:t>
            </a:r>
            <a:endParaRPr lang="zh-CN" altLang="zh-CN" sz="2400"/>
          </a:p>
        </p:txBody>
      </p:sp>
      <p:sp>
        <p:nvSpPr>
          <p:cNvPr id="5" name="!!MyService">
            <a:extLst>
              <a:ext uri="{FF2B5EF4-FFF2-40B4-BE49-F238E27FC236}">
                <a16:creationId xmlns:a16="http://schemas.microsoft.com/office/drawing/2014/main" id="{F4E2531E-3AC6-7F63-D239-CBF1DF07554F}"/>
              </a:ext>
            </a:extLst>
          </p:cNvPr>
          <p:cNvSpPr txBox="1"/>
          <p:nvPr/>
        </p:nvSpPr>
        <p:spPr>
          <a:xfrm>
            <a:off x="6465615" y="2041703"/>
            <a:ext cx="3548199" cy="3608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</p:spPr>
        <p:txBody>
          <a:bodyPr wrap="square" tIns="72000" bIns="72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8308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--</a:t>
            </a:r>
            <a:r>
              <a:rPr lang="zh-CN" altLang="zh-CN" sz="1400">
                <a:solidFill>
                  <a:srgbClr val="08308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server.port</a:t>
            </a:r>
            <a:r>
              <a:rPr lang="zh-CN" altLang="zh-CN" sz="1400">
                <a:solidFill>
                  <a:srgbClr val="080808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10010</a:t>
            </a:r>
            <a:endParaRPr lang="zh-CN" altLang="zh-CN" sz="2400"/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DF3628A-DB39-5D76-9170-FD43AC7AFE2E}"/>
              </a:ext>
            </a:extLst>
          </p:cNvPr>
          <p:cNvSpPr txBox="1">
            <a:spLocks/>
          </p:cNvSpPr>
          <p:nvPr/>
        </p:nvSpPr>
        <p:spPr>
          <a:xfrm>
            <a:off x="949064" y="1576086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14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sz="1400">
                <a:solidFill>
                  <a:schemeClr val="tx1"/>
                </a:solidFill>
                <a:latin typeface="Fira Code" panose="020B0809050000020004" pitchFamily="49" charset="0"/>
              </a:rPr>
              <a:t>系统属性</a:t>
            </a:r>
            <a:endParaRPr lang="en-US" altLang="zh-CN" sz="1400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6FBF744-4ECD-7A63-998E-2F8DFA18C34C}"/>
              </a:ext>
            </a:extLst>
          </p:cNvPr>
          <p:cNvSpPr txBox="1">
            <a:spLocks/>
          </p:cNvSpPr>
          <p:nvPr/>
        </p:nvSpPr>
        <p:spPr>
          <a:xfrm>
            <a:off x="6386500" y="1594147"/>
            <a:ext cx="2310220" cy="3750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504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400">
                <a:solidFill>
                  <a:schemeClr val="tx1"/>
                </a:solidFill>
              </a:rPr>
              <a:t>命令行参数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" name="!!MyService">
            <a:extLst>
              <a:ext uri="{FF2B5EF4-FFF2-40B4-BE49-F238E27FC236}">
                <a16:creationId xmlns:a16="http://schemas.microsoft.com/office/drawing/2014/main" id="{46F2BC44-063A-7457-94DC-890B5B243385}"/>
              </a:ext>
            </a:extLst>
          </p:cNvPr>
          <p:cNvSpPr txBox="1"/>
          <p:nvPr/>
        </p:nvSpPr>
        <p:spPr>
          <a:xfrm>
            <a:off x="1113049" y="4232571"/>
            <a:ext cx="10210644" cy="4335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rgbClr val="919191"/>
            </a:solidFill>
          </a:ln>
        </p:spPr>
        <p:txBody>
          <a:bodyPr wrap="square" tIns="108000" bIns="10800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java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002060"/>
                </a:solidFill>
                <a:ea typeface="Fira Code" panose="020B0809050000020004" pitchFamily="49" charset="0"/>
              </a:rPr>
              <a:t>-Dserver.port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9000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-jar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tlias-web-management-0.0.1-SNAPSHOT.jar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002060"/>
                </a:solidFill>
                <a:ea typeface="Fira Code" panose="020B0809050000020004" pitchFamily="49" charset="0"/>
              </a:rPr>
              <a:t>--server.port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=</a:t>
            </a:r>
            <a:r>
              <a:rPr lang="en-US" altLang="zh-CN" sz="1400">
                <a:solidFill>
                  <a:srgbClr val="1750EB"/>
                </a:solidFill>
                <a:ea typeface="Fira Code" panose="020B0809050000020004" pitchFamily="49" charset="0"/>
              </a:rPr>
              <a:t>10010</a:t>
            </a:r>
            <a:endParaRPr lang="zh-CN" altLang="zh-CN" sz="1400">
              <a:solidFill>
                <a:srgbClr val="1750EB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2617E7-0546-B13A-C409-7343DF276938}"/>
              </a:ext>
            </a:extLst>
          </p:cNvPr>
          <p:cNvSpPr txBox="1"/>
          <p:nvPr/>
        </p:nvSpPr>
        <p:spPr>
          <a:xfrm>
            <a:off x="830634" y="2939576"/>
            <a:ext cx="781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504000"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 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maven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打包指令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package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4BF4E6-24F4-387F-AD95-0A0404A9B38E}"/>
              </a:ext>
            </a:extLst>
          </p:cNvPr>
          <p:cNvSpPr txBox="1"/>
          <p:nvPr/>
        </p:nvSpPr>
        <p:spPr>
          <a:xfrm>
            <a:off x="830634" y="3873452"/>
            <a:ext cx="781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504000"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. 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指令，运行</a:t>
            </a:r>
            <a:r>
              <a:rPr kumimoji="1"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kumimoji="1"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3EBB114-0C8F-DCB5-AF50-CA490FF0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98" y="3331429"/>
            <a:ext cx="3686118" cy="38959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9C0368E-5631-BED5-F2E9-61B29C8D3DC3}"/>
              </a:ext>
            </a:extLst>
          </p:cNvPr>
          <p:cNvSpPr/>
          <p:nvPr/>
        </p:nvSpPr>
        <p:spPr>
          <a:xfrm>
            <a:off x="1115858" y="2045508"/>
            <a:ext cx="3540847" cy="321798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B3F046-7738-C3C9-123A-D6DBA4D6427C}"/>
              </a:ext>
            </a:extLst>
          </p:cNvPr>
          <p:cNvSpPr/>
          <p:nvPr/>
        </p:nvSpPr>
        <p:spPr>
          <a:xfrm>
            <a:off x="1689385" y="4239020"/>
            <a:ext cx="2046799" cy="423850"/>
          </a:xfrm>
          <a:prstGeom prst="rect">
            <a:avLst/>
          </a:prstGeom>
          <a:solidFill>
            <a:srgbClr val="FF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647C7-4C25-EC16-AA3D-60CDE14099A2}"/>
              </a:ext>
            </a:extLst>
          </p:cNvPr>
          <p:cNvSpPr/>
          <p:nvPr/>
        </p:nvSpPr>
        <p:spPr>
          <a:xfrm>
            <a:off x="8483811" y="4240023"/>
            <a:ext cx="2138394" cy="423850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51AAE8-5BC2-70C6-74C2-7BBC264896B6}"/>
              </a:ext>
            </a:extLst>
          </p:cNvPr>
          <p:cNvSpPr/>
          <p:nvPr/>
        </p:nvSpPr>
        <p:spPr>
          <a:xfrm>
            <a:off x="6468422" y="2046876"/>
            <a:ext cx="3548198" cy="354681"/>
          </a:xfrm>
          <a:prstGeom prst="rect">
            <a:avLst/>
          </a:prstGeom>
          <a:solidFill>
            <a:srgbClr val="00B05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18653AE-ECBA-22F3-713B-0F88877D275E}"/>
              </a:ext>
            </a:extLst>
          </p:cNvPr>
          <p:cNvGrpSpPr/>
          <p:nvPr/>
        </p:nvGrpSpPr>
        <p:grpSpPr>
          <a:xfrm>
            <a:off x="949064" y="6073193"/>
            <a:ext cx="10289162" cy="448408"/>
            <a:chOff x="710879" y="5978768"/>
            <a:chExt cx="10289391" cy="44840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2B9395E-A50A-D7A8-1B92-29CFEFA8732C}"/>
                </a:ext>
              </a:extLst>
            </p:cNvPr>
            <p:cNvSpPr/>
            <p:nvPr/>
          </p:nvSpPr>
          <p:spPr>
            <a:xfrm>
              <a:off x="710880" y="5978769"/>
              <a:ext cx="10289390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Springboot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项目进行打包时，需要引入插件 </a:t>
              </a:r>
              <a:r>
                <a:rPr lang="en-US" altLang="zh-CN" sz="1200">
                  <a:solidFill>
                    <a:srgbClr val="C00000"/>
                  </a:solidFill>
                  <a:cs typeface="Alibaba PuHuiTi R" pitchFamily="18" charset="-122"/>
                </a:rPr>
                <a:t>spring-boot-maven-plugin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 (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基于官网骨架创建项目，会自动添加该插件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2C465054-047A-8037-D41E-9D258D37D6C9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Shape 2468">
              <a:extLst>
                <a:ext uri="{FF2B5EF4-FFF2-40B4-BE49-F238E27FC236}">
                  <a16:creationId xmlns:a16="http://schemas.microsoft.com/office/drawing/2014/main" id="{E38A584B-2EE7-A051-2EF0-7423071D87AB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4049891-1EF6-FE11-89F1-6A4238765DAD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0126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FFD1C63-78D6-154D-9E7E-985C34681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/>
              <a:t>SpringBoot</a:t>
            </a:r>
            <a:r>
              <a:rPr lang="zh-CN" altLang="en-US" sz="1800"/>
              <a:t>配置优先级</a:t>
            </a:r>
            <a:r>
              <a:rPr lang="zh-CN" altLang="en-US" sz="1800">
                <a:solidFill>
                  <a:srgbClr val="C00000"/>
                </a:solidFill>
              </a:rPr>
              <a:t>（低 </a:t>
            </a:r>
            <a:r>
              <a:rPr lang="en-US" altLang="zh-CN" sz="1800">
                <a:solidFill>
                  <a:srgbClr val="C00000"/>
                </a:solidFill>
                <a:ea typeface="Fira Code" panose="020B0809050000020004" pitchFamily="49" charset="0"/>
              </a:rPr>
              <a:t>-&gt; </a:t>
            </a:r>
            <a:r>
              <a:rPr lang="zh-CN" altLang="en-US" sz="1800">
                <a:solidFill>
                  <a:srgbClr val="C00000"/>
                </a:solidFill>
              </a:rPr>
              <a:t>高）</a:t>
            </a:r>
            <a:r>
              <a:rPr lang="zh-CN" altLang="en-US" sz="1800"/>
              <a:t>：</a:t>
            </a:r>
            <a:endParaRPr lang="en-US" altLang="zh-CN" sz="1800">
              <a:ea typeface="Fira Code" panose="020B0809050000020004" pitchFamily="49" charset="0"/>
            </a:endParaRP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application.yaml</a:t>
            </a:r>
            <a:r>
              <a:rPr lang="zh-CN" altLang="en-US" sz="1400"/>
              <a:t>（忽略）</a:t>
            </a:r>
            <a:endParaRPr lang="en-US" altLang="zh-CN" sz="1400">
              <a:ea typeface="Fira Code" panose="020B0809050000020004" pitchFamily="49" charset="0"/>
            </a:endParaRP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application.yml</a:t>
            </a: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application.properties</a:t>
            </a: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400">
                <a:ea typeface="Fira Code" panose="020B0809050000020004" pitchFamily="49" charset="0"/>
              </a:rPr>
              <a:t>java</a:t>
            </a:r>
            <a:r>
              <a:rPr lang="zh-CN" altLang="en-US" sz="1400"/>
              <a:t>系统属性（</a:t>
            </a:r>
            <a:r>
              <a:rPr lang="en-US" altLang="zh-CN" sz="1400">
                <a:ea typeface="Fira Code" panose="020B0809050000020004" pitchFamily="49" charset="0"/>
              </a:rPr>
              <a:t>-Dxxx=xxx</a:t>
            </a:r>
            <a:r>
              <a:rPr lang="zh-CN" altLang="en-US" sz="1400"/>
              <a:t>）</a:t>
            </a:r>
            <a:endParaRPr lang="en-US" altLang="zh-CN" sz="1400">
              <a:ea typeface="Fira Code" panose="020B0809050000020004" pitchFamily="49" charset="0"/>
            </a:endParaRPr>
          </a:p>
          <a:p>
            <a:pPr marL="5760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400"/>
              <a:t>命令行参数（</a:t>
            </a:r>
            <a:r>
              <a:rPr lang="en-US" altLang="zh-CN" sz="1400">
                <a:ea typeface="Fira Code" panose="020B0809050000020004" pitchFamily="49" charset="0"/>
              </a:rPr>
              <a:t>--xxx=xxx</a:t>
            </a:r>
            <a:r>
              <a:rPr lang="zh-CN" altLang="en-US" sz="1400"/>
              <a:t>）</a:t>
            </a:r>
            <a:endParaRPr lang="en-US" altLang="zh-CN" sz="1400"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90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Bean</a:t>
            </a:r>
            <a:r>
              <a:rPr lang="zh-CN" altLang="en-US">
                <a:solidFill>
                  <a:srgbClr val="C00000"/>
                </a:solidFill>
              </a:rPr>
              <a:t>管理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155337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5ECE06-F4DF-B492-2107-8B133C403D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管理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389CE2-EE23-B3A1-5C0F-0CA10B802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63079"/>
          </a:xfrm>
        </p:spPr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的作用域</a:t>
            </a:r>
            <a:endParaRPr lang="en-US" altLang="zh-CN"/>
          </a:p>
          <a:p>
            <a:r>
              <a:rPr lang="zh-CN" altLang="en-US"/>
              <a:t>第三方</a:t>
            </a:r>
            <a:r>
              <a:rPr lang="en-US" altLang="zh-CN"/>
              <a:t>Bean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33101E2-7EE0-2D45-ECB2-2D2AD88691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32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>
                <a:latin typeface="Fira Code" panose="020B0809050000020004" pitchFamily="49" charset="0"/>
              </a:rPr>
              <a:t>支持五种作用域，后三种在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web</a:t>
            </a:r>
            <a:r>
              <a:rPr lang="zh-CN" altLang="en-US">
                <a:latin typeface="Fira Code" panose="020B0809050000020004" pitchFamily="49" charset="0"/>
              </a:rPr>
              <a:t>环境才生效：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作用域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40CF5AD-FB90-10A5-32C5-98DA8C6FB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01699"/>
              </p:ext>
            </p:extLst>
          </p:nvPr>
        </p:nvGraphicFramePr>
        <p:xfrm>
          <a:off x="929397" y="1576086"/>
          <a:ext cx="6807143" cy="2448000"/>
        </p:xfrm>
        <a:graphic>
          <a:graphicData uri="http://schemas.openxmlformats.org/drawingml/2006/table">
            <a:tbl>
              <a:tblPr/>
              <a:tblGrid>
                <a:gridCol w="190828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898855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6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作用域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A06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A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singleton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容器内同 名称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 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bean 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只有一个实例（单例）（默认）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prototype</a:t>
                      </a:r>
                      <a:endParaRPr kumimoji="0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每次使用该 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bean 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时会创建新的实例（非单例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/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多例）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request</a:t>
                      </a:r>
                      <a:endParaRPr kumimoji="0" lang="zh-CN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每个请求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范围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内会创建新的实例（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web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环境中，了解）</a:t>
                      </a:r>
                      <a:endParaRPr kumimoji="0" lang="en-US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session</a:t>
                      </a:r>
                      <a:endParaRPr kumimoji="0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每个会话范围内会创建新的实例（</a:t>
                      </a:r>
                      <a:r>
                        <a:rPr kumimoji="0" lang="en-US" altLang="zh-CN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web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环境中，了解）</a:t>
                      </a:r>
                      <a:endParaRPr kumimoji="0" lang="en-US" altLang="zh-CN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Fira Code" panose="020B0809050000020004" pitchFamily="49" charset="0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39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application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每个应用范围内会创建新的实例（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web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环境中，了解）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2D66B2E-A9D9-CEBF-8AE6-B8ACCBA1B224}"/>
              </a:ext>
            </a:extLst>
          </p:cNvPr>
          <p:cNvGrpSpPr/>
          <p:nvPr/>
        </p:nvGrpSpPr>
        <p:grpSpPr>
          <a:xfrm>
            <a:off x="7929219" y="1576086"/>
            <a:ext cx="3859369" cy="1970223"/>
            <a:chOff x="2297722" y="3660322"/>
            <a:chExt cx="4252308" cy="197033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2C5D077-837B-14FC-CF09-AEF5DF2C2B1E}"/>
                </a:ext>
              </a:extLst>
            </p:cNvPr>
            <p:cNvSpPr/>
            <p:nvPr/>
          </p:nvSpPr>
          <p:spPr>
            <a:xfrm>
              <a:off x="2297726" y="3660325"/>
              <a:ext cx="4252304" cy="1970335"/>
            </a:xfrm>
            <a:prstGeom prst="roundRect">
              <a:avLst>
                <a:gd name="adj" fmla="val 355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0" rIns="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</a:rPr>
                <a:t>@Scope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"prototype"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</a:rPr>
                <a:t>@RequestMapping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"/depts"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</a:rPr>
              </a:br>
              <a:r>
                <a:rPr lang="en-US" altLang="zh-CN" sz="1200">
                  <a:solidFill>
                    <a:srgbClr val="9E880D"/>
                  </a:solidFill>
                  <a:effectLst/>
                </a:rPr>
                <a:t>@RestController</a:t>
              </a:r>
              <a:br>
                <a:rPr lang="en-US" altLang="zh-CN" sz="1200">
                  <a:solidFill>
                    <a:srgbClr val="9E880D"/>
                  </a:solidFill>
                  <a:effectLst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</a:rPr>
                <a:t>public class </a:t>
              </a:r>
              <a:r>
                <a:rPr lang="en-US" altLang="zh-CN" sz="1200">
                  <a:solidFill>
                    <a:srgbClr val="000000"/>
                  </a:solidFill>
                  <a:effectLst/>
                </a:rPr>
                <a:t>DeptController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{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</a:rPr>
                <a:t>}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3E34FD76-B334-BCCE-7313-B5A0B63F03D6}"/>
                </a:ext>
              </a:extLst>
            </p:cNvPr>
            <p:cNvSpPr/>
            <p:nvPr/>
          </p:nvSpPr>
          <p:spPr>
            <a:xfrm>
              <a:off x="2297722" y="3660322"/>
              <a:ext cx="425230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70A6AF6-04F2-4CEE-357B-B5ACDED9B28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A0F28C8-DEBE-A025-94E6-A55695F71E4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E83C724-393C-A940-D3C3-7A10241080B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29CA77B7-8783-E298-5074-B1A43250E463}"/>
              </a:ext>
            </a:extLst>
          </p:cNvPr>
          <p:cNvSpPr/>
          <p:nvPr/>
        </p:nvSpPr>
        <p:spPr>
          <a:xfrm>
            <a:off x="7929219" y="1951042"/>
            <a:ext cx="3859365" cy="312565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BFBBCE0-9B3A-22DF-4E06-346EEA271ED1}"/>
              </a:ext>
            </a:extLst>
          </p:cNvPr>
          <p:cNvGrpSpPr/>
          <p:nvPr/>
        </p:nvGrpSpPr>
        <p:grpSpPr>
          <a:xfrm>
            <a:off x="916084" y="6281079"/>
            <a:ext cx="10500597" cy="440139"/>
            <a:chOff x="710879" y="5978768"/>
            <a:chExt cx="10633916" cy="4484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F2C24E3-D868-CC0D-0B86-4C8D307DD198}"/>
                </a:ext>
              </a:extLst>
            </p:cNvPr>
            <p:cNvSpPr/>
            <p:nvPr/>
          </p:nvSpPr>
          <p:spPr>
            <a:xfrm>
              <a:off x="710879" y="5978769"/>
              <a:ext cx="106339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默认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singleton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，在容器启动时被创建，可以使用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@Lazy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注解来延迟初始化（延迟到第一次使用时）。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06F7ABEA-9AF1-24D2-21DD-C03C8E2FB800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Shape 2468">
              <a:extLst>
                <a:ext uri="{FF2B5EF4-FFF2-40B4-BE49-F238E27FC236}">
                  <a16:creationId xmlns:a16="http://schemas.microsoft.com/office/drawing/2014/main" id="{6BB6EAF5-B5A5-5D5E-79CE-38B6DF0AB35A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91BF8C5-84F2-9B24-05CB-6C634A81D947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596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3FE6-53AA-7D17-6753-D43A3D4F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5693F1-4548-B08F-D45F-8A5CF82B2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4981917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单例的</a:t>
            </a:r>
            <a:r>
              <a:rPr lang="en-US" altLang="zh-CN">
                <a:latin typeface="Fira Code" panose="020B0809050000020004" pitchFamily="49" charset="0"/>
              </a:rPr>
              <a:t>bean (singleton)</a:t>
            </a:r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F13F98E-8210-A0E8-BFDF-2C0FC31C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作用域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1046746-DFE4-9F8E-53E3-163923A836AB}"/>
              </a:ext>
            </a:extLst>
          </p:cNvPr>
          <p:cNvGrpSpPr/>
          <p:nvPr/>
        </p:nvGrpSpPr>
        <p:grpSpPr>
          <a:xfrm>
            <a:off x="674038" y="1500805"/>
            <a:ext cx="4642034" cy="4122746"/>
            <a:chOff x="2297723" y="3660322"/>
            <a:chExt cx="5114660" cy="412298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CE71203-9A5F-21EB-A1F2-1937D50ED21D}"/>
                </a:ext>
              </a:extLst>
            </p:cNvPr>
            <p:cNvSpPr/>
            <p:nvPr/>
          </p:nvSpPr>
          <p:spPr>
            <a:xfrm>
              <a:off x="2297729" y="3660324"/>
              <a:ext cx="5114654" cy="4122984"/>
            </a:xfrm>
            <a:prstGeom prst="roundRect">
              <a:avLst>
                <a:gd name="adj" fmla="val 203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@Slf4j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@RestController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100">
                  <a:solidFill>
                    <a:srgbClr val="9E880D"/>
                  </a:solidFill>
                </a:rPr>
                <a:t>@Scope(</a:t>
              </a:r>
              <a:r>
                <a:rPr lang="en-US" altLang="zh-CN" sz="1100">
                  <a:solidFill>
                    <a:srgbClr val="067D17"/>
                  </a:solidFill>
                </a:rPr>
                <a:t>"singleton"</a:t>
              </a:r>
              <a:r>
                <a:rPr lang="en-US" altLang="zh-CN" sz="1100">
                  <a:solidFill>
                    <a:srgbClr val="9E880D"/>
                  </a:solidFill>
                </a:rPr>
                <a:t>)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DeptController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DeptService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deptService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"/depts"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Result list(){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log.info(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+mn-ea"/>
                </a:rPr>
                <a:t>查询全部部门数据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List&lt;Dept&gt; deptList = deptService.findAll();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Result.success(deptList);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阿里巴巴普惠体"/>
                  <a:cs typeface="+mn-cs"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C0CAB7E7-D94F-ECFE-DD5B-718700E30C5F}"/>
                </a:ext>
              </a:extLst>
            </p:cNvPr>
            <p:cNvSpPr/>
            <p:nvPr/>
          </p:nvSpPr>
          <p:spPr>
            <a:xfrm>
              <a:off x="2297723" y="3660322"/>
              <a:ext cx="511465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543FDE4-2BB0-004F-89B7-F3E349387DC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61F4073-4A78-C8B4-3EE1-D115277942A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F15D94B-BD66-47FD-64A2-E0C7194E1E5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E47F9FC1-FBDD-0FC3-8FE2-CEB372D00851}"/>
              </a:ext>
            </a:extLst>
          </p:cNvPr>
          <p:cNvSpPr/>
          <p:nvPr/>
        </p:nvSpPr>
        <p:spPr>
          <a:xfrm>
            <a:off x="674036" y="2246187"/>
            <a:ext cx="4642031" cy="270173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25C6601-61C2-1AB6-C1C4-CC0CBDF9BA1F}"/>
              </a:ext>
            </a:extLst>
          </p:cNvPr>
          <p:cNvGrpSpPr/>
          <p:nvPr/>
        </p:nvGrpSpPr>
        <p:grpSpPr>
          <a:xfrm>
            <a:off x="929398" y="6321651"/>
            <a:ext cx="10500597" cy="440136"/>
            <a:chOff x="710879" y="5978768"/>
            <a:chExt cx="10633918" cy="448408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E56D4A3-73F6-4074-F89E-CAD06942D10E}"/>
                </a:ext>
              </a:extLst>
            </p:cNvPr>
            <p:cNvSpPr/>
            <p:nvPr/>
          </p:nvSpPr>
          <p:spPr>
            <a:xfrm>
              <a:off x="710880" y="5978769"/>
              <a:ext cx="10633917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实际开发当中，绝大部分的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是单例的，也就是说绝大部分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不需要配置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scope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属性。</a:t>
              </a: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51BEE3B0-FE64-2710-4204-B22BA102A0EA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Shape 2468">
              <a:extLst>
                <a:ext uri="{FF2B5EF4-FFF2-40B4-BE49-F238E27FC236}">
                  <a16:creationId xmlns:a16="http://schemas.microsoft.com/office/drawing/2014/main" id="{24FD8169-DF9A-E0FE-A4F7-00220E54D6A3}"/>
                </a:ext>
              </a:extLst>
            </p:cNvPr>
            <p:cNvSpPr/>
            <p:nvPr/>
          </p:nvSpPr>
          <p:spPr>
            <a:xfrm>
              <a:off x="863425" y="6084881"/>
              <a:ext cx="226469" cy="196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922F010-53BD-2091-1377-15C7C9BAA3CC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3DCEA419-C71F-391C-96D4-A3C540497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8404CB-1767-207F-35DD-AFEE950CC583}"/>
              </a:ext>
            </a:extLst>
          </p:cNvPr>
          <p:cNvSpPr txBox="1"/>
          <p:nvPr/>
        </p:nvSpPr>
        <p:spPr>
          <a:xfrm>
            <a:off x="3996475" y="5315774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</a:rPr>
              <a:t>无状态的</a:t>
            </a:r>
            <a:r>
              <a:rPr lang="en-US" altLang="zh-CN" sz="1400" b="1">
                <a:solidFill>
                  <a:srgbClr val="C00000"/>
                </a:solidFill>
              </a:rPr>
              <a:t>bean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19" name="内容占位符 3">
            <a:extLst>
              <a:ext uri="{FF2B5EF4-FFF2-40B4-BE49-F238E27FC236}">
                <a16:creationId xmlns:a16="http://schemas.microsoft.com/office/drawing/2014/main" id="{356B8102-EBE2-E2E5-BC14-ACAF397374BA}"/>
              </a:ext>
            </a:extLst>
          </p:cNvPr>
          <p:cNvSpPr txBox="1">
            <a:spLocks/>
          </p:cNvSpPr>
          <p:nvPr/>
        </p:nvSpPr>
        <p:spPr>
          <a:xfrm>
            <a:off x="5558114" y="988654"/>
            <a:ext cx="4981917" cy="4744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多例的</a:t>
            </a:r>
            <a:r>
              <a:rPr lang="en-US" altLang="zh-CN">
                <a:latin typeface="Fira Code" panose="020B0809050000020004" pitchFamily="49" charset="0"/>
              </a:rPr>
              <a:t>bean (prototype)</a:t>
            </a:r>
            <a:endParaRPr lang="zh-CN" altLang="en-US">
              <a:latin typeface="Fira Code" panose="020B0809050000020004" pitchFamily="49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DCFB905-A643-53AE-7E25-FD63DE3DE4B1}"/>
              </a:ext>
            </a:extLst>
          </p:cNvPr>
          <p:cNvGrpSpPr/>
          <p:nvPr/>
        </p:nvGrpSpPr>
        <p:grpSpPr>
          <a:xfrm>
            <a:off x="5639266" y="1516054"/>
            <a:ext cx="6319652" cy="4122746"/>
            <a:chOff x="2297723" y="3660322"/>
            <a:chExt cx="6963084" cy="4122986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22E9DE5-A1C9-9E64-9B0C-6029C185D067}"/>
                </a:ext>
              </a:extLst>
            </p:cNvPr>
            <p:cNvSpPr/>
            <p:nvPr/>
          </p:nvSpPr>
          <p:spPr>
            <a:xfrm>
              <a:off x="2297729" y="3660324"/>
              <a:ext cx="6963078" cy="4122984"/>
            </a:xfrm>
            <a:prstGeom prst="roundRect">
              <a:avLst>
                <a:gd name="adj" fmla="val 153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@Component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DataProcessor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EmpModel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dataList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new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ArrayList&lt;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EmpModel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&gt;();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暂存数据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err</a:t>
              </a:r>
              <a:r>
                <a:rPr lang="en-US" altLang="zh-CN" sz="1100">
                  <a:solidFill>
                    <a:srgbClr val="871094"/>
                  </a:solidFill>
                </a:rPr>
                <a:t>C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ount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</a:rPr>
                <a:t>0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错误数据统计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EmpMapper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empMapper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void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process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empList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dataList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empList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.stream().map(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-&gt; 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数据处理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   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}).toList();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void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handle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...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7" name="矩形: 圆顶角 26">
              <a:extLst>
                <a:ext uri="{FF2B5EF4-FFF2-40B4-BE49-F238E27FC236}">
                  <a16:creationId xmlns:a16="http://schemas.microsoft.com/office/drawing/2014/main" id="{40DF0758-B75B-1C66-5793-83ED255492EE}"/>
                </a:ext>
              </a:extLst>
            </p:cNvPr>
            <p:cNvSpPr/>
            <p:nvPr/>
          </p:nvSpPr>
          <p:spPr>
            <a:xfrm>
              <a:off x="2297723" y="3660322"/>
              <a:ext cx="69630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DataProcessor</a:t>
              </a: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2E3EC69-7687-D2A3-0925-15F14BF77DE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035F0B4-7718-9902-D54F-85C289BAB8D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2D7B7BA-1221-3630-BDE1-12ECC07E5BE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Rectangle 2">
            <a:extLst>
              <a:ext uri="{FF2B5EF4-FFF2-40B4-BE49-F238E27FC236}">
                <a16:creationId xmlns:a16="http://schemas.microsoft.com/office/drawing/2014/main" id="{8603CD97-7047-C72C-1082-3FBCC02E8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12A7500-9891-E59A-B747-873B7B132A77}"/>
              </a:ext>
            </a:extLst>
          </p:cNvPr>
          <p:cNvSpPr txBox="1"/>
          <p:nvPr/>
        </p:nvSpPr>
        <p:spPr>
          <a:xfrm>
            <a:off x="10663897" y="5330002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</a:rPr>
              <a:t>有状态的</a:t>
            </a:r>
            <a:r>
              <a:rPr lang="en-US" altLang="zh-CN" sz="1400" b="1">
                <a:solidFill>
                  <a:srgbClr val="C00000"/>
                </a:solidFill>
              </a:rPr>
              <a:t>bean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CF9E31-AFE3-0301-F063-F5C3D202108D}"/>
              </a:ext>
            </a:extLst>
          </p:cNvPr>
          <p:cNvSpPr/>
          <p:nvPr/>
        </p:nvSpPr>
        <p:spPr>
          <a:xfrm>
            <a:off x="5639266" y="2516360"/>
            <a:ext cx="6319647" cy="480679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5FC4D6A-38BB-24FF-77CD-6CE5BA9458FE}"/>
              </a:ext>
            </a:extLst>
          </p:cNvPr>
          <p:cNvSpPr/>
          <p:nvPr/>
        </p:nvSpPr>
        <p:spPr>
          <a:xfrm>
            <a:off x="5651240" y="1790311"/>
            <a:ext cx="1714804" cy="257138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</a:rPr>
              <a:t>@Scope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(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</a:rPr>
              <a:t>"prototype"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rPr>
              <a:t>)</a:t>
            </a:r>
            <a:endParaRPr kumimoji="0" lang="en-US" altLang="zh-CN" sz="1100" b="0" i="0" u="none" strike="noStrike" cap="none" normalizeH="0" baseline="0">
              <a:ln>
                <a:noFill/>
              </a:ln>
              <a:solidFill>
                <a:srgbClr val="9E880D"/>
              </a:solidFill>
              <a:effectLst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2C3E5A2-E040-B536-F8BD-0430DC5A1202}"/>
              </a:ext>
            </a:extLst>
          </p:cNvPr>
          <p:cNvSpPr/>
          <p:nvPr/>
        </p:nvSpPr>
        <p:spPr>
          <a:xfrm>
            <a:off x="5639265" y="1787929"/>
            <a:ext cx="6319647" cy="270173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2067E1-9A4A-B573-1547-56AFBC0B5170}"/>
              </a:ext>
            </a:extLst>
          </p:cNvPr>
          <p:cNvSpPr txBox="1"/>
          <p:nvPr/>
        </p:nvSpPr>
        <p:spPr>
          <a:xfrm>
            <a:off x="1769825" y="5653339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00B050"/>
                </a:solidFill>
              </a:rPr>
              <a:t>节约资源、提升性能</a:t>
            </a:r>
          </a:p>
        </p:txBody>
      </p:sp>
    </p:spTree>
    <p:extLst>
      <p:ext uri="{BB962C8B-B14F-4D97-AF65-F5344CB8AC3E}">
        <p14:creationId xmlns:p14="http://schemas.microsoft.com/office/powerpoint/2010/main" val="6537963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1" grpId="0" animBg="1"/>
      <p:bldP spid="18" grpId="0"/>
      <p:bldP spid="19" grpId="0"/>
      <p:bldP spid="33" grpId="0"/>
      <p:bldP spid="34" grpId="0" animBg="1"/>
      <p:bldP spid="35" grpId="0" animBg="1"/>
      <p:bldP spid="31" grpId="0" animBg="1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758DA7-BD23-63D5-A13E-6BCC8F2D3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7601" y="1701640"/>
            <a:ext cx="8469085" cy="3775429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/>
              <a:t>面试题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Spring</a:t>
            </a:r>
            <a:r>
              <a:rPr lang="zh-CN" altLang="en-US"/>
              <a:t>容器的</a:t>
            </a:r>
            <a:r>
              <a:rPr lang="en-US" altLang="zh-CN"/>
              <a:t>bean</a:t>
            </a:r>
            <a:r>
              <a:rPr lang="zh-CN" altLang="en-US"/>
              <a:t>是单例的还是多例的</a:t>
            </a:r>
            <a:r>
              <a:rPr lang="en-US" altLang="zh-CN"/>
              <a:t>? </a:t>
            </a:r>
            <a:r>
              <a:rPr lang="zh-CN" altLang="en-US"/>
              <a:t>单例的</a:t>
            </a:r>
            <a:r>
              <a:rPr lang="en-US" altLang="zh-CN"/>
              <a:t>bean</a:t>
            </a:r>
            <a:r>
              <a:rPr lang="zh-CN" altLang="en-US"/>
              <a:t>是什么时候实例化的</a:t>
            </a:r>
            <a:r>
              <a:rPr lang="en-US" altLang="zh-CN"/>
              <a:t>? 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默认是单例的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单例的</a:t>
            </a:r>
            <a:r>
              <a:rPr lang="en-US" altLang="zh-CN" sz="1400"/>
              <a:t>bean</a:t>
            </a:r>
            <a:r>
              <a:rPr lang="zh-CN" altLang="en-US" sz="1400"/>
              <a:t>，默认是项目启动时实例化的 </a:t>
            </a:r>
            <a:r>
              <a:rPr lang="en-US" altLang="zh-CN" sz="1400"/>
              <a:t>(</a:t>
            </a:r>
            <a:r>
              <a:rPr lang="zh-CN" altLang="en-US" sz="1400"/>
              <a:t>通过</a:t>
            </a:r>
            <a:r>
              <a:rPr lang="en-US" altLang="zh-CN" sz="1400"/>
              <a:t>@Lazy</a:t>
            </a:r>
            <a:r>
              <a:rPr lang="zh-CN" altLang="en-US" sz="1400"/>
              <a:t>可以延迟初始化</a:t>
            </a:r>
            <a:r>
              <a:rPr lang="en-US" altLang="zh-CN" sz="1400"/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/>
              <a:t>面试题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Spring</a:t>
            </a:r>
            <a:r>
              <a:rPr lang="zh-CN" altLang="en-US"/>
              <a:t>容器的</a:t>
            </a:r>
            <a:r>
              <a:rPr lang="en-US" altLang="zh-CN"/>
              <a:t>bean</a:t>
            </a:r>
            <a:r>
              <a:rPr lang="zh-CN" altLang="en-US"/>
              <a:t>是线程安全的吗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400"/>
              <a:t>bean</a:t>
            </a:r>
            <a:r>
              <a:rPr lang="zh-CN" altLang="en-US" sz="1400"/>
              <a:t>的线程安全取决于</a:t>
            </a:r>
            <a:r>
              <a:rPr lang="en-US" altLang="zh-CN" sz="1400"/>
              <a:t>bean</a:t>
            </a:r>
            <a:r>
              <a:rPr lang="zh-CN" altLang="en-US" sz="1400"/>
              <a:t>的状态及</a:t>
            </a:r>
            <a:r>
              <a:rPr lang="en-US" altLang="zh-CN" sz="1400"/>
              <a:t>bean</a:t>
            </a:r>
            <a:r>
              <a:rPr lang="zh-CN" altLang="en-US" sz="1400"/>
              <a:t>的作用域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单例</a:t>
            </a:r>
            <a:r>
              <a:rPr lang="en-US" altLang="zh-CN" sz="1400"/>
              <a:t>bean</a:t>
            </a:r>
            <a:r>
              <a:rPr lang="zh-CN" altLang="en-US" sz="1400"/>
              <a:t>：如果是</a:t>
            </a:r>
            <a:r>
              <a:rPr lang="zh-CN" altLang="en-US" sz="1400">
                <a:solidFill>
                  <a:srgbClr val="C00000"/>
                </a:solidFill>
              </a:rPr>
              <a:t>无状态的</a:t>
            </a:r>
            <a:r>
              <a:rPr lang="en-US" altLang="zh-CN" sz="1400">
                <a:solidFill>
                  <a:srgbClr val="C00000"/>
                </a:solidFill>
              </a:rPr>
              <a:t>bean</a:t>
            </a:r>
            <a:r>
              <a:rPr lang="zh-CN" altLang="en-US" sz="1400"/>
              <a:t>，内部不保存任何状态信息，则是</a:t>
            </a:r>
            <a:r>
              <a:rPr lang="zh-CN" altLang="en-US" sz="1400">
                <a:solidFill>
                  <a:srgbClr val="C00000"/>
                </a:solidFill>
              </a:rPr>
              <a:t>线程安全</a:t>
            </a:r>
            <a:r>
              <a:rPr lang="zh-CN" altLang="en-US" sz="1400"/>
              <a:t>的。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单例</a:t>
            </a:r>
            <a:r>
              <a:rPr lang="en-US" altLang="zh-CN" sz="1400"/>
              <a:t>bean</a:t>
            </a:r>
            <a:r>
              <a:rPr lang="zh-CN" altLang="en-US" sz="1400"/>
              <a:t>：如果是</a:t>
            </a:r>
            <a:r>
              <a:rPr lang="zh-CN" altLang="en-US" sz="1400">
                <a:solidFill>
                  <a:srgbClr val="C00000"/>
                </a:solidFill>
              </a:rPr>
              <a:t>有状态的</a:t>
            </a:r>
            <a:r>
              <a:rPr lang="en-US" altLang="zh-CN" sz="1400">
                <a:solidFill>
                  <a:srgbClr val="C00000"/>
                </a:solidFill>
              </a:rPr>
              <a:t>bean</a:t>
            </a:r>
            <a:r>
              <a:rPr lang="zh-CN" altLang="en-US" sz="1400"/>
              <a:t>，内部会保存状态信息，多个线程会同时操作该</a:t>
            </a:r>
            <a:r>
              <a:rPr lang="en-US" altLang="zh-CN" sz="1400"/>
              <a:t>bean</a:t>
            </a:r>
            <a:r>
              <a:rPr lang="zh-CN" altLang="en-US" sz="1400"/>
              <a:t>时，可能会出现数据不一致的问题，这样的</a:t>
            </a:r>
            <a:r>
              <a:rPr lang="en-US" altLang="zh-CN" sz="1400"/>
              <a:t>bean</a:t>
            </a:r>
            <a:r>
              <a:rPr lang="zh-CN" altLang="en-US" sz="1400"/>
              <a:t>则是</a:t>
            </a:r>
            <a:r>
              <a:rPr lang="zh-CN" altLang="en-US" sz="1400">
                <a:solidFill>
                  <a:srgbClr val="C00000"/>
                </a:solidFill>
              </a:rPr>
              <a:t>线程不安全</a:t>
            </a:r>
            <a:r>
              <a:rPr lang="zh-CN" altLang="en-US" sz="1400"/>
              <a:t>的。</a:t>
            </a:r>
            <a:endParaRPr lang="en-US" altLang="zh-CN" sz="14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9A8CB6-B8E5-4657-DD5B-28D38B9C5E1C}"/>
              </a:ext>
            </a:extLst>
          </p:cNvPr>
          <p:cNvGrpSpPr/>
          <p:nvPr/>
        </p:nvGrpSpPr>
        <p:grpSpPr>
          <a:xfrm>
            <a:off x="3250109" y="11366"/>
            <a:ext cx="4642034" cy="3265714"/>
            <a:chOff x="2297723" y="3660322"/>
            <a:chExt cx="5114660" cy="326590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3DA2A8A-4F98-633E-6FFC-1D137AD3006A}"/>
                </a:ext>
              </a:extLst>
            </p:cNvPr>
            <p:cNvSpPr/>
            <p:nvPr/>
          </p:nvSpPr>
          <p:spPr>
            <a:xfrm>
              <a:off x="2297729" y="3660325"/>
              <a:ext cx="5114654" cy="3265901"/>
            </a:xfrm>
            <a:prstGeom prst="roundRect">
              <a:avLst>
                <a:gd name="adj" fmla="val 203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@RestController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100">
                  <a:solidFill>
                    <a:srgbClr val="9E880D"/>
                  </a:solidFill>
                </a:rPr>
                <a:t>@Scope(</a:t>
              </a:r>
              <a:r>
                <a:rPr lang="en-US" altLang="zh-CN" sz="1100">
                  <a:solidFill>
                    <a:srgbClr val="067D17"/>
                  </a:solidFill>
                </a:rPr>
                <a:t>"singleton"</a:t>
              </a:r>
              <a:r>
                <a:rPr lang="en-US" altLang="zh-CN" sz="1100">
                  <a:solidFill>
                    <a:srgbClr val="9E880D"/>
                  </a:solidFill>
                </a:rPr>
                <a:t>)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DeptController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DeptService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deptService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@GetMapping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"/depts"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Result list(){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List&lt;Dept&gt; deptList = deptService.findAll();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Result.success(deptList);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kern="120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ea typeface="阿里巴巴普惠体"/>
                  <a:cs typeface="+mn-cs"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C4033134-AB48-ADE4-4F37-3967D919EA11}"/>
                </a:ext>
              </a:extLst>
            </p:cNvPr>
            <p:cNvSpPr/>
            <p:nvPr/>
          </p:nvSpPr>
          <p:spPr>
            <a:xfrm>
              <a:off x="2297723" y="3660322"/>
              <a:ext cx="511465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DeptController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B11EE05-A3F3-058D-49E3-4968D4DFD97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17974B0-AE0E-615F-F2A3-889C47CD3B8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732B955-BF70-918F-5932-D5C3E1E6E27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45C4ED7-9422-257C-651F-73D8A158B2C5}"/>
              </a:ext>
            </a:extLst>
          </p:cNvPr>
          <p:cNvGrpSpPr/>
          <p:nvPr/>
        </p:nvGrpSpPr>
        <p:grpSpPr>
          <a:xfrm>
            <a:off x="5872348" y="11366"/>
            <a:ext cx="6319652" cy="2794688"/>
            <a:chOff x="2297723" y="3660322"/>
            <a:chExt cx="6963084" cy="279485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D0D1DD1-868C-B386-102F-277F32D0AC23}"/>
                </a:ext>
              </a:extLst>
            </p:cNvPr>
            <p:cNvSpPr/>
            <p:nvPr/>
          </p:nvSpPr>
          <p:spPr>
            <a:xfrm>
              <a:off x="2297729" y="3660324"/>
              <a:ext cx="6963078" cy="2794848"/>
            </a:xfrm>
            <a:prstGeom prst="roundRect">
              <a:avLst>
                <a:gd name="adj" fmla="val 187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@Component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DataProcessor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List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EmpModel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dataList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new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ArrayList&lt;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EmpModel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&gt;();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暂存数据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err</a:t>
              </a:r>
              <a:r>
                <a:rPr lang="en-US" altLang="zh-CN" sz="1100">
                  <a:solidFill>
                    <a:srgbClr val="871094"/>
                  </a:solidFill>
                </a:rPr>
                <a:t>C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ount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</a:rPr>
                <a:t>0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错误数据统计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ea typeface="宋体" panose="02010600030101010101" pitchFamily="2" charset="-122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@Autowired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private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EmpMapper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empMapper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void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handle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 ...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429544DA-9B50-21F0-EDBE-07CFB908B727}"/>
                </a:ext>
              </a:extLst>
            </p:cNvPr>
            <p:cNvSpPr/>
            <p:nvPr/>
          </p:nvSpPr>
          <p:spPr>
            <a:xfrm>
              <a:off x="2297723" y="3660322"/>
              <a:ext cx="69630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DataProcessor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B8B9701-F802-69EE-B53A-5D80F1053C4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0274F08-4408-9B1E-B8EE-E8249BEB2DE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F772FE4-7AAD-8C27-3334-BF76144FAF6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103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5ECE06-F4DF-B492-2107-8B133C403D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管理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389CE2-EE23-B3A1-5C0F-0CA10B802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63079"/>
          </a:xfrm>
        </p:spPr>
        <p:txBody>
          <a:bodyPr/>
          <a:lstStyle/>
          <a:p>
            <a:r>
              <a:rPr lang="en-US" altLang="zh-CN"/>
              <a:t>Bean</a:t>
            </a:r>
            <a:r>
              <a:rPr lang="zh-CN" altLang="en-US"/>
              <a:t>的作用域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第三方</a:t>
            </a:r>
            <a:r>
              <a:rPr lang="en-US" altLang="zh-CN">
                <a:solidFill>
                  <a:srgbClr val="C00000"/>
                </a:solidFill>
              </a:rPr>
              <a:t>Bean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33101E2-7EE0-2D45-ECB2-2D2AD88691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1EE64-FE1C-BCA1-F8BC-384671C66F1C}"/>
              </a:ext>
            </a:extLst>
          </p:cNvPr>
          <p:cNvSpPr txBox="1"/>
          <p:nvPr/>
        </p:nvSpPr>
        <p:spPr>
          <a:xfrm>
            <a:off x="8587728" y="3429000"/>
            <a:ext cx="165295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@Component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@Controller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@Service</a:t>
            </a: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@Repository</a:t>
            </a:r>
            <a:endParaRPr lang="zh-CN" altLang="en-US" sz="1600"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52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31183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如果要管理的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对象来自于第三方（不是自定义的），是无法用 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@Component </a:t>
            </a:r>
            <a:r>
              <a:rPr lang="zh-CN" altLang="en-US" sz="1600">
                <a:latin typeface="Fira Code" panose="020B0809050000020004" pitchFamily="49" charset="0"/>
              </a:rPr>
              <a:t>及衍生注解声明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的，就需要用到 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@Bean</a:t>
            </a:r>
            <a:r>
              <a:rPr lang="zh-CN" altLang="en-US" sz="1600">
                <a:latin typeface="Fira Code" panose="020B0809050000020004" pitchFamily="49" charset="0"/>
              </a:rPr>
              <a:t>注解。</a:t>
            </a: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latin typeface="Fira Code" panose="020B0809050000020004" pitchFamily="49" charset="0"/>
              </a:rPr>
              <a:t>若要管理的第三方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对象，建议对这些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 sz="1600">
                <a:latin typeface="Fira Code" panose="020B0809050000020004" pitchFamily="49" charset="0"/>
              </a:rPr>
              <a:t>进行集中分类配置，可以通过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</a:rPr>
              <a:t>@Configuration</a:t>
            </a:r>
            <a:r>
              <a:rPr lang="zh-CN" altLang="en-US" sz="1600">
                <a:latin typeface="Fira Code" panose="020B0809050000020004" pitchFamily="49" charset="0"/>
              </a:rPr>
              <a:t>注解声明一个配置类。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第三方</a:t>
            </a:r>
            <a:r>
              <a:rPr lang="en-US" altLang="zh-CN"/>
              <a:t>Bean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3AC81C9-EF63-9EBA-4F13-44EB33FA1A24}"/>
              </a:ext>
            </a:extLst>
          </p:cNvPr>
          <p:cNvGrpSpPr/>
          <p:nvPr/>
        </p:nvGrpSpPr>
        <p:grpSpPr>
          <a:xfrm>
            <a:off x="936749" y="2263953"/>
            <a:ext cx="7785911" cy="2083006"/>
            <a:chOff x="2297722" y="3660322"/>
            <a:chExt cx="8578629" cy="208312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6AFB6EF-2661-7965-1AB9-482A1BAE3015}"/>
                </a:ext>
              </a:extLst>
            </p:cNvPr>
            <p:cNvSpPr/>
            <p:nvPr/>
          </p:nvSpPr>
          <p:spPr>
            <a:xfrm>
              <a:off x="2297728" y="3660326"/>
              <a:ext cx="8578623" cy="2083124"/>
            </a:xfrm>
            <a:prstGeom prst="roundRect">
              <a:avLst>
                <a:gd name="adj" fmla="val 355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0" bIns="0" rtlCol="0" anchor="t"/>
            <a:lstStyle/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zh-CN" altLang="zh-CN" sz="1100">
                  <a:solidFill>
                    <a:srgbClr val="9E880D"/>
                  </a:solidFill>
                  <a:cs typeface="Courier New" panose="02070309020205020404" pitchFamily="49" charset="0"/>
                </a:rPr>
                <a:t>@SpringBootApplication</a:t>
              </a:r>
              <a:br>
                <a:rPr lang="zh-CN" altLang="zh-CN" sz="1100">
                  <a:solidFill>
                    <a:srgbClr val="9E880D"/>
                  </a:solidFill>
                  <a:cs typeface="Courier New" panose="02070309020205020404" pitchFamily="49" charset="0"/>
                </a:rPr>
              </a:br>
              <a:r>
                <a:rPr lang="zh-CN" altLang="zh-CN" sz="1100">
                  <a:solidFill>
                    <a:srgbClr val="0033B3"/>
                  </a:solidFill>
                  <a:cs typeface="Courier New" panose="02070309020205020404" pitchFamily="49" charset="0"/>
                </a:rPr>
                <a:t>public class </a:t>
              </a:r>
              <a:r>
                <a:rPr lang="zh-CN" altLang="zh-CN" sz="1100">
                  <a:solidFill>
                    <a:srgbClr val="000000"/>
                  </a:solidFill>
                  <a:cs typeface="Courier New" panose="02070309020205020404" pitchFamily="49" charset="0"/>
                </a:rPr>
                <a:t>SpringbootWebConfigApplication </a:t>
              </a:r>
              <a:r>
                <a:rPr lang="zh-CN" altLang="zh-CN" sz="1100">
                  <a:solidFill>
                    <a:srgbClr val="080808"/>
                  </a:solidFill>
                  <a:cs typeface="Courier New" panose="02070309020205020404" pitchFamily="49" charset="0"/>
                </a:rPr>
                <a:t>{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@Bean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0B050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将方法返回值交给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IOC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容器管理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,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成为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IOC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容器的</a:t>
              </a:r>
              <a:r>
                <a:rPr lang="en-US" altLang="zh-CN" sz="1100">
                  <a:solidFill>
                    <a:srgbClr val="00B050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bean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对象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AliyunOSSOperator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aliyunOSSOperator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AliyunOSSProperties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new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AliyunOSSOperator(</a:t>
              </a: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en-US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1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17B7DCD7-DD69-F80C-C230-E72C8E0F8CB7}"/>
                </a:ext>
              </a:extLst>
            </p:cNvPr>
            <p:cNvSpPr/>
            <p:nvPr/>
          </p:nvSpPr>
          <p:spPr>
            <a:xfrm>
              <a:off x="2297722" y="3660322"/>
              <a:ext cx="857862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启动类（不推荐）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A4CE275-3B63-70B0-6EA4-5F23535B9B1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375D9D9-585E-A4E4-1F8C-FA3F48EF4D3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91B5AAA-B839-EEC8-A374-0ACAA9BF512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ACA8147-5760-95DB-3707-AC7002116EE6}"/>
              </a:ext>
            </a:extLst>
          </p:cNvPr>
          <p:cNvGrpSpPr/>
          <p:nvPr/>
        </p:nvGrpSpPr>
        <p:grpSpPr>
          <a:xfrm>
            <a:off x="3651435" y="3575787"/>
            <a:ext cx="7785906" cy="2078887"/>
            <a:chOff x="2297722" y="3660322"/>
            <a:chExt cx="8578623" cy="20790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8A513A3-F70E-C507-529A-03D4B2749268}"/>
                </a:ext>
              </a:extLst>
            </p:cNvPr>
            <p:cNvSpPr/>
            <p:nvPr/>
          </p:nvSpPr>
          <p:spPr>
            <a:xfrm>
              <a:off x="2297726" y="3660325"/>
              <a:ext cx="8578619" cy="2079005"/>
            </a:xfrm>
            <a:prstGeom prst="roundRect">
              <a:avLst>
                <a:gd name="adj" fmla="val 355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@Configuration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OSSConfig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@Bean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AliyunOSSOperator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aliyunOSSOperator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AliyunOSSProperties ossProperties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return new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AliyunOSSOperator(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ossProperties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}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065EC03B-911E-86C5-E0D7-43D6ABA311FF}"/>
                </a:ext>
              </a:extLst>
            </p:cNvPr>
            <p:cNvSpPr/>
            <p:nvPr/>
          </p:nvSpPr>
          <p:spPr>
            <a:xfrm>
              <a:off x="2297722" y="3660322"/>
              <a:ext cx="857861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配置类（推荐）</a:t>
              </a:r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F46B338-0092-8BD0-D3DC-9AD1398228A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6FCC1CF-4AE6-1928-9519-FC7D18CAA96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2BB55E1-C1A1-EA1D-1A52-959A35836A6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D7BCE8D-3EAD-65EF-D450-FD11E09F9FBC}"/>
              </a:ext>
            </a:extLst>
          </p:cNvPr>
          <p:cNvGrpSpPr/>
          <p:nvPr/>
        </p:nvGrpSpPr>
        <p:grpSpPr>
          <a:xfrm>
            <a:off x="936744" y="6301600"/>
            <a:ext cx="10500597" cy="440139"/>
            <a:chOff x="710879" y="5978768"/>
            <a:chExt cx="10633916" cy="44840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D4DEA56-934F-599B-5BF9-6E4384D33989}"/>
                </a:ext>
              </a:extLst>
            </p:cNvPr>
            <p:cNvSpPr/>
            <p:nvPr/>
          </p:nvSpPr>
          <p:spPr>
            <a:xfrm>
              <a:off x="710879" y="5978769"/>
              <a:ext cx="106339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通过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@Bean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注解的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name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或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value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属性可以声明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的名称，如果不指定，默认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的名称就是方法名。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D6C878A5-B4FB-38D4-4A05-B730D4447C24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Shape 2468">
              <a:extLst>
                <a:ext uri="{FF2B5EF4-FFF2-40B4-BE49-F238E27FC236}">
                  <a16:creationId xmlns:a16="http://schemas.microsoft.com/office/drawing/2014/main" id="{A74D73CE-26DA-0101-EC94-BC0CD0F14600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A8AE25E-3AE8-5367-1352-B7191D3038D2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1D66863-661B-FC8D-2114-28FCB925E47B}"/>
              </a:ext>
            </a:extLst>
          </p:cNvPr>
          <p:cNvGrpSpPr/>
          <p:nvPr/>
        </p:nvGrpSpPr>
        <p:grpSpPr>
          <a:xfrm>
            <a:off x="936745" y="5822256"/>
            <a:ext cx="10500597" cy="440139"/>
            <a:chOff x="710879" y="5978768"/>
            <a:chExt cx="10633916" cy="448408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956FB42-ADD6-E29C-F13A-04E95D797929}"/>
                </a:ext>
              </a:extLst>
            </p:cNvPr>
            <p:cNvSpPr/>
            <p:nvPr/>
          </p:nvSpPr>
          <p:spPr>
            <a:xfrm>
              <a:off x="710879" y="5978769"/>
              <a:ext cx="1063391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如果第三方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需要依赖其它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对象，直接在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bean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cs typeface="Alibaba PuHuiTi R" pitchFamily="18" charset="-122"/>
                </a:rPr>
                <a:t>定义方法中设置形参即可，容器会根据类型自动装配。</a:t>
              </a: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EC4A6666-A796-6883-7292-FD64B2A881B3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Shape 2468">
              <a:extLst>
                <a:ext uri="{FF2B5EF4-FFF2-40B4-BE49-F238E27FC236}">
                  <a16:creationId xmlns:a16="http://schemas.microsoft.com/office/drawing/2014/main" id="{D4BC01A2-ABA5-648B-5D12-473F8328B807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cs typeface="Arial" panose="020B0604020202020204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2212D11-8B5B-8012-0E14-753A7ECB206F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6CF35CC8-192B-B720-17E4-E4178FD52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694" y="2298228"/>
            <a:ext cx="667501" cy="20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2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525354A-E90A-6FB5-06A9-BCE95FBECB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8421" y="1350547"/>
            <a:ext cx="7845473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什么时候使用</a:t>
            </a:r>
            <a:r>
              <a:rPr lang="en-US" altLang="zh-CN" sz="1800"/>
              <a:t>@Component</a:t>
            </a:r>
            <a:r>
              <a:rPr lang="zh-CN" altLang="en-US" sz="1800"/>
              <a:t>声明</a:t>
            </a:r>
            <a:r>
              <a:rPr lang="en-US" altLang="zh-CN" sz="1800"/>
              <a:t>bean</a:t>
            </a:r>
            <a:r>
              <a:rPr lang="zh-CN" altLang="en-US" sz="1800"/>
              <a:t>，什么时候使用</a:t>
            </a:r>
            <a:r>
              <a:rPr lang="en-US" altLang="zh-CN" sz="1800"/>
              <a:t>@Bean</a:t>
            </a:r>
            <a:r>
              <a:rPr lang="zh-CN" altLang="en-US" sz="1800"/>
              <a:t>注解？</a:t>
            </a:r>
            <a:endParaRPr lang="en-US" altLang="zh-CN" sz="1800"/>
          </a:p>
          <a:p>
            <a:pPr marL="648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一般如果是项目中自定义的类，使用</a:t>
            </a:r>
            <a:r>
              <a:rPr lang="en-US" altLang="zh-CN" sz="1400"/>
              <a:t>@Component</a:t>
            </a:r>
            <a:r>
              <a:rPr lang="zh-CN" altLang="en-US" sz="1400"/>
              <a:t>及其衍生注解</a:t>
            </a:r>
            <a:endParaRPr lang="en-US" altLang="zh-CN" sz="1400"/>
          </a:p>
          <a:p>
            <a:pPr marL="648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400"/>
              <a:t>如果是引入第三方依赖中的类，使用</a:t>
            </a:r>
            <a:r>
              <a:rPr lang="en-US" altLang="zh-CN" sz="1400"/>
              <a:t>@Bean</a:t>
            </a:r>
            <a:r>
              <a:rPr lang="zh-CN" altLang="en-US" sz="1400"/>
              <a:t>注解</a:t>
            </a:r>
          </a:p>
        </p:txBody>
      </p:sp>
    </p:spTree>
    <p:extLst>
      <p:ext uri="{BB962C8B-B14F-4D97-AF65-F5344CB8AC3E}">
        <p14:creationId xmlns:p14="http://schemas.microsoft.com/office/powerpoint/2010/main" val="156609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D1AAC6-538E-BD8B-4DCC-D3E3F626D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配置优先级</a:t>
            </a:r>
            <a:endParaRPr lang="en-US" altLang="zh-CN"/>
          </a:p>
          <a:p>
            <a:r>
              <a:rPr lang="en-US" altLang="zh-CN"/>
              <a:t>Bean</a:t>
            </a:r>
            <a:r>
              <a:rPr lang="zh-CN" altLang="en-US"/>
              <a:t>管理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1477388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2478E7-C359-380A-FB97-87EB4F5E8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4" y="2469081"/>
            <a:ext cx="3720117" cy="901700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0782B8-1E79-717F-7790-9D19F37243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2984AE-462A-BD63-FDF4-24A32CDFFA3F}"/>
              </a:ext>
            </a:extLst>
          </p:cNvPr>
          <p:cNvSpPr txBox="1"/>
          <p:nvPr/>
        </p:nvSpPr>
        <p:spPr>
          <a:xfrm>
            <a:off x="7671173" y="33707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3530A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熟练使用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5CAC15-CC5D-6D56-2AC7-419122D8E18F}"/>
              </a:ext>
            </a:extLst>
          </p:cNvPr>
          <p:cNvSpPr txBox="1"/>
          <p:nvPr/>
        </p:nvSpPr>
        <p:spPr>
          <a:xfrm>
            <a:off x="7671173" y="480099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3530A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面试高频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F1AE79-0DE9-1809-1425-5554A1097505}"/>
              </a:ext>
            </a:extLst>
          </p:cNvPr>
          <p:cNvSpPr txBox="1"/>
          <p:nvPr/>
        </p:nvSpPr>
        <p:spPr>
          <a:xfrm>
            <a:off x="7671173" y="408588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3530A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汲取思想</a:t>
            </a:r>
          </a:p>
        </p:txBody>
      </p:sp>
      <p:pic>
        <p:nvPicPr>
          <p:cNvPr id="9" name="图片 8" descr="卡通画&#10;&#10;描述已自动生成">
            <a:extLst>
              <a:ext uri="{FF2B5EF4-FFF2-40B4-BE49-F238E27FC236}">
                <a16:creationId xmlns:a16="http://schemas.microsoft.com/office/drawing/2014/main" id="{C5ACEBFF-62AB-37A2-002F-FFC391AE3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482" y="4653817"/>
            <a:ext cx="981597" cy="75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4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核心</a:t>
            </a:r>
          </a:p>
        </p:txBody>
      </p:sp>
      <p:pic>
        <p:nvPicPr>
          <p:cNvPr id="2" name="!!图片 4">
            <a:extLst>
              <a:ext uri="{FF2B5EF4-FFF2-40B4-BE49-F238E27FC236}">
                <a16:creationId xmlns:a16="http://schemas.microsoft.com/office/drawing/2014/main" id="{32AF6AA3-3C1F-6688-FECC-F8394BF5B2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9" t="1751" r="1521" b="2574"/>
          <a:stretch/>
        </p:blipFill>
        <p:spPr>
          <a:xfrm>
            <a:off x="6325569" y="2568069"/>
            <a:ext cx="4471305" cy="2545301"/>
          </a:xfrm>
          <a:prstGeom prst="roundRect">
            <a:avLst>
              <a:gd name="adj" fmla="val 3283"/>
            </a:avLst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FA9E52-A9BA-E490-667C-92F654424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126" y="2568069"/>
            <a:ext cx="4381880" cy="2545301"/>
          </a:xfrm>
          <a:prstGeom prst="roundRect">
            <a:avLst>
              <a:gd name="adj" fmla="val 2931"/>
            </a:avLst>
          </a:prstGeom>
        </p:spPr>
      </p:pic>
      <p:sp>
        <p:nvSpPr>
          <p:cNvPr id="6" name="矩形: 对角圆角 5">
            <a:extLst>
              <a:ext uri="{FF2B5EF4-FFF2-40B4-BE49-F238E27FC236}">
                <a16:creationId xmlns:a16="http://schemas.microsoft.com/office/drawing/2014/main" id="{7BD77383-4D13-F58D-12F0-EFDDDF5A8E0A}"/>
              </a:ext>
            </a:extLst>
          </p:cNvPr>
          <p:cNvSpPr/>
          <p:nvPr/>
        </p:nvSpPr>
        <p:spPr>
          <a:xfrm>
            <a:off x="4096139" y="4599994"/>
            <a:ext cx="1597967" cy="447869"/>
          </a:xfrm>
          <a:prstGeom prst="round2Diag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繁琐</a:t>
            </a:r>
            <a:r>
              <a:rPr lang="en-US" altLang="zh-CN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依赖、配置</a:t>
            </a:r>
            <a:r>
              <a:rPr lang="en-US" altLang="zh-CN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600" b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id="{1A706CE4-BF93-65BE-89CE-06A5DB3E4DDF}"/>
              </a:ext>
            </a:extLst>
          </p:cNvPr>
          <p:cNvSpPr/>
          <p:nvPr/>
        </p:nvSpPr>
        <p:spPr>
          <a:xfrm>
            <a:off x="9141046" y="4599993"/>
            <a:ext cx="1597967" cy="447869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简单、快捷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DB66F8-0EC8-933E-CB00-6883404DA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D2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331D18-7BA4-D153-CD93-F1463D379F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9"/>
          <a:stretch/>
        </p:blipFill>
        <p:spPr>
          <a:xfrm>
            <a:off x="909320" y="0"/>
            <a:ext cx="10501310" cy="1509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8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1.66667E-6 -1.19629 " pathEditMode="relative" rAng="0" ptsTypes="AA">
                                      <p:cBhvr>
                                        <p:cTn id="4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核心</a:t>
            </a:r>
          </a:p>
        </p:txBody>
      </p:sp>
      <p:pic>
        <p:nvPicPr>
          <p:cNvPr id="2" name="!!图片 4">
            <a:extLst>
              <a:ext uri="{FF2B5EF4-FFF2-40B4-BE49-F238E27FC236}">
                <a16:creationId xmlns:a16="http://schemas.microsoft.com/office/drawing/2014/main" id="{F4CB1E5C-8E93-AB98-2983-98CDF04FA6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9" t="1751" r="1521" b="2574"/>
          <a:stretch/>
        </p:blipFill>
        <p:spPr>
          <a:xfrm>
            <a:off x="3470402" y="2241498"/>
            <a:ext cx="4471305" cy="2545301"/>
          </a:xfrm>
          <a:prstGeom prst="roundRect">
            <a:avLst>
              <a:gd name="adj" fmla="val 2227"/>
            </a:avLst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C3AF890-533A-61C6-26FD-3B526AC9C42F}"/>
              </a:ext>
            </a:extLst>
          </p:cNvPr>
          <p:cNvGrpSpPr/>
          <p:nvPr/>
        </p:nvGrpSpPr>
        <p:grpSpPr>
          <a:xfrm>
            <a:off x="3539412" y="4170783"/>
            <a:ext cx="1586204" cy="541175"/>
            <a:chOff x="3539412" y="4170783"/>
            <a:chExt cx="1586204" cy="541175"/>
          </a:xfrm>
        </p:grpSpPr>
        <p:sp>
          <p:nvSpPr>
            <p:cNvPr id="6" name="矩形: 对角圆角 5">
              <a:extLst>
                <a:ext uri="{FF2B5EF4-FFF2-40B4-BE49-F238E27FC236}">
                  <a16:creationId xmlns:a16="http://schemas.microsoft.com/office/drawing/2014/main" id="{60A9F582-D028-9918-A313-8F0598E9BEC6}"/>
                </a:ext>
              </a:extLst>
            </p:cNvPr>
            <p:cNvSpPr/>
            <p:nvPr/>
          </p:nvSpPr>
          <p:spPr>
            <a:xfrm>
              <a:off x="3539412" y="4170783"/>
              <a:ext cx="1586204" cy="541175"/>
            </a:xfrm>
            <a:prstGeom prst="round2DiagRect">
              <a:avLst>
                <a:gd name="adj1" fmla="val 0"/>
                <a:gd name="adj2" fmla="val 8621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</a:t>
              </a:r>
            </a:p>
          </p:txBody>
        </p:sp>
        <p:sp>
          <p:nvSpPr>
            <p:cNvPr id="7" name="Shape 2627">
              <a:extLst>
                <a:ext uri="{FF2B5EF4-FFF2-40B4-BE49-F238E27FC236}">
                  <a16:creationId xmlns:a16="http://schemas.microsoft.com/office/drawing/2014/main" id="{F8B66FF6-AA41-30C2-8406-E21A1CC552EA}"/>
                </a:ext>
              </a:extLst>
            </p:cNvPr>
            <p:cNvSpPr/>
            <p:nvPr/>
          </p:nvSpPr>
          <p:spPr>
            <a:xfrm>
              <a:off x="3686884" y="4256808"/>
              <a:ext cx="327888" cy="327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353" y="11229"/>
                  </a:moveTo>
                  <a:lnTo>
                    <a:pt x="20356" y="11234"/>
                  </a:lnTo>
                  <a:lnTo>
                    <a:pt x="11029" y="16143"/>
                  </a:lnTo>
                  <a:lnTo>
                    <a:pt x="11026" y="16138"/>
                  </a:lnTo>
                  <a:cubicBezTo>
                    <a:pt x="10957" y="16174"/>
                    <a:pt x="10883" y="16200"/>
                    <a:pt x="10800" y="16200"/>
                  </a:cubicBezTo>
                  <a:cubicBezTo>
                    <a:pt x="10717" y="16200"/>
                    <a:pt x="10643" y="16174"/>
                    <a:pt x="10574" y="16138"/>
                  </a:cubicBezTo>
                  <a:lnTo>
                    <a:pt x="10571" y="16143"/>
                  </a:lnTo>
                  <a:lnTo>
                    <a:pt x="1244" y="11234"/>
                  </a:lnTo>
                  <a:lnTo>
                    <a:pt x="1247" y="11229"/>
                  </a:lnTo>
                  <a:cubicBezTo>
                    <a:pt x="1091" y="11147"/>
                    <a:pt x="982" y="10988"/>
                    <a:pt x="982" y="10800"/>
                  </a:cubicBezTo>
                  <a:cubicBezTo>
                    <a:pt x="982" y="10612"/>
                    <a:pt x="1091" y="10453"/>
                    <a:pt x="1247" y="10371"/>
                  </a:cubicBezTo>
                  <a:lnTo>
                    <a:pt x="1244" y="10366"/>
                  </a:lnTo>
                  <a:lnTo>
                    <a:pt x="3562" y="9146"/>
                  </a:lnTo>
                  <a:lnTo>
                    <a:pt x="10113" y="12594"/>
                  </a:lnTo>
                  <a:lnTo>
                    <a:pt x="10117" y="12588"/>
                  </a:lnTo>
                  <a:cubicBezTo>
                    <a:pt x="10322" y="12697"/>
                    <a:pt x="10552" y="12764"/>
                    <a:pt x="10800" y="12764"/>
                  </a:cubicBezTo>
                  <a:cubicBezTo>
                    <a:pt x="11048" y="12764"/>
                    <a:pt x="11278" y="12697"/>
                    <a:pt x="11483" y="12588"/>
                  </a:cubicBezTo>
                  <a:lnTo>
                    <a:pt x="11486" y="12594"/>
                  </a:lnTo>
                  <a:lnTo>
                    <a:pt x="18038" y="9146"/>
                  </a:lnTo>
                  <a:lnTo>
                    <a:pt x="20356" y="10366"/>
                  </a:lnTo>
                  <a:lnTo>
                    <a:pt x="20353" y="10371"/>
                  </a:lnTo>
                  <a:cubicBezTo>
                    <a:pt x="20509" y="10453"/>
                    <a:pt x="20618" y="10612"/>
                    <a:pt x="20618" y="10800"/>
                  </a:cubicBezTo>
                  <a:cubicBezTo>
                    <a:pt x="20618" y="10988"/>
                    <a:pt x="20509" y="11147"/>
                    <a:pt x="20353" y="11229"/>
                  </a:cubicBezTo>
                  <a:moveTo>
                    <a:pt x="20356" y="14784"/>
                  </a:moveTo>
                  <a:lnTo>
                    <a:pt x="20353" y="14790"/>
                  </a:lnTo>
                  <a:cubicBezTo>
                    <a:pt x="20509" y="14872"/>
                    <a:pt x="20618" y="15030"/>
                    <a:pt x="20618" y="15218"/>
                  </a:cubicBezTo>
                  <a:cubicBezTo>
                    <a:pt x="20618" y="15407"/>
                    <a:pt x="20509" y="15565"/>
                    <a:pt x="20353" y="15647"/>
                  </a:cubicBezTo>
                  <a:lnTo>
                    <a:pt x="20356" y="15653"/>
                  </a:lnTo>
                  <a:lnTo>
                    <a:pt x="11029" y="20562"/>
                  </a:lnTo>
                  <a:lnTo>
                    <a:pt x="11026" y="20556"/>
                  </a:lnTo>
                  <a:cubicBezTo>
                    <a:pt x="10957" y="20592"/>
                    <a:pt x="10883" y="20618"/>
                    <a:pt x="10800" y="20618"/>
                  </a:cubicBezTo>
                  <a:cubicBezTo>
                    <a:pt x="10717" y="20618"/>
                    <a:pt x="10643" y="20592"/>
                    <a:pt x="10574" y="20556"/>
                  </a:cubicBezTo>
                  <a:lnTo>
                    <a:pt x="10571" y="20562"/>
                  </a:lnTo>
                  <a:lnTo>
                    <a:pt x="1244" y="15653"/>
                  </a:lnTo>
                  <a:lnTo>
                    <a:pt x="1247" y="15647"/>
                  </a:lnTo>
                  <a:cubicBezTo>
                    <a:pt x="1091" y="15565"/>
                    <a:pt x="982" y="15407"/>
                    <a:pt x="982" y="15218"/>
                  </a:cubicBezTo>
                  <a:cubicBezTo>
                    <a:pt x="982" y="15030"/>
                    <a:pt x="1091" y="14872"/>
                    <a:pt x="1247" y="14790"/>
                  </a:cubicBezTo>
                  <a:lnTo>
                    <a:pt x="1244" y="14784"/>
                  </a:lnTo>
                  <a:lnTo>
                    <a:pt x="3562" y="13564"/>
                  </a:lnTo>
                  <a:lnTo>
                    <a:pt x="10113" y="17012"/>
                  </a:lnTo>
                  <a:lnTo>
                    <a:pt x="10117" y="17006"/>
                  </a:lnTo>
                  <a:cubicBezTo>
                    <a:pt x="10322" y="17115"/>
                    <a:pt x="10552" y="17182"/>
                    <a:pt x="10800" y="17182"/>
                  </a:cubicBezTo>
                  <a:cubicBezTo>
                    <a:pt x="11048" y="17182"/>
                    <a:pt x="11278" y="17115"/>
                    <a:pt x="11483" y="17006"/>
                  </a:cubicBezTo>
                  <a:lnTo>
                    <a:pt x="11486" y="17012"/>
                  </a:lnTo>
                  <a:lnTo>
                    <a:pt x="18038" y="13564"/>
                  </a:lnTo>
                  <a:cubicBezTo>
                    <a:pt x="18038" y="13564"/>
                    <a:pt x="20356" y="14784"/>
                    <a:pt x="20356" y="14784"/>
                  </a:cubicBezTo>
                  <a:close/>
                  <a:moveTo>
                    <a:pt x="1244" y="6816"/>
                  </a:moveTo>
                  <a:lnTo>
                    <a:pt x="1247" y="6811"/>
                  </a:lnTo>
                  <a:cubicBezTo>
                    <a:pt x="1091" y="6728"/>
                    <a:pt x="982" y="6570"/>
                    <a:pt x="982" y="6382"/>
                  </a:cubicBezTo>
                  <a:cubicBezTo>
                    <a:pt x="982" y="6194"/>
                    <a:pt x="1091" y="6035"/>
                    <a:pt x="1247" y="5953"/>
                  </a:cubicBezTo>
                  <a:lnTo>
                    <a:pt x="1244" y="5947"/>
                  </a:lnTo>
                  <a:lnTo>
                    <a:pt x="10571" y="1038"/>
                  </a:lnTo>
                  <a:lnTo>
                    <a:pt x="10574" y="1044"/>
                  </a:lnTo>
                  <a:cubicBezTo>
                    <a:pt x="10643" y="1008"/>
                    <a:pt x="10717" y="982"/>
                    <a:pt x="10800" y="982"/>
                  </a:cubicBezTo>
                  <a:cubicBezTo>
                    <a:pt x="10883" y="982"/>
                    <a:pt x="10957" y="1008"/>
                    <a:pt x="11026" y="1044"/>
                  </a:cubicBezTo>
                  <a:lnTo>
                    <a:pt x="11029" y="1038"/>
                  </a:lnTo>
                  <a:lnTo>
                    <a:pt x="20356" y="5947"/>
                  </a:lnTo>
                  <a:lnTo>
                    <a:pt x="20353" y="5953"/>
                  </a:lnTo>
                  <a:cubicBezTo>
                    <a:pt x="20509" y="6035"/>
                    <a:pt x="20618" y="6194"/>
                    <a:pt x="20618" y="6382"/>
                  </a:cubicBezTo>
                  <a:cubicBezTo>
                    <a:pt x="20618" y="6570"/>
                    <a:pt x="20509" y="6728"/>
                    <a:pt x="20353" y="6811"/>
                  </a:cubicBezTo>
                  <a:lnTo>
                    <a:pt x="20356" y="6816"/>
                  </a:lnTo>
                  <a:lnTo>
                    <a:pt x="11029" y="11725"/>
                  </a:lnTo>
                  <a:lnTo>
                    <a:pt x="11026" y="11720"/>
                  </a:lnTo>
                  <a:cubicBezTo>
                    <a:pt x="10957" y="11756"/>
                    <a:pt x="10883" y="11782"/>
                    <a:pt x="10800" y="11782"/>
                  </a:cubicBezTo>
                  <a:cubicBezTo>
                    <a:pt x="10717" y="11782"/>
                    <a:pt x="10643" y="11756"/>
                    <a:pt x="10574" y="11720"/>
                  </a:cubicBezTo>
                  <a:lnTo>
                    <a:pt x="10571" y="11725"/>
                  </a:lnTo>
                  <a:cubicBezTo>
                    <a:pt x="10571" y="11725"/>
                    <a:pt x="1244" y="6816"/>
                    <a:pt x="1244" y="6816"/>
                  </a:cubicBezTo>
                  <a:close/>
                  <a:moveTo>
                    <a:pt x="21600" y="10800"/>
                  </a:moveTo>
                  <a:cubicBezTo>
                    <a:pt x="21600" y="10234"/>
                    <a:pt x="21278" y="9749"/>
                    <a:pt x="20810" y="9503"/>
                  </a:cubicBezTo>
                  <a:lnTo>
                    <a:pt x="20813" y="9497"/>
                  </a:lnTo>
                  <a:lnTo>
                    <a:pt x="19092" y="8591"/>
                  </a:lnTo>
                  <a:lnTo>
                    <a:pt x="20813" y="7685"/>
                  </a:lnTo>
                  <a:lnTo>
                    <a:pt x="20810" y="7679"/>
                  </a:lnTo>
                  <a:cubicBezTo>
                    <a:pt x="21278" y="7433"/>
                    <a:pt x="21600" y="6948"/>
                    <a:pt x="21600" y="6382"/>
                  </a:cubicBezTo>
                  <a:cubicBezTo>
                    <a:pt x="21600" y="5816"/>
                    <a:pt x="21278" y="5331"/>
                    <a:pt x="20810" y="5085"/>
                  </a:cubicBezTo>
                  <a:lnTo>
                    <a:pt x="20813" y="5079"/>
                  </a:lnTo>
                  <a:lnTo>
                    <a:pt x="11486" y="170"/>
                  </a:lnTo>
                  <a:lnTo>
                    <a:pt x="11483" y="175"/>
                  </a:lnTo>
                  <a:cubicBezTo>
                    <a:pt x="11278" y="67"/>
                    <a:pt x="11048" y="0"/>
                    <a:pt x="10800" y="0"/>
                  </a:cubicBezTo>
                  <a:cubicBezTo>
                    <a:pt x="10552" y="0"/>
                    <a:pt x="10322" y="67"/>
                    <a:pt x="10117" y="175"/>
                  </a:cubicBezTo>
                  <a:lnTo>
                    <a:pt x="10113" y="170"/>
                  </a:lnTo>
                  <a:lnTo>
                    <a:pt x="786" y="5079"/>
                  </a:lnTo>
                  <a:lnTo>
                    <a:pt x="790" y="5085"/>
                  </a:lnTo>
                  <a:cubicBezTo>
                    <a:pt x="322" y="5331"/>
                    <a:pt x="0" y="5816"/>
                    <a:pt x="0" y="6382"/>
                  </a:cubicBezTo>
                  <a:cubicBezTo>
                    <a:pt x="0" y="6948"/>
                    <a:pt x="322" y="7433"/>
                    <a:pt x="790" y="7679"/>
                  </a:cubicBezTo>
                  <a:lnTo>
                    <a:pt x="786" y="7685"/>
                  </a:lnTo>
                  <a:lnTo>
                    <a:pt x="2508" y="8591"/>
                  </a:lnTo>
                  <a:lnTo>
                    <a:pt x="786" y="9497"/>
                  </a:lnTo>
                  <a:lnTo>
                    <a:pt x="790" y="9503"/>
                  </a:lnTo>
                  <a:cubicBezTo>
                    <a:pt x="322" y="9749"/>
                    <a:pt x="0" y="10234"/>
                    <a:pt x="0" y="10800"/>
                  </a:cubicBezTo>
                  <a:cubicBezTo>
                    <a:pt x="0" y="11366"/>
                    <a:pt x="322" y="11851"/>
                    <a:pt x="790" y="12097"/>
                  </a:cubicBezTo>
                  <a:lnTo>
                    <a:pt x="786" y="12103"/>
                  </a:lnTo>
                  <a:lnTo>
                    <a:pt x="2508" y="13009"/>
                  </a:lnTo>
                  <a:lnTo>
                    <a:pt x="786" y="13915"/>
                  </a:lnTo>
                  <a:lnTo>
                    <a:pt x="790" y="13921"/>
                  </a:lnTo>
                  <a:cubicBezTo>
                    <a:pt x="322" y="14167"/>
                    <a:pt x="0" y="14652"/>
                    <a:pt x="0" y="15218"/>
                  </a:cubicBezTo>
                  <a:cubicBezTo>
                    <a:pt x="0" y="15784"/>
                    <a:pt x="322" y="16269"/>
                    <a:pt x="790" y="16515"/>
                  </a:cubicBezTo>
                  <a:lnTo>
                    <a:pt x="786" y="16521"/>
                  </a:lnTo>
                  <a:lnTo>
                    <a:pt x="10113" y="21430"/>
                  </a:lnTo>
                  <a:lnTo>
                    <a:pt x="10117" y="21425"/>
                  </a:lnTo>
                  <a:cubicBezTo>
                    <a:pt x="10322" y="21533"/>
                    <a:pt x="10552" y="21600"/>
                    <a:pt x="10800" y="21600"/>
                  </a:cubicBezTo>
                  <a:cubicBezTo>
                    <a:pt x="11048" y="21600"/>
                    <a:pt x="11278" y="21533"/>
                    <a:pt x="11483" y="21425"/>
                  </a:cubicBezTo>
                  <a:lnTo>
                    <a:pt x="11486" y="21430"/>
                  </a:lnTo>
                  <a:lnTo>
                    <a:pt x="20813" y="16521"/>
                  </a:lnTo>
                  <a:lnTo>
                    <a:pt x="20810" y="16515"/>
                  </a:lnTo>
                  <a:cubicBezTo>
                    <a:pt x="21278" y="16269"/>
                    <a:pt x="21600" y="15784"/>
                    <a:pt x="21600" y="15218"/>
                  </a:cubicBezTo>
                  <a:cubicBezTo>
                    <a:pt x="21600" y="14652"/>
                    <a:pt x="21278" y="14167"/>
                    <a:pt x="20810" y="13921"/>
                  </a:cubicBezTo>
                  <a:lnTo>
                    <a:pt x="20813" y="13915"/>
                  </a:lnTo>
                  <a:lnTo>
                    <a:pt x="19092" y="13009"/>
                  </a:lnTo>
                  <a:lnTo>
                    <a:pt x="20813" y="12103"/>
                  </a:lnTo>
                  <a:lnTo>
                    <a:pt x="20810" y="12097"/>
                  </a:lnTo>
                  <a:cubicBezTo>
                    <a:pt x="21278" y="11851"/>
                    <a:pt x="21600" y="11366"/>
                    <a:pt x="21600" y="1080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8BEFE32-0E12-3D2D-4CED-72C8284E6ABD}"/>
              </a:ext>
            </a:extLst>
          </p:cNvPr>
          <p:cNvGrpSpPr/>
          <p:nvPr/>
        </p:nvGrpSpPr>
        <p:grpSpPr>
          <a:xfrm>
            <a:off x="6288832" y="4170784"/>
            <a:ext cx="1586204" cy="541175"/>
            <a:chOff x="6288832" y="4170784"/>
            <a:chExt cx="1586204" cy="541175"/>
          </a:xfrm>
        </p:grpSpPr>
        <p:sp>
          <p:nvSpPr>
            <p:cNvPr id="9" name="矩形: 对角圆角 8">
              <a:extLst>
                <a:ext uri="{FF2B5EF4-FFF2-40B4-BE49-F238E27FC236}">
                  <a16:creationId xmlns:a16="http://schemas.microsoft.com/office/drawing/2014/main" id="{20FCA80A-857B-145F-D3DF-2222F15BD753}"/>
                </a:ext>
              </a:extLst>
            </p:cNvPr>
            <p:cNvSpPr/>
            <p:nvPr/>
          </p:nvSpPr>
          <p:spPr>
            <a:xfrm>
              <a:off x="6288832" y="4170784"/>
              <a:ext cx="1586204" cy="541175"/>
            </a:xfrm>
            <a:prstGeom prst="round2DiagRect">
              <a:avLst>
                <a:gd name="adj1" fmla="val 11495"/>
                <a:gd name="adj2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 </a:t>
              </a:r>
            </a:p>
          </p:txBody>
        </p:sp>
        <p:sp>
          <p:nvSpPr>
            <p:cNvPr id="10" name="Shape 2434">
              <a:extLst>
                <a:ext uri="{FF2B5EF4-FFF2-40B4-BE49-F238E27FC236}">
                  <a16:creationId xmlns:a16="http://schemas.microsoft.com/office/drawing/2014/main" id="{CD937CFD-19A5-956E-B38B-27F00798D0B7}"/>
                </a:ext>
              </a:extLst>
            </p:cNvPr>
            <p:cNvSpPr/>
            <p:nvPr/>
          </p:nvSpPr>
          <p:spPr>
            <a:xfrm>
              <a:off x="6412054" y="4256808"/>
              <a:ext cx="372720" cy="372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727"/>
                  </a:moveTo>
                  <a:cubicBezTo>
                    <a:pt x="8631" y="14727"/>
                    <a:pt x="6873" y="12969"/>
                    <a:pt x="6873" y="10800"/>
                  </a:cubicBezTo>
                  <a:cubicBezTo>
                    <a:pt x="6873" y="8631"/>
                    <a:pt x="8631" y="6873"/>
                    <a:pt x="10800" y="6873"/>
                  </a:cubicBezTo>
                  <a:cubicBezTo>
                    <a:pt x="12969" y="6873"/>
                    <a:pt x="14727" y="8631"/>
                    <a:pt x="14727" y="10800"/>
                  </a:cubicBezTo>
                  <a:cubicBezTo>
                    <a:pt x="14727" y="12969"/>
                    <a:pt x="12969" y="14727"/>
                    <a:pt x="10800" y="14727"/>
                  </a:cubicBezTo>
                  <a:moveTo>
                    <a:pt x="10800" y="5891"/>
                  </a:moveTo>
                  <a:cubicBezTo>
                    <a:pt x="8088" y="5891"/>
                    <a:pt x="5891" y="8089"/>
                    <a:pt x="5891" y="10800"/>
                  </a:cubicBezTo>
                  <a:cubicBezTo>
                    <a:pt x="5891" y="13512"/>
                    <a:pt x="8088" y="15709"/>
                    <a:pt x="10800" y="15709"/>
                  </a:cubicBezTo>
                  <a:cubicBezTo>
                    <a:pt x="13512" y="15709"/>
                    <a:pt x="15709" y="13512"/>
                    <a:pt x="15709" y="10800"/>
                  </a:cubicBezTo>
                  <a:cubicBezTo>
                    <a:pt x="15709" y="8089"/>
                    <a:pt x="13512" y="5891"/>
                    <a:pt x="10800" y="5891"/>
                  </a:cubicBezTo>
                  <a:moveTo>
                    <a:pt x="20618" y="12013"/>
                  </a:moveTo>
                  <a:cubicBezTo>
                    <a:pt x="20614" y="12014"/>
                    <a:pt x="20611" y="12016"/>
                    <a:pt x="20607" y="12016"/>
                  </a:cubicBezTo>
                  <a:lnTo>
                    <a:pt x="19602" y="12268"/>
                  </a:lnTo>
                  <a:cubicBezTo>
                    <a:pt x="19256" y="12354"/>
                    <a:pt x="18984" y="12622"/>
                    <a:pt x="18892" y="12966"/>
                  </a:cubicBezTo>
                  <a:cubicBezTo>
                    <a:pt x="18703" y="13672"/>
                    <a:pt x="18421" y="14351"/>
                    <a:pt x="18053" y="14986"/>
                  </a:cubicBezTo>
                  <a:cubicBezTo>
                    <a:pt x="17873" y="15295"/>
                    <a:pt x="17876" y="15677"/>
                    <a:pt x="18060" y="15984"/>
                  </a:cubicBezTo>
                  <a:lnTo>
                    <a:pt x="18601" y="16885"/>
                  </a:lnTo>
                  <a:lnTo>
                    <a:pt x="16886" y="18600"/>
                  </a:lnTo>
                  <a:cubicBezTo>
                    <a:pt x="16882" y="18599"/>
                    <a:pt x="16878" y="18597"/>
                    <a:pt x="16875" y="18595"/>
                  </a:cubicBezTo>
                  <a:lnTo>
                    <a:pt x="15978" y="18057"/>
                  </a:lnTo>
                  <a:cubicBezTo>
                    <a:pt x="15822" y="17964"/>
                    <a:pt x="15648" y="17917"/>
                    <a:pt x="15473" y="17917"/>
                  </a:cubicBezTo>
                  <a:cubicBezTo>
                    <a:pt x="15304" y="17917"/>
                    <a:pt x="15134" y="17961"/>
                    <a:pt x="14982" y="18049"/>
                  </a:cubicBezTo>
                  <a:cubicBezTo>
                    <a:pt x="14348" y="18415"/>
                    <a:pt x="13671" y="18696"/>
                    <a:pt x="12968" y="18884"/>
                  </a:cubicBezTo>
                  <a:cubicBezTo>
                    <a:pt x="12624" y="18976"/>
                    <a:pt x="12356" y="19248"/>
                    <a:pt x="12269" y="19594"/>
                  </a:cubicBezTo>
                  <a:lnTo>
                    <a:pt x="12016" y="20607"/>
                  </a:lnTo>
                  <a:cubicBezTo>
                    <a:pt x="12015" y="20611"/>
                    <a:pt x="12014" y="20614"/>
                    <a:pt x="12012" y="20619"/>
                  </a:cubicBezTo>
                  <a:lnTo>
                    <a:pt x="9587" y="20619"/>
                  </a:lnTo>
                  <a:lnTo>
                    <a:pt x="9331" y="19594"/>
                  </a:lnTo>
                  <a:cubicBezTo>
                    <a:pt x="9244" y="19248"/>
                    <a:pt x="8976" y="18976"/>
                    <a:pt x="8632" y="18884"/>
                  </a:cubicBezTo>
                  <a:cubicBezTo>
                    <a:pt x="7929" y="18696"/>
                    <a:pt x="7251" y="18415"/>
                    <a:pt x="6617" y="18049"/>
                  </a:cubicBezTo>
                  <a:cubicBezTo>
                    <a:pt x="6465" y="17961"/>
                    <a:pt x="6296" y="17917"/>
                    <a:pt x="6127" y="17917"/>
                  </a:cubicBezTo>
                  <a:cubicBezTo>
                    <a:pt x="5951" y="17917"/>
                    <a:pt x="5777" y="17964"/>
                    <a:pt x="5621" y="18057"/>
                  </a:cubicBezTo>
                  <a:lnTo>
                    <a:pt x="4725" y="18595"/>
                  </a:lnTo>
                  <a:cubicBezTo>
                    <a:pt x="4722" y="18597"/>
                    <a:pt x="4718" y="18599"/>
                    <a:pt x="4714" y="18600"/>
                  </a:cubicBezTo>
                  <a:lnTo>
                    <a:pt x="3000" y="16885"/>
                  </a:lnTo>
                  <a:lnTo>
                    <a:pt x="3540" y="15984"/>
                  </a:lnTo>
                  <a:cubicBezTo>
                    <a:pt x="3724" y="15677"/>
                    <a:pt x="3727" y="15295"/>
                    <a:pt x="3548" y="14986"/>
                  </a:cubicBezTo>
                  <a:cubicBezTo>
                    <a:pt x="3179" y="14351"/>
                    <a:pt x="2897" y="13672"/>
                    <a:pt x="2708" y="12966"/>
                  </a:cubicBezTo>
                  <a:cubicBezTo>
                    <a:pt x="2616" y="12622"/>
                    <a:pt x="2343" y="12354"/>
                    <a:pt x="1998" y="12268"/>
                  </a:cubicBezTo>
                  <a:lnTo>
                    <a:pt x="993" y="12016"/>
                  </a:lnTo>
                  <a:cubicBezTo>
                    <a:pt x="989" y="12016"/>
                    <a:pt x="986" y="12014"/>
                    <a:pt x="982" y="12013"/>
                  </a:cubicBezTo>
                  <a:lnTo>
                    <a:pt x="982" y="9587"/>
                  </a:lnTo>
                  <a:lnTo>
                    <a:pt x="1998" y="9333"/>
                  </a:lnTo>
                  <a:cubicBezTo>
                    <a:pt x="2343" y="9246"/>
                    <a:pt x="2616" y="8979"/>
                    <a:pt x="2708" y="8634"/>
                  </a:cubicBezTo>
                  <a:cubicBezTo>
                    <a:pt x="2897" y="7928"/>
                    <a:pt x="3179" y="7249"/>
                    <a:pt x="3548" y="6615"/>
                  </a:cubicBezTo>
                  <a:cubicBezTo>
                    <a:pt x="3727" y="6305"/>
                    <a:pt x="3724" y="5923"/>
                    <a:pt x="3540" y="5617"/>
                  </a:cubicBezTo>
                  <a:lnTo>
                    <a:pt x="3005" y="4725"/>
                  </a:lnTo>
                  <a:cubicBezTo>
                    <a:pt x="3004" y="4722"/>
                    <a:pt x="3002" y="4718"/>
                    <a:pt x="3000" y="4715"/>
                  </a:cubicBezTo>
                  <a:lnTo>
                    <a:pt x="4715" y="3000"/>
                  </a:lnTo>
                  <a:lnTo>
                    <a:pt x="5621" y="3544"/>
                  </a:lnTo>
                  <a:cubicBezTo>
                    <a:pt x="5777" y="3636"/>
                    <a:pt x="5951" y="3683"/>
                    <a:pt x="6127" y="3683"/>
                  </a:cubicBezTo>
                  <a:cubicBezTo>
                    <a:pt x="6296" y="3683"/>
                    <a:pt x="6465" y="3639"/>
                    <a:pt x="6618" y="3551"/>
                  </a:cubicBezTo>
                  <a:cubicBezTo>
                    <a:pt x="7251" y="3185"/>
                    <a:pt x="7929" y="2904"/>
                    <a:pt x="8632" y="2717"/>
                  </a:cubicBezTo>
                  <a:cubicBezTo>
                    <a:pt x="8976" y="2624"/>
                    <a:pt x="9244" y="2353"/>
                    <a:pt x="9331" y="2007"/>
                  </a:cubicBezTo>
                  <a:lnTo>
                    <a:pt x="9587" y="982"/>
                  </a:lnTo>
                  <a:lnTo>
                    <a:pt x="12012" y="982"/>
                  </a:lnTo>
                  <a:cubicBezTo>
                    <a:pt x="12014" y="986"/>
                    <a:pt x="12015" y="989"/>
                    <a:pt x="12016" y="993"/>
                  </a:cubicBezTo>
                  <a:lnTo>
                    <a:pt x="12269" y="2007"/>
                  </a:lnTo>
                  <a:cubicBezTo>
                    <a:pt x="12356" y="2353"/>
                    <a:pt x="12624" y="2624"/>
                    <a:pt x="12968" y="2717"/>
                  </a:cubicBezTo>
                  <a:cubicBezTo>
                    <a:pt x="13671" y="2904"/>
                    <a:pt x="14348" y="3185"/>
                    <a:pt x="14982" y="3551"/>
                  </a:cubicBezTo>
                  <a:cubicBezTo>
                    <a:pt x="15134" y="3639"/>
                    <a:pt x="15304" y="3683"/>
                    <a:pt x="15473" y="3683"/>
                  </a:cubicBezTo>
                  <a:cubicBezTo>
                    <a:pt x="15648" y="3683"/>
                    <a:pt x="15822" y="3636"/>
                    <a:pt x="15978" y="3544"/>
                  </a:cubicBezTo>
                  <a:lnTo>
                    <a:pt x="16884" y="3000"/>
                  </a:lnTo>
                  <a:lnTo>
                    <a:pt x="18600" y="4715"/>
                  </a:lnTo>
                  <a:cubicBezTo>
                    <a:pt x="18598" y="4718"/>
                    <a:pt x="18597" y="4722"/>
                    <a:pt x="18595" y="4726"/>
                  </a:cubicBezTo>
                  <a:lnTo>
                    <a:pt x="18060" y="5616"/>
                  </a:lnTo>
                  <a:cubicBezTo>
                    <a:pt x="17876" y="5923"/>
                    <a:pt x="17873" y="6305"/>
                    <a:pt x="18053" y="6615"/>
                  </a:cubicBezTo>
                  <a:cubicBezTo>
                    <a:pt x="18421" y="7249"/>
                    <a:pt x="18703" y="7928"/>
                    <a:pt x="18892" y="8634"/>
                  </a:cubicBezTo>
                  <a:cubicBezTo>
                    <a:pt x="18984" y="8979"/>
                    <a:pt x="19256" y="9246"/>
                    <a:pt x="19602" y="9333"/>
                  </a:cubicBezTo>
                  <a:lnTo>
                    <a:pt x="20618" y="9587"/>
                  </a:lnTo>
                  <a:cubicBezTo>
                    <a:pt x="20618" y="9587"/>
                    <a:pt x="20618" y="12013"/>
                    <a:pt x="20618" y="12013"/>
                  </a:cubicBezTo>
                  <a:close/>
                  <a:moveTo>
                    <a:pt x="20880" y="8641"/>
                  </a:moveTo>
                  <a:lnTo>
                    <a:pt x="19841" y="8380"/>
                  </a:lnTo>
                  <a:cubicBezTo>
                    <a:pt x="19626" y="7580"/>
                    <a:pt x="19308" y="6822"/>
                    <a:pt x="18902" y="6122"/>
                  </a:cubicBezTo>
                  <a:lnTo>
                    <a:pt x="19455" y="5200"/>
                  </a:lnTo>
                  <a:cubicBezTo>
                    <a:pt x="19625" y="4871"/>
                    <a:pt x="19736" y="4463"/>
                    <a:pt x="19455" y="4182"/>
                  </a:cubicBezTo>
                  <a:lnTo>
                    <a:pt x="17419" y="2145"/>
                  </a:lnTo>
                  <a:cubicBezTo>
                    <a:pt x="17292" y="2018"/>
                    <a:pt x="17136" y="1969"/>
                    <a:pt x="16975" y="1969"/>
                  </a:cubicBezTo>
                  <a:cubicBezTo>
                    <a:pt x="16778" y="1969"/>
                    <a:pt x="16572" y="2043"/>
                    <a:pt x="16400" y="2145"/>
                  </a:cubicBezTo>
                  <a:lnTo>
                    <a:pt x="15473" y="2702"/>
                  </a:lnTo>
                  <a:cubicBezTo>
                    <a:pt x="14775" y="2298"/>
                    <a:pt x="14020" y="1982"/>
                    <a:pt x="13222" y="1768"/>
                  </a:cubicBezTo>
                  <a:lnTo>
                    <a:pt x="12960" y="720"/>
                  </a:lnTo>
                  <a:cubicBezTo>
                    <a:pt x="12848" y="367"/>
                    <a:pt x="12638" y="0"/>
                    <a:pt x="12240" y="0"/>
                  </a:cubicBezTo>
                  <a:lnTo>
                    <a:pt x="9360" y="0"/>
                  </a:lnTo>
                  <a:cubicBezTo>
                    <a:pt x="8962" y="0"/>
                    <a:pt x="8730" y="367"/>
                    <a:pt x="8640" y="720"/>
                  </a:cubicBezTo>
                  <a:lnTo>
                    <a:pt x="8378" y="1768"/>
                  </a:lnTo>
                  <a:cubicBezTo>
                    <a:pt x="7580" y="1982"/>
                    <a:pt x="6825" y="2298"/>
                    <a:pt x="6127" y="2702"/>
                  </a:cubicBezTo>
                  <a:lnTo>
                    <a:pt x="5200" y="2145"/>
                  </a:lnTo>
                  <a:cubicBezTo>
                    <a:pt x="5028" y="2043"/>
                    <a:pt x="4822" y="1969"/>
                    <a:pt x="4625" y="1969"/>
                  </a:cubicBezTo>
                  <a:cubicBezTo>
                    <a:pt x="4464" y="1969"/>
                    <a:pt x="4308" y="2018"/>
                    <a:pt x="4181" y="2145"/>
                  </a:cubicBezTo>
                  <a:lnTo>
                    <a:pt x="2145" y="4182"/>
                  </a:lnTo>
                  <a:cubicBezTo>
                    <a:pt x="1864" y="4463"/>
                    <a:pt x="1975" y="4871"/>
                    <a:pt x="2145" y="5200"/>
                  </a:cubicBezTo>
                  <a:lnTo>
                    <a:pt x="2698" y="6122"/>
                  </a:lnTo>
                  <a:cubicBezTo>
                    <a:pt x="2292" y="6822"/>
                    <a:pt x="1973" y="7580"/>
                    <a:pt x="1759" y="8380"/>
                  </a:cubicBezTo>
                  <a:lnTo>
                    <a:pt x="720" y="8641"/>
                  </a:lnTo>
                  <a:cubicBezTo>
                    <a:pt x="367" y="8730"/>
                    <a:pt x="0" y="8963"/>
                    <a:pt x="0" y="9360"/>
                  </a:cubicBezTo>
                  <a:lnTo>
                    <a:pt x="0" y="12240"/>
                  </a:lnTo>
                  <a:cubicBezTo>
                    <a:pt x="0" y="12638"/>
                    <a:pt x="367" y="12848"/>
                    <a:pt x="720" y="12960"/>
                  </a:cubicBezTo>
                  <a:lnTo>
                    <a:pt x="1759" y="13220"/>
                  </a:lnTo>
                  <a:cubicBezTo>
                    <a:pt x="1973" y="14021"/>
                    <a:pt x="2292" y="14778"/>
                    <a:pt x="2698" y="15478"/>
                  </a:cubicBezTo>
                  <a:lnTo>
                    <a:pt x="2145" y="16400"/>
                  </a:lnTo>
                  <a:cubicBezTo>
                    <a:pt x="1959" y="16714"/>
                    <a:pt x="1864" y="17137"/>
                    <a:pt x="2145" y="17419"/>
                  </a:cubicBezTo>
                  <a:lnTo>
                    <a:pt x="4181" y="19455"/>
                  </a:lnTo>
                  <a:cubicBezTo>
                    <a:pt x="4305" y="19579"/>
                    <a:pt x="4454" y="19627"/>
                    <a:pt x="4610" y="19627"/>
                  </a:cubicBezTo>
                  <a:cubicBezTo>
                    <a:pt x="4807" y="19627"/>
                    <a:pt x="5016" y="19550"/>
                    <a:pt x="5200" y="19455"/>
                  </a:cubicBezTo>
                  <a:lnTo>
                    <a:pt x="6127" y="18899"/>
                  </a:lnTo>
                  <a:cubicBezTo>
                    <a:pt x="6825" y="19302"/>
                    <a:pt x="7580" y="19619"/>
                    <a:pt x="8378" y="19832"/>
                  </a:cubicBezTo>
                  <a:lnTo>
                    <a:pt x="8640" y="20880"/>
                  </a:lnTo>
                  <a:cubicBezTo>
                    <a:pt x="8730" y="21233"/>
                    <a:pt x="8962" y="21600"/>
                    <a:pt x="9360" y="21600"/>
                  </a:cubicBezTo>
                  <a:lnTo>
                    <a:pt x="12240" y="21600"/>
                  </a:lnTo>
                  <a:cubicBezTo>
                    <a:pt x="12638" y="21600"/>
                    <a:pt x="12848" y="21233"/>
                    <a:pt x="12960" y="20880"/>
                  </a:cubicBezTo>
                  <a:lnTo>
                    <a:pt x="13222" y="19832"/>
                  </a:lnTo>
                  <a:cubicBezTo>
                    <a:pt x="14020" y="19619"/>
                    <a:pt x="14775" y="19302"/>
                    <a:pt x="15473" y="18899"/>
                  </a:cubicBezTo>
                  <a:lnTo>
                    <a:pt x="16400" y="19455"/>
                  </a:lnTo>
                  <a:cubicBezTo>
                    <a:pt x="16584" y="19550"/>
                    <a:pt x="16793" y="19627"/>
                    <a:pt x="16990" y="19627"/>
                  </a:cubicBezTo>
                  <a:cubicBezTo>
                    <a:pt x="17146" y="19627"/>
                    <a:pt x="17294" y="19579"/>
                    <a:pt x="17419" y="19455"/>
                  </a:cubicBezTo>
                  <a:lnTo>
                    <a:pt x="19455" y="17419"/>
                  </a:lnTo>
                  <a:cubicBezTo>
                    <a:pt x="19736" y="17137"/>
                    <a:pt x="19641" y="16714"/>
                    <a:pt x="19455" y="16400"/>
                  </a:cubicBezTo>
                  <a:lnTo>
                    <a:pt x="18902" y="15478"/>
                  </a:lnTo>
                  <a:cubicBezTo>
                    <a:pt x="19308" y="14778"/>
                    <a:pt x="19626" y="14021"/>
                    <a:pt x="19841" y="13220"/>
                  </a:cubicBezTo>
                  <a:lnTo>
                    <a:pt x="20880" y="12960"/>
                  </a:lnTo>
                  <a:cubicBezTo>
                    <a:pt x="21233" y="12848"/>
                    <a:pt x="21600" y="12638"/>
                    <a:pt x="21600" y="12240"/>
                  </a:cubicBezTo>
                  <a:lnTo>
                    <a:pt x="21600" y="9360"/>
                  </a:lnTo>
                  <a:cubicBezTo>
                    <a:pt x="21600" y="8963"/>
                    <a:pt x="21233" y="8730"/>
                    <a:pt x="20880" y="8641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</p:grpSp>
      <p:sp>
        <p:nvSpPr>
          <p:cNvPr id="11" name="!!文本框 1">
            <a:extLst>
              <a:ext uri="{FF2B5EF4-FFF2-40B4-BE49-F238E27FC236}">
                <a16:creationId xmlns:a16="http://schemas.microsoft.com/office/drawing/2014/main" id="{4DEB35FF-72BF-4423-A7FA-CCFFA2CBCA59}"/>
              </a:ext>
            </a:extLst>
          </p:cNvPr>
          <p:cNvSpPr txBox="1"/>
          <p:nvPr/>
        </p:nvSpPr>
        <p:spPr>
          <a:xfrm>
            <a:off x="4057879" y="4256808"/>
            <a:ext cx="1004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起步依赖</a:t>
            </a:r>
            <a:endParaRPr lang="zh-CN" altLang="en-US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!!文本框 2">
            <a:extLst>
              <a:ext uri="{FF2B5EF4-FFF2-40B4-BE49-F238E27FC236}">
                <a16:creationId xmlns:a16="http://schemas.microsoft.com/office/drawing/2014/main" id="{6F357428-BD61-4526-86F6-5C3D0621C4BE}"/>
              </a:ext>
            </a:extLst>
          </p:cNvPr>
          <p:cNvSpPr txBox="1"/>
          <p:nvPr/>
        </p:nvSpPr>
        <p:spPr>
          <a:xfrm>
            <a:off x="6827881" y="4256808"/>
            <a:ext cx="1004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</a:t>
            </a:r>
            <a:endParaRPr lang="zh-CN" altLang="en-US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0051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!!文本框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8"/>
            <a:ext cx="3692525" cy="481012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3" name="!!文本框 2">
            <a:extLst>
              <a:ext uri="{FF2B5EF4-FFF2-40B4-BE49-F238E27FC236}">
                <a16:creationId xmlns:a16="http://schemas.microsoft.com/office/drawing/2014/main" id="{24E40A3F-9140-2ECC-3CE5-7DC587F42B81}"/>
              </a:ext>
            </a:extLst>
          </p:cNvPr>
          <p:cNvSpPr txBox="1">
            <a:spLocks/>
          </p:cNvSpPr>
          <p:nvPr/>
        </p:nvSpPr>
        <p:spPr>
          <a:xfrm>
            <a:off x="6351439" y="3429000"/>
            <a:ext cx="3692525" cy="50680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自动配置</a:t>
            </a:r>
          </a:p>
        </p:txBody>
      </p:sp>
    </p:spTree>
    <p:extLst>
      <p:ext uri="{BB962C8B-B14F-4D97-AF65-F5344CB8AC3E}">
        <p14:creationId xmlns:p14="http://schemas.microsoft.com/office/powerpoint/2010/main" val="319072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起步依赖</a:t>
            </a:r>
            <a:r>
              <a:rPr lang="en-US" altLang="zh-CN"/>
              <a:t>-</a:t>
            </a:r>
            <a:r>
              <a:rPr lang="zh-CN" altLang="en-US"/>
              <a:t>原理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A18EF10-7D69-283F-55FD-512E591E09E9}"/>
              </a:ext>
            </a:extLst>
          </p:cNvPr>
          <p:cNvSpPr/>
          <p:nvPr/>
        </p:nvSpPr>
        <p:spPr>
          <a:xfrm>
            <a:off x="788895" y="1353671"/>
            <a:ext cx="3558988" cy="36755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spring-boot-starter-web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707488-2697-F321-678E-02A0C38EAA22}"/>
              </a:ext>
            </a:extLst>
          </p:cNvPr>
          <p:cNvSpPr/>
          <p:nvPr/>
        </p:nvSpPr>
        <p:spPr>
          <a:xfrm>
            <a:off x="788895" y="2000923"/>
            <a:ext cx="3558988" cy="3675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spring-boot-starter-aop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5453ADF-0E59-EA31-4E6F-EB16216E6410}"/>
              </a:ext>
            </a:extLst>
          </p:cNvPr>
          <p:cNvSpPr/>
          <p:nvPr/>
        </p:nvSpPr>
        <p:spPr>
          <a:xfrm>
            <a:off x="788895" y="2648176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spring-boot-starter-test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41274A-B3C8-CE43-E2ED-386A3EA19297}"/>
              </a:ext>
            </a:extLst>
          </p:cNvPr>
          <p:cNvSpPr/>
          <p:nvPr/>
        </p:nvSpPr>
        <p:spPr>
          <a:xfrm>
            <a:off x="788895" y="3295430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mybatis-spring-boot-starter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92993DA-921C-46C1-C020-407FE7343120}"/>
              </a:ext>
            </a:extLst>
          </p:cNvPr>
          <p:cNvSpPr/>
          <p:nvPr/>
        </p:nvSpPr>
        <p:spPr>
          <a:xfrm>
            <a:off x="788895" y="3942684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pagehelper-spring-boot-starter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34C5249-9508-539E-3560-78BE5A9A4996}"/>
              </a:ext>
            </a:extLst>
          </p:cNvPr>
          <p:cNvSpPr/>
          <p:nvPr/>
        </p:nvSpPr>
        <p:spPr>
          <a:xfrm>
            <a:off x="788895" y="4589940"/>
            <a:ext cx="3558988" cy="36755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spring-boot-starter-...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040550-D376-E35A-2804-49179201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24" y="1353671"/>
            <a:ext cx="4989276" cy="414981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!!矩形 12">
            <a:extLst>
              <a:ext uri="{FF2B5EF4-FFF2-40B4-BE49-F238E27FC236}">
                <a16:creationId xmlns:a16="http://schemas.microsoft.com/office/drawing/2014/main" id="{A3669FAC-D5F2-0A8E-232C-8126C566F970}"/>
              </a:ext>
            </a:extLst>
          </p:cNvPr>
          <p:cNvSpPr/>
          <p:nvPr/>
        </p:nvSpPr>
        <p:spPr>
          <a:xfrm>
            <a:off x="6745524" y="2209800"/>
            <a:ext cx="4989276" cy="242497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52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起步依赖</a:t>
            </a:r>
            <a:r>
              <a:rPr lang="en-US" altLang="zh-CN"/>
              <a:t>-</a:t>
            </a:r>
            <a:r>
              <a:rPr lang="zh-CN" altLang="en-US"/>
              <a:t>原理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A18EF10-7D69-283F-55FD-512E591E09E9}"/>
              </a:ext>
            </a:extLst>
          </p:cNvPr>
          <p:cNvSpPr/>
          <p:nvPr/>
        </p:nvSpPr>
        <p:spPr>
          <a:xfrm>
            <a:off x="788895" y="1353671"/>
            <a:ext cx="3558988" cy="36755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spring-boot-starter-web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707488-2697-F321-678E-02A0C38EAA22}"/>
              </a:ext>
            </a:extLst>
          </p:cNvPr>
          <p:cNvSpPr/>
          <p:nvPr/>
        </p:nvSpPr>
        <p:spPr>
          <a:xfrm>
            <a:off x="788895" y="2000923"/>
            <a:ext cx="3558988" cy="36755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spring-boot-starter-aop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5453ADF-0E59-EA31-4E6F-EB16216E6410}"/>
              </a:ext>
            </a:extLst>
          </p:cNvPr>
          <p:cNvSpPr/>
          <p:nvPr/>
        </p:nvSpPr>
        <p:spPr>
          <a:xfrm>
            <a:off x="788895" y="2648176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spring-boot-starter-test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141274A-B3C8-CE43-E2ED-386A3EA19297}"/>
              </a:ext>
            </a:extLst>
          </p:cNvPr>
          <p:cNvSpPr/>
          <p:nvPr/>
        </p:nvSpPr>
        <p:spPr>
          <a:xfrm>
            <a:off x="788895" y="3295430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mybatis-spring-boot-starter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92993DA-921C-46C1-C020-407FE7343120}"/>
              </a:ext>
            </a:extLst>
          </p:cNvPr>
          <p:cNvSpPr/>
          <p:nvPr/>
        </p:nvSpPr>
        <p:spPr>
          <a:xfrm>
            <a:off x="788895" y="3942684"/>
            <a:ext cx="3558988" cy="3675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pagehelper-spring-boot-starter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34C5249-9508-539E-3560-78BE5A9A4996}"/>
              </a:ext>
            </a:extLst>
          </p:cNvPr>
          <p:cNvSpPr/>
          <p:nvPr/>
        </p:nvSpPr>
        <p:spPr>
          <a:xfrm>
            <a:off x="788895" y="4589940"/>
            <a:ext cx="3558988" cy="367556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spring-boot-starter-...</a:t>
            </a:r>
            <a:endParaRPr lang="zh-CN" altLang="en-US" sz="1400">
              <a:solidFill>
                <a:schemeClr val="tx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7E03DE3-13AC-2A77-F546-A853BDA0C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478" y="929126"/>
            <a:ext cx="5227773" cy="589839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!!矩形 12">
            <a:extLst>
              <a:ext uri="{FF2B5EF4-FFF2-40B4-BE49-F238E27FC236}">
                <a16:creationId xmlns:a16="http://schemas.microsoft.com/office/drawing/2014/main" id="{585F2629-DDC7-8CB0-284E-61B0C66B8A1D}"/>
              </a:ext>
            </a:extLst>
          </p:cNvPr>
          <p:cNvSpPr/>
          <p:nvPr/>
        </p:nvSpPr>
        <p:spPr>
          <a:xfrm>
            <a:off x="6691478" y="1758426"/>
            <a:ext cx="5227772" cy="242497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!!矩形 13">
            <a:extLst>
              <a:ext uri="{FF2B5EF4-FFF2-40B4-BE49-F238E27FC236}">
                <a16:creationId xmlns:a16="http://schemas.microsoft.com/office/drawing/2014/main" id="{235DD6CC-1B64-FDA5-8B93-DA2D18EE0D11}"/>
              </a:ext>
            </a:extLst>
          </p:cNvPr>
          <p:cNvSpPr/>
          <p:nvPr/>
        </p:nvSpPr>
        <p:spPr>
          <a:xfrm>
            <a:off x="6691476" y="2008543"/>
            <a:ext cx="5227771" cy="1867497"/>
          </a:xfrm>
          <a:prstGeom prst="rect">
            <a:avLst/>
          </a:prstGeom>
          <a:solidFill>
            <a:srgbClr val="FFABA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A813D0-9438-2682-54E6-AD16230D44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C3B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5037090-1265-1A66-0BA2-096D7BDB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891" y="0"/>
            <a:ext cx="9196109" cy="6858000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36BF8797-0D4B-3A18-B454-63668FACE4D2}"/>
              </a:ext>
            </a:extLst>
          </p:cNvPr>
          <p:cNvSpPr/>
          <p:nvPr/>
        </p:nvSpPr>
        <p:spPr>
          <a:xfrm>
            <a:off x="2743752" y="3446015"/>
            <a:ext cx="2373735" cy="792510"/>
          </a:xfrm>
          <a:prstGeom prst="ellipse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3200" b="1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依赖传递</a:t>
            </a:r>
          </a:p>
        </p:txBody>
      </p:sp>
    </p:spTree>
    <p:extLst>
      <p:ext uri="{BB962C8B-B14F-4D97-AF65-F5344CB8AC3E}">
        <p14:creationId xmlns:p14="http://schemas.microsoft.com/office/powerpoint/2010/main" val="123463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149333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380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3182A40-63BE-B44E-9D31-952F9FED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57" y="2063001"/>
            <a:ext cx="6419109" cy="2594328"/>
          </a:xfrm>
          <a:prstGeom prst="roundRect">
            <a:avLst>
              <a:gd name="adj" fmla="val 298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456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</a:t>
            </a:r>
            <a:r>
              <a:rPr lang="zh-CN" altLang="en-US">
                <a:latin typeface="Fira Code" panose="020B0809050000020004" pitchFamily="49" charset="0"/>
              </a:rPr>
              <a:t>的自动配置就是当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>
                <a:latin typeface="Fira Code" panose="020B0809050000020004" pitchFamily="49" charset="0"/>
              </a:rPr>
              <a:t>项目启动后，一些配置类、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bean</a:t>
            </a:r>
            <a:r>
              <a:rPr lang="zh-CN" altLang="en-US">
                <a:latin typeface="Fira Code" panose="020B0809050000020004" pitchFamily="49" charset="0"/>
              </a:rPr>
              <a:t>对象就自动存入到了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IOC</a:t>
            </a:r>
            <a:r>
              <a:rPr lang="zh-CN" altLang="en-US">
                <a:latin typeface="Fira Code" panose="020B0809050000020004" pitchFamily="49" charset="0"/>
              </a:rPr>
              <a:t>容器中，不需要我们手动去声明，从而简化了开发，省去了繁琐的配置操作。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什么是自动配置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D53DAA-7E2A-814F-F60F-15D5E77056FC}"/>
              </a:ext>
            </a:extLst>
          </p:cNvPr>
          <p:cNvSpPr/>
          <p:nvPr/>
        </p:nvSpPr>
        <p:spPr>
          <a:xfrm>
            <a:off x="848957" y="2659334"/>
            <a:ext cx="6419109" cy="546847"/>
          </a:xfrm>
          <a:prstGeom prst="rect">
            <a:avLst/>
          </a:prstGeom>
          <a:solidFill>
            <a:srgbClr val="00B050">
              <a:alpha val="20000"/>
            </a:srgbClr>
          </a:solidFill>
          <a:ln w="31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EC32F1-FBE8-284C-8AB4-7C939EE43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92" y="1862691"/>
            <a:ext cx="3199510" cy="1143180"/>
          </a:xfrm>
          <a:prstGeom prst="roundRect">
            <a:avLst>
              <a:gd name="adj" fmla="val 6622"/>
            </a:avLst>
          </a:prstGeom>
          <a:ln>
            <a:solidFill>
              <a:schemeClr val="bg1">
                <a:lumMod val="75000"/>
              </a:schemeClr>
            </a:solidFill>
          </a:ln>
          <a:effectLst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3F8B58-2CB4-90F2-BD90-1586DFA50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489" y="3360165"/>
            <a:ext cx="3798534" cy="3042428"/>
          </a:xfrm>
          <a:prstGeom prst="roundRect">
            <a:avLst>
              <a:gd name="adj" fmla="val 2281"/>
            </a:avLst>
          </a:prstGeom>
          <a:ln w="3175">
            <a:solidFill>
              <a:schemeClr val="bg1">
                <a:lumMod val="50000"/>
              </a:schemeClr>
            </a:solidFill>
            <a:prstDash val="solid"/>
          </a:ln>
          <a:effectLst/>
        </p:spPr>
      </p:pic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51306480-9C64-9B66-E799-C2D92A206DDF}"/>
              </a:ext>
            </a:extLst>
          </p:cNvPr>
          <p:cNvCxnSpPr>
            <a:stCxn id="7" idx="3"/>
            <a:endCxn id="8" idx="0"/>
          </p:cNvCxnSpPr>
          <p:nvPr/>
        </p:nvCxnSpPr>
        <p:spPr>
          <a:xfrm>
            <a:off x="7467602" y="2434281"/>
            <a:ext cx="2565154" cy="925884"/>
          </a:xfrm>
          <a:prstGeom prst="curvedConnector2">
            <a:avLst/>
          </a:prstGeom>
          <a:ln w="12700">
            <a:solidFill>
              <a:schemeClr val="tx1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43F5070-A981-328E-D4D5-DFF7E3A136A8}"/>
              </a:ext>
            </a:extLst>
          </p:cNvPr>
          <p:cNvSpPr txBox="1"/>
          <p:nvPr/>
        </p:nvSpPr>
        <p:spPr>
          <a:xfrm>
            <a:off x="10079663" y="2807321"/>
            <a:ext cx="4972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6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?</a:t>
            </a:r>
            <a:endParaRPr lang="zh-CN" altLang="en-US" sz="6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42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427103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实现方案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源码跟踪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自定义</a:t>
            </a:r>
            <a:r>
              <a:rPr lang="en-US" altLang="zh-CN" sz="1600"/>
              <a:t>starter</a:t>
            </a:r>
            <a:endParaRPr lang="zh-CN" altLang="en-US" sz="160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27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自动配置实现方案</a:t>
            </a:r>
          </a:p>
        </p:txBody>
      </p:sp>
      <p:pic>
        <p:nvPicPr>
          <p:cNvPr id="2" name="!!图片 1">
            <a:extLst>
              <a:ext uri="{FF2B5EF4-FFF2-40B4-BE49-F238E27FC236}">
                <a16:creationId xmlns:a16="http://schemas.microsoft.com/office/drawing/2014/main" id="{9FF387C4-7E45-E161-E2D9-54029C94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274" y="2774339"/>
            <a:ext cx="2593358" cy="2371704"/>
          </a:xfrm>
          <a:prstGeom prst="roundRect">
            <a:avLst>
              <a:gd name="adj" fmla="val 186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A9E45AA-2125-DA52-B407-1EA3D7987495}"/>
              </a:ext>
            </a:extLst>
          </p:cNvPr>
          <p:cNvCxnSpPr>
            <a:cxnSpLocks/>
          </p:cNvCxnSpPr>
          <p:nvPr/>
        </p:nvCxnSpPr>
        <p:spPr>
          <a:xfrm>
            <a:off x="4061701" y="3960191"/>
            <a:ext cx="2948698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!!图片 5">
            <a:extLst>
              <a:ext uri="{FF2B5EF4-FFF2-40B4-BE49-F238E27FC236}">
                <a16:creationId xmlns:a16="http://schemas.microsoft.com/office/drawing/2014/main" id="{85BB9A97-99D8-204F-A664-6D628AE9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187" y="2596751"/>
            <a:ext cx="3423286" cy="2741874"/>
          </a:xfrm>
          <a:prstGeom prst="roundRect">
            <a:avLst>
              <a:gd name="adj" fmla="val 228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7564D444-50A9-D571-7D97-EDCF1892A941}"/>
              </a:ext>
            </a:extLst>
          </p:cNvPr>
          <p:cNvSpPr/>
          <p:nvPr/>
        </p:nvSpPr>
        <p:spPr>
          <a:xfrm>
            <a:off x="9241109" y="4968455"/>
            <a:ext cx="1392222" cy="517189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itheima-utils</a:t>
            </a:r>
            <a:endParaRPr lang="zh-CN" altLang="en-US" sz="11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CD36322-E5DB-B03F-960D-53B396207101}"/>
              </a:ext>
            </a:extLst>
          </p:cNvPr>
          <p:cNvGrpSpPr/>
          <p:nvPr/>
        </p:nvGrpSpPr>
        <p:grpSpPr>
          <a:xfrm>
            <a:off x="2107407" y="2394202"/>
            <a:ext cx="951091" cy="273687"/>
            <a:chOff x="-11580" y="1901765"/>
            <a:chExt cx="951091" cy="273687"/>
          </a:xfrm>
        </p:grpSpPr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16533332-224F-A591-6D4B-2570877E1A09}"/>
                </a:ext>
              </a:extLst>
            </p:cNvPr>
            <p:cNvSpPr/>
            <p:nvPr/>
          </p:nvSpPr>
          <p:spPr>
            <a:xfrm rot="5400000">
              <a:off x="327122" y="1563063"/>
              <a:ext cx="273687" cy="951091"/>
            </a:xfrm>
            <a:prstGeom prst="round2SameRect">
              <a:avLst>
                <a:gd name="adj1" fmla="val 16667"/>
                <a:gd name="adj2" fmla="val 2031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F6775B4-2766-03AE-5CF1-1557338BE0B6}"/>
                </a:ext>
              </a:extLst>
            </p:cNvPr>
            <p:cNvSpPr txBox="1"/>
            <p:nvPr/>
          </p:nvSpPr>
          <p:spPr>
            <a:xfrm>
              <a:off x="-5148" y="1915572"/>
              <a:ext cx="94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bg1"/>
                  </a:solidFill>
                </a:rPr>
                <a:t>第三方工具包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8FF74B0-2B6F-3EFE-AB64-78888E42FFA2}"/>
              </a:ext>
            </a:extLst>
          </p:cNvPr>
          <p:cNvGrpSpPr/>
          <p:nvPr/>
        </p:nvGrpSpPr>
        <p:grpSpPr>
          <a:xfrm>
            <a:off x="8180955" y="2136172"/>
            <a:ext cx="1299749" cy="313560"/>
            <a:chOff x="-11580" y="1901765"/>
            <a:chExt cx="1299749" cy="313560"/>
          </a:xfrm>
        </p:grpSpPr>
        <p:sp>
          <p:nvSpPr>
            <p:cNvPr id="11" name="矩形: 圆顶角 10">
              <a:extLst>
                <a:ext uri="{FF2B5EF4-FFF2-40B4-BE49-F238E27FC236}">
                  <a16:creationId xmlns:a16="http://schemas.microsoft.com/office/drawing/2014/main" id="{D9B013BB-05F7-89FB-5F2C-1238764C7FC6}"/>
                </a:ext>
              </a:extLst>
            </p:cNvPr>
            <p:cNvSpPr/>
            <p:nvPr/>
          </p:nvSpPr>
          <p:spPr>
            <a:xfrm rot="5400000">
              <a:off x="481515" y="1408670"/>
              <a:ext cx="313560" cy="1299749"/>
            </a:xfrm>
            <a:prstGeom prst="round2SameRect">
              <a:avLst>
                <a:gd name="adj1" fmla="val 16667"/>
                <a:gd name="adj2" fmla="val 17037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70ABC18-6931-4640-C14B-E85055FD5BD2}"/>
                </a:ext>
              </a:extLst>
            </p:cNvPr>
            <p:cNvSpPr txBox="1"/>
            <p:nvPr/>
          </p:nvSpPr>
          <p:spPr>
            <a:xfrm>
              <a:off x="232932" y="1935433"/>
              <a:ext cx="8156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bg1"/>
                  </a:solidFill>
                </a:rPr>
                <a:t>我们的项目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40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7C1DA0EB-7DF0-0082-577A-06E0BB8C1A45}"/>
              </a:ext>
            </a:extLst>
          </p:cNvPr>
          <p:cNvGrpSpPr/>
          <p:nvPr/>
        </p:nvGrpSpPr>
        <p:grpSpPr>
          <a:xfrm>
            <a:off x="5057002" y="4634266"/>
            <a:ext cx="6545717" cy="1648615"/>
            <a:chOff x="2297722" y="3660322"/>
            <a:chExt cx="7212166" cy="164871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2C00C54-001B-FB74-0325-35B39BFE759D}"/>
                </a:ext>
              </a:extLst>
            </p:cNvPr>
            <p:cNvSpPr/>
            <p:nvPr/>
          </p:nvSpPr>
          <p:spPr>
            <a:xfrm>
              <a:off x="2297726" y="3660325"/>
              <a:ext cx="7212162" cy="1648708"/>
            </a:xfrm>
            <a:prstGeom prst="roundRect">
              <a:avLst>
                <a:gd name="adj" fmla="val 51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  <a:t>@ComponentScan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({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cs typeface="Courier New" panose="02070309020205020404" pitchFamily="49" charset="0"/>
                </a:rPr>
                <a:t>"com.example"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,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cs typeface="Courier New" panose="02070309020205020404" pitchFamily="49" charset="0"/>
                </a:rPr>
                <a:t>"com.itheima"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})</a:t>
              </a:r>
              <a:b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  <a:t>@SpringBootApplication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cs typeface="Courier New" panose="020703090202050204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cs typeface="Courier New" panose="02070309020205020404" pitchFamily="49" charset="0"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cs typeface="Courier New" panose="02070309020205020404" pitchFamily="49" charset="0"/>
                </a:rPr>
                <a:t>SpringbootWebConfigApplication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cs typeface="Courier New" panose="02070309020205020404" pitchFamily="49" charset="0"/>
                </a:rPr>
                <a:t>{</a:t>
              </a:r>
              <a:endParaRPr kumimoji="0" lang="en-US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endParaRP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100">
                  <a:solidFill>
                    <a:srgbClr val="080808"/>
                  </a:solidFill>
                  <a:ea typeface="Fira Code" panose="020B0809050000020004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a typeface="Fira Code" panose="020B0809050000020004" pitchFamily="49" charset="0"/>
                  <a:cs typeface="Courier New" panose="02070309020205020404" pitchFamily="49" charset="0"/>
                </a:rPr>
                <a:t>//...</a:t>
              </a: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100">
                  <a:solidFill>
                    <a:srgbClr val="080808"/>
                  </a:solidFill>
                  <a:ea typeface="Fira Code" panose="020B0809050000020004" pitchFamily="49" charset="0"/>
                  <a:cs typeface="Courier New" panose="02070309020205020404" pitchFamily="49" charset="0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矩形: 圆顶角 24">
              <a:extLst>
                <a:ext uri="{FF2B5EF4-FFF2-40B4-BE49-F238E27FC236}">
                  <a16:creationId xmlns:a16="http://schemas.microsoft.com/office/drawing/2014/main" id="{6BDA374B-FF87-1692-342E-01F20B22EC3B}"/>
                </a:ext>
              </a:extLst>
            </p:cNvPr>
            <p:cNvSpPr/>
            <p:nvPr/>
          </p:nvSpPr>
          <p:spPr>
            <a:xfrm>
              <a:off x="2297722" y="3660322"/>
              <a:ext cx="7212162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BB6CCDAA-DA87-B9A0-A3C0-1E449E363EE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B0A48BA-61A0-A6EB-5404-709A80924E6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53062EF-2A76-2170-9A84-7C39BD7ACCF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自动配置实现方案一</a:t>
            </a:r>
          </a:p>
        </p:txBody>
      </p:sp>
      <p:pic>
        <p:nvPicPr>
          <p:cNvPr id="2" name="!!图片 1">
            <a:extLst>
              <a:ext uri="{FF2B5EF4-FFF2-40B4-BE49-F238E27FC236}">
                <a16:creationId xmlns:a16="http://schemas.microsoft.com/office/drawing/2014/main" id="{9FF387C4-7E45-E161-E2D9-54029C94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33" y="1011573"/>
            <a:ext cx="2843214" cy="2600205"/>
          </a:xfrm>
          <a:prstGeom prst="roundRect">
            <a:avLst>
              <a:gd name="adj" fmla="val 186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6" name="!!图片 5">
            <a:extLst>
              <a:ext uri="{FF2B5EF4-FFF2-40B4-BE49-F238E27FC236}">
                <a16:creationId xmlns:a16="http://schemas.microsoft.com/office/drawing/2014/main" id="{85BB9A97-99D8-204F-A664-6D628AE9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33" y="4128808"/>
            <a:ext cx="2961116" cy="2371700"/>
          </a:xfrm>
          <a:prstGeom prst="roundRect">
            <a:avLst>
              <a:gd name="adj" fmla="val 228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7564D444-50A9-D571-7D97-EDCF1892A941}"/>
              </a:ext>
            </a:extLst>
          </p:cNvPr>
          <p:cNvSpPr/>
          <p:nvPr/>
        </p:nvSpPr>
        <p:spPr>
          <a:xfrm>
            <a:off x="3375663" y="6234787"/>
            <a:ext cx="1200328" cy="43251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itheima-utils</a:t>
            </a:r>
            <a:endParaRPr lang="zh-CN" altLang="en-US" sz="11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F2D8B2E-B306-7B41-7115-8B7FBD4A6638}"/>
              </a:ext>
            </a:extLst>
          </p:cNvPr>
          <p:cNvGrpSpPr/>
          <p:nvPr/>
        </p:nvGrpSpPr>
        <p:grpSpPr>
          <a:xfrm>
            <a:off x="5057002" y="1355644"/>
            <a:ext cx="6545712" cy="1871711"/>
            <a:chOff x="2297722" y="3660322"/>
            <a:chExt cx="7212161" cy="187182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7FAC557-0FE2-00B2-30C7-6174E2CAA976}"/>
                </a:ext>
              </a:extLst>
            </p:cNvPr>
            <p:cNvSpPr/>
            <p:nvPr/>
          </p:nvSpPr>
          <p:spPr>
            <a:xfrm>
              <a:off x="2297726" y="3660325"/>
              <a:ext cx="7212157" cy="1871817"/>
            </a:xfrm>
            <a:prstGeom prst="roundRect">
              <a:avLst>
                <a:gd name="adj" fmla="val 418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@Component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TokenParser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parse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"TokenParser ... parse ..."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4BBB12C4-56C1-340B-8D99-3C140242A46F}"/>
                </a:ext>
              </a:extLst>
            </p:cNvPr>
            <p:cNvSpPr/>
            <p:nvPr/>
          </p:nvSpPr>
          <p:spPr>
            <a:xfrm>
              <a:off x="2297722" y="3660322"/>
              <a:ext cx="721215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8A818EA-C67F-20C0-3BED-80854D70548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F790811-0199-E6EE-0CEB-6A144CB74D7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F7406B8-4758-31E5-5117-63BFA861D44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A5D5EA1-072E-90CB-2F52-62183042686A}"/>
              </a:ext>
            </a:extLst>
          </p:cNvPr>
          <p:cNvCxnSpPr>
            <a:cxnSpLocks/>
          </p:cNvCxnSpPr>
          <p:nvPr/>
        </p:nvCxnSpPr>
        <p:spPr>
          <a:xfrm>
            <a:off x="0" y="3866340"/>
            <a:ext cx="1219200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35C5D0F8-0F6F-6D2E-93C3-3C3496D5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C0F864E-8BBF-1DD2-BFCB-225DA80E81E9}"/>
              </a:ext>
            </a:extLst>
          </p:cNvPr>
          <p:cNvSpPr/>
          <p:nvPr/>
        </p:nvSpPr>
        <p:spPr>
          <a:xfrm>
            <a:off x="8751489" y="4958090"/>
            <a:ext cx="2851231" cy="270174"/>
          </a:xfrm>
          <a:prstGeom prst="roundRect">
            <a:avLst>
              <a:gd name="adj" fmla="val 4308"/>
            </a:avLst>
          </a:prstGeom>
          <a:solidFill>
            <a:srgbClr val="F6F6F6"/>
          </a:solidFill>
          <a:ln w="63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rtlCol="0" anchor="ctr"/>
          <a:lstStyle/>
          <a:p>
            <a:pPr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"com.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ea typeface="Fira Code" panose="020B0809050000020004" pitchFamily="49" charset="0"/>
                <a:cs typeface="Courier New" panose="02070309020205020404" pitchFamily="49" charset="0"/>
              </a:rPr>
              <a:t>alibaba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,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"com.</a:t>
            </a:r>
            <a:r>
              <a:rPr kumimoji="0" lang="en-US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ea typeface="Fira Code" panose="020B0809050000020004" pitchFamily="49" charset="0"/>
                <a:cs typeface="Courier New" panose="02070309020205020404" pitchFamily="49" charset="0"/>
              </a:rPr>
              <a:t>google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,</a:t>
            </a:r>
            <a:r>
              <a:rPr lang="en-US" altLang="zh-CN" sz="1100">
                <a:solidFill>
                  <a:srgbClr val="080808"/>
                </a:solidFill>
                <a:ea typeface="Fira Code" panose="020B08090500000200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cs typeface="Courier New" panose="02070309020205020404" pitchFamily="49" charset="0"/>
              </a:rPr>
              <a:t>})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6DDD07D-C6AE-0F1D-9F31-9E7B561AE8DA}"/>
              </a:ext>
            </a:extLst>
          </p:cNvPr>
          <p:cNvGrpSpPr/>
          <p:nvPr/>
        </p:nvGrpSpPr>
        <p:grpSpPr>
          <a:xfrm>
            <a:off x="-11580" y="1901765"/>
            <a:ext cx="1299749" cy="581462"/>
            <a:chOff x="-11580" y="1901765"/>
            <a:chExt cx="1299749" cy="581462"/>
          </a:xfrm>
        </p:grpSpPr>
        <p:sp>
          <p:nvSpPr>
            <p:cNvPr id="34" name="矩形: 圆顶角 33">
              <a:extLst>
                <a:ext uri="{FF2B5EF4-FFF2-40B4-BE49-F238E27FC236}">
                  <a16:creationId xmlns:a16="http://schemas.microsoft.com/office/drawing/2014/main" id="{0684451F-3FFE-667D-A413-FADF3099C988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07C7A42-2373-D5F9-D551-033798AA56E6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第三方工具包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E3766DE-BB5D-BA72-621D-277B7AFD71BC}"/>
              </a:ext>
            </a:extLst>
          </p:cNvPr>
          <p:cNvGrpSpPr/>
          <p:nvPr/>
        </p:nvGrpSpPr>
        <p:grpSpPr>
          <a:xfrm>
            <a:off x="0" y="4753756"/>
            <a:ext cx="1299749" cy="581462"/>
            <a:chOff x="-11580" y="1901765"/>
            <a:chExt cx="1299749" cy="581462"/>
          </a:xfrm>
        </p:grpSpPr>
        <p:sp>
          <p:nvSpPr>
            <p:cNvPr id="38" name="矩形: 圆顶角 37">
              <a:extLst>
                <a:ext uri="{FF2B5EF4-FFF2-40B4-BE49-F238E27FC236}">
                  <a16:creationId xmlns:a16="http://schemas.microsoft.com/office/drawing/2014/main" id="{FF0C4855-9779-465A-A322-A909753AC221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3BEFF26-82E8-808A-EF88-0C805421919C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我们的项目</a:t>
              </a:r>
            </a:p>
          </p:txBody>
        </p:sp>
      </p:grpSp>
      <p:pic>
        <p:nvPicPr>
          <p:cNvPr id="41" name="图片 40">
            <a:extLst>
              <a:ext uri="{FF2B5EF4-FFF2-40B4-BE49-F238E27FC236}">
                <a16:creationId xmlns:a16="http://schemas.microsoft.com/office/drawing/2014/main" id="{8D405DFF-8891-E4B3-03A0-408AFF3FB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63" y="4962134"/>
            <a:ext cx="3899607" cy="26804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CC16F5-A866-42FC-F303-78E4896D2295}"/>
              </a:ext>
            </a:extLst>
          </p:cNvPr>
          <p:cNvSpPr txBox="1"/>
          <p:nvPr/>
        </p:nvSpPr>
        <p:spPr>
          <a:xfrm>
            <a:off x="9940726" y="563221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性能低</a:t>
            </a:r>
            <a:endParaRPr lang="zh-CN" altLang="en-US" sz="24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A3439A-9F72-4690-D27B-7361125B8CC4}"/>
              </a:ext>
            </a:extLst>
          </p:cNvPr>
          <p:cNvSpPr txBox="1"/>
          <p:nvPr/>
        </p:nvSpPr>
        <p:spPr>
          <a:xfrm>
            <a:off x="9883438" y="522826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zh-CN" altLang="en-US" sz="2400"/>
              <a:t>使用繁琐</a:t>
            </a:r>
            <a:endParaRPr lang="zh-CN" altLang="en-US" sz="2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46451B8-29B4-FE44-9DC4-9547AA079B26}"/>
              </a:ext>
            </a:extLst>
          </p:cNvPr>
          <p:cNvSpPr/>
          <p:nvPr/>
        </p:nvSpPr>
        <p:spPr>
          <a:xfrm>
            <a:off x="5057003" y="4968250"/>
            <a:ext cx="6542448" cy="251870"/>
          </a:xfrm>
          <a:prstGeom prst="rect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562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5" grpId="0"/>
      <p:bldP spid="16" grpId="0"/>
      <p:bldP spid="4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6A5E-A7B1-E89B-E7C3-237B5614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CCFB9F7-4C8F-45FA-CE37-A346F56F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自动配置实现方案二</a:t>
            </a:r>
          </a:p>
        </p:txBody>
      </p:sp>
      <p:pic>
        <p:nvPicPr>
          <p:cNvPr id="2" name="!!图片 1">
            <a:extLst>
              <a:ext uri="{FF2B5EF4-FFF2-40B4-BE49-F238E27FC236}">
                <a16:creationId xmlns:a16="http://schemas.microsoft.com/office/drawing/2014/main" id="{3B0B6EB7-83B8-E6E8-DD97-F2CB302A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33" y="1011573"/>
            <a:ext cx="2843214" cy="2600205"/>
          </a:xfrm>
          <a:prstGeom prst="roundRect">
            <a:avLst>
              <a:gd name="adj" fmla="val 186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pic>
        <p:nvPicPr>
          <p:cNvPr id="6" name="!!图片 5">
            <a:extLst>
              <a:ext uri="{FF2B5EF4-FFF2-40B4-BE49-F238E27FC236}">
                <a16:creationId xmlns:a16="http://schemas.microsoft.com/office/drawing/2014/main" id="{0667585E-346C-1F14-E873-C560E00F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33" y="3956454"/>
            <a:ext cx="2843214" cy="2371700"/>
          </a:xfrm>
          <a:prstGeom prst="roundRect">
            <a:avLst>
              <a:gd name="adj" fmla="val 228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269A5800-27B1-9C92-0102-10890D0DB940}"/>
              </a:ext>
            </a:extLst>
          </p:cNvPr>
          <p:cNvSpPr/>
          <p:nvPr/>
        </p:nvSpPr>
        <p:spPr>
          <a:xfrm>
            <a:off x="3156084" y="5984303"/>
            <a:ext cx="1200328" cy="43251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itheima-utils</a:t>
            </a:r>
            <a:endParaRPr lang="zh-CN" altLang="en-US" sz="1100">
              <a:solidFill>
                <a:schemeClr val="tx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6BACA2C-D952-FFD4-4663-D57CAAAE8C65}"/>
              </a:ext>
            </a:extLst>
          </p:cNvPr>
          <p:cNvGrpSpPr/>
          <p:nvPr/>
        </p:nvGrpSpPr>
        <p:grpSpPr>
          <a:xfrm>
            <a:off x="4418450" y="1010281"/>
            <a:ext cx="3554416" cy="1456078"/>
            <a:chOff x="2297723" y="3660322"/>
            <a:chExt cx="3916307" cy="145616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3F4D4CA-CF54-427B-6E91-08BF691DEDBA}"/>
                </a:ext>
              </a:extLst>
            </p:cNvPr>
            <p:cNvSpPr/>
            <p:nvPr/>
          </p:nvSpPr>
          <p:spPr>
            <a:xfrm>
              <a:off x="2297730" y="3660326"/>
              <a:ext cx="3916300" cy="1456159"/>
            </a:xfrm>
            <a:prstGeom prst="roundRect">
              <a:avLst>
                <a:gd name="adj" fmla="val 50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TokenParser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void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parse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System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kumimoji="0" lang="zh-CN" altLang="zh-CN" sz="9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  <a:latin typeface="Fira Code" panose="020B0809050000020004" pitchFamily="49" charset="0"/>
                </a:rPr>
                <a:t>out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.println(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p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arse ... "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36FAD56E-2D65-3DCB-AA88-5D285FF10B58}"/>
                </a:ext>
              </a:extLst>
            </p:cNvPr>
            <p:cNvSpPr/>
            <p:nvPr/>
          </p:nvSpPr>
          <p:spPr>
            <a:xfrm>
              <a:off x="2297723" y="3660322"/>
              <a:ext cx="391630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19D4F4D-B3EE-5947-A1AC-71F76D0227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D982175-12C6-8175-5712-D0B9F07FA99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2BD2C95-176F-A4A8-F128-B4A4162137C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445067C-6157-89A1-D128-3A4D9206EA12}"/>
              </a:ext>
            </a:extLst>
          </p:cNvPr>
          <p:cNvCxnSpPr>
            <a:cxnSpLocks/>
          </p:cNvCxnSpPr>
          <p:nvPr/>
        </p:nvCxnSpPr>
        <p:spPr>
          <a:xfrm>
            <a:off x="0" y="3683460"/>
            <a:ext cx="12192000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3D56A13-F14E-7AB3-9AAB-2FCC4AC5CB40}"/>
              </a:ext>
            </a:extLst>
          </p:cNvPr>
          <p:cNvGrpSpPr/>
          <p:nvPr/>
        </p:nvGrpSpPr>
        <p:grpSpPr>
          <a:xfrm>
            <a:off x="-11580" y="1901765"/>
            <a:ext cx="1299749" cy="581462"/>
            <a:chOff x="-11580" y="1901765"/>
            <a:chExt cx="1299749" cy="581462"/>
          </a:xfrm>
        </p:grpSpPr>
        <p:sp>
          <p:nvSpPr>
            <p:cNvPr id="34" name="矩形: 圆顶角 33">
              <a:extLst>
                <a:ext uri="{FF2B5EF4-FFF2-40B4-BE49-F238E27FC236}">
                  <a16:creationId xmlns:a16="http://schemas.microsoft.com/office/drawing/2014/main" id="{894007C0-D26C-2145-DDBF-3BD62798D73C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443FDF2-9E90-91A7-6B28-2CCD3B32DCB3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第三方工具包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E2F9395-5A68-8659-286F-04F140A6BA55}"/>
              </a:ext>
            </a:extLst>
          </p:cNvPr>
          <p:cNvGrpSpPr/>
          <p:nvPr/>
        </p:nvGrpSpPr>
        <p:grpSpPr>
          <a:xfrm>
            <a:off x="0" y="4753756"/>
            <a:ext cx="1299749" cy="581462"/>
            <a:chOff x="-11580" y="1901765"/>
            <a:chExt cx="1299749" cy="581462"/>
          </a:xfrm>
        </p:grpSpPr>
        <p:sp>
          <p:nvSpPr>
            <p:cNvPr id="38" name="矩形: 圆顶角 37">
              <a:extLst>
                <a:ext uri="{FF2B5EF4-FFF2-40B4-BE49-F238E27FC236}">
                  <a16:creationId xmlns:a16="http://schemas.microsoft.com/office/drawing/2014/main" id="{7EB12DD7-24DD-4C9E-35F9-18564F6FFA08}"/>
                </a:ext>
              </a:extLst>
            </p:cNvPr>
            <p:cNvSpPr/>
            <p:nvPr/>
          </p:nvSpPr>
          <p:spPr>
            <a:xfrm rot="5400000">
              <a:off x="347564" y="1542621"/>
              <a:ext cx="581462" cy="1299749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3F72AD2-52EF-02F6-7B80-700532518E2F}"/>
                </a:ext>
              </a:extLst>
            </p:cNvPr>
            <p:cNvSpPr txBox="1"/>
            <p:nvPr/>
          </p:nvSpPr>
          <p:spPr>
            <a:xfrm>
              <a:off x="6283" y="2038606"/>
              <a:ext cx="1264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bg1"/>
                  </a:solidFill>
                </a:rPr>
                <a:t>我们的项目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9971E6-FB05-5B0E-DA71-5E72451ED1FB}"/>
              </a:ext>
            </a:extLst>
          </p:cNvPr>
          <p:cNvGrpSpPr/>
          <p:nvPr/>
        </p:nvGrpSpPr>
        <p:grpSpPr>
          <a:xfrm>
            <a:off x="8085480" y="1001838"/>
            <a:ext cx="3710491" cy="2525132"/>
            <a:chOff x="2297723" y="3660322"/>
            <a:chExt cx="4088273" cy="25252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0817FB9-E056-1CAB-074D-8B7FBE9B3635}"/>
                </a:ext>
              </a:extLst>
            </p:cNvPr>
            <p:cNvSpPr/>
            <p:nvPr/>
          </p:nvSpPr>
          <p:spPr>
            <a:xfrm>
              <a:off x="2297730" y="3660325"/>
              <a:ext cx="4088266" cy="2525277"/>
            </a:xfrm>
            <a:prstGeom prst="roundRect">
              <a:avLst>
                <a:gd name="adj" fmla="val 321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@Configuration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class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HeaderConfig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@Bean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HeaderParser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headerParser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new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HeaderParser();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@Bean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HeaderGenerator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headerGenerator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(){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new </a:t>
              </a: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HeaderGenerator();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}</a:t>
              </a:r>
              <a:b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kumimoji="0" lang="zh-CN" altLang="zh-CN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14806C09-2EC1-A4CC-E7BB-0031015FED9F}"/>
                </a:ext>
              </a:extLst>
            </p:cNvPr>
            <p:cNvSpPr/>
            <p:nvPr/>
          </p:nvSpPr>
          <p:spPr>
            <a:xfrm>
              <a:off x="2297723" y="3660322"/>
              <a:ext cx="408826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58D9B5C-1CA0-5EA2-6760-34C63ECD283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1C82776-82E0-8B74-C1AF-B83135390D7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4277F35-F7A8-E22C-CB72-76950C81D96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EE5E535-53D0-4583-8B6C-7DB7CC7A1682}"/>
              </a:ext>
            </a:extLst>
          </p:cNvPr>
          <p:cNvGrpSpPr/>
          <p:nvPr/>
        </p:nvGrpSpPr>
        <p:grpSpPr>
          <a:xfrm>
            <a:off x="4795099" y="5284417"/>
            <a:ext cx="5296587" cy="1499193"/>
            <a:chOff x="2297722" y="3660322"/>
            <a:chExt cx="5835857" cy="1499281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B0B9C721-9934-D18C-DFC6-52801BA6E716}"/>
                </a:ext>
              </a:extLst>
            </p:cNvPr>
            <p:cNvSpPr/>
            <p:nvPr/>
          </p:nvSpPr>
          <p:spPr>
            <a:xfrm>
              <a:off x="2297726" y="3660325"/>
              <a:ext cx="5835853" cy="1499278"/>
            </a:xfrm>
            <a:prstGeom prst="roundRect">
              <a:avLst>
                <a:gd name="adj" fmla="val 51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0" bIns="0" rtlCol="0" anchor="t"/>
            <a:lstStyle/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@Import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({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TokenParser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.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class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</a:t>
              </a:r>
              <a:r>
                <a:rPr kumimoji="0" lang="en-US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HeaderConfig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.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class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})</a:t>
              </a:r>
              <a:br>
                <a:rPr kumimoji="0" lang="zh-CN" altLang="zh-CN" sz="1000" b="0" i="1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@SpringBootApplication</a:t>
              </a:r>
              <a:b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</a:b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public class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SpringbootWebConfig2Application </a:t>
              </a: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  <a:latin typeface="Fira Code" panose="020B0809050000020004" pitchFamily="49" charset="0"/>
                  <a:cs typeface="Courier New" panose="02070309020205020404" pitchFamily="49" charset="0"/>
                </a:rPr>
                <a:t>{</a:t>
              </a:r>
              <a:endParaRPr kumimoji="0" lang="en-US" altLang="zh-CN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endParaRP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Courier New" panose="02070309020205020404" pitchFamily="49" charset="0"/>
                </a:rPr>
                <a:t>  </a:t>
              </a:r>
              <a:r>
                <a:rPr lang="en-US" altLang="zh-CN" sz="10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Courier New" panose="02070309020205020404" pitchFamily="49" charset="0"/>
                </a:rPr>
                <a:t>//...</a:t>
              </a:r>
            </a:p>
            <a:p>
              <a:pPr eaLnBrk="0" fontAlgn="base" hangingPunct="0">
                <a:lnSpc>
                  <a:spcPct val="150000"/>
                </a:lnSpc>
                <a:spcAft>
                  <a:spcPct val="0"/>
                </a:spcAft>
              </a:pP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Courier New" panose="02070309020205020404" pitchFamily="49" charset="0"/>
                </a:rPr>
                <a:t>}</a:t>
              </a:r>
              <a:endPara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32" name="矩形: 圆顶角 31">
              <a:extLst>
                <a:ext uri="{FF2B5EF4-FFF2-40B4-BE49-F238E27FC236}">
                  <a16:creationId xmlns:a16="http://schemas.microsoft.com/office/drawing/2014/main" id="{741AAB47-2A5E-B533-3895-03EF8251DB7C}"/>
                </a:ext>
              </a:extLst>
            </p:cNvPr>
            <p:cNvSpPr/>
            <p:nvPr/>
          </p:nvSpPr>
          <p:spPr>
            <a:xfrm>
              <a:off x="2297722" y="3660322"/>
              <a:ext cx="583585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07729F4B-E2BC-7A87-001B-0560A799216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0401FF30-31D7-D65F-FEA8-64CF577F90C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5ABE7EE-24B6-932F-7728-35F47580E31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>
            <a:extLst>
              <a:ext uri="{FF2B5EF4-FFF2-40B4-BE49-F238E27FC236}">
                <a16:creationId xmlns:a16="http://schemas.microsoft.com/office/drawing/2014/main" id="{532D356E-7F89-BC12-9CFE-12BA0E84EA22}"/>
              </a:ext>
            </a:extLst>
          </p:cNvPr>
          <p:cNvSpPr/>
          <p:nvPr/>
        </p:nvSpPr>
        <p:spPr>
          <a:xfrm>
            <a:off x="4795099" y="5580699"/>
            <a:ext cx="5296583" cy="270174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内容占位符 3">
            <a:extLst>
              <a:ext uri="{FF2B5EF4-FFF2-40B4-BE49-F238E27FC236}">
                <a16:creationId xmlns:a16="http://schemas.microsoft.com/office/drawing/2014/main" id="{5BBBEBA7-038C-A789-3DE1-CA434FFCF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5249" y="3737595"/>
            <a:ext cx="7766751" cy="14991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@Import</a:t>
            </a:r>
            <a:r>
              <a:rPr lang="zh-CN" altLang="en-US" sz="1400">
                <a:latin typeface="Fira Code" panose="020B0809050000020004" pitchFamily="49" charset="0"/>
              </a:rPr>
              <a:t>导入。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@Import</a:t>
            </a:r>
            <a:r>
              <a:rPr lang="zh-CN" altLang="en-US" sz="1400">
                <a:latin typeface="Fira Code" panose="020B0809050000020004" pitchFamily="49" charset="0"/>
              </a:rPr>
              <a:t>导入的类会被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Spring</a:t>
            </a:r>
            <a:r>
              <a:rPr lang="zh-CN" altLang="en-US" sz="1400">
                <a:latin typeface="Fira Code" panose="020B0809050000020004" pitchFamily="49" charset="0"/>
              </a:rPr>
              <a:t>加载到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IOC</a:t>
            </a:r>
            <a:r>
              <a:rPr lang="zh-CN" altLang="en-US" sz="1400">
                <a:latin typeface="Fira Code" panose="020B0809050000020004" pitchFamily="49" charset="0"/>
              </a:rPr>
              <a:t>容器中，</a:t>
            </a:r>
            <a:r>
              <a:rPr lang="zh-CN" altLang="en-US" sz="1400" b="0" i="0">
                <a:effectLst/>
                <a:latin typeface="Fira Code" panose="020B0809050000020004" pitchFamily="49" charset="0"/>
              </a:rPr>
              <a:t>导入形式主要有以下几种</a:t>
            </a:r>
            <a:r>
              <a:rPr lang="zh-CN" altLang="en-US" sz="1400">
                <a:latin typeface="Fira Code" panose="020B0809050000020004" pitchFamily="49" charset="0"/>
              </a:rPr>
              <a:t>：</a:t>
            </a:r>
            <a:endParaRPr lang="en-US" altLang="zh-CN" sz="12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普通类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配置类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 </a:t>
            </a: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ImportSelector </a:t>
            </a: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接口实现类</a:t>
            </a:r>
            <a:endParaRPr lang="en-US" altLang="zh-CN" sz="12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97150" lvl="1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@EnableXxxx</a:t>
            </a: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注解，封装</a:t>
            </a: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@Import</a:t>
            </a:r>
            <a:r>
              <a:rPr lang="zh-CN" altLang="en-US" sz="12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</a:t>
            </a:r>
            <a:r>
              <a:rPr lang="en-US" altLang="zh-CN" sz="12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A952AC3-92F2-CC13-8042-E10690266E49}"/>
              </a:ext>
            </a:extLst>
          </p:cNvPr>
          <p:cNvSpPr txBox="1"/>
          <p:nvPr/>
        </p:nvSpPr>
        <p:spPr>
          <a:xfrm>
            <a:off x="7942547" y="483888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方便</a:t>
            </a:r>
            <a:endParaRPr lang="zh-CN" altLang="en-US" sz="24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6405F07-BCAC-0E70-791B-2FF2EE05BAC2}"/>
              </a:ext>
            </a:extLst>
          </p:cNvPr>
          <p:cNvSpPr txBox="1"/>
          <p:nvPr/>
        </p:nvSpPr>
        <p:spPr>
          <a:xfrm>
            <a:off x="8731733" y="483888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优雅</a:t>
            </a:r>
            <a:endParaRPr lang="zh-CN" altLang="en-US" sz="24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28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uiExpand="1" build="p"/>
      <p:bldP spid="45" grpId="0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8A01057-3B99-C5A2-B3DE-B938D0981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57488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为什么第三方依赖中使用</a:t>
            </a:r>
            <a:r>
              <a:rPr lang="en-US" altLang="zh-CN"/>
              <a:t>@Component</a:t>
            </a:r>
            <a:r>
              <a:rPr lang="zh-CN" altLang="en-US"/>
              <a:t>及其衍生注解声明</a:t>
            </a:r>
            <a:r>
              <a:rPr lang="en-US" altLang="zh-CN"/>
              <a:t>bean</a:t>
            </a:r>
            <a:r>
              <a:rPr lang="zh-CN" altLang="en-US"/>
              <a:t>不生效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@Component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及其衍生注解声明的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要想生效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,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需要被组件扫描注解扫描到。</a:t>
            </a:r>
            <a:endParaRPr lang="en-US" altLang="zh-CN" sz="20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有哪些方案可以使其生效呢</a:t>
            </a:r>
            <a:r>
              <a:rPr lang="en-US" altLang="zh-CN"/>
              <a:t>?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@ComponentScan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注解扫描指定的包</a:t>
            </a:r>
            <a:endParaRPr lang="en-US" altLang="zh-CN" sz="14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@Import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注解将其导入到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IOC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容器中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四种常见方式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720000"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普通类、配置类、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ImportSelector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</a:t>
            </a:r>
            <a:r>
              <a:rPr lang="zh-CN" altLang="en-US" sz="14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@EnableXxx</a:t>
            </a:r>
          </a:p>
        </p:txBody>
      </p:sp>
    </p:spTree>
    <p:extLst>
      <p:ext uri="{BB962C8B-B14F-4D97-AF65-F5344CB8AC3E}">
        <p14:creationId xmlns:p14="http://schemas.microsoft.com/office/powerpoint/2010/main" val="244638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436068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实现方案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源码跟踪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自定义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starter</a:t>
            </a:r>
            <a:endParaRPr lang="zh-CN" altLang="en-US" sz="16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715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</a:t>
            </a:r>
            <a:r>
              <a:rPr lang="zh-CN" altLang="en-US"/>
              <a:t>源码跟踪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C56299-6F3A-3F21-746A-271D30500F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01"/>
          <a:stretch/>
        </p:blipFill>
        <p:spPr>
          <a:xfrm>
            <a:off x="678798" y="981544"/>
            <a:ext cx="6152308" cy="1546503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ECE786-236B-98CD-7ECF-30BA0C3F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985" y="2689416"/>
            <a:ext cx="8537911" cy="1384748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FC7EE2C-576C-2E75-45E3-746F5E32097F}"/>
              </a:ext>
            </a:extLst>
          </p:cNvPr>
          <p:cNvSpPr/>
          <p:nvPr/>
        </p:nvSpPr>
        <p:spPr>
          <a:xfrm>
            <a:off x="678798" y="1038113"/>
            <a:ext cx="1974756" cy="261770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BDF9B3-D6C3-79F5-F2DD-9656C1998A01}"/>
              </a:ext>
            </a:extLst>
          </p:cNvPr>
          <p:cNvSpPr/>
          <p:nvPr/>
        </p:nvSpPr>
        <p:spPr>
          <a:xfrm>
            <a:off x="2918985" y="2788173"/>
            <a:ext cx="2137110" cy="21634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矩形: 圆角 14">
            <a:extLst>
              <a:ext uri="{FF2B5EF4-FFF2-40B4-BE49-F238E27FC236}">
                <a16:creationId xmlns:a16="http://schemas.microsoft.com/office/drawing/2014/main" id="{F742DF98-61BD-AE9E-A6DD-7BCC90CC8803}"/>
              </a:ext>
            </a:extLst>
          </p:cNvPr>
          <p:cNvSpPr/>
          <p:nvPr/>
        </p:nvSpPr>
        <p:spPr>
          <a:xfrm>
            <a:off x="2918985" y="3019313"/>
            <a:ext cx="2137110" cy="21634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A7320E-8E79-6912-DF8E-AF97D71A0D1C}"/>
              </a:ext>
            </a:extLst>
          </p:cNvPr>
          <p:cNvSpPr/>
          <p:nvPr/>
        </p:nvSpPr>
        <p:spPr>
          <a:xfrm>
            <a:off x="2918985" y="3249486"/>
            <a:ext cx="1219460" cy="21634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7">
            <a:extLst>
              <a:ext uri="{FF2B5EF4-FFF2-40B4-BE49-F238E27FC236}">
                <a16:creationId xmlns:a16="http://schemas.microsoft.com/office/drawing/2014/main" id="{DB1EBEE1-406F-4754-D53C-CDCDAB3AFEF2}"/>
              </a:ext>
            </a:extLst>
          </p:cNvPr>
          <p:cNvSpPr txBox="1">
            <a:spLocks/>
          </p:cNvSpPr>
          <p:nvPr/>
        </p:nvSpPr>
        <p:spPr>
          <a:xfrm>
            <a:off x="655757" y="4935366"/>
            <a:ext cx="10880486" cy="16716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该注解标识在</a:t>
            </a:r>
            <a:r>
              <a:rPr lang="en-US" altLang="zh-CN" sz="1600">
                <a:ea typeface="Fira Code" panose="020B0809050000020004" pitchFamily="49" charset="0"/>
              </a:rPr>
              <a:t>SpringBoot</a:t>
            </a:r>
            <a:r>
              <a:rPr lang="zh-CN" altLang="en-US" sz="1600"/>
              <a:t>工程引导类上，是</a:t>
            </a:r>
            <a:r>
              <a:rPr lang="en-US" altLang="zh-CN" sz="1600">
                <a:ea typeface="Fira Code" panose="020B0809050000020004" pitchFamily="49" charset="0"/>
              </a:rPr>
              <a:t>SpringBoot</a:t>
            </a:r>
            <a:r>
              <a:rPr lang="zh-CN" altLang="en-US" sz="1600"/>
              <a:t>中</a:t>
            </a:r>
            <a:r>
              <a:rPr lang="zh-CN" altLang="en-US" sz="1600" b="1">
                <a:solidFill>
                  <a:srgbClr val="C00000"/>
                </a:solidFill>
              </a:rPr>
              <a:t>最最最</a:t>
            </a:r>
            <a:r>
              <a:rPr lang="zh-CN" altLang="en-US" sz="1600"/>
              <a:t>重要的注解。该注解由三个部分组成：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305100" lvl="1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1.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@SpringBootConfiguration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该注解与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@Configuration 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注解作用相同，用来声明当前也是一个配置类。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05100" lvl="1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2.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@ComponentScan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：组件扫描，默认扫描当前引导类所在包及其子包。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05100" lvl="1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3.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@EnableAutoConfiguration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SpringBoot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实现自动化配置的核心注解。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237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</a:t>
            </a:r>
            <a:r>
              <a:rPr lang="zh-CN" altLang="en-US"/>
              <a:t>源码跟踪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2CDB4AB-C8AB-589F-6399-7EBB82FA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72" y="1165416"/>
            <a:ext cx="7211133" cy="116956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!!矩形: 圆角 14">
            <a:extLst>
              <a:ext uri="{FF2B5EF4-FFF2-40B4-BE49-F238E27FC236}">
                <a16:creationId xmlns:a16="http://schemas.microsoft.com/office/drawing/2014/main" id="{4DA66706-96DF-C8F8-D86A-22ABFC04EF94}"/>
              </a:ext>
            </a:extLst>
          </p:cNvPr>
          <p:cNvSpPr/>
          <p:nvPr/>
        </p:nvSpPr>
        <p:spPr>
          <a:xfrm>
            <a:off x="686772" y="1425388"/>
            <a:ext cx="1886098" cy="233083"/>
          </a:xfrm>
          <a:prstGeom prst="round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398C52-B9FF-15EA-E790-BF9A7E08F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33"/>
          <a:stretch/>
        </p:blipFill>
        <p:spPr>
          <a:xfrm>
            <a:off x="6247840" y="1464429"/>
            <a:ext cx="5075853" cy="703818"/>
          </a:xfrm>
          <a:prstGeom prst="roundRect">
            <a:avLst>
              <a:gd name="adj" fmla="val 2703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FFD1A2-C04D-27B2-E513-1FBB3199F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3" y="3525681"/>
            <a:ext cx="4547282" cy="2353969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BF5A514-3A52-530D-3D35-509925080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564" y="3151098"/>
            <a:ext cx="5611889" cy="2522827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E98A8A1-44CF-D826-3958-9DA1C6EBE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525" y="2444771"/>
            <a:ext cx="3092823" cy="1043828"/>
          </a:xfrm>
          <a:prstGeom prst="roundRect">
            <a:avLst>
              <a:gd name="adj" fmla="val 5951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66158F0-BD7B-2B1F-0B14-3D8C96B076B5}"/>
              </a:ext>
            </a:extLst>
          </p:cNvPr>
          <p:cNvSpPr/>
          <p:nvPr/>
        </p:nvSpPr>
        <p:spPr>
          <a:xfrm>
            <a:off x="6247841" y="1706605"/>
            <a:ext cx="3451412" cy="21086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30B5C2-EC85-6969-0DF3-4EF76E42B0F2}"/>
              </a:ext>
            </a:extLst>
          </p:cNvPr>
          <p:cNvSpPr/>
          <p:nvPr/>
        </p:nvSpPr>
        <p:spPr>
          <a:xfrm>
            <a:off x="686772" y="4433006"/>
            <a:ext cx="4547282" cy="200191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ABFDCD8-F0F3-0746-C9A0-0FDF7A10E52C}"/>
              </a:ext>
            </a:extLst>
          </p:cNvPr>
          <p:cNvSpPr/>
          <p:nvPr/>
        </p:nvSpPr>
        <p:spPr>
          <a:xfrm>
            <a:off x="8905525" y="2658462"/>
            <a:ext cx="3092823" cy="23206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13811BEA-5EC8-AECE-AA35-627A2175FF93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4662873" y="215007"/>
            <a:ext cx="1608216" cy="5013133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4882143-A0DE-C3BA-ED86-447DA10CDDF8}"/>
              </a:ext>
            </a:extLst>
          </p:cNvPr>
          <p:cNvGrpSpPr/>
          <p:nvPr/>
        </p:nvGrpSpPr>
        <p:grpSpPr>
          <a:xfrm>
            <a:off x="688287" y="6301531"/>
            <a:ext cx="10862188" cy="440139"/>
            <a:chOff x="710879" y="5978768"/>
            <a:chExt cx="11000098" cy="448408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E24F8367-94EB-B79F-37A2-6E1D49CD7EEC}"/>
                </a:ext>
              </a:extLst>
            </p:cNvPr>
            <p:cNvSpPr/>
            <p:nvPr/>
          </p:nvSpPr>
          <p:spPr>
            <a:xfrm>
              <a:off x="710879" y="5978769"/>
              <a:ext cx="11000098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在低版本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(2.7.0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以前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)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的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springboot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中，自动配置类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(XxxAutoConfiguration)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是定义在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spring.factories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文件中。</a:t>
              </a: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47911D63-438F-B636-7F1C-815BA46286B5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Shape 2468">
              <a:extLst>
                <a:ext uri="{FF2B5EF4-FFF2-40B4-BE49-F238E27FC236}">
                  <a16:creationId xmlns:a16="http://schemas.microsoft.com/office/drawing/2014/main" id="{FB7A865A-DB6A-B3B7-752E-5F32B7F0CCE7}"/>
                </a:ext>
              </a:extLst>
            </p:cNvPr>
            <p:cNvSpPr/>
            <p:nvPr/>
          </p:nvSpPr>
          <p:spPr>
            <a:xfrm>
              <a:off x="863425" y="6086572"/>
              <a:ext cx="226469" cy="207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0047F4F-B7D4-BA8E-D105-3268BC494454}"/>
                </a:ext>
              </a:extLst>
            </p:cNvPr>
            <p:cNvSpPr txBox="1"/>
            <p:nvPr/>
          </p:nvSpPr>
          <p:spPr>
            <a:xfrm>
              <a:off x="1089895" y="6081842"/>
              <a:ext cx="639709" cy="282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37F87DA3-0DB2-9853-3CFC-00A41FF921BB}"/>
              </a:ext>
            </a:extLst>
          </p:cNvPr>
          <p:cNvSpPr txBox="1"/>
          <p:nvPr/>
        </p:nvSpPr>
        <p:spPr>
          <a:xfrm>
            <a:off x="5828446" y="5705523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zh-CN" altLang="en-US" sz="2400"/>
              <a:t>全部注册为</a:t>
            </a:r>
            <a:r>
              <a:rPr lang="en-US" altLang="zh-CN" sz="2400"/>
              <a:t>IOC</a:t>
            </a:r>
            <a:r>
              <a:rPr lang="zh-CN" altLang="en-US" sz="2400"/>
              <a:t>容器的</a:t>
            </a:r>
            <a:r>
              <a:rPr lang="en-US" altLang="zh-CN" sz="2400"/>
              <a:t>bean ???</a:t>
            </a:r>
            <a:endParaRPr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799B96-96D1-FE61-926D-1B8223856B4D}"/>
              </a:ext>
            </a:extLst>
          </p:cNvPr>
          <p:cNvSpPr txBox="1"/>
          <p:nvPr/>
        </p:nvSpPr>
        <p:spPr>
          <a:xfrm>
            <a:off x="9961303" y="5711157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en-US" altLang="zh-CN" sz="2400"/>
              <a:t>NO!</a:t>
            </a:r>
            <a:endParaRPr lang="zh-CN" altLang="en-US" sz="2400" dirty="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E14C2BF-5B7B-3A2C-CAC6-8C1D25345138}"/>
              </a:ext>
            </a:extLst>
          </p:cNvPr>
          <p:cNvSpPr/>
          <p:nvPr/>
        </p:nvSpPr>
        <p:spPr>
          <a:xfrm>
            <a:off x="3552202" y="2446751"/>
            <a:ext cx="2397742" cy="24943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String[] selectImports(</a:t>
            </a: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)</a:t>
            </a:r>
            <a:endParaRPr kumimoji="0" lang="zh-CN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2" grpId="1" animBg="1"/>
      <p:bldP spid="20" grpId="0"/>
      <p:bldP spid="21" grpId="0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</a:t>
            </a:r>
            <a:r>
              <a:rPr lang="en-US" altLang="zh-CN"/>
              <a:t>-@Conditional</a:t>
            </a:r>
            <a:endParaRPr lang="zh-CN" altLang="en-US"/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B90E09CF-5B16-92EB-20C1-8CFDBF3D341A}"/>
              </a:ext>
            </a:extLst>
          </p:cNvPr>
          <p:cNvSpPr txBox="1">
            <a:spLocks/>
          </p:cNvSpPr>
          <p:nvPr/>
        </p:nvSpPr>
        <p:spPr>
          <a:xfrm>
            <a:off x="576196" y="991599"/>
            <a:ext cx="10698800" cy="26305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作用：按照一定的条件进行判断，在满足给定条件后才会注册对应的</a:t>
            </a:r>
            <a:r>
              <a:rPr lang="en-US" altLang="zh-CN" sz="1600">
                <a:ea typeface="Fira Code" panose="020B0809050000020004" pitchFamily="49" charset="0"/>
              </a:rPr>
              <a:t>bean</a:t>
            </a:r>
            <a:r>
              <a:rPr lang="zh-CN" altLang="en-US" sz="1600"/>
              <a:t>对象到</a:t>
            </a:r>
            <a:r>
              <a:rPr lang="en-US" altLang="zh-CN" sz="1600">
                <a:ea typeface="Fira Code" panose="020B0809050000020004" pitchFamily="49" charset="0"/>
              </a:rPr>
              <a:t>Spring IOC</a:t>
            </a:r>
            <a:r>
              <a:rPr lang="zh-CN" altLang="en-US" sz="1600"/>
              <a:t>容器中。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/>
              <a:t>位置：方法、类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>
                <a:ea typeface="Fira Code" panose="020B0809050000020004" pitchFamily="49" charset="0"/>
              </a:rPr>
              <a:t>@Conditional </a:t>
            </a:r>
            <a:r>
              <a:rPr lang="zh-CN" altLang="en-US" sz="1600"/>
              <a:t>本身是一个父注解，派生出大量的子注解：</a:t>
            </a:r>
            <a:endParaRPr lang="en-US" altLang="zh-CN" sz="1600">
              <a:ea typeface="Fira Code" panose="020B0809050000020004" pitchFamily="49" charset="0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@ConditionalOnClass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：判断环境中是否有对应字节码文件，才注册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@ConditionalOnMissingBean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：判断环境中没有对应的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（类型 或 名称） ，才注册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400">
                <a:solidFill>
                  <a:srgbClr val="B6A542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@ConditionalOnProperty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：判断配置文件中有对应属性和值，才注册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bean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en-US" altLang="zh-CN" sz="1400">
                <a:ea typeface="Fira Code" panose="020B0809050000020004" pitchFamily="49" charset="0"/>
                <a:cs typeface="阿里巴巴普惠体" panose="00020600040101010101" pitchFamily="18" charset="-122"/>
              </a:rPr>
              <a:t>IOC</a:t>
            </a:r>
            <a:r>
              <a:rPr lang="zh-CN" altLang="en-US" sz="14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容器。</a:t>
            </a:r>
            <a:endParaRPr lang="en-US" altLang="zh-CN" sz="1400"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7EC999-1287-2B88-055B-7C7EB902A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7" y="3802938"/>
            <a:ext cx="4841581" cy="1634034"/>
          </a:xfrm>
          <a:prstGeom prst="roundRect">
            <a:avLst>
              <a:gd name="adj" fmla="val 4238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5E499E51-AEFA-3EA3-1B3F-24DCCE851A1D}"/>
              </a:ext>
            </a:extLst>
          </p:cNvPr>
          <p:cNvSpPr/>
          <p:nvPr/>
        </p:nvSpPr>
        <p:spPr>
          <a:xfrm>
            <a:off x="964186" y="4130687"/>
            <a:ext cx="4841581" cy="325893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ED64EC-54B7-8E6B-940C-A52BEB1B96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58" r="14404"/>
          <a:stretch/>
        </p:blipFill>
        <p:spPr>
          <a:xfrm>
            <a:off x="8807023" y="3148872"/>
            <a:ext cx="3293943" cy="3690753"/>
          </a:xfrm>
          <a:prstGeom prst="roundRect">
            <a:avLst>
              <a:gd name="adj" fmla="val 1899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0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自动配置原理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9E6CBE-2417-518E-4C05-627AEE66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72" y="1165416"/>
            <a:ext cx="7211133" cy="116956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5" name="!!矩形: 圆角 14">
            <a:extLst>
              <a:ext uri="{FF2B5EF4-FFF2-40B4-BE49-F238E27FC236}">
                <a16:creationId xmlns:a16="http://schemas.microsoft.com/office/drawing/2014/main" id="{9A7E3B59-5CC4-6B23-4AFE-56B920CD9B80}"/>
              </a:ext>
            </a:extLst>
          </p:cNvPr>
          <p:cNvSpPr/>
          <p:nvPr/>
        </p:nvSpPr>
        <p:spPr>
          <a:xfrm>
            <a:off x="686772" y="1425388"/>
            <a:ext cx="1886098" cy="233083"/>
          </a:xfrm>
          <a:prstGeom prst="roundRect">
            <a:avLst/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D33478-A950-D1B4-A227-FAD50246F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33"/>
          <a:stretch/>
        </p:blipFill>
        <p:spPr>
          <a:xfrm>
            <a:off x="6247840" y="1464429"/>
            <a:ext cx="5075853" cy="703818"/>
          </a:xfrm>
          <a:prstGeom prst="roundRect">
            <a:avLst>
              <a:gd name="adj" fmla="val 2703"/>
            </a:avLst>
          </a:prstGeom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140CAE-73EF-636C-036F-4FB0092F7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3" y="3525681"/>
            <a:ext cx="4547282" cy="2353969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4B1679-5419-0F32-8964-6ECCCAA88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564" y="3151098"/>
            <a:ext cx="5611889" cy="2522827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04A9CEA-0EFE-DF3A-36DA-6DBA4CF10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5525" y="2444771"/>
            <a:ext cx="3092823" cy="1043828"/>
          </a:xfrm>
          <a:prstGeom prst="roundRect">
            <a:avLst>
              <a:gd name="adj" fmla="val 5951"/>
            </a:avLst>
          </a:prstGeom>
          <a:ln>
            <a:solidFill>
              <a:schemeClr val="bg1">
                <a:lumMod val="65000"/>
              </a:schemeClr>
            </a:solidFill>
            <a:prstDash val="dash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8E1C8D7-400B-A957-87D0-A2E42B03EE85}"/>
              </a:ext>
            </a:extLst>
          </p:cNvPr>
          <p:cNvSpPr/>
          <p:nvPr/>
        </p:nvSpPr>
        <p:spPr>
          <a:xfrm>
            <a:off x="6247841" y="1706605"/>
            <a:ext cx="3451412" cy="21086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1395F73-DF13-4B31-E3C5-1BB17D3ECC36}"/>
              </a:ext>
            </a:extLst>
          </p:cNvPr>
          <p:cNvSpPr/>
          <p:nvPr/>
        </p:nvSpPr>
        <p:spPr>
          <a:xfrm>
            <a:off x="686772" y="4433006"/>
            <a:ext cx="4547282" cy="200191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AF4392-3A1D-5612-A6B6-2EDAC9DB73ED}"/>
              </a:ext>
            </a:extLst>
          </p:cNvPr>
          <p:cNvSpPr/>
          <p:nvPr/>
        </p:nvSpPr>
        <p:spPr>
          <a:xfrm>
            <a:off x="8905525" y="2658462"/>
            <a:ext cx="3092823" cy="232067"/>
          </a:xfrm>
          <a:prstGeom prst="roundRect">
            <a:avLst>
              <a:gd name="adj" fmla="val 0"/>
            </a:avLst>
          </a:prstGeom>
          <a:solidFill>
            <a:srgbClr val="00B05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43BD29C-758A-DED1-D7B9-142AAD5C7507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4662873" y="215007"/>
            <a:ext cx="1608216" cy="5013133"/>
          </a:xfrm>
          <a:prstGeom prst="curved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A16FEAD-CFB5-489D-B69B-215C3E0777BF}"/>
              </a:ext>
            </a:extLst>
          </p:cNvPr>
          <p:cNvSpPr txBox="1"/>
          <p:nvPr/>
        </p:nvSpPr>
        <p:spPr>
          <a:xfrm>
            <a:off x="5828446" y="5705523"/>
            <a:ext cx="4001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zh-CN" altLang="en-US" sz="2400"/>
              <a:t>全部注册为</a:t>
            </a:r>
            <a:r>
              <a:rPr lang="en-US" altLang="zh-CN" sz="2400"/>
              <a:t>IOC</a:t>
            </a:r>
            <a:r>
              <a:rPr lang="zh-CN" altLang="en-US" sz="2400"/>
              <a:t>容器的</a:t>
            </a:r>
            <a:r>
              <a:rPr lang="en-US" altLang="zh-CN" sz="2400"/>
              <a:t>bean ???</a:t>
            </a:r>
            <a:endParaRPr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DE164D-84E8-45DE-FCA0-F8C3DDB9DCEE}"/>
              </a:ext>
            </a:extLst>
          </p:cNvPr>
          <p:cNvSpPr txBox="1"/>
          <p:nvPr/>
        </p:nvSpPr>
        <p:spPr>
          <a:xfrm>
            <a:off x="9961303" y="5711157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en-US" altLang="zh-CN" sz="2400"/>
              <a:t>NO!</a:t>
            </a:r>
            <a:endParaRPr lang="zh-CN" altLang="en-US" sz="2400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BC3D9C6-4E31-64CA-361D-A5DC80723EAE}"/>
              </a:ext>
            </a:extLst>
          </p:cNvPr>
          <p:cNvSpPr/>
          <p:nvPr/>
        </p:nvSpPr>
        <p:spPr>
          <a:xfrm>
            <a:off x="3552202" y="2446751"/>
            <a:ext cx="2397742" cy="24943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String[] selectImports(</a:t>
            </a:r>
            <a:r>
              <a:rPr lang="en-US" altLang="zh-CN" sz="105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Courier New" panose="02070309020205020404" pitchFamily="49" charset="0"/>
              </a:rPr>
              <a:t>...</a:t>
            </a:r>
            <a:r>
              <a:rPr kumimoji="0" lang="zh-CN" altLang="zh-CN" sz="105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Fira Code" panose="020B0809050000020004" pitchFamily="49" charset="0"/>
                <a:cs typeface="Courier New" panose="02070309020205020404" pitchFamily="49" charset="0"/>
              </a:rPr>
              <a:t>)</a:t>
            </a:r>
            <a:endParaRPr kumimoji="0" lang="zh-CN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ED90D3-E9DF-64C3-AC33-BFA46600FF40}"/>
              </a:ext>
            </a:extLst>
          </p:cNvPr>
          <p:cNvSpPr txBox="1"/>
          <p:nvPr/>
        </p:nvSpPr>
        <p:spPr>
          <a:xfrm>
            <a:off x="5941763" y="6167188"/>
            <a:ext cx="5482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defRPr>
            </a:lvl1pPr>
          </a:lstStyle>
          <a:p>
            <a:r>
              <a:rPr lang="en-US" altLang="zh-CN" sz="2400">
                <a:solidFill>
                  <a:srgbClr val="00B050"/>
                </a:solidFill>
              </a:rPr>
              <a:t>SpringBoot</a:t>
            </a:r>
            <a:r>
              <a:rPr lang="zh-CN" altLang="en-US" sz="2400">
                <a:solidFill>
                  <a:srgbClr val="00B050"/>
                </a:solidFill>
              </a:rPr>
              <a:t>会根据</a:t>
            </a:r>
            <a:r>
              <a:rPr lang="en-US" altLang="zh-CN" sz="2400">
                <a:solidFill>
                  <a:srgbClr val="00B050"/>
                </a:solidFill>
              </a:rPr>
              <a:t>@Conditional</a:t>
            </a:r>
            <a:r>
              <a:rPr lang="zh-CN" altLang="en-US" sz="2400">
                <a:solidFill>
                  <a:srgbClr val="00B050"/>
                </a:solidFill>
              </a:rPr>
              <a:t>注解条件装配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75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2" grpId="1" animBg="1"/>
      <p:bldP spid="14" grpId="0"/>
      <p:bldP spid="15" grpId="0"/>
      <p:bldP spid="16" grpId="0" animBg="1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144D491-167C-F1B8-7E16-12BBBEB39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6930" y="1425193"/>
            <a:ext cx="8976049" cy="468635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@Conditional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及其衍生注解的作用是什么 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 i="0">
                <a:solidFill>
                  <a:schemeClr val="tx1">
                    <a:lumMod val="50000"/>
                  </a:schemeClr>
                </a:solidFill>
                <a:effectLst/>
              </a:rPr>
              <a:t>满足给定条件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后，注册对应的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</a:rPr>
              <a:t>bean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对象</a:t>
            </a:r>
            <a:r>
              <a:rPr lang="zh-CN" altLang="en-US" sz="1400" b="0" i="0">
                <a:solidFill>
                  <a:schemeClr val="tx1">
                    <a:lumMod val="50000"/>
                  </a:schemeClr>
                </a:solidFill>
                <a:effectLst/>
              </a:rPr>
              <a:t>到</a:t>
            </a:r>
            <a:r>
              <a:rPr lang="en-US" altLang="zh-CN" sz="1400" b="0" i="0">
                <a:solidFill>
                  <a:schemeClr val="tx1">
                    <a:lumMod val="50000"/>
                  </a:schemeClr>
                </a:solidFill>
                <a:effectLst/>
              </a:rPr>
              <a:t>Spring IOC</a:t>
            </a:r>
            <a:r>
              <a:rPr lang="zh-CN" altLang="en-US" sz="1400" b="0" i="0">
                <a:solidFill>
                  <a:schemeClr val="tx1">
                    <a:lumMod val="50000"/>
                  </a:schemeClr>
                </a:solidFill>
                <a:effectLst/>
              </a:rPr>
              <a:t>容器中。</a:t>
            </a:r>
            <a:endParaRPr lang="en-US" altLang="zh-CN" sz="1400" b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@Conditional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及其衍生注解可以作用在什么地方 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方法上：针对于当前这个方法声明的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</a:rPr>
              <a:t>bean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类上：针对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于</a:t>
            </a: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</a:rPr>
              <a:t>这个类中所有的方法声明的</a:t>
            </a:r>
            <a:r>
              <a:rPr lang="en-US" altLang="zh-CN" sz="1400" b="0">
                <a:solidFill>
                  <a:schemeClr val="tx1">
                    <a:lumMod val="50000"/>
                  </a:schemeClr>
                </a:solidFill>
              </a:rPr>
              <a:t>bean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3.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自己定义自动配置类的核心是什么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如何完成自动配置？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定义自动配置类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  <a:p>
            <a:pPr marL="6457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将自动配置类配置在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META-INF/spring/</a:t>
            </a:r>
          </a:p>
          <a:p>
            <a:pPr marL="36000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zh-CN" sz="1400">
                <a:solidFill>
                  <a:schemeClr val="tx1">
                    <a:lumMod val="50000"/>
                  </a:schemeClr>
                </a:solidFill>
              </a:rPr>
              <a:t>org.springframework.boot.autoconfigure.AutoConfiguration.imports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文件中</a:t>
            </a:r>
            <a:endParaRPr lang="zh-CN" altLang="zh-CN" sz="20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385D4D-9F15-2C86-226D-B5C6D11A5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32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36734-88A3-D3C2-B395-5A7625F30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5250" y="2203927"/>
            <a:ext cx="4573070" cy="668338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原理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221301-721B-F6B8-5E7E-337923185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6"/>
            <a:ext cx="3692525" cy="2436068"/>
          </a:xfrm>
        </p:spPr>
        <p:txBody>
          <a:bodyPr/>
          <a:lstStyle/>
          <a:p>
            <a:r>
              <a:rPr lang="zh-CN" altLang="en-US"/>
              <a:t>起步依赖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自动配置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实现方案</a:t>
            </a:r>
            <a:endParaRPr lang="en-US" altLang="zh-CN" sz="160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源码跟踪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自定义</a:t>
            </a:r>
            <a:r>
              <a:rPr lang="en-US" altLang="zh-CN" sz="1600">
                <a:solidFill>
                  <a:srgbClr val="C00000"/>
                </a:solidFill>
              </a:rPr>
              <a:t>starter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459C91-4B77-D1EA-CDC5-81963EA004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2557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2BCB599D-FBDE-B88D-5342-74FEDFF70A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50"/>
          <a:stretch/>
        </p:blipFill>
        <p:spPr>
          <a:xfrm>
            <a:off x="958443" y="5013528"/>
            <a:ext cx="6542774" cy="5137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BF9C005-62AF-6560-1E2A-91EF2E8CA1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50"/>
          <a:stretch/>
        </p:blipFill>
        <p:spPr>
          <a:xfrm>
            <a:off x="958443" y="3916967"/>
            <a:ext cx="6542774" cy="5137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30779AA-7ACF-7D6B-F977-5B878E996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43" y="2747241"/>
            <a:ext cx="6542774" cy="59734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456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场景：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在实际开发中，经常会定义一些公共组件，提供给各个项目团队使用。而在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SpringBoot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的项目中，一般会将这些公共组件封装为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SpringBoot 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 </a:t>
            </a:r>
            <a:r>
              <a:rPr lang="en-US" altLang="zh-CN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starter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包含了起步依赖和自动配置的功能</a:t>
            </a:r>
            <a:r>
              <a:rPr lang="zh-CN" altLang="en-US" sz="160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）。</a:t>
            </a:r>
            <a:endParaRPr lang="en-US" altLang="zh-CN" sz="160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3899AC-49B5-72A7-41F2-8519FE7683D3}"/>
              </a:ext>
            </a:extLst>
          </p:cNvPr>
          <p:cNvSpPr/>
          <p:nvPr/>
        </p:nvSpPr>
        <p:spPr>
          <a:xfrm>
            <a:off x="958444" y="5012074"/>
            <a:ext cx="6542774" cy="259285"/>
          </a:xfrm>
          <a:prstGeom prst="rect">
            <a:avLst/>
          </a:prstGeom>
          <a:solidFill>
            <a:srgbClr val="9933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BD12C-DCA9-2996-87FC-C0C5D66B1C76}"/>
              </a:ext>
            </a:extLst>
          </p:cNvPr>
          <p:cNvSpPr/>
          <p:nvPr/>
        </p:nvSpPr>
        <p:spPr>
          <a:xfrm>
            <a:off x="958444" y="3913244"/>
            <a:ext cx="6542774" cy="255715"/>
          </a:xfrm>
          <a:prstGeom prst="rect">
            <a:avLst/>
          </a:prstGeom>
          <a:solidFill>
            <a:srgbClr val="9933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F01955-5450-B033-7F38-80C3BD3A79F6}"/>
              </a:ext>
            </a:extLst>
          </p:cNvPr>
          <p:cNvSpPr/>
          <p:nvPr/>
        </p:nvSpPr>
        <p:spPr>
          <a:xfrm>
            <a:off x="958444" y="5301196"/>
            <a:ext cx="6542774" cy="231902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2D2C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694360-C0E1-AD70-984F-0C3D16828E14}"/>
              </a:ext>
            </a:extLst>
          </p:cNvPr>
          <p:cNvSpPr/>
          <p:nvPr/>
        </p:nvSpPr>
        <p:spPr>
          <a:xfrm>
            <a:off x="958444" y="4198796"/>
            <a:ext cx="6542774" cy="231902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2D2C"/>
              </a:solidFill>
            </a:endParaRPr>
          </a:p>
        </p:txBody>
      </p:sp>
      <p:sp>
        <p:nvSpPr>
          <p:cNvPr id="10" name="矩形: 对角圆角 9">
            <a:extLst>
              <a:ext uri="{FF2B5EF4-FFF2-40B4-BE49-F238E27FC236}">
                <a16:creationId xmlns:a16="http://schemas.microsoft.com/office/drawing/2014/main" id="{9AB6CCDD-1CB0-BDF0-6C35-FDECB4DA845F}"/>
              </a:ext>
            </a:extLst>
          </p:cNvPr>
          <p:cNvSpPr/>
          <p:nvPr/>
        </p:nvSpPr>
        <p:spPr>
          <a:xfrm>
            <a:off x="7750678" y="4910733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9933FF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0B60043D-9795-C5EC-E0E9-A2EE8CEA90AC}"/>
              </a:ext>
            </a:extLst>
          </p:cNvPr>
          <p:cNvSpPr/>
          <p:nvPr/>
        </p:nvSpPr>
        <p:spPr>
          <a:xfrm>
            <a:off x="7750678" y="5287763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sp>
        <p:nvSpPr>
          <p:cNvPr id="12" name="矩形: 对角圆角 11">
            <a:extLst>
              <a:ext uri="{FF2B5EF4-FFF2-40B4-BE49-F238E27FC236}">
                <a16:creationId xmlns:a16="http://schemas.microsoft.com/office/drawing/2014/main" id="{BA2F5BDF-CEB3-6939-5867-9DF989BCA0E4}"/>
              </a:ext>
            </a:extLst>
          </p:cNvPr>
          <p:cNvSpPr/>
          <p:nvPr/>
        </p:nvSpPr>
        <p:spPr>
          <a:xfrm>
            <a:off x="7750678" y="3821766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9933FF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13" name="矩形: 对角圆角 12">
            <a:extLst>
              <a:ext uri="{FF2B5EF4-FFF2-40B4-BE49-F238E27FC236}">
                <a16:creationId xmlns:a16="http://schemas.microsoft.com/office/drawing/2014/main" id="{E800FFDF-098C-85EF-5CD8-2F129C15DECF}"/>
              </a:ext>
            </a:extLst>
          </p:cNvPr>
          <p:cNvSpPr/>
          <p:nvPr/>
        </p:nvSpPr>
        <p:spPr>
          <a:xfrm>
            <a:off x="7750678" y="4198796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sp>
        <p:nvSpPr>
          <p:cNvPr id="14" name="矩形: 对角圆角 13">
            <a:extLst>
              <a:ext uri="{FF2B5EF4-FFF2-40B4-BE49-F238E27FC236}">
                <a16:creationId xmlns:a16="http://schemas.microsoft.com/office/drawing/2014/main" id="{A0312901-48D1-934E-95F9-0638EAF85CC8}"/>
              </a:ext>
            </a:extLst>
          </p:cNvPr>
          <p:cNvSpPr/>
          <p:nvPr/>
        </p:nvSpPr>
        <p:spPr>
          <a:xfrm>
            <a:off x="7750678" y="2730411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9933FF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自动配置功能</a:t>
            </a:r>
          </a:p>
        </p:txBody>
      </p:sp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448DA9ED-5AFA-1C2A-ABD9-1512BC001A64}"/>
              </a:ext>
            </a:extLst>
          </p:cNvPr>
          <p:cNvSpPr/>
          <p:nvPr/>
        </p:nvSpPr>
        <p:spPr>
          <a:xfrm>
            <a:off x="7750678" y="3107441"/>
            <a:ext cx="1485900" cy="333244"/>
          </a:xfrm>
          <a:prstGeom prst="round2DiagRect">
            <a:avLst>
              <a:gd name="adj1" fmla="val 50000"/>
              <a:gd name="adj2" fmla="val 50000"/>
            </a:avLst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282D2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依赖管理功能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277DFC-6246-D47D-6724-3D35A078DA87}"/>
              </a:ext>
            </a:extLst>
          </p:cNvPr>
          <p:cNvSpPr/>
          <p:nvPr/>
        </p:nvSpPr>
        <p:spPr>
          <a:xfrm>
            <a:off x="958444" y="3078895"/>
            <a:ext cx="6542774" cy="265324"/>
          </a:xfrm>
          <a:prstGeom prst="rect">
            <a:avLst/>
          </a:prstGeom>
          <a:solidFill>
            <a:srgbClr val="00B050">
              <a:alpha val="3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82D2C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E83167-2864-156A-8484-97C3CBC75E64}"/>
              </a:ext>
            </a:extLst>
          </p:cNvPr>
          <p:cNvSpPr/>
          <p:nvPr/>
        </p:nvSpPr>
        <p:spPr>
          <a:xfrm>
            <a:off x="958443" y="2746978"/>
            <a:ext cx="6542774" cy="300684"/>
          </a:xfrm>
          <a:prstGeom prst="rect">
            <a:avLst/>
          </a:prstGeom>
          <a:solidFill>
            <a:srgbClr val="9933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814F75-F132-0640-E6DF-872D332911DE}"/>
              </a:ext>
            </a:extLst>
          </p:cNvPr>
          <p:cNvSpPr txBox="1"/>
          <p:nvPr/>
        </p:nvSpPr>
        <p:spPr>
          <a:xfrm>
            <a:off x="9353464" y="2878840"/>
            <a:ext cx="1643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SpringBoot</a:t>
            </a: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官方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7C44A4-B820-AB22-6158-9BA19292D428}"/>
              </a:ext>
            </a:extLst>
          </p:cNvPr>
          <p:cNvSpPr txBox="1"/>
          <p:nvPr/>
        </p:nvSpPr>
        <p:spPr>
          <a:xfrm>
            <a:off x="9353464" y="452383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其它技术提供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210270C7-EF7E-9738-2EE5-1F7B12089E27}"/>
              </a:ext>
            </a:extLst>
          </p:cNvPr>
          <p:cNvCxnSpPr>
            <a:cxnSpLocks/>
          </p:cNvCxnSpPr>
          <p:nvPr/>
        </p:nvCxnSpPr>
        <p:spPr>
          <a:xfrm rot="5400000">
            <a:off x="6287442" y="2946856"/>
            <a:ext cx="318271" cy="177165"/>
          </a:xfrm>
          <a:prstGeom prst="curvedConnector3">
            <a:avLst>
              <a:gd name="adj1" fmla="val 90701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F2A76857-95C8-BED6-4397-96118ECCA48E}"/>
              </a:ext>
            </a:extLst>
          </p:cNvPr>
          <p:cNvCxnSpPr>
            <a:cxnSpLocks/>
          </p:cNvCxnSpPr>
          <p:nvPr/>
        </p:nvCxnSpPr>
        <p:spPr>
          <a:xfrm rot="5400000">
            <a:off x="6861186" y="5168975"/>
            <a:ext cx="318271" cy="177165"/>
          </a:xfrm>
          <a:prstGeom prst="curvedConnector3">
            <a:avLst>
              <a:gd name="adj1" fmla="val 8830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026B9A5D-A51C-7ACC-55A9-7C4B568E75D9}"/>
              </a:ext>
            </a:extLst>
          </p:cNvPr>
          <p:cNvCxnSpPr>
            <a:cxnSpLocks/>
          </p:cNvCxnSpPr>
          <p:nvPr/>
        </p:nvCxnSpPr>
        <p:spPr>
          <a:xfrm rot="5400000">
            <a:off x="6695397" y="4117700"/>
            <a:ext cx="318271" cy="177165"/>
          </a:xfrm>
          <a:prstGeom prst="curvedConnector3">
            <a:avLst>
              <a:gd name="adj1" fmla="val 8830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92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3C2B99-561E-2B04-713F-7127AE4A2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2"/>
            <a:ext cx="11553050" cy="271928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82D2C"/>
                </a:solidFill>
              </a:rPr>
              <a:t>需求：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自定义</a:t>
            </a:r>
            <a:r>
              <a:rPr lang="en-US" altLang="zh-CN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aliyun-oss-spring-boot-starter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，完成阿里云</a:t>
            </a:r>
            <a:r>
              <a:rPr lang="en-US" altLang="zh-CN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操作工具类 </a:t>
            </a:r>
            <a:r>
              <a:rPr lang="zh-CN" altLang="zh-CN">
                <a:solidFill>
                  <a:srgbClr val="000000"/>
                </a:solidFill>
                <a:latin typeface="Fira Code" panose="020B0809050000020004" pitchFamily="49" charset="0"/>
              </a:rPr>
              <a:t>AliyunOSSOperator</a:t>
            </a:r>
            <a:r>
              <a:rPr lang="en-US" altLang="zh-CN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的自动配置。</a:t>
            </a:r>
            <a:endParaRPr lang="en-US" altLang="zh-CN">
              <a:solidFill>
                <a:srgbClr val="282D2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82D2C"/>
                </a:solidFill>
              </a:rPr>
              <a:t>目标：</a:t>
            </a:r>
            <a:r>
              <a:rPr lang="zh-CN" altLang="en-US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引入起步依赖引入之后，要想使用阿里云</a:t>
            </a:r>
            <a:r>
              <a:rPr lang="en-US" altLang="zh-CN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OSS</a:t>
            </a:r>
            <a:r>
              <a:rPr lang="zh-CN" altLang="en-US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，注入 </a:t>
            </a:r>
            <a:r>
              <a:rPr lang="zh-CN" altLang="zh-CN">
                <a:solidFill>
                  <a:srgbClr val="000000"/>
                </a:solidFill>
                <a:latin typeface="Fira Code" panose="020B0809050000020004" pitchFamily="49" charset="0"/>
              </a:rPr>
              <a:t>AliyunOSSOperator</a:t>
            </a:r>
            <a:r>
              <a:rPr lang="en-US" altLang="zh-CN">
                <a:solidFill>
                  <a:srgbClr val="000000"/>
                </a:solidFill>
                <a:latin typeface="Fira Code" panose="020B0809050000020004" pitchFamily="49" charset="0"/>
              </a:rPr>
              <a:t> </a:t>
            </a:r>
            <a:r>
              <a:rPr lang="zh-CN" altLang="en-US" sz="16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直接使用即可。</a:t>
            </a:r>
            <a:endParaRPr lang="en-US" altLang="zh-CN">
              <a:solidFill>
                <a:srgbClr val="282D2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282D2C"/>
                </a:solidFill>
              </a:rPr>
              <a:t>步骤：</a:t>
            </a:r>
            <a:endParaRPr lang="en-US" altLang="zh-CN">
              <a:solidFill>
                <a:srgbClr val="282D2C"/>
              </a:solidFill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aliyun-oss-spring-boot-starter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  <a:endParaRPr lang="en-US" altLang="zh-CN" sz="1400">
              <a:solidFill>
                <a:srgbClr val="282D2C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aliyun-oss-spring-boot-autoconfigure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模块，在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starter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中引入该模块</a:t>
            </a:r>
            <a:endParaRPr lang="en-US" altLang="zh-CN" sz="1400">
              <a:solidFill>
                <a:srgbClr val="282D2C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 b="0" i="0">
                <a:solidFill>
                  <a:srgbClr val="282D2C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aliyun-oss-spring-boot-autoconfigure</a:t>
            </a:r>
            <a:r>
              <a:rPr lang="zh-CN" altLang="en-US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模块中的定义自动配置功能，并定义自动配置文件 </a:t>
            </a:r>
            <a:r>
              <a:rPr lang="en-US" altLang="zh-CN" sz="1400">
                <a:solidFill>
                  <a:srgbClr val="282D2C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META-INF/spring/xxxx.imports</a:t>
            </a:r>
            <a:endParaRPr lang="en-US" altLang="zh-CN" sz="1400" b="0" i="0">
              <a:solidFill>
                <a:srgbClr val="282D2C"/>
              </a:solidFill>
              <a:effectLst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D149EA-C292-AC31-156C-5A9DDDF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</a:t>
            </a:r>
            <a:r>
              <a:rPr lang="en-US" altLang="zh-CN"/>
              <a:t>starter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A777F1D-9628-E040-AA86-914ABA266D3C}"/>
              </a:ext>
            </a:extLst>
          </p:cNvPr>
          <p:cNvGrpSpPr/>
          <p:nvPr/>
        </p:nvGrpSpPr>
        <p:grpSpPr>
          <a:xfrm>
            <a:off x="876373" y="5488383"/>
            <a:ext cx="10621564" cy="367385"/>
            <a:chOff x="886619" y="3904462"/>
            <a:chExt cx="10621564" cy="36738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762C147-66F3-5DC0-1702-7A9CAD287F49}"/>
                </a:ext>
              </a:extLst>
            </p:cNvPr>
            <p:cNvSpPr/>
            <p:nvPr/>
          </p:nvSpPr>
          <p:spPr>
            <a:xfrm>
              <a:off x="886619" y="3904462"/>
              <a:ext cx="10612772" cy="358593"/>
            </a:xfrm>
            <a:prstGeom prst="roundRect">
              <a:avLst>
                <a:gd name="adj" fmla="val 16523"/>
              </a:avLst>
            </a:prstGeom>
            <a:solidFill>
              <a:srgbClr val="FFFFE4"/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282D2C"/>
                  </a:solidFill>
                  <a:ea typeface="阿里巴巴普惠体" panose="00020600040101010101" pitchFamily="18" charset="-122"/>
                  <a:cs typeface="Courier New" panose="02070309020205020404" pitchFamily="49" charset="0"/>
                </a:rPr>
                <a:t>aliyun-oss-spring-boot-starter</a:t>
              </a:r>
            </a:p>
          </p:txBody>
        </p:sp>
        <p:sp>
          <p:nvSpPr>
            <p:cNvPr id="6" name="矩形: 对角圆角 5">
              <a:extLst>
                <a:ext uri="{FF2B5EF4-FFF2-40B4-BE49-F238E27FC236}">
                  <a16:creationId xmlns:a16="http://schemas.microsoft.com/office/drawing/2014/main" id="{91A694EE-DF44-F430-47A7-5975C8BBA064}"/>
                </a:ext>
              </a:extLst>
            </p:cNvPr>
            <p:cNvSpPr/>
            <p:nvPr/>
          </p:nvSpPr>
          <p:spPr>
            <a:xfrm>
              <a:off x="9932571" y="3904463"/>
              <a:ext cx="1575612" cy="367384"/>
            </a:xfrm>
            <a:prstGeom prst="round2DiagRect">
              <a:avLst>
                <a:gd name="adj1" fmla="val 7094"/>
                <a:gd name="adj2" fmla="val 15830"/>
              </a:avLst>
            </a:prstGeom>
            <a:solidFill>
              <a:srgbClr val="FFFFB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282D2C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依赖管理功能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6354607-0AE8-2C66-0640-1111F57A2C8A}"/>
              </a:ext>
            </a:extLst>
          </p:cNvPr>
          <p:cNvGrpSpPr/>
          <p:nvPr/>
        </p:nvGrpSpPr>
        <p:grpSpPr>
          <a:xfrm>
            <a:off x="876373" y="6016099"/>
            <a:ext cx="10621564" cy="367384"/>
            <a:chOff x="886619" y="4608288"/>
            <a:chExt cx="10621564" cy="36738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74097ED-928E-517F-093C-3D5D6AE16E48}"/>
                </a:ext>
              </a:extLst>
            </p:cNvPr>
            <p:cNvSpPr/>
            <p:nvPr/>
          </p:nvSpPr>
          <p:spPr>
            <a:xfrm>
              <a:off x="886619" y="4608289"/>
              <a:ext cx="10612772" cy="358593"/>
            </a:xfrm>
            <a:prstGeom prst="roundRect">
              <a:avLst>
                <a:gd name="adj" fmla="val 16523"/>
              </a:avLst>
            </a:prstGeom>
            <a:solidFill>
              <a:srgbClr val="FFFFE4"/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00">
                  <a:solidFill>
                    <a:srgbClr val="282D2C"/>
                  </a:solidFill>
                  <a:ea typeface="阿里巴巴普惠体" panose="00020600040101010101" pitchFamily="18" charset="-122"/>
                  <a:cs typeface="Courier New" panose="02070309020205020404" pitchFamily="49" charset="0"/>
                </a:rPr>
                <a:t>aliyun-oss-spring-boot-autoconfigure</a:t>
              </a:r>
            </a:p>
          </p:txBody>
        </p:sp>
        <p:sp>
          <p:nvSpPr>
            <p:cNvPr id="9" name="矩形: 对角圆角 8">
              <a:extLst>
                <a:ext uri="{FF2B5EF4-FFF2-40B4-BE49-F238E27FC236}">
                  <a16:creationId xmlns:a16="http://schemas.microsoft.com/office/drawing/2014/main" id="{CACF9534-6D18-BDEE-72CE-B2683E4C5152}"/>
                </a:ext>
              </a:extLst>
            </p:cNvPr>
            <p:cNvSpPr/>
            <p:nvPr/>
          </p:nvSpPr>
          <p:spPr>
            <a:xfrm>
              <a:off x="9932571" y="4608288"/>
              <a:ext cx="1575612" cy="367384"/>
            </a:xfrm>
            <a:prstGeom prst="round2DiagRect">
              <a:avLst>
                <a:gd name="adj1" fmla="val 14274"/>
                <a:gd name="adj2" fmla="val 13192"/>
              </a:avLst>
            </a:prstGeom>
            <a:solidFill>
              <a:srgbClr val="FFB2B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282D2C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自动配置功能</a:t>
              </a:r>
            </a:p>
          </p:txBody>
        </p:sp>
      </p:grp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110A79F2-7E09-498C-F5AE-F2D85EB6F372}"/>
              </a:ext>
            </a:extLst>
          </p:cNvPr>
          <p:cNvCxnSpPr/>
          <p:nvPr/>
        </p:nvCxnSpPr>
        <p:spPr>
          <a:xfrm rot="16200000" flipV="1">
            <a:off x="4388225" y="5688106"/>
            <a:ext cx="573741" cy="493059"/>
          </a:xfrm>
          <a:prstGeom prst="curvedConnector3">
            <a:avLst>
              <a:gd name="adj1" fmla="val 101563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21050</TotalTime>
  <Words>2283</Words>
  <Application>Microsoft Office PowerPoint</Application>
  <PresentationFormat>宽屏</PresentationFormat>
  <Paragraphs>279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39</vt:i4>
      </vt:variant>
    </vt:vector>
  </HeadingPairs>
  <TitlesOfParts>
    <vt:vector size="60" baseType="lpstr">
      <vt:lpstr>Alibaba PuHuiTi B</vt:lpstr>
      <vt:lpstr>Alibaba PuHuiTi 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Calisto MT</vt:lpstr>
      <vt:lpstr>Consolas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PowerPoint 演示文稿</vt:lpstr>
      <vt:lpstr>PowerPoint 演示文稿</vt:lpstr>
      <vt:lpstr>配置</vt:lpstr>
      <vt:lpstr>配置</vt:lpstr>
      <vt:lpstr>配置</vt:lpstr>
      <vt:lpstr>PowerPoint 演示文稿</vt:lpstr>
      <vt:lpstr>PowerPoint 演示文稿</vt:lpstr>
      <vt:lpstr>PowerPoint 演示文稿</vt:lpstr>
      <vt:lpstr>bean作用域</vt:lpstr>
      <vt:lpstr>bean作用域</vt:lpstr>
      <vt:lpstr>PowerPoint 演示文稿</vt:lpstr>
      <vt:lpstr>PowerPoint 演示文稿</vt:lpstr>
      <vt:lpstr>第三方Bean</vt:lpstr>
      <vt:lpstr>PowerPoint 演示文稿</vt:lpstr>
      <vt:lpstr>PowerPoint 演示文稿</vt:lpstr>
      <vt:lpstr>PowerPoint 演示文稿</vt:lpstr>
      <vt:lpstr>SpringBoot核心</vt:lpstr>
      <vt:lpstr>SpringBoot核心</vt:lpstr>
      <vt:lpstr>PowerPoint 演示文稿</vt:lpstr>
      <vt:lpstr>起步依赖-原理</vt:lpstr>
      <vt:lpstr>起步依赖-原理</vt:lpstr>
      <vt:lpstr>PowerPoint 演示文稿</vt:lpstr>
      <vt:lpstr>什么是自动配置</vt:lpstr>
      <vt:lpstr>PowerPoint 演示文稿</vt:lpstr>
      <vt:lpstr>自动配置实现方案</vt:lpstr>
      <vt:lpstr>自动配置实现方案一</vt:lpstr>
      <vt:lpstr>自动配置实现方案二</vt:lpstr>
      <vt:lpstr>PowerPoint 演示文稿</vt:lpstr>
      <vt:lpstr>PowerPoint 演示文稿</vt:lpstr>
      <vt:lpstr>自动配置-源码跟踪</vt:lpstr>
      <vt:lpstr>自动配置-源码跟踪</vt:lpstr>
      <vt:lpstr>自动配置-@Conditional</vt:lpstr>
      <vt:lpstr>自动配置原理</vt:lpstr>
      <vt:lpstr>PowerPoint 演示文稿</vt:lpstr>
      <vt:lpstr>PowerPoint 演示文稿</vt:lpstr>
      <vt:lpstr>自定义starter</vt:lpstr>
      <vt:lpstr>自定义starter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1733</cp:revision>
  <cp:lastPrinted>2022-05-29T16:00:00Z</cp:lastPrinted>
  <dcterms:created xsi:type="dcterms:W3CDTF">2022-05-29T16:00:00Z</dcterms:created>
  <dcterms:modified xsi:type="dcterms:W3CDTF">2025-01-18T07:00:38Z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