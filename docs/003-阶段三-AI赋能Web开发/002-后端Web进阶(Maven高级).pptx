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2"/>
  </p:notesMasterIdLst>
  <p:handoutMasterIdLst>
    <p:handoutMasterId r:id="rId43"/>
  </p:handoutMasterIdLst>
  <p:sldIdLst>
    <p:sldId id="280" r:id="rId6"/>
    <p:sldId id="693" r:id="rId7"/>
    <p:sldId id="694" r:id="rId8"/>
    <p:sldId id="731" r:id="rId9"/>
    <p:sldId id="734" r:id="rId10"/>
    <p:sldId id="743" r:id="rId11"/>
    <p:sldId id="733" r:id="rId12"/>
    <p:sldId id="732" r:id="rId13"/>
    <p:sldId id="735" r:id="rId14"/>
    <p:sldId id="744" r:id="rId15"/>
    <p:sldId id="736" r:id="rId16"/>
    <p:sldId id="737" r:id="rId17"/>
    <p:sldId id="738" r:id="rId18"/>
    <p:sldId id="739" r:id="rId19"/>
    <p:sldId id="740" r:id="rId20"/>
    <p:sldId id="745" r:id="rId21"/>
    <p:sldId id="741" r:id="rId22"/>
    <p:sldId id="742" r:id="rId23"/>
    <p:sldId id="746" r:id="rId24"/>
    <p:sldId id="756" r:id="rId25"/>
    <p:sldId id="747" r:id="rId26"/>
    <p:sldId id="749" r:id="rId27"/>
    <p:sldId id="757" r:id="rId28"/>
    <p:sldId id="750" r:id="rId29"/>
    <p:sldId id="751" r:id="rId30"/>
    <p:sldId id="752" r:id="rId31"/>
    <p:sldId id="753" r:id="rId32"/>
    <p:sldId id="754" r:id="rId33"/>
    <p:sldId id="764" r:id="rId34"/>
    <p:sldId id="755" r:id="rId35"/>
    <p:sldId id="759" r:id="rId36"/>
    <p:sldId id="760" r:id="rId37"/>
    <p:sldId id="761" r:id="rId38"/>
    <p:sldId id="762" r:id="rId39"/>
    <p:sldId id="765" r:id="rId40"/>
    <p:sldId id="288" r:id="rId41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C3B"/>
    <a:srgbClr val="C78FFC"/>
    <a:srgbClr val="871094"/>
    <a:srgbClr val="282D2C"/>
    <a:srgbClr val="00B050"/>
    <a:srgbClr val="FFC000"/>
    <a:srgbClr val="9933FF"/>
    <a:srgbClr val="C00000"/>
    <a:srgbClr val="FFFFD5"/>
    <a:srgbClr val="35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1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svg"/><Relationship Id="rId15" Type="http://schemas.openxmlformats.org/officeDocument/2006/relationships/image" Target="../media/image33.png"/><Relationship Id="rId10" Type="http://schemas.openxmlformats.org/officeDocument/2006/relationships/image" Target="../media/image29.emf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2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1.sv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30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1.sv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30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Maven</a:t>
            </a:r>
            <a:r>
              <a:rPr lang="zh-CN" altLang="en-US" sz="2400"/>
              <a:t>高级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分模块设计与开发</a:t>
            </a:r>
            <a:endParaRPr lang="en-US" altLang="zh-CN"/>
          </a:p>
          <a:p>
            <a:r>
              <a:rPr lang="zh-CN" altLang="en-US"/>
              <a:t>继承与聚合</a:t>
            </a:r>
            <a:endParaRPr lang="en-US" altLang="zh-CN"/>
          </a:p>
          <a:p>
            <a:r>
              <a:rPr lang="zh-CN" altLang="en-US"/>
              <a:t>私服</a:t>
            </a:r>
          </a:p>
        </p:txBody>
      </p:sp>
    </p:spTree>
    <p:extLst>
      <p:ext uri="{BB962C8B-B14F-4D97-AF65-F5344CB8AC3E}">
        <p14:creationId xmlns:p14="http://schemas.microsoft.com/office/powerpoint/2010/main" val="89375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824413-C41D-0B0A-3C20-B2C9947307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5" y="2469081"/>
            <a:ext cx="4240070" cy="901700"/>
          </a:xfrm>
        </p:spPr>
        <p:txBody>
          <a:bodyPr/>
          <a:lstStyle/>
          <a:p>
            <a:r>
              <a:rPr lang="zh-CN" altLang="en-US"/>
              <a:t>分模块设计与开发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080D6DA-B580-C8B2-DFC0-8AA6FC8DF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1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359669-4A4D-F0A2-E7A2-5A750988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为什么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分模块设计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43F38B-7DD2-CE3A-2153-9F36E1D679C1}"/>
              </a:ext>
            </a:extLst>
          </p:cNvPr>
          <p:cNvSpPr/>
          <p:nvPr/>
        </p:nvSpPr>
        <p:spPr>
          <a:xfrm>
            <a:off x="833717" y="3321103"/>
            <a:ext cx="1748117" cy="976365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3C29743-34B1-2EB1-6E71-12D4FBD6DF7C}"/>
              </a:ext>
            </a:extLst>
          </p:cNvPr>
          <p:cNvSpPr/>
          <p:nvPr/>
        </p:nvSpPr>
        <p:spPr>
          <a:xfrm>
            <a:off x="3854822" y="2711108"/>
            <a:ext cx="2250143" cy="1878821"/>
          </a:xfrm>
          <a:prstGeom prst="roundRect">
            <a:avLst>
              <a:gd name="adj" fmla="val 928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3B6048-34ED-D278-C1CC-F3B3099D4DF9}"/>
              </a:ext>
            </a:extLst>
          </p:cNvPr>
          <p:cNvSpPr/>
          <p:nvPr/>
        </p:nvSpPr>
        <p:spPr>
          <a:xfrm>
            <a:off x="7548281" y="2077988"/>
            <a:ext cx="2796990" cy="3686318"/>
          </a:xfrm>
          <a:prstGeom prst="roundRect">
            <a:avLst>
              <a:gd name="adj" fmla="val 9284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46AB39-9A57-093A-3EEB-B5858F2E4E27}"/>
              </a:ext>
            </a:extLst>
          </p:cNvPr>
          <p:cNvSpPr/>
          <p:nvPr/>
        </p:nvSpPr>
        <p:spPr>
          <a:xfrm>
            <a:off x="869576" y="3546618"/>
            <a:ext cx="1676398" cy="555812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A139251-4C43-16F7-AE0D-1A66510FA8A8}"/>
              </a:ext>
            </a:extLst>
          </p:cNvPr>
          <p:cNvSpPr/>
          <p:nvPr/>
        </p:nvSpPr>
        <p:spPr>
          <a:xfrm>
            <a:off x="3971361" y="2948475"/>
            <a:ext cx="2017063" cy="635977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8EE25DB-429E-8552-CF91-D09A60ADE41F}"/>
              </a:ext>
            </a:extLst>
          </p:cNvPr>
          <p:cNvSpPr/>
          <p:nvPr/>
        </p:nvSpPr>
        <p:spPr>
          <a:xfrm>
            <a:off x="3971360" y="3720973"/>
            <a:ext cx="2017063" cy="635977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!!矩形: 圆角 7">
            <a:extLst>
              <a:ext uri="{FF2B5EF4-FFF2-40B4-BE49-F238E27FC236}">
                <a16:creationId xmlns:a16="http://schemas.microsoft.com/office/drawing/2014/main" id="{346BA446-2FCA-2E8D-238F-F2AA9A30B06B}"/>
              </a:ext>
            </a:extLst>
          </p:cNvPr>
          <p:cNvSpPr/>
          <p:nvPr/>
        </p:nvSpPr>
        <p:spPr>
          <a:xfrm>
            <a:off x="7709643" y="2258091"/>
            <a:ext cx="2492194" cy="556828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商品模块</a:t>
            </a:r>
          </a:p>
        </p:txBody>
      </p:sp>
      <p:sp>
        <p:nvSpPr>
          <p:cNvPr id="19" name="!!矩形: 圆角 8">
            <a:extLst>
              <a:ext uri="{FF2B5EF4-FFF2-40B4-BE49-F238E27FC236}">
                <a16:creationId xmlns:a16="http://schemas.microsoft.com/office/drawing/2014/main" id="{FAEEE58F-0B61-E981-4822-F39C6A94A8C2}"/>
              </a:ext>
            </a:extLst>
          </p:cNvPr>
          <p:cNvSpPr/>
          <p:nvPr/>
        </p:nvSpPr>
        <p:spPr>
          <a:xfrm>
            <a:off x="7709643" y="2955508"/>
            <a:ext cx="2492194" cy="556828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搜索模块</a:t>
            </a:r>
          </a:p>
        </p:txBody>
      </p:sp>
      <p:sp>
        <p:nvSpPr>
          <p:cNvPr id="20" name="!!矩形: 圆角 9">
            <a:extLst>
              <a:ext uri="{FF2B5EF4-FFF2-40B4-BE49-F238E27FC236}">
                <a16:creationId xmlns:a16="http://schemas.microsoft.com/office/drawing/2014/main" id="{0F8CF2B1-9E1A-3383-1471-FC2C25DD8867}"/>
              </a:ext>
            </a:extLst>
          </p:cNvPr>
          <p:cNvSpPr/>
          <p:nvPr/>
        </p:nvSpPr>
        <p:spPr>
          <a:xfrm>
            <a:off x="7709643" y="3652925"/>
            <a:ext cx="2492194" cy="556828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购物车模块</a:t>
            </a:r>
          </a:p>
        </p:txBody>
      </p:sp>
      <p:sp>
        <p:nvSpPr>
          <p:cNvPr id="21" name="!!矩形: 圆角 10">
            <a:extLst>
              <a:ext uri="{FF2B5EF4-FFF2-40B4-BE49-F238E27FC236}">
                <a16:creationId xmlns:a16="http://schemas.microsoft.com/office/drawing/2014/main" id="{FAE6B36B-642B-834D-2DD9-A0BECCA5F6CF}"/>
              </a:ext>
            </a:extLst>
          </p:cNvPr>
          <p:cNvSpPr/>
          <p:nvPr/>
        </p:nvSpPr>
        <p:spPr>
          <a:xfrm>
            <a:off x="7709643" y="4350342"/>
            <a:ext cx="2492194" cy="556828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订单模块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E6618AD-DDDA-A6A8-4DA0-A4B68A65D382}"/>
              </a:ext>
            </a:extLst>
          </p:cNvPr>
          <p:cNvSpPr/>
          <p:nvPr/>
        </p:nvSpPr>
        <p:spPr>
          <a:xfrm>
            <a:off x="7709643" y="5047760"/>
            <a:ext cx="2492194" cy="556828"/>
          </a:xfrm>
          <a:prstGeom prst="roundRect">
            <a:avLst>
              <a:gd name="adj" fmla="val 9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/>
              <a:t>......</a:t>
            </a:r>
            <a:endParaRPr lang="zh-CN" altLang="en-US" sz="14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1DD6AC2-79A9-6D34-79D1-2831B5040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918" y="3321103"/>
            <a:ext cx="1634141" cy="1204926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DCBAF9F-3D4C-DD4B-0077-11DEC76BD9EB}"/>
              </a:ext>
            </a:extLst>
          </p:cNvPr>
          <p:cNvCxnSpPr/>
          <p:nvPr/>
        </p:nvCxnSpPr>
        <p:spPr>
          <a:xfrm>
            <a:off x="2680447" y="3824524"/>
            <a:ext cx="1030942" cy="0"/>
          </a:xfrm>
          <a:prstGeom prst="straightConnector1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BBAD56F-8087-B136-30CA-F7594630EC2A}"/>
              </a:ext>
            </a:extLst>
          </p:cNvPr>
          <p:cNvCxnSpPr>
            <a:cxnSpLocks/>
          </p:cNvCxnSpPr>
          <p:nvPr/>
        </p:nvCxnSpPr>
        <p:spPr>
          <a:xfrm>
            <a:off x="6176682" y="3824524"/>
            <a:ext cx="1255060" cy="0"/>
          </a:xfrm>
          <a:prstGeom prst="straightConnector1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313A4D9-F769-F0BB-86B9-DC7D45ADA2AE}"/>
              </a:ext>
            </a:extLst>
          </p:cNvPr>
          <p:cNvSpPr txBox="1"/>
          <p:nvPr/>
        </p:nvSpPr>
        <p:spPr>
          <a:xfrm>
            <a:off x="9906488" y="256204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不便维护</a:t>
            </a:r>
            <a:endParaRPr lang="en-US" altLang="zh-CN" sz="36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3CA415A-0D9D-774A-4FBD-72043EDB83A9}"/>
              </a:ext>
            </a:extLst>
          </p:cNvPr>
          <p:cNvSpPr txBox="1"/>
          <p:nvPr/>
        </p:nvSpPr>
        <p:spPr>
          <a:xfrm>
            <a:off x="10026204" y="470671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难以复用</a:t>
            </a:r>
            <a:endParaRPr lang="en-US" altLang="zh-CN" sz="360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690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359669-4A4D-F0A2-E7A2-5A750988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为什么</a:t>
            </a:r>
            <a:r>
              <a:rPr lang="en-US" altLang="zh-CN"/>
              <a:t>?  </a:t>
            </a:r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分模块设计</a:t>
            </a:r>
          </a:p>
        </p:txBody>
      </p:sp>
      <p:sp>
        <p:nvSpPr>
          <p:cNvPr id="2" name="!!矩形: 圆角 4">
            <a:extLst>
              <a:ext uri="{FF2B5EF4-FFF2-40B4-BE49-F238E27FC236}">
                <a16:creationId xmlns:a16="http://schemas.microsoft.com/office/drawing/2014/main" id="{73E8A710-5884-686C-4766-A0E587FC3543}"/>
              </a:ext>
            </a:extLst>
          </p:cNvPr>
          <p:cNvSpPr/>
          <p:nvPr/>
        </p:nvSpPr>
        <p:spPr>
          <a:xfrm rot="16200000" flipV="1">
            <a:off x="771218" y="2080182"/>
            <a:ext cx="4279582" cy="4028909"/>
          </a:xfrm>
          <a:prstGeom prst="hexagon">
            <a:avLst>
              <a:gd name="adj" fmla="val 14936"/>
              <a:gd name="vf" fmla="val 11547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!!矩形: 圆角 7">
            <a:extLst>
              <a:ext uri="{FF2B5EF4-FFF2-40B4-BE49-F238E27FC236}">
                <a16:creationId xmlns:a16="http://schemas.microsoft.com/office/drawing/2014/main" id="{6F1B7E37-E4C2-20EC-9440-AAD5E230D04E}"/>
              </a:ext>
            </a:extLst>
          </p:cNvPr>
          <p:cNvSpPr/>
          <p:nvPr/>
        </p:nvSpPr>
        <p:spPr>
          <a:xfrm rot="5400000">
            <a:off x="1261120" y="2526504"/>
            <a:ext cx="1602665" cy="1370868"/>
          </a:xfrm>
          <a:prstGeom prst="hexagon">
            <a:avLst>
              <a:gd name="adj" fmla="val 28603"/>
              <a:gd name="vf" fmla="val 11547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5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!!矩形: 圆角 8">
            <a:extLst>
              <a:ext uri="{FF2B5EF4-FFF2-40B4-BE49-F238E27FC236}">
                <a16:creationId xmlns:a16="http://schemas.microsoft.com/office/drawing/2014/main" id="{241E890A-64A8-25B8-803B-99280ADEBC3E}"/>
              </a:ext>
            </a:extLst>
          </p:cNvPr>
          <p:cNvSpPr/>
          <p:nvPr/>
        </p:nvSpPr>
        <p:spPr>
          <a:xfrm rot="5400000">
            <a:off x="2937143" y="2526505"/>
            <a:ext cx="1602665" cy="1370868"/>
          </a:xfrm>
          <a:prstGeom prst="hexagon">
            <a:avLst>
              <a:gd name="adj" fmla="val 28603"/>
              <a:gd name="vf" fmla="val 11547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5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!!矩形: 圆角 9">
            <a:extLst>
              <a:ext uri="{FF2B5EF4-FFF2-40B4-BE49-F238E27FC236}">
                <a16:creationId xmlns:a16="http://schemas.microsoft.com/office/drawing/2014/main" id="{D87FBC38-E1D9-C181-3719-508672725A18}"/>
              </a:ext>
            </a:extLst>
          </p:cNvPr>
          <p:cNvSpPr/>
          <p:nvPr/>
        </p:nvSpPr>
        <p:spPr>
          <a:xfrm rot="5400000">
            <a:off x="1261120" y="4292617"/>
            <a:ext cx="1602665" cy="1370868"/>
          </a:xfrm>
          <a:prstGeom prst="hexagon">
            <a:avLst>
              <a:gd name="adj" fmla="val 28603"/>
              <a:gd name="vf" fmla="val 11547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5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!!矩形: 圆角 10">
            <a:extLst>
              <a:ext uri="{FF2B5EF4-FFF2-40B4-BE49-F238E27FC236}">
                <a16:creationId xmlns:a16="http://schemas.microsoft.com/office/drawing/2014/main" id="{C78D009E-23FF-A7F9-5913-E2508F11B0C6}"/>
              </a:ext>
            </a:extLst>
          </p:cNvPr>
          <p:cNvSpPr/>
          <p:nvPr/>
        </p:nvSpPr>
        <p:spPr>
          <a:xfrm rot="5400000">
            <a:off x="2937143" y="4292618"/>
            <a:ext cx="1602665" cy="1370868"/>
          </a:xfrm>
          <a:prstGeom prst="hexagon">
            <a:avLst>
              <a:gd name="adj" fmla="val 28603"/>
              <a:gd name="vf" fmla="val 11547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5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FF9115-C55F-90AB-6632-BBEFC9A25A2E}"/>
              </a:ext>
            </a:extLst>
          </p:cNvPr>
          <p:cNvSpPr txBox="1"/>
          <p:nvPr/>
        </p:nvSpPr>
        <p:spPr>
          <a:xfrm>
            <a:off x="1685627" y="3285804"/>
            <a:ext cx="789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商品模块</a:t>
            </a:r>
            <a:endParaRPr lang="zh-CN" altLang="en-US" sz="12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A1261E-4F3A-2612-71AD-4D5BA5109C69}"/>
              </a:ext>
            </a:extLst>
          </p:cNvPr>
          <p:cNvSpPr txBox="1"/>
          <p:nvPr/>
        </p:nvSpPr>
        <p:spPr>
          <a:xfrm>
            <a:off x="3345403" y="3279626"/>
            <a:ext cx="798855" cy="28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搜索模块</a:t>
            </a:r>
            <a:endParaRPr lang="zh-CN" altLang="en-US" sz="12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7D8622-8D50-0AAC-4B9B-10956310E28A}"/>
              </a:ext>
            </a:extLst>
          </p:cNvPr>
          <p:cNvSpPr txBox="1"/>
          <p:nvPr/>
        </p:nvSpPr>
        <p:spPr>
          <a:xfrm>
            <a:off x="1564104" y="5066466"/>
            <a:ext cx="98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购物车模块</a:t>
            </a:r>
            <a:endParaRPr lang="zh-CN" altLang="en-US" sz="12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CF097B-155B-9190-ED81-BADF4AB33340}"/>
              </a:ext>
            </a:extLst>
          </p:cNvPr>
          <p:cNvSpPr txBox="1"/>
          <p:nvPr/>
        </p:nvSpPr>
        <p:spPr>
          <a:xfrm>
            <a:off x="3322045" y="5092815"/>
            <a:ext cx="832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订单模块</a:t>
            </a:r>
            <a:endParaRPr lang="zh-CN" altLang="en-US" sz="12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6185E69-FEC8-F66C-E6F5-B6F8A3F47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36" y="2866937"/>
            <a:ext cx="590388" cy="4353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09B4B0E-5CC0-EA3A-87D3-51173138B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1" y="2866937"/>
            <a:ext cx="590388" cy="43532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28E97B1-7353-67E9-8170-FA8C6F97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281" y="4659044"/>
            <a:ext cx="590388" cy="4353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28AD125-8796-A535-F9A7-AE595BC3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236" y="4659044"/>
            <a:ext cx="590388" cy="43532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36C5AE8-9B97-9114-0D0C-0AAA21A04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92" y="2866937"/>
            <a:ext cx="590388" cy="43532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C94B155-75AA-E79C-D57B-AC6016956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637" y="2866937"/>
            <a:ext cx="590388" cy="43532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219BAF4-3915-B78D-96AC-E9073742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637" y="4659044"/>
            <a:ext cx="590388" cy="43532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64819A4-C575-7A0E-B513-7CCE06D23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92" y="4659044"/>
            <a:ext cx="590388" cy="43532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9FF5083-C2C9-B802-0F96-5981C3CA8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730" y="3865650"/>
            <a:ext cx="605469" cy="44644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AC38453-CDED-7489-924D-8CFC9A61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479" y="3865649"/>
            <a:ext cx="605469" cy="446441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B60DC3-B7A4-9CE9-055B-CADEC0037F93}"/>
              </a:ext>
            </a:extLst>
          </p:cNvPr>
          <p:cNvSpPr/>
          <p:nvPr/>
        </p:nvSpPr>
        <p:spPr>
          <a:xfrm>
            <a:off x="6086504" y="2227488"/>
            <a:ext cx="5125077" cy="3898467"/>
          </a:xfrm>
          <a:prstGeom prst="roundRect">
            <a:avLst>
              <a:gd name="adj" fmla="val 2098"/>
            </a:avLst>
          </a:prstGeom>
          <a:solidFill>
            <a:schemeClr val="bg1">
              <a:lumMod val="85000"/>
              <a:alpha val="20000"/>
            </a:schemeClr>
          </a:solidFill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142B5D8-1254-16C5-8D36-C9FBC06C1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329" y="3887557"/>
            <a:ext cx="1230970" cy="907650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03B9F36-C823-6680-800E-1C51FDCD7741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537299" y="3437300"/>
            <a:ext cx="1371603" cy="904082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E470826-C217-6172-5D2C-949AF2E1D47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7537299" y="4093956"/>
            <a:ext cx="1371603" cy="247426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962F5D4-A613-7065-0DF2-EB8284D9E4E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537299" y="4341382"/>
            <a:ext cx="1371603" cy="360517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47C9A34-5897-B602-B7FC-4AA558E6FE8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537299" y="4341382"/>
            <a:ext cx="1371603" cy="1110481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矩形: 对角圆角 28">
            <a:extLst>
              <a:ext uri="{FF2B5EF4-FFF2-40B4-BE49-F238E27FC236}">
                <a16:creationId xmlns:a16="http://schemas.microsoft.com/office/drawing/2014/main" id="{933903AE-ABC3-B6C5-DC4C-95C5E41307AF}"/>
              </a:ext>
            </a:extLst>
          </p:cNvPr>
          <p:cNvSpPr/>
          <p:nvPr/>
        </p:nvSpPr>
        <p:spPr>
          <a:xfrm>
            <a:off x="9995647" y="5674659"/>
            <a:ext cx="1215934" cy="451928"/>
          </a:xfrm>
          <a:prstGeom prst="round2DiagRect">
            <a:avLst>
              <a:gd name="adj1" fmla="val 12994"/>
              <a:gd name="adj2" fmla="val 0"/>
            </a:avLst>
          </a:prstGeom>
          <a:solidFill>
            <a:schemeClr val="tx1">
              <a:lumMod val="60000"/>
              <a:lumOff val="40000"/>
            </a:schemeClr>
          </a:solidFill>
          <a:ln w="6350">
            <a:noFill/>
            <a:prstDash val="dash"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5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分模块设计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AE7C32C-31F5-E1ED-4CFB-EB18B94ECC7A}"/>
              </a:ext>
            </a:extLst>
          </p:cNvPr>
          <p:cNvCxnSpPr>
            <a:cxnSpLocks/>
          </p:cNvCxnSpPr>
          <p:nvPr/>
        </p:nvCxnSpPr>
        <p:spPr>
          <a:xfrm flipV="1">
            <a:off x="7537299" y="2741434"/>
            <a:ext cx="1371603" cy="1599948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51B24A8-6571-109C-B604-22B1F0F94BC5}"/>
              </a:ext>
            </a:extLst>
          </p:cNvPr>
          <p:cNvSpPr txBox="1"/>
          <p:nvPr/>
        </p:nvSpPr>
        <p:spPr>
          <a:xfrm>
            <a:off x="9519870" y="3420771"/>
            <a:ext cx="789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商品模块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B039E39-6B4E-091B-1691-E6009CAE77BA}"/>
              </a:ext>
            </a:extLst>
          </p:cNvPr>
          <p:cNvSpPr txBox="1"/>
          <p:nvPr/>
        </p:nvSpPr>
        <p:spPr>
          <a:xfrm>
            <a:off x="9488290" y="4070868"/>
            <a:ext cx="798855" cy="28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搜索模块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9E6DBAB-D508-003F-CFC8-182CF4A8A383}"/>
              </a:ext>
            </a:extLst>
          </p:cNvPr>
          <p:cNvSpPr txBox="1"/>
          <p:nvPr/>
        </p:nvSpPr>
        <p:spPr>
          <a:xfrm>
            <a:off x="9501955" y="4704609"/>
            <a:ext cx="98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购物车模块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E70E416-2D50-79D9-18E0-D4440A097A73}"/>
              </a:ext>
            </a:extLst>
          </p:cNvPr>
          <p:cNvSpPr txBox="1"/>
          <p:nvPr/>
        </p:nvSpPr>
        <p:spPr>
          <a:xfrm>
            <a:off x="9506362" y="5384331"/>
            <a:ext cx="832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订单模块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286DFD-BEE6-A341-B8F3-F9F10EED6048}"/>
              </a:ext>
            </a:extLst>
          </p:cNvPr>
          <p:cNvSpPr txBox="1"/>
          <p:nvPr/>
        </p:nvSpPr>
        <p:spPr>
          <a:xfrm>
            <a:off x="9512749" y="2650312"/>
            <a:ext cx="789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通用组件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6" name="连接符: 曲线 35">
            <a:extLst>
              <a:ext uri="{FF2B5EF4-FFF2-40B4-BE49-F238E27FC236}">
                <a16:creationId xmlns:a16="http://schemas.microsoft.com/office/drawing/2014/main" id="{C48CFD14-D5BA-3A30-A0B5-B01F86930B20}"/>
              </a:ext>
            </a:extLst>
          </p:cNvPr>
          <p:cNvCxnSpPr>
            <a:cxnSpLocks/>
            <a:stCxn id="35" idx="3"/>
            <a:endCxn id="31" idx="3"/>
          </p:cNvCxnSpPr>
          <p:nvPr/>
        </p:nvCxnSpPr>
        <p:spPr>
          <a:xfrm>
            <a:off x="10302497" y="2788812"/>
            <a:ext cx="7121" cy="770459"/>
          </a:xfrm>
          <a:prstGeom prst="curvedConnector3">
            <a:avLst>
              <a:gd name="adj1" fmla="val 2177194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93BDDC0A-747B-E994-86EE-A084714D5ECD}"/>
              </a:ext>
            </a:extLst>
          </p:cNvPr>
          <p:cNvCxnSpPr>
            <a:cxnSpLocks/>
            <a:stCxn id="35" idx="3"/>
            <a:endCxn id="32" idx="3"/>
          </p:cNvCxnSpPr>
          <p:nvPr/>
        </p:nvCxnSpPr>
        <p:spPr>
          <a:xfrm flipH="1">
            <a:off x="10287145" y="2788812"/>
            <a:ext cx="15352" cy="1423645"/>
          </a:xfrm>
          <a:prstGeom prst="curvedConnector3">
            <a:avLst>
              <a:gd name="adj1" fmla="val -1489057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4EFB8563-7EB1-4A59-2388-2D4A751CBB5A}"/>
              </a:ext>
            </a:extLst>
          </p:cNvPr>
          <p:cNvCxnSpPr>
            <a:cxnSpLocks/>
            <a:stCxn id="35" idx="3"/>
            <a:endCxn id="33" idx="3"/>
          </p:cNvCxnSpPr>
          <p:nvPr/>
        </p:nvCxnSpPr>
        <p:spPr>
          <a:xfrm>
            <a:off x="10302497" y="2788812"/>
            <a:ext cx="186841" cy="2054297"/>
          </a:xfrm>
          <a:prstGeom prst="curvedConnector3">
            <a:avLst>
              <a:gd name="adj1" fmla="val 22235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D9E8C2D9-C303-64D1-C526-A40B4D13812D}"/>
              </a:ext>
            </a:extLst>
          </p:cNvPr>
          <p:cNvCxnSpPr>
            <a:cxnSpLocks/>
            <a:stCxn id="35" idx="3"/>
            <a:endCxn id="34" idx="3"/>
          </p:cNvCxnSpPr>
          <p:nvPr/>
        </p:nvCxnSpPr>
        <p:spPr>
          <a:xfrm>
            <a:off x="10302497" y="2788812"/>
            <a:ext cx="36356" cy="2734019"/>
          </a:xfrm>
          <a:prstGeom prst="curvedConnector3">
            <a:avLst>
              <a:gd name="adj1" fmla="val 173976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内容占位符 5">
            <a:extLst>
              <a:ext uri="{FF2B5EF4-FFF2-40B4-BE49-F238E27FC236}">
                <a16:creationId xmlns:a16="http://schemas.microsoft.com/office/drawing/2014/main" id="{17630D0C-8838-9E04-7025-524CA92A167D}"/>
              </a:ext>
            </a:extLst>
          </p:cNvPr>
          <p:cNvSpPr txBox="1">
            <a:spLocks/>
          </p:cNvSpPr>
          <p:nvPr/>
        </p:nvSpPr>
        <p:spPr>
          <a:xfrm>
            <a:off x="1848594" y="963501"/>
            <a:ext cx="9461047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>
                <a:latin typeface="Consolas" panose="020B0609020204030204" pitchFamily="49" charset="0"/>
                <a:sym typeface="Consolas" panose="020B0609020204030204" pitchFamily="49" charset="0"/>
              </a:rPr>
              <a:t>将一个大项目</a:t>
            </a:r>
            <a:r>
              <a:rPr kumimoji="1"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拆分成若干个子模块，方便项目的管理维护、扩展，也方便模块间的相互引用，资源共享。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422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48148E-6 L 0.5849 0.06829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245" y="340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48148E-6 L 0.44688 0.16157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44" y="807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1.11111E-6 L 0.5849 -0.00324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245" y="-162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11111E-6 L 0.44688 0.09722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44" y="4861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0.51615 -0.20254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07" y="-1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1" grpId="0"/>
      <p:bldP spid="32" grpId="0"/>
      <p:bldP spid="33" grpId="0"/>
      <p:bldP spid="34" grpId="0"/>
      <p:bldP spid="35" grpId="0"/>
      <p:bldP spid="4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8119DF2-4966-8091-E2FD-B51DD6902DFC}"/>
              </a:ext>
            </a:extLst>
          </p:cNvPr>
          <p:cNvSpPr/>
          <p:nvPr/>
        </p:nvSpPr>
        <p:spPr>
          <a:xfrm>
            <a:off x="8624052" y="2864501"/>
            <a:ext cx="2698377" cy="2438400"/>
          </a:xfrm>
          <a:prstGeom prst="roundRect">
            <a:avLst>
              <a:gd name="adj" fmla="val 343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B732A08-1F5B-7FA7-CF98-EFD040906BD7}"/>
              </a:ext>
            </a:extLst>
          </p:cNvPr>
          <p:cNvSpPr/>
          <p:nvPr/>
        </p:nvSpPr>
        <p:spPr>
          <a:xfrm>
            <a:off x="4697505" y="2864501"/>
            <a:ext cx="2698377" cy="2438400"/>
          </a:xfrm>
          <a:prstGeom prst="roundRect">
            <a:avLst>
              <a:gd name="adj" fmla="val 343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49D33DB-8BD0-F873-0BE4-20DF137C8330}"/>
              </a:ext>
            </a:extLst>
          </p:cNvPr>
          <p:cNvSpPr/>
          <p:nvPr/>
        </p:nvSpPr>
        <p:spPr>
          <a:xfrm>
            <a:off x="869576" y="2864501"/>
            <a:ext cx="2698377" cy="2438400"/>
          </a:xfrm>
          <a:prstGeom prst="roundRect">
            <a:avLst>
              <a:gd name="adj" fmla="val 343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CDCD3-1DEE-C615-DE7B-0F08B3485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8215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策略一：按照功能模块拆分，比如：公共组件、商品模块、搜索模块、购物车模块、订单模块等。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策略二：按层拆分，比如：公共组件、实体类、控制层、业务层、数据访问层。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策略三：按照功能模块 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+ 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层拆分。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95253CC-2CCF-8ACB-EB6E-14973833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分模块设计</a:t>
            </a:r>
            <a:r>
              <a:rPr lang="en-US" altLang="zh-CN"/>
              <a:t>-</a:t>
            </a:r>
            <a:r>
              <a:rPr lang="zh-CN" altLang="en-US"/>
              <a:t>策略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3A1477B-DB76-FD29-7C86-7A7E3615D9E1}"/>
              </a:ext>
            </a:extLst>
          </p:cNvPr>
          <p:cNvSpPr/>
          <p:nvPr/>
        </p:nvSpPr>
        <p:spPr>
          <a:xfrm>
            <a:off x="1021979" y="3030071"/>
            <a:ext cx="2393572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mall-common</a:t>
            </a:r>
            <a:endParaRPr lang="zh-CN" altLang="en-US" sz="1200" b="1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83AAA28-9E6A-B6AB-75A4-6EABEE84EB40}"/>
              </a:ext>
            </a:extLst>
          </p:cNvPr>
          <p:cNvSpPr/>
          <p:nvPr/>
        </p:nvSpPr>
        <p:spPr>
          <a:xfrm>
            <a:off x="1021979" y="3457154"/>
            <a:ext cx="2393572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mall-goods</a:t>
            </a:r>
            <a:endParaRPr lang="zh-CN" altLang="en-US" sz="1200" b="1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C86A53-3803-BE28-8BBA-399B7C53B1CB}"/>
              </a:ext>
            </a:extLst>
          </p:cNvPr>
          <p:cNvSpPr/>
          <p:nvPr/>
        </p:nvSpPr>
        <p:spPr>
          <a:xfrm>
            <a:off x="1021979" y="3884237"/>
            <a:ext cx="2393572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mall-search</a:t>
            </a:r>
            <a:endParaRPr lang="zh-CN" altLang="en-US" sz="1200" b="1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6FA6794-C5B6-B584-A990-2884DF14FF47}"/>
              </a:ext>
            </a:extLst>
          </p:cNvPr>
          <p:cNvSpPr/>
          <p:nvPr/>
        </p:nvSpPr>
        <p:spPr>
          <a:xfrm>
            <a:off x="1021979" y="4311320"/>
            <a:ext cx="2393572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mall-cart</a:t>
            </a:r>
            <a:endParaRPr lang="zh-CN" altLang="en-US" sz="1200" b="1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121E24F-7DA1-13C7-35A1-8DFC6F267C39}"/>
              </a:ext>
            </a:extLst>
          </p:cNvPr>
          <p:cNvSpPr/>
          <p:nvPr/>
        </p:nvSpPr>
        <p:spPr>
          <a:xfrm>
            <a:off x="1021979" y="4738403"/>
            <a:ext cx="2393572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mall-order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D61FF01-9E6E-E9F1-A41C-B01AA539ED99}"/>
              </a:ext>
            </a:extLst>
          </p:cNvPr>
          <p:cNvSpPr/>
          <p:nvPr/>
        </p:nvSpPr>
        <p:spPr>
          <a:xfrm>
            <a:off x="4849907" y="3457154"/>
            <a:ext cx="2393575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mall-common</a:t>
            </a:r>
            <a:endParaRPr lang="zh-CN" altLang="en-US" sz="1200" b="1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986327-DD17-BE90-9110-FABCCE590653}"/>
              </a:ext>
            </a:extLst>
          </p:cNvPr>
          <p:cNvSpPr/>
          <p:nvPr/>
        </p:nvSpPr>
        <p:spPr>
          <a:xfrm>
            <a:off x="4849907" y="3884237"/>
            <a:ext cx="2393575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mall-controller</a:t>
            </a:r>
            <a:endParaRPr lang="zh-CN" altLang="en-US" sz="1200" b="1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95EDF9-5C40-369D-774D-3D5226200C05}"/>
              </a:ext>
            </a:extLst>
          </p:cNvPr>
          <p:cNvSpPr/>
          <p:nvPr/>
        </p:nvSpPr>
        <p:spPr>
          <a:xfrm>
            <a:off x="4849907" y="4311320"/>
            <a:ext cx="2393575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mall-service</a:t>
            </a:r>
            <a:endParaRPr lang="zh-CN" altLang="en-US" sz="1200" b="1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0CE0FE7-125C-E54E-49B1-E9B88801E60A}"/>
              </a:ext>
            </a:extLst>
          </p:cNvPr>
          <p:cNvSpPr/>
          <p:nvPr/>
        </p:nvSpPr>
        <p:spPr>
          <a:xfrm>
            <a:off x="4849907" y="4738403"/>
            <a:ext cx="2393575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mall-mapper</a:t>
            </a:r>
            <a:endParaRPr lang="zh-CN" altLang="en-US" sz="1200" b="1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5E2FC4C-2AFD-F1DF-9B0E-BC07FF426AFB}"/>
              </a:ext>
            </a:extLst>
          </p:cNvPr>
          <p:cNvSpPr/>
          <p:nvPr/>
        </p:nvSpPr>
        <p:spPr>
          <a:xfrm>
            <a:off x="4849907" y="3030071"/>
            <a:ext cx="2393575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mall-pojo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4572451-E422-8451-95D2-4102E2474CA5}"/>
              </a:ext>
            </a:extLst>
          </p:cNvPr>
          <p:cNvSpPr/>
          <p:nvPr/>
        </p:nvSpPr>
        <p:spPr>
          <a:xfrm>
            <a:off x="8776453" y="3030071"/>
            <a:ext cx="2393576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mall-common</a:t>
            </a:r>
            <a:endParaRPr lang="zh-CN" altLang="en-US" sz="1200" b="1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04C7AE2-097C-A5B9-4381-2DF4BFCF178C}"/>
              </a:ext>
            </a:extLst>
          </p:cNvPr>
          <p:cNvSpPr/>
          <p:nvPr/>
        </p:nvSpPr>
        <p:spPr>
          <a:xfrm>
            <a:off x="8776453" y="3457154"/>
            <a:ext cx="2393576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mall-goods-controller</a:t>
            </a:r>
            <a:endParaRPr lang="zh-CN" altLang="en-US" sz="1200" b="1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E29ABB7-8210-20BC-66D8-F5A425B77476}"/>
              </a:ext>
            </a:extLst>
          </p:cNvPr>
          <p:cNvSpPr/>
          <p:nvPr/>
        </p:nvSpPr>
        <p:spPr>
          <a:xfrm>
            <a:off x="8776453" y="3884237"/>
            <a:ext cx="2393576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mall-goods-service</a:t>
            </a:r>
            <a:endParaRPr lang="zh-CN" altLang="en-US" sz="1200" b="1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4E6EAAF-0F70-9516-9450-C9E9684281FE}"/>
              </a:ext>
            </a:extLst>
          </p:cNvPr>
          <p:cNvSpPr/>
          <p:nvPr/>
        </p:nvSpPr>
        <p:spPr>
          <a:xfrm>
            <a:off x="8776453" y="4311320"/>
            <a:ext cx="2393576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mall-order-controller</a:t>
            </a:r>
            <a:endParaRPr lang="zh-CN" altLang="en-US" sz="1200" b="1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F34A06-71E5-A986-0050-67BF1278E086}"/>
              </a:ext>
            </a:extLst>
          </p:cNvPr>
          <p:cNvSpPr/>
          <p:nvPr/>
        </p:nvSpPr>
        <p:spPr>
          <a:xfrm>
            <a:off x="8776453" y="4738403"/>
            <a:ext cx="2393576" cy="39892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/>
              <a:t>mall-order-service</a:t>
            </a:r>
            <a:endParaRPr lang="zh-CN" altLang="en-US" sz="1200" b="1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DF32A8D-0026-02A6-5F51-E39011B3EFF8}"/>
              </a:ext>
            </a:extLst>
          </p:cNvPr>
          <p:cNvSpPr txBox="1"/>
          <p:nvPr/>
        </p:nvSpPr>
        <p:spPr>
          <a:xfrm>
            <a:off x="1784991" y="5468471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按模块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9AAED1-5C19-8348-58F2-F1F13A0D4288}"/>
              </a:ext>
            </a:extLst>
          </p:cNvPr>
          <p:cNvSpPr txBox="1"/>
          <p:nvPr/>
        </p:nvSpPr>
        <p:spPr>
          <a:xfrm>
            <a:off x="5744035" y="5432580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按层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CEACFD3-D227-565F-10CF-4744834E9163}"/>
              </a:ext>
            </a:extLst>
          </p:cNvPr>
          <p:cNvSpPr txBox="1"/>
          <p:nvPr/>
        </p:nvSpPr>
        <p:spPr>
          <a:xfrm>
            <a:off x="9367144" y="5462484"/>
            <a:ext cx="1212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按模块 </a:t>
            </a:r>
            <a:r>
              <a:rPr lang="en-US" altLang="zh-CN" sz="1400"/>
              <a:t>+ </a:t>
            </a:r>
            <a:r>
              <a:rPr lang="zh-CN" altLang="en-US" sz="1400"/>
              <a:t>层</a:t>
            </a:r>
          </a:p>
        </p:txBody>
      </p:sp>
    </p:spTree>
    <p:extLst>
      <p:ext uri="{BB962C8B-B14F-4D97-AF65-F5344CB8AC3E}">
        <p14:creationId xmlns:p14="http://schemas.microsoft.com/office/powerpoint/2010/main" val="398664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0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分模块设计</a:t>
            </a:r>
            <a:r>
              <a:rPr lang="en-US" altLang="zh-CN"/>
              <a:t>-</a:t>
            </a:r>
            <a:r>
              <a:rPr lang="zh-CN" altLang="en-US"/>
              <a:t>实战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944CAD-55B1-D4CC-8CEA-B147FE1F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989" y="2078813"/>
            <a:ext cx="3739100" cy="4274452"/>
          </a:xfrm>
          <a:prstGeom prst="roundRect">
            <a:avLst>
              <a:gd name="adj" fmla="val 2913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1A28EB-A422-B02A-818B-4D6BE4A81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89" y="3769063"/>
            <a:ext cx="1055832" cy="778513"/>
          </a:xfrm>
          <a:prstGeom prst="rect">
            <a:avLst/>
          </a:prstGeom>
        </p:spPr>
      </p:pic>
      <p:cxnSp>
        <p:nvCxnSpPr>
          <p:cNvPr id="4" name="!!直接箭头连接符 25">
            <a:extLst>
              <a:ext uri="{FF2B5EF4-FFF2-40B4-BE49-F238E27FC236}">
                <a16:creationId xmlns:a16="http://schemas.microsoft.com/office/drawing/2014/main" id="{835400D3-4F31-0271-8FCD-FED2E311E04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5363173" y="4249155"/>
            <a:ext cx="2005354" cy="7248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!!直接箭头连接符 26">
            <a:extLst>
              <a:ext uri="{FF2B5EF4-FFF2-40B4-BE49-F238E27FC236}">
                <a16:creationId xmlns:a16="http://schemas.microsoft.com/office/drawing/2014/main" id="{A66B6795-0129-A2D5-B70E-1DD7685CAF2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363173" y="4766438"/>
            <a:ext cx="2005354" cy="1020591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!!直接箭头连接符 27">
            <a:extLst>
              <a:ext uri="{FF2B5EF4-FFF2-40B4-BE49-F238E27FC236}">
                <a16:creationId xmlns:a16="http://schemas.microsoft.com/office/drawing/2014/main" id="{8C3F93D4-6C5C-1CCD-C5FA-C2AEBEC3C567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363173" y="2640787"/>
            <a:ext cx="2022957" cy="1083316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3BECF3-ABE4-3290-8B06-0D2D202E69E0}"/>
              </a:ext>
            </a:extLst>
          </p:cNvPr>
          <p:cNvGrpSpPr/>
          <p:nvPr/>
        </p:nvGrpSpPr>
        <p:grpSpPr>
          <a:xfrm>
            <a:off x="7368527" y="5171721"/>
            <a:ext cx="2494022" cy="1230615"/>
            <a:chOff x="7642874" y="5050132"/>
            <a:chExt cx="2494022" cy="1230615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4D17481-5448-F9BD-6733-ACA6B1FC37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0260"/>
            <a:stretch/>
          </p:blipFill>
          <p:spPr>
            <a:xfrm>
              <a:off x="7642874" y="5050132"/>
              <a:ext cx="2216430" cy="1230615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794E006-302D-21B7-9817-3E149A10C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6508" y="5447779"/>
              <a:ext cx="590388" cy="435320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8058AF88-D836-6BD1-C7E3-DF641A8FB6F1}"/>
              </a:ext>
            </a:extLst>
          </p:cNvPr>
          <p:cNvSpPr/>
          <p:nvPr/>
        </p:nvSpPr>
        <p:spPr>
          <a:xfrm>
            <a:off x="1589989" y="4832987"/>
            <a:ext cx="3737571" cy="208062"/>
          </a:xfrm>
          <a:prstGeom prst="rect">
            <a:avLst/>
          </a:prstGeom>
          <a:solidFill>
            <a:srgbClr val="00B05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2322B7-2469-0A9B-6A78-AACB962AC4FF}"/>
              </a:ext>
            </a:extLst>
          </p:cNvPr>
          <p:cNvSpPr/>
          <p:nvPr/>
        </p:nvSpPr>
        <p:spPr>
          <a:xfrm>
            <a:off x="1589989" y="5257884"/>
            <a:ext cx="3737571" cy="208062"/>
          </a:xfrm>
          <a:prstGeom prst="rect">
            <a:avLst/>
          </a:prstGeom>
          <a:solidFill>
            <a:srgbClr val="FF0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55C8827-BCD9-0833-187A-28A3ADBE35DF}"/>
              </a:ext>
            </a:extLst>
          </p:cNvPr>
          <p:cNvGrpSpPr/>
          <p:nvPr/>
        </p:nvGrpSpPr>
        <p:grpSpPr>
          <a:xfrm>
            <a:off x="7386130" y="1954986"/>
            <a:ext cx="2476419" cy="1371601"/>
            <a:chOff x="7660477" y="1833397"/>
            <a:chExt cx="2476419" cy="1371601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FF825B5-B083-75BA-6B03-973FAC9C8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60477" y="1833398"/>
              <a:ext cx="2181225" cy="1371600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4CBB1F3-E32E-3844-E5DE-073EF89E7D7A}"/>
                </a:ext>
              </a:extLst>
            </p:cNvPr>
            <p:cNvSpPr/>
            <p:nvPr/>
          </p:nvSpPr>
          <p:spPr>
            <a:xfrm>
              <a:off x="7662463" y="1833397"/>
              <a:ext cx="2179239" cy="1371599"/>
            </a:xfrm>
            <a:prstGeom prst="rect">
              <a:avLst/>
            </a:prstGeom>
            <a:solidFill>
              <a:srgbClr val="00B050">
                <a:alpha val="2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E0D30D9-5F88-9AA7-D223-FDB0C8CBC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6508" y="2305801"/>
              <a:ext cx="590388" cy="435320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95A5E61-33F9-D378-1252-A92E065C38B1}"/>
              </a:ext>
            </a:extLst>
          </p:cNvPr>
          <p:cNvGrpSpPr/>
          <p:nvPr/>
        </p:nvGrpSpPr>
        <p:grpSpPr>
          <a:xfrm>
            <a:off x="7368527" y="3593696"/>
            <a:ext cx="2494022" cy="1321678"/>
            <a:chOff x="7642874" y="3472107"/>
            <a:chExt cx="2494022" cy="132167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1B12DAF-2A96-5C92-66FF-B4E098690A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0260"/>
            <a:stretch/>
          </p:blipFill>
          <p:spPr>
            <a:xfrm>
              <a:off x="7642874" y="3472109"/>
              <a:ext cx="2216431" cy="1310913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606F8E7-A438-816E-06F6-CEEF2DF85547}"/>
                </a:ext>
              </a:extLst>
            </p:cNvPr>
            <p:cNvSpPr/>
            <p:nvPr/>
          </p:nvSpPr>
          <p:spPr>
            <a:xfrm>
              <a:off x="7642874" y="3472107"/>
              <a:ext cx="2223810" cy="1321678"/>
            </a:xfrm>
            <a:prstGeom prst="rect">
              <a:avLst/>
            </a:prstGeom>
            <a:solidFill>
              <a:srgbClr val="FF0000">
                <a:alpha val="2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A84A4A15-938F-9B28-48A2-A2B704AD8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6508" y="3909905"/>
              <a:ext cx="590388" cy="435320"/>
            </a:xfrm>
            <a:prstGeom prst="rect">
              <a:avLst/>
            </a:prstGeom>
          </p:spPr>
        </p:pic>
      </p:grp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081571CB-576E-5276-5195-39D73D448BF3}"/>
              </a:ext>
            </a:extLst>
          </p:cNvPr>
          <p:cNvCxnSpPr>
            <a:stCxn id="17" idx="3"/>
            <a:endCxn id="11" idx="3"/>
          </p:cNvCxnSpPr>
          <p:nvPr/>
        </p:nvCxnSpPr>
        <p:spPr>
          <a:xfrm>
            <a:off x="9862549" y="2645050"/>
            <a:ext cx="12700" cy="3141978"/>
          </a:xfrm>
          <a:prstGeom prst="curvedConnector3">
            <a:avLst>
              <a:gd name="adj1" fmla="val 5155346"/>
            </a:avLst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CAC6F507-0E1D-7715-C343-599A9996D325}"/>
              </a:ext>
            </a:extLst>
          </p:cNvPr>
          <p:cNvCxnSpPr>
            <a:stCxn id="21" idx="3"/>
            <a:endCxn id="11" idx="3"/>
          </p:cNvCxnSpPr>
          <p:nvPr/>
        </p:nvCxnSpPr>
        <p:spPr>
          <a:xfrm>
            <a:off x="9862549" y="4249154"/>
            <a:ext cx="12700" cy="1537874"/>
          </a:xfrm>
          <a:prstGeom prst="curvedConnector3">
            <a:avLst>
              <a:gd name="adj1" fmla="val 1730102"/>
            </a:avLst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09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B62C41-6CF3-05D5-9114-38FCC80F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分模块开发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4D908F2-2325-C8C6-7B06-558AA7E1B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706" y="1024932"/>
            <a:ext cx="10740933" cy="98316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创建</a:t>
            </a:r>
            <a:r>
              <a:rPr lang="en-US" altLang="zh-CN"/>
              <a:t>maven</a:t>
            </a:r>
            <a:r>
              <a:rPr lang="zh-CN" altLang="en-US"/>
              <a:t>模块</a:t>
            </a:r>
            <a:r>
              <a:rPr lang="en-US" altLang="zh-CN"/>
              <a:t> tlias-pojo</a:t>
            </a:r>
            <a:r>
              <a:rPr lang="zh-CN" altLang="en-US"/>
              <a:t>，存放实体类。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创建</a:t>
            </a:r>
            <a:r>
              <a:rPr lang="en-US" altLang="zh-CN"/>
              <a:t>maven</a:t>
            </a:r>
            <a:r>
              <a:rPr lang="zh-CN" altLang="en-US"/>
              <a:t>模块 </a:t>
            </a:r>
            <a:r>
              <a:rPr lang="en-US" altLang="zh-CN"/>
              <a:t>tlias-utils</a:t>
            </a:r>
            <a:r>
              <a:rPr lang="zh-CN" altLang="en-US"/>
              <a:t>，存放相关工具类。</a:t>
            </a:r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2053470-F4EE-3282-F89B-243FF44DA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75" y="2241941"/>
            <a:ext cx="2771544" cy="3144846"/>
          </a:xfrm>
          <a:prstGeom prst="roundRect">
            <a:avLst>
              <a:gd name="adj" fmla="val 2913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0C85129-2B6D-DF11-1872-69FFE7D07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82" y="3623653"/>
            <a:ext cx="726619" cy="531792"/>
          </a:xfrm>
          <a:prstGeom prst="rect">
            <a:avLst/>
          </a:prstGeom>
        </p:spPr>
      </p:pic>
      <p:cxnSp>
        <p:nvCxnSpPr>
          <p:cNvPr id="10" name="!!直接箭头连接符 25">
            <a:extLst>
              <a:ext uri="{FF2B5EF4-FFF2-40B4-BE49-F238E27FC236}">
                <a16:creationId xmlns:a16="http://schemas.microsoft.com/office/drawing/2014/main" id="{423C9BAE-0343-CD91-A4B2-8A2941869A24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732657" y="3889549"/>
            <a:ext cx="870372" cy="4952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!!直接箭头连接符 26">
            <a:extLst>
              <a:ext uri="{FF2B5EF4-FFF2-40B4-BE49-F238E27FC236}">
                <a16:creationId xmlns:a16="http://schemas.microsoft.com/office/drawing/2014/main" id="{604AA492-6596-E6BB-DB9A-04606A3C877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732657" y="4242899"/>
            <a:ext cx="870372" cy="697153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!!直接箭头连接符 27">
            <a:extLst>
              <a:ext uri="{FF2B5EF4-FFF2-40B4-BE49-F238E27FC236}">
                <a16:creationId xmlns:a16="http://schemas.microsoft.com/office/drawing/2014/main" id="{21A44A4F-E567-179C-0EC1-A38D6BD4709F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732657" y="2790895"/>
            <a:ext cx="882486" cy="739998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FFFDEE-9C90-7A08-4C6C-5F7448C1322C}"/>
              </a:ext>
            </a:extLst>
          </p:cNvPr>
          <p:cNvGrpSpPr/>
          <p:nvPr/>
        </p:nvGrpSpPr>
        <p:grpSpPr>
          <a:xfrm>
            <a:off x="4603029" y="4519743"/>
            <a:ext cx="1716375" cy="840617"/>
            <a:chOff x="7642874" y="5050132"/>
            <a:chExt cx="2494022" cy="1230615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72DB61AB-A541-9222-0B3F-259E41BBA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0260"/>
            <a:stretch/>
          </p:blipFill>
          <p:spPr>
            <a:xfrm>
              <a:off x="7642874" y="5050132"/>
              <a:ext cx="2216430" cy="1230615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DBB634C-90FB-7B3E-C4EB-A86B149E8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6508" y="5447779"/>
              <a:ext cx="590388" cy="435320"/>
            </a:xfrm>
            <a:prstGeom prst="rect">
              <a:avLst/>
            </a:prstGeom>
          </p:spPr>
        </p:pic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30FDF05C-A36F-7F83-AA38-87C63BA78E59}"/>
              </a:ext>
            </a:extLst>
          </p:cNvPr>
          <p:cNvSpPr/>
          <p:nvPr/>
        </p:nvSpPr>
        <p:spPr>
          <a:xfrm>
            <a:off x="962144" y="4279482"/>
            <a:ext cx="2770513" cy="140586"/>
          </a:xfrm>
          <a:prstGeom prst="rect">
            <a:avLst/>
          </a:prstGeom>
          <a:solidFill>
            <a:srgbClr val="00B05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970B1B-8FC9-3052-73BB-3AF7307315CA}"/>
              </a:ext>
            </a:extLst>
          </p:cNvPr>
          <p:cNvSpPr/>
          <p:nvPr/>
        </p:nvSpPr>
        <p:spPr>
          <a:xfrm>
            <a:off x="960134" y="4578599"/>
            <a:ext cx="2770513" cy="140586"/>
          </a:xfrm>
          <a:prstGeom prst="rect">
            <a:avLst/>
          </a:prstGeom>
          <a:solidFill>
            <a:srgbClr val="FF0000">
              <a:alpha val="2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87E2D9F-FAD7-8B10-58A4-B20DB6FFBAF7}"/>
              </a:ext>
            </a:extLst>
          </p:cNvPr>
          <p:cNvGrpSpPr/>
          <p:nvPr/>
        </p:nvGrpSpPr>
        <p:grpSpPr>
          <a:xfrm>
            <a:off x="4615143" y="2322433"/>
            <a:ext cx="1704261" cy="936923"/>
            <a:chOff x="7660477" y="1833397"/>
            <a:chExt cx="2476419" cy="1371601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890C817-8F41-000A-F966-C5A6D9B31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60477" y="1833398"/>
              <a:ext cx="2181225" cy="1371600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0DEF512-8945-4110-45BD-E2435306BB6A}"/>
                </a:ext>
              </a:extLst>
            </p:cNvPr>
            <p:cNvSpPr/>
            <p:nvPr/>
          </p:nvSpPr>
          <p:spPr>
            <a:xfrm>
              <a:off x="7662463" y="1833397"/>
              <a:ext cx="2179239" cy="1371599"/>
            </a:xfrm>
            <a:prstGeom prst="rect">
              <a:avLst/>
            </a:prstGeom>
            <a:solidFill>
              <a:srgbClr val="00B050">
                <a:alpha val="2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6917165-E308-6F8A-5397-ECEA8FC42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6508" y="2305801"/>
              <a:ext cx="590388" cy="435320"/>
            </a:xfrm>
            <a:prstGeom prst="rect">
              <a:avLst/>
            </a:prstGeom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FECD3E6-640D-75B6-BE32-AF5F0FC92AD5}"/>
              </a:ext>
            </a:extLst>
          </p:cNvPr>
          <p:cNvGrpSpPr/>
          <p:nvPr/>
        </p:nvGrpSpPr>
        <p:grpSpPr>
          <a:xfrm>
            <a:off x="4603029" y="3441814"/>
            <a:ext cx="1716375" cy="902821"/>
            <a:chOff x="7642874" y="3472107"/>
            <a:chExt cx="2494022" cy="1321678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93A8578-ACF7-5CF5-E7CA-93CBB57AA7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0260"/>
            <a:stretch/>
          </p:blipFill>
          <p:spPr>
            <a:xfrm>
              <a:off x="7642874" y="3472109"/>
              <a:ext cx="2216431" cy="1310913"/>
            </a:xfrm>
            <a:prstGeom prst="roundRect">
              <a:avLst>
                <a:gd name="adj" fmla="val 0"/>
              </a:avLst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</p:pic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0768F7C-CA84-2DB3-F13D-F334C83DAA67}"/>
                </a:ext>
              </a:extLst>
            </p:cNvPr>
            <p:cNvSpPr/>
            <p:nvPr/>
          </p:nvSpPr>
          <p:spPr>
            <a:xfrm>
              <a:off x="7642874" y="3472107"/>
              <a:ext cx="2223810" cy="1321678"/>
            </a:xfrm>
            <a:prstGeom prst="rect">
              <a:avLst/>
            </a:prstGeom>
            <a:solidFill>
              <a:srgbClr val="FF0000">
                <a:alpha val="2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FA14B4F9-6724-3056-C09B-1399D9ED3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6508" y="3909905"/>
              <a:ext cx="590388" cy="435320"/>
            </a:xfrm>
            <a:prstGeom prst="rect">
              <a:avLst/>
            </a:prstGeom>
          </p:spPr>
        </p:pic>
      </p:grp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A4748F3D-7836-42E4-B31F-A83800F4E6F3}"/>
              </a:ext>
            </a:extLst>
          </p:cNvPr>
          <p:cNvCxnSpPr>
            <a:stCxn id="21" idx="3"/>
            <a:endCxn id="15" idx="3"/>
          </p:cNvCxnSpPr>
          <p:nvPr/>
        </p:nvCxnSpPr>
        <p:spPr>
          <a:xfrm>
            <a:off x="6319404" y="2793807"/>
            <a:ext cx="12700" cy="2146244"/>
          </a:xfrm>
          <a:prstGeom prst="curvedConnector3">
            <a:avLst>
              <a:gd name="adj1" fmla="val 3352945"/>
            </a:avLst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7CA0F7BD-E6BB-35E0-8E3D-820A55EF1FFA}"/>
              </a:ext>
            </a:extLst>
          </p:cNvPr>
          <p:cNvCxnSpPr>
            <a:stCxn id="25" idx="3"/>
            <a:endCxn id="15" idx="3"/>
          </p:cNvCxnSpPr>
          <p:nvPr/>
        </p:nvCxnSpPr>
        <p:spPr>
          <a:xfrm>
            <a:off x="6319404" y="3889549"/>
            <a:ext cx="12700" cy="1050502"/>
          </a:xfrm>
          <a:prstGeom prst="curvedConnector3">
            <a:avLst>
              <a:gd name="adj1" fmla="val 1800000"/>
            </a:avLst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61E24EE-847C-8AC6-E153-4D3BDB8A3124}"/>
              </a:ext>
            </a:extLst>
          </p:cNvPr>
          <p:cNvGrpSpPr/>
          <p:nvPr/>
        </p:nvGrpSpPr>
        <p:grpSpPr>
          <a:xfrm>
            <a:off x="867385" y="6048962"/>
            <a:ext cx="10521961" cy="448408"/>
            <a:chOff x="710879" y="5978768"/>
            <a:chExt cx="10521961" cy="448408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87E93C3-C13A-C987-EA4A-F37911CA7D17}"/>
                </a:ext>
              </a:extLst>
            </p:cNvPr>
            <p:cNvSpPr/>
            <p:nvPr/>
          </p:nvSpPr>
          <p:spPr>
            <a:xfrm>
              <a:off x="710880" y="5978769"/>
              <a:ext cx="1052196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30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分模块开发需要先针对模块功能进行设计，再进行编码。不会先将工程开发完毕，然后进行拆分。</a:t>
              </a:r>
            </a:p>
          </p:txBody>
        </p:sp>
        <p:sp>
          <p:nvSpPr>
            <p:cNvPr id="51" name="矩形: 圆顶角 50">
              <a:extLst>
                <a:ext uri="{FF2B5EF4-FFF2-40B4-BE49-F238E27FC236}">
                  <a16:creationId xmlns:a16="http://schemas.microsoft.com/office/drawing/2014/main" id="{47570874-8395-0898-2ACA-CD9A69EF6FB2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Shape 2468">
              <a:extLst>
                <a:ext uri="{FF2B5EF4-FFF2-40B4-BE49-F238E27FC236}">
                  <a16:creationId xmlns:a16="http://schemas.microsoft.com/office/drawing/2014/main" id="{B0FA1755-29C9-0086-55AD-F2C1A92F609D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CE4D726-EEF5-1845-E590-49C86190B71E}"/>
                </a:ext>
              </a:extLst>
            </p:cNvPr>
            <p:cNvSpPr txBox="1"/>
            <p:nvPr/>
          </p:nvSpPr>
          <p:spPr>
            <a:xfrm>
              <a:off x="1054035" y="6071621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435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427F8BB-B704-41B5-D15E-D92537A640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528232" cy="396239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什么是分模块设计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 </a:t>
            </a:r>
          </a:p>
          <a:p>
            <a:pPr marL="57600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b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将项目按照功能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模块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/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层</a:t>
            </a:r>
            <a:r>
              <a:rPr kumimoji="1" lang="zh-CN" altLang="en-US" sz="1600" b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拆分成若干个子模块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为什么要分模块设计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57600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b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方便项目的管理维护、扩展，也方便模块间的相互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引</a:t>
            </a:r>
            <a:r>
              <a:rPr kumimoji="1" lang="zh-CN" altLang="en-US" sz="1600" b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用，资源共享</a:t>
            </a:r>
            <a:endParaRPr kumimoji="1" lang="en-US" altLang="zh-CN" sz="1600" b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solidFill>
                  <a:srgbClr val="C00000"/>
                </a:solidFill>
              </a:rPr>
              <a:t>注意事项</a:t>
            </a:r>
            <a:endParaRPr lang="en-US" altLang="zh-CN" sz="1800">
              <a:solidFill>
                <a:srgbClr val="C00000"/>
              </a:solidFill>
            </a:endParaRPr>
          </a:p>
          <a:p>
            <a:pPr marL="57600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b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分模块设计需要先针对模块功能进行设计，再进行编码。不会先将工程开发完毕，然后进行拆分</a:t>
            </a:r>
            <a:endParaRPr kumimoji="1" lang="zh-CN" altLang="en-US" sz="1600" b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555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分模块设计与开发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继承与聚合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私服</a:t>
            </a:r>
          </a:p>
        </p:txBody>
      </p:sp>
    </p:spTree>
    <p:extLst>
      <p:ext uri="{BB962C8B-B14F-4D97-AF65-F5344CB8AC3E}">
        <p14:creationId xmlns:p14="http://schemas.microsoft.com/office/powerpoint/2010/main" val="2998069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BF926-22FB-A1A3-C70B-F20247FFB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继承与聚合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145A65-3A24-C5F5-0AE2-3C2AA4D61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969902"/>
          </a:xfrm>
        </p:spPr>
        <p:txBody>
          <a:bodyPr/>
          <a:lstStyle/>
          <a:p>
            <a:r>
              <a:rPr lang="zh-CN" altLang="en-US"/>
              <a:t>继承</a:t>
            </a:r>
            <a:endParaRPr lang="en-US" altLang="zh-CN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继承关系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版本锁定</a:t>
            </a:r>
            <a:endParaRPr lang="en-US" altLang="zh-CN" sz="1600"/>
          </a:p>
          <a:p>
            <a:r>
              <a:rPr lang="zh-CN" altLang="en-US"/>
              <a:t>聚合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13AC7-EFAD-CF10-7BD8-0990A9692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42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9DBD931-55DC-775B-850E-9DECDA8F5F1D}"/>
              </a:ext>
            </a:extLst>
          </p:cNvPr>
          <p:cNvSpPr/>
          <p:nvPr/>
        </p:nvSpPr>
        <p:spPr>
          <a:xfrm>
            <a:off x="1212833" y="2517208"/>
            <a:ext cx="3249996" cy="2518542"/>
          </a:xfrm>
          <a:prstGeom prst="roundRect">
            <a:avLst>
              <a:gd name="adj" fmla="val 260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200000"/>
              </a:lnSpc>
            </a:pPr>
            <a:endParaRPr kumimoji="0" lang="en-US" altLang="zh-CN" sz="105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</a:p>
          <a:p>
            <a:pPr eaLnBrk="0" fontAlgn="base" hangingPunct="0">
              <a:lnSpc>
                <a:spcPct val="200000"/>
              </a:lnSpc>
            </a:pPr>
            <a:r>
              <a:rPr lang="en-US" altLang="zh-CN" sz="105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&gt;org.projectlombok&lt;/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&gt;lombok&lt;/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&gt;1.18.</a:t>
            </a:r>
            <a:r>
              <a:rPr lang="en-US" altLang="zh-CN" sz="105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34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en-US" altLang="zh-CN" sz="105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endParaRPr lang="en-US" altLang="zh-CN" sz="1050">
              <a:solidFill>
                <a:srgbClr val="080808"/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...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" name="!!组合 10">
            <a:extLst>
              <a:ext uri="{FF2B5EF4-FFF2-40B4-BE49-F238E27FC236}">
                <a16:creationId xmlns:a16="http://schemas.microsoft.com/office/drawing/2014/main" id="{EA32036C-3F25-B732-E6EC-275BE838613F}"/>
              </a:ext>
            </a:extLst>
          </p:cNvPr>
          <p:cNvGrpSpPr/>
          <p:nvPr/>
        </p:nvGrpSpPr>
        <p:grpSpPr>
          <a:xfrm>
            <a:off x="2247023" y="2040767"/>
            <a:ext cx="1288256" cy="841662"/>
            <a:chOff x="5742482" y="2230923"/>
            <a:chExt cx="1288256" cy="84166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77B0881-C20A-48D9-7951-E24B1D2D5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90107" y="2230923"/>
              <a:ext cx="1161109" cy="841662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3001392-0C97-F56F-AF8B-BD29F5F27D3F}"/>
                </a:ext>
              </a:extLst>
            </p:cNvPr>
            <p:cNvSpPr txBox="1"/>
            <p:nvPr/>
          </p:nvSpPr>
          <p:spPr>
            <a:xfrm>
              <a:off x="5742482" y="2579254"/>
              <a:ext cx="128825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5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tlias-pojo</a:t>
              </a:r>
              <a:endParaRPr lang="zh-CN" altLang="en-US" sz="1050">
                <a:latin typeface="Fira Code" panose="020B0809050000020004" pitchFamily="49" charset="0"/>
              </a:endParaRP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D530AB8-E771-AF66-3C03-1FDD80516BD3}"/>
              </a:ext>
            </a:extLst>
          </p:cNvPr>
          <p:cNvSpPr/>
          <p:nvPr/>
        </p:nvSpPr>
        <p:spPr>
          <a:xfrm>
            <a:off x="4573027" y="2514601"/>
            <a:ext cx="3249996" cy="2518542"/>
          </a:xfrm>
          <a:prstGeom prst="roundRect">
            <a:avLst>
              <a:gd name="adj" fmla="val 260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200000"/>
              </a:lnSpc>
            </a:pPr>
            <a:endParaRPr kumimoji="0" lang="en-US" altLang="zh-CN" sz="105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</a:p>
          <a:p>
            <a:pPr eaLnBrk="0" fontAlgn="base" hangingPunct="0">
              <a:lnSpc>
                <a:spcPct val="200000"/>
              </a:lnSpc>
            </a:pPr>
            <a:r>
              <a:rPr lang="en-US" altLang="zh-CN" sz="105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&gt;org.projectlombok&lt;/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&gt;lombok&lt;/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&gt;1.18.</a:t>
            </a:r>
            <a:r>
              <a:rPr lang="en-US" altLang="zh-CN" sz="105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34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en-US" altLang="zh-CN" sz="105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endParaRPr lang="en-US" altLang="zh-CN" sz="1050">
              <a:solidFill>
                <a:srgbClr val="080808"/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r>
              <a:rPr lang="en-US" altLang="zh-CN" sz="1050">
                <a:solidFill>
                  <a:srgbClr val="080808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...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!!组合 18">
            <a:extLst>
              <a:ext uri="{FF2B5EF4-FFF2-40B4-BE49-F238E27FC236}">
                <a16:creationId xmlns:a16="http://schemas.microsoft.com/office/drawing/2014/main" id="{B88C7ADA-3CD4-C9D7-7DC5-913E4450346E}"/>
              </a:ext>
            </a:extLst>
          </p:cNvPr>
          <p:cNvGrpSpPr/>
          <p:nvPr/>
        </p:nvGrpSpPr>
        <p:grpSpPr>
          <a:xfrm>
            <a:off x="5534235" y="1973704"/>
            <a:ext cx="1307916" cy="841662"/>
            <a:chOff x="9279925" y="2230923"/>
            <a:chExt cx="1607197" cy="828791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6A49C1B-CEAA-913C-3C2F-52098A59B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53383" y="2230923"/>
              <a:ext cx="1533739" cy="828791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9144F71-73C5-E12F-E1F0-969D46D9E7C7}"/>
                </a:ext>
              </a:extLst>
            </p:cNvPr>
            <p:cNvSpPr txBox="1"/>
            <p:nvPr/>
          </p:nvSpPr>
          <p:spPr>
            <a:xfrm>
              <a:off x="9279925" y="2574974"/>
              <a:ext cx="1533738" cy="257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50">
                  <a:latin typeface="Fira Code" panose="020B0809050000020004" pitchFamily="49" charset="0"/>
                  <a:ea typeface="Fira Code" panose="020B0809050000020004" pitchFamily="49" charset="0"/>
                </a:rPr>
                <a:t>tlias-utils</a:t>
              </a:r>
              <a:endParaRPr lang="zh-CN" altLang="en-US" sz="1050">
                <a:latin typeface="Fira Code" panose="020B0809050000020004" pitchFamily="49" charset="0"/>
              </a:endParaRPr>
            </a:p>
          </p:txBody>
        </p:sp>
      </p:grp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FD2F67D-8CC8-C6F5-B16B-05A030E0533F}"/>
              </a:ext>
            </a:extLst>
          </p:cNvPr>
          <p:cNvSpPr/>
          <p:nvPr/>
        </p:nvSpPr>
        <p:spPr>
          <a:xfrm>
            <a:off x="7933221" y="2514601"/>
            <a:ext cx="3249996" cy="2518542"/>
          </a:xfrm>
          <a:prstGeom prst="roundRect">
            <a:avLst>
              <a:gd name="adj" fmla="val 260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200000"/>
              </a:lnSpc>
            </a:pPr>
            <a:endParaRPr kumimoji="0" lang="en-US" altLang="zh-CN" sz="105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</a:p>
          <a:p>
            <a:pPr eaLnBrk="0" fontAlgn="base" hangingPunct="0">
              <a:lnSpc>
                <a:spcPct val="200000"/>
              </a:lnSpc>
            </a:pPr>
            <a:r>
              <a:rPr lang="en-US" altLang="zh-CN" sz="105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&gt;org.projectlombok&lt;/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&gt;lombok&lt;/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&gt;1.18.</a:t>
            </a:r>
            <a:r>
              <a:rPr lang="en-US" altLang="zh-CN" sz="105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34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en-US" altLang="zh-CN" sz="105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endParaRPr lang="en-US" altLang="zh-CN" sz="1050">
              <a:solidFill>
                <a:srgbClr val="080808"/>
              </a:solidFill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200000"/>
              </a:lnSpc>
            </a:pPr>
            <a:r>
              <a:rPr lang="en-US" altLang="zh-CN" sz="1050">
                <a:solidFill>
                  <a:srgbClr val="080808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...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3" name="!!组合 30">
            <a:extLst>
              <a:ext uri="{FF2B5EF4-FFF2-40B4-BE49-F238E27FC236}">
                <a16:creationId xmlns:a16="http://schemas.microsoft.com/office/drawing/2014/main" id="{CAD81B15-D423-B310-3621-2FA9AE82448F}"/>
              </a:ext>
            </a:extLst>
          </p:cNvPr>
          <p:cNvGrpSpPr/>
          <p:nvPr/>
        </p:nvGrpSpPr>
        <p:grpSpPr>
          <a:xfrm>
            <a:off x="8857213" y="1973704"/>
            <a:ext cx="1288256" cy="841662"/>
            <a:chOff x="9304084" y="2230923"/>
            <a:chExt cx="1583038" cy="828791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FD86D8D-3976-4CBF-100C-3B649EB75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53383" y="2230923"/>
              <a:ext cx="1533739" cy="828791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76FC032-9C84-0E89-C75C-F389986A799C}"/>
                </a:ext>
              </a:extLst>
            </p:cNvPr>
            <p:cNvSpPr txBox="1"/>
            <p:nvPr/>
          </p:nvSpPr>
          <p:spPr>
            <a:xfrm>
              <a:off x="9304084" y="2572857"/>
              <a:ext cx="1402015" cy="393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>
                  <a:latin typeface="Fira Code" panose="020B0809050000020004" pitchFamily="49" charset="0"/>
                  <a:ea typeface="Fira Code" panose="020B0809050000020004" pitchFamily="49" charset="0"/>
                </a:rPr>
                <a:t>tlias-web-management</a:t>
              </a:r>
              <a:endParaRPr lang="zh-CN" altLang="en-US" sz="1000">
                <a:latin typeface="Fira Code" panose="020B0809050000020004" pitchFamily="49" charset="0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0280CA8F-FEAD-7EDB-9058-2E5BF75CCB83}"/>
              </a:ext>
            </a:extLst>
          </p:cNvPr>
          <p:cNvSpPr txBox="1"/>
          <p:nvPr/>
        </p:nvSpPr>
        <p:spPr>
          <a:xfrm>
            <a:off x="5797061" y="480454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繁琐</a:t>
            </a:r>
            <a:endParaRPr lang="zh-CN" altLang="en-US" sz="36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86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2" grpId="0" animBg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359669-4A4D-F0A2-E7A2-5A750988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885571"/>
          </a:xfrm>
        </p:spPr>
        <p:txBody>
          <a:bodyPr/>
          <a:lstStyle/>
          <a:p>
            <a:pPr marL="285750" indent="-285750" defTabSz="360000">
              <a:buFont typeface="Wingdings" panose="05000000000000000000" pitchFamily="2" charset="2"/>
              <a:buChar char="l"/>
            </a:pPr>
            <a:r>
              <a:rPr kumimoji="1" lang="zh-CN" altLang="en-US">
                <a:sym typeface="Consolas" panose="020B0609020204030204" pitchFamily="49" charset="0"/>
              </a:rPr>
              <a:t>概念：</a:t>
            </a:r>
            <a:r>
              <a:rPr kumimoji="1" lang="zh-CN" altLang="en-US">
                <a:solidFill>
                  <a:srgbClr val="C00000"/>
                </a:solidFill>
                <a:sym typeface="Consolas" panose="020B0609020204030204" pitchFamily="49" charset="0"/>
              </a:rPr>
              <a:t>继承</a:t>
            </a:r>
            <a:r>
              <a:rPr kumimoji="1" lang="zh-CN" altLang="en-US">
                <a:sym typeface="Consolas" panose="020B0609020204030204" pitchFamily="49" charset="0"/>
              </a:rPr>
              <a:t>描述的是两个工程间的关系，与</a:t>
            </a:r>
            <a:r>
              <a:rPr kumimoji="1" lang="en-US" altLang="zh-CN">
                <a:ea typeface="Fira Code" panose="020B0809050000020004" pitchFamily="49" charset="0"/>
                <a:sym typeface="Consolas" panose="020B0609020204030204" pitchFamily="49" charset="0"/>
              </a:rPr>
              <a:t>java</a:t>
            </a:r>
            <a:r>
              <a:rPr kumimoji="1" lang="zh-CN" altLang="en-US">
                <a:sym typeface="Consolas" panose="020B0609020204030204" pitchFamily="49" charset="0"/>
              </a:rPr>
              <a:t>中的继承相似，子工程可以继承父工程中的配置信息，常见于依赖关系的继承。</a:t>
            </a:r>
            <a:endParaRPr kumimoji="1" lang="en-US" altLang="zh-CN">
              <a:ea typeface="Fira Code" panose="020B0809050000020004" pitchFamily="49" charset="0"/>
              <a:sym typeface="Consolas" panose="020B0609020204030204" pitchFamily="49" charset="0"/>
            </a:endParaRPr>
          </a:p>
          <a:p>
            <a:pPr marL="285750" indent="-285750" defTabSz="360000">
              <a:buFont typeface="Wingdings" panose="05000000000000000000" pitchFamily="2" charset="2"/>
              <a:buChar char="l"/>
            </a:pPr>
            <a:r>
              <a:rPr kumimoji="1" lang="zh-CN" altLang="en-US">
                <a:sym typeface="Consolas" panose="020B0609020204030204" pitchFamily="49" charset="0"/>
              </a:rPr>
              <a:t>作用：</a:t>
            </a:r>
            <a:r>
              <a:rPr kumimoji="1" lang="zh-CN" altLang="en-US" sz="1600" b="0">
                <a:sym typeface="Consolas" panose="020B0609020204030204" pitchFamily="49" charset="0"/>
              </a:rPr>
              <a:t>简化依赖配置</a:t>
            </a:r>
            <a:r>
              <a:rPr kumimoji="1" lang="zh-CN" altLang="en-US">
                <a:sym typeface="Consolas" panose="020B0609020204030204" pitchFamily="49" charset="0"/>
              </a:rPr>
              <a:t>、</a:t>
            </a:r>
            <a:r>
              <a:rPr kumimoji="1" lang="zh-CN" altLang="en-US" sz="1600" b="0">
                <a:sym typeface="Consolas" panose="020B0609020204030204" pitchFamily="49" charset="0"/>
              </a:rPr>
              <a:t>统一管理依赖</a:t>
            </a:r>
            <a:endParaRPr kumimoji="1" lang="en-US" altLang="zh-CN" sz="1600" b="0">
              <a:ea typeface="Fira Code" panose="020B0809050000020004" pitchFamily="49" charset="0"/>
              <a:sym typeface="Consolas" panose="020B0609020204030204" pitchFamily="49" charset="0"/>
            </a:endParaRPr>
          </a:p>
          <a:p>
            <a:pPr marL="285750" indent="-285750" defTabSz="360000">
              <a:buFont typeface="Wingdings" panose="05000000000000000000" pitchFamily="2" charset="2"/>
              <a:buChar char="l"/>
            </a:pPr>
            <a:r>
              <a:rPr kumimoji="1" lang="zh-CN" altLang="en-US">
                <a:sym typeface="Consolas" panose="020B0609020204030204" pitchFamily="49" charset="0"/>
              </a:rPr>
              <a:t>实现：</a:t>
            </a:r>
            <a:r>
              <a:rPr kumimoji="1" lang="en-US" altLang="zh-CN">
                <a:solidFill>
                  <a:srgbClr val="C00000"/>
                </a:solidFill>
                <a:ea typeface="Fira Code" panose="020B0809050000020004" pitchFamily="49" charset="0"/>
                <a:sym typeface="Consolas" panose="020B0609020204030204" pitchFamily="49" charset="0"/>
              </a:rPr>
              <a:t>&lt;parent&gt; … &lt;/parent&gt;</a:t>
            </a:r>
            <a:endParaRPr kumimoji="1" lang="en-US" altLang="zh-CN" sz="1600" b="0">
              <a:solidFill>
                <a:srgbClr val="C00000"/>
              </a:solidFill>
              <a:ea typeface="Fira Code" panose="020B0809050000020004" pitchFamily="49" charset="0"/>
              <a:sym typeface="Consolas" panose="020B0609020204030204" pitchFamily="49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4A86C4-B224-BFF6-9048-5DD7E183B384}"/>
              </a:ext>
            </a:extLst>
          </p:cNvPr>
          <p:cNvSpPr txBox="1"/>
          <p:nvPr/>
        </p:nvSpPr>
        <p:spPr>
          <a:xfrm>
            <a:off x="1067585" y="4415041"/>
            <a:ext cx="86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父工程</a:t>
            </a:r>
            <a:endParaRPr lang="zh-CN" altLang="en-US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87BF63-C62E-D8CE-D150-847751A593B8}"/>
              </a:ext>
            </a:extLst>
          </p:cNvPr>
          <p:cNvSpPr txBox="1"/>
          <p:nvPr/>
        </p:nvSpPr>
        <p:spPr>
          <a:xfrm>
            <a:off x="1010800" y="5444030"/>
            <a:ext cx="860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子工程</a:t>
            </a:r>
            <a:endParaRPr lang="zh-CN" altLang="en-US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!!组合 67">
            <a:extLst>
              <a:ext uri="{FF2B5EF4-FFF2-40B4-BE49-F238E27FC236}">
                <a16:creationId xmlns:a16="http://schemas.microsoft.com/office/drawing/2014/main" id="{DE7B13E9-4A0D-E4B3-305E-4A71A6BAE821}"/>
              </a:ext>
            </a:extLst>
          </p:cNvPr>
          <p:cNvGrpSpPr/>
          <p:nvPr/>
        </p:nvGrpSpPr>
        <p:grpSpPr>
          <a:xfrm>
            <a:off x="4916736" y="4119253"/>
            <a:ext cx="2120557" cy="553944"/>
            <a:chOff x="5003677" y="4899664"/>
            <a:chExt cx="1947660" cy="553944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0DA7829-61D0-63AF-B9CE-57479888EEB1}"/>
                </a:ext>
              </a:extLst>
            </p:cNvPr>
            <p:cNvSpPr txBox="1"/>
            <p:nvPr/>
          </p:nvSpPr>
          <p:spPr>
            <a:xfrm>
              <a:off x="5754945" y="5018789"/>
              <a:ext cx="11963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tlias-parent</a:t>
              </a:r>
              <a:endPara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9CD402D-A9F5-C3C0-B4BA-11D1304DF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3677" y="4899664"/>
              <a:ext cx="751268" cy="553944"/>
            </a:xfrm>
            <a:prstGeom prst="rect">
              <a:avLst/>
            </a:prstGeom>
          </p:spPr>
        </p:pic>
      </p:grpSp>
      <p:cxnSp>
        <p:nvCxnSpPr>
          <p:cNvPr id="11" name="!!连接符: 曲线 53">
            <a:extLst>
              <a:ext uri="{FF2B5EF4-FFF2-40B4-BE49-F238E27FC236}">
                <a16:creationId xmlns:a16="http://schemas.microsoft.com/office/drawing/2014/main" id="{1BEDE48E-CD9F-9754-CA7B-3594333CE1FA}"/>
              </a:ext>
            </a:extLst>
          </p:cNvPr>
          <p:cNvCxnSpPr>
            <a:cxnSpLocks/>
            <a:stCxn id="14" idx="0"/>
            <a:endCxn id="10" idx="2"/>
          </p:cNvCxnSpPr>
          <p:nvPr/>
        </p:nvCxnSpPr>
        <p:spPr>
          <a:xfrm rot="5400000" flipH="1" flipV="1">
            <a:off x="3597362" y="3644321"/>
            <a:ext cx="699478" cy="2757230"/>
          </a:xfrm>
          <a:prstGeom prst="curvedConnector3">
            <a:avLst>
              <a:gd name="adj1" fmla="val 5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!!连接符: 曲线 58">
            <a:extLst>
              <a:ext uri="{FF2B5EF4-FFF2-40B4-BE49-F238E27FC236}">
                <a16:creationId xmlns:a16="http://schemas.microsoft.com/office/drawing/2014/main" id="{9EDA91C2-3BEB-7D98-CE38-E3567E87DAF0}"/>
              </a:ext>
            </a:extLst>
          </p:cNvPr>
          <p:cNvCxnSpPr>
            <a:cxnSpLocks/>
            <a:stCxn id="20" idx="0"/>
            <a:endCxn id="10" idx="2"/>
          </p:cNvCxnSpPr>
          <p:nvPr/>
        </p:nvCxnSpPr>
        <p:spPr>
          <a:xfrm rot="16200000" flipV="1">
            <a:off x="6365488" y="3633425"/>
            <a:ext cx="720252" cy="2799796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!!组合 10">
            <a:extLst>
              <a:ext uri="{FF2B5EF4-FFF2-40B4-BE49-F238E27FC236}">
                <a16:creationId xmlns:a16="http://schemas.microsoft.com/office/drawing/2014/main" id="{108A4E44-54CA-B5F0-1971-CE88C609949B}"/>
              </a:ext>
            </a:extLst>
          </p:cNvPr>
          <p:cNvGrpSpPr/>
          <p:nvPr/>
        </p:nvGrpSpPr>
        <p:grpSpPr>
          <a:xfrm>
            <a:off x="2140302" y="5372675"/>
            <a:ext cx="856367" cy="900570"/>
            <a:chOff x="5856780" y="2572094"/>
            <a:chExt cx="964609" cy="91773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C95D597-6DB9-940C-CE43-2C11DF093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6780" y="2572094"/>
              <a:ext cx="964609" cy="565206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B0C6EAA-53F2-815D-0C30-ED0BC6BE6B06}"/>
                </a:ext>
              </a:extLst>
            </p:cNvPr>
            <p:cNvSpPr txBox="1"/>
            <p:nvPr/>
          </p:nvSpPr>
          <p:spPr>
            <a:xfrm>
              <a:off x="5856780" y="3160503"/>
              <a:ext cx="964609" cy="32932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05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tlias-pojo</a:t>
              </a:r>
              <a:endParaRPr lang="zh-CN" altLang="en-US" sz="1050">
                <a:latin typeface="Fira Code" panose="020B0809050000020004" pitchFamily="49" charset="0"/>
              </a:endParaRPr>
            </a:p>
          </p:txBody>
        </p:sp>
      </p:grpSp>
      <p:grpSp>
        <p:nvGrpSpPr>
          <p:cNvPr id="16" name="!!组合 18">
            <a:extLst>
              <a:ext uri="{FF2B5EF4-FFF2-40B4-BE49-F238E27FC236}">
                <a16:creationId xmlns:a16="http://schemas.microsoft.com/office/drawing/2014/main" id="{78B71632-1DD4-5335-4E80-6F5EA9D3E65C}"/>
              </a:ext>
            </a:extLst>
          </p:cNvPr>
          <p:cNvGrpSpPr/>
          <p:nvPr/>
        </p:nvGrpSpPr>
        <p:grpSpPr>
          <a:xfrm>
            <a:off x="4831557" y="5393449"/>
            <a:ext cx="988316" cy="908496"/>
            <a:chOff x="9353384" y="2347308"/>
            <a:chExt cx="1115445" cy="894601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CA7A299-5140-B0BA-09E5-9FCA6F97D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3384" y="2347308"/>
              <a:ext cx="1025559" cy="554184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9220A76-039F-2A10-B8AC-E59EBF6CE17B}"/>
                </a:ext>
              </a:extLst>
            </p:cNvPr>
            <p:cNvSpPr txBox="1"/>
            <p:nvPr/>
          </p:nvSpPr>
          <p:spPr>
            <a:xfrm>
              <a:off x="9353384" y="2923687"/>
              <a:ext cx="1115445" cy="3182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en-US" altLang="zh-CN" sz="1050">
                  <a:latin typeface="Fira Code" panose="020B0809050000020004" pitchFamily="49" charset="0"/>
                  <a:ea typeface="Fira Code" panose="020B0809050000020004" pitchFamily="49" charset="0"/>
                </a:rPr>
                <a:t>tlias-utils</a:t>
              </a:r>
              <a:endParaRPr lang="zh-CN" altLang="en-US" sz="1050">
                <a:latin typeface="Fira Code" panose="020B0809050000020004" pitchFamily="49" charset="0"/>
              </a:endParaRPr>
            </a:p>
          </p:txBody>
        </p:sp>
      </p:grpSp>
      <p:grpSp>
        <p:nvGrpSpPr>
          <p:cNvPr id="19" name="!!组合 30">
            <a:extLst>
              <a:ext uri="{FF2B5EF4-FFF2-40B4-BE49-F238E27FC236}">
                <a16:creationId xmlns:a16="http://schemas.microsoft.com/office/drawing/2014/main" id="{65D6A1D3-8D84-0AB9-D77E-0CC0A7105AB7}"/>
              </a:ext>
            </a:extLst>
          </p:cNvPr>
          <p:cNvGrpSpPr/>
          <p:nvPr/>
        </p:nvGrpSpPr>
        <p:grpSpPr>
          <a:xfrm>
            <a:off x="7292105" y="5393449"/>
            <a:ext cx="1777448" cy="899918"/>
            <a:chOff x="9145449" y="2547212"/>
            <a:chExt cx="2006085" cy="886154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CF06DD4-8804-B3C5-BF5B-5FB6142DC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3281" y="2547212"/>
              <a:ext cx="1025557" cy="554184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47BA4BA-78D5-0B2E-B53E-0350284C8E29}"/>
                </a:ext>
              </a:extLst>
            </p:cNvPr>
            <p:cNvSpPr txBox="1"/>
            <p:nvPr/>
          </p:nvSpPr>
          <p:spPr>
            <a:xfrm>
              <a:off x="9145449" y="3115144"/>
              <a:ext cx="2006085" cy="3182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en-US" altLang="zh-CN" sz="1050">
                  <a:latin typeface="Fira Code" panose="020B0809050000020004" pitchFamily="49" charset="0"/>
                  <a:ea typeface="Fira Code" panose="020B0809050000020004" pitchFamily="49" charset="0"/>
                </a:rPr>
                <a:t>tlias-web-management</a:t>
              </a:r>
              <a:endParaRPr lang="zh-CN" altLang="en-US" sz="1050">
                <a:latin typeface="Fira Code" panose="020B0809050000020004" pitchFamily="49" charset="0"/>
              </a:endParaRPr>
            </a:p>
          </p:txBody>
        </p:sp>
      </p:grpSp>
      <p:cxnSp>
        <p:nvCxnSpPr>
          <p:cNvPr id="22" name="!!直接箭头连接符 67">
            <a:extLst>
              <a:ext uri="{FF2B5EF4-FFF2-40B4-BE49-F238E27FC236}">
                <a16:creationId xmlns:a16="http://schemas.microsoft.com/office/drawing/2014/main" id="{218C62D9-2CC3-928B-3235-A059193DF2CD}"/>
              </a:ext>
            </a:extLst>
          </p:cNvPr>
          <p:cNvCxnSpPr>
            <a:cxnSpLocks/>
          </p:cNvCxnSpPr>
          <p:nvPr/>
        </p:nvCxnSpPr>
        <p:spPr>
          <a:xfrm flipV="1">
            <a:off x="5325715" y="4760738"/>
            <a:ext cx="0" cy="5451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794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359669-4A4D-F0A2-E7A2-5A750988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35947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</a:rPr>
              <a:t>创建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maven</a:t>
            </a:r>
            <a:r>
              <a:rPr lang="zh-CN" altLang="en-US" sz="1600">
                <a:latin typeface="Fira Code" panose="020B0809050000020004" pitchFamily="49" charset="0"/>
              </a:rPr>
              <a:t>模块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tlias-parent</a:t>
            </a:r>
            <a:r>
              <a:rPr lang="zh-CN" altLang="en-US" sz="1600">
                <a:latin typeface="Fira Code" panose="020B0809050000020004" pitchFamily="49" charset="0"/>
              </a:rPr>
              <a:t>，该工程为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父工程</a:t>
            </a:r>
            <a:r>
              <a:rPr lang="zh-CN" altLang="en-US" sz="1600">
                <a:latin typeface="Fira Code" panose="020B0809050000020004" pitchFamily="49" charset="0"/>
              </a:rPr>
              <a:t>，设置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打包方式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pom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(</a:t>
            </a:r>
            <a:r>
              <a:rPr lang="zh-CN" altLang="en-US" sz="1600">
                <a:latin typeface="Fira Code" panose="020B0809050000020004" pitchFamily="49" charset="0"/>
              </a:rPr>
              <a:t>默认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jar)</a:t>
            </a:r>
            <a:r>
              <a:rPr lang="zh-CN" altLang="en-US" sz="1600">
                <a:latin typeface="Fira Code" panose="020B0809050000020004" pitchFamily="49" charset="0"/>
              </a:rPr>
              <a:t>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</a:rPr>
              <a:t>在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子工程</a:t>
            </a:r>
            <a:r>
              <a:rPr lang="zh-CN" altLang="en-US" sz="1600">
                <a:latin typeface="Fira Code" panose="020B0809050000020004" pitchFamily="49" charset="0"/>
              </a:rPr>
              <a:t>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pom.xml</a:t>
            </a:r>
            <a:r>
              <a:rPr lang="zh-CN" altLang="en-US" sz="1600">
                <a:latin typeface="Fira Code" panose="020B0809050000020004" pitchFamily="49" charset="0"/>
              </a:rPr>
              <a:t>文件中，配置继承关系。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>
                <a:latin typeface="Fira Code" panose="020B0809050000020004" pitchFamily="49" charset="0"/>
              </a:rPr>
              <a:t>在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父工程</a:t>
            </a:r>
            <a:r>
              <a:rPr lang="zh-CN" altLang="en-US" sz="1600">
                <a:latin typeface="Fira Code" panose="020B0809050000020004" pitchFamily="49" charset="0"/>
              </a:rPr>
              <a:t>中配置各个工程共有的依赖（子工程会自动继承父工程的依赖）。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继承关系实现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970C4EE-31E7-FC7D-9C9A-71BB5B7E6070}"/>
              </a:ext>
            </a:extLst>
          </p:cNvPr>
          <p:cNvSpPr/>
          <p:nvPr/>
        </p:nvSpPr>
        <p:spPr>
          <a:xfrm>
            <a:off x="1019223" y="4013836"/>
            <a:ext cx="6367694" cy="2527442"/>
          </a:xfrm>
          <a:prstGeom prst="roundRect">
            <a:avLst>
              <a:gd name="adj" fmla="val 2712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A25352-8D9C-8C53-AE7A-102F7C811483}"/>
              </a:ext>
            </a:extLst>
          </p:cNvPr>
          <p:cNvSpPr txBox="1"/>
          <p:nvPr/>
        </p:nvSpPr>
        <p:spPr>
          <a:xfrm>
            <a:off x="1080588" y="504675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父工程</a:t>
            </a:r>
            <a:endParaRPr lang="zh-CN" altLang="en-US" sz="1200" dirty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E4A3D2-5D40-D3B8-3289-87D686A50603}"/>
              </a:ext>
            </a:extLst>
          </p:cNvPr>
          <p:cNvSpPr txBox="1"/>
          <p:nvPr/>
        </p:nvSpPr>
        <p:spPr>
          <a:xfrm>
            <a:off x="1037153" y="5850086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子工程</a:t>
            </a:r>
            <a:endParaRPr lang="zh-CN" altLang="en-US" sz="1200" dirty="0">
              <a:solidFill>
                <a:srgbClr val="C00000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" name="!!组合 67">
            <a:extLst>
              <a:ext uri="{FF2B5EF4-FFF2-40B4-BE49-F238E27FC236}">
                <a16:creationId xmlns:a16="http://schemas.microsoft.com/office/drawing/2014/main" id="{C493D478-8EAC-015A-10BF-32CDB2928792}"/>
              </a:ext>
            </a:extLst>
          </p:cNvPr>
          <p:cNvGrpSpPr/>
          <p:nvPr/>
        </p:nvGrpSpPr>
        <p:grpSpPr>
          <a:xfrm>
            <a:off x="3867134" y="4948810"/>
            <a:ext cx="1715089" cy="432463"/>
            <a:chOff x="5003677" y="4899664"/>
            <a:chExt cx="2242206" cy="55394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CD3C142-DEED-E3B1-B5F9-17757E3CBEB6}"/>
                </a:ext>
              </a:extLst>
            </p:cNvPr>
            <p:cNvSpPr txBox="1"/>
            <p:nvPr/>
          </p:nvSpPr>
          <p:spPr>
            <a:xfrm>
              <a:off x="5680978" y="5065719"/>
              <a:ext cx="1564905" cy="335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>
                  <a:solidFill>
                    <a:schemeClr val="tx1">
                      <a:lumMod val="95000"/>
                      <a:lumOff val="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tlias-parent</a:t>
              </a:r>
              <a:endPara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A323C51-60A3-6DA4-0540-2D92ABB73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3677" y="4899664"/>
              <a:ext cx="751268" cy="553944"/>
            </a:xfrm>
            <a:prstGeom prst="rect">
              <a:avLst/>
            </a:prstGeom>
          </p:spPr>
        </p:pic>
      </p:grpSp>
      <p:grpSp>
        <p:nvGrpSpPr>
          <p:cNvPr id="10" name="!!组合 68">
            <a:extLst>
              <a:ext uri="{FF2B5EF4-FFF2-40B4-BE49-F238E27FC236}">
                <a16:creationId xmlns:a16="http://schemas.microsoft.com/office/drawing/2014/main" id="{565BA2AE-8265-EA3B-1BCD-45AC6FA9B4FF}"/>
              </a:ext>
            </a:extLst>
          </p:cNvPr>
          <p:cNvGrpSpPr/>
          <p:nvPr/>
        </p:nvGrpSpPr>
        <p:grpSpPr>
          <a:xfrm>
            <a:off x="3867133" y="4090734"/>
            <a:ext cx="2928115" cy="432464"/>
            <a:chOff x="5003677" y="3800551"/>
            <a:chExt cx="3828044" cy="55394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BC20E60-570E-27EC-CDF5-237B1B58C444}"/>
                </a:ext>
              </a:extLst>
            </p:cNvPr>
            <p:cNvGrpSpPr/>
            <p:nvPr/>
          </p:nvGrpSpPr>
          <p:grpSpPr>
            <a:xfrm>
              <a:off x="5003677" y="3800551"/>
              <a:ext cx="751268" cy="553945"/>
              <a:chOff x="7098251" y="4427774"/>
              <a:chExt cx="2158082" cy="1415026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979521A3-1445-C617-02B3-A0DF8FD78A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8251" y="4427774"/>
                <a:ext cx="2158082" cy="1415026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077A050B-8CA0-71E5-710D-6B468D9527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4475" y="4770094"/>
                <a:ext cx="589392" cy="841471"/>
              </a:xfrm>
              <a:prstGeom prst="rect">
                <a:avLst/>
              </a:prstGeom>
            </p:spPr>
          </p:pic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DE645B2-56EA-B9FB-C755-D8C83A651E72}"/>
                </a:ext>
              </a:extLst>
            </p:cNvPr>
            <p:cNvSpPr txBox="1"/>
            <p:nvPr/>
          </p:nvSpPr>
          <p:spPr>
            <a:xfrm>
              <a:off x="5754944" y="3965523"/>
              <a:ext cx="3076777" cy="335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>
                  <a:solidFill>
                    <a:srgbClr val="C0000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spring-boot-stater-parent</a:t>
              </a:r>
              <a:endParaRPr lang="zh-CN" altLang="en-US" sz="1100" dirty="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cxnSp>
        <p:nvCxnSpPr>
          <p:cNvPr id="15" name="!!连接符: 曲线 53">
            <a:extLst>
              <a:ext uri="{FF2B5EF4-FFF2-40B4-BE49-F238E27FC236}">
                <a16:creationId xmlns:a16="http://schemas.microsoft.com/office/drawing/2014/main" id="{165E6AD3-DC31-23EC-797C-87ACEF6B427A}"/>
              </a:ext>
            </a:extLst>
          </p:cNvPr>
          <p:cNvCxnSpPr>
            <a:cxnSpLocks/>
            <a:endCxn id="9" idx="2"/>
          </p:cNvCxnSpPr>
          <p:nvPr/>
        </p:nvCxnSpPr>
        <p:spPr>
          <a:xfrm rot="5400000" flipH="1" flipV="1">
            <a:off x="2891738" y="4527881"/>
            <a:ext cx="409329" cy="2116115"/>
          </a:xfrm>
          <a:prstGeom prst="curvedConnector3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!!连接符: 曲线 58">
            <a:extLst>
              <a:ext uri="{FF2B5EF4-FFF2-40B4-BE49-F238E27FC236}">
                <a16:creationId xmlns:a16="http://schemas.microsoft.com/office/drawing/2014/main" id="{84C6FEC7-3198-5007-83BE-C6F657E3C79A}"/>
              </a:ext>
            </a:extLst>
          </p:cNvPr>
          <p:cNvCxnSpPr>
            <a:cxnSpLocks/>
            <a:endCxn id="9" idx="2"/>
          </p:cNvCxnSpPr>
          <p:nvPr/>
        </p:nvCxnSpPr>
        <p:spPr>
          <a:xfrm rot="16200000" flipV="1">
            <a:off x="5021941" y="4513794"/>
            <a:ext cx="419027" cy="2153988"/>
          </a:xfrm>
          <a:prstGeom prst="curvedConnector3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!!直接箭头连接符 66">
            <a:extLst>
              <a:ext uri="{FF2B5EF4-FFF2-40B4-BE49-F238E27FC236}">
                <a16:creationId xmlns:a16="http://schemas.microsoft.com/office/drawing/2014/main" id="{82D858C7-63FC-3098-C4FC-FA524D1980A4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4154460" y="4523198"/>
            <a:ext cx="2153989" cy="122747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!!组合 10">
            <a:extLst>
              <a:ext uri="{FF2B5EF4-FFF2-40B4-BE49-F238E27FC236}">
                <a16:creationId xmlns:a16="http://schemas.microsoft.com/office/drawing/2014/main" id="{9C20069B-3F14-477D-B656-162DD1B92CCD}"/>
              </a:ext>
            </a:extLst>
          </p:cNvPr>
          <p:cNvGrpSpPr/>
          <p:nvPr/>
        </p:nvGrpSpPr>
        <p:grpSpPr>
          <a:xfrm>
            <a:off x="1743408" y="5808377"/>
            <a:ext cx="730852" cy="668240"/>
            <a:chOff x="5856780" y="2572094"/>
            <a:chExt cx="1171780" cy="872262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47C528F-9947-1CAC-29F7-938EC60F7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6780" y="2572094"/>
              <a:ext cx="964609" cy="565206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E8B1441-C76F-8C04-497E-C77D67770EDB}"/>
                </a:ext>
              </a:extLst>
            </p:cNvPr>
            <p:cNvSpPr txBox="1"/>
            <p:nvPr/>
          </p:nvSpPr>
          <p:spPr>
            <a:xfrm>
              <a:off x="5856780" y="3263572"/>
              <a:ext cx="1171780" cy="18078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>
                  <a:solidFill>
                    <a:schemeClr val="tx1">
                      <a:lumMod val="95000"/>
                      <a:lumOff val="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tlias-pojo</a:t>
              </a:r>
              <a:endParaRPr lang="zh-CN" altLang="en-US" sz="900"/>
            </a:p>
          </p:txBody>
        </p:sp>
      </p:grpSp>
      <p:grpSp>
        <p:nvGrpSpPr>
          <p:cNvPr id="21" name="!!组合 18">
            <a:extLst>
              <a:ext uri="{FF2B5EF4-FFF2-40B4-BE49-F238E27FC236}">
                <a16:creationId xmlns:a16="http://schemas.microsoft.com/office/drawing/2014/main" id="{6988AF3D-519C-E78E-7C16-C79693408B06}"/>
              </a:ext>
            </a:extLst>
          </p:cNvPr>
          <p:cNvGrpSpPr/>
          <p:nvPr/>
        </p:nvGrpSpPr>
        <p:grpSpPr>
          <a:xfrm>
            <a:off x="3825267" y="5817900"/>
            <a:ext cx="849293" cy="658719"/>
            <a:chOff x="9353384" y="2347308"/>
            <a:chExt cx="1364380" cy="830850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ADE18E5-704A-79B6-448B-4A22CAB96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53384" y="2347308"/>
              <a:ext cx="1025559" cy="554184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564F6B5-80E1-9D40-E495-92EBCDFB1FAC}"/>
                </a:ext>
              </a:extLst>
            </p:cNvPr>
            <p:cNvSpPr txBox="1"/>
            <p:nvPr/>
          </p:nvSpPr>
          <p:spPr>
            <a:xfrm>
              <a:off x="9353384" y="3003467"/>
              <a:ext cx="1364380" cy="17469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en-US" altLang="zh-CN" sz="900">
                  <a:latin typeface="+mn-lt"/>
                </a:rPr>
                <a:t>tlias-utils</a:t>
              </a:r>
              <a:endParaRPr lang="zh-CN" altLang="en-US" sz="900">
                <a:latin typeface="+mn-lt"/>
              </a:endParaRPr>
            </a:p>
          </p:txBody>
        </p:sp>
      </p:grpSp>
      <p:grpSp>
        <p:nvGrpSpPr>
          <p:cNvPr id="24" name="!!组合 30">
            <a:extLst>
              <a:ext uri="{FF2B5EF4-FFF2-40B4-BE49-F238E27FC236}">
                <a16:creationId xmlns:a16="http://schemas.microsoft.com/office/drawing/2014/main" id="{1B0E7E7F-B6A9-573A-A1D2-9AA9F310C91C}"/>
              </a:ext>
            </a:extLst>
          </p:cNvPr>
          <p:cNvGrpSpPr/>
          <p:nvPr/>
        </p:nvGrpSpPr>
        <p:grpSpPr>
          <a:xfrm>
            <a:off x="5759467" y="5824596"/>
            <a:ext cx="1368194" cy="649435"/>
            <a:chOff x="9266558" y="2547212"/>
            <a:chExt cx="2197990" cy="819140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8FA5251B-C9B0-CE09-8647-09E728C60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73281" y="2547212"/>
              <a:ext cx="1025557" cy="554184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936543E-20EB-01C2-A4FA-685351483B71}"/>
                </a:ext>
              </a:extLst>
            </p:cNvPr>
            <p:cNvSpPr txBox="1"/>
            <p:nvPr/>
          </p:nvSpPr>
          <p:spPr>
            <a:xfrm>
              <a:off x="9266558" y="3191661"/>
              <a:ext cx="2197990" cy="17469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</a:lstStyle>
            <a:p>
              <a:r>
                <a:rPr lang="en-US" altLang="zh-CN" sz="900">
                  <a:latin typeface="+mn-lt"/>
                </a:rPr>
                <a:t>tlias-web-management</a:t>
              </a:r>
              <a:endParaRPr lang="zh-CN" altLang="en-US" sz="900">
                <a:latin typeface="+mn-lt"/>
              </a:endParaRPr>
            </a:p>
          </p:txBody>
        </p:sp>
      </p:grpSp>
      <p:cxnSp>
        <p:nvCxnSpPr>
          <p:cNvPr id="27" name="!!直接箭头连接符 67">
            <a:extLst>
              <a:ext uri="{FF2B5EF4-FFF2-40B4-BE49-F238E27FC236}">
                <a16:creationId xmlns:a16="http://schemas.microsoft.com/office/drawing/2014/main" id="{E4E21BCC-5376-36C7-EA42-68582BA426AC}"/>
              </a:ext>
            </a:extLst>
          </p:cNvPr>
          <p:cNvCxnSpPr/>
          <p:nvPr/>
        </p:nvCxnSpPr>
        <p:spPr>
          <a:xfrm flipV="1">
            <a:off x="4154460" y="5424474"/>
            <a:ext cx="0" cy="4256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!!直接箭头连接符 66">
            <a:extLst>
              <a:ext uri="{FF2B5EF4-FFF2-40B4-BE49-F238E27FC236}">
                <a16:creationId xmlns:a16="http://schemas.microsoft.com/office/drawing/2014/main" id="{2453E5E6-A4A6-D8C8-4DAA-9D6B6E79FCB3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flipV="1">
            <a:off x="4154460" y="4523198"/>
            <a:ext cx="0" cy="42561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CF5418A-90CD-7B70-A4C5-D07625E52A1D}"/>
              </a:ext>
            </a:extLst>
          </p:cNvPr>
          <p:cNvGrpSpPr/>
          <p:nvPr/>
        </p:nvGrpSpPr>
        <p:grpSpPr>
          <a:xfrm>
            <a:off x="6308449" y="0"/>
            <a:ext cx="5883551" cy="1057698"/>
            <a:chOff x="6308449" y="0"/>
            <a:chExt cx="5883551" cy="105769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8912751-C087-321B-CE56-7602BDA7ABF4}"/>
                </a:ext>
              </a:extLst>
            </p:cNvPr>
            <p:cNvSpPr/>
            <p:nvPr/>
          </p:nvSpPr>
          <p:spPr>
            <a:xfrm>
              <a:off x="6308449" y="0"/>
              <a:ext cx="5883551" cy="1057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C9FE7D2C-CDEB-0F01-2993-6A5C8A3B634D}"/>
                </a:ext>
              </a:extLst>
            </p:cNvPr>
            <p:cNvSpPr txBox="1"/>
            <p:nvPr/>
          </p:nvSpPr>
          <p:spPr>
            <a:xfrm>
              <a:off x="6443564" y="79078"/>
              <a:ext cx="5429692" cy="899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jar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：普通模块打包，</a:t>
              </a: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springboot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项目基本都是</a:t>
              </a: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jar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包（内嵌</a:t>
              </a: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tomcat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运行）</a:t>
              </a:r>
              <a:endParaRPr lang="en-US" altLang="zh-CN" sz="12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war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：普通</a:t>
              </a: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程序打包，需要部署在外部的</a:t>
              </a: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tomcat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服务器中运行</a:t>
              </a:r>
              <a:endParaRPr lang="en-US" altLang="zh-CN" sz="12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>
                  <a:solidFill>
                    <a:srgbClr val="3333FF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</a:t>
              </a:r>
              <a:r>
                <a:rPr lang="zh-CN" altLang="en-US" sz="1200">
                  <a:solidFill>
                    <a:srgbClr val="3333FF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：父工程或聚合工程，该模块不写代码，仅进行依赖管理</a:t>
              </a:r>
              <a:endParaRPr lang="zh-CN" altLang="en-US" sz="1200" dirty="0">
                <a:solidFill>
                  <a:srgbClr val="3333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2A8428A-5EA4-C204-ECBE-A4C5FAED6609}"/>
              </a:ext>
            </a:extLst>
          </p:cNvPr>
          <p:cNvSpPr/>
          <p:nvPr/>
        </p:nvSpPr>
        <p:spPr>
          <a:xfrm>
            <a:off x="7661410" y="2199919"/>
            <a:ext cx="4389979" cy="2764509"/>
          </a:xfrm>
          <a:prstGeom prst="roundRect">
            <a:avLst>
              <a:gd name="adj" fmla="val 93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72000"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parent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groupId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&gt;org.springframework.boot&lt;/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groupId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artifactId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&gt;spring-boot-starter-parent&lt;/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artifactId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version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3.2.10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version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relativePath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/&gt;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parent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&gt;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ira Code" panose="020B0809050000020004" pitchFamily="49" charset="0"/>
            </a:endParaRPr>
          </a:p>
          <a:p>
            <a:pPr eaLnBrk="0" fontAlgn="base" hangingPunct="0">
              <a:lnSpc>
                <a:spcPct val="150000"/>
              </a:lnSpc>
            </a:pPr>
            <a:endParaRPr lang="en-US" altLang="zh-CN" sz="1000">
              <a:solidFill>
                <a:srgbClr val="080808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</a:pP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&gt;com.itheima&lt;/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tlias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parent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&gt;1.0-SNAPSHOT&lt;/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packaging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&gt;pom&lt;/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packaging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lang="zh-CN" altLang="zh-CN" sz="10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!!矩形: 圆角 222">
            <a:extLst>
              <a:ext uri="{FF2B5EF4-FFF2-40B4-BE49-F238E27FC236}">
                <a16:creationId xmlns:a16="http://schemas.microsoft.com/office/drawing/2014/main" id="{290611D7-68C5-71FE-F4FD-C03DFB384A2F}"/>
              </a:ext>
            </a:extLst>
          </p:cNvPr>
          <p:cNvSpPr/>
          <p:nvPr/>
        </p:nvSpPr>
        <p:spPr>
          <a:xfrm>
            <a:off x="7661408" y="4600621"/>
            <a:ext cx="4389980" cy="270043"/>
          </a:xfrm>
          <a:prstGeom prst="roundRect">
            <a:avLst>
              <a:gd name="adj" fmla="val 14740"/>
            </a:avLst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995582E-922C-E410-0210-1F8793202DBA}"/>
              </a:ext>
            </a:extLst>
          </p:cNvPr>
          <p:cNvSpPr/>
          <p:nvPr/>
        </p:nvSpPr>
        <p:spPr>
          <a:xfrm>
            <a:off x="7661408" y="5132694"/>
            <a:ext cx="4389979" cy="1408584"/>
          </a:xfrm>
          <a:prstGeom prst="roundRect">
            <a:avLst>
              <a:gd name="adj" fmla="val 2599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parent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&gt;com.itheima&lt;/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lang="en-US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tlias-parent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artifactId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&lt;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&gt;1.0-SNAPSHOT&lt;/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en-US" altLang="zh-CN" sz="10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</a:pPr>
            <a:r>
              <a:rPr lang="en-US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lang="zh-CN" altLang="zh-CN" sz="100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relativePath</a:t>
            </a:r>
            <a:r>
              <a:rPr lang="zh-CN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&gt;../</a:t>
            </a:r>
            <a:r>
              <a:rPr lang="en-US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tlias-parent</a:t>
            </a:r>
            <a:r>
              <a:rPr lang="zh-CN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/pom.xml&lt;/</a:t>
            </a:r>
            <a:r>
              <a:rPr lang="zh-CN" altLang="zh-CN" sz="100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relativePath</a:t>
            </a:r>
            <a:r>
              <a:rPr lang="zh-CN" altLang="zh-CN" sz="100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parent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: 圆角 223">
            <a:extLst>
              <a:ext uri="{FF2B5EF4-FFF2-40B4-BE49-F238E27FC236}">
                <a16:creationId xmlns:a16="http://schemas.microsoft.com/office/drawing/2014/main" id="{D17DAAAF-6D9D-1553-F913-239BBA57F5F9}"/>
              </a:ext>
            </a:extLst>
          </p:cNvPr>
          <p:cNvSpPr/>
          <p:nvPr/>
        </p:nvSpPr>
        <p:spPr>
          <a:xfrm>
            <a:off x="7661408" y="6025136"/>
            <a:ext cx="4397424" cy="270044"/>
          </a:xfrm>
          <a:prstGeom prst="roundRect">
            <a:avLst>
              <a:gd name="adj" fmla="val 0"/>
            </a:avLst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116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animBg="1"/>
      <p:bldP spid="33" grpId="0" uiExpand="1" animBg="1"/>
      <p:bldP spid="34" grpId="0" uiExpand="1" animBg="1"/>
      <p:bldP spid="35" grpId="0" uiExpan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6B7F196-4040-BE2E-8964-3E5B083A2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7601" y="1115886"/>
            <a:ext cx="8640146" cy="178339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ea typeface="Fira Code" panose="020B0809050000020004" pitchFamily="49" charset="0"/>
              </a:rPr>
              <a:t>Maven</a:t>
            </a:r>
            <a:r>
              <a:rPr lang="zh-CN" altLang="en-US" sz="1800"/>
              <a:t>的继承关系实现步骤 </a:t>
            </a:r>
            <a:r>
              <a:rPr lang="en-US" altLang="zh-CN" sz="1800">
                <a:ea typeface="Fira Code" panose="020B0809050000020004" pitchFamily="49" charset="0"/>
              </a:rPr>
              <a:t>?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400" b="0">
                <a:ea typeface="Alibaba PuHuiTi R"/>
                <a:cs typeface="阿里巴巴普惠体" panose="00020600040101010101" pitchFamily="18" charset="-122"/>
              </a:rPr>
              <a:t>创建父工程，</a:t>
            </a:r>
            <a:r>
              <a:rPr lang="zh-CN" altLang="en-US" sz="1400" b="0">
                <a:solidFill>
                  <a:srgbClr val="C00000"/>
                </a:solidFill>
                <a:ea typeface="Alibaba PuHuiTi R"/>
                <a:cs typeface="阿里巴巴普惠体" panose="00020600040101010101" pitchFamily="18" charset="-122"/>
              </a:rPr>
              <a:t>设置打包方式为</a:t>
            </a:r>
            <a:r>
              <a:rPr lang="en-US" altLang="zh-CN" sz="1400" b="0">
                <a:solidFill>
                  <a:srgbClr val="C00000"/>
                </a:solidFill>
                <a:ea typeface="Alibaba PuHuiTi R"/>
                <a:cs typeface="阿里巴巴普惠体" panose="00020600040101010101" pitchFamily="18" charset="-122"/>
              </a:rPr>
              <a:t>pom</a:t>
            </a:r>
            <a:r>
              <a:rPr lang="zh-CN" altLang="en-US" sz="1400" b="0">
                <a:ea typeface="Alibaba PuHuiTi R"/>
                <a:cs typeface="阿里巴巴普惠体" panose="00020600040101010101" pitchFamily="18" charset="-122"/>
              </a:rPr>
              <a:t>。并继承 </a:t>
            </a:r>
            <a:r>
              <a:rPr lang="en-US" altLang="zh-CN" sz="1400" b="0">
                <a:ea typeface="Alibaba PuHuiTi R"/>
                <a:cs typeface="阿里巴巴普惠体" panose="00020600040101010101" pitchFamily="18" charset="-122"/>
              </a:rPr>
              <a:t>spring-boot-starter-parent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400" b="0">
                <a:ea typeface="Alibaba PuHuiTi R"/>
                <a:cs typeface="阿里巴巴普惠体" panose="00020600040101010101" pitchFamily="18" charset="-122"/>
              </a:rPr>
              <a:t>在子工程中配置继承关系</a:t>
            </a:r>
            <a:endParaRPr lang="en-US" altLang="zh-CN" sz="1400" b="0">
              <a:ea typeface="Alibaba PuHuiTi R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1400" b="0">
                <a:ea typeface="Alibaba PuHuiTi R"/>
                <a:cs typeface="阿里巴巴普惠体" panose="00020600040101010101" pitchFamily="18" charset="-122"/>
              </a:rPr>
              <a:t>在父工程中配置各个工程的共有依赖</a:t>
            </a:r>
            <a:endParaRPr lang="en-US" altLang="zh-CN" sz="1400" b="0">
              <a:ea typeface="Alibaba PuHuiTi R"/>
              <a:cs typeface="阿里巴巴普惠体" panose="00020600040101010101" pitchFamily="18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31D99B0-83ED-63A7-FFFA-718733795328}"/>
              </a:ext>
            </a:extLst>
          </p:cNvPr>
          <p:cNvGrpSpPr/>
          <p:nvPr/>
        </p:nvGrpSpPr>
        <p:grpSpPr>
          <a:xfrm>
            <a:off x="4117733" y="2965287"/>
            <a:ext cx="3859941" cy="2311873"/>
            <a:chOff x="3652482" y="3935507"/>
            <a:chExt cx="3859941" cy="231187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523528D-B602-0CCE-42FA-848DA336E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2482" y="3935507"/>
              <a:ext cx="3859941" cy="2311873"/>
            </a:xfrm>
            <a:prstGeom prst="roundRect">
              <a:avLst>
                <a:gd name="adj" fmla="val 2320"/>
              </a:avLst>
            </a:prstGeom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C3A4C81-C9C0-8574-D161-33111F9E201D}"/>
                </a:ext>
              </a:extLst>
            </p:cNvPr>
            <p:cNvSpPr txBox="1"/>
            <p:nvPr/>
          </p:nvSpPr>
          <p:spPr>
            <a:xfrm>
              <a:off x="7136760" y="3935507"/>
              <a:ext cx="3182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>
                  <a:solidFill>
                    <a:srgbClr val="C00000"/>
                  </a:solidFill>
                  <a:latin typeface="Fira Code" panose="020B0809050000020004" pitchFamily="49" charset="0"/>
                </a:rPr>
                <a:t>①</a:t>
              </a:r>
              <a:endParaRPr lang="zh-CN" altLang="en-US" sz="1600" b="1" dirty="0">
                <a:solidFill>
                  <a:srgbClr val="C00000"/>
                </a:solidFill>
                <a:latin typeface="Fira Code" panose="020B0809050000020004" pitchFamily="49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2CF36AD-69E9-4D9D-C42B-3192C71D596D}"/>
              </a:ext>
            </a:extLst>
          </p:cNvPr>
          <p:cNvGrpSpPr/>
          <p:nvPr/>
        </p:nvGrpSpPr>
        <p:grpSpPr>
          <a:xfrm>
            <a:off x="8044455" y="2965287"/>
            <a:ext cx="3866561" cy="2022205"/>
            <a:chOff x="7715838" y="3935507"/>
            <a:chExt cx="3866561" cy="202220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2C95C06-E838-7A7F-5008-3CCE09543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5838" y="3935507"/>
              <a:ext cx="3866561" cy="2022205"/>
            </a:xfrm>
            <a:prstGeom prst="roundRect">
              <a:avLst>
                <a:gd name="adj" fmla="val 2320"/>
              </a:avLst>
            </a:prstGeom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038ADD-47D1-093D-25BA-E9B13DDB1BE2}"/>
                </a:ext>
              </a:extLst>
            </p:cNvPr>
            <p:cNvSpPr txBox="1"/>
            <p:nvPr/>
          </p:nvSpPr>
          <p:spPr>
            <a:xfrm>
              <a:off x="11197771" y="3936049"/>
              <a:ext cx="3182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>
                  <a:solidFill>
                    <a:srgbClr val="C00000"/>
                  </a:solidFill>
                  <a:latin typeface="Fira Code" panose="020B0809050000020004" pitchFamily="49" charset="0"/>
                </a:rPr>
                <a:t>②</a:t>
              </a:r>
              <a:endParaRPr lang="zh-CN" altLang="en-US" sz="1600" b="1" dirty="0">
                <a:solidFill>
                  <a:srgbClr val="C00000"/>
                </a:solidFill>
                <a:latin typeface="Fira Code" panose="020B0809050000020004" pitchFamily="49" charset="0"/>
              </a:endParaRPr>
            </a:p>
          </p:txBody>
        </p:sp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869548-1FAC-1EB6-A380-8ED1505A197E}"/>
              </a:ext>
            </a:extLst>
          </p:cNvPr>
          <p:cNvCxnSpPr>
            <a:cxnSpLocks/>
          </p:cNvCxnSpPr>
          <p:nvPr/>
        </p:nvCxnSpPr>
        <p:spPr>
          <a:xfrm>
            <a:off x="8080315" y="4462392"/>
            <a:ext cx="204672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5E66346-FA8B-74BD-9E7B-8E6B7342B2DB}"/>
              </a:ext>
            </a:extLst>
          </p:cNvPr>
          <p:cNvSpPr txBox="1"/>
          <p:nvPr/>
        </p:nvSpPr>
        <p:spPr>
          <a:xfrm>
            <a:off x="3993900" y="5292304"/>
            <a:ext cx="7534468" cy="1151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" lvl="1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在子工程中，配置了继承关系之后，坐标中的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Alibaba PuHuiTi R" pitchFamily="18" charset="-122"/>
                <a:sym typeface="Consolas" panose="020B0609020204030204" pitchFamily="49" charset="0"/>
              </a:rPr>
              <a:t>groupId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是可以省略的，因为会自动继承父工程的 。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Alibaba PuHuiTi R" pitchFamily="18" charset="-122"/>
              <a:sym typeface="Consolas" panose="020B0609020204030204" pitchFamily="49" charset="0"/>
            </a:endParaRPr>
          </a:p>
          <a:p>
            <a:pPr marL="57150" lvl="1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Alibaba PuHuiTi R" pitchFamily="18" charset="-122"/>
                <a:sym typeface="Consolas" panose="020B0609020204030204" pitchFamily="49" charset="0"/>
              </a:rPr>
              <a:t>relativePath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指定</a:t>
            </a:r>
            <a:r>
              <a:rPr lang="zh-CN" altLang="zh-CN" sz="1200">
                <a:solidFill>
                  <a:srgbClr val="C00000"/>
                </a:solidFill>
                <a:latin typeface="Fira Code" panose="020B0809050000020004" pitchFamily="49" charset="0"/>
                <a:ea typeface="Alibaba PuHuiTi R"/>
                <a:cs typeface="Courier New" panose="02070309020205020404" pitchFamily="49" charset="0"/>
                <a:sym typeface="Consolas" panose="020B0609020204030204" pitchFamily="49" charset="0"/>
              </a:rPr>
              <a:t>父工程的pom文件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Alibaba PuHuiTi R"/>
                <a:cs typeface="Courier New" panose="02070309020205020404" pitchFamily="49" charset="0"/>
                <a:sym typeface="Consolas" panose="020B0609020204030204" pitchFamily="49" charset="0"/>
              </a:rPr>
              <a:t>的相对位置（如果不指定，将从本地仓库</a:t>
            </a: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  <a:sym typeface="Consolas" panose="020B0609020204030204" pitchFamily="49" charset="0"/>
              </a:rPr>
              <a:t>/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Alibaba PuHuiTi R"/>
                <a:cs typeface="Courier New" panose="02070309020205020404" pitchFamily="49" charset="0"/>
                <a:sym typeface="Consolas" panose="020B0609020204030204" pitchFamily="49" charset="0"/>
              </a:rPr>
              <a:t>远程仓库查找）。</a:t>
            </a:r>
            <a:endParaRPr lang="en-US" altLang="zh-CN" sz="1200">
              <a:solidFill>
                <a:srgbClr val="C00000"/>
              </a:solidFill>
              <a:latin typeface="Fira Code" panose="020B0809050000020004" pitchFamily="49" charset="0"/>
              <a:ea typeface="Alibaba PuHuiTi R"/>
              <a:cs typeface="Courier New" panose="02070309020205020404" pitchFamily="49" charset="0"/>
              <a:sym typeface="Consolas" panose="020B0609020204030204" pitchFamily="49" charset="0"/>
            </a:endParaRPr>
          </a:p>
          <a:p>
            <a:pPr marL="57150" lvl="1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若父子工程都配置了同一个依赖的不同版本，以子工程的为准。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EDA019-7915-22C3-2548-5E2B2C9B2129}"/>
              </a:ext>
            </a:extLst>
          </p:cNvPr>
          <p:cNvSpPr/>
          <p:nvPr/>
        </p:nvSpPr>
        <p:spPr>
          <a:xfrm>
            <a:off x="0" y="0"/>
            <a:ext cx="12192000" cy="6893860"/>
          </a:xfrm>
          <a:prstGeom prst="rect">
            <a:avLst/>
          </a:prstGeom>
          <a:solidFill>
            <a:srgbClr val="0D0D0D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3F02B8-9DEC-7945-D26A-22089E4DE7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4989"/>
          <a:stretch/>
        </p:blipFill>
        <p:spPr>
          <a:xfrm>
            <a:off x="7594284" y="2761943"/>
            <a:ext cx="3859941" cy="1617911"/>
          </a:xfrm>
          <a:prstGeom prst="roundRect">
            <a:avLst>
              <a:gd name="adj" fmla="val 3136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C7145A7-C854-8095-2BD9-F01C40A427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2208"/>
          <a:stretch/>
        </p:blipFill>
        <p:spPr>
          <a:xfrm>
            <a:off x="3662622" y="2761943"/>
            <a:ext cx="3859941" cy="1617912"/>
          </a:xfrm>
          <a:prstGeom prst="roundRect">
            <a:avLst>
              <a:gd name="adj" fmla="val 3152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80482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BF926-22FB-A1A3-C70B-F20247FFB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继承与聚合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145A65-3A24-C5F5-0AE2-3C2AA4D61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969902"/>
          </a:xfrm>
        </p:spPr>
        <p:txBody>
          <a:bodyPr/>
          <a:lstStyle/>
          <a:p>
            <a:r>
              <a:rPr lang="zh-CN" altLang="en-US">
                <a:solidFill>
                  <a:srgbClr val="C00000"/>
                </a:solidFill>
              </a:rPr>
              <a:t>继承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继承关系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版本锁定</a:t>
            </a:r>
            <a:endParaRPr lang="en-US" altLang="zh-CN" sz="1600">
              <a:solidFill>
                <a:srgbClr val="C00000"/>
              </a:solidFill>
            </a:endParaRPr>
          </a:p>
          <a:p>
            <a:r>
              <a:rPr lang="zh-CN" altLang="en-US"/>
              <a:t>聚合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13AC7-EFAD-CF10-7BD8-0990A9692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030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版本锁定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14E7953-D40C-B996-A587-BD3E9FF1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55" y="1555649"/>
            <a:ext cx="3236875" cy="1949345"/>
          </a:xfrm>
          <a:prstGeom prst="roundRect">
            <a:avLst>
              <a:gd name="adj" fmla="val 3136"/>
            </a:avLst>
          </a:prstGeom>
          <a:ln w="6350">
            <a:noFill/>
            <a:prstDash val="dash"/>
          </a:ln>
        </p:spPr>
      </p:pic>
      <p:sp>
        <p:nvSpPr>
          <p:cNvPr id="3" name="文本占位符 4">
            <a:extLst>
              <a:ext uri="{FF2B5EF4-FFF2-40B4-BE49-F238E27FC236}">
                <a16:creationId xmlns:a16="http://schemas.microsoft.com/office/drawing/2014/main" id="{838A4F91-052F-F3C6-5FD4-9A3703CFDF31}"/>
              </a:ext>
            </a:extLst>
          </p:cNvPr>
          <p:cNvSpPr txBox="1">
            <a:spLocks/>
          </p:cNvSpPr>
          <p:nvPr/>
        </p:nvSpPr>
        <p:spPr>
          <a:xfrm>
            <a:off x="576196" y="1122181"/>
            <a:ext cx="10698800" cy="4316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</a:t>
            </a:r>
            <a:r>
              <a:rPr lang="en-US" altLang="zh-CN">
                <a:ea typeface="Fira Code" panose="020B0809050000020004" pitchFamily="49" charset="0"/>
              </a:rPr>
              <a:t>maven</a:t>
            </a:r>
            <a:r>
              <a:rPr lang="zh-CN" altLang="en-US"/>
              <a:t>中，可以在父工程的</a:t>
            </a:r>
            <a:r>
              <a:rPr lang="en-US" altLang="zh-CN">
                <a:ea typeface="Fira Code" panose="020B0809050000020004" pitchFamily="49" charset="0"/>
              </a:rPr>
              <a:t>pom</a:t>
            </a:r>
            <a:r>
              <a:rPr lang="zh-CN" altLang="en-US"/>
              <a:t>文件中通过 </a:t>
            </a:r>
            <a:r>
              <a:rPr lang="zh-CN" altLang="zh-CN" sz="1600">
                <a:solidFill>
                  <a:srgbClr val="080808"/>
                </a:solidFill>
              </a:rPr>
              <a:t>&lt;</a:t>
            </a:r>
            <a:r>
              <a:rPr lang="zh-CN" altLang="zh-CN" sz="1600">
                <a:solidFill>
                  <a:srgbClr val="0033B3"/>
                </a:solidFill>
              </a:rPr>
              <a:t>dependencyManagement</a:t>
            </a:r>
            <a:r>
              <a:rPr lang="zh-CN" altLang="zh-CN" sz="1600">
                <a:solidFill>
                  <a:srgbClr val="080808"/>
                </a:solidFill>
              </a:rPr>
              <a:t>&gt;</a:t>
            </a:r>
            <a:r>
              <a:rPr lang="en-US" altLang="zh-CN" sz="1600">
                <a:solidFill>
                  <a:srgbClr val="080808"/>
                </a:solidFill>
                <a:ea typeface="Fira Code" panose="020B0809050000020004" pitchFamily="49" charset="0"/>
              </a:rPr>
              <a:t> </a:t>
            </a:r>
            <a:r>
              <a:rPr lang="zh-CN" altLang="en-US" sz="1600">
                <a:solidFill>
                  <a:srgbClr val="080808"/>
                </a:solidFill>
              </a:rPr>
              <a:t>来统一管理依赖版本</a:t>
            </a:r>
            <a:r>
              <a:rPr lang="zh-CN" altLang="en-US">
                <a:solidFill>
                  <a:srgbClr val="080808"/>
                </a:solidFill>
              </a:rPr>
              <a:t>。</a:t>
            </a:r>
            <a:endParaRPr lang="zh-CN" altLang="zh-CN" sz="24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6BC226E-7F29-DD3D-22CC-B3410FFB3F4A}"/>
              </a:ext>
            </a:extLst>
          </p:cNvPr>
          <p:cNvSpPr/>
          <p:nvPr/>
        </p:nvSpPr>
        <p:spPr>
          <a:xfrm>
            <a:off x="1324310" y="3096059"/>
            <a:ext cx="2879420" cy="255271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3AEEF3C-3573-7408-A085-3E7CF0235850}"/>
              </a:ext>
            </a:extLst>
          </p:cNvPr>
          <p:cNvSpPr/>
          <p:nvPr/>
        </p:nvSpPr>
        <p:spPr>
          <a:xfrm>
            <a:off x="1324310" y="2835312"/>
            <a:ext cx="2879420" cy="2286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0B081F0-D9D1-8D90-7F08-397E3B8E4C63}"/>
              </a:ext>
            </a:extLst>
          </p:cNvPr>
          <p:cNvSpPr/>
          <p:nvPr/>
        </p:nvSpPr>
        <p:spPr>
          <a:xfrm>
            <a:off x="1324310" y="2547762"/>
            <a:ext cx="2879420" cy="255403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D118F48-F5E4-EBE9-A3D8-E976AED74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14" y="2547762"/>
            <a:ext cx="1889924" cy="2133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7A60805-B8D7-92E9-C7B0-E144D5C61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14" y="2850534"/>
            <a:ext cx="1889924" cy="2133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CB29CB7-DA82-4337-73A9-5A6D9CA7E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14" y="3128665"/>
            <a:ext cx="1889924" cy="21337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50C7C6E-AB70-0D28-3ABC-09CBB8586F60}"/>
              </a:ext>
            </a:extLst>
          </p:cNvPr>
          <p:cNvSpPr txBox="1"/>
          <p:nvPr/>
        </p:nvSpPr>
        <p:spPr>
          <a:xfrm>
            <a:off x="6336936" y="2761140"/>
            <a:ext cx="3943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如何统一管理各个依赖的版本呢 </a:t>
            </a:r>
            <a:r>
              <a:rPr lang="en-US" altLang="zh-CN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?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6940A3-4043-CEF2-1E3F-A4B175163F29}"/>
              </a:ext>
            </a:extLst>
          </p:cNvPr>
          <p:cNvSpPr txBox="1"/>
          <p:nvPr/>
        </p:nvSpPr>
        <p:spPr>
          <a:xfrm>
            <a:off x="5468256" y="2285686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0.9.2</a:t>
            </a:r>
            <a:endParaRPr lang="zh-CN" altLang="en-US" sz="16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5E4D797-811A-FB81-25E8-1BF9A8426A45}"/>
              </a:ext>
            </a:extLst>
          </p:cNvPr>
          <p:cNvCxnSpPr/>
          <p:nvPr/>
        </p:nvCxnSpPr>
        <p:spPr>
          <a:xfrm>
            <a:off x="0" y="3532095"/>
            <a:ext cx="12192000" cy="0"/>
          </a:xfrm>
          <a:prstGeom prst="line">
            <a:avLst/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F6F80CD-5BA9-918C-9F2A-7D0C6E86D710}"/>
              </a:ext>
            </a:extLst>
          </p:cNvPr>
          <p:cNvGrpSpPr/>
          <p:nvPr/>
        </p:nvGrpSpPr>
        <p:grpSpPr>
          <a:xfrm>
            <a:off x="1310011" y="3654135"/>
            <a:ext cx="4555283" cy="2520945"/>
            <a:chOff x="1177302" y="2367138"/>
            <a:chExt cx="4555283" cy="252094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0326935-C47A-E927-1AAC-8E70E7EF1A7C}"/>
                </a:ext>
              </a:extLst>
            </p:cNvPr>
            <p:cNvSpPr/>
            <p:nvPr/>
          </p:nvSpPr>
          <p:spPr>
            <a:xfrm>
              <a:off x="1177302" y="2367138"/>
              <a:ext cx="4555283" cy="2519084"/>
            </a:xfrm>
            <a:prstGeom prst="roundRect">
              <a:avLst>
                <a:gd name="adj" fmla="val 2502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fontAlgn="base" hangingPunct="0">
                <a:lnSpc>
                  <a:spcPct val="150000"/>
                </a:lnSpc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dependencyManagement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cs typeface="Courier New" panose="02070309020205020404" pitchFamily="49" charset="0"/>
                </a:rPr>
                <a:t>&lt;!--JWT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  <a:cs typeface="Courier New" panose="02070309020205020404" pitchFamily="49" charset="0"/>
                </a:rPr>
                <a:t>令牌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cs typeface="Courier New" panose="02070309020205020404" pitchFamily="49" charset="0"/>
                </a:rPr>
                <a:t>--&gt;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cs typeface="Courier New" panose="02070309020205020404" pitchFamily="49" charset="0"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&gt;io.jsonwebtoken&lt;/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&gt;jjwt&lt;/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version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0.9.1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version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dependencyManagement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" name="矩形: 对角圆角 17">
              <a:extLst>
                <a:ext uri="{FF2B5EF4-FFF2-40B4-BE49-F238E27FC236}">
                  <a16:creationId xmlns:a16="http://schemas.microsoft.com/office/drawing/2014/main" id="{CF91A10C-FBB7-C1FD-84BA-6FECADB12D41}"/>
                </a:ext>
              </a:extLst>
            </p:cNvPr>
            <p:cNvSpPr/>
            <p:nvPr/>
          </p:nvSpPr>
          <p:spPr>
            <a:xfrm>
              <a:off x="4694659" y="4500281"/>
              <a:ext cx="1037926" cy="387802"/>
            </a:xfrm>
            <a:prstGeom prst="round2DiagRect">
              <a:avLst/>
            </a:prstGeom>
            <a:gradFill flip="none" rotWithShape="1">
              <a:gsLst>
                <a:gs pos="0">
                  <a:srgbClr val="56F8C5">
                    <a:tint val="66000"/>
                    <a:satMod val="160000"/>
                  </a:srgbClr>
                </a:gs>
                <a:gs pos="50000">
                  <a:srgbClr val="56F8C5">
                    <a:tint val="44500"/>
                    <a:satMod val="160000"/>
                  </a:srgbClr>
                </a:gs>
                <a:gs pos="100000">
                  <a:srgbClr val="56F8C5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父工程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E7C304-2B21-B02B-0D73-63CEEC96D2CA}"/>
              </a:ext>
            </a:extLst>
          </p:cNvPr>
          <p:cNvGrpSpPr/>
          <p:nvPr/>
        </p:nvGrpSpPr>
        <p:grpSpPr>
          <a:xfrm>
            <a:off x="6227836" y="3654135"/>
            <a:ext cx="4555283" cy="2549316"/>
            <a:chOff x="6096000" y="2336906"/>
            <a:chExt cx="4555283" cy="254931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B7D88BA-B064-ED7C-0E4B-18FA91646257}"/>
                </a:ext>
              </a:extLst>
            </p:cNvPr>
            <p:cNvSpPr/>
            <p:nvPr/>
          </p:nvSpPr>
          <p:spPr>
            <a:xfrm>
              <a:off x="6096000" y="2336906"/>
              <a:ext cx="4555283" cy="2549316"/>
            </a:xfrm>
            <a:prstGeom prst="roundRect">
              <a:avLst>
                <a:gd name="adj" fmla="val 2502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fontAlgn="base" hangingPunct="0">
                <a:lnSpc>
                  <a:spcPct val="150000"/>
                </a:lnSpc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&gt;io.jsonwebtoken&lt;/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&gt;jjwt&lt;/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    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dependencies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&gt;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1" name="矩形: 对角圆角 20">
              <a:extLst>
                <a:ext uri="{FF2B5EF4-FFF2-40B4-BE49-F238E27FC236}">
                  <a16:creationId xmlns:a16="http://schemas.microsoft.com/office/drawing/2014/main" id="{98B36CF6-7A14-2FEC-22CB-C51EBB5EC260}"/>
                </a:ext>
              </a:extLst>
            </p:cNvPr>
            <p:cNvSpPr/>
            <p:nvPr/>
          </p:nvSpPr>
          <p:spPr>
            <a:xfrm>
              <a:off x="9613357" y="4498420"/>
              <a:ext cx="1037926" cy="387802"/>
            </a:xfrm>
            <a:prstGeom prst="round2DiagRect">
              <a:avLst/>
            </a:prstGeom>
            <a:gradFill flip="none" rotWithShape="1">
              <a:gsLst>
                <a:gs pos="0">
                  <a:srgbClr val="56F8C5">
                    <a:tint val="66000"/>
                    <a:satMod val="160000"/>
                  </a:srgbClr>
                </a:gs>
                <a:gs pos="50000">
                  <a:srgbClr val="56F8C5">
                    <a:tint val="44500"/>
                    <a:satMod val="160000"/>
                  </a:srgbClr>
                </a:gs>
                <a:gs pos="100000">
                  <a:srgbClr val="56F8C5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子工程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037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 animBg="1"/>
      <p:bldP spid="8" grpId="0" animBg="1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自定义属性</a:t>
            </a:r>
            <a:r>
              <a:rPr lang="en-US" altLang="zh-CN"/>
              <a:t>/</a:t>
            </a:r>
            <a:r>
              <a:rPr lang="zh-CN" altLang="en-US"/>
              <a:t>引用属性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2A7BF0C-1DC6-B081-A209-D2DA60359B78}"/>
              </a:ext>
            </a:extLst>
          </p:cNvPr>
          <p:cNvSpPr/>
          <p:nvPr/>
        </p:nvSpPr>
        <p:spPr>
          <a:xfrm>
            <a:off x="769926" y="1356022"/>
            <a:ext cx="4722336" cy="1081486"/>
          </a:xfrm>
          <a:prstGeom prst="roundRect">
            <a:avLst>
              <a:gd name="adj" fmla="val 656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properties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lombok.version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&gt;1.18.</a:t>
            </a:r>
            <a:r>
              <a:rPr lang="en-US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30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lombok.version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jjwt.version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&gt;0.9.</a:t>
            </a:r>
            <a:r>
              <a:rPr lang="en-US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1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jjwt.version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properties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4E1360D-DA4D-93EB-4A40-F93A500C6BE3}"/>
              </a:ext>
            </a:extLst>
          </p:cNvPr>
          <p:cNvSpPr/>
          <p:nvPr/>
        </p:nvSpPr>
        <p:spPr>
          <a:xfrm>
            <a:off x="6540780" y="3003113"/>
            <a:ext cx="4416669" cy="2074985"/>
          </a:xfrm>
          <a:prstGeom prst="roundRect">
            <a:avLst>
              <a:gd name="adj" fmla="val 250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150000"/>
              </a:lnSpc>
              <a:spcBef>
                <a:spcPts val="600"/>
              </a:spcBef>
            </a:pP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dependencies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dependency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groupId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&gt;org.projectlombok&lt;/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groupId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artifactId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&gt;lombok&lt;/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artifactId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&gt;${lombok.version}&lt;/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dependency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dependencies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endParaRPr lang="zh-CN" altLang="zh-CN">
              <a:solidFill>
                <a:schemeClr val="tx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174000F-0943-FB3A-B808-C92F997AE5D4}"/>
              </a:ext>
            </a:extLst>
          </p:cNvPr>
          <p:cNvSpPr/>
          <p:nvPr/>
        </p:nvSpPr>
        <p:spPr>
          <a:xfrm>
            <a:off x="769926" y="3003113"/>
            <a:ext cx="4722336" cy="2747056"/>
          </a:xfrm>
          <a:prstGeom prst="roundRect">
            <a:avLst>
              <a:gd name="adj" fmla="val 250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dependencyManagement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dependencies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</a:t>
            </a:r>
            <a:r>
              <a:rPr lang="zh-CN" altLang="zh-CN" sz="1200">
                <a:solidFill>
                  <a:srgbClr val="080808"/>
                </a:solidFill>
                <a:latin typeface="+mn-ea"/>
                <a:cs typeface="Courier New" panose="02070309020205020404" pitchFamily="49" charset="0"/>
              </a:rPr>
              <a:t> </a:t>
            </a:r>
            <a:r>
              <a:rPr lang="zh-CN" altLang="zh-CN" sz="1200">
                <a:solidFill>
                  <a:srgbClr val="8C8C8C"/>
                </a:solidFill>
                <a:cs typeface="Courier New" panose="02070309020205020404" pitchFamily="49" charset="0"/>
              </a:rPr>
              <a:t>&lt;!--JWT令牌--&gt;</a:t>
            </a:r>
            <a:br>
              <a:rPr lang="zh-CN" altLang="zh-CN" sz="1200" i="1">
                <a:solidFill>
                  <a:srgbClr val="8C8C8C"/>
                </a:solidFill>
                <a:cs typeface="Courier New" panose="02070309020205020404" pitchFamily="49" charset="0"/>
              </a:rPr>
            </a:br>
            <a:r>
              <a:rPr lang="zh-CN" altLang="zh-CN" sz="1200" i="1">
                <a:solidFill>
                  <a:srgbClr val="8C8C8C"/>
                </a:solidFill>
                <a:cs typeface="Courier New" panose="02070309020205020404" pitchFamily="49" charset="0"/>
              </a:rPr>
              <a:t>        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dependency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groupId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&gt;io.jsonwebtoken&lt;/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groupId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artifactId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&gt;jjwt&lt;/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artifactId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    &lt;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r>
              <a:rPr lang="en-US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${jjwt.version}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version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    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dependency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    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dependencies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b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</a:b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&lt;/</a:t>
            </a:r>
            <a:r>
              <a:rPr lang="zh-CN" altLang="zh-CN" sz="1200">
                <a:solidFill>
                  <a:srgbClr val="0033B3"/>
                </a:solidFill>
                <a:cs typeface="Courier New" panose="02070309020205020404" pitchFamily="49" charset="0"/>
              </a:rPr>
              <a:t>dependencyManagement</a:t>
            </a:r>
            <a:r>
              <a:rPr lang="zh-CN" altLang="zh-CN" sz="1200">
                <a:solidFill>
                  <a:srgbClr val="080808"/>
                </a:solidFill>
                <a:cs typeface="Courier New" panose="02070309020205020404" pitchFamily="49" charset="0"/>
              </a:rPr>
              <a:t>&gt;</a:t>
            </a:r>
            <a:endParaRPr lang="zh-CN" altLang="zh-CN" sz="12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F7AA743-202C-1658-9D9C-6882D8039AF2}"/>
              </a:ext>
            </a:extLst>
          </p:cNvPr>
          <p:cNvSpPr/>
          <p:nvPr/>
        </p:nvSpPr>
        <p:spPr>
          <a:xfrm>
            <a:off x="1216465" y="1615828"/>
            <a:ext cx="3777175" cy="248142"/>
          </a:xfrm>
          <a:prstGeom prst="roundRect">
            <a:avLst/>
          </a:prstGeom>
          <a:solidFill>
            <a:srgbClr val="56F8C5">
              <a:alpha val="34902"/>
            </a:srgbClr>
          </a:solidFill>
          <a:ln w="952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5A5F0A7-A728-BD74-1564-143EBE29331E}"/>
              </a:ext>
            </a:extLst>
          </p:cNvPr>
          <p:cNvSpPr/>
          <p:nvPr/>
        </p:nvSpPr>
        <p:spPr>
          <a:xfrm>
            <a:off x="7302780" y="4225600"/>
            <a:ext cx="3441420" cy="245829"/>
          </a:xfrm>
          <a:prstGeom prst="roundRect">
            <a:avLst/>
          </a:prstGeom>
          <a:solidFill>
            <a:srgbClr val="56F8C5">
              <a:alpha val="34902"/>
            </a:srgbClr>
          </a:solidFill>
          <a:ln w="952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5F8E852-1A5C-7A62-4630-59924275EE55}"/>
              </a:ext>
            </a:extLst>
          </p:cNvPr>
          <p:cNvSpPr/>
          <p:nvPr/>
        </p:nvSpPr>
        <p:spPr>
          <a:xfrm>
            <a:off x="1216465" y="1903040"/>
            <a:ext cx="3777175" cy="220736"/>
          </a:xfrm>
          <a:prstGeom prst="roundRect">
            <a:avLst/>
          </a:prstGeom>
          <a:solidFill>
            <a:srgbClr val="FF0000">
              <a:alpha val="34902"/>
            </a:srgbClr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9991E9F-586F-D13A-F099-A91C2F67CFCF}"/>
              </a:ext>
            </a:extLst>
          </p:cNvPr>
          <p:cNvSpPr/>
          <p:nvPr/>
        </p:nvSpPr>
        <p:spPr>
          <a:xfrm>
            <a:off x="1932744" y="4698790"/>
            <a:ext cx="3271716" cy="246003"/>
          </a:xfrm>
          <a:prstGeom prst="roundRect">
            <a:avLst/>
          </a:prstGeom>
          <a:solidFill>
            <a:srgbClr val="FF0000">
              <a:alpha val="34902"/>
            </a:srgbClr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A1949A19-56C3-B106-E96F-7741514DDF9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993640" y="1739899"/>
            <a:ext cx="2309140" cy="2608616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E3A47C7C-73F8-8197-E383-ED55CE773B04}"/>
              </a:ext>
            </a:extLst>
          </p:cNvPr>
          <p:cNvCxnSpPr>
            <a:cxnSpLocks/>
            <a:stCxn id="9" idx="3"/>
            <a:endCxn id="10" idx="3"/>
          </p:cNvCxnSpPr>
          <p:nvPr/>
        </p:nvCxnSpPr>
        <p:spPr>
          <a:xfrm>
            <a:off x="4993640" y="2013408"/>
            <a:ext cx="210820" cy="2808384"/>
          </a:xfrm>
          <a:prstGeom prst="curvedConnector3">
            <a:avLst>
              <a:gd name="adj1" fmla="val 208434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74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E98B9F6-8DA0-0CA1-E7D5-BDFA71A1F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72417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</a:rPr>
              <a:t>dependencyManagement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&gt;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 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与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</a:rPr>
              <a:t>dependenc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</a:rPr>
              <a:t>ies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&gt;</a:t>
            </a: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的区别是什么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?</a:t>
            </a:r>
          </a:p>
          <a:p>
            <a:pPr marL="648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ies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是直接依赖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在父工程配置了依赖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子工程会直接继承下来</a:t>
            </a:r>
            <a:r>
              <a:rPr lang="zh-CN" altLang="en-US" sz="1400" b="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 marL="648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dependencyManagement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是统一管理依赖版本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不会直接依赖，</a:t>
            </a:r>
            <a:r>
              <a:rPr lang="zh-CN" altLang="en-US" sz="1400" b="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还需要在子工程中引入所需依赖</a:t>
            </a:r>
            <a:r>
              <a:rPr lang="en-US" altLang="zh-CN" sz="1400" b="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b="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无需指定版本</a:t>
            </a:r>
            <a:r>
              <a:rPr lang="en-US" altLang="zh-CN" sz="1400" b="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4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9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BF926-22FB-A1A3-C70B-F20247FFB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继承与聚合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5145A65-3A24-C5F5-0AE2-3C2AA4D61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969902"/>
          </a:xfrm>
        </p:spPr>
        <p:txBody>
          <a:bodyPr/>
          <a:lstStyle/>
          <a:p>
            <a:r>
              <a:rPr lang="zh-CN" altLang="en-US"/>
              <a:t>继承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聚合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13AC7-EFAD-CF10-7BD8-0990A96926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682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聚合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535AEAA-D669-C5F0-5890-774BEBE59810}"/>
              </a:ext>
            </a:extLst>
          </p:cNvPr>
          <p:cNvSpPr/>
          <p:nvPr/>
        </p:nvSpPr>
        <p:spPr>
          <a:xfrm>
            <a:off x="576197" y="915313"/>
            <a:ext cx="4839084" cy="3616047"/>
          </a:xfrm>
          <a:prstGeom prst="roundRect">
            <a:avLst>
              <a:gd name="adj" fmla="val 3513"/>
            </a:avLst>
          </a:prstGeom>
          <a:solidFill>
            <a:srgbClr val="56F8C5">
              <a:alpha val="20000"/>
            </a:srgbClr>
          </a:solidFill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5">
            <a:extLst>
              <a:ext uri="{FF2B5EF4-FFF2-40B4-BE49-F238E27FC236}">
                <a16:creationId xmlns:a16="http://schemas.microsoft.com/office/drawing/2014/main" id="{EA1AC508-D74C-11D1-C7E7-89079D19C4A3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199598" y="1724633"/>
            <a:ext cx="802421" cy="535563"/>
          </a:xfrm>
          <a:prstGeom prst="bentConnector3">
            <a:avLst>
              <a:gd name="adj1" fmla="val -128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27">
            <a:extLst>
              <a:ext uri="{FF2B5EF4-FFF2-40B4-BE49-F238E27FC236}">
                <a16:creationId xmlns:a16="http://schemas.microsoft.com/office/drawing/2014/main" id="{D4DB0F2D-650F-D9F1-4AF3-846306A99FED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 flipH="1">
            <a:off x="1154771" y="2296033"/>
            <a:ext cx="874100" cy="80242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9">
            <a:extLst>
              <a:ext uri="{FF2B5EF4-FFF2-40B4-BE49-F238E27FC236}">
                <a16:creationId xmlns:a16="http://schemas.microsoft.com/office/drawing/2014/main" id="{3CFD61C4-E272-6BC4-1DA9-8AB6D593A2EE}"/>
              </a:ext>
            </a:extLst>
          </p:cNvPr>
          <p:cNvCxnSpPr>
            <a:cxnSpLocks/>
            <a:endCxn id="20" idx="2"/>
          </p:cNvCxnSpPr>
          <p:nvPr/>
        </p:nvCxnSpPr>
        <p:spPr>
          <a:xfrm rot="16200000" flipH="1">
            <a:off x="1141541" y="3183361"/>
            <a:ext cx="900559" cy="80242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AAC05E0A-2DBB-30D4-8794-81D30FECA6B9}"/>
              </a:ext>
            </a:extLst>
          </p:cNvPr>
          <p:cNvGrpSpPr/>
          <p:nvPr/>
        </p:nvGrpSpPr>
        <p:grpSpPr>
          <a:xfrm>
            <a:off x="2002019" y="1922531"/>
            <a:ext cx="2612715" cy="675329"/>
            <a:chOff x="2427244" y="2762788"/>
            <a:chExt cx="2478749" cy="675329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5C577B9-8E85-A5B5-9308-A233AA477B06}"/>
                </a:ext>
              </a:extLst>
            </p:cNvPr>
            <p:cNvGrpSpPr/>
            <p:nvPr/>
          </p:nvGrpSpPr>
          <p:grpSpPr>
            <a:xfrm>
              <a:off x="2472398" y="2828246"/>
              <a:ext cx="1732083" cy="528190"/>
              <a:chOff x="3963019" y="5996556"/>
              <a:chExt cx="2207564" cy="356520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4449787B-1539-8FF4-F078-8A0E1A844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63019" y="5996556"/>
                <a:ext cx="859121" cy="356520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92787A4-DB2D-3AB7-8FAF-4082395F0841}"/>
                  </a:ext>
                </a:extLst>
              </p:cNvPr>
              <p:cNvSpPr txBox="1"/>
              <p:nvPr/>
            </p:nvSpPr>
            <p:spPr>
              <a:xfrm>
                <a:off x="4852408" y="6126976"/>
                <a:ext cx="1318175" cy="186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tlias-pojo</a:t>
                </a:r>
                <a:endPara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0" name="矩形: 对角圆角 9">
              <a:extLst>
                <a:ext uri="{FF2B5EF4-FFF2-40B4-BE49-F238E27FC236}">
                  <a16:creationId xmlns:a16="http://schemas.microsoft.com/office/drawing/2014/main" id="{54602D93-F41E-448F-BFAA-DEE178199BD3}"/>
                </a:ext>
              </a:extLst>
            </p:cNvPr>
            <p:cNvSpPr/>
            <p:nvPr/>
          </p:nvSpPr>
          <p:spPr>
            <a:xfrm>
              <a:off x="2427244" y="2762788"/>
              <a:ext cx="2478749" cy="675329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61EDAA-B91E-9A89-71B4-19ED5FAC35A9}"/>
              </a:ext>
            </a:extLst>
          </p:cNvPr>
          <p:cNvGrpSpPr/>
          <p:nvPr/>
        </p:nvGrpSpPr>
        <p:grpSpPr>
          <a:xfrm>
            <a:off x="1993033" y="2787284"/>
            <a:ext cx="2621701" cy="694022"/>
            <a:chOff x="2427244" y="3763535"/>
            <a:chExt cx="2487735" cy="694022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AFECE3C-E437-3E69-3867-95B8735C453B}"/>
                </a:ext>
              </a:extLst>
            </p:cNvPr>
            <p:cNvGrpSpPr/>
            <p:nvPr/>
          </p:nvGrpSpPr>
          <p:grpSpPr>
            <a:xfrm>
              <a:off x="2481383" y="3840956"/>
              <a:ext cx="1825304" cy="535232"/>
              <a:chOff x="3974469" y="6039156"/>
              <a:chExt cx="2326377" cy="361273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C0C954F0-377C-D4CF-19EF-0BFBC70BC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74469" y="6039156"/>
                <a:ext cx="870571" cy="361273"/>
              </a:xfrm>
              <a:prstGeom prst="rect">
                <a:avLst/>
              </a:prstGeom>
            </p:spPr>
          </p:pic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1324517-B8CD-F364-A427-43584B8D0921}"/>
                  </a:ext>
                </a:extLst>
              </p:cNvPr>
              <p:cNvSpPr txBox="1"/>
              <p:nvPr/>
            </p:nvSpPr>
            <p:spPr>
              <a:xfrm>
                <a:off x="4874386" y="6126307"/>
                <a:ext cx="1426460" cy="186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tlias-utils</a:t>
                </a:r>
                <a:endPara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E71D8AA6-6D9F-CD7D-B310-3B596ABB14CF}"/>
                </a:ext>
              </a:extLst>
            </p:cNvPr>
            <p:cNvSpPr/>
            <p:nvPr/>
          </p:nvSpPr>
          <p:spPr>
            <a:xfrm>
              <a:off x="2427244" y="3763535"/>
              <a:ext cx="2487735" cy="694022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1B391C6-3339-1E79-22E5-07B9E3950D6E}"/>
              </a:ext>
            </a:extLst>
          </p:cNvPr>
          <p:cNvGrpSpPr/>
          <p:nvPr/>
        </p:nvGrpSpPr>
        <p:grpSpPr>
          <a:xfrm>
            <a:off x="1993033" y="3687843"/>
            <a:ext cx="2621701" cy="694022"/>
            <a:chOff x="2427242" y="4648468"/>
            <a:chExt cx="2621701" cy="69402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F62B3F0-FE6D-CF64-5703-A357716FFE69}"/>
                </a:ext>
              </a:extLst>
            </p:cNvPr>
            <p:cNvGrpSpPr/>
            <p:nvPr/>
          </p:nvGrpSpPr>
          <p:grpSpPr>
            <a:xfrm>
              <a:off x="2472400" y="4721122"/>
              <a:ext cx="2557923" cy="536325"/>
              <a:chOff x="3963018" y="5996556"/>
              <a:chExt cx="3260110" cy="362011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D60A4E25-E3EB-5C0E-17C8-5EE79C0463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63018" y="5996556"/>
                <a:ext cx="872352" cy="362011"/>
              </a:xfrm>
              <a:prstGeom prst="rect">
                <a:avLst/>
              </a:prstGeom>
            </p:spPr>
          </p:pic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AC6F8DA-C934-5415-EA57-98E4B3F17E72}"/>
                  </a:ext>
                </a:extLst>
              </p:cNvPr>
              <p:cNvSpPr txBox="1"/>
              <p:nvPr/>
            </p:nvSpPr>
            <p:spPr>
              <a:xfrm>
                <a:off x="4822135" y="6115878"/>
                <a:ext cx="2400993" cy="186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tlias-web-management</a:t>
                </a:r>
                <a:endPara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0" name="矩形: 对角圆角 19">
              <a:extLst>
                <a:ext uri="{FF2B5EF4-FFF2-40B4-BE49-F238E27FC236}">
                  <a16:creationId xmlns:a16="http://schemas.microsoft.com/office/drawing/2014/main" id="{3BCB26BF-8104-BAB9-757D-D7CB4B59D8C9}"/>
                </a:ext>
              </a:extLst>
            </p:cNvPr>
            <p:cNvSpPr/>
            <p:nvPr/>
          </p:nvSpPr>
          <p:spPr>
            <a:xfrm>
              <a:off x="2427242" y="4648468"/>
              <a:ext cx="2621701" cy="694022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7822B6A-AE2D-438C-0C66-4956805C9844}"/>
              </a:ext>
            </a:extLst>
          </p:cNvPr>
          <p:cNvGrpSpPr/>
          <p:nvPr/>
        </p:nvGrpSpPr>
        <p:grpSpPr>
          <a:xfrm>
            <a:off x="703316" y="1019105"/>
            <a:ext cx="3197016" cy="710225"/>
            <a:chOff x="994496" y="1773522"/>
            <a:chExt cx="3197016" cy="710225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0CFAB066-E64E-CF0C-D0A5-06764615B4AF}"/>
                </a:ext>
              </a:extLst>
            </p:cNvPr>
            <p:cNvGrpSpPr/>
            <p:nvPr/>
          </p:nvGrpSpPr>
          <p:grpSpPr>
            <a:xfrm>
              <a:off x="994496" y="1773522"/>
              <a:ext cx="992566" cy="710225"/>
              <a:chOff x="7098251" y="4357706"/>
              <a:chExt cx="2158082" cy="1415026"/>
            </a:xfrm>
          </p:grpSpPr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5ADE99BB-799F-F073-0FA5-428C3466B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8251" y="4357706"/>
                <a:ext cx="2158082" cy="1415026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C484764A-80CC-98A7-1D8B-3E42AE36A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4476" y="4700026"/>
                <a:ext cx="589392" cy="841471"/>
              </a:xfrm>
              <a:prstGeom prst="rect">
                <a:avLst/>
              </a:prstGeom>
            </p:spPr>
          </p:pic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9BDC843-5698-0D9B-A8AA-8EA0842F2E88}"/>
                </a:ext>
              </a:extLst>
            </p:cNvPr>
            <p:cNvSpPr txBox="1"/>
            <p:nvPr/>
          </p:nvSpPr>
          <p:spPr>
            <a:xfrm>
              <a:off x="1987062" y="2068041"/>
              <a:ext cx="2204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tlias-parent </a:t>
              </a:r>
              <a:r>
                <a:rPr lang="en-US" altLang="zh-CN" sz="140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</a:t>
              </a:r>
              <a:r>
                <a:rPr lang="zh-CN" altLang="en-US" sz="140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父工程</a:t>
              </a:r>
              <a:r>
                <a:rPr lang="en-US" altLang="zh-CN" sz="140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endPara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02E5C56B-D536-89A9-F322-BEBBF62F63F5}"/>
              </a:ext>
            </a:extLst>
          </p:cNvPr>
          <p:cNvCxnSpPr>
            <a:cxnSpLocks/>
            <a:stCxn id="10" idx="0"/>
            <a:endCxn id="20" idx="0"/>
          </p:cNvCxnSpPr>
          <p:nvPr/>
        </p:nvCxnSpPr>
        <p:spPr>
          <a:xfrm>
            <a:off x="4614734" y="2260196"/>
            <a:ext cx="12700" cy="1774658"/>
          </a:xfrm>
          <a:prstGeom prst="curvedConnector3">
            <a:avLst>
              <a:gd name="adj1" fmla="val 3040000"/>
            </a:avLst>
          </a:prstGeom>
          <a:ln w="1905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DDCCC03E-A3FE-37F5-6215-A9C24F52B16D}"/>
              </a:ext>
            </a:extLst>
          </p:cNvPr>
          <p:cNvCxnSpPr>
            <a:cxnSpLocks/>
            <a:stCxn id="15" idx="0"/>
            <a:endCxn id="20" idx="0"/>
          </p:cNvCxnSpPr>
          <p:nvPr/>
        </p:nvCxnSpPr>
        <p:spPr>
          <a:xfrm>
            <a:off x="4614734" y="3134295"/>
            <a:ext cx="12700" cy="900559"/>
          </a:xfrm>
          <a:prstGeom prst="curvedConnector3">
            <a:avLst>
              <a:gd name="adj1" fmla="val 1800000"/>
            </a:avLst>
          </a:prstGeom>
          <a:ln w="1905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占位符 4">
            <a:extLst>
              <a:ext uri="{FF2B5EF4-FFF2-40B4-BE49-F238E27FC236}">
                <a16:creationId xmlns:a16="http://schemas.microsoft.com/office/drawing/2014/main" id="{C710DBB5-CE94-D58C-1ABD-5B3B6855532E}"/>
              </a:ext>
            </a:extLst>
          </p:cNvPr>
          <p:cNvSpPr txBox="1">
            <a:spLocks/>
          </p:cNvSpPr>
          <p:nvPr/>
        </p:nvSpPr>
        <p:spPr>
          <a:xfrm>
            <a:off x="5745135" y="1019104"/>
            <a:ext cx="6315130" cy="35122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ym typeface="Consolas" panose="020B0609020204030204" pitchFamily="49" charset="0"/>
              </a:rPr>
              <a:t>聚合</a:t>
            </a:r>
            <a:endParaRPr kumimoji="1" lang="en-US" altLang="zh-CN" sz="1400">
              <a:sym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kumimoji="1" lang="zh-CN" altLang="en-US" sz="1400">
                <a:sym typeface="Consolas" panose="020B0609020204030204" pitchFamily="49" charset="0"/>
              </a:rPr>
              <a:t>   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将多个模块组织成一个整体，同时进行项目的构建。</a:t>
            </a:r>
            <a:endParaRPr lang="en-US" altLang="zh-CN" sz="1400">
              <a:latin typeface="Fira Code" panose="020B0809050000020004" pitchFamily="49" charset="0"/>
              <a:ea typeface="Alibaba PuHuiTi R" pitchFamily="18" charset="-122"/>
              <a:cs typeface="Alibaba PuHuiTi R" pitchFamily="18" charset="-122"/>
              <a:sym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ym typeface="Consolas" panose="020B0609020204030204" pitchFamily="49" charset="0"/>
              </a:rPr>
              <a:t>聚合工程</a:t>
            </a:r>
            <a:endParaRPr kumimoji="1" lang="en-US" altLang="zh-CN" sz="1400">
              <a:sym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kumimoji="1" lang="zh-CN" altLang="en-US" sz="1400">
                <a:sym typeface="Consolas" panose="020B0609020204030204" pitchFamily="49" charset="0"/>
              </a:rPr>
              <a:t>   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一个不具有业务功能的</a:t>
            </a:r>
            <a:r>
              <a:rPr lang="en-US" altLang="zh-CN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“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空</a:t>
            </a:r>
            <a:r>
              <a:rPr lang="en-US" altLang="zh-CN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”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工程（有且仅有一个</a:t>
            </a:r>
            <a:r>
              <a:rPr lang="en-US" altLang="zh-CN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pom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文件）</a:t>
            </a:r>
            <a:endParaRPr lang="en-US" altLang="zh-CN" sz="1400">
              <a:latin typeface="Fira Code" panose="020B0809050000020004" pitchFamily="49" charset="0"/>
              <a:ea typeface="Alibaba PuHuiTi R" pitchFamily="18" charset="-122"/>
              <a:cs typeface="Alibaba PuHuiTi R" pitchFamily="18" charset="-122"/>
              <a:sym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ym typeface="Consolas" panose="020B0609020204030204" pitchFamily="49" charset="0"/>
              </a:rPr>
              <a:t>作用</a:t>
            </a:r>
            <a:endParaRPr kumimoji="1" lang="en-US" altLang="zh-CN" sz="1400">
              <a:sym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kumimoji="1" lang="zh-CN" altLang="en-US" sz="1400">
                <a:sym typeface="Consolas" panose="020B0609020204030204" pitchFamily="49" charset="0"/>
              </a:rPr>
              <a:t>   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快速构建项目（无需根据依赖关系手动构建，直接在聚合工程上构建即可）</a:t>
            </a:r>
            <a:endParaRPr lang="en-US" altLang="zh-CN" sz="1400">
              <a:latin typeface="Fira Code" panose="020B0809050000020004" pitchFamily="49" charset="0"/>
              <a:ea typeface="Alibaba PuHuiTi R" pitchFamily="18" charset="-122"/>
              <a:cs typeface="Alibaba PuHuiTi R" pitchFamily="18" charset="-122"/>
              <a:sym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ym typeface="Consolas" panose="020B0609020204030204" pitchFamily="49" charset="0"/>
              </a:rPr>
              <a:t>实现</a:t>
            </a:r>
            <a:endParaRPr kumimoji="1" lang="en-US" altLang="zh-CN" sz="1400">
              <a:sym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kumimoji="1" lang="en-US" altLang="zh-CN" sz="1400">
                <a:sym typeface="Consolas" panose="020B0609020204030204" pitchFamily="49" charset="0"/>
              </a:rPr>
              <a:t>   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Alibaba PuHuiTi R" pitchFamily="18" charset="-122"/>
                <a:sym typeface="Consolas" panose="020B0609020204030204" pitchFamily="49" charset="0"/>
              </a:rPr>
              <a:t>maven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中可以通过 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&lt;</a:t>
            </a:r>
            <a:r>
              <a:rPr lang="zh-CN" altLang="zh-CN" sz="1400">
                <a:solidFill>
                  <a:srgbClr val="0033B3"/>
                </a:solidFill>
                <a:latin typeface="Fira Code" panose="020B0809050000020004" pitchFamily="49" charset="0"/>
              </a:rPr>
              <a:t>modules</a:t>
            </a:r>
            <a:r>
              <a:rPr lang="zh-CN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&gt;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  <a:r>
              <a:rPr lang="zh-CN" altLang="en-US" sz="1400"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  <a:sym typeface="Consolas" panose="020B0609020204030204" pitchFamily="49" charset="0"/>
              </a:rPr>
              <a:t>设置当前聚合工程所包含的子模块名称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Alibaba PuHuiTi R" pitchFamily="18" charset="-122"/>
              <a:sym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BE823B-806C-E6E8-92D2-2172B7E17979}"/>
              </a:ext>
            </a:extLst>
          </p:cNvPr>
          <p:cNvSpPr txBox="1"/>
          <p:nvPr/>
        </p:nvSpPr>
        <p:spPr>
          <a:xfrm>
            <a:off x="3792318" y="1313104"/>
            <a:ext cx="1109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聚合工程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40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270AB5D-708E-7CB8-E0FD-1EE8A4F9A512}"/>
              </a:ext>
            </a:extLst>
          </p:cNvPr>
          <p:cNvGrpSpPr/>
          <p:nvPr/>
        </p:nvGrpSpPr>
        <p:grpSpPr>
          <a:xfrm>
            <a:off x="6096000" y="4296822"/>
            <a:ext cx="5642744" cy="1677578"/>
            <a:chOff x="6165043" y="4481175"/>
            <a:chExt cx="5642744" cy="1677578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0095AE3-76BA-27DE-AABA-4F0F1C70C633}"/>
                </a:ext>
              </a:extLst>
            </p:cNvPr>
            <p:cNvSpPr/>
            <p:nvPr/>
          </p:nvSpPr>
          <p:spPr>
            <a:xfrm>
              <a:off x="6165043" y="4481175"/>
              <a:ext cx="5632510" cy="1677578"/>
            </a:xfrm>
            <a:prstGeom prst="roundRect">
              <a:avLst>
                <a:gd name="adj" fmla="val 2502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fontAlgn="base" hangingPunct="0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zh-CN" sz="1200">
                  <a:solidFill>
                    <a:srgbClr val="8C8C8C"/>
                  </a:solidFill>
                  <a:cs typeface="Courier New" panose="02070309020205020404" pitchFamily="49" charset="0"/>
                </a:rPr>
                <a:t>&lt;!--</a:t>
              </a:r>
              <a:r>
                <a:rPr lang="zh-CN" altLang="zh-CN" sz="1200">
                  <a:solidFill>
                    <a:srgbClr val="8C8C8C"/>
                  </a:solidFill>
                  <a:ea typeface="宋体" panose="02010600030101010101" pitchFamily="2" charset="-122"/>
                  <a:cs typeface="Courier New" panose="02070309020205020404" pitchFamily="49" charset="0"/>
                </a:rPr>
                <a:t>聚合</a:t>
              </a:r>
              <a:r>
                <a:rPr lang="zh-CN" altLang="zh-CN" sz="1200">
                  <a:solidFill>
                    <a:srgbClr val="8C8C8C"/>
                  </a:solidFill>
                  <a:cs typeface="Courier New" panose="02070309020205020404" pitchFamily="49" charset="0"/>
                </a:rPr>
                <a:t>--&gt;</a:t>
              </a:r>
              <a:br>
                <a:rPr lang="zh-CN" altLang="zh-CN" sz="1200" i="1">
                  <a:solidFill>
                    <a:srgbClr val="8C8C8C"/>
                  </a:solidFill>
                  <a:cs typeface="Courier New" panose="02070309020205020404" pitchFamily="49" charset="0"/>
                </a:rPr>
              </a:b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&lt;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modules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</a:t>
              </a:r>
              <a:b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</a:b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    &lt;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&gt;../tlias-pojo&lt;/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</a:t>
              </a:r>
              <a:b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</a:b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    &lt;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&gt;../tlias-utils&lt;/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</a:t>
              </a:r>
              <a:b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</a:b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    &lt;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&gt;../tlias-web-management&lt;/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</a:t>
              </a:r>
              <a:b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</a:b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&lt;/</a:t>
              </a:r>
              <a:r>
                <a:rPr lang="zh-CN" altLang="zh-CN" sz="1200">
                  <a:solidFill>
                    <a:srgbClr val="0033B3"/>
                  </a:solidFill>
                  <a:cs typeface="Courier New" panose="02070309020205020404" pitchFamily="49" charset="0"/>
                </a:rPr>
                <a:t>modules</a:t>
              </a:r>
              <a:r>
                <a:rPr lang="zh-CN" altLang="zh-CN" sz="1200">
                  <a:solidFill>
                    <a:srgbClr val="080808"/>
                  </a:solidFill>
                  <a:cs typeface="Courier New" panose="02070309020205020404" pitchFamily="49" charset="0"/>
                </a:rPr>
                <a:t>&gt;</a:t>
              </a:r>
              <a:endParaRPr lang="zh-CN" altLang="zh-CN">
                <a:solidFill>
                  <a:schemeClr val="tx1"/>
                </a:solidFill>
              </a:endParaRPr>
            </a:p>
          </p:txBody>
        </p:sp>
        <p:sp>
          <p:nvSpPr>
            <p:cNvPr id="51" name="矩形: 对角圆角 50">
              <a:extLst>
                <a:ext uri="{FF2B5EF4-FFF2-40B4-BE49-F238E27FC236}">
                  <a16:creationId xmlns:a16="http://schemas.microsoft.com/office/drawing/2014/main" id="{2A272033-6327-5250-FAF0-9D3A53C56F86}"/>
                </a:ext>
              </a:extLst>
            </p:cNvPr>
            <p:cNvSpPr/>
            <p:nvPr/>
          </p:nvSpPr>
          <p:spPr>
            <a:xfrm>
              <a:off x="10086563" y="5770951"/>
              <a:ext cx="1721224" cy="387802"/>
            </a:xfrm>
            <a:prstGeom prst="round2DiagRect">
              <a:avLst/>
            </a:prstGeom>
            <a:gradFill flip="none" rotWithShape="1">
              <a:gsLst>
                <a:gs pos="0">
                  <a:srgbClr val="56F8C5">
                    <a:tint val="66000"/>
                    <a:satMod val="160000"/>
                  </a:srgbClr>
                </a:gs>
                <a:gs pos="50000">
                  <a:srgbClr val="56F8C5">
                    <a:tint val="44500"/>
                    <a:satMod val="160000"/>
                  </a:srgbClr>
                </a:gs>
                <a:gs pos="100000">
                  <a:srgbClr val="56F8C5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父工程（聚合工程）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895EDD5-3E56-9D52-39F5-D1AE1D669B22}"/>
              </a:ext>
            </a:extLst>
          </p:cNvPr>
          <p:cNvGrpSpPr/>
          <p:nvPr/>
        </p:nvGrpSpPr>
        <p:grpSpPr>
          <a:xfrm>
            <a:off x="576196" y="6231944"/>
            <a:ext cx="11162547" cy="448408"/>
            <a:chOff x="710879" y="5978768"/>
            <a:chExt cx="11162547" cy="448408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67E93E36-B4D9-4A44-749C-9BA58241F2D8}"/>
                </a:ext>
              </a:extLst>
            </p:cNvPr>
            <p:cNvSpPr/>
            <p:nvPr/>
          </p:nvSpPr>
          <p:spPr>
            <a:xfrm>
              <a:off x="710879" y="5978769"/>
              <a:ext cx="11162547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3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聚合工程中所包含的模块，在构建时，会自动根据模块间的依赖关系设置构建顺序，与聚合工程中模块的配置书写位置无关。</a:t>
              </a:r>
            </a:p>
          </p:txBody>
        </p:sp>
        <p:sp>
          <p:nvSpPr>
            <p:cNvPr id="55" name="矩形: 圆顶角 54">
              <a:extLst>
                <a:ext uri="{FF2B5EF4-FFF2-40B4-BE49-F238E27FC236}">
                  <a16:creationId xmlns:a16="http://schemas.microsoft.com/office/drawing/2014/main" id="{339EC783-C8E8-907B-AFAE-6D18B2C58485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Shape 2468">
              <a:extLst>
                <a:ext uri="{FF2B5EF4-FFF2-40B4-BE49-F238E27FC236}">
                  <a16:creationId xmlns:a16="http://schemas.microsoft.com/office/drawing/2014/main" id="{844F1971-4FB6-22A6-6B7B-BC7A67C8FFDB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A00915E-8B63-9557-433F-426EC1764126}"/>
                </a:ext>
              </a:extLst>
            </p:cNvPr>
            <p:cNvSpPr txBox="1"/>
            <p:nvPr/>
          </p:nvSpPr>
          <p:spPr>
            <a:xfrm>
              <a:off x="1054035" y="6071621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803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uiExpand="1" build="p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9931253-E459-3800-AAED-02B6EDAC5C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2245" y="1359878"/>
            <a:ext cx="845975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maven</a:t>
            </a:r>
            <a:r>
              <a:rPr lang="zh-CN" altLang="en-US"/>
              <a:t>中如何实现聚合关系 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ea typeface="Fira Code" panose="020B0809050000020004" pitchFamily="49" charset="0"/>
              </a:rPr>
              <a:t>&lt;modules&gt;...&lt;/modules&gt;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maven</a:t>
            </a:r>
            <a:r>
              <a:rPr lang="zh-CN" altLang="en-US"/>
              <a:t>中继承与聚合的联系与区别 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联系：继承与聚合都属于设计型模块，打包方式都为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pom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，常将两种关系制作到同一个</a:t>
            </a:r>
            <a:r>
              <a:rPr lang="en-US" altLang="zh-CN" sz="1400" b="0">
                <a:ea typeface="Fira Code" panose="020B0809050000020004" pitchFamily="49" charset="0"/>
                <a:cs typeface="阿里巴巴普惠体" panose="00020600040101010101" pitchFamily="18" charset="-122"/>
              </a:rPr>
              <a:t>pom</a:t>
            </a: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文件中</a:t>
            </a:r>
            <a:endParaRPr lang="en-US" altLang="zh-CN" sz="14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区别：</a:t>
            </a:r>
            <a:endParaRPr lang="en-US" altLang="zh-CN" sz="14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72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67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继承用于简化依赖配置、统一管理依赖版本，是在子工程中配置继承关系</a:t>
            </a:r>
            <a:endParaRPr lang="en-US" altLang="zh-CN" sz="1467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972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67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聚合用于快速构建项目，是在父工程</a:t>
            </a:r>
            <a:r>
              <a:rPr lang="en-US" altLang="zh-CN" sz="1467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67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聚合工程</a:t>
            </a:r>
            <a:r>
              <a:rPr lang="en-US" altLang="zh-CN" sz="1467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67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中配置聚合的模块</a:t>
            </a:r>
          </a:p>
        </p:txBody>
      </p:sp>
    </p:spTree>
    <p:extLst>
      <p:ext uri="{BB962C8B-B14F-4D97-AF65-F5344CB8AC3E}">
        <p14:creationId xmlns:p14="http://schemas.microsoft.com/office/powerpoint/2010/main" val="102167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分模块设计与开发</a:t>
            </a:r>
            <a:endParaRPr lang="en-US" altLang="zh-CN"/>
          </a:p>
          <a:p>
            <a:r>
              <a:rPr lang="zh-CN" altLang="en-US"/>
              <a:t>继承与聚合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私服</a:t>
            </a:r>
          </a:p>
        </p:txBody>
      </p:sp>
    </p:spTree>
    <p:extLst>
      <p:ext uri="{BB962C8B-B14F-4D97-AF65-F5344CB8AC3E}">
        <p14:creationId xmlns:p14="http://schemas.microsoft.com/office/powerpoint/2010/main" val="401969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E5252B-589E-6163-7E58-38062416B7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私服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CA87BD7-C57B-236C-4205-416CE6773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63079"/>
          </a:xfrm>
        </p:spPr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/>
              <a:t>资源上传与下载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0FC7B-8B8E-37A1-B37E-73C7E42E60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7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DC26BE6-8DBA-F616-3E15-3F6FED38083C}"/>
              </a:ext>
            </a:extLst>
          </p:cNvPr>
          <p:cNvGrpSpPr/>
          <p:nvPr/>
        </p:nvGrpSpPr>
        <p:grpSpPr>
          <a:xfrm>
            <a:off x="1461304" y="4312165"/>
            <a:ext cx="2488552" cy="1419036"/>
            <a:chOff x="1461304" y="4312165"/>
            <a:chExt cx="2488552" cy="1419036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BC257B4-D5D8-3073-7217-E8D77FBF465E}"/>
                </a:ext>
              </a:extLst>
            </p:cNvPr>
            <p:cNvGrpSpPr/>
            <p:nvPr/>
          </p:nvGrpSpPr>
          <p:grpSpPr>
            <a:xfrm>
              <a:off x="1746155" y="4312165"/>
              <a:ext cx="2203701" cy="1419036"/>
              <a:chOff x="1112855" y="4687985"/>
              <a:chExt cx="1957754" cy="1238119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43590814-DE95-5173-9D0B-5576EC030C2D}"/>
                  </a:ext>
                </a:extLst>
              </p:cNvPr>
              <p:cNvSpPr/>
              <p:nvPr/>
            </p:nvSpPr>
            <p:spPr>
              <a:xfrm>
                <a:off x="1112855" y="4876970"/>
                <a:ext cx="1957754" cy="1049134"/>
              </a:xfrm>
              <a:prstGeom prst="roundRect">
                <a:avLst>
                  <a:gd name="adj" fmla="val 9005"/>
                </a:avLst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0" name="图形 39" descr="便携式计算机 轮廓">
                <a:extLst>
                  <a:ext uri="{FF2B5EF4-FFF2-40B4-BE49-F238E27FC236}">
                    <a16:creationId xmlns:a16="http://schemas.microsoft.com/office/drawing/2014/main" id="{3D688EC7-A8BC-4CA4-7B93-1B9BEC0161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31100" y="4687985"/>
                <a:ext cx="1221792" cy="1221792"/>
              </a:xfrm>
              <a:prstGeom prst="rect">
                <a:avLst/>
              </a:prstGeom>
            </p:spPr>
          </p:pic>
        </p:grpSp>
        <p:pic>
          <p:nvPicPr>
            <p:cNvPr id="37" name="图形 36" descr="用户 轮廓">
              <a:extLst>
                <a:ext uri="{FF2B5EF4-FFF2-40B4-BE49-F238E27FC236}">
                  <a16:creationId xmlns:a16="http://schemas.microsoft.com/office/drawing/2014/main" id="{B6C2ED12-69F3-E6FA-27F9-DE09443B6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62265" y="4681816"/>
              <a:ext cx="664504" cy="711326"/>
            </a:xfrm>
            <a:prstGeom prst="rect">
              <a:avLst/>
            </a:prstGeom>
          </p:spPr>
        </p:pic>
        <p:sp>
          <p:nvSpPr>
            <p:cNvPr id="38" name="流程图: 接点 37">
              <a:extLst>
                <a:ext uri="{FF2B5EF4-FFF2-40B4-BE49-F238E27FC236}">
                  <a16:creationId xmlns:a16="http://schemas.microsoft.com/office/drawing/2014/main" id="{76AB2503-9708-09B6-4C00-5CD0A219A7C9}"/>
                </a:ext>
              </a:extLst>
            </p:cNvPr>
            <p:cNvSpPr/>
            <p:nvPr/>
          </p:nvSpPr>
          <p:spPr>
            <a:xfrm>
              <a:off x="1461304" y="4805564"/>
              <a:ext cx="553044" cy="553044"/>
            </a:xfrm>
            <a:prstGeom prst="flowChartConnector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C00000"/>
                  </a:solidFill>
                </a:rPr>
                <a:t>B</a:t>
              </a:r>
              <a:endParaRPr lang="zh-CN" alt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E716A08-3F52-75D1-D215-6D9AFA7894AE}"/>
              </a:ext>
            </a:extLst>
          </p:cNvPr>
          <p:cNvGrpSpPr/>
          <p:nvPr/>
        </p:nvGrpSpPr>
        <p:grpSpPr>
          <a:xfrm>
            <a:off x="1469633" y="1763086"/>
            <a:ext cx="2485873" cy="1419036"/>
            <a:chOff x="1469633" y="1732942"/>
            <a:chExt cx="2485873" cy="1419036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5BCEBE3B-6382-AB29-3DFB-C4BAFCAA8755}"/>
                </a:ext>
              </a:extLst>
            </p:cNvPr>
            <p:cNvGrpSpPr/>
            <p:nvPr/>
          </p:nvGrpSpPr>
          <p:grpSpPr>
            <a:xfrm>
              <a:off x="1752405" y="1732942"/>
              <a:ext cx="2203101" cy="1419036"/>
              <a:chOff x="1112855" y="1766291"/>
              <a:chExt cx="1957754" cy="1225894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FE16BC8A-0BAE-C60C-304B-744784D67F0D}"/>
                  </a:ext>
                </a:extLst>
              </p:cNvPr>
              <p:cNvSpPr/>
              <p:nvPr/>
            </p:nvSpPr>
            <p:spPr>
              <a:xfrm>
                <a:off x="1112855" y="1939791"/>
                <a:ext cx="1957754" cy="1049134"/>
              </a:xfrm>
              <a:prstGeom prst="roundRect">
                <a:avLst>
                  <a:gd name="adj" fmla="val 9005"/>
                </a:avLst>
              </a:prstGeom>
              <a:solidFill>
                <a:srgbClr val="56F8C5">
                  <a:alpha val="20000"/>
                </a:srgb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6" name="图形 45" descr="便携式计算机 轮廓">
                <a:extLst>
                  <a:ext uri="{FF2B5EF4-FFF2-40B4-BE49-F238E27FC236}">
                    <a16:creationId xmlns:a16="http://schemas.microsoft.com/office/drawing/2014/main" id="{48B83990-943C-F27E-3DD6-88333FAEB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39694" y="1766291"/>
                <a:ext cx="1225894" cy="1225894"/>
              </a:xfrm>
              <a:prstGeom prst="rect">
                <a:avLst/>
              </a:prstGeom>
            </p:spPr>
          </p:pic>
        </p:grpSp>
        <p:pic>
          <p:nvPicPr>
            <p:cNvPr id="43" name="图形 42" descr="用户 轮廓">
              <a:extLst>
                <a:ext uri="{FF2B5EF4-FFF2-40B4-BE49-F238E27FC236}">
                  <a16:creationId xmlns:a16="http://schemas.microsoft.com/office/drawing/2014/main" id="{5372C53B-84E2-2521-D13E-78529EE30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43137" y="2174090"/>
              <a:ext cx="664323" cy="718420"/>
            </a:xfrm>
            <a:prstGeom prst="rect">
              <a:avLst/>
            </a:prstGeom>
          </p:spPr>
        </p:pic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BB340CCC-0B38-F21D-9A16-6FFC9EDE425F}"/>
                </a:ext>
              </a:extLst>
            </p:cNvPr>
            <p:cNvSpPr/>
            <p:nvPr/>
          </p:nvSpPr>
          <p:spPr>
            <a:xfrm>
              <a:off x="1469633" y="2264468"/>
              <a:ext cx="553044" cy="553044"/>
            </a:xfrm>
            <a:prstGeom prst="flowChartConnector">
              <a:avLst/>
            </a:prstGeom>
            <a:solidFill>
              <a:srgbClr val="56F8C5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C00000"/>
                  </a:solidFill>
                </a:rPr>
                <a:t>A</a:t>
              </a:r>
              <a:endParaRPr lang="zh-CN" alt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47" name="!!组合 54">
            <a:extLst>
              <a:ext uri="{FF2B5EF4-FFF2-40B4-BE49-F238E27FC236}">
                <a16:creationId xmlns:a16="http://schemas.microsoft.com/office/drawing/2014/main" id="{C0FD847E-37CD-CEAE-4742-C4EE81E4F33A}"/>
              </a:ext>
            </a:extLst>
          </p:cNvPr>
          <p:cNvGrpSpPr/>
          <p:nvPr/>
        </p:nvGrpSpPr>
        <p:grpSpPr>
          <a:xfrm>
            <a:off x="9091770" y="3000268"/>
            <a:ext cx="1727805" cy="1698205"/>
            <a:chOff x="9194752" y="3181505"/>
            <a:chExt cx="1727805" cy="1698205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E16F934-A5A3-0768-A311-962F06142D08}"/>
                </a:ext>
              </a:extLst>
            </p:cNvPr>
            <p:cNvSpPr/>
            <p:nvPr/>
          </p:nvSpPr>
          <p:spPr>
            <a:xfrm>
              <a:off x="9194752" y="3181505"/>
              <a:ext cx="1727805" cy="1698205"/>
            </a:xfrm>
            <a:prstGeom prst="roundRect">
              <a:avLst>
                <a:gd name="adj" fmla="val 7230"/>
              </a:avLst>
            </a:prstGeom>
            <a:solidFill>
              <a:srgbClr val="0033B3">
                <a:alpha val="20000"/>
              </a:srgb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BD45093-71A7-0F8A-6D3C-DE1018E59555}"/>
                </a:ext>
              </a:extLst>
            </p:cNvPr>
            <p:cNvGrpSpPr/>
            <p:nvPr/>
          </p:nvGrpSpPr>
          <p:grpSpPr>
            <a:xfrm>
              <a:off x="9592933" y="3250790"/>
              <a:ext cx="943757" cy="1585752"/>
              <a:chOff x="9592933" y="3250790"/>
              <a:chExt cx="943757" cy="1585752"/>
            </a:xfrm>
          </p:grpSpPr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FA6419AB-DA10-3E4A-F0E2-34BF21E62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2290" y="3250790"/>
                <a:ext cx="914400" cy="1277975"/>
              </a:xfrm>
              <a:prstGeom prst="rect">
                <a:avLst/>
              </a:prstGeom>
            </p:spPr>
          </p:pic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778C989-CDEC-82E2-7DED-67B974694625}"/>
                  </a:ext>
                </a:extLst>
              </p:cNvPr>
              <p:cNvSpPr txBox="1"/>
              <p:nvPr/>
            </p:nvSpPr>
            <p:spPr>
              <a:xfrm>
                <a:off x="9592933" y="4528765"/>
                <a:ext cx="8899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中央仓库</a:t>
                </a:r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pic>
        <p:nvPicPr>
          <p:cNvPr id="52" name="图形 51" descr="数据库 纯色填充">
            <a:extLst>
              <a:ext uri="{FF2B5EF4-FFF2-40B4-BE49-F238E27FC236}">
                <a16:creationId xmlns:a16="http://schemas.microsoft.com/office/drawing/2014/main" id="{68B4A86A-2FFC-C824-4AF7-BDD661EEF4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6936" y="2180972"/>
            <a:ext cx="484701" cy="498584"/>
          </a:xfrm>
          <a:prstGeom prst="rect">
            <a:avLst/>
          </a:prstGeom>
        </p:spPr>
      </p:pic>
      <p:pic>
        <p:nvPicPr>
          <p:cNvPr id="53" name="图形 52" descr="数据库 纯色填充">
            <a:extLst>
              <a:ext uri="{FF2B5EF4-FFF2-40B4-BE49-F238E27FC236}">
                <a16:creationId xmlns:a16="http://schemas.microsoft.com/office/drawing/2014/main" id="{B59AC071-B4C5-27DB-0BFB-160DF78625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3088" y="4735598"/>
            <a:ext cx="484833" cy="493661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B85ADD7C-303E-E66E-6D50-FFDA07184F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1608" y="5795480"/>
            <a:ext cx="1031812" cy="924399"/>
          </a:xfrm>
          <a:prstGeom prst="rect">
            <a:avLst/>
          </a:prstGeom>
        </p:spPr>
      </p:pic>
      <p:sp>
        <p:nvSpPr>
          <p:cNvPr id="55" name="jar-file-format-symbol_29604">
            <a:extLst>
              <a:ext uri="{FF2B5EF4-FFF2-40B4-BE49-F238E27FC236}">
                <a16:creationId xmlns:a16="http://schemas.microsoft.com/office/drawing/2014/main" id="{721D18D5-C3D7-481A-C70B-E428F8253F37}"/>
              </a:ext>
            </a:extLst>
          </p:cNvPr>
          <p:cNvSpPr/>
          <p:nvPr/>
        </p:nvSpPr>
        <p:spPr>
          <a:xfrm>
            <a:off x="3363420" y="6020571"/>
            <a:ext cx="434740" cy="47421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C6D0851D-8DA2-CC17-DA41-BBD4AF5617E7}"/>
              </a:ext>
            </a:extLst>
          </p:cNvPr>
          <p:cNvCxnSpPr>
            <a:cxnSpLocks/>
            <a:stCxn id="46" idx="3"/>
            <a:endCxn id="48" idx="0"/>
          </p:cNvCxnSpPr>
          <p:nvPr/>
        </p:nvCxnSpPr>
        <p:spPr>
          <a:xfrm>
            <a:off x="3949856" y="2472604"/>
            <a:ext cx="6005817" cy="527664"/>
          </a:xfrm>
          <a:prstGeom prst="curvedConnector2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曲线 56">
            <a:extLst>
              <a:ext uri="{FF2B5EF4-FFF2-40B4-BE49-F238E27FC236}">
                <a16:creationId xmlns:a16="http://schemas.microsoft.com/office/drawing/2014/main" id="{43C753D0-351F-46DD-5FC2-316E97B1E036}"/>
              </a:ext>
            </a:extLst>
          </p:cNvPr>
          <p:cNvCxnSpPr>
            <a:stCxn id="39" idx="3"/>
            <a:endCxn id="48" idx="2"/>
          </p:cNvCxnSpPr>
          <p:nvPr/>
        </p:nvCxnSpPr>
        <p:spPr>
          <a:xfrm flipV="1">
            <a:off x="3949856" y="4698473"/>
            <a:ext cx="6005817" cy="431510"/>
          </a:xfrm>
          <a:prstGeom prst="curvedConnector2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jar-file-format-symbol_29604">
            <a:extLst>
              <a:ext uri="{FF2B5EF4-FFF2-40B4-BE49-F238E27FC236}">
                <a16:creationId xmlns:a16="http://schemas.microsoft.com/office/drawing/2014/main" id="{84395329-05DE-601D-D16C-E69D221BBAF3}"/>
              </a:ext>
            </a:extLst>
          </p:cNvPr>
          <p:cNvSpPr/>
          <p:nvPr/>
        </p:nvSpPr>
        <p:spPr>
          <a:xfrm>
            <a:off x="3378201" y="2316142"/>
            <a:ext cx="234225" cy="30044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jar-file-format-symbol_29604">
            <a:extLst>
              <a:ext uri="{FF2B5EF4-FFF2-40B4-BE49-F238E27FC236}">
                <a16:creationId xmlns:a16="http://schemas.microsoft.com/office/drawing/2014/main" id="{0D3FBEB2-3281-6185-6ED6-978E5C3697C4}"/>
              </a:ext>
            </a:extLst>
          </p:cNvPr>
          <p:cNvSpPr/>
          <p:nvPr/>
        </p:nvSpPr>
        <p:spPr>
          <a:xfrm>
            <a:off x="9934945" y="3349526"/>
            <a:ext cx="234225" cy="30044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5B0405F-F123-EB88-294D-E0988EAF3058}"/>
              </a:ext>
            </a:extLst>
          </p:cNvPr>
          <p:cNvSpPr txBox="1"/>
          <p:nvPr/>
        </p:nvSpPr>
        <p:spPr>
          <a:xfrm>
            <a:off x="6232188" y="2184586"/>
            <a:ext cx="466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4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X</a:t>
            </a:r>
            <a:endParaRPr lang="zh-CN" altLang="en-US" sz="4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D2FBF40-C8FA-F60A-B517-66AB59590D98}"/>
              </a:ext>
            </a:extLst>
          </p:cNvPr>
          <p:cNvGrpSpPr/>
          <p:nvPr/>
        </p:nvGrpSpPr>
        <p:grpSpPr>
          <a:xfrm>
            <a:off x="2853955" y="2233782"/>
            <a:ext cx="473586" cy="368143"/>
            <a:chOff x="6528757" y="1439430"/>
            <a:chExt cx="473586" cy="368143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A04E4C9C-2A6B-35D5-AB06-914AD7F9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28757" y="1439430"/>
              <a:ext cx="473586" cy="368143"/>
            </a:xfrm>
            <a:prstGeom prst="rect">
              <a:avLst/>
            </a:prstGeom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495B2B3-08E9-CF94-6E52-25636842901E}"/>
                </a:ext>
              </a:extLst>
            </p:cNvPr>
            <p:cNvSpPr txBox="1"/>
            <p:nvPr/>
          </p:nvSpPr>
          <p:spPr>
            <a:xfrm>
              <a:off x="6528757" y="1577392"/>
              <a:ext cx="458459" cy="923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tlias-utils</a:t>
              </a:r>
              <a:endParaRPr lang="zh-CN" altLang="en-US" sz="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64" name="jar-file-format-symbol_29604">
            <a:extLst>
              <a:ext uri="{FF2B5EF4-FFF2-40B4-BE49-F238E27FC236}">
                <a16:creationId xmlns:a16="http://schemas.microsoft.com/office/drawing/2014/main" id="{79A2EB4A-DDAE-9DB6-D912-B406D653734B}"/>
              </a:ext>
            </a:extLst>
          </p:cNvPr>
          <p:cNvSpPr/>
          <p:nvPr/>
        </p:nvSpPr>
        <p:spPr>
          <a:xfrm>
            <a:off x="2970332" y="2238081"/>
            <a:ext cx="234225" cy="30044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601677DA-57B7-8074-AA65-18C6E217398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9874" y="5416890"/>
            <a:ext cx="2203701" cy="714958"/>
          </a:xfrm>
          <a:prstGeom prst="rect">
            <a:avLst/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1636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0.03281 0.0118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81 0.0118 L 0.575 0.16204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09" y="750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5 0.16204 L 0.02851 0.38704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331" y="1125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8" grpId="0" animBg="1"/>
      <p:bldP spid="59" grpId="0" animBg="1"/>
      <p:bldP spid="60" grpId="0"/>
      <p:bldP spid="64" grpId="0" animBg="1"/>
      <p:bldP spid="64" grpId="1" animBg="1"/>
      <p:bldP spid="64" grpId="2" animBg="1"/>
      <p:bldP spid="64" grpId="3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FA8CEC5-95DB-2DB8-DC87-FE862DDD8EE0}"/>
              </a:ext>
            </a:extLst>
          </p:cNvPr>
          <p:cNvGrpSpPr/>
          <p:nvPr/>
        </p:nvGrpSpPr>
        <p:grpSpPr>
          <a:xfrm>
            <a:off x="5848793" y="3031512"/>
            <a:ext cx="1375282" cy="1635716"/>
            <a:chOff x="5828044" y="3243995"/>
            <a:chExt cx="1375282" cy="163571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E818D9F-02FB-68B2-91DF-BE2E4DA16CFF}"/>
                </a:ext>
              </a:extLst>
            </p:cNvPr>
            <p:cNvSpPr/>
            <p:nvPr/>
          </p:nvSpPr>
          <p:spPr>
            <a:xfrm>
              <a:off x="5828044" y="3243995"/>
              <a:ext cx="1375282" cy="1635715"/>
            </a:xfrm>
            <a:prstGeom prst="roundRect">
              <a:avLst>
                <a:gd name="adj" fmla="val 9005"/>
              </a:avLst>
            </a:prstGeom>
            <a:solidFill>
              <a:srgbClr val="FF0000">
                <a:alpha val="20000"/>
              </a:srgb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33FC551-BBA4-FC0C-A88D-564FEEC73DDB}"/>
                </a:ext>
              </a:extLst>
            </p:cNvPr>
            <p:cNvGrpSpPr/>
            <p:nvPr/>
          </p:nvGrpSpPr>
          <p:grpSpPr>
            <a:xfrm>
              <a:off x="6060280" y="3293959"/>
              <a:ext cx="914400" cy="1585752"/>
              <a:chOff x="6060280" y="3293959"/>
              <a:chExt cx="914400" cy="1585752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1292B0EE-C635-3C78-D2F0-15138F522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60280" y="3293959"/>
                <a:ext cx="914400" cy="1277975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4560ED1-BC56-18CD-D1C5-7FAC2A7C539E}"/>
                  </a:ext>
                </a:extLst>
              </p:cNvPr>
              <p:cNvSpPr txBox="1"/>
              <p:nvPr/>
            </p:nvSpPr>
            <p:spPr>
              <a:xfrm>
                <a:off x="6248816" y="4571934"/>
                <a:ext cx="5373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私服</a:t>
                </a:r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EF83127-9412-D036-FDF2-120F4B4DD2AB}"/>
              </a:ext>
            </a:extLst>
          </p:cNvPr>
          <p:cNvGrpSpPr/>
          <p:nvPr/>
        </p:nvGrpSpPr>
        <p:grpSpPr>
          <a:xfrm>
            <a:off x="1461304" y="4312165"/>
            <a:ext cx="2488552" cy="1419036"/>
            <a:chOff x="1461304" y="4312165"/>
            <a:chExt cx="2488552" cy="1419036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0EE4431-3E9D-7867-7F31-3050837BB050}"/>
                </a:ext>
              </a:extLst>
            </p:cNvPr>
            <p:cNvGrpSpPr/>
            <p:nvPr/>
          </p:nvGrpSpPr>
          <p:grpSpPr>
            <a:xfrm>
              <a:off x="1746155" y="4312165"/>
              <a:ext cx="2203701" cy="1419036"/>
              <a:chOff x="1112855" y="4687985"/>
              <a:chExt cx="1957754" cy="1238119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F2F0963E-70A7-6F98-3D39-37966FD2BECF}"/>
                  </a:ext>
                </a:extLst>
              </p:cNvPr>
              <p:cNvSpPr/>
              <p:nvPr/>
            </p:nvSpPr>
            <p:spPr>
              <a:xfrm>
                <a:off x="1112855" y="4876970"/>
                <a:ext cx="1957754" cy="1049134"/>
              </a:xfrm>
              <a:prstGeom prst="roundRect">
                <a:avLst>
                  <a:gd name="adj" fmla="val 9005"/>
                </a:avLst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4" name="图形 13" descr="便携式计算机 轮廓">
                <a:extLst>
                  <a:ext uri="{FF2B5EF4-FFF2-40B4-BE49-F238E27FC236}">
                    <a16:creationId xmlns:a16="http://schemas.microsoft.com/office/drawing/2014/main" id="{D2BB803B-8C8B-844B-773F-7525BA18C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31100" y="4687985"/>
                <a:ext cx="1221792" cy="1221792"/>
              </a:xfrm>
              <a:prstGeom prst="rect">
                <a:avLst/>
              </a:prstGeom>
            </p:spPr>
          </p:pic>
        </p:grpSp>
        <p:pic>
          <p:nvPicPr>
            <p:cNvPr id="11" name="图形 10" descr="用户 轮廓">
              <a:extLst>
                <a:ext uri="{FF2B5EF4-FFF2-40B4-BE49-F238E27FC236}">
                  <a16:creationId xmlns:a16="http://schemas.microsoft.com/office/drawing/2014/main" id="{71F83B8B-C02C-A2F9-7CE2-AA784D63A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62265" y="4681816"/>
              <a:ext cx="664504" cy="711326"/>
            </a:xfrm>
            <a:prstGeom prst="rect">
              <a:avLst/>
            </a:prstGeom>
          </p:spPr>
        </p:pic>
        <p:sp>
          <p:nvSpPr>
            <p:cNvPr id="12" name="流程图: 接点 11">
              <a:extLst>
                <a:ext uri="{FF2B5EF4-FFF2-40B4-BE49-F238E27FC236}">
                  <a16:creationId xmlns:a16="http://schemas.microsoft.com/office/drawing/2014/main" id="{75978326-991A-2CC5-9D9F-EE08BFBFF75B}"/>
                </a:ext>
              </a:extLst>
            </p:cNvPr>
            <p:cNvSpPr/>
            <p:nvPr/>
          </p:nvSpPr>
          <p:spPr>
            <a:xfrm>
              <a:off x="1461304" y="4805564"/>
              <a:ext cx="553044" cy="553044"/>
            </a:xfrm>
            <a:prstGeom prst="flowChartConnector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C00000"/>
                  </a:solidFill>
                </a:rPr>
                <a:t>B</a:t>
              </a:r>
              <a:endParaRPr lang="zh-CN" alt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61D9B9-3472-DF64-0D0A-063B26F554CD}"/>
              </a:ext>
            </a:extLst>
          </p:cNvPr>
          <p:cNvGrpSpPr/>
          <p:nvPr/>
        </p:nvGrpSpPr>
        <p:grpSpPr>
          <a:xfrm>
            <a:off x="1469633" y="1763086"/>
            <a:ext cx="2485873" cy="1419036"/>
            <a:chOff x="1469633" y="1732942"/>
            <a:chExt cx="2485873" cy="141903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FFC65F7-D806-15BB-F26D-CD2886DFFEA1}"/>
                </a:ext>
              </a:extLst>
            </p:cNvPr>
            <p:cNvGrpSpPr/>
            <p:nvPr/>
          </p:nvGrpSpPr>
          <p:grpSpPr>
            <a:xfrm>
              <a:off x="1752405" y="1732942"/>
              <a:ext cx="2203101" cy="1419036"/>
              <a:chOff x="1112855" y="1766291"/>
              <a:chExt cx="1957754" cy="1225894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A06A56A7-6DC0-4E18-D980-4A4C1194BC24}"/>
                  </a:ext>
                </a:extLst>
              </p:cNvPr>
              <p:cNvSpPr/>
              <p:nvPr/>
            </p:nvSpPr>
            <p:spPr>
              <a:xfrm>
                <a:off x="1112855" y="1939791"/>
                <a:ext cx="1957754" cy="1049134"/>
              </a:xfrm>
              <a:prstGeom prst="roundRect">
                <a:avLst>
                  <a:gd name="adj" fmla="val 9005"/>
                </a:avLst>
              </a:prstGeom>
              <a:solidFill>
                <a:srgbClr val="56F8C5">
                  <a:alpha val="20000"/>
                </a:srgb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0" name="图形 19" descr="便携式计算机 轮廓">
                <a:extLst>
                  <a:ext uri="{FF2B5EF4-FFF2-40B4-BE49-F238E27FC236}">
                    <a16:creationId xmlns:a16="http://schemas.microsoft.com/office/drawing/2014/main" id="{E98593F6-7360-FB9B-30DB-F889A4043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839694" y="1766291"/>
                <a:ext cx="1225894" cy="1225894"/>
              </a:xfrm>
              <a:prstGeom prst="rect">
                <a:avLst/>
              </a:prstGeom>
            </p:spPr>
          </p:pic>
        </p:grpSp>
        <p:pic>
          <p:nvPicPr>
            <p:cNvPr id="17" name="图形 16" descr="用户 轮廓">
              <a:extLst>
                <a:ext uri="{FF2B5EF4-FFF2-40B4-BE49-F238E27FC236}">
                  <a16:creationId xmlns:a16="http://schemas.microsoft.com/office/drawing/2014/main" id="{875E9A09-E79F-4F3A-051E-56DA3EAEE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43137" y="2174090"/>
              <a:ext cx="664323" cy="718420"/>
            </a:xfrm>
            <a:prstGeom prst="rect">
              <a:avLst/>
            </a:prstGeom>
          </p:spPr>
        </p:pic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70F233F2-B81F-B193-8E36-A25352DA80E4}"/>
                </a:ext>
              </a:extLst>
            </p:cNvPr>
            <p:cNvSpPr/>
            <p:nvPr/>
          </p:nvSpPr>
          <p:spPr>
            <a:xfrm>
              <a:off x="1469633" y="2264468"/>
              <a:ext cx="553044" cy="553044"/>
            </a:xfrm>
            <a:prstGeom prst="flowChartConnector">
              <a:avLst/>
            </a:prstGeom>
            <a:solidFill>
              <a:srgbClr val="56F8C5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C00000"/>
                  </a:solidFill>
                </a:rPr>
                <a:t>A</a:t>
              </a:r>
              <a:endParaRPr lang="zh-CN" altLang="en-US">
                <a:solidFill>
                  <a:srgbClr val="C00000"/>
                </a:solidFill>
              </a:endParaRPr>
            </a:p>
          </p:txBody>
        </p:sp>
      </p:grpSp>
      <p:pic>
        <p:nvPicPr>
          <p:cNvPr id="21" name="图形 20" descr="数据库 纯色填充">
            <a:extLst>
              <a:ext uri="{FF2B5EF4-FFF2-40B4-BE49-F238E27FC236}">
                <a16:creationId xmlns:a16="http://schemas.microsoft.com/office/drawing/2014/main" id="{69444708-C518-5640-AD98-2A13316330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36936" y="2180972"/>
            <a:ext cx="484701" cy="498584"/>
          </a:xfrm>
          <a:prstGeom prst="rect">
            <a:avLst/>
          </a:prstGeom>
        </p:spPr>
      </p:pic>
      <p:pic>
        <p:nvPicPr>
          <p:cNvPr id="22" name="图形 21" descr="数据库 纯色填充">
            <a:extLst>
              <a:ext uri="{FF2B5EF4-FFF2-40B4-BE49-F238E27FC236}">
                <a16:creationId xmlns:a16="http://schemas.microsoft.com/office/drawing/2014/main" id="{ED1BE0AA-AE41-5510-5573-9A7FD161F7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3088" y="4735598"/>
            <a:ext cx="484833" cy="49366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DF735DF-A161-0BA1-AEFB-CDF5463FC3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1608" y="5795480"/>
            <a:ext cx="1031812" cy="924399"/>
          </a:xfrm>
          <a:prstGeom prst="rect">
            <a:avLst/>
          </a:prstGeom>
        </p:spPr>
      </p:pic>
      <p:sp>
        <p:nvSpPr>
          <p:cNvPr id="24" name="jar-file-format-symbol_29604">
            <a:extLst>
              <a:ext uri="{FF2B5EF4-FFF2-40B4-BE49-F238E27FC236}">
                <a16:creationId xmlns:a16="http://schemas.microsoft.com/office/drawing/2014/main" id="{9AA05017-2EB8-F657-58FA-06144FC81940}"/>
              </a:ext>
            </a:extLst>
          </p:cNvPr>
          <p:cNvSpPr/>
          <p:nvPr/>
        </p:nvSpPr>
        <p:spPr>
          <a:xfrm>
            <a:off x="3363420" y="6020571"/>
            <a:ext cx="434740" cy="47421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jar-file-format-symbol_29604">
            <a:extLst>
              <a:ext uri="{FF2B5EF4-FFF2-40B4-BE49-F238E27FC236}">
                <a16:creationId xmlns:a16="http://schemas.microsoft.com/office/drawing/2014/main" id="{3D217FBC-C115-30F9-1DB3-0DC664F0CF9A}"/>
              </a:ext>
            </a:extLst>
          </p:cNvPr>
          <p:cNvSpPr/>
          <p:nvPr/>
        </p:nvSpPr>
        <p:spPr>
          <a:xfrm>
            <a:off x="3378201" y="2316142"/>
            <a:ext cx="234225" cy="30044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E1616108-D2FC-DFA1-4B2A-0F5B2426710E}"/>
              </a:ext>
            </a:extLst>
          </p:cNvPr>
          <p:cNvCxnSpPr>
            <a:cxnSpLocks/>
            <a:stCxn id="19" idx="3"/>
            <a:endCxn id="3" idx="0"/>
          </p:cNvCxnSpPr>
          <p:nvPr/>
        </p:nvCxnSpPr>
        <p:spPr>
          <a:xfrm>
            <a:off x="3955506" y="2571135"/>
            <a:ext cx="2580928" cy="460377"/>
          </a:xfrm>
          <a:prstGeom prst="curvedConnector2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!!连接符: 曲线 13">
            <a:extLst>
              <a:ext uri="{FF2B5EF4-FFF2-40B4-BE49-F238E27FC236}">
                <a16:creationId xmlns:a16="http://schemas.microsoft.com/office/drawing/2014/main" id="{C699209A-5097-468F-C2EE-E799737F4747}"/>
              </a:ext>
            </a:extLst>
          </p:cNvPr>
          <p:cNvCxnSpPr>
            <a:cxnSpLocks/>
            <a:stCxn id="8" idx="2"/>
            <a:endCxn id="13" idx="3"/>
          </p:cNvCxnSpPr>
          <p:nvPr/>
        </p:nvCxnSpPr>
        <p:spPr>
          <a:xfrm rot="5400000">
            <a:off x="5012666" y="3604419"/>
            <a:ext cx="462755" cy="2588373"/>
          </a:xfrm>
          <a:prstGeom prst="curvedConnector2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B5FD6FA-5D9C-5865-EF93-E0EBB4420793}"/>
              </a:ext>
            </a:extLst>
          </p:cNvPr>
          <p:cNvCxnSpPr>
            <a:stCxn id="3" idx="3"/>
          </p:cNvCxnSpPr>
          <p:nvPr/>
        </p:nvCxnSpPr>
        <p:spPr>
          <a:xfrm flipV="1">
            <a:off x="7224075" y="3849369"/>
            <a:ext cx="1811872" cy="1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jar-file-format-symbol_29604">
            <a:extLst>
              <a:ext uri="{FF2B5EF4-FFF2-40B4-BE49-F238E27FC236}">
                <a16:creationId xmlns:a16="http://schemas.microsoft.com/office/drawing/2014/main" id="{9010C0B6-DB73-BE8C-7A23-740B713DE329}"/>
              </a:ext>
            </a:extLst>
          </p:cNvPr>
          <p:cNvSpPr/>
          <p:nvPr/>
        </p:nvSpPr>
        <p:spPr>
          <a:xfrm>
            <a:off x="2953677" y="2281161"/>
            <a:ext cx="231112" cy="301930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jar-file-format-symbol_29604">
            <a:extLst>
              <a:ext uri="{FF2B5EF4-FFF2-40B4-BE49-F238E27FC236}">
                <a16:creationId xmlns:a16="http://schemas.microsoft.com/office/drawing/2014/main" id="{BF8A7D2E-253E-D83C-0645-C7D5EF0C32DA}"/>
              </a:ext>
            </a:extLst>
          </p:cNvPr>
          <p:cNvSpPr/>
          <p:nvPr/>
        </p:nvSpPr>
        <p:spPr>
          <a:xfrm>
            <a:off x="6526386" y="3570239"/>
            <a:ext cx="234225" cy="30044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jar-file-format-symbol_29604">
            <a:extLst>
              <a:ext uri="{FF2B5EF4-FFF2-40B4-BE49-F238E27FC236}">
                <a16:creationId xmlns:a16="http://schemas.microsoft.com/office/drawing/2014/main" id="{7A7730A6-4E25-FC1A-4BD9-64D489EEAAA1}"/>
              </a:ext>
            </a:extLst>
          </p:cNvPr>
          <p:cNvSpPr/>
          <p:nvPr/>
        </p:nvSpPr>
        <p:spPr>
          <a:xfrm>
            <a:off x="3383851" y="2316142"/>
            <a:ext cx="234225" cy="300448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A65D9DF-6A84-F485-3135-D7122066DA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1607" y="5728100"/>
            <a:ext cx="1011870" cy="1043739"/>
          </a:xfrm>
          <a:prstGeom prst="rect">
            <a:avLst/>
          </a:prstGeom>
        </p:spPr>
      </p:pic>
      <p:grpSp>
        <p:nvGrpSpPr>
          <p:cNvPr id="33" name="!!组合 54">
            <a:extLst>
              <a:ext uri="{FF2B5EF4-FFF2-40B4-BE49-F238E27FC236}">
                <a16:creationId xmlns:a16="http://schemas.microsoft.com/office/drawing/2014/main" id="{E9791A06-837E-4456-D903-903C9E1B4D05}"/>
              </a:ext>
            </a:extLst>
          </p:cNvPr>
          <p:cNvGrpSpPr/>
          <p:nvPr/>
        </p:nvGrpSpPr>
        <p:grpSpPr>
          <a:xfrm>
            <a:off x="9091770" y="3000268"/>
            <a:ext cx="1727805" cy="1698205"/>
            <a:chOff x="9194752" y="3181505"/>
            <a:chExt cx="1727805" cy="1698205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EC8F21EC-B933-ACAA-AFEF-2228C6A65752}"/>
                </a:ext>
              </a:extLst>
            </p:cNvPr>
            <p:cNvSpPr/>
            <p:nvPr/>
          </p:nvSpPr>
          <p:spPr>
            <a:xfrm>
              <a:off x="9194752" y="3181505"/>
              <a:ext cx="1727805" cy="1698205"/>
            </a:xfrm>
            <a:prstGeom prst="roundRect">
              <a:avLst>
                <a:gd name="adj" fmla="val 7230"/>
              </a:avLst>
            </a:prstGeom>
            <a:solidFill>
              <a:srgbClr val="0033B3">
                <a:alpha val="20000"/>
              </a:srgb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D6E11BED-864A-5EAA-CCAC-9E64C9B7C109}"/>
                </a:ext>
              </a:extLst>
            </p:cNvPr>
            <p:cNvGrpSpPr/>
            <p:nvPr/>
          </p:nvGrpSpPr>
          <p:grpSpPr>
            <a:xfrm>
              <a:off x="9592933" y="3250790"/>
              <a:ext cx="943757" cy="1585752"/>
              <a:chOff x="9592933" y="3250790"/>
              <a:chExt cx="943757" cy="1585752"/>
            </a:xfrm>
          </p:grpSpPr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DC5BF0A9-BD1E-218E-20A0-EB25303CD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22290" y="3250790"/>
                <a:ext cx="914400" cy="1277975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49DBBC9-FD44-0B53-8C54-CE055F5B3FF9}"/>
                  </a:ext>
                </a:extLst>
              </p:cNvPr>
              <p:cNvSpPr txBox="1"/>
              <p:nvPr/>
            </p:nvSpPr>
            <p:spPr>
              <a:xfrm>
                <a:off x="9592933" y="4528765"/>
                <a:ext cx="8899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中央仓库</a:t>
                </a:r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pic>
        <p:nvPicPr>
          <p:cNvPr id="38" name="图片 37">
            <a:extLst>
              <a:ext uri="{FF2B5EF4-FFF2-40B4-BE49-F238E27FC236}">
                <a16:creationId xmlns:a16="http://schemas.microsoft.com/office/drawing/2014/main" id="{7B7D5A62-F937-E24B-0E88-9E56FFDA990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59874" y="5416890"/>
            <a:ext cx="2203701" cy="714958"/>
          </a:xfrm>
          <a:prstGeom prst="rect">
            <a:avLst/>
          </a:prstGeom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57870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0.25885 0.1842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43" y="921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885 0.18426 L -0.00495 0.370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90" y="930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5" grpId="1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359669-4A4D-F0A2-E7A2-5A750988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2773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私服</a:t>
            </a:r>
            <a:r>
              <a:rPr lang="zh-CN" altLang="en-US" b="0" i="0"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是一种特殊的远程仓库，它是架设在局域网内的仓库服务，用来代理位于外部的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中央</a:t>
            </a:r>
            <a:r>
              <a:rPr lang="zh-CN" altLang="en-US" b="0" i="0"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仓库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用于解决团队内部的资源共享与资源同步问题。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介绍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01971A4-EFB1-C01C-245C-C416F8AD9CC5}"/>
              </a:ext>
            </a:extLst>
          </p:cNvPr>
          <p:cNvSpPr/>
          <p:nvPr/>
        </p:nvSpPr>
        <p:spPr>
          <a:xfrm>
            <a:off x="1024459" y="2137480"/>
            <a:ext cx="4660371" cy="2866208"/>
          </a:xfrm>
          <a:prstGeom prst="roundRect">
            <a:avLst>
              <a:gd name="adj" fmla="val 3200"/>
            </a:avLst>
          </a:prstGeom>
          <a:solidFill>
            <a:schemeClr val="bg1">
              <a:lumMod val="75000"/>
              <a:alpha val="23137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F9BE4E-1FA0-525C-58A0-F3EE5D97B7F1}"/>
              </a:ext>
            </a:extLst>
          </p:cNvPr>
          <p:cNvGrpSpPr/>
          <p:nvPr/>
        </p:nvGrpSpPr>
        <p:grpSpPr>
          <a:xfrm>
            <a:off x="4171948" y="2957430"/>
            <a:ext cx="978418" cy="1148526"/>
            <a:chOff x="5828044" y="3243995"/>
            <a:chExt cx="1375282" cy="163571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D09E20B-D2CE-B110-BD5A-BF17EB87D503}"/>
                </a:ext>
              </a:extLst>
            </p:cNvPr>
            <p:cNvSpPr/>
            <p:nvPr/>
          </p:nvSpPr>
          <p:spPr>
            <a:xfrm>
              <a:off x="5828044" y="3243995"/>
              <a:ext cx="1375282" cy="1635715"/>
            </a:xfrm>
            <a:prstGeom prst="roundRect">
              <a:avLst>
                <a:gd name="adj" fmla="val 9005"/>
              </a:avLst>
            </a:prstGeom>
            <a:solidFill>
              <a:srgbClr val="FF0000">
                <a:alpha val="20000"/>
              </a:srgb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929FE29-C9A4-B35A-1472-9E5F2273A91F}"/>
                </a:ext>
              </a:extLst>
            </p:cNvPr>
            <p:cNvGrpSpPr/>
            <p:nvPr/>
          </p:nvGrpSpPr>
          <p:grpSpPr>
            <a:xfrm>
              <a:off x="6060280" y="3293959"/>
              <a:ext cx="914400" cy="1524196"/>
              <a:chOff x="6060280" y="3293959"/>
              <a:chExt cx="914400" cy="1524196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22A435D8-CA28-C42F-510F-6CDD71F43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60280" y="3293959"/>
                <a:ext cx="914400" cy="1277975"/>
              </a:xfrm>
              <a:prstGeom prst="rect">
                <a:avLst/>
              </a:prstGeom>
            </p:spPr>
          </p:pic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5966EC8-2E2A-1C55-24AB-2588337658DD}"/>
                  </a:ext>
                </a:extLst>
              </p:cNvPr>
              <p:cNvSpPr txBox="1"/>
              <p:nvPr/>
            </p:nvSpPr>
            <p:spPr>
              <a:xfrm>
                <a:off x="6248816" y="4571934"/>
                <a:ext cx="4379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私服</a:t>
                </a:r>
                <a:endPara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9B9D4E-F385-7B8F-A55F-6810D5F5F620}"/>
              </a:ext>
            </a:extLst>
          </p:cNvPr>
          <p:cNvGrpSpPr/>
          <p:nvPr/>
        </p:nvGrpSpPr>
        <p:grpSpPr>
          <a:xfrm>
            <a:off x="1050552" y="3856647"/>
            <a:ext cx="1770433" cy="996384"/>
            <a:chOff x="1461304" y="4312165"/>
            <a:chExt cx="2488552" cy="141903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E11CEDD-F3F2-FE11-3E4D-E753FAF83457}"/>
                </a:ext>
              </a:extLst>
            </p:cNvPr>
            <p:cNvGrpSpPr/>
            <p:nvPr/>
          </p:nvGrpSpPr>
          <p:grpSpPr>
            <a:xfrm>
              <a:off x="1746155" y="4312165"/>
              <a:ext cx="2203701" cy="1419036"/>
              <a:chOff x="1112855" y="4687985"/>
              <a:chExt cx="1957754" cy="1238119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008BD2E7-6B17-E8FC-9086-E5225E913DF5}"/>
                  </a:ext>
                </a:extLst>
              </p:cNvPr>
              <p:cNvSpPr/>
              <p:nvPr/>
            </p:nvSpPr>
            <p:spPr>
              <a:xfrm>
                <a:off x="1112855" y="4876970"/>
                <a:ext cx="1957754" cy="1049134"/>
              </a:xfrm>
              <a:prstGeom prst="roundRect">
                <a:avLst>
                  <a:gd name="adj" fmla="val 9005"/>
                </a:avLst>
              </a:prstGeom>
              <a:solidFill>
                <a:schemeClr val="accent6">
                  <a:lumMod val="60000"/>
                  <a:lumOff val="40000"/>
                  <a:alpha val="2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/>
              </a:p>
            </p:txBody>
          </p:sp>
          <p:pic>
            <p:nvPicPr>
              <p:cNvPr id="15" name="图形 14" descr="便携式计算机 轮廓">
                <a:extLst>
                  <a:ext uri="{FF2B5EF4-FFF2-40B4-BE49-F238E27FC236}">
                    <a16:creationId xmlns:a16="http://schemas.microsoft.com/office/drawing/2014/main" id="{1C9AD235-F624-F859-547E-7747C80DB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31100" y="4687985"/>
                <a:ext cx="1221792" cy="1221792"/>
              </a:xfrm>
              <a:prstGeom prst="rect">
                <a:avLst/>
              </a:prstGeom>
            </p:spPr>
          </p:pic>
        </p:grpSp>
        <p:pic>
          <p:nvPicPr>
            <p:cNvPr id="12" name="图形 11" descr="用户 轮廓">
              <a:extLst>
                <a:ext uri="{FF2B5EF4-FFF2-40B4-BE49-F238E27FC236}">
                  <a16:creationId xmlns:a16="http://schemas.microsoft.com/office/drawing/2014/main" id="{262A1440-89A2-12FB-1C66-7485FAB79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62265" y="4681816"/>
              <a:ext cx="664504" cy="711326"/>
            </a:xfrm>
            <a:prstGeom prst="rect">
              <a:avLst/>
            </a:prstGeom>
          </p:spPr>
        </p:pic>
        <p:sp>
          <p:nvSpPr>
            <p:cNvPr id="13" name="流程图: 接点 12">
              <a:extLst>
                <a:ext uri="{FF2B5EF4-FFF2-40B4-BE49-F238E27FC236}">
                  <a16:creationId xmlns:a16="http://schemas.microsoft.com/office/drawing/2014/main" id="{3FC42602-C461-5C9B-CA3F-A0C73430CBDA}"/>
                </a:ext>
              </a:extLst>
            </p:cNvPr>
            <p:cNvSpPr/>
            <p:nvPr/>
          </p:nvSpPr>
          <p:spPr>
            <a:xfrm>
              <a:off x="1461304" y="4805564"/>
              <a:ext cx="553044" cy="553044"/>
            </a:xfrm>
            <a:prstGeom prst="flowChartConnector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>
                  <a:solidFill>
                    <a:srgbClr val="C00000"/>
                  </a:solidFill>
                </a:rPr>
                <a:t>B</a:t>
              </a:r>
              <a:endParaRPr lang="zh-CN" altLang="en-US" sz="1100">
                <a:solidFill>
                  <a:srgbClr val="C00000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0C1CA5A-1664-398E-05A4-5E6A23DD9E1B}"/>
              </a:ext>
            </a:extLst>
          </p:cNvPr>
          <p:cNvGrpSpPr/>
          <p:nvPr/>
        </p:nvGrpSpPr>
        <p:grpSpPr>
          <a:xfrm>
            <a:off x="1056478" y="2066798"/>
            <a:ext cx="1768527" cy="996384"/>
            <a:chOff x="1469633" y="1732942"/>
            <a:chExt cx="2485873" cy="141903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547DE2B5-B90D-EC2E-74EA-B5FC5F2A7DCC}"/>
                </a:ext>
              </a:extLst>
            </p:cNvPr>
            <p:cNvGrpSpPr/>
            <p:nvPr/>
          </p:nvGrpSpPr>
          <p:grpSpPr>
            <a:xfrm>
              <a:off x="1752405" y="1732942"/>
              <a:ext cx="2203101" cy="1419036"/>
              <a:chOff x="1112855" y="1766291"/>
              <a:chExt cx="1957754" cy="1225894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9B68FCB2-2B7E-A4DB-2FB7-42EB2CF06EDA}"/>
                  </a:ext>
                </a:extLst>
              </p:cNvPr>
              <p:cNvSpPr/>
              <p:nvPr/>
            </p:nvSpPr>
            <p:spPr>
              <a:xfrm>
                <a:off x="1112855" y="1939791"/>
                <a:ext cx="1957754" cy="1049134"/>
              </a:xfrm>
              <a:prstGeom prst="roundRect">
                <a:avLst>
                  <a:gd name="adj" fmla="val 9005"/>
                </a:avLst>
              </a:prstGeom>
              <a:solidFill>
                <a:srgbClr val="56F8C5">
                  <a:alpha val="20000"/>
                </a:srgb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/>
              </a:p>
            </p:txBody>
          </p:sp>
          <p:pic>
            <p:nvPicPr>
              <p:cNvPr id="21" name="图形 20" descr="便携式计算机 轮廓">
                <a:extLst>
                  <a:ext uri="{FF2B5EF4-FFF2-40B4-BE49-F238E27FC236}">
                    <a16:creationId xmlns:a16="http://schemas.microsoft.com/office/drawing/2014/main" id="{374C9795-903F-4BFD-DF2F-3938BACE4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839694" y="1766291"/>
                <a:ext cx="1225894" cy="1225894"/>
              </a:xfrm>
              <a:prstGeom prst="rect">
                <a:avLst/>
              </a:prstGeom>
            </p:spPr>
          </p:pic>
        </p:grpSp>
        <p:pic>
          <p:nvPicPr>
            <p:cNvPr id="18" name="图形 17" descr="用户 轮廓">
              <a:extLst>
                <a:ext uri="{FF2B5EF4-FFF2-40B4-BE49-F238E27FC236}">
                  <a16:creationId xmlns:a16="http://schemas.microsoft.com/office/drawing/2014/main" id="{CCB5094C-BDAF-B23F-DB5F-91A74B953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43137" y="2174090"/>
              <a:ext cx="664323" cy="718420"/>
            </a:xfrm>
            <a:prstGeom prst="rect">
              <a:avLst/>
            </a:prstGeom>
          </p:spPr>
        </p:pic>
        <p:sp>
          <p:nvSpPr>
            <p:cNvPr id="19" name="流程图: 接点 18">
              <a:extLst>
                <a:ext uri="{FF2B5EF4-FFF2-40B4-BE49-F238E27FC236}">
                  <a16:creationId xmlns:a16="http://schemas.microsoft.com/office/drawing/2014/main" id="{FBC25FE4-E678-A50F-4637-429912024F31}"/>
                </a:ext>
              </a:extLst>
            </p:cNvPr>
            <p:cNvSpPr/>
            <p:nvPr/>
          </p:nvSpPr>
          <p:spPr>
            <a:xfrm>
              <a:off x="1469633" y="2264468"/>
              <a:ext cx="553044" cy="553044"/>
            </a:xfrm>
            <a:prstGeom prst="flowChartConnector">
              <a:avLst/>
            </a:prstGeom>
            <a:solidFill>
              <a:srgbClr val="56F8C5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>
                  <a:solidFill>
                    <a:srgbClr val="C00000"/>
                  </a:solidFill>
                </a:rPr>
                <a:t>A</a:t>
              </a:r>
              <a:endParaRPr lang="zh-CN" altLang="en-US" sz="1100">
                <a:solidFill>
                  <a:srgbClr val="C00000"/>
                </a:solidFill>
              </a:endParaRPr>
            </a:p>
          </p:txBody>
        </p:sp>
      </p:grpSp>
      <p:grpSp>
        <p:nvGrpSpPr>
          <p:cNvPr id="22" name="!!组合 54">
            <a:extLst>
              <a:ext uri="{FF2B5EF4-FFF2-40B4-BE49-F238E27FC236}">
                <a16:creationId xmlns:a16="http://schemas.microsoft.com/office/drawing/2014/main" id="{5F9CA2B1-08FA-C2C9-F4DB-2875DC0D4D3D}"/>
              </a:ext>
            </a:extLst>
          </p:cNvPr>
          <p:cNvGrpSpPr/>
          <p:nvPr/>
        </p:nvGrpSpPr>
        <p:grpSpPr>
          <a:xfrm>
            <a:off x="6479103" y="2935491"/>
            <a:ext cx="1229214" cy="1200579"/>
            <a:chOff x="9194752" y="3181505"/>
            <a:chExt cx="1727805" cy="170985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4FD031ED-DDB4-2B2F-92BE-18689EE471E1}"/>
                </a:ext>
              </a:extLst>
            </p:cNvPr>
            <p:cNvSpPr/>
            <p:nvPr/>
          </p:nvSpPr>
          <p:spPr>
            <a:xfrm>
              <a:off x="9194752" y="3181505"/>
              <a:ext cx="1727805" cy="1698205"/>
            </a:xfrm>
            <a:prstGeom prst="roundRect">
              <a:avLst>
                <a:gd name="adj" fmla="val 7230"/>
              </a:avLst>
            </a:prstGeom>
            <a:solidFill>
              <a:srgbClr val="0033B3">
                <a:alpha val="20000"/>
              </a:srgb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9FBA584F-4979-6FE3-307A-9C8182DB3DBA}"/>
                </a:ext>
              </a:extLst>
            </p:cNvPr>
            <p:cNvGrpSpPr/>
            <p:nvPr/>
          </p:nvGrpSpPr>
          <p:grpSpPr>
            <a:xfrm>
              <a:off x="9593697" y="3250790"/>
              <a:ext cx="971585" cy="1640565"/>
              <a:chOff x="9593697" y="3250790"/>
              <a:chExt cx="971585" cy="1640565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4C57B3CD-C4A5-A55F-54D9-E312D41DEA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622290" y="3250790"/>
                <a:ext cx="914400" cy="1277975"/>
              </a:xfrm>
              <a:prstGeom prst="rect">
                <a:avLst/>
              </a:prstGeom>
            </p:spPr>
          </p:pic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320F1CA-E5AF-5CDE-5ABB-6540E684254B}"/>
                  </a:ext>
                </a:extLst>
              </p:cNvPr>
              <p:cNvSpPr txBox="1"/>
              <p:nvPr/>
            </p:nvSpPr>
            <p:spPr>
              <a:xfrm>
                <a:off x="9593697" y="4540690"/>
                <a:ext cx="971585" cy="350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中央仓库</a:t>
                </a:r>
                <a:endPara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pic>
        <p:nvPicPr>
          <p:cNvPr id="27" name="图形 26" descr="数据库 纯色填充">
            <a:extLst>
              <a:ext uri="{FF2B5EF4-FFF2-40B4-BE49-F238E27FC236}">
                <a16:creationId xmlns:a16="http://schemas.microsoft.com/office/drawing/2014/main" id="{91C54FC0-FF4F-A14F-6877-7CCFB45E89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13792" y="2360219"/>
            <a:ext cx="344831" cy="350083"/>
          </a:xfrm>
          <a:prstGeom prst="rect">
            <a:avLst/>
          </a:prstGeom>
        </p:spPr>
      </p:pic>
      <p:pic>
        <p:nvPicPr>
          <p:cNvPr id="28" name="图形 27" descr="数据库 纯色填充">
            <a:extLst>
              <a:ext uri="{FF2B5EF4-FFF2-40B4-BE49-F238E27FC236}">
                <a16:creationId xmlns:a16="http://schemas.microsoft.com/office/drawing/2014/main" id="{BB9057DF-6839-DA63-ADCF-B4D067BE08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82597" y="4153963"/>
            <a:ext cx="344925" cy="346627"/>
          </a:xfrm>
          <a:prstGeom prst="rect">
            <a:avLst/>
          </a:prstGeom>
        </p:spPr>
      </p:pic>
      <p:sp>
        <p:nvSpPr>
          <p:cNvPr id="29" name="jar-file-format-symbol_29604">
            <a:extLst>
              <a:ext uri="{FF2B5EF4-FFF2-40B4-BE49-F238E27FC236}">
                <a16:creationId xmlns:a16="http://schemas.microsoft.com/office/drawing/2014/main" id="{903CEF02-5AB9-E575-DECE-0CC24197BFB6}"/>
              </a:ext>
            </a:extLst>
          </p:cNvPr>
          <p:cNvSpPr/>
          <p:nvPr/>
        </p:nvSpPr>
        <p:spPr>
          <a:xfrm>
            <a:off x="2390624" y="2445995"/>
            <a:ext cx="166635" cy="210961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88C3E490-72EB-67EB-1C54-279A31A3E089}"/>
              </a:ext>
            </a:extLst>
          </p:cNvPr>
          <p:cNvCxnSpPr>
            <a:cxnSpLocks/>
            <a:stCxn id="20" idx="3"/>
            <a:endCxn id="4" idx="0"/>
          </p:cNvCxnSpPr>
          <p:nvPr/>
        </p:nvCxnSpPr>
        <p:spPr>
          <a:xfrm>
            <a:off x="2825005" y="2634174"/>
            <a:ext cx="1836152" cy="323256"/>
          </a:xfrm>
          <a:prstGeom prst="curvedConnector2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!!连接符: 曲线 13">
            <a:extLst>
              <a:ext uri="{FF2B5EF4-FFF2-40B4-BE49-F238E27FC236}">
                <a16:creationId xmlns:a16="http://schemas.microsoft.com/office/drawing/2014/main" id="{A95902B3-E014-AA0C-C95B-827209B311FA}"/>
              </a:ext>
            </a:extLst>
          </p:cNvPr>
          <p:cNvCxnSpPr>
            <a:cxnSpLocks/>
            <a:stCxn id="4" idx="2"/>
            <a:endCxn id="14" idx="3"/>
          </p:cNvCxnSpPr>
          <p:nvPr/>
        </p:nvCxnSpPr>
        <p:spPr>
          <a:xfrm rot="5400000">
            <a:off x="3578608" y="3348333"/>
            <a:ext cx="324927" cy="1840172"/>
          </a:xfrm>
          <a:prstGeom prst="curvedConnector2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03D81F6-47F1-79E9-82F3-1732E01FAAD2}"/>
              </a:ext>
            </a:extLst>
          </p:cNvPr>
          <p:cNvCxnSpPr>
            <a:stCxn id="4" idx="3"/>
          </p:cNvCxnSpPr>
          <p:nvPr/>
        </p:nvCxnSpPr>
        <p:spPr>
          <a:xfrm flipV="1">
            <a:off x="5150366" y="3531692"/>
            <a:ext cx="1289022" cy="1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jar-file-format-symbol_29604">
            <a:extLst>
              <a:ext uri="{FF2B5EF4-FFF2-40B4-BE49-F238E27FC236}">
                <a16:creationId xmlns:a16="http://schemas.microsoft.com/office/drawing/2014/main" id="{8FFC43C9-1877-1BDD-B93C-1C49421D1E8A}"/>
              </a:ext>
            </a:extLst>
          </p:cNvPr>
          <p:cNvSpPr/>
          <p:nvPr/>
        </p:nvSpPr>
        <p:spPr>
          <a:xfrm>
            <a:off x="4654008" y="3335700"/>
            <a:ext cx="166635" cy="210961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4" name="jar-file-format-symbol_29604">
            <a:extLst>
              <a:ext uri="{FF2B5EF4-FFF2-40B4-BE49-F238E27FC236}">
                <a16:creationId xmlns:a16="http://schemas.microsoft.com/office/drawing/2014/main" id="{F7A1C178-4F2A-4B5E-3014-9F4426EE1556}"/>
              </a:ext>
            </a:extLst>
          </p:cNvPr>
          <p:cNvSpPr/>
          <p:nvPr/>
        </p:nvSpPr>
        <p:spPr>
          <a:xfrm>
            <a:off x="2371557" y="4228990"/>
            <a:ext cx="166635" cy="210961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5" name="jar-file-format-symbol_29604">
            <a:extLst>
              <a:ext uri="{FF2B5EF4-FFF2-40B4-BE49-F238E27FC236}">
                <a16:creationId xmlns:a16="http://schemas.microsoft.com/office/drawing/2014/main" id="{D312FEC9-9DDE-FE76-F6CD-DC9921CABF06}"/>
              </a:ext>
            </a:extLst>
          </p:cNvPr>
          <p:cNvSpPr/>
          <p:nvPr/>
        </p:nvSpPr>
        <p:spPr>
          <a:xfrm>
            <a:off x="2110814" y="2409697"/>
            <a:ext cx="201927" cy="247259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  <a:gd name="connsiteX48" fmla="*/ 121763 h 600884"/>
              <a:gd name="connsiteY48" fmla="*/ 121763 h 600884"/>
              <a:gd name="connsiteX49" fmla="*/ 121763 h 600884"/>
              <a:gd name="connsiteY49" fmla="*/ 121763 h 600884"/>
              <a:gd name="connsiteX50" fmla="*/ 121763 h 600884"/>
              <a:gd name="connsiteY50" fmla="*/ 121763 h 600884"/>
              <a:gd name="connsiteX51" fmla="*/ 121763 h 600884"/>
              <a:gd name="connsiteY51" fmla="*/ 121763 h 600884"/>
              <a:gd name="connsiteX52" fmla="*/ 121763 h 600884"/>
              <a:gd name="connsiteY52" fmla="*/ 121763 h 600884"/>
              <a:gd name="connsiteX53" fmla="*/ 121763 h 600884"/>
              <a:gd name="connsiteY53" fmla="*/ 121763 h 600884"/>
              <a:gd name="connsiteX54" fmla="*/ 121763 h 600884"/>
              <a:gd name="connsiteY54" fmla="*/ 121763 h 600884"/>
              <a:gd name="connsiteX55" fmla="*/ 121763 h 600884"/>
              <a:gd name="connsiteY55" fmla="*/ 121763 h 600884"/>
              <a:gd name="connsiteX56" fmla="*/ 121763 h 600884"/>
              <a:gd name="connsiteY56" fmla="*/ 121763 h 600884"/>
              <a:gd name="connsiteX57" fmla="*/ 121763 h 600884"/>
              <a:gd name="connsiteY57" fmla="*/ 121763 h 600884"/>
              <a:gd name="connsiteX58" fmla="*/ 121763 h 600884"/>
              <a:gd name="connsiteY58" fmla="*/ 121763 h 600884"/>
              <a:gd name="connsiteX59" fmla="*/ 121763 h 600884"/>
              <a:gd name="connsiteY59" fmla="*/ 121763 h 600884"/>
              <a:gd name="connsiteX60" fmla="*/ 121763 h 600884"/>
              <a:gd name="connsiteY60" fmla="*/ 121763 h 600884"/>
              <a:gd name="connsiteX61" fmla="*/ 121763 h 600884"/>
              <a:gd name="connsiteY61" fmla="*/ 121763 h 600884"/>
              <a:gd name="connsiteX62" fmla="*/ 121763 h 600884"/>
              <a:gd name="connsiteY62" fmla="*/ 121763 h 600884"/>
              <a:gd name="connsiteX63" fmla="*/ 121763 h 600884"/>
              <a:gd name="connsiteY63" fmla="*/ 121763 h 600884"/>
              <a:gd name="connsiteX64" fmla="*/ 121763 h 600884"/>
              <a:gd name="connsiteY64" fmla="*/ 121763 h 600884"/>
              <a:gd name="connsiteX65" fmla="*/ 121763 h 600884"/>
              <a:gd name="connsiteY65" fmla="*/ 121763 h 600884"/>
              <a:gd name="connsiteX66" fmla="*/ 121763 h 600884"/>
              <a:gd name="connsiteY66" fmla="*/ 121763 h 600884"/>
              <a:gd name="connsiteX67" fmla="*/ 121763 h 600884"/>
              <a:gd name="connsiteY67" fmla="*/ 121763 h 600884"/>
              <a:gd name="connsiteX68" fmla="*/ 121763 h 600884"/>
              <a:gd name="connsiteY68" fmla="*/ 121763 h 600884"/>
              <a:gd name="connsiteX69" fmla="*/ 121763 h 600884"/>
              <a:gd name="connsiteY69" fmla="*/ 121763 h 600884"/>
              <a:gd name="connsiteX70" fmla="*/ 121763 h 600884"/>
              <a:gd name="connsiteY70" fmla="*/ 121763 h 600884"/>
              <a:gd name="connsiteX71" fmla="*/ 121763 h 600884"/>
              <a:gd name="connsiteY71" fmla="*/ 121763 h 600884"/>
              <a:gd name="connsiteX72" fmla="*/ 121763 h 600884"/>
              <a:gd name="connsiteY72" fmla="*/ 121763 h 600884"/>
              <a:gd name="connsiteX73" fmla="*/ 121763 h 600884"/>
              <a:gd name="connsiteY73" fmla="*/ 121763 h 600884"/>
              <a:gd name="connsiteX74" fmla="*/ 121763 h 600884"/>
              <a:gd name="connsiteY74" fmla="*/ 121763 h 600884"/>
              <a:gd name="connsiteX75" fmla="*/ 121763 h 600884"/>
              <a:gd name="connsiteY75" fmla="*/ 121763 h 600884"/>
              <a:gd name="connsiteX76" fmla="*/ 121763 h 600884"/>
              <a:gd name="connsiteY76" fmla="*/ 121763 h 600884"/>
              <a:gd name="connsiteX77" fmla="*/ 121763 h 600884"/>
              <a:gd name="connsiteY77" fmla="*/ 121763 h 600884"/>
              <a:gd name="connsiteX78" fmla="*/ 121763 h 600884"/>
              <a:gd name="connsiteY78" fmla="*/ 121763 h 600884"/>
              <a:gd name="connsiteX79" fmla="*/ 121763 h 600884"/>
              <a:gd name="connsiteY79" fmla="*/ 121763 h 600884"/>
              <a:gd name="connsiteX80" fmla="*/ 121763 h 600884"/>
              <a:gd name="connsiteY80" fmla="*/ 121763 h 600884"/>
              <a:gd name="connsiteX81" fmla="*/ 121763 h 600884"/>
              <a:gd name="connsiteY81" fmla="*/ 121763 h 600884"/>
              <a:gd name="connsiteX82" fmla="*/ 121763 h 600884"/>
              <a:gd name="connsiteY82" fmla="*/ 121763 h 600884"/>
              <a:gd name="connsiteX83" fmla="*/ 121763 h 600884"/>
              <a:gd name="connsiteY83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244164" y="278381"/>
                </a:moveTo>
                <a:lnTo>
                  <a:pt x="244660" y="278381"/>
                </a:lnTo>
                <a:cubicBezTo>
                  <a:pt x="247307" y="288959"/>
                  <a:pt x="250451" y="302098"/>
                  <a:pt x="253677" y="312675"/>
                </a:cubicBezTo>
                <a:lnTo>
                  <a:pt x="264761" y="350358"/>
                </a:lnTo>
                <a:lnTo>
                  <a:pt x="225386" y="350358"/>
                </a:lnTo>
                <a:lnTo>
                  <a:pt x="235974" y="312675"/>
                </a:lnTo>
                <a:cubicBezTo>
                  <a:pt x="238870" y="302346"/>
                  <a:pt x="241517" y="288959"/>
                  <a:pt x="244164" y="278381"/>
                </a:cubicBezTo>
                <a:close/>
                <a:moveTo>
                  <a:pt x="409354" y="276828"/>
                </a:moveTo>
                <a:cubicBezTo>
                  <a:pt x="427896" y="277076"/>
                  <a:pt x="438987" y="285255"/>
                  <a:pt x="438987" y="301613"/>
                </a:cubicBezTo>
                <a:cubicBezTo>
                  <a:pt x="438987" y="317145"/>
                  <a:pt x="427068" y="327141"/>
                  <a:pt x="406954" y="327141"/>
                </a:cubicBezTo>
                <a:lnTo>
                  <a:pt x="391144" y="327141"/>
                </a:lnTo>
                <a:lnTo>
                  <a:pt x="391144" y="278150"/>
                </a:lnTo>
                <a:cubicBezTo>
                  <a:pt x="394041" y="277654"/>
                  <a:pt x="399587" y="276828"/>
                  <a:pt x="409354" y="276828"/>
                </a:cubicBezTo>
                <a:close/>
                <a:moveTo>
                  <a:pt x="219559" y="248311"/>
                </a:moveTo>
                <a:lnTo>
                  <a:pt x="165207" y="425994"/>
                </a:lnTo>
                <a:lnTo>
                  <a:pt x="206902" y="425994"/>
                </a:lnTo>
                <a:lnTo>
                  <a:pt x="219559" y="380396"/>
                </a:lnTo>
                <a:lnTo>
                  <a:pt x="270520" y="380396"/>
                </a:lnTo>
                <a:lnTo>
                  <a:pt x="284253" y="425994"/>
                </a:lnTo>
                <a:lnTo>
                  <a:pt x="327519" y="425994"/>
                </a:lnTo>
                <a:lnTo>
                  <a:pt x="272340" y="248311"/>
                </a:lnTo>
                <a:close/>
                <a:moveTo>
                  <a:pt x="104485" y="248311"/>
                </a:moveTo>
                <a:lnTo>
                  <a:pt x="104485" y="360075"/>
                </a:lnTo>
                <a:cubicBezTo>
                  <a:pt x="104485" y="387748"/>
                  <a:pt x="93896" y="395430"/>
                  <a:pt x="77019" y="395430"/>
                </a:cubicBezTo>
                <a:cubicBezTo>
                  <a:pt x="69077" y="395430"/>
                  <a:pt x="61963" y="394108"/>
                  <a:pt x="56420" y="392291"/>
                </a:cubicBezTo>
                <a:lnTo>
                  <a:pt x="51953" y="424672"/>
                </a:lnTo>
                <a:cubicBezTo>
                  <a:pt x="59895" y="427316"/>
                  <a:pt x="72056" y="428885"/>
                  <a:pt x="81238" y="428885"/>
                </a:cubicBezTo>
                <a:cubicBezTo>
                  <a:pt x="120286" y="428885"/>
                  <a:pt x="144608" y="411208"/>
                  <a:pt x="144608" y="360653"/>
                </a:cubicBezTo>
                <a:lnTo>
                  <a:pt x="144608" y="248311"/>
                </a:lnTo>
                <a:close/>
                <a:moveTo>
                  <a:pt x="404870" y="246989"/>
                </a:moveTo>
                <a:cubicBezTo>
                  <a:pt x="383526" y="246989"/>
                  <a:pt x="364250" y="248641"/>
                  <a:pt x="351345" y="250706"/>
                </a:cubicBezTo>
                <a:lnTo>
                  <a:pt x="351345" y="425994"/>
                </a:lnTo>
                <a:lnTo>
                  <a:pt x="391137" y="425994"/>
                </a:lnTo>
                <a:lnTo>
                  <a:pt x="391137" y="356110"/>
                </a:lnTo>
                <a:lnTo>
                  <a:pt x="403298" y="356110"/>
                </a:lnTo>
                <a:cubicBezTo>
                  <a:pt x="419678" y="356441"/>
                  <a:pt x="427289" y="362471"/>
                  <a:pt x="432087" y="384609"/>
                </a:cubicBezTo>
                <a:cubicBezTo>
                  <a:pt x="437382" y="406499"/>
                  <a:pt x="441601" y="420955"/>
                  <a:pt x="444496" y="425994"/>
                </a:cubicBezTo>
                <a:lnTo>
                  <a:pt x="485612" y="425994"/>
                </a:lnTo>
                <a:cubicBezTo>
                  <a:pt x="482220" y="419138"/>
                  <a:pt x="476677" y="395926"/>
                  <a:pt x="471135" y="375935"/>
                </a:cubicBezTo>
                <a:cubicBezTo>
                  <a:pt x="466667" y="359580"/>
                  <a:pt x="459801" y="347684"/>
                  <a:pt x="447392" y="342728"/>
                </a:cubicBezTo>
                <a:lnTo>
                  <a:pt x="447392" y="341902"/>
                </a:lnTo>
                <a:cubicBezTo>
                  <a:pt x="462696" y="336368"/>
                  <a:pt x="478745" y="320838"/>
                  <a:pt x="478745" y="298121"/>
                </a:cubicBezTo>
                <a:cubicBezTo>
                  <a:pt x="478745" y="281848"/>
                  <a:pt x="472955" y="269457"/>
                  <a:pt x="462448" y="261032"/>
                </a:cubicBezTo>
                <a:cubicBezTo>
                  <a:pt x="449708" y="250954"/>
                  <a:pt x="431260" y="246989"/>
                  <a:pt x="404870" y="24698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445"/>
                </a:lnTo>
                <a:lnTo>
                  <a:pt x="360362" y="157445"/>
                </a:lnTo>
                <a:cubicBezTo>
                  <a:pt x="353744" y="157445"/>
                  <a:pt x="348449" y="152076"/>
                  <a:pt x="348449" y="145550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6" y="496"/>
                  <a:pt x="363754" y="578"/>
                </a:cubicBezTo>
                <a:cubicBezTo>
                  <a:pt x="364581" y="826"/>
                  <a:pt x="365326" y="1156"/>
                  <a:pt x="366070" y="1569"/>
                </a:cubicBezTo>
                <a:cubicBezTo>
                  <a:pt x="366319" y="1652"/>
                  <a:pt x="366567" y="1817"/>
                  <a:pt x="366898" y="1983"/>
                </a:cubicBezTo>
                <a:cubicBezTo>
                  <a:pt x="367725" y="2561"/>
                  <a:pt x="368552" y="3222"/>
                  <a:pt x="369214" y="3965"/>
                </a:cubicBezTo>
                <a:cubicBezTo>
                  <a:pt x="369214" y="4048"/>
                  <a:pt x="369297" y="4048"/>
                  <a:pt x="369297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1037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663E678-19DD-DA78-685E-4CDA44AFE72E}"/>
              </a:ext>
            </a:extLst>
          </p:cNvPr>
          <p:cNvSpPr/>
          <p:nvPr/>
        </p:nvSpPr>
        <p:spPr>
          <a:xfrm>
            <a:off x="954122" y="2066798"/>
            <a:ext cx="7385539" cy="3007227"/>
          </a:xfrm>
          <a:prstGeom prst="roundRect">
            <a:avLst>
              <a:gd name="adj" fmla="val 3989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占位符 1">
            <a:extLst>
              <a:ext uri="{FF2B5EF4-FFF2-40B4-BE49-F238E27FC236}">
                <a16:creationId xmlns:a16="http://schemas.microsoft.com/office/drawing/2014/main" id="{D075FB94-C938-E3A0-DAF3-5BE92F7336DF}"/>
              </a:ext>
            </a:extLst>
          </p:cNvPr>
          <p:cNvSpPr txBox="1">
            <a:spLocks/>
          </p:cNvSpPr>
          <p:nvPr/>
        </p:nvSpPr>
        <p:spPr>
          <a:xfrm>
            <a:off x="9110418" y="2507926"/>
            <a:ext cx="2324581" cy="1588522"/>
          </a:xfrm>
          <a:prstGeom prst="rect">
            <a:avLst/>
          </a:prstGeom>
        </p:spPr>
        <p:txBody>
          <a:bodyPr anchor="t" anchorCtr="0"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依赖查找顺序：</a:t>
            </a:r>
            <a:endParaRPr lang="en-US" altLang="zh-CN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本地仓库</a:t>
            </a:r>
            <a:endParaRPr lang="en-US" altLang="zh-CN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私服</a:t>
            </a:r>
            <a:endParaRPr lang="en-US" altLang="zh-CN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Consolas" panose="020B0609020204030204" pitchFamily="49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中央仓库</a:t>
            </a:r>
            <a:r>
              <a:rPr lang="en-US" altLang="zh-CN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  <a:r>
              <a:rPr lang="zh-CN" altLang="en-US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 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5C23FCF-3A85-562B-F1D2-442C35FB2986}"/>
              </a:ext>
            </a:extLst>
          </p:cNvPr>
          <p:cNvGrpSpPr/>
          <p:nvPr/>
        </p:nvGrpSpPr>
        <p:grpSpPr>
          <a:xfrm>
            <a:off x="913038" y="6219007"/>
            <a:ext cx="10521961" cy="448408"/>
            <a:chOff x="710879" y="5978768"/>
            <a:chExt cx="10521961" cy="448408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13643B4D-71C9-BCA9-5622-ADC8EF399AB9}"/>
                </a:ext>
              </a:extLst>
            </p:cNvPr>
            <p:cNvSpPr/>
            <p:nvPr/>
          </p:nvSpPr>
          <p:spPr>
            <a:xfrm>
              <a:off x="710880" y="5978769"/>
              <a:ext cx="1052196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3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私服在企业项目开发中，一个项目</a:t>
              </a:r>
              <a:r>
                <a:rPr lang="en-US" altLang="zh-CN" sz="13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</a:t>
              </a:r>
              <a:r>
                <a:rPr lang="zh-CN" altLang="en-US" sz="1300">
                  <a:solidFill>
                    <a:schemeClr val="tx1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公司，只需要一台即可（无需我们自己搭建，会使用即可）。</a:t>
              </a:r>
            </a:p>
          </p:txBody>
        </p:sp>
        <p:sp>
          <p:nvSpPr>
            <p:cNvPr id="40" name="矩形: 圆顶角 39">
              <a:extLst>
                <a:ext uri="{FF2B5EF4-FFF2-40B4-BE49-F238E27FC236}">
                  <a16:creationId xmlns:a16="http://schemas.microsoft.com/office/drawing/2014/main" id="{CE4B59DA-31D8-AE90-C68E-CA3F2E2832EA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Shape 2468">
              <a:extLst>
                <a:ext uri="{FF2B5EF4-FFF2-40B4-BE49-F238E27FC236}">
                  <a16:creationId xmlns:a16="http://schemas.microsoft.com/office/drawing/2014/main" id="{C50EF858-96C0-8606-1D2F-D80A5C15F5EF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FE455C2-0E44-0E06-CC03-B89ACE9BD2BF}"/>
                </a:ext>
              </a:extLst>
            </p:cNvPr>
            <p:cNvSpPr txBox="1"/>
            <p:nvPr/>
          </p:nvSpPr>
          <p:spPr>
            <a:xfrm>
              <a:off x="1054035" y="6071621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425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50298FF-4D39-9D5F-B38C-AFA8E575F4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Maven</a:t>
            </a:r>
            <a:r>
              <a:rPr lang="zh-CN" altLang="en-US"/>
              <a:t>私服的作用是什么 </a:t>
            </a:r>
            <a:r>
              <a:rPr lang="en-US" altLang="zh-CN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解决团队内部的资源共享与资源同步问题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有了私服之后依赖查找的顺序是什么样的</a:t>
            </a:r>
            <a:r>
              <a:rPr lang="en-US" altLang="zh-CN"/>
              <a:t>?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本地仓库 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--&gt;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私服 </a:t>
            </a:r>
            <a:r>
              <a:rPr lang="en-US" altLang="zh-CN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--&gt;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中央仓库</a:t>
            </a:r>
          </a:p>
        </p:txBody>
      </p:sp>
    </p:spTree>
    <p:extLst>
      <p:ext uri="{BB962C8B-B14F-4D97-AF65-F5344CB8AC3E}">
        <p14:creationId xmlns:p14="http://schemas.microsoft.com/office/powerpoint/2010/main" val="175622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E5252B-589E-6163-7E58-38062416B7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私服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CA87BD7-C57B-236C-4205-416CE6773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63079"/>
          </a:xfrm>
        </p:spPr>
        <p:txBody>
          <a:bodyPr/>
          <a:lstStyle/>
          <a:p>
            <a:r>
              <a:rPr lang="zh-CN" altLang="en-US"/>
              <a:t>介绍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资源上传与下载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0FC7B-8B8E-37A1-B37E-73C7E42E60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90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资源上传与下载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B471B2D-16A1-F1B0-749D-7C108DD137FA}"/>
              </a:ext>
            </a:extLst>
          </p:cNvPr>
          <p:cNvGrpSpPr/>
          <p:nvPr/>
        </p:nvGrpSpPr>
        <p:grpSpPr>
          <a:xfrm>
            <a:off x="8926741" y="1420511"/>
            <a:ext cx="2305873" cy="3175034"/>
            <a:chOff x="8517272" y="2276424"/>
            <a:chExt cx="2305873" cy="317503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BE6A657-81E1-08C9-B6C5-C808437B9E6D}"/>
                </a:ext>
              </a:extLst>
            </p:cNvPr>
            <p:cNvGrpSpPr/>
            <p:nvPr/>
          </p:nvGrpSpPr>
          <p:grpSpPr>
            <a:xfrm>
              <a:off x="8517272" y="2276424"/>
              <a:ext cx="2305873" cy="3175034"/>
              <a:chOff x="5189385" y="1812031"/>
              <a:chExt cx="2305873" cy="3175034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5FC8B61D-593C-BF46-1D59-0F901E0269FF}"/>
                  </a:ext>
                </a:extLst>
              </p:cNvPr>
              <p:cNvSpPr/>
              <p:nvPr/>
            </p:nvSpPr>
            <p:spPr>
              <a:xfrm>
                <a:off x="5189385" y="1812031"/>
                <a:ext cx="2305873" cy="3175034"/>
              </a:xfrm>
              <a:prstGeom prst="roundRect">
                <a:avLst>
                  <a:gd name="adj" fmla="val 4009"/>
                </a:avLst>
              </a:prstGeom>
              <a:solidFill>
                <a:srgbClr val="E46C0A">
                  <a:alpha val="14118"/>
                </a:srgbClr>
              </a:solidFill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ADA3D2D-4CA6-2770-FD4C-12368710C651}"/>
                  </a:ext>
                </a:extLst>
              </p:cNvPr>
              <p:cNvSpPr txBox="1"/>
              <p:nvPr/>
            </p:nvSpPr>
            <p:spPr>
              <a:xfrm>
                <a:off x="6079964" y="4679288"/>
                <a:ext cx="5679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私服</a:t>
                </a:r>
                <a:endPara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4" name="圆柱体 3">
              <a:extLst>
                <a:ext uri="{FF2B5EF4-FFF2-40B4-BE49-F238E27FC236}">
                  <a16:creationId xmlns:a16="http://schemas.microsoft.com/office/drawing/2014/main" id="{90456E78-C9FB-CC5D-AA9A-45CA54FEAD31}"/>
                </a:ext>
              </a:extLst>
            </p:cNvPr>
            <p:cNvSpPr/>
            <p:nvPr/>
          </p:nvSpPr>
          <p:spPr>
            <a:xfrm>
              <a:off x="9858895" y="2532838"/>
              <a:ext cx="757876" cy="897070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9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(snapshot)</a:t>
              </a:r>
              <a:endPara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圆柱体 6">
              <a:extLst>
                <a:ext uri="{FF2B5EF4-FFF2-40B4-BE49-F238E27FC236}">
                  <a16:creationId xmlns:a16="http://schemas.microsoft.com/office/drawing/2014/main" id="{4045D429-4E4B-4D5E-3CEA-D5086AD2EF77}"/>
                </a:ext>
              </a:extLst>
            </p:cNvPr>
            <p:cNvSpPr/>
            <p:nvPr/>
          </p:nvSpPr>
          <p:spPr>
            <a:xfrm>
              <a:off x="8888681" y="2543846"/>
              <a:ext cx="757876" cy="89717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9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(release)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圆柱体 7">
              <a:extLst>
                <a:ext uri="{FF2B5EF4-FFF2-40B4-BE49-F238E27FC236}">
                  <a16:creationId xmlns:a16="http://schemas.microsoft.com/office/drawing/2014/main" id="{65606FA0-FA57-E293-6F1A-524ACC293C4A}"/>
                </a:ext>
              </a:extLst>
            </p:cNvPr>
            <p:cNvSpPr/>
            <p:nvPr/>
          </p:nvSpPr>
          <p:spPr>
            <a:xfrm>
              <a:off x="9276091" y="3765457"/>
              <a:ext cx="884255" cy="1180399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90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(central)</a:t>
              </a:r>
              <a:endPara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199857D-DE68-EEC7-E7E8-3F3FCF7AD274}"/>
              </a:ext>
            </a:extLst>
          </p:cNvPr>
          <p:cNvCxnSpPr>
            <a:cxnSpLocks/>
          </p:cNvCxnSpPr>
          <p:nvPr/>
        </p:nvCxnSpPr>
        <p:spPr>
          <a:xfrm>
            <a:off x="3105778" y="2887193"/>
            <a:ext cx="2389374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BD478EAC-952F-007D-785A-5621D3E1D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31" y="2372562"/>
            <a:ext cx="1073965" cy="1073965"/>
          </a:xfrm>
          <a:prstGeom prst="rect">
            <a:avLst/>
          </a:prstGeom>
        </p:spPr>
      </p:pic>
      <p:sp>
        <p:nvSpPr>
          <p:cNvPr id="13" name="圆柱体 12">
            <a:extLst>
              <a:ext uri="{FF2B5EF4-FFF2-40B4-BE49-F238E27FC236}">
                <a16:creationId xmlns:a16="http://schemas.microsoft.com/office/drawing/2014/main" id="{59D7153C-CCCE-2FDA-2236-F90CD135589F}"/>
              </a:ext>
            </a:extLst>
          </p:cNvPr>
          <p:cNvSpPr/>
          <p:nvPr/>
        </p:nvSpPr>
        <p:spPr>
          <a:xfrm>
            <a:off x="5495152" y="2471045"/>
            <a:ext cx="856929" cy="1073966"/>
          </a:xfrm>
          <a:prstGeom prst="can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Maven</a:t>
            </a:r>
          </a:p>
          <a:p>
            <a:pPr algn="ct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本地仓库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7E26B7F-6F95-E9F7-2C33-6180896D783C}"/>
              </a:ext>
            </a:extLst>
          </p:cNvPr>
          <p:cNvCxnSpPr>
            <a:cxnSpLocks/>
          </p:cNvCxnSpPr>
          <p:nvPr/>
        </p:nvCxnSpPr>
        <p:spPr>
          <a:xfrm>
            <a:off x="6370369" y="2907860"/>
            <a:ext cx="25036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CAFE30A-3AA1-DDFF-1390-1A0B8EEDC1FF}"/>
              </a:ext>
            </a:extLst>
          </p:cNvPr>
          <p:cNvCxnSpPr>
            <a:cxnSpLocks/>
          </p:cNvCxnSpPr>
          <p:nvPr/>
        </p:nvCxnSpPr>
        <p:spPr>
          <a:xfrm flipH="1">
            <a:off x="6352081" y="3127002"/>
            <a:ext cx="2503649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07140D4-4A7F-D32E-C402-7056C0C2BFB4}"/>
              </a:ext>
            </a:extLst>
          </p:cNvPr>
          <p:cNvSpPr txBox="1"/>
          <p:nvPr/>
        </p:nvSpPr>
        <p:spPr>
          <a:xfrm>
            <a:off x="5180898" y="3713790"/>
            <a:ext cx="2503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连接私服的地址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04B38B-3351-2D19-5CE7-489CE6856ABD}"/>
              </a:ext>
            </a:extLst>
          </p:cNvPr>
          <p:cNvSpPr txBox="1"/>
          <p:nvPr/>
        </p:nvSpPr>
        <p:spPr>
          <a:xfrm>
            <a:off x="4945838" y="1992629"/>
            <a:ext cx="2073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访问私服的用户名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密码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522319-19D4-7782-91F9-6826FF096AE6}"/>
              </a:ext>
            </a:extLst>
          </p:cNvPr>
          <p:cNvSpPr txBox="1"/>
          <p:nvPr/>
        </p:nvSpPr>
        <p:spPr>
          <a:xfrm>
            <a:off x="1564283" y="1992629"/>
            <a:ext cx="2590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上传资源的位置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04548B-861C-DCAE-FDE9-3BC467A5D830}"/>
              </a:ext>
            </a:extLst>
          </p:cNvPr>
          <p:cNvGrpSpPr/>
          <p:nvPr/>
        </p:nvGrpSpPr>
        <p:grpSpPr>
          <a:xfrm>
            <a:off x="1826232" y="3580227"/>
            <a:ext cx="1631244" cy="465065"/>
            <a:chOff x="2427243" y="5592828"/>
            <a:chExt cx="2254906" cy="775864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1A6A85-E9BC-D311-F3AB-ED9BA2D87BBB}"/>
                </a:ext>
              </a:extLst>
            </p:cNvPr>
            <p:cNvGrpSpPr/>
            <p:nvPr/>
          </p:nvGrpSpPr>
          <p:grpSpPr>
            <a:xfrm>
              <a:off x="2472453" y="5662125"/>
              <a:ext cx="2209696" cy="644934"/>
              <a:chOff x="3963017" y="5996556"/>
              <a:chExt cx="2816290" cy="435320"/>
            </a:xfrm>
          </p:grpSpPr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379FBB53-E250-2242-C36D-D22A58490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3017" y="5996556"/>
                <a:ext cx="1049006" cy="435320"/>
              </a:xfrm>
              <a:prstGeom prst="rect">
                <a:avLst/>
              </a:prstGeom>
            </p:spPr>
          </p:pic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E96F48B-8A92-0D4C-DC26-957FF26C81C1}"/>
                  </a:ext>
                </a:extLst>
              </p:cNvPr>
              <p:cNvSpPr txBox="1"/>
              <p:nvPr/>
            </p:nvSpPr>
            <p:spPr>
              <a:xfrm>
                <a:off x="4950064" y="6091030"/>
                <a:ext cx="1829243" cy="277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tlias-utils</a:t>
                </a:r>
                <a:endPara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1" name="矩形: 对角圆角 20">
              <a:extLst>
                <a:ext uri="{FF2B5EF4-FFF2-40B4-BE49-F238E27FC236}">
                  <a16:creationId xmlns:a16="http://schemas.microsoft.com/office/drawing/2014/main" id="{C98C1C6C-069B-7C4F-8228-421C10024B50}"/>
                </a:ext>
              </a:extLst>
            </p:cNvPr>
            <p:cNvSpPr/>
            <p:nvPr/>
          </p:nvSpPr>
          <p:spPr>
            <a:xfrm>
              <a:off x="2427243" y="5592828"/>
              <a:ext cx="2157668" cy="775864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B59F4A2-09C1-9D9D-CFF2-0CE6FBAF4AA7}"/>
              </a:ext>
            </a:extLst>
          </p:cNvPr>
          <p:cNvGrpSpPr/>
          <p:nvPr/>
        </p:nvGrpSpPr>
        <p:grpSpPr>
          <a:xfrm>
            <a:off x="649742" y="2778101"/>
            <a:ext cx="1114024" cy="348901"/>
            <a:chOff x="1376249" y="1758321"/>
            <a:chExt cx="1261790" cy="39813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021EDD6-5F0A-F5F9-E299-49D50BD0E663}"/>
                </a:ext>
              </a:extLst>
            </p:cNvPr>
            <p:cNvGrpSpPr/>
            <p:nvPr/>
          </p:nvGrpSpPr>
          <p:grpSpPr>
            <a:xfrm>
              <a:off x="1430937" y="1784697"/>
              <a:ext cx="1207102" cy="346797"/>
              <a:chOff x="1432844" y="1780796"/>
              <a:chExt cx="1207102" cy="346797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1ACCB5A-CD30-445D-6762-1B493A9CC7BA}"/>
                  </a:ext>
                </a:extLst>
              </p:cNvPr>
              <p:cNvSpPr txBox="1"/>
              <p:nvPr/>
            </p:nvSpPr>
            <p:spPr>
              <a:xfrm>
                <a:off x="1682547" y="1818953"/>
                <a:ext cx="957399" cy="298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1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logback</a:t>
                </a:r>
                <a:endParaRPr lang="zh-CN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8" name="jar-file-format-symbol_29604">
                <a:extLst>
                  <a:ext uri="{FF2B5EF4-FFF2-40B4-BE49-F238E27FC236}">
                    <a16:creationId xmlns:a16="http://schemas.microsoft.com/office/drawing/2014/main" id="{DC7C5EAB-3869-B64A-F3B2-28E013BB4ADD}"/>
                  </a:ext>
                </a:extLst>
              </p:cNvPr>
              <p:cNvSpPr/>
              <p:nvPr/>
            </p:nvSpPr>
            <p:spPr>
              <a:xfrm>
                <a:off x="1432844" y="1780796"/>
                <a:ext cx="296028" cy="346797"/>
              </a:xfrm>
              <a:custGeom>
                <a:avLst/>
                <a:gdLst>
                  <a:gd name="connsiteX0" fmla="*/ 121763 h 600884"/>
                  <a:gd name="connsiteY0" fmla="*/ 121763 h 600884"/>
                  <a:gd name="connsiteX1" fmla="*/ 121763 h 600884"/>
                  <a:gd name="connsiteY1" fmla="*/ 121763 h 600884"/>
                  <a:gd name="connsiteX2" fmla="*/ 121763 h 600884"/>
                  <a:gd name="connsiteY2" fmla="*/ 121763 h 600884"/>
                  <a:gd name="connsiteX3" fmla="*/ 121763 h 600884"/>
                  <a:gd name="connsiteY3" fmla="*/ 121763 h 600884"/>
                  <a:gd name="connsiteX4" fmla="*/ 121763 h 600884"/>
                  <a:gd name="connsiteY4" fmla="*/ 121763 h 600884"/>
                  <a:gd name="connsiteX5" fmla="*/ 121763 h 600884"/>
                  <a:gd name="connsiteY5" fmla="*/ 121763 h 600884"/>
                  <a:gd name="connsiteX6" fmla="*/ 121763 h 600884"/>
                  <a:gd name="connsiteY6" fmla="*/ 121763 h 600884"/>
                  <a:gd name="connsiteX7" fmla="*/ 121763 h 600884"/>
                  <a:gd name="connsiteY7" fmla="*/ 121763 h 600884"/>
                  <a:gd name="connsiteX8" fmla="*/ 121763 h 600884"/>
                  <a:gd name="connsiteY8" fmla="*/ 121763 h 600884"/>
                  <a:gd name="connsiteX9" fmla="*/ 121763 h 600884"/>
                  <a:gd name="connsiteY9" fmla="*/ 121763 h 600884"/>
                  <a:gd name="connsiteX10" fmla="*/ 121763 h 600884"/>
                  <a:gd name="connsiteY10" fmla="*/ 121763 h 600884"/>
                  <a:gd name="connsiteX11" fmla="*/ 121763 h 600884"/>
                  <a:gd name="connsiteY11" fmla="*/ 121763 h 600884"/>
                  <a:gd name="connsiteX12" fmla="*/ 121763 h 600884"/>
                  <a:gd name="connsiteY12" fmla="*/ 121763 h 600884"/>
                  <a:gd name="connsiteX13" fmla="*/ 121763 h 600884"/>
                  <a:gd name="connsiteY13" fmla="*/ 121763 h 600884"/>
                  <a:gd name="connsiteX14" fmla="*/ 121763 h 600884"/>
                  <a:gd name="connsiteY14" fmla="*/ 121763 h 600884"/>
                  <a:gd name="connsiteX15" fmla="*/ 121763 h 600884"/>
                  <a:gd name="connsiteY15" fmla="*/ 121763 h 600884"/>
                  <a:gd name="connsiteX16" fmla="*/ 121763 h 600884"/>
                  <a:gd name="connsiteY16" fmla="*/ 121763 h 600884"/>
                  <a:gd name="connsiteX17" fmla="*/ 121763 h 600884"/>
                  <a:gd name="connsiteY17" fmla="*/ 121763 h 600884"/>
                  <a:gd name="connsiteX18" fmla="*/ 121763 h 600884"/>
                  <a:gd name="connsiteY18" fmla="*/ 121763 h 600884"/>
                  <a:gd name="connsiteX19" fmla="*/ 121763 h 600884"/>
                  <a:gd name="connsiteY19" fmla="*/ 121763 h 600884"/>
                  <a:gd name="connsiteX20" fmla="*/ 121763 h 600884"/>
                  <a:gd name="connsiteY20" fmla="*/ 121763 h 600884"/>
                  <a:gd name="connsiteX21" fmla="*/ 121763 h 600884"/>
                  <a:gd name="connsiteY21" fmla="*/ 121763 h 600884"/>
                  <a:gd name="connsiteX22" fmla="*/ 121763 h 600884"/>
                  <a:gd name="connsiteY22" fmla="*/ 121763 h 600884"/>
                  <a:gd name="connsiteX23" fmla="*/ 121763 h 600884"/>
                  <a:gd name="connsiteY23" fmla="*/ 121763 h 600884"/>
                  <a:gd name="connsiteX24" fmla="*/ 121763 h 600884"/>
                  <a:gd name="connsiteY24" fmla="*/ 121763 h 600884"/>
                  <a:gd name="connsiteX25" fmla="*/ 121763 h 600884"/>
                  <a:gd name="connsiteY25" fmla="*/ 121763 h 600884"/>
                  <a:gd name="connsiteX26" fmla="*/ 121763 h 600884"/>
                  <a:gd name="connsiteY26" fmla="*/ 121763 h 600884"/>
                  <a:gd name="connsiteX27" fmla="*/ 121763 h 600884"/>
                  <a:gd name="connsiteY27" fmla="*/ 121763 h 600884"/>
                  <a:gd name="connsiteX28" fmla="*/ 121763 h 600884"/>
                  <a:gd name="connsiteY28" fmla="*/ 121763 h 600884"/>
                  <a:gd name="connsiteX29" fmla="*/ 121763 h 600884"/>
                  <a:gd name="connsiteY29" fmla="*/ 121763 h 600884"/>
                  <a:gd name="connsiteX30" fmla="*/ 121763 h 600884"/>
                  <a:gd name="connsiteY30" fmla="*/ 121763 h 600884"/>
                  <a:gd name="connsiteX31" fmla="*/ 121763 h 600884"/>
                  <a:gd name="connsiteY31" fmla="*/ 121763 h 600884"/>
                  <a:gd name="connsiteX32" fmla="*/ 121763 h 600884"/>
                  <a:gd name="connsiteY32" fmla="*/ 121763 h 600884"/>
                  <a:gd name="connsiteX33" fmla="*/ 121763 h 600884"/>
                  <a:gd name="connsiteY33" fmla="*/ 121763 h 600884"/>
                  <a:gd name="connsiteX34" fmla="*/ 121763 h 600884"/>
                  <a:gd name="connsiteY34" fmla="*/ 121763 h 600884"/>
                  <a:gd name="connsiteX35" fmla="*/ 121763 h 600884"/>
                  <a:gd name="connsiteY35" fmla="*/ 121763 h 600884"/>
                  <a:gd name="connsiteX36" fmla="*/ 121763 h 600884"/>
                  <a:gd name="connsiteY36" fmla="*/ 121763 h 600884"/>
                  <a:gd name="connsiteX37" fmla="*/ 121763 h 600884"/>
                  <a:gd name="connsiteY37" fmla="*/ 121763 h 600884"/>
                  <a:gd name="connsiteX38" fmla="*/ 121763 h 600884"/>
                  <a:gd name="connsiteY38" fmla="*/ 121763 h 600884"/>
                  <a:gd name="connsiteX39" fmla="*/ 121763 h 600884"/>
                  <a:gd name="connsiteY39" fmla="*/ 121763 h 600884"/>
                  <a:gd name="connsiteX40" fmla="*/ 121763 h 600884"/>
                  <a:gd name="connsiteY40" fmla="*/ 121763 h 600884"/>
                  <a:gd name="connsiteX41" fmla="*/ 121763 h 600884"/>
                  <a:gd name="connsiteY41" fmla="*/ 121763 h 600884"/>
                  <a:gd name="connsiteX42" fmla="*/ 121763 h 600884"/>
                  <a:gd name="connsiteY42" fmla="*/ 121763 h 600884"/>
                  <a:gd name="connsiteX43" fmla="*/ 121763 h 600884"/>
                  <a:gd name="connsiteY43" fmla="*/ 121763 h 600884"/>
                  <a:gd name="connsiteX44" fmla="*/ 121763 h 600884"/>
                  <a:gd name="connsiteY44" fmla="*/ 121763 h 600884"/>
                  <a:gd name="connsiteX45" fmla="*/ 121763 h 600884"/>
                  <a:gd name="connsiteY45" fmla="*/ 121763 h 600884"/>
                  <a:gd name="connsiteX46" fmla="*/ 121763 h 600884"/>
                  <a:gd name="connsiteY46" fmla="*/ 121763 h 600884"/>
                  <a:gd name="connsiteX47" fmla="*/ 121763 h 600884"/>
                  <a:gd name="connsiteY47" fmla="*/ 121763 h 600884"/>
                  <a:gd name="connsiteX48" fmla="*/ 121763 h 600884"/>
                  <a:gd name="connsiteY48" fmla="*/ 121763 h 600884"/>
                  <a:gd name="connsiteX49" fmla="*/ 121763 h 600884"/>
                  <a:gd name="connsiteY49" fmla="*/ 121763 h 600884"/>
                  <a:gd name="connsiteX50" fmla="*/ 121763 h 600884"/>
                  <a:gd name="connsiteY50" fmla="*/ 121763 h 600884"/>
                  <a:gd name="connsiteX51" fmla="*/ 121763 h 600884"/>
                  <a:gd name="connsiteY51" fmla="*/ 121763 h 600884"/>
                  <a:gd name="connsiteX52" fmla="*/ 121763 h 600884"/>
                  <a:gd name="connsiteY52" fmla="*/ 121763 h 600884"/>
                  <a:gd name="connsiteX53" fmla="*/ 121763 h 600884"/>
                  <a:gd name="connsiteY53" fmla="*/ 121763 h 600884"/>
                  <a:gd name="connsiteX54" fmla="*/ 121763 h 600884"/>
                  <a:gd name="connsiteY54" fmla="*/ 121763 h 600884"/>
                  <a:gd name="connsiteX55" fmla="*/ 121763 h 600884"/>
                  <a:gd name="connsiteY55" fmla="*/ 121763 h 600884"/>
                  <a:gd name="connsiteX56" fmla="*/ 121763 h 600884"/>
                  <a:gd name="connsiteY56" fmla="*/ 121763 h 600884"/>
                  <a:gd name="connsiteX57" fmla="*/ 121763 h 600884"/>
                  <a:gd name="connsiteY57" fmla="*/ 121763 h 600884"/>
                  <a:gd name="connsiteX58" fmla="*/ 121763 h 600884"/>
                  <a:gd name="connsiteY58" fmla="*/ 121763 h 600884"/>
                  <a:gd name="connsiteX59" fmla="*/ 121763 h 600884"/>
                  <a:gd name="connsiteY59" fmla="*/ 121763 h 600884"/>
                  <a:gd name="connsiteX60" fmla="*/ 121763 h 600884"/>
                  <a:gd name="connsiteY60" fmla="*/ 121763 h 600884"/>
                  <a:gd name="connsiteX61" fmla="*/ 121763 h 600884"/>
                  <a:gd name="connsiteY61" fmla="*/ 121763 h 600884"/>
                  <a:gd name="connsiteX62" fmla="*/ 121763 h 600884"/>
                  <a:gd name="connsiteY62" fmla="*/ 121763 h 600884"/>
                  <a:gd name="connsiteX63" fmla="*/ 121763 h 600884"/>
                  <a:gd name="connsiteY63" fmla="*/ 121763 h 600884"/>
                  <a:gd name="connsiteX64" fmla="*/ 121763 h 600884"/>
                  <a:gd name="connsiteY64" fmla="*/ 121763 h 600884"/>
                  <a:gd name="connsiteX65" fmla="*/ 121763 h 600884"/>
                  <a:gd name="connsiteY65" fmla="*/ 121763 h 600884"/>
                  <a:gd name="connsiteX66" fmla="*/ 121763 h 600884"/>
                  <a:gd name="connsiteY66" fmla="*/ 121763 h 600884"/>
                  <a:gd name="connsiteX67" fmla="*/ 121763 h 600884"/>
                  <a:gd name="connsiteY67" fmla="*/ 121763 h 600884"/>
                  <a:gd name="connsiteX68" fmla="*/ 121763 h 600884"/>
                  <a:gd name="connsiteY68" fmla="*/ 121763 h 600884"/>
                  <a:gd name="connsiteX69" fmla="*/ 121763 h 600884"/>
                  <a:gd name="connsiteY69" fmla="*/ 121763 h 600884"/>
                  <a:gd name="connsiteX70" fmla="*/ 121763 h 600884"/>
                  <a:gd name="connsiteY70" fmla="*/ 121763 h 600884"/>
                  <a:gd name="connsiteX71" fmla="*/ 121763 h 600884"/>
                  <a:gd name="connsiteY71" fmla="*/ 121763 h 600884"/>
                  <a:gd name="connsiteX72" fmla="*/ 121763 h 600884"/>
                  <a:gd name="connsiteY72" fmla="*/ 121763 h 600884"/>
                  <a:gd name="connsiteX73" fmla="*/ 121763 h 600884"/>
                  <a:gd name="connsiteY73" fmla="*/ 121763 h 600884"/>
                  <a:gd name="connsiteX74" fmla="*/ 121763 h 600884"/>
                  <a:gd name="connsiteY74" fmla="*/ 121763 h 600884"/>
                  <a:gd name="connsiteX75" fmla="*/ 121763 h 600884"/>
                  <a:gd name="connsiteY75" fmla="*/ 121763 h 600884"/>
                  <a:gd name="connsiteX76" fmla="*/ 121763 h 600884"/>
                  <a:gd name="connsiteY76" fmla="*/ 121763 h 600884"/>
                  <a:gd name="connsiteX77" fmla="*/ 121763 h 600884"/>
                  <a:gd name="connsiteY77" fmla="*/ 121763 h 600884"/>
                  <a:gd name="connsiteX78" fmla="*/ 121763 h 600884"/>
                  <a:gd name="connsiteY78" fmla="*/ 121763 h 600884"/>
                  <a:gd name="connsiteX79" fmla="*/ 121763 h 600884"/>
                  <a:gd name="connsiteY79" fmla="*/ 121763 h 600884"/>
                  <a:gd name="connsiteX80" fmla="*/ 121763 h 600884"/>
                  <a:gd name="connsiteY80" fmla="*/ 121763 h 600884"/>
                  <a:gd name="connsiteX81" fmla="*/ 121763 h 600884"/>
                  <a:gd name="connsiteY81" fmla="*/ 121763 h 600884"/>
                  <a:gd name="connsiteX82" fmla="*/ 121763 h 600884"/>
                  <a:gd name="connsiteY82" fmla="*/ 121763 h 600884"/>
                  <a:gd name="connsiteX83" fmla="*/ 121763 h 600884"/>
                  <a:gd name="connsiteY83" fmla="*/ 121763 h 60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38061" h="606651">
                    <a:moveTo>
                      <a:pt x="72469" y="461844"/>
                    </a:moveTo>
                    <a:lnTo>
                      <a:pt x="72469" y="576418"/>
                    </a:lnTo>
                    <a:lnTo>
                      <a:pt x="465592" y="576418"/>
                    </a:lnTo>
                    <a:lnTo>
                      <a:pt x="465592" y="461844"/>
                    </a:lnTo>
                    <a:close/>
                    <a:moveTo>
                      <a:pt x="244164" y="278381"/>
                    </a:moveTo>
                    <a:lnTo>
                      <a:pt x="244660" y="278381"/>
                    </a:lnTo>
                    <a:cubicBezTo>
                      <a:pt x="247307" y="288959"/>
                      <a:pt x="250451" y="302098"/>
                      <a:pt x="253677" y="312675"/>
                    </a:cubicBezTo>
                    <a:lnTo>
                      <a:pt x="264761" y="350358"/>
                    </a:lnTo>
                    <a:lnTo>
                      <a:pt x="225386" y="350358"/>
                    </a:lnTo>
                    <a:lnTo>
                      <a:pt x="235974" y="312675"/>
                    </a:lnTo>
                    <a:cubicBezTo>
                      <a:pt x="238870" y="302346"/>
                      <a:pt x="241517" y="288959"/>
                      <a:pt x="244164" y="278381"/>
                    </a:cubicBezTo>
                    <a:close/>
                    <a:moveTo>
                      <a:pt x="409354" y="276828"/>
                    </a:moveTo>
                    <a:cubicBezTo>
                      <a:pt x="427896" y="277076"/>
                      <a:pt x="438987" y="285255"/>
                      <a:pt x="438987" y="301613"/>
                    </a:cubicBezTo>
                    <a:cubicBezTo>
                      <a:pt x="438987" y="317145"/>
                      <a:pt x="427068" y="327141"/>
                      <a:pt x="406954" y="327141"/>
                    </a:cubicBezTo>
                    <a:lnTo>
                      <a:pt x="391144" y="327141"/>
                    </a:lnTo>
                    <a:lnTo>
                      <a:pt x="391144" y="278150"/>
                    </a:lnTo>
                    <a:cubicBezTo>
                      <a:pt x="394041" y="277654"/>
                      <a:pt x="399587" y="276828"/>
                      <a:pt x="409354" y="276828"/>
                    </a:cubicBezTo>
                    <a:close/>
                    <a:moveTo>
                      <a:pt x="219559" y="248311"/>
                    </a:moveTo>
                    <a:lnTo>
                      <a:pt x="165207" y="425994"/>
                    </a:lnTo>
                    <a:lnTo>
                      <a:pt x="206902" y="425994"/>
                    </a:lnTo>
                    <a:lnTo>
                      <a:pt x="219559" y="380396"/>
                    </a:lnTo>
                    <a:lnTo>
                      <a:pt x="270520" y="380396"/>
                    </a:lnTo>
                    <a:lnTo>
                      <a:pt x="284253" y="425994"/>
                    </a:lnTo>
                    <a:lnTo>
                      <a:pt x="327519" y="425994"/>
                    </a:lnTo>
                    <a:lnTo>
                      <a:pt x="272340" y="248311"/>
                    </a:lnTo>
                    <a:close/>
                    <a:moveTo>
                      <a:pt x="104485" y="248311"/>
                    </a:moveTo>
                    <a:lnTo>
                      <a:pt x="104485" y="360075"/>
                    </a:lnTo>
                    <a:cubicBezTo>
                      <a:pt x="104485" y="387748"/>
                      <a:pt x="93896" y="395430"/>
                      <a:pt x="77019" y="395430"/>
                    </a:cubicBezTo>
                    <a:cubicBezTo>
                      <a:pt x="69077" y="395430"/>
                      <a:pt x="61963" y="394108"/>
                      <a:pt x="56420" y="392291"/>
                    </a:cubicBezTo>
                    <a:lnTo>
                      <a:pt x="51953" y="424672"/>
                    </a:lnTo>
                    <a:cubicBezTo>
                      <a:pt x="59895" y="427316"/>
                      <a:pt x="72056" y="428885"/>
                      <a:pt x="81238" y="428885"/>
                    </a:cubicBezTo>
                    <a:cubicBezTo>
                      <a:pt x="120286" y="428885"/>
                      <a:pt x="144608" y="411208"/>
                      <a:pt x="144608" y="360653"/>
                    </a:cubicBezTo>
                    <a:lnTo>
                      <a:pt x="144608" y="248311"/>
                    </a:lnTo>
                    <a:close/>
                    <a:moveTo>
                      <a:pt x="404870" y="246989"/>
                    </a:moveTo>
                    <a:cubicBezTo>
                      <a:pt x="383526" y="246989"/>
                      <a:pt x="364250" y="248641"/>
                      <a:pt x="351345" y="250706"/>
                    </a:cubicBezTo>
                    <a:lnTo>
                      <a:pt x="351345" y="425994"/>
                    </a:lnTo>
                    <a:lnTo>
                      <a:pt x="391137" y="425994"/>
                    </a:lnTo>
                    <a:lnTo>
                      <a:pt x="391137" y="356110"/>
                    </a:lnTo>
                    <a:lnTo>
                      <a:pt x="403298" y="356110"/>
                    </a:lnTo>
                    <a:cubicBezTo>
                      <a:pt x="419678" y="356441"/>
                      <a:pt x="427289" y="362471"/>
                      <a:pt x="432087" y="384609"/>
                    </a:cubicBezTo>
                    <a:cubicBezTo>
                      <a:pt x="437382" y="406499"/>
                      <a:pt x="441601" y="420955"/>
                      <a:pt x="444496" y="425994"/>
                    </a:cubicBezTo>
                    <a:lnTo>
                      <a:pt x="485612" y="425994"/>
                    </a:lnTo>
                    <a:cubicBezTo>
                      <a:pt x="482220" y="419138"/>
                      <a:pt x="476677" y="395926"/>
                      <a:pt x="471135" y="375935"/>
                    </a:cubicBezTo>
                    <a:cubicBezTo>
                      <a:pt x="466667" y="359580"/>
                      <a:pt x="459801" y="347684"/>
                      <a:pt x="447392" y="342728"/>
                    </a:cubicBezTo>
                    <a:lnTo>
                      <a:pt x="447392" y="341902"/>
                    </a:lnTo>
                    <a:cubicBezTo>
                      <a:pt x="462696" y="336368"/>
                      <a:pt x="478745" y="320838"/>
                      <a:pt x="478745" y="298121"/>
                    </a:cubicBezTo>
                    <a:cubicBezTo>
                      <a:pt x="478745" y="281848"/>
                      <a:pt x="472955" y="269457"/>
                      <a:pt x="462448" y="261032"/>
                    </a:cubicBezTo>
                    <a:cubicBezTo>
                      <a:pt x="449708" y="250954"/>
                      <a:pt x="431260" y="246989"/>
                      <a:pt x="404870" y="246989"/>
                    </a:cubicBezTo>
                    <a:close/>
                    <a:moveTo>
                      <a:pt x="72469" y="23790"/>
                    </a:moveTo>
                    <a:lnTo>
                      <a:pt x="72469" y="217003"/>
                    </a:lnTo>
                    <a:lnTo>
                      <a:pt x="465592" y="217003"/>
                    </a:lnTo>
                    <a:lnTo>
                      <a:pt x="465592" y="157445"/>
                    </a:lnTo>
                    <a:lnTo>
                      <a:pt x="360362" y="157445"/>
                    </a:lnTo>
                    <a:cubicBezTo>
                      <a:pt x="353744" y="157445"/>
                      <a:pt x="348449" y="152076"/>
                      <a:pt x="348449" y="145550"/>
                    </a:cubicBezTo>
                    <a:lnTo>
                      <a:pt x="348449" y="23790"/>
                    </a:lnTo>
                    <a:close/>
                    <a:moveTo>
                      <a:pt x="72469" y="0"/>
                    </a:moveTo>
                    <a:lnTo>
                      <a:pt x="360362" y="0"/>
                    </a:lnTo>
                    <a:cubicBezTo>
                      <a:pt x="361272" y="0"/>
                      <a:pt x="362182" y="165"/>
                      <a:pt x="363092" y="330"/>
                    </a:cubicBezTo>
                    <a:cubicBezTo>
                      <a:pt x="363340" y="413"/>
                      <a:pt x="363506" y="496"/>
                      <a:pt x="363754" y="578"/>
                    </a:cubicBezTo>
                    <a:cubicBezTo>
                      <a:pt x="364581" y="826"/>
                      <a:pt x="365326" y="1156"/>
                      <a:pt x="366070" y="1569"/>
                    </a:cubicBezTo>
                    <a:cubicBezTo>
                      <a:pt x="366319" y="1652"/>
                      <a:pt x="366567" y="1817"/>
                      <a:pt x="366898" y="1983"/>
                    </a:cubicBezTo>
                    <a:cubicBezTo>
                      <a:pt x="367725" y="2561"/>
                      <a:pt x="368552" y="3222"/>
                      <a:pt x="369214" y="3965"/>
                    </a:cubicBezTo>
                    <a:cubicBezTo>
                      <a:pt x="369214" y="4048"/>
                      <a:pt x="369297" y="4048"/>
                      <a:pt x="369297" y="4048"/>
                    </a:cubicBezTo>
                    <a:lnTo>
                      <a:pt x="486439" y="137703"/>
                    </a:lnTo>
                    <a:cubicBezTo>
                      <a:pt x="488342" y="139850"/>
                      <a:pt x="489252" y="142576"/>
                      <a:pt x="489252" y="145385"/>
                    </a:cubicBezTo>
                    <a:cubicBezTo>
                      <a:pt x="489335" y="145798"/>
                      <a:pt x="489417" y="146293"/>
                      <a:pt x="489417" y="146706"/>
                    </a:cubicBezTo>
                    <a:lnTo>
                      <a:pt x="489417" y="217003"/>
                    </a:lnTo>
                    <a:lnTo>
                      <a:pt x="503977" y="217003"/>
                    </a:lnTo>
                    <a:cubicBezTo>
                      <a:pt x="522839" y="217003"/>
                      <a:pt x="538061" y="232203"/>
                      <a:pt x="538061" y="251037"/>
                    </a:cubicBezTo>
                    <a:lnTo>
                      <a:pt x="538061" y="427811"/>
                    </a:lnTo>
                    <a:cubicBezTo>
                      <a:pt x="538061" y="446563"/>
                      <a:pt x="522839" y="461844"/>
                      <a:pt x="503977" y="461844"/>
                    </a:cubicBezTo>
                    <a:lnTo>
                      <a:pt x="489417" y="461844"/>
                    </a:lnTo>
                    <a:lnTo>
                      <a:pt x="489417" y="582861"/>
                    </a:lnTo>
                    <a:cubicBezTo>
                      <a:pt x="489417" y="595995"/>
                      <a:pt x="478745" y="606651"/>
                      <a:pt x="465592" y="606651"/>
                    </a:cubicBezTo>
                    <a:lnTo>
                      <a:pt x="72469" y="606651"/>
                    </a:lnTo>
                    <a:cubicBezTo>
                      <a:pt x="59316" y="606651"/>
                      <a:pt x="48644" y="595995"/>
                      <a:pt x="48644" y="582861"/>
                    </a:cubicBezTo>
                    <a:lnTo>
                      <a:pt x="48644" y="461844"/>
                    </a:lnTo>
                    <a:lnTo>
                      <a:pt x="34084" y="461844"/>
                    </a:lnTo>
                    <a:cubicBezTo>
                      <a:pt x="15222" y="461844"/>
                      <a:pt x="0" y="446563"/>
                      <a:pt x="0" y="427811"/>
                    </a:cubicBezTo>
                    <a:lnTo>
                      <a:pt x="0" y="250954"/>
                    </a:lnTo>
                    <a:cubicBezTo>
                      <a:pt x="0" y="232203"/>
                      <a:pt x="15222" y="217003"/>
                      <a:pt x="34084" y="217003"/>
                    </a:cubicBezTo>
                    <a:lnTo>
                      <a:pt x="48644" y="217003"/>
                    </a:lnTo>
                    <a:lnTo>
                      <a:pt x="48644" y="23790"/>
                    </a:lnTo>
                    <a:cubicBezTo>
                      <a:pt x="48644" y="10656"/>
                      <a:pt x="59316" y="0"/>
                      <a:pt x="72469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39E4FBF-7820-12A9-8614-87F3795B17D9}"/>
                </a:ext>
              </a:extLst>
            </p:cNvPr>
            <p:cNvSpPr/>
            <p:nvPr/>
          </p:nvSpPr>
          <p:spPr>
            <a:xfrm>
              <a:off x="1376249" y="1758321"/>
              <a:ext cx="1216418" cy="398136"/>
            </a:xfrm>
            <a:prstGeom prst="roundRect">
              <a:avLst>
                <a:gd name="adj" fmla="val 17286"/>
              </a:avLst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8A5FCF3-9CFB-F6BC-66D1-7F39C7670BF6}"/>
              </a:ext>
            </a:extLst>
          </p:cNvPr>
          <p:cNvCxnSpPr>
            <a:cxnSpLocks/>
          </p:cNvCxnSpPr>
          <p:nvPr/>
        </p:nvCxnSpPr>
        <p:spPr>
          <a:xfrm flipH="1">
            <a:off x="3078229" y="3121060"/>
            <a:ext cx="2348718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对角圆角 29">
            <a:extLst>
              <a:ext uri="{FF2B5EF4-FFF2-40B4-BE49-F238E27FC236}">
                <a16:creationId xmlns:a16="http://schemas.microsoft.com/office/drawing/2014/main" id="{F690598C-9569-70B8-0968-FF84706F8A7D}"/>
              </a:ext>
            </a:extLst>
          </p:cNvPr>
          <p:cNvSpPr/>
          <p:nvPr/>
        </p:nvSpPr>
        <p:spPr>
          <a:xfrm>
            <a:off x="746529" y="5409216"/>
            <a:ext cx="10534588" cy="1268112"/>
          </a:xfrm>
          <a:prstGeom prst="round2DiagRect">
            <a:avLst/>
          </a:prstGeom>
          <a:solidFill>
            <a:srgbClr val="92D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ctr"/>
          <a:lstStyle/>
          <a:p>
            <a:pPr>
              <a:lnSpc>
                <a:spcPct val="200000"/>
              </a:lnSpc>
            </a:pPr>
            <a:r>
              <a:rPr lang="zh-CN" altLang="en-US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项目版本：</a:t>
            </a:r>
            <a:endParaRPr lang="en-US" altLang="zh-CN" sz="1200" b="0" i="0">
              <a:solidFill>
                <a:schemeClr val="tx1">
                  <a:lumMod val="75000"/>
                  <a:lumOff val="25000"/>
                </a:schemeClr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RELEASE</a:t>
            </a:r>
            <a:r>
              <a:rPr lang="zh-CN" altLang="en-US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（发行版本）：功能趋于稳定、当前更新停止，可以用于发行的版本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，存储在私服中的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RELEASE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仓库中。</a:t>
            </a:r>
            <a:endParaRPr lang="en-US" altLang="zh-CN" sz="1200" b="0" i="0">
              <a:solidFill>
                <a:schemeClr val="tx1">
                  <a:lumMod val="75000"/>
                  <a:lumOff val="25000"/>
                </a:schemeClr>
              </a:solidFill>
              <a:effectLst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SNAPSHOT</a:t>
            </a:r>
            <a:r>
              <a:rPr lang="zh-CN" altLang="en-US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（快照版本）：功能不稳定、尚处于开发中的版本，即快照版本，存储在私服的</a:t>
            </a:r>
            <a:r>
              <a:rPr lang="en-US" altLang="zh-CN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SNAPSHOT</a:t>
            </a:r>
            <a:r>
              <a:rPr lang="zh-CN" altLang="en-US"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仓库中。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EB89E5F-2C17-1D6B-20DD-84E9886CCDF7}"/>
              </a:ext>
            </a:extLst>
          </p:cNvPr>
          <p:cNvSpPr txBox="1"/>
          <p:nvPr/>
        </p:nvSpPr>
        <p:spPr>
          <a:xfrm>
            <a:off x="3910157" y="2651143"/>
            <a:ext cx="779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C00000"/>
                </a:solidFill>
              </a:rPr>
              <a:t>install</a:t>
            </a:r>
            <a:endParaRPr lang="zh-CN" altLang="en-US" sz="1100" dirty="0">
              <a:solidFill>
                <a:srgbClr val="C0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0562AF-66E8-8391-C46B-BB08808E1EE0}"/>
              </a:ext>
            </a:extLst>
          </p:cNvPr>
          <p:cNvSpPr txBox="1"/>
          <p:nvPr/>
        </p:nvSpPr>
        <p:spPr>
          <a:xfrm>
            <a:off x="7124570" y="2659547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100">
                <a:solidFill>
                  <a:srgbClr val="C00000"/>
                </a:solidFill>
              </a:rPr>
              <a:t>deploy</a:t>
            </a:r>
            <a:endParaRPr lang="zh-CN" altLang="en-US" sz="1100" dirty="0">
              <a:solidFill>
                <a:srgbClr val="C0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68F39DC6-0D80-D1AE-D8AC-51D983B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126" y="4206877"/>
            <a:ext cx="2590998" cy="659214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9709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7" grpId="0"/>
      <p:bldP spid="18" grpId="0"/>
      <p:bldP spid="30" grpId="0" animBg="1"/>
      <p:bldP spid="31" grpId="0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资源上传与下载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917B5DB-5E9F-A536-6549-118B52AD7462}"/>
              </a:ext>
            </a:extLst>
          </p:cNvPr>
          <p:cNvSpPr txBox="1">
            <a:spLocks/>
          </p:cNvSpPr>
          <p:nvPr/>
        </p:nvSpPr>
        <p:spPr>
          <a:xfrm>
            <a:off x="624893" y="3228156"/>
            <a:ext cx="10698800" cy="444355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32000">
              <a:buNone/>
            </a:pPr>
            <a:r>
              <a:rPr lang="en-US" altLang="zh-CN">
                <a:sym typeface="Consolas" panose="020B0609020204030204" pitchFamily="49" charset="0"/>
              </a:rPr>
              <a:t>1.</a:t>
            </a:r>
            <a:r>
              <a:rPr lang="zh-CN" altLang="en-US">
                <a:sym typeface="Consolas" panose="020B0609020204030204" pitchFamily="49" charset="0"/>
              </a:rPr>
              <a:t>设置私服的访问用户名</a:t>
            </a:r>
            <a:r>
              <a:rPr lang="en-US" altLang="zh-CN">
                <a:sym typeface="Consolas" panose="020B0609020204030204" pitchFamily="49" charset="0"/>
              </a:rPr>
              <a:t>/</a:t>
            </a:r>
            <a:r>
              <a:rPr lang="zh-CN" altLang="en-US">
                <a:sym typeface="Consolas" panose="020B0609020204030204" pitchFamily="49" charset="0"/>
              </a:rPr>
              <a:t>密码（</a:t>
            </a:r>
            <a:r>
              <a:rPr lang="en-US" altLang="zh-CN">
                <a:sym typeface="Consolas" panose="020B0609020204030204" pitchFamily="49" charset="0"/>
              </a:rPr>
              <a:t>settings.xml</a:t>
            </a:r>
            <a:r>
              <a:rPr lang="zh-CN" altLang="en-US">
                <a:sym typeface="Consolas" panose="020B0609020204030204" pitchFamily="49" charset="0"/>
              </a:rPr>
              <a:t>中的</a:t>
            </a:r>
            <a:r>
              <a:rPr lang="en-US" altLang="zh-CN">
                <a:sym typeface="Consolas" panose="020B0609020204030204" pitchFamily="49" charset="0"/>
              </a:rPr>
              <a:t>servers</a:t>
            </a:r>
            <a:r>
              <a:rPr lang="zh-CN" altLang="en-US">
                <a:sym typeface="Consolas" panose="020B0609020204030204" pitchFamily="49" charset="0"/>
              </a:rPr>
              <a:t>中配置）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sym typeface="Consolas" panose="020B0609020204030204" pitchFamily="49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AEF2A2C-18BA-6BE9-015F-36CE7912794A}"/>
              </a:ext>
            </a:extLst>
          </p:cNvPr>
          <p:cNvCxnSpPr>
            <a:cxnSpLocks/>
          </p:cNvCxnSpPr>
          <p:nvPr/>
        </p:nvCxnSpPr>
        <p:spPr>
          <a:xfrm>
            <a:off x="2197952" y="1925529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9BAF51C4-0589-FC2F-6382-0C766A60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07" y="1643502"/>
            <a:ext cx="758946" cy="588551"/>
          </a:xfrm>
          <a:prstGeom prst="rect">
            <a:avLst/>
          </a:prstGeom>
        </p:spPr>
      </p:pic>
      <p:sp>
        <p:nvSpPr>
          <p:cNvPr id="7" name="圆柱体 6">
            <a:extLst>
              <a:ext uri="{FF2B5EF4-FFF2-40B4-BE49-F238E27FC236}">
                <a16:creationId xmlns:a16="http://schemas.microsoft.com/office/drawing/2014/main" id="{91D9201A-6AE2-C12B-D110-30C609FA9149}"/>
              </a:ext>
            </a:extLst>
          </p:cNvPr>
          <p:cNvSpPr/>
          <p:nvPr/>
        </p:nvSpPr>
        <p:spPr>
          <a:xfrm>
            <a:off x="3967223" y="1697472"/>
            <a:ext cx="605572" cy="588552"/>
          </a:xfrm>
          <a:prstGeom prst="can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Maven</a:t>
            </a:r>
          </a:p>
          <a:p>
            <a:pPr algn="ctr"/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本地仓库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41A5C41-447C-454C-DBD4-0F16EF8797B5}"/>
              </a:ext>
            </a:extLst>
          </p:cNvPr>
          <p:cNvCxnSpPr>
            <a:cxnSpLocks/>
          </p:cNvCxnSpPr>
          <p:nvPr/>
        </p:nvCxnSpPr>
        <p:spPr>
          <a:xfrm>
            <a:off x="4572795" y="1936854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54E668E-A52C-441B-496A-91E35D219F77}"/>
              </a:ext>
            </a:extLst>
          </p:cNvPr>
          <p:cNvCxnSpPr>
            <a:cxnSpLocks/>
          </p:cNvCxnSpPr>
          <p:nvPr/>
        </p:nvCxnSpPr>
        <p:spPr>
          <a:xfrm flipH="1">
            <a:off x="4572795" y="2056948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2DA2524-3E6D-E8CC-E724-7260E26D2FB6}"/>
              </a:ext>
            </a:extLst>
          </p:cNvPr>
          <p:cNvSpPr txBox="1"/>
          <p:nvPr/>
        </p:nvSpPr>
        <p:spPr>
          <a:xfrm>
            <a:off x="3563242" y="2342472"/>
            <a:ext cx="1469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连接私服的地址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AB3332-2C0E-CA0C-8B4D-1A1DD4D8A4F0}"/>
              </a:ext>
            </a:extLst>
          </p:cNvPr>
          <p:cNvSpPr txBox="1"/>
          <p:nvPr/>
        </p:nvSpPr>
        <p:spPr>
          <a:xfrm>
            <a:off x="3579036" y="1435292"/>
            <a:ext cx="15382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访问私服的用户名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密码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511BE0-3C73-7A8D-C02B-89BB18C321F5}"/>
              </a:ext>
            </a:extLst>
          </p:cNvPr>
          <p:cNvSpPr txBox="1"/>
          <p:nvPr/>
        </p:nvSpPr>
        <p:spPr>
          <a:xfrm>
            <a:off x="1189369" y="1435292"/>
            <a:ext cx="1830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上传资源的位置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71C1C74-E5AA-22C9-D922-45F06C5F8DD3}"/>
              </a:ext>
            </a:extLst>
          </p:cNvPr>
          <p:cNvGrpSpPr/>
          <p:nvPr/>
        </p:nvGrpSpPr>
        <p:grpSpPr>
          <a:xfrm>
            <a:off x="1374483" y="2271599"/>
            <a:ext cx="1016472" cy="252471"/>
            <a:chOff x="2427245" y="5592828"/>
            <a:chExt cx="1988311" cy="76857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2996E16-6874-BE65-9089-B45DE1BD5231}"/>
                </a:ext>
              </a:extLst>
            </p:cNvPr>
            <p:cNvGrpSpPr/>
            <p:nvPr/>
          </p:nvGrpSpPr>
          <p:grpSpPr>
            <a:xfrm>
              <a:off x="2472446" y="5662120"/>
              <a:ext cx="1943108" cy="699286"/>
              <a:chOff x="3963017" y="5996556"/>
              <a:chExt cx="2476521" cy="472007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70F6464F-BAE8-6BFC-B0AE-F84CA7CE59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3017" y="5996556"/>
                <a:ext cx="1049006" cy="435320"/>
              </a:xfrm>
              <a:prstGeom prst="rect">
                <a:avLst/>
              </a:prstGeom>
            </p:spPr>
          </p:pic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4CECD0-EE3F-9D17-3695-AF84784303EB}"/>
                  </a:ext>
                </a:extLst>
              </p:cNvPr>
              <p:cNvSpPr txBox="1"/>
              <p:nvPr/>
            </p:nvSpPr>
            <p:spPr>
              <a:xfrm>
                <a:off x="5012025" y="6120732"/>
                <a:ext cx="1427513" cy="34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5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tlias-utils</a:t>
                </a:r>
                <a:endParaRPr lang="zh-CN" altLang="en-US" sz="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5" name="矩形: 对角圆角 14">
              <a:extLst>
                <a:ext uri="{FF2B5EF4-FFF2-40B4-BE49-F238E27FC236}">
                  <a16:creationId xmlns:a16="http://schemas.microsoft.com/office/drawing/2014/main" id="{33FEF8A0-08FB-191E-94DF-43C1245A355D}"/>
                </a:ext>
              </a:extLst>
            </p:cNvPr>
            <p:cNvSpPr/>
            <p:nvPr/>
          </p:nvSpPr>
          <p:spPr>
            <a:xfrm>
              <a:off x="2427245" y="5592828"/>
              <a:ext cx="1988311" cy="768552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C91BDE7-1D1C-08B0-0F4C-E1FEECF543D0}"/>
              </a:ext>
            </a:extLst>
          </p:cNvPr>
          <p:cNvGrpSpPr/>
          <p:nvPr/>
        </p:nvGrpSpPr>
        <p:grpSpPr>
          <a:xfrm>
            <a:off x="746641" y="1865743"/>
            <a:ext cx="706055" cy="200269"/>
            <a:chOff x="1376249" y="1758321"/>
            <a:chExt cx="1131645" cy="41701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032AEF0-37BD-520F-88CD-CB306941C6A5}"/>
                </a:ext>
              </a:extLst>
            </p:cNvPr>
            <p:cNvGrpSpPr/>
            <p:nvPr/>
          </p:nvGrpSpPr>
          <p:grpSpPr>
            <a:xfrm>
              <a:off x="1430937" y="1784697"/>
              <a:ext cx="1076957" cy="390637"/>
              <a:chOff x="1432844" y="1780796"/>
              <a:chExt cx="1076957" cy="390637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54E4A0D-C039-3315-1E84-4AAC56088C37}"/>
                  </a:ext>
                </a:extLst>
              </p:cNvPr>
              <p:cNvSpPr txBox="1"/>
              <p:nvPr/>
            </p:nvSpPr>
            <p:spPr>
              <a:xfrm>
                <a:off x="1682546" y="1818952"/>
                <a:ext cx="827255" cy="352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5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 R"/>
                  </a:rPr>
                  <a:t>logback</a:t>
                </a:r>
                <a:endParaRPr lang="zh-CN" altLang="en-US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PuHuiTi R"/>
                </a:endParaRPr>
              </a:p>
            </p:txBody>
          </p:sp>
          <p:sp>
            <p:nvSpPr>
              <p:cNvPr id="22" name="jar-file-format-symbol_29604">
                <a:extLst>
                  <a:ext uri="{FF2B5EF4-FFF2-40B4-BE49-F238E27FC236}">
                    <a16:creationId xmlns:a16="http://schemas.microsoft.com/office/drawing/2014/main" id="{9519F66E-1E84-25E7-26F1-B8258C1EED8F}"/>
                  </a:ext>
                </a:extLst>
              </p:cNvPr>
              <p:cNvSpPr/>
              <p:nvPr/>
            </p:nvSpPr>
            <p:spPr>
              <a:xfrm>
                <a:off x="1432844" y="1780796"/>
                <a:ext cx="296028" cy="346797"/>
              </a:xfrm>
              <a:custGeom>
                <a:avLst/>
                <a:gdLst>
                  <a:gd name="connsiteX0" fmla="*/ 121763 h 600884"/>
                  <a:gd name="connsiteY0" fmla="*/ 121763 h 600884"/>
                  <a:gd name="connsiteX1" fmla="*/ 121763 h 600884"/>
                  <a:gd name="connsiteY1" fmla="*/ 121763 h 600884"/>
                  <a:gd name="connsiteX2" fmla="*/ 121763 h 600884"/>
                  <a:gd name="connsiteY2" fmla="*/ 121763 h 600884"/>
                  <a:gd name="connsiteX3" fmla="*/ 121763 h 600884"/>
                  <a:gd name="connsiteY3" fmla="*/ 121763 h 600884"/>
                  <a:gd name="connsiteX4" fmla="*/ 121763 h 600884"/>
                  <a:gd name="connsiteY4" fmla="*/ 121763 h 600884"/>
                  <a:gd name="connsiteX5" fmla="*/ 121763 h 600884"/>
                  <a:gd name="connsiteY5" fmla="*/ 121763 h 600884"/>
                  <a:gd name="connsiteX6" fmla="*/ 121763 h 600884"/>
                  <a:gd name="connsiteY6" fmla="*/ 121763 h 600884"/>
                  <a:gd name="connsiteX7" fmla="*/ 121763 h 600884"/>
                  <a:gd name="connsiteY7" fmla="*/ 121763 h 600884"/>
                  <a:gd name="connsiteX8" fmla="*/ 121763 h 600884"/>
                  <a:gd name="connsiteY8" fmla="*/ 121763 h 600884"/>
                  <a:gd name="connsiteX9" fmla="*/ 121763 h 600884"/>
                  <a:gd name="connsiteY9" fmla="*/ 121763 h 600884"/>
                  <a:gd name="connsiteX10" fmla="*/ 121763 h 600884"/>
                  <a:gd name="connsiteY10" fmla="*/ 121763 h 600884"/>
                  <a:gd name="connsiteX11" fmla="*/ 121763 h 600884"/>
                  <a:gd name="connsiteY11" fmla="*/ 121763 h 600884"/>
                  <a:gd name="connsiteX12" fmla="*/ 121763 h 600884"/>
                  <a:gd name="connsiteY12" fmla="*/ 121763 h 600884"/>
                  <a:gd name="connsiteX13" fmla="*/ 121763 h 600884"/>
                  <a:gd name="connsiteY13" fmla="*/ 121763 h 600884"/>
                  <a:gd name="connsiteX14" fmla="*/ 121763 h 600884"/>
                  <a:gd name="connsiteY14" fmla="*/ 121763 h 600884"/>
                  <a:gd name="connsiteX15" fmla="*/ 121763 h 600884"/>
                  <a:gd name="connsiteY15" fmla="*/ 121763 h 600884"/>
                  <a:gd name="connsiteX16" fmla="*/ 121763 h 600884"/>
                  <a:gd name="connsiteY16" fmla="*/ 121763 h 600884"/>
                  <a:gd name="connsiteX17" fmla="*/ 121763 h 600884"/>
                  <a:gd name="connsiteY17" fmla="*/ 121763 h 600884"/>
                  <a:gd name="connsiteX18" fmla="*/ 121763 h 600884"/>
                  <a:gd name="connsiteY18" fmla="*/ 121763 h 600884"/>
                  <a:gd name="connsiteX19" fmla="*/ 121763 h 600884"/>
                  <a:gd name="connsiteY19" fmla="*/ 121763 h 600884"/>
                  <a:gd name="connsiteX20" fmla="*/ 121763 h 600884"/>
                  <a:gd name="connsiteY20" fmla="*/ 121763 h 600884"/>
                  <a:gd name="connsiteX21" fmla="*/ 121763 h 600884"/>
                  <a:gd name="connsiteY21" fmla="*/ 121763 h 600884"/>
                  <a:gd name="connsiteX22" fmla="*/ 121763 h 600884"/>
                  <a:gd name="connsiteY22" fmla="*/ 121763 h 600884"/>
                  <a:gd name="connsiteX23" fmla="*/ 121763 h 600884"/>
                  <a:gd name="connsiteY23" fmla="*/ 121763 h 600884"/>
                  <a:gd name="connsiteX24" fmla="*/ 121763 h 600884"/>
                  <a:gd name="connsiteY24" fmla="*/ 121763 h 600884"/>
                  <a:gd name="connsiteX25" fmla="*/ 121763 h 600884"/>
                  <a:gd name="connsiteY25" fmla="*/ 121763 h 600884"/>
                  <a:gd name="connsiteX26" fmla="*/ 121763 h 600884"/>
                  <a:gd name="connsiteY26" fmla="*/ 121763 h 600884"/>
                  <a:gd name="connsiteX27" fmla="*/ 121763 h 600884"/>
                  <a:gd name="connsiteY27" fmla="*/ 121763 h 600884"/>
                  <a:gd name="connsiteX28" fmla="*/ 121763 h 600884"/>
                  <a:gd name="connsiteY28" fmla="*/ 121763 h 600884"/>
                  <a:gd name="connsiteX29" fmla="*/ 121763 h 600884"/>
                  <a:gd name="connsiteY29" fmla="*/ 121763 h 600884"/>
                  <a:gd name="connsiteX30" fmla="*/ 121763 h 600884"/>
                  <a:gd name="connsiteY30" fmla="*/ 121763 h 600884"/>
                  <a:gd name="connsiteX31" fmla="*/ 121763 h 600884"/>
                  <a:gd name="connsiteY31" fmla="*/ 121763 h 600884"/>
                  <a:gd name="connsiteX32" fmla="*/ 121763 h 600884"/>
                  <a:gd name="connsiteY32" fmla="*/ 121763 h 600884"/>
                  <a:gd name="connsiteX33" fmla="*/ 121763 h 600884"/>
                  <a:gd name="connsiteY33" fmla="*/ 121763 h 600884"/>
                  <a:gd name="connsiteX34" fmla="*/ 121763 h 600884"/>
                  <a:gd name="connsiteY34" fmla="*/ 121763 h 600884"/>
                  <a:gd name="connsiteX35" fmla="*/ 121763 h 600884"/>
                  <a:gd name="connsiteY35" fmla="*/ 121763 h 600884"/>
                  <a:gd name="connsiteX36" fmla="*/ 121763 h 600884"/>
                  <a:gd name="connsiteY36" fmla="*/ 121763 h 600884"/>
                  <a:gd name="connsiteX37" fmla="*/ 121763 h 600884"/>
                  <a:gd name="connsiteY37" fmla="*/ 121763 h 600884"/>
                  <a:gd name="connsiteX38" fmla="*/ 121763 h 600884"/>
                  <a:gd name="connsiteY38" fmla="*/ 121763 h 600884"/>
                  <a:gd name="connsiteX39" fmla="*/ 121763 h 600884"/>
                  <a:gd name="connsiteY39" fmla="*/ 121763 h 600884"/>
                  <a:gd name="connsiteX40" fmla="*/ 121763 h 600884"/>
                  <a:gd name="connsiteY40" fmla="*/ 121763 h 600884"/>
                  <a:gd name="connsiteX41" fmla="*/ 121763 h 600884"/>
                  <a:gd name="connsiteY41" fmla="*/ 121763 h 600884"/>
                  <a:gd name="connsiteX42" fmla="*/ 121763 h 600884"/>
                  <a:gd name="connsiteY42" fmla="*/ 121763 h 600884"/>
                  <a:gd name="connsiteX43" fmla="*/ 121763 h 600884"/>
                  <a:gd name="connsiteY43" fmla="*/ 121763 h 600884"/>
                  <a:gd name="connsiteX44" fmla="*/ 121763 h 600884"/>
                  <a:gd name="connsiteY44" fmla="*/ 121763 h 600884"/>
                  <a:gd name="connsiteX45" fmla="*/ 121763 h 600884"/>
                  <a:gd name="connsiteY45" fmla="*/ 121763 h 600884"/>
                  <a:gd name="connsiteX46" fmla="*/ 121763 h 600884"/>
                  <a:gd name="connsiteY46" fmla="*/ 121763 h 600884"/>
                  <a:gd name="connsiteX47" fmla="*/ 121763 h 600884"/>
                  <a:gd name="connsiteY47" fmla="*/ 121763 h 600884"/>
                  <a:gd name="connsiteX48" fmla="*/ 121763 h 600884"/>
                  <a:gd name="connsiteY48" fmla="*/ 121763 h 600884"/>
                  <a:gd name="connsiteX49" fmla="*/ 121763 h 600884"/>
                  <a:gd name="connsiteY49" fmla="*/ 121763 h 600884"/>
                  <a:gd name="connsiteX50" fmla="*/ 121763 h 600884"/>
                  <a:gd name="connsiteY50" fmla="*/ 121763 h 600884"/>
                  <a:gd name="connsiteX51" fmla="*/ 121763 h 600884"/>
                  <a:gd name="connsiteY51" fmla="*/ 121763 h 600884"/>
                  <a:gd name="connsiteX52" fmla="*/ 121763 h 600884"/>
                  <a:gd name="connsiteY52" fmla="*/ 121763 h 600884"/>
                  <a:gd name="connsiteX53" fmla="*/ 121763 h 600884"/>
                  <a:gd name="connsiteY53" fmla="*/ 121763 h 600884"/>
                  <a:gd name="connsiteX54" fmla="*/ 121763 h 600884"/>
                  <a:gd name="connsiteY54" fmla="*/ 121763 h 600884"/>
                  <a:gd name="connsiteX55" fmla="*/ 121763 h 600884"/>
                  <a:gd name="connsiteY55" fmla="*/ 121763 h 600884"/>
                  <a:gd name="connsiteX56" fmla="*/ 121763 h 600884"/>
                  <a:gd name="connsiteY56" fmla="*/ 121763 h 600884"/>
                  <a:gd name="connsiteX57" fmla="*/ 121763 h 600884"/>
                  <a:gd name="connsiteY57" fmla="*/ 121763 h 600884"/>
                  <a:gd name="connsiteX58" fmla="*/ 121763 h 600884"/>
                  <a:gd name="connsiteY58" fmla="*/ 121763 h 600884"/>
                  <a:gd name="connsiteX59" fmla="*/ 121763 h 600884"/>
                  <a:gd name="connsiteY59" fmla="*/ 121763 h 600884"/>
                  <a:gd name="connsiteX60" fmla="*/ 121763 h 600884"/>
                  <a:gd name="connsiteY60" fmla="*/ 121763 h 600884"/>
                  <a:gd name="connsiteX61" fmla="*/ 121763 h 600884"/>
                  <a:gd name="connsiteY61" fmla="*/ 121763 h 600884"/>
                  <a:gd name="connsiteX62" fmla="*/ 121763 h 600884"/>
                  <a:gd name="connsiteY62" fmla="*/ 121763 h 600884"/>
                  <a:gd name="connsiteX63" fmla="*/ 121763 h 600884"/>
                  <a:gd name="connsiteY63" fmla="*/ 121763 h 600884"/>
                  <a:gd name="connsiteX64" fmla="*/ 121763 h 600884"/>
                  <a:gd name="connsiteY64" fmla="*/ 121763 h 600884"/>
                  <a:gd name="connsiteX65" fmla="*/ 121763 h 600884"/>
                  <a:gd name="connsiteY65" fmla="*/ 121763 h 600884"/>
                  <a:gd name="connsiteX66" fmla="*/ 121763 h 600884"/>
                  <a:gd name="connsiteY66" fmla="*/ 121763 h 600884"/>
                  <a:gd name="connsiteX67" fmla="*/ 121763 h 600884"/>
                  <a:gd name="connsiteY67" fmla="*/ 121763 h 600884"/>
                  <a:gd name="connsiteX68" fmla="*/ 121763 h 600884"/>
                  <a:gd name="connsiteY68" fmla="*/ 121763 h 600884"/>
                  <a:gd name="connsiteX69" fmla="*/ 121763 h 600884"/>
                  <a:gd name="connsiteY69" fmla="*/ 121763 h 600884"/>
                  <a:gd name="connsiteX70" fmla="*/ 121763 h 600884"/>
                  <a:gd name="connsiteY70" fmla="*/ 121763 h 600884"/>
                  <a:gd name="connsiteX71" fmla="*/ 121763 h 600884"/>
                  <a:gd name="connsiteY71" fmla="*/ 121763 h 600884"/>
                  <a:gd name="connsiteX72" fmla="*/ 121763 h 600884"/>
                  <a:gd name="connsiteY72" fmla="*/ 121763 h 600884"/>
                  <a:gd name="connsiteX73" fmla="*/ 121763 h 600884"/>
                  <a:gd name="connsiteY73" fmla="*/ 121763 h 600884"/>
                  <a:gd name="connsiteX74" fmla="*/ 121763 h 600884"/>
                  <a:gd name="connsiteY74" fmla="*/ 121763 h 600884"/>
                  <a:gd name="connsiteX75" fmla="*/ 121763 h 600884"/>
                  <a:gd name="connsiteY75" fmla="*/ 121763 h 600884"/>
                  <a:gd name="connsiteX76" fmla="*/ 121763 h 600884"/>
                  <a:gd name="connsiteY76" fmla="*/ 121763 h 600884"/>
                  <a:gd name="connsiteX77" fmla="*/ 121763 h 600884"/>
                  <a:gd name="connsiteY77" fmla="*/ 121763 h 600884"/>
                  <a:gd name="connsiteX78" fmla="*/ 121763 h 600884"/>
                  <a:gd name="connsiteY78" fmla="*/ 121763 h 600884"/>
                  <a:gd name="connsiteX79" fmla="*/ 121763 h 600884"/>
                  <a:gd name="connsiteY79" fmla="*/ 121763 h 600884"/>
                  <a:gd name="connsiteX80" fmla="*/ 121763 h 600884"/>
                  <a:gd name="connsiteY80" fmla="*/ 121763 h 600884"/>
                  <a:gd name="connsiteX81" fmla="*/ 121763 h 600884"/>
                  <a:gd name="connsiteY81" fmla="*/ 121763 h 600884"/>
                  <a:gd name="connsiteX82" fmla="*/ 121763 h 600884"/>
                  <a:gd name="connsiteY82" fmla="*/ 121763 h 600884"/>
                  <a:gd name="connsiteX83" fmla="*/ 121763 h 600884"/>
                  <a:gd name="connsiteY83" fmla="*/ 121763 h 60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38061" h="606651">
                    <a:moveTo>
                      <a:pt x="72469" y="461844"/>
                    </a:moveTo>
                    <a:lnTo>
                      <a:pt x="72469" y="576418"/>
                    </a:lnTo>
                    <a:lnTo>
                      <a:pt x="465592" y="576418"/>
                    </a:lnTo>
                    <a:lnTo>
                      <a:pt x="465592" y="461844"/>
                    </a:lnTo>
                    <a:close/>
                    <a:moveTo>
                      <a:pt x="244164" y="278381"/>
                    </a:moveTo>
                    <a:lnTo>
                      <a:pt x="244660" y="278381"/>
                    </a:lnTo>
                    <a:cubicBezTo>
                      <a:pt x="247307" y="288959"/>
                      <a:pt x="250451" y="302098"/>
                      <a:pt x="253677" y="312675"/>
                    </a:cubicBezTo>
                    <a:lnTo>
                      <a:pt x="264761" y="350358"/>
                    </a:lnTo>
                    <a:lnTo>
                      <a:pt x="225386" y="350358"/>
                    </a:lnTo>
                    <a:lnTo>
                      <a:pt x="235974" y="312675"/>
                    </a:lnTo>
                    <a:cubicBezTo>
                      <a:pt x="238870" y="302346"/>
                      <a:pt x="241517" y="288959"/>
                      <a:pt x="244164" y="278381"/>
                    </a:cubicBezTo>
                    <a:close/>
                    <a:moveTo>
                      <a:pt x="409354" y="276828"/>
                    </a:moveTo>
                    <a:cubicBezTo>
                      <a:pt x="427896" y="277076"/>
                      <a:pt x="438987" y="285255"/>
                      <a:pt x="438987" y="301613"/>
                    </a:cubicBezTo>
                    <a:cubicBezTo>
                      <a:pt x="438987" y="317145"/>
                      <a:pt x="427068" y="327141"/>
                      <a:pt x="406954" y="327141"/>
                    </a:cubicBezTo>
                    <a:lnTo>
                      <a:pt x="391144" y="327141"/>
                    </a:lnTo>
                    <a:lnTo>
                      <a:pt x="391144" y="278150"/>
                    </a:lnTo>
                    <a:cubicBezTo>
                      <a:pt x="394041" y="277654"/>
                      <a:pt x="399587" y="276828"/>
                      <a:pt x="409354" y="276828"/>
                    </a:cubicBezTo>
                    <a:close/>
                    <a:moveTo>
                      <a:pt x="219559" y="248311"/>
                    </a:moveTo>
                    <a:lnTo>
                      <a:pt x="165207" y="425994"/>
                    </a:lnTo>
                    <a:lnTo>
                      <a:pt x="206902" y="425994"/>
                    </a:lnTo>
                    <a:lnTo>
                      <a:pt x="219559" y="380396"/>
                    </a:lnTo>
                    <a:lnTo>
                      <a:pt x="270520" y="380396"/>
                    </a:lnTo>
                    <a:lnTo>
                      <a:pt x="284253" y="425994"/>
                    </a:lnTo>
                    <a:lnTo>
                      <a:pt x="327519" y="425994"/>
                    </a:lnTo>
                    <a:lnTo>
                      <a:pt x="272340" y="248311"/>
                    </a:lnTo>
                    <a:close/>
                    <a:moveTo>
                      <a:pt x="104485" y="248311"/>
                    </a:moveTo>
                    <a:lnTo>
                      <a:pt x="104485" y="360075"/>
                    </a:lnTo>
                    <a:cubicBezTo>
                      <a:pt x="104485" y="387748"/>
                      <a:pt x="93896" y="395430"/>
                      <a:pt x="77019" y="395430"/>
                    </a:cubicBezTo>
                    <a:cubicBezTo>
                      <a:pt x="69077" y="395430"/>
                      <a:pt x="61963" y="394108"/>
                      <a:pt x="56420" y="392291"/>
                    </a:cubicBezTo>
                    <a:lnTo>
                      <a:pt x="51953" y="424672"/>
                    </a:lnTo>
                    <a:cubicBezTo>
                      <a:pt x="59895" y="427316"/>
                      <a:pt x="72056" y="428885"/>
                      <a:pt x="81238" y="428885"/>
                    </a:cubicBezTo>
                    <a:cubicBezTo>
                      <a:pt x="120286" y="428885"/>
                      <a:pt x="144608" y="411208"/>
                      <a:pt x="144608" y="360653"/>
                    </a:cubicBezTo>
                    <a:lnTo>
                      <a:pt x="144608" y="248311"/>
                    </a:lnTo>
                    <a:close/>
                    <a:moveTo>
                      <a:pt x="404870" y="246989"/>
                    </a:moveTo>
                    <a:cubicBezTo>
                      <a:pt x="383526" y="246989"/>
                      <a:pt x="364250" y="248641"/>
                      <a:pt x="351345" y="250706"/>
                    </a:cubicBezTo>
                    <a:lnTo>
                      <a:pt x="351345" y="425994"/>
                    </a:lnTo>
                    <a:lnTo>
                      <a:pt x="391137" y="425994"/>
                    </a:lnTo>
                    <a:lnTo>
                      <a:pt x="391137" y="356110"/>
                    </a:lnTo>
                    <a:lnTo>
                      <a:pt x="403298" y="356110"/>
                    </a:lnTo>
                    <a:cubicBezTo>
                      <a:pt x="419678" y="356441"/>
                      <a:pt x="427289" y="362471"/>
                      <a:pt x="432087" y="384609"/>
                    </a:cubicBezTo>
                    <a:cubicBezTo>
                      <a:pt x="437382" y="406499"/>
                      <a:pt x="441601" y="420955"/>
                      <a:pt x="444496" y="425994"/>
                    </a:cubicBezTo>
                    <a:lnTo>
                      <a:pt x="485612" y="425994"/>
                    </a:lnTo>
                    <a:cubicBezTo>
                      <a:pt x="482220" y="419138"/>
                      <a:pt x="476677" y="395926"/>
                      <a:pt x="471135" y="375935"/>
                    </a:cubicBezTo>
                    <a:cubicBezTo>
                      <a:pt x="466667" y="359580"/>
                      <a:pt x="459801" y="347684"/>
                      <a:pt x="447392" y="342728"/>
                    </a:cubicBezTo>
                    <a:lnTo>
                      <a:pt x="447392" y="341902"/>
                    </a:lnTo>
                    <a:cubicBezTo>
                      <a:pt x="462696" y="336368"/>
                      <a:pt x="478745" y="320838"/>
                      <a:pt x="478745" y="298121"/>
                    </a:cubicBezTo>
                    <a:cubicBezTo>
                      <a:pt x="478745" y="281848"/>
                      <a:pt x="472955" y="269457"/>
                      <a:pt x="462448" y="261032"/>
                    </a:cubicBezTo>
                    <a:cubicBezTo>
                      <a:pt x="449708" y="250954"/>
                      <a:pt x="431260" y="246989"/>
                      <a:pt x="404870" y="246989"/>
                    </a:cubicBezTo>
                    <a:close/>
                    <a:moveTo>
                      <a:pt x="72469" y="23790"/>
                    </a:moveTo>
                    <a:lnTo>
                      <a:pt x="72469" y="217003"/>
                    </a:lnTo>
                    <a:lnTo>
                      <a:pt x="465592" y="217003"/>
                    </a:lnTo>
                    <a:lnTo>
                      <a:pt x="465592" y="157445"/>
                    </a:lnTo>
                    <a:lnTo>
                      <a:pt x="360362" y="157445"/>
                    </a:lnTo>
                    <a:cubicBezTo>
                      <a:pt x="353744" y="157445"/>
                      <a:pt x="348449" y="152076"/>
                      <a:pt x="348449" y="145550"/>
                    </a:cubicBezTo>
                    <a:lnTo>
                      <a:pt x="348449" y="23790"/>
                    </a:lnTo>
                    <a:close/>
                    <a:moveTo>
                      <a:pt x="72469" y="0"/>
                    </a:moveTo>
                    <a:lnTo>
                      <a:pt x="360362" y="0"/>
                    </a:lnTo>
                    <a:cubicBezTo>
                      <a:pt x="361272" y="0"/>
                      <a:pt x="362182" y="165"/>
                      <a:pt x="363092" y="330"/>
                    </a:cubicBezTo>
                    <a:cubicBezTo>
                      <a:pt x="363340" y="413"/>
                      <a:pt x="363506" y="496"/>
                      <a:pt x="363754" y="578"/>
                    </a:cubicBezTo>
                    <a:cubicBezTo>
                      <a:pt x="364581" y="826"/>
                      <a:pt x="365326" y="1156"/>
                      <a:pt x="366070" y="1569"/>
                    </a:cubicBezTo>
                    <a:cubicBezTo>
                      <a:pt x="366319" y="1652"/>
                      <a:pt x="366567" y="1817"/>
                      <a:pt x="366898" y="1983"/>
                    </a:cubicBezTo>
                    <a:cubicBezTo>
                      <a:pt x="367725" y="2561"/>
                      <a:pt x="368552" y="3222"/>
                      <a:pt x="369214" y="3965"/>
                    </a:cubicBezTo>
                    <a:cubicBezTo>
                      <a:pt x="369214" y="4048"/>
                      <a:pt x="369297" y="4048"/>
                      <a:pt x="369297" y="4048"/>
                    </a:cubicBezTo>
                    <a:lnTo>
                      <a:pt x="486439" y="137703"/>
                    </a:lnTo>
                    <a:cubicBezTo>
                      <a:pt x="488342" y="139850"/>
                      <a:pt x="489252" y="142576"/>
                      <a:pt x="489252" y="145385"/>
                    </a:cubicBezTo>
                    <a:cubicBezTo>
                      <a:pt x="489335" y="145798"/>
                      <a:pt x="489417" y="146293"/>
                      <a:pt x="489417" y="146706"/>
                    </a:cubicBezTo>
                    <a:lnTo>
                      <a:pt x="489417" y="217003"/>
                    </a:lnTo>
                    <a:lnTo>
                      <a:pt x="503977" y="217003"/>
                    </a:lnTo>
                    <a:cubicBezTo>
                      <a:pt x="522839" y="217003"/>
                      <a:pt x="538061" y="232203"/>
                      <a:pt x="538061" y="251037"/>
                    </a:cubicBezTo>
                    <a:lnTo>
                      <a:pt x="538061" y="427811"/>
                    </a:lnTo>
                    <a:cubicBezTo>
                      <a:pt x="538061" y="446563"/>
                      <a:pt x="522839" y="461844"/>
                      <a:pt x="503977" y="461844"/>
                    </a:cubicBezTo>
                    <a:lnTo>
                      <a:pt x="489417" y="461844"/>
                    </a:lnTo>
                    <a:lnTo>
                      <a:pt x="489417" y="582861"/>
                    </a:lnTo>
                    <a:cubicBezTo>
                      <a:pt x="489417" y="595995"/>
                      <a:pt x="478745" y="606651"/>
                      <a:pt x="465592" y="606651"/>
                    </a:cubicBezTo>
                    <a:lnTo>
                      <a:pt x="72469" y="606651"/>
                    </a:lnTo>
                    <a:cubicBezTo>
                      <a:pt x="59316" y="606651"/>
                      <a:pt x="48644" y="595995"/>
                      <a:pt x="48644" y="582861"/>
                    </a:cubicBezTo>
                    <a:lnTo>
                      <a:pt x="48644" y="461844"/>
                    </a:lnTo>
                    <a:lnTo>
                      <a:pt x="34084" y="461844"/>
                    </a:lnTo>
                    <a:cubicBezTo>
                      <a:pt x="15222" y="461844"/>
                      <a:pt x="0" y="446563"/>
                      <a:pt x="0" y="427811"/>
                    </a:cubicBezTo>
                    <a:lnTo>
                      <a:pt x="0" y="250954"/>
                    </a:lnTo>
                    <a:cubicBezTo>
                      <a:pt x="0" y="232203"/>
                      <a:pt x="15222" y="217003"/>
                      <a:pt x="34084" y="217003"/>
                    </a:cubicBezTo>
                    <a:lnTo>
                      <a:pt x="48644" y="217003"/>
                    </a:lnTo>
                    <a:lnTo>
                      <a:pt x="48644" y="23790"/>
                    </a:lnTo>
                    <a:cubicBezTo>
                      <a:pt x="48644" y="10656"/>
                      <a:pt x="59316" y="0"/>
                      <a:pt x="72469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</p:grp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5D1E97C-9FEA-D1BB-E463-537A8F8242E1}"/>
                </a:ext>
              </a:extLst>
            </p:cNvPr>
            <p:cNvSpPr/>
            <p:nvPr/>
          </p:nvSpPr>
          <p:spPr>
            <a:xfrm>
              <a:off x="1376249" y="1758321"/>
              <a:ext cx="1034928" cy="398136"/>
            </a:xfrm>
            <a:prstGeom prst="roundRect">
              <a:avLst>
                <a:gd name="adj" fmla="val 34926"/>
              </a:avLst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96B777B-195E-8C45-A3CB-0AC2DBC53CCB}"/>
              </a:ext>
            </a:extLst>
          </p:cNvPr>
          <p:cNvCxnSpPr>
            <a:cxnSpLocks/>
          </p:cNvCxnSpPr>
          <p:nvPr/>
        </p:nvCxnSpPr>
        <p:spPr>
          <a:xfrm flipH="1">
            <a:off x="2197952" y="2044055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BA07937-94D3-036B-79ED-AAF3D65B42B0}"/>
              </a:ext>
            </a:extLst>
          </p:cNvPr>
          <p:cNvSpPr/>
          <p:nvPr/>
        </p:nvSpPr>
        <p:spPr>
          <a:xfrm>
            <a:off x="710880" y="1091114"/>
            <a:ext cx="7419975" cy="1807643"/>
          </a:xfrm>
          <a:prstGeom prst="roundRect">
            <a:avLst>
              <a:gd name="adj" fmla="val 4009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B05767B-D0BC-8A1B-2DD2-A44BDC3A56D5}"/>
              </a:ext>
            </a:extLst>
          </p:cNvPr>
          <p:cNvSpPr/>
          <p:nvPr/>
        </p:nvSpPr>
        <p:spPr>
          <a:xfrm>
            <a:off x="965460" y="3744497"/>
            <a:ext cx="7061359" cy="2551709"/>
          </a:xfrm>
          <a:prstGeom prst="roundRect">
            <a:avLst>
              <a:gd name="adj" fmla="val 338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&gt;maven-releases&lt;/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&gt;admin&lt;/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password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&gt;admin&lt;/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password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&gt;maven-snapshots&lt;/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&gt;admin&lt;/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username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password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&gt;admin&lt;/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password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zh-CN" altLang="zh-CN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48B8235-0BF8-817C-9214-E1481709E59F}"/>
              </a:ext>
            </a:extLst>
          </p:cNvPr>
          <p:cNvSpPr/>
          <p:nvPr/>
        </p:nvSpPr>
        <p:spPr>
          <a:xfrm>
            <a:off x="965460" y="4052327"/>
            <a:ext cx="7061359" cy="235410"/>
          </a:xfrm>
          <a:prstGeom prst="roundRect">
            <a:avLst>
              <a:gd name="adj" fmla="val 50000"/>
            </a:avLst>
          </a:prstGeom>
          <a:solidFill>
            <a:srgbClr val="FF0000">
              <a:alpha val="14118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0ED4FC6-E646-0C81-0CBF-8A051E523788}"/>
              </a:ext>
            </a:extLst>
          </p:cNvPr>
          <p:cNvSpPr/>
          <p:nvPr/>
        </p:nvSpPr>
        <p:spPr>
          <a:xfrm>
            <a:off x="965460" y="5292663"/>
            <a:ext cx="7061359" cy="235410"/>
          </a:xfrm>
          <a:prstGeom prst="roundRect">
            <a:avLst>
              <a:gd name="adj" fmla="val 50000"/>
            </a:avLst>
          </a:prstGeom>
          <a:solidFill>
            <a:srgbClr val="FF0000">
              <a:alpha val="14118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FF2D1E3-1C17-5725-2CC7-9FD7A437C637}"/>
              </a:ext>
            </a:extLst>
          </p:cNvPr>
          <p:cNvSpPr txBox="1"/>
          <p:nvPr/>
        </p:nvSpPr>
        <p:spPr>
          <a:xfrm>
            <a:off x="4117470" y="1190235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F7757F1-BB69-2215-C99A-E7E4BC06D934}"/>
              </a:ext>
            </a:extLst>
          </p:cNvPr>
          <p:cNvGrpSpPr/>
          <p:nvPr/>
        </p:nvGrpSpPr>
        <p:grpSpPr>
          <a:xfrm>
            <a:off x="6342066" y="1129557"/>
            <a:ext cx="1755212" cy="1703631"/>
            <a:chOff x="8602891" y="2437169"/>
            <a:chExt cx="2168499" cy="2559171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93EE163-75DE-1366-BE66-E1157E9F6CD7}"/>
                </a:ext>
              </a:extLst>
            </p:cNvPr>
            <p:cNvGrpSpPr/>
            <p:nvPr/>
          </p:nvGrpSpPr>
          <p:grpSpPr>
            <a:xfrm>
              <a:off x="8602891" y="2437169"/>
              <a:ext cx="2168499" cy="2559171"/>
              <a:chOff x="5275004" y="1972776"/>
              <a:chExt cx="2168499" cy="2559171"/>
            </a:xfrm>
          </p:grpSpPr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31D26A23-EC8A-68A3-2CBB-F821A2412D15}"/>
                  </a:ext>
                </a:extLst>
              </p:cNvPr>
              <p:cNvSpPr/>
              <p:nvPr/>
            </p:nvSpPr>
            <p:spPr>
              <a:xfrm>
                <a:off x="5275004" y="1972776"/>
                <a:ext cx="2168499" cy="2559171"/>
              </a:xfrm>
              <a:prstGeom prst="roundRect">
                <a:avLst>
                  <a:gd name="adj" fmla="val 4009"/>
                </a:avLst>
              </a:prstGeom>
              <a:solidFill>
                <a:srgbClr val="E46C0A">
                  <a:alpha val="14118"/>
                </a:srgbClr>
              </a:solidFill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05B9392-6D49-03F5-3899-EFEB6249865D}"/>
                  </a:ext>
                </a:extLst>
              </p:cNvPr>
              <p:cNvSpPr txBox="1"/>
              <p:nvPr/>
            </p:nvSpPr>
            <p:spPr>
              <a:xfrm>
                <a:off x="6106341" y="4081505"/>
                <a:ext cx="5679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私服</a:t>
                </a:r>
                <a:endParaRPr lang="zh-CN" altLang="en-US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31" name="圆柱体 30">
              <a:extLst>
                <a:ext uri="{FF2B5EF4-FFF2-40B4-BE49-F238E27FC236}">
                  <a16:creationId xmlns:a16="http://schemas.microsoft.com/office/drawing/2014/main" id="{4BA1A736-FCE9-A4CA-82BC-2C74BF508BA5}"/>
                </a:ext>
              </a:extLst>
            </p:cNvPr>
            <p:cNvSpPr/>
            <p:nvPr/>
          </p:nvSpPr>
          <p:spPr>
            <a:xfrm>
              <a:off x="9858895" y="2532838"/>
              <a:ext cx="692213" cy="897070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(snapshot)</a:t>
              </a:r>
              <a:endPara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2" name="圆柱体 31">
              <a:extLst>
                <a:ext uri="{FF2B5EF4-FFF2-40B4-BE49-F238E27FC236}">
                  <a16:creationId xmlns:a16="http://schemas.microsoft.com/office/drawing/2014/main" id="{99507B19-91F1-9775-D4D6-D80DDC4757EA}"/>
                </a:ext>
              </a:extLst>
            </p:cNvPr>
            <p:cNvSpPr/>
            <p:nvPr/>
          </p:nvSpPr>
          <p:spPr>
            <a:xfrm>
              <a:off x="8888681" y="2543846"/>
              <a:ext cx="692212" cy="89717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(release)</a:t>
              </a:r>
              <a:endPara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3" name="圆柱体 32">
              <a:extLst>
                <a:ext uri="{FF2B5EF4-FFF2-40B4-BE49-F238E27FC236}">
                  <a16:creationId xmlns:a16="http://schemas.microsoft.com/office/drawing/2014/main" id="{15519ED8-0F5F-EC63-DA88-CCF62ECAC660}"/>
                </a:ext>
              </a:extLst>
            </p:cNvPr>
            <p:cNvSpPr/>
            <p:nvPr/>
          </p:nvSpPr>
          <p:spPr>
            <a:xfrm>
              <a:off x="9276091" y="3487815"/>
              <a:ext cx="884255" cy="102709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(central)</a:t>
              </a:r>
              <a:endPara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822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资源上传与下载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FE97D12-FA87-999D-5A12-E0336DBC9222}"/>
              </a:ext>
            </a:extLst>
          </p:cNvPr>
          <p:cNvSpPr txBox="1">
            <a:spLocks/>
          </p:cNvSpPr>
          <p:nvPr/>
        </p:nvSpPr>
        <p:spPr>
          <a:xfrm>
            <a:off x="624893" y="3311574"/>
            <a:ext cx="10698800" cy="427867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32000">
              <a:buNone/>
            </a:pPr>
            <a:r>
              <a:rPr lang="en-US" altLang="zh-CN">
                <a:sym typeface="Consolas" panose="020B0609020204030204" pitchFamily="49" charset="0"/>
              </a:rPr>
              <a:t>2.IDEA</a:t>
            </a:r>
            <a:r>
              <a:rPr lang="zh-CN" altLang="en-US">
                <a:sym typeface="Consolas" panose="020B0609020204030204" pitchFamily="49" charset="0"/>
              </a:rPr>
              <a:t>的</a:t>
            </a:r>
            <a:r>
              <a:rPr lang="en-US" altLang="zh-CN">
                <a:sym typeface="Consolas" panose="020B0609020204030204" pitchFamily="49" charset="0"/>
              </a:rPr>
              <a:t>maven</a:t>
            </a:r>
            <a:r>
              <a:rPr lang="zh-CN" altLang="en-US">
                <a:sym typeface="Consolas" panose="020B0609020204030204" pitchFamily="49" charset="0"/>
              </a:rPr>
              <a:t>工程的</a:t>
            </a:r>
            <a:r>
              <a:rPr lang="en-US" altLang="zh-CN">
                <a:sym typeface="Consolas" panose="020B0609020204030204" pitchFamily="49" charset="0"/>
              </a:rPr>
              <a:t>pom</a:t>
            </a:r>
            <a:r>
              <a:rPr lang="zh-CN" altLang="en-US">
                <a:sym typeface="Consolas" panose="020B0609020204030204" pitchFamily="49" charset="0"/>
              </a:rPr>
              <a:t>文件中配置上传（发布）地址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sym typeface="Consolas" panose="020B0609020204030204" pitchFamily="49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E4F4022-C3E9-DFC6-1108-59A8E0BDA200}"/>
              </a:ext>
            </a:extLst>
          </p:cNvPr>
          <p:cNvSpPr/>
          <p:nvPr/>
        </p:nvSpPr>
        <p:spPr>
          <a:xfrm>
            <a:off x="959168" y="3811377"/>
            <a:ext cx="7061359" cy="2814013"/>
          </a:xfrm>
          <a:prstGeom prst="roundRect">
            <a:avLst>
              <a:gd name="adj" fmla="val 338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distributionManagement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&gt;maven-releases&lt;/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&gt;http://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192.168.150.101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:8081/repository/maven-releases/&lt;/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snapshotRepository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&gt;maven-snapshots&lt;/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&gt;http://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192.168.150.101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:8081/repository/maven-snapshots/&lt;/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snapshotRepository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distributionManagement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zh-CN" altLang="zh-CN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F30C884-63BD-CBF8-162E-2A2C0428946B}"/>
              </a:ext>
            </a:extLst>
          </p:cNvPr>
          <p:cNvSpPr/>
          <p:nvPr/>
        </p:nvSpPr>
        <p:spPr>
          <a:xfrm>
            <a:off x="959167" y="4238469"/>
            <a:ext cx="7061359" cy="983418"/>
          </a:xfrm>
          <a:prstGeom prst="roundRect">
            <a:avLst>
              <a:gd name="adj" fmla="val 4009"/>
            </a:avLst>
          </a:prstGeom>
          <a:solidFill>
            <a:srgbClr val="FF0000">
              <a:alpha val="14118"/>
            </a:srgbClr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A21166-D470-EB5D-CC91-5478BB617C42}"/>
              </a:ext>
            </a:extLst>
          </p:cNvPr>
          <p:cNvSpPr/>
          <p:nvPr/>
        </p:nvSpPr>
        <p:spPr>
          <a:xfrm>
            <a:off x="959167" y="5255715"/>
            <a:ext cx="7061359" cy="974107"/>
          </a:xfrm>
          <a:prstGeom prst="roundRect">
            <a:avLst>
              <a:gd name="adj" fmla="val 4009"/>
            </a:avLst>
          </a:prstGeom>
          <a:solidFill>
            <a:srgbClr val="00B050">
              <a:alpha val="14118"/>
            </a:srgbClr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8" name="矩形: 对角圆角 7">
            <a:extLst>
              <a:ext uri="{FF2B5EF4-FFF2-40B4-BE49-F238E27FC236}">
                <a16:creationId xmlns:a16="http://schemas.microsoft.com/office/drawing/2014/main" id="{FD5412C6-463B-88FD-72BD-AA6B5D08894F}"/>
              </a:ext>
            </a:extLst>
          </p:cNvPr>
          <p:cNvSpPr/>
          <p:nvPr/>
        </p:nvSpPr>
        <p:spPr>
          <a:xfrm>
            <a:off x="7372021" y="4485532"/>
            <a:ext cx="1404590" cy="427866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RELEASE </a:t>
            </a: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</a:t>
            </a:r>
          </a:p>
        </p:txBody>
      </p:sp>
      <p:sp>
        <p:nvSpPr>
          <p:cNvPr id="9" name="矩形: 对角圆角 8">
            <a:extLst>
              <a:ext uri="{FF2B5EF4-FFF2-40B4-BE49-F238E27FC236}">
                <a16:creationId xmlns:a16="http://schemas.microsoft.com/office/drawing/2014/main" id="{47BEE917-07A2-BD86-B3A7-DAA5884ACAEC}"/>
              </a:ext>
            </a:extLst>
          </p:cNvPr>
          <p:cNvSpPr/>
          <p:nvPr/>
        </p:nvSpPr>
        <p:spPr>
          <a:xfrm>
            <a:off x="7372022" y="5598032"/>
            <a:ext cx="1404590" cy="427866"/>
          </a:xfrm>
          <a:prstGeom prst="round2DiagRect">
            <a:avLst/>
          </a:prstGeom>
          <a:solidFill>
            <a:srgbClr val="B6DF89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SNAPSHOT </a:t>
            </a: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E0A17E0-FAE7-2433-4569-A820D2126948}"/>
              </a:ext>
            </a:extLst>
          </p:cNvPr>
          <p:cNvCxnSpPr>
            <a:cxnSpLocks/>
          </p:cNvCxnSpPr>
          <p:nvPr/>
        </p:nvCxnSpPr>
        <p:spPr>
          <a:xfrm>
            <a:off x="2197952" y="1925529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25A819BE-3774-8FCD-98C2-12E55D666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07" y="1643502"/>
            <a:ext cx="758946" cy="588551"/>
          </a:xfrm>
          <a:prstGeom prst="rect">
            <a:avLst/>
          </a:prstGeom>
        </p:spPr>
      </p:pic>
      <p:sp>
        <p:nvSpPr>
          <p:cNvPr id="40" name="圆柱体 39">
            <a:extLst>
              <a:ext uri="{FF2B5EF4-FFF2-40B4-BE49-F238E27FC236}">
                <a16:creationId xmlns:a16="http://schemas.microsoft.com/office/drawing/2014/main" id="{0BDF23A5-1F8E-2454-9979-CD0DA0021C5B}"/>
              </a:ext>
            </a:extLst>
          </p:cNvPr>
          <p:cNvSpPr/>
          <p:nvPr/>
        </p:nvSpPr>
        <p:spPr>
          <a:xfrm>
            <a:off x="3967223" y="1697472"/>
            <a:ext cx="605572" cy="588552"/>
          </a:xfrm>
          <a:prstGeom prst="can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Maven</a:t>
            </a:r>
          </a:p>
          <a:p>
            <a:pPr algn="ctr"/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本地仓库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40AD8C1-4627-B99C-E0B6-7F68D391E24E}"/>
              </a:ext>
            </a:extLst>
          </p:cNvPr>
          <p:cNvCxnSpPr>
            <a:cxnSpLocks/>
          </p:cNvCxnSpPr>
          <p:nvPr/>
        </p:nvCxnSpPr>
        <p:spPr>
          <a:xfrm>
            <a:off x="4572795" y="1936854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2C2DC18-3256-C49E-DBAA-ECC76C32A8A7}"/>
              </a:ext>
            </a:extLst>
          </p:cNvPr>
          <p:cNvCxnSpPr>
            <a:cxnSpLocks/>
          </p:cNvCxnSpPr>
          <p:nvPr/>
        </p:nvCxnSpPr>
        <p:spPr>
          <a:xfrm flipH="1">
            <a:off x="4572795" y="2056948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01E83A11-3F08-C3C4-F2EB-9445538451ED}"/>
              </a:ext>
            </a:extLst>
          </p:cNvPr>
          <p:cNvSpPr txBox="1"/>
          <p:nvPr/>
        </p:nvSpPr>
        <p:spPr>
          <a:xfrm>
            <a:off x="3563242" y="2342472"/>
            <a:ext cx="1469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连接私服的地址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E9A2505-6017-2F14-90E2-1DA6BC6D346D}"/>
              </a:ext>
            </a:extLst>
          </p:cNvPr>
          <p:cNvSpPr txBox="1"/>
          <p:nvPr/>
        </p:nvSpPr>
        <p:spPr>
          <a:xfrm>
            <a:off x="3579036" y="1435292"/>
            <a:ext cx="15382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访问私服的用户名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密码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057FDBE-518A-74B0-5F5B-0BF4FF197704}"/>
              </a:ext>
            </a:extLst>
          </p:cNvPr>
          <p:cNvSpPr txBox="1"/>
          <p:nvPr/>
        </p:nvSpPr>
        <p:spPr>
          <a:xfrm>
            <a:off x="1189369" y="1435292"/>
            <a:ext cx="1830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上传资源的位置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047380F-7766-E716-5E97-5A20469CFB28}"/>
              </a:ext>
            </a:extLst>
          </p:cNvPr>
          <p:cNvGrpSpPr/>
          <p:nvPr/>
        </p:nvGrpSpPr>
        <p:grpSpPr>
          <a:xfrm>
            <a:off x="1374483" y="2271599"/>
            <a:ext cx="1016472" cy="252471"/>
            <a:chOff x="2427245" y="5592828"/>
            <a:chExt cx="1988311" cy="768578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36581BE-7987-7968-E54B-5F900B8E0297}"/>
                </a:ext>
              </a:extLst>
            </p:cNvPr>
            <p:cNvGrpSpPr/>
            <p:nvPr/>
          </p:nvGrpSpPr>
          <p:grpSpPr>
            <a:xfrm>
              <a:off x="2472446" y="5662120"/>
              <a:ext cx="1943108" cy="699286"/>
              <a:chOff x="3963017" y="5996556"/>
              <a:chExt cx="2476521" cy="472007"/>
            </a:xfrm>
          </p:grpSpPr>
          <p:pic>
            <p:nvPicPr>
              <p:cNvPr id="49" name="图片 48">
                <a:extLst>
                  <a:ext uri="{FF2B5EF4-FFF2-40B4-BE49-F238E27FC236}">
                    <a16:creationId xmlns:a16="http://schemas.microsoft.com/office/drawing/2014/main" id="{1201DDA2-58C9-359F-7664-861C370EA3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3017" y="5996556"/>
                <a:ext cx="1049006" cy="435320"/>
              </a:xfrm>
              <a:prstGeom prst="rect">
                <a:avLst/>
              </a:prstGeom>
            </p:spPr>
          </p:pic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29E89476-34DE-AABB-3081-BC00886A7CCC}"/>
                  </a:ext>
                </a:extLst>
              </p:cNvPr>
              <p:cNvSpPr txBox="1"/>
              <p:nvPr/>
            </p:nvSpPr>
            <p:spPr>
              <a:xfrm>
                <a:off x="5012025" y="6120732"/>
                <a:ext cx="1427513" cy="34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5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tlias-utils</a:t>
                </a:r>
                <a:endParaRPr lang="zh-CN" altLang="en-US" sz="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48" name="矩形: 对角圆角 47">
              <a:extLst>
                <a:ext uri="{FF2B5EF4-FFF2-40B4-BE49-F238E27FC236}">
                  <a16:creationId xmlns:a16="http://schemas.microsoft.com/office/drawing/2014/main" id="{EF1CA9EC-4396-531E-68B3-2E9ECE5AFC59}"/>
                </a:ext>
              </a:extLst>
            </p:cNvPr>
            <p:cNvSpPr/>
            <p:nvPr/>
          </p:nvSpPr>
          <p:spPr>
            <a:xfrm>
              <a:off x="2427245" y="5592828"/>
              <a:ext cx="1988311" cy="768552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CED9170-F3EC-1D33-B805-BE4B22DDF762}"/>
              </a:ext>
            </a:extLst>
          </p:cNvPr>
          <p:cNvGrpSpPr/>
          <p:nvPr/>
        </p:nvGrpSpPr>
        <p:grpSpPr>
          <a:xfrm>
            <a:off x="746641" y="1865743"/>
            <a:ext cx="706055" cy="200269"/>
            <a:chOff x="1376249" y="1758321"/>
            <a:chExt cx="1131645" cy="417013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774F420A-B25A-7BCC-53B2-F12EAB522726}"/>
                </a:ext>
              </a:extLst>
            </p:cNvPr>
            <p:cNvGrpSpPr/>
            <p:nvPr/>
          </p:nvGrpSpPr>
          <p:grpSpPr>
            <a:xfrm>
              <a:off x="1430937" y="1784697"/>
              <a:ext cx="1076957" cy="390637"/>
              <a:chOff x="1432844" y="1780796"/>
              <a:chExt cx="1076957" cy="390637"/>
            </a:xfrm>
          </p:grpSpPr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289925BA-8E81-0870-1C57-4F778F49E5AA}"/>
                  </a:ext>
                </a:extLst>
              </p:cNvPr>
              <p:cNvSpPr txBox="1"/>
              <p:nvPr/>
            </p:nvSpPr>
            <p:spPr>
              <a:xfrm>
                <a:off x="1682546" y="1818952"/>
                <a:ext cx="827255" cy="352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5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 R"/>
                  </a:rPr>
                  <a:t>logback</a:t>
                </a:r>
                <a:endParaRPr lang="zh-CN" altLang="en-US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PuHuiTi R"/>
                </a:endParaRPr>
              </a:p>
            </p:txBody>
          </p:sp>
          <p:sp>
            <p:nvSpPr>
              <p:cNvPr id="55" name="jar-file-format-symbol_29604">
                <a:extLst>
                  <a:ext uri="{FF2B5EF4-FFF2-40B4-BE49-F238E27FC236}">
                    <a16:creationId xmlns:a16="http://schemas.microsoft.com/office/drawing/2014/main" id="{8F866730-9C47-D01F-F479-37400B51869F}"/>
                  </a:ext>
                </a:extLst>
              </p:cNvPr>
              <p:cNvSpPr/>
              <p:nvPr/>
            </p:nvSpPr>
            <p:spPr>
              <a:xfrm>
                <a:off x="1432844" y="1780796"/>
                <a:ext cx="296028" cy="346797"/>
              </a:xfrm>
              <a:custGeom>
                <a:avLst/>
                <a:gdLst>
                  <a:gd name="connsiteX0" fmla="*/ 121763 h 600884"/>
                  <a:gd name="connsiteY0" fmla="*/ 121763 h 600884"/>
                  <a:gd name="connsiteX1" fmla="*/ 121763 h 600884"/>
                  <a:gd name="connsiteY1" fmla="*/ 121763 h 600884"/>
                  <a:gd name="connsiteX2" fmla="*/ 121763 h 600884"/>
                  <a:gd name="connsiteY2" fmla="*/ 121763 h 600884"/>
                  <a:gd name="connsiteX3" fmla="*/ 121763 h 600884"/>
                  <a:gd name="connsiteY3" fmla="*/ 121763 h 600884"/>
                  <a:gd name="connsiteX4" fmla="*/ 121763 h 600884"/>
                  <a:gd name="connsiteY4" fmla="*/ 121763 h 600884"/>
                  <a:gd name="connsiteX5" fmla="*/ 121763 h 600884"/>
                  <a:gd name="connsiteY5" fmla="*/ 121763 h 600884"/>
                  <a:gd name="connsiteX6" fmla="*/ 121763 h 600884"/>
                  <a:gd name="connsiteY6" fmla="*/ 121763 h 600884"/>
                  <a:gd name="connsiteX7" fmla="*/ 121763 h 600884"/>
                  <a:gd name="connsiteY7" fmla="*/ 121763 h 600884"/>
                  <a:gd name="connsiteX8" fmla="*/ 121763 h 600884"/>
                  <a:gd name="connsiteY8" fmla="*/ 121763 h 600884"/>
                  <a:gd name="connsiteX9" fmla="*/ 121763 h 600884"/>
                  <a:gd name="connsiteY9" fmla="*/ 121763 h 600884"/>
                  <a:gd name="connsiteX10" fmla="*/ 121763 h 600884"/>
                  <a:gd name="connsiteY10" fmla="*/ 121763 h 600884"/>
                  <a:gd name="connsiteX11" fmla="*/ 121763 h 600884"/>
                  <a:gd name="connsiteY11" fmla="*/ 121763 h 600884"/>
                  <a:gd name="connsiteX12" fmla="*/ 121763 h 600884"/>
                  <a:gd name="connsiteY12" fmla="*/ 121763 h 600884"/>
                  <a:gd name="connsiteX13" fmla="*/ 121763 h 600884"/>
                  <a:gd name="connsiteY13" fmla="*/ 121763 h 600884"/>
                  <a:gd name="connsiteX14" fmla="*/ 121763 h 600884"/>
                  <a:gd name="connsiteY14" fmla="*/ 121763 h 600884"/>
                  <a:gd name="connsiteX15" fmla="*/ 121763 h 600884"/>
                  <a:gd name="connsiteY15" fmla="*/ 121763 h 600884"/>
                  <a:gd name="connsiteX16" fmla="*/ 121763 h 600884"/>
                  <a:gd name="connsiteY16" fmla="*/ 121763 h 600884"/>
                  <a:gd name="connsiteX17" fmla="*/ 121763 h 600884"/>
                  <a:gd name="connsiteY17" fmla="*/ 121763 h 600884"/>
                  <a:gd name="connsiteX18" fmla="*/ 121763 h 600884"/>
                  <a:gd name="connsiteY18" fmla="*/ 121763 h 600884"/>
                  <a:gd name="connsiteX19" fmla="*/ 121763 h 600884"/>
                  <a:gd name="connsiteY19" fmla="*/ 121763 h 600884"/>
                  <a:gd name="connsiteX20" fmla="*/ 121763 h 600884"/>
                  <a:gd name="connsiteY20" fmla="*/ 121763 h 600884"/>
                  <a:gd name="connsiteX21" fmla="*/ 121763 h 600884"/>
                  <a:gd name="connsiteY21" fmla="*/ 121763 h 600884"/>
                  <a:gd name="connsiteX22" fmla="*/ 121763 h 600884"/>
                  <a:gd name="connsiteY22" fmla="*/ 121763 h 600884"/>
                  <a:gd name="connsiteX23" fmla="*/ 121763 h 600884"/>
                  <a:gd name="connsiteY23" fmla="*/ 121763 h 600884"/>
                  <a:gd name="connsiteX24" fmla="*/ 121763 h 600884"/>
                  <a:gd name="connsiteY24" fmla="*/ 121763 h 600884"/>
                  <a:gd name="connsiteX25" fmla="*/ 121763 h 600884"/>
                  <a:gd name="connsiteY25" fmla="*/ 121763 h 600884"/>
                  <a:gd name="connsiteX26" fmla="*/ 121763 h 600884"/>
                  <a:gd name="connsiteY26" fmla="*/ 121763 h 600884"/>
                  <a:gd name="connsiteX27" fmla="*/ 121763 h 600884"/>
                  <a:gd name="connsiteY27" fmla="*/ 121763 h 600884"/>
                  <a:gd name="connsiteX28" fmla="*/ 121763 h 600884"/>
                  <a:gd name="connsiteY28" fmla="*/ 121763 h 600884"/>
                  <a:gd name="connsiteX29" fmla="*/ 121763 h 600884"/>
                  <a:gd name="connsiteY29" fmla="*/ 121763 h 600884"/>
                  <a:gd name="connsiteX30" fmla="*/ 121763 h 600884"/>
                  <a:gd name="connsiteY30" fmla="*/ 121763 h 600884"/>
                  <a:gd name="connsiteX31" fmla="*/ 121763 h 600884"/>
                  <a:gd name="connsiteY31" fmla="*/ 121763 h 600884"/>
                  <a:gd name="connsiteX32" fmla="*/ 121763 h 600884"/>
                  <a:gd name="connsiteY32" fmla="*/ 121763 h 600884"/>
                  <a:gd name="connsiteX33" fmla="*/ 121763 h 600884"/>
                  <a:gd name="connsiteY33" fmla="*/ 121763 h 600884"/>
                  <a:gd name="connsiteX34" fmla="*/ 121763 h 600884"/>
                  <a:gd name="connsiteY34" fmla="*/ 121763 h 600884"/>
                  <a:gd name="connsiteX35" fmla="*/ 121763 h 600884"/>
                  <a:gd name="connsiteY35" fmla="*/ 121763 h 600884"/>
                  <a:gd name="connsiteX36" fmla="*/ 121763 h 600884"/>
                  <a:gd name="connsiteY36" fmla="*/ 121763 h 600884"/>
                  <a:gd name="connsiteX37" fmla="*/ 121763 h 600884"/>
                  <a:gd name="connsiteY37" fmla="*/ 121763 h 600884"/>
                  <a:gd name="connsiteX38" fmla="*/ 121763 h 600884"/>
                  <a:gd name="connsiteY38" fmla="*/ 121763 h 600884"/>
                  <a:gd name="connsiteX39" fmla="*/ 121763 h 600884"/>
                  <a:gd name="connsiteY39" fmla="*/ 121763 h 600884"/>
                  <a:gd name="connsiteX40" fmla="*/ 121763 h 600884"/>
                  <a:gd name="connsiteY40" fmla="*/ 121763 h 600884"/>
                  <a:gd name="connsiteX41" fmla="*/ 121763 h 600884"/>
                  <a:gd name="connsiteY41" fmla="*/ 121763 h 600884"/>
                  <a:gd name="connsiteX42" fmla="*/ 121763 h 600884"/>
                  <a:gd name="connsiteY42" fmla="*/ 121763 h 600884"/>
                  <a:gd name="connsiteX43" fmla="*/ 121763 h 600884"/>
                  <a:gd name="connsiteY43" fmla="*/ 121763 h 600884"/>
                  <a:gd name="connsiteX44" fmla="*/ 121763 h 600884"/>
                  <a:gd name="connsiteY44" fmla="*/ 121763 h 600884"/>
                  <a:gd name="connsiteX45" fmla="*/ 121763 h 600884"/>
                  <a:gd name="connsiteY45" fmla="*/ 121763 h 600884"/>
                  <a:gd name="connsiteX46" fmla="*/ 121763 h 600884"/>
                  <a:gd name="connsiteY46" fmla="*/ 121763 h 600884"/>
                  <a:gd name="connsiteX47" fmla="*/ 121763 h 600884"/>
                  <a:gd name="connsiteY47" fmla="*/ 121763 h 600884"/>
                  <a:gd name="connsiteX48" fmla="*/ 121763 h 600884"/>
                  <a:gd name="connsiteY48" fmla="*/ 121763 h 600884"/>
                  <a:gd name="connsiteX49" fmla="*/ 121763 h 600884"/>
                  <a:gd name="connsiteY49" fmla="*/ 121763 h 600884"/>
                  <a:gd name="connsiteX50" fmla="*/ 121763 h 600884"/>
                  <a:gd name="connsiteY50" fmla="*/ 121763 h 600884"/>
                  <a:gd name="connsiteX51" fmla="*/ 121763 h 600884"/>
                  <a:gd name="connsiteY51" fmla="*/ 121763 h 600884"/>
                  <a:gd name="connsiteX52" fmla="*/ 121763 h 600884"/>
                  <a:gd name="connsiteY52" fmla="*/ 121763 h 600884"/>
                  <a:gd name="connsiteX53" fmla="*/ 121763 h 600884"/>
                  <a:gd name="connsiteY53" fmla="*/ 121763 h 600884"/>
                  <a:gd name="connsiteX54" fmla="*/ 121763 h 600884"/>
                  <a:gd name="connsiteY54" fmla="*/ 121763 h 600884"/>
                  <a:gd name="connsiteX55" fmla="*/ 121763 h 600884"/>
                  <a:gd name="connsiteY55" fmla="*/ 121763 h 600884"/>
                  <a:gd name="connsiteX56" fmla="*/ 121763 h 600884"/>
                  <a:gd name="connsiteY56" fmla="*/ 121763 h 600884"/>
                  <a:gd name="connsiteX57" fmla="*/ 121763 h 600884"/>
                  <a:gd name="connsiteY57" fmla="*/ 121763 h 600884"/>
                  <a:gd name="connsiteX58" fmla="*/ 121763 h 600884"/>
                  <a:gd name="connsiteY58" fmla="*/ 121763 h 600884"/>
                  <a:gd name="connsiteX59" fmla="*/ 121763 h 600884"/>
                  <a:gd name="connsiteY59" fmla="*/ 121763 h 600884"/>
                  <a:gd name="connsiteX60" fmla="*/ 121763 h 600884"/>
                  <a:gd name="connsiteY60" fmla="*/ 121763 h 600884"/>
                  <a:gd name="connsiteX61" fmla="*/ 121763 h 600884"/>
                  <a:gd name="connsiteY61" fmla="*/ 121763 h 600884"/>
                  <a:gd name="connsiteX62" fmla="*/ 121763 h 600884"/>
                  <a:gd name="connsiteY62" fmla="*/ 121763 h 600884"/>
                  <a:gd name="connsiteX63" fmla="*/ 121763 h 600884"/>
                  <a:gd name="connsiteY63" fmla="*/ 121763 h 600884"/>
                  <a:gd name="connsiteX64" fmla="*/ 121763 h 600884"/>
                  <a:gd name="connsiteY64" fmla="*/ 121763 h 600884"/>
                  <a:gd name="connsiteX65" fmla="*/ 121763 h 600884"/>
                  <a:gd name="connsiteY65" fmla="*/ 121763 h 600884"/>
                  <a:gd name="connsiteX66" fmla="*/ 121763 h 600884"/>
                  <a:gd name="connsiteY66" fmla="*/ 121763 h 600884"/>
                  <a:gd name="connsiteX67" fmla="*/ 121763 h 600884"/>
                  <a:gd name="connsiteY67" fmla="*/ 121763 h 600884"/>
                  <a:gd name="connsiteX68" fmla="*/ 121763 h 600884"/>
                  <a:gd name="connsiteY68" fmla="*/ 121763 h 600884"/>
                  <a:gd name="connsiteX69" fmla="*/ 121763 h 600884"/>
                  <a:gd name="connsiteY69" fmla="*/ 121763 h 600884"/>
                  <a:gd name="connsiteX70" fmla="*/ 121763 h 600884"/>
                  <a:gd name="connsiteY70" fmla="*/ 121763 h 600884"/>
                  <a:gd name="connsiteX71" fmla="*/ 121763 h 600884"/>
                  <a:gd name="connsiteY71" fmla="*/ 121763 h 600884"/>
                  <a:gd name="connsiteX72" fmla="*/ 121763 h 600884"/>
                  <a:gd name="connsiteY72" fmla="*/ 121763 h 600884"/>
                  <a:gd name="connsiteX73" fmla="*/ 121763 h 600884"/>
                  <a:gd name="connsiteY73" fmla="*/ 121763 h 600884"/>
                  <a:gd name="connsiteX74" fmla="*/ 121763 h 600884"/>
                  <a:gd name="connsiteY74" fmla="*/ 121763 h 600884"/>
                  <a:gd name="connsiteX75" fmla="*/ 121763 h 600884"/>
                  <a:gd name="connsiteY75" fmla="*/ 121763 h 600884"/>
                  <a:gd name="connsiteX76" fmla="*/ 121763 h 600884"/>
                  <a:gd name="connsiteY76" fmla="*/ 121763 h 600884"/>
                  <a:gd name="connsiteX77" fmla="*/ 121763 h 600884"/>
                  <a:gd name="connsiteY77" fmla="*/ 121763 h 600884"/>
                  <a:gd name="connsiteX78" fmla="*/ 121763 h 600884"/>
                  <a:gd name="connsiteY78" fmla="*/ 121763 h 600884"/>
                  <a:gd name="connsiteX79" fmla="*/ 121763 h 600884"/>
                  <a:gd name="connsiteY79" fmla="*/ 121763 h 600884"/>
                  <a:gd name="connsiteX80" fmla="*/ 121763 h 600884"/>
                  <a:gd name="connsiteY80" fmla="*/ 121763 h 600884"/>
                  <a:gd name="connsiteX81" fmla="*/ 121763 h 600884"/>
                  <a:gd name="connsiteY81" fmla="*/ 121763 h 600884"/>
                  <a:gd name="connsiteX82" fmla="*/ 121763 h 600884"/>
                  <a:gd name="connsiteY82" fmla="*/ 121763 h 600884"/>
                  <a:gd name="connsiteX83" fmla="*/ 121763 h 600884"/>
                  <a:gd name="connsiteY83" fmla="*/ 121763 h 60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38061" h="606651">
                    <a:moveTo>
                      <a:pt x="72469" y="461844"/>
                    </a:moveTo>
                    <a:lnTo>
                      <a:pt x="72469" y="576418"/>
                    </a:lnTo>
                    <a:lnTo>
                      <a:pt x="465592" y="576418"/>
                    </a:lnTo>
                    <a:lnTo>
                      <a:pt x="465592" y="461844"/>
                    </a:lnTo>
                    <a:close/>
                    <a:moveTo>
                      <a:pt x="244164" y="278381"/>
                    </a:moveTo>
                    <a:lnTo>
                      <a:pt x="244660" y="278381"/>
                    </a:lnTo>
                    <a:cubicBezTo>
                      <a:pt x="247307" y="288959"/>
                      <a:pt x="250451" y="302098"/>
                      <a:pt x="253677" y="312675"/>
                    </a:cubicBezTo>
                    <a:lnTo>
                      <a:pt x="264761" y="350358"/>
                    </a:lnTo>
                    <a:lnTo>
                      <a:pt x="225386" y="350358"/>
                    </a:lnTo>
                    <a:lnTo>
                      <a:pt x="235974" y="312675"/>
                    </a:lnTo>
                    <a:cubicBezTo>
                      <a:pt x="238870" y="302346"/>
                      <a:pt x="241517" y="288959"/>
                      <a:pt x="244164" y="278381"/>
                    </a:cubicBezTo>
                    <a:close/>
                    <a:moveTo>
                      <a:pt x="409354" y="276828"/>
                    </a:moveTo>
                    <a:cubicBezTo>
                      <a:pt x="427896" y="277076"/>
                      <a:pt x="438987" y="285255"/>
                      <a:pt x="438987" y="301613"/>
                    </a:cubicBezTo>
                    <a:cubicBezTo>
                      <a:pt x="438987" y="317145"/>
                      <a:pt x="427068" y="327141"/>
                      <a:pt x="406954" y="327141"/>
                    </a:cubicBezTo>
                    <a:lnTo>
                      <a:pt x="391144" y="327141"/>
                    </a:lnTo>
                    <a:lnTo>
                      <a:pt x="391144" y="278150"/>
                    </a:lnTo>
                    <a:cubicBezTo>
                      <a:pt x="394041" y="277654"/>
                      <a:pt x="399587" y="276828"/>
                      <a:pt x="409354" y="276828"/>
                    </a:cubicBezTo>
                    <a:close/>
                    <a:moveTo>
                      <a:pt x="219559" y="248311"/>
                    </a:moveTo>
                    <a:lnTo>
                      <a:pt x="165207" y="425994"/>
                    </a:lnTo>
                    <a:lnTo>
                      <a:pt x="206902" y="425994"/>
                    </a:lnTo>
                    <a:lnTo>
                      <a:pt x="219559" y="380396"/>
                    </a:lnTo>
                    <a:lnTo>
                      <a:pt x="270520" y="380396"/>
                    </a:lnTo>
                    <a:lnTo>
                      <a:pt x="284253" y="425994"/>
                    </a:lnTo>
                    <a:lnTo>
                      <a:pt x="327519" y="425994"/>
                    </a:lnTo>
                    <a:lnTo>
                      <a:pt x="272340" y="248311"/>
                    </a:lnTo>
                    <a:close/>
                    <a:moveTo>
                      <a:pt x="104485" y="248311"/>
                    </a:moveTo>
                    <a:lnTo>
                      <a:pt x="104485" y="360075"/>
                    </a:lnTo>
                    <a:cubicBezTo>
                      <a:pt x="104485" y="387748"/>
                      <a:pt x="93896" y="395430"/>
                      <a:pt x="77019" y="395430"/>
                    </a:cubicBezTo>
                    <a:cubicBezTo>
                      <a:pt x="69077" y="395430"/>
                      <a:pt x="61963" y="394108"/>
                      <a:pt x="56420" y="392291"/>
                    </a:cubicBezTo>
                    <a:lnTo>
                      <a:pt x="51953" y="424672"/>
                    </a:lnTo>
                    <a:cubicBezTo>
                      <a:pt x="59895" y="427316"/>
                      <a:pt x="72056" y="428885"/>
                      <a:pt x="81238" y="428885"/>
                    </a:cubicBezTo>
                    <a:cubicBezTo>
                      <a:pt x="120286" y="428885"/>
                      <a:pt x="144608" y="411208"/>
                      <a:pt x="144608" y="360653"/>
                    </a:cubicBezTo>
                    <a:lnTo>
                      <a:pt x="144608" y="248311"/>
                    </a:lnTo>
                    <a:close/>
                    <a:moveTo>
                      <a:pt x="404870" y="246989"/>
                    </a:moveTo>
                    <a:cubicBezTo>
                      <a:pt x="383526" y="246989"/>
                      <a:pt x="364250" y="248641"/>
                      <a:pt x="351345" y="250706"/>
                    </a:cubicBezTo>
                    <a:lnTo>
                      <a:pt x="351345" y="425994"/>
                    </a:lnTo>
                    <a:lnTo>
                      <a:pt x="391137" y="425994"/>
                    </a:lnTo>
                    <a:lnTo>
                      <a:pt x="391137" y="356110"/>
                    </a:lnTo>
                    <a:lnTo>
                      <a:pt x="403298" y="356110"/>
                    </a:lnTo>
                    <a:cubicBezTo>
                      <a:pt x="419678" y="356441"/>
                      <a:pt x="427289" y="362471"/>
                      <a:pt x="432087" y="384609"/>
                    </a:cubicBezTo>
                    <a:cubicBezTo>
                      <a:pt x="437382" y="406499"/>
                      <a:pt x="441601" y="420955"/>
                      <a:pt x="444496" y="425994"/>
                    </a:cubicBezTo>
                    <a:lnTo>
                      <a:pt x="485612" y="425994"/>
                    </a:lnTo>
                    <a:cubicBezTo>
                      <a:pt x="482220" y="419138"/>
                      <a:pt x="476677" y="395926"/>
                      <a:pt x="471135" y="375935"/>
                    </a:cubicBezTo>
                    <a:cubicBezTo>
                      <a:pt x="466667" y="359580"/>
                      <a:pt x="459801" y="347684"/>
                      <a:pt x="447392" y="342728"/>
                    </a:cubicBezTo>
                    <a:lnTo>
                      <a:pt x="447392" y="341902"/>
                    </a:lnTo>
                    <a:cubicBezTo>
                      <a:pt x="462696" y="336368"/>
                      <a:pt x="478745" y="320838"/>
                      <a:pt x="478745" y="298121"/>
                    </a:cubicBezTo>
                    <a:cubicBezTo>
                      <a:pt x="478745" y="281848"/>
                      <a:pt x="472955" y="269457"/>
                      <a:pt x="462448" y="261032"/>
                    </a:cubicBezTo>
                    <a:cubicBezTo>
                      <a:pt x="449708" y="250954"/>
                      <a:pt x="431260" y="246989"/>
                      <a:pt x="404870" y="246989"/>
                    </a:cubicBezTo>
                    <a:close/>
                    <a:moveTo>
                      <a:pt x="72469" y="23790"/>
                    </a:moveTo>
                    <a:lnTo>
                      <a:pt x="72469" y="217003"/>
                    </a:lnTo>
                    <a:lnTo>
                      <a:pt x="465592" y="217003"/>
                    </a:lnTo>
                    <a:lnTo>
                      <a:pt x="465592" y="157445"/>
                    </a:lnTo>
                    <a:lnTo>
                      <a:pt x="360362" y="157445"/>
                    </a:lnTo>
                    <a:cubicBezTo>
                      <a:pt x="353744" y="157445"/>
                      <a:pt x="348449" y="152076"/>
                      <a:pt x="348449" y="145550"/>
                    </a:cubicBezTo>
                    <a:lnTo>
                      <a:pt x="348449" y="23790"/>
                    </a:lnTo>
                    <a:close/>
                    <a:moveTo>
                      <a:pt x="72469" y="0"/>
                    </a:moveTo>
                    <a:lnTo>
                      <a:pt x="360362" y="0"/>
                    </a:lnTo>
                    <a:cubicBezTo>
                      <a:pt x="361272" y="0"/>
                      <a:pt x="362182" y="165"/>
                      <a:pt x="363092" y="330"/>
                    </a:cubicBezTo>
                    <a:cubicBezTo>
                      <a:pt x="363340" y="413"/>
                      <a:pt x="363506" y="496"/>
                      <a:pt x="363754" y="578"/>
                    </a:cubicBezTo>
                    <a:cubicBezTo>
                      <a:pt x="364581" y="826"/>
                      <a:pt x="365326" y="1156"/>
                      <a:pt x="366070" y="1569"/>
                    </a:cubicBezTo>
                    <a:cubicBezTo>
                      <a:pt x="366319" y="1652"/>
                      <a:pt x="366567" y="1817"/>
                      <a:pt x="366898" y="1983"/>
                    </a:cubicBezTo>
                    <a:cubicBezTo>
                      <a:pt x="367725" y="2561"/>
                      <a:pt x="368552" y="3222"/>
                      <a:pt x="369214" y="3965"/>
                    </a:cubicBezTo>
                    <a:cubicBezTo>
                      <a:pt x="369214" y="4048"/>
                      <a:pt x="369297" y="4048"/>
                      <a:pt x="369297" y="4048"/>
                    </a:cubicBezTo>
                    <a:lnTo>
                      <a:pt x="486439" y="137703"/>
                    </a:lnTo>
                    <a:cubicBezTo>
                      <a:pt x="488342" y="139850"/>
                      <a:pt x="489252" y="142576"/>
                      <a:pt x="489252" y="145385"/>
                    </a:cubicBezTo>
                    <a:cubicBezTo>
                      <a:pt x="489335" y="145798"/>
                      <a:pt x="489417" y="146293"/>
                      <a:pt x="489417" y="146706"/>
                    </a:cubicBezTo>
                    <a:lnTo>
                      <a:pt x="489417" y="217003"/>
                    </a:lnTo>
                    <a:lnTo>
                      <a:pt x="503977" y="217003"/>
                    </a:lnTo>
                    <a:cubicBezTo>
                      <a:pt x="522839" y="217003"/>
                      <a:pt x="538061" y="232203"/>
                      <a:pt x="538061" y="251037"/>
                    </a:cubicBezTo>
                    <a:lnTo>
                      <a:pt x="538061" y="427811"/>
                    </a:lnTo>
                    <a:cubicBezTo>
                      <a:pt x="538061" y="446563"/>
                      <a:pt x="522839" y="461844"/>
                      <a:pt x="503977" y="461844"/>
                    </a:cubicBezTo>
                    <a:lnTo>
                      <a:pt x="489417" y="461844"/>
                    </a:lnTo>
                    <a:lnTo>
                      <a:pt x="489417" y="582861"/>
                    </a:lnTo>
                    <a:cubicBezTo>
                      <a:pt x="489417" y="595995"/>
                      <a:pt x="478745" y="606651"/>
                      <a:pt x="465592" y="606651"/>
                    </a:cubicBezTo>
                    <a:lnTo>
                      <a:pt x="72469" y="606651"/>
                    </a:lnTo>
                    <a:cubicBezTo>
                      <a:pt x="59316" y="606651"/>
                      <a:pt x="48644" y="595995"/>
                      <a:pt x="48644" y="582861"/>
                    </a:cubicBezTo>
                    <a:lnTo>
                      <a:pt x="48644" y="461844"/>
                    </a:lnTo>
                    <a:lnTo>
                      <a:pt x="34084" y="461844"/>
                    </a:lnTo>
                    <a:cubicBezTo>
                      <a:pt x="15222" y="461844"/>
                      <a:pt x="0" y="446563"/>
                      <a:pt x="0" y="427811"/>
                    </a:cubicBezTo>
                    <a:lnTo>
                      <a:pt x="0" y="250954"/>
                    </a:lnTo>
                    <a:cubicBezTo>
                      <a:pt x="0" y="232203"/>
                      <a:pt x="15222" y="217003"/>
                      <a:pt x="34084" y="217003"/>
                    </a:cubicBezTo>
                    <a:lnTo>
                      <a:pt x="48644" y="217003"/>
                    </a:lnTo>
                    <a:lnTo>
                      <a:pt x="48644" y="23790"/>
                    </a:lnTo>
                    <a:cubicBezTo>
                      <a:pt x="48644" y="10656"/>
                      <a:pt x="59316" y="0"/>
                      <a:pt x="72469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</p:grp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A0700CC8-4AE0-52BE-FF04-7C7DE6EDCE56}"/>
                </a:ext>
              </a:extLst>
            </p:cNvPr>
            <p:cNvSpPr/>
            <p:nvPr/>
          </p:nvSpPr>
          <p:spPr>
            <a:xfrm>
              <a:off x="1376249" y="1758321"/>
              <a:ext cx="1034928" cy="398136"/>
            </a:xfrm>
            <a:prstGeom prst="roundRect">
              <a:avLst>
                <a:gd name="adj" fmla="val 34926"/>
              </a:avLst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</p:grp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448EDF4-19AD-AA49-5F1E-4667BD4C5D86}"/>
              </a:ext>
            </a:extLst>
          </p:cNvPr>
          <p:cNvCxnSpPr>
            <a:cxnSpLocks/>
          </p:cNvCxnSpPr>
          <p:nvPr/>
        </p:nvCxnSpPr>
        <p:spPr>
          <a:xfrm flipH="1">
            <a:off x="2197952" y="2044055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52F0257-0D44-7FC1-30DC-A8373378FDBB}"/>
              </a:ext>
            </a:extLst>
          </p:cNvPr>
          <p:cNvSpPr/>
          <p:nvPr/>
        </p:nvSpPr>
        <p:spPr>
          <a:xfrm>
            <a:off x="710880" y="1091114"/>
            <a:ext cx="7419975" cy="1807643"/>
          </a:xfrm>
          <a:prstGeom prst="roundRect">
            <a:avLst>
              <a:gd name="adj" fmla="val 4009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E7471D4-60C4-AD13-EB85-29E6CC340633}"/>
              </a:ext>
            </a:extLst>
          </p:cNvPr>
          <p:cNvSpPr txBox="1"/>
          <p:nvPr/>
        </p:nvSpPr>
        <p:spPr>
          <a:xfrm>
            <a:off x="1637862" y="1154992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6BB814D-42B8-7568-AD2A-4815E4D0B3C8}"/>
              </a:ext>
            </a:extLst>
          </p:cNvPr>
          <p:cNvGrpSpPr/>
          <p:nvPr/>
        </p:nvGrpSpPr>
        <p:grpSpPr>
          <a:xfrm>
            <a:off x="6342066" y="1129557"/>
            <a:ext cx="1755212" cy="1703631"/>
            <a:chOff x="8602891" y="2437169"/>
            <a:chExt cx="2168499" cy="2559171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BAC50DAB-E4C0-1EFC-6ED3-DF91F307BD4C}"/>
                </a:ext>
              </a:extLst>
            </p:cNvPr>
            <p:cNvGrpSpPr/>
            <p:nvPr/>
          </p:nvGrpSpPr>
          <p:grpSpPr>
            <a:xfrm>
              <a:off x="8602891" y="2437169"/>
              <a:ext cx="2168499" cy="2559171"/>
              <a:chOff x="5275004" y="1972776"/>
              <a:chExt cx="2168499" cy="2559171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D6228BC7-27FF-2E07-166E-D8B7AC9D9B25}"/>
                  </a:ext>
                </a:extLst>
              </p:cNvPr>
              <p:cNvSpPr/>
              <p:nvPr/>
            </p:nvSpPr>
            <p:spPr>
              <a:xfrm>
                <a:off x="5275004" y="1972776"/>
                <a:ext cx="2168499" cy="2559171"/>
              </a:xfrm>
              <a:prstGeom prst="roundRect">
                <a:avLst>
                  <a:gd name="adj" fmla="val 4009"/>
                </a:avLst>
              </a:prstGeom>
              <a:solidFill>
                <a:srgbClr val="E46C0A">
                  <a:alpha val="14118"/>
                </a:srgbClr>
              </a:solidFill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F923368-B4BB-15D3-BD22-EFF35355EB81}"/>
                  </a:ext>
                </a:extLst>
              </p:cNvPr>
              <p:cNvSpPr txBox="1"/>
              <p:nvPr/>
            </p:nvSpPr>
            <p:spPr>
              <a:xfrm>
                <a:off x="6106341" y="4081505"/>
                <a:ext cx="5679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私服</a:t>
                </a:r>
                <a:endParaRPr lang="zh-CN" altLang="en-US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61" name="圆柱体 60">
              <a:extLst>
                <a:ext uri="{FF2B5EF4-FFF2-40B4-BE49-F238E27FC236}">
                  <a16:creationId xmlns:a16="http://schemas.microsoft.com/office/drawing/2014/main" id="{F58FAE4E-622D-A97F-DD0F-A97CF56F0E65}"/>
                </a:ext>
              </a:extLst>
            </p:cNvPr>
            <p:cNvSpPr/>
            <p:nvPr/>
          </p:nvSpPr>
          <p:spPr>
            <a:xfrm>
              <a:off x="9858895" y="2532838"/>
              <a:ext cx="692213" cy="897070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(snapshot)</a:t>
              </a:r>
              <a:endPara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2" name="圆柱体 61">
              <a:extLst>
                <a:ext uri="{FF2B5EF4-FFF2-40B4-BE49-F238E27FC236}">
                  <a16:creationId xmlns:a16="http://schemas.microsoft.com/office/drawing/2014/main" id="{BBF541F2-92D9-9349-A19F-BC56E2010C6D}"/>
                </a:ext>
              </a:extLst>
            </p:cNvPr>
            <p:cNvSpPr/>
            <p:nvPr/>
          </p:nvSpPr>
          <p:spPr>
            <a:xfrm>
              <a:off x="8888681" y="2543846"/>
              <a:ext cx="692212" cy="89717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(release)</a:t>
              </a:r>
              <a:endPara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3" name="圆柱体 62">
              <a:extLst>
                <a:ext uri="{FF2B5EF4-FFF2-40B4-BE49-F238E27FC236}">
                  <a16:creationId xmlns:a16="http://schemas.microsoft.com/office/drawing/2014/main" id="{868624D2-5875-5218-77AC-106A1BEEE4F8}"/>
                </a:ext>
              </a:extLst>
            </p:cNvPr>
            <p:cNvSpPr/>
            <p:nvPr/>
          </p:nvSpPr>
          <p:spPr>
            <a:xfrm>
              <a:off x="9276091" y="3487815"/>
              <a:ext cx="884255" cy="102709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(central)</a:t>
              </a:r>
              <a:endPara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310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资源上传与下载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1BBD2F-6096-CC83-6163-3C4BB3A519CC}"/>
              </a:ext>
            </a:extLst>
          </p:cNvPr>
          <p:cNvSpPr txBox="1">
            <a:spLocks/>
          </p:cNvSpPr>
          <p:nvPr/>
        </p:nvSpPr>
        <p:spPr>
          <a:xfrm>
            <a:off x="624892" y="3194655"/>
            <a:ext cx="11154731" cy="444355"/>
          </a:xfrm>
          <a:prstGeom prst="rect">
            <a:avLst/>
          </a:prstGeom>
        </p:spPr>
        <p:txBody>
          <a:bodyPr anchor="t" anchorCtr="0"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32000"/>
            <a:r>
              <a:rPr lang="en-US" altLang="zh-CN" sz="1800">
                <a:solidFill>
                  <a:schemeClr val="tx1"/>
                </a:solidFill>
                <a:latin typeface="+mn-lt"/>
                <a:ea typeface="+mn-ea"/>
                <a:cs typeface="+mn-cs"/>
                <a:sym typeface="Consolas" panose="020B0609020204030204" pitchFamily="49" charset="0"/>
              </a:rPr>
              <a:t>3.</a:t>
            </a: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cs typeface="+mn-cs"/>
                <a:sym typeface="Consolas" panose="020B0609020204030204" pitchFamily="49" charset="0"/>
              </a:rPr>
              <a:t>设置私服依赖下载的仓库组地址（</a:t>
            </a:r>
            <a:r>
              <a:rPr lang="en-US" altLang="zh-CN" sz="1800">
                <a:solidFill>
                  <a:schemeClr val="tx1"/>
                </a:solidFill>
                <a:latin typeface="+mn-lt"/>
                <a:ea typeface="+mn-ea"/>
                <a:cs typeface="+mn-cs"/>
                <a:sym typeface="Consolas" panose="020B0609020204030204" pitchFamily="49" charset="0"/>
              </a:rPr>
              <a:t>settings.xml</a:t>
            </a:r>
            <a:r>
              <a:rPr lang="zh-CN" altLang="en-US" sz="1800">
                <a:solidFill>
                  <a:schemeClr val="tx1"/>
                </a:solidFill>
                <a:latin typeface="+mn-lt"/>
                <a:ea typeface="+mn-ea"/>
                <a:cs typeface="+mn-cs"/>
                <a:sym typeface="Consolas" panose="020B0609020204030204" pitchFamily="49" charset="0"/>
              </a:rPr>
              <a:t>中的</a:t>
            </a:r>
            <a:r>
              <a:rPr lang="en-US" altLang="zh-CN" sz="1800">
                <a:solidFill>
                  <a:schemeClr val="tx1"/>
                </a:solidFill>
                <a:latin typeface="+mn-lt"/>
                <a:ea typeface="+mn-ea"/>
                <a:cs typeface="+mn-cs"/>
                <a:sym typeface="Consolas" panose="020B0609020204030204" pitchFamily="49" charset="0"/>
              </a:rPr>
              <a:t>mirrors</a:t>
            </a:r>
            <a:r>
              <a:rPr lang="zh-CN" altLang="en-US">
                <a:latin typeface="+mn-lt"/>
                <a:sym typeface="Consolas" panose="020B0609020204030204" pitchFamily="49" charset="0"/>
              </a:rPr>
              <a:t>、</a:t>
            </a:r>
            <a:r>
              <a:rPr lang="en-US" altLang="zh-CN">
                <a:latin typeface="+mn-lt"/>
                <a:sym typeface="Consolas" panose="020B0609020204030204" pitchFamily="49" charset="0"/>
              </a:rPr>
              <a:t>profiles</a:t>
            </a:r>
            <a:r>
              <a:rPr lang="zh-CN" altLang="en-US">
                <a:latin typeface="+mn-lt"/>
                <a:sym typeface="Consolas" panose="020B0609020204030204" pitchFamily="49" charset="0"/>
              </a:rPr>
              <a:t>中配置）</a:t>
            </a:r>
            <a:endParaRPr lang="en-US" altLang="zh-CN" sz="1600" b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Consolas" panose="020B0609020204030204" pitchFamily="49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691DEAB-C465-720F-E7CD-0D0A8D9D2152}"/>
              </a:ext>
            </a:extLst>
          </p:cNvPr>
          <p:cNvSpPr/>
          <p:nvPr/>
        </p:nvSpPr>
        <p:spPr>
          <a:xfrm>
            <a:off x="965460" y="3881689"/>
            <a:ext cx="7061359" cy="1470255"/>
          </a:xfrm>
          <a:prstGeom prst="roundRect">
            <a:avLst>
              <a:gd name="adj" fmla="val 338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mirror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&gt;maven-public&lt;/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mirrorOf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&gt;*&lt;/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mirrorOf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&gt;http://</a:t>
            </a: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rPr>
              <a:t>192.168.150.101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:8081/repository/maven-public/&lt;/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mirror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zh-CN" altLang="zh-CN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7A2CAA5-0946-9AA2-9488-2E787C954B6A}"/>
              </a:ext>
            </a:extLst>
          </p:cNvPr>
          <p:cNvCxnSpPr>
            <a:cxnSpLocks/>
          </p:cNvCxnSpPr>
          <p:nvPr/>
        </p:nvCxnSpPr>
        <p:spPr>
          <a:xfrm>
            <a:off x="2197952" y="1925529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2B51A4CC-684A-0627-E846-6B0D6ADD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07" y="1643502"/>
            <a:ext cx="758946" cy="588551"/>
          </a:xfrm>
          <a:prstGeom prst="rect">
            <a:avLst/>
          </a:prstGeom>
        </p:spPr>
      </p:pic>
      <p:sp>
        <p:nvSpPr>
          <p:cNvPr id="37" name="圆柱体 36">
            <a:extLst>
              <a:ext uri="{FF2B5EF4-FFF2-40B4-BE49-F238E27FC236}">
                <a16:creationId xmlns:a16="http://schemas.microsoft.com/office/drawing/2014/main" id="{06980D26-3445-9592-C5DD-175686F2E21E}"/>
              </a:ext>
            </a:extLst>
          </p:cNvPr>
          <p:cNvSpPr/>
          <p:nvPr/>
        </p:nvSpPr>
        <p:spPr>
          <a:xfrm>
            <a:off x="3967223" y="1697472"/>
            <a:ext cx="605572" cy="588552"/>
          </a:xfrm>
          <a:prstGeom prst="can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9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Maven</a:t>
            </a:r>
          </a:p>
          <a:p>
            <a:pPr algn="ctr"/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本地仓库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E8A27FE-9438-4F19-9F4E-B7D0131DD05E}"/>
              </a:ext>
            </a:extLst>
          </p:cNvPr>
          <p:cNvCxnSpPr>
            <a:cxnSpLocks/>
          </p:cNvCxnSpPr>
          <p:nvPr/>
        </p:nvCxnSpPr>
        <p:spPr>
          <a:xfrm>
            <a:off x="4572795" y="1936854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BFEFBE2-8B97-CFB2-86E6-58869F5DFBC8}"/>
              </a:ext>
            </a:extLst>
          </p:cNvPr>
          <p:cNvCxnSpPr>
            <a:cxnSpLocks/>
          </p:cNvCxnSpPr>
          <p:nvPr/>
        </p:nvCxnSpPr>
        <p:spPr>
          <a:xfrm flipH="1">
            <a:off x="4572795" y="2056948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D9090BE-4C1A-B103-3814-B921652AD9D3}"/>
              </a:ext>
            </a:extLst>
          </p:cNvPr>
          <p:cNvSpPr txBox="1"/>
          <p:nvPr/>
        </p:nvSpPr>
        <p:spPr>
          <a:xfrm>
            <a:off x="3563242" y="2342472"/>
            <a:ext cx="1469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连接私服的地址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50ADCF8-E305-959E-1740-8FB700DFEA24}"/>
              </a:ext>
            </a:extLst>
          </p:cNvPr>
          <p:cNvSpPr txBox="1"/>
          <p:nvPr/>
        </p:nvSpPr>
        <p:spPr>
          <a:xfrm>
            <a:off x="3579036" y="1435292"/>
            <a:ext cx="15382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访问私服的用户名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密码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D99D823-3CDE-954B-A7CA-D6FA1E96A72B}"/>
              </a:ext>
            </a:extLst>
          </p:cNvPr>
          <p:cNvSpPr txBox="1"/>
          <p:nvPr/>
        </p:nvSpPr>
        <p:spPr>
          <a:xfrm>
            <a:off x="1189369" y="1435292"/>
            <a:ext cx="18309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上传资源的位置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(url</a:t>
            </a:r>
            <a:r>
              <a:rPr lang="zh-CN" altLang="en-US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</a:t>
            </a:r>
            <a:r>
              <a:rPr lang="en-US" altLang="zh-CN" sz="9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DF04753-DE27-844C-63A5-D48F2BB6A3F1}"/>
              </a:ext>
            </a:extLst>
          </p:cNvPr>
          <p:cNvGrpSpPr/>
          <p:nvPr/>
        </p:nvGrpSpPr>
        <p:grpSpPr>
          <a:xfrm>
            <a:off x="1374483" y="2271599"/>
            <a:ext cx="1016472" cy="252471"/>
            <a:chOff x="2427245" y="5592828"/>
            <a:chExt cx="1988311" cy="768578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C2C64396-7BB0-8852-BEDE-358B19A034DA}"/>
                </a:ext>
              </a:extLst>
            </p:cNvPr>
            <p:cNvGrpSpPr/>
            <p:nvPr/>
          </p:nvGrpSpPr>
          <p:grpSpPr>
            <a:xfrm>
              <a:off x="2472446" y="5662120"/>
              <a:ext cx="1943108" cy="699286"/>
              <a:chOff x="3963017" y="5996556"/>
              <a:chExt cx="2476521" cy="472007"/>
            </a:xfrm>
          </p:grpSpPr>
          <p:pic>
            <p:nvPicPr>
              <p:cNvPr id="46" name="图片 45">
                <a:extLst>
                  <a:ext uri="{FF2B5EF4-FFF2-40B4-BE49-F238E27FC236}">
                    <a16:creationId xmlns:a16="http://schemas.microsoft.com/office/drawing/2014/main" id="{EBFBEAE7-6DA9-9711-F422-889F11EDD4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3017" y="5996556"/>
                <a:ext cx="1049006" cy="435320"/>
              </a:xfrm>
              <a:prstGeom prst="rect">
                <a:avLst/>
              </a:prstGeom>
            </p:spPr>
          </p:pic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59CBD2B-3613-5A64-E3D7-BDF15B822B20}"/>
                  </a:ext>
                </a:extLst>
              </p:cNvPr>
              <p:cNvSpPr txBox="1"/>
              <p:nvPr/>
            </p:nvSpPr>
            <p:spPr>
              <a:xfrm>
                <a:off x="5012025" y="6120732"/>
                <a:ext cx="1427513" cy="34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5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onsolas" panose="020B06090202040302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tlias-utils</a:t>
                </a:r>
                <a:endParaRPr lang="zh-CN" altLang="en-US" sz="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45" name="矩形: 对角圆角 44">
              <a:extLst>
                <a:ext uri="{FF2B5EF4-FFF2-40B4-BE49-F238E27FC236}">
                  <a16:creationId xmlns:a16="http://schemas.microsoft.com/office/drawing/2014/main" id="{5D07ECEE-6118-CE4B-7EF1-1DD49F70160E}"/>
                </a:ext>
              </a:extLst>
            </p:cNvPr>
            <p:cNvSpPr/>
            <p:nvPr/>
          </p:nvSpPr>
          <p:spPr>
            <a:xfrm>
              <a:off x="2427245" y="5592828"/>
              <a:ext cx="1988311" cy="768552"/>
            </a:xfrm>
            <a:prstGeom prst="round2Diag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1DDB568-C473-B382-A5C9-1470A002CC98}"/>
              </a:ext>
            </a:extLst>
          </p:cNvPr>
          <p:cNvGrpSpPr/>
          <p:nvPr/>
        </p:nvGrpSpPr>
        <p:grpSpPr>
          <a:xfrm>
            <a:off x="746641" y="1865743"/>
            <a:ext cx="706055" cy="200269"/>
            <a:chOff x="1376249" y="1758321"/>
            <a:chExt cx="1131645" cy="417013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CEB3176C-782B-0E6D-7159-AB1628EA0D82}"/>
                </a:ext>
              </a:extLst>
            </p:cNvPr>
            <p:cNvGrpSpPr/>
            <p:nvPr/>
          </p:nvGrpSpPr>
          <p:grpSpPr>
            <a:xfrm>
              <a:off x="1430937" y="1784697"/>
              <a:ext cx="1076957" cy="390637"/>
              <a:chOff x="1432844" y="1780796"/>
              <a:chExt cx="1076957" cy="390637"/>
            </a:xfrm>
          </p:grpSpPr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62864BB-DEF1-A7CD-0FDB-731407D3F6D3}"/>
                  </a:ext>
                </a:extLst>
              </p:cNvPr>
              <p:cNvSpPr txBox="1"/>
              <p:nvPr/>
            </p:nvSpPr>
            <p:spPr>
              <a:xfrm>
                <a:off x="1682546" y="1818952"/>
                <a:ext cx="827255" cy="352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5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libaba PuHuiTi R"/>
                  </a:rPr>
                  <a:t>logback</a:t>
                </a:r>
                <a:endParaRPr lang="zh-CN" altLang="en-US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PuHuiTi R"/>
                </a:endParaRPr>
              </a:p>
            </p:txBody>
          </p:sp>
          <p:sp>
            <p:nvSpPr>
              <p:cNvPr id="52" name="jar-file-format-symbol_29604">
                <a:extLst>
                  <a:ext uri="{FF2B5EF4-FFF2-40B4-BE49-F238E27FC236}">
                    <a16:creationId xmlns:a16="http://schemas.microsoft.com/office/drawing/2014/main" id="{C6C7C90A-1AC9-B432-1660-4EF69E86116A}"/>
                  </a:ext>
                </a:extLst>
              </p:cNvPr>
              <p:cNvSpPr/>
              <p:nvPr/>
            </p:nvSpPr>
            <p:spPr>
              <a:xfrm>
                <a:off x="1432844" y="1780796"/>
                <a:ext cx="296028" cy="346797"/>
              </a:xfrm>
              <a:custGeom>
                <a:avLst/>
                <a:gdLst>
                  <a:gd name="connsiteX0" fmla="*/ 121763 h 600884"/>
                  <a:gd name="connsiteY0" fmla="*/ 121763 h 600884"/>
                  <a:gd name="connsiteX1" fmla="*/ 121763 h 600884"/>
                  <a:gd name="connsiteY1" fmla="*/ 121763 h 600884"/>
                  <a:gd name="connsiteX2" fmla="*/ 121763 h 600884"/>
                  <a:gd name="connsiteY2" fmla="*/ 121763 h 600884"/>
                  <a:gd name="connsiteX3" fmla="*/ 121763 h 600884"/>
                  <a:gd name="connsiteY3" fmla="*/ 121763 h 600884"/>
                  <a:gd name="connsiteX4" fmla="*/ 121763 h 600884"/>
                  <a:gd name="connsiteY4" fmla="*/ 121763 h 600884"/>
                  <a:gd name="connsiteX5" fmla="*/ 121763 h 600884"/>
                  <a:gd name="connsiteY5" fmla="*/ 121763 h 600884"/>
                  <a:gd name="connsiteX6" fmla="*/ 121763 h 600884"/>
                  <a:gd name="connsiteY6" fmla="*/ 121763 h 600884"/>
                  <a:gd name="connsiteX7" fmla="*/ 121763 h 600884"/>
                  <a:gd name="connsiteY7" fmla="*/ 121763 h 600884"/>
                  <a:gd name="connsiteX8" fmla="*/ 121763 h 600884"/>
                  <a:gd name="connsiteY8" fmla="*/ 121763 h 600884"/>
                  <a:gd name="connsiteX9" fmla="*/ 121763 h 600884"/>
                  <a:gd name="connsiteY9" fmla="*/ 121763 h 600884"/>
                  <a:gd name="connsiteX10" fmla="*/ 121763 h 600884"/>
                  <a:gd name="connsiteY10" fmla="*/ 121763 h 600884"/>
                  <a:gd name="connsiteX11" fmla="*/ 121763 h 600884"/>
                  <a:gd name="connsiteY11" fmla="*/ 121763 h 600884"/>
                  <a:gd name="connsiteX12" fmla="*/ 121763 h 600884"/>
                  <a:gd name="connsiteY12" fmla="*/ 121763 h 600884"/>
                  <a:gd name="connsiteX13" fmla="*/ 121763 h 600884"/>
                  <a:gd name="connsiteY13" fmla="*/ 121763 h 600884"/>
                  <a:gd name="connsiteX14" fmla="*/ 121763 h 600884"/>
                  <a:gd name="connsiteY14" fmla="*/ 121763 h 600884"/>
                  <a:gd name="connsiteX15" fmla="*/ 121763 h 600884"/>
                  <a:gd name="connsiteY15" fmla="*/ 121763 h 600884"/>
                  <a:gd name="connsiteX16" fmla="*/ 121763 h 600884"/>
                  <a:gd name="connsiteY16" fmla="*/ 121763 h 600884"/>
                  <a:gd name="connsiteX17" fmla="*/ 121763 h 600884"/>
                  <a:gd name="connsiteY17" fmla="*/ 121763 h 600884"/>
                  <a:gd name="connsiteX18" fmla="*/ 121763 h 600884"/>
                  <a:gd name="connsiteY18" fmla="*/ 121763 h 600884"/>
                  <a:gd name="connsiteX19" fmla="*/ 121763 h 600884"/>
                  <a:gd name="connsiteY19" fmla="*/ 121763 h 600884"/>
                  <a:gd name="connsiteX20" fmla="*/ 121763 h 600884"/>
                  <a:gd name="connsiteY20" fmla="*/ 121763 h 600884"/>
                  <a:gd name="connsiteX21" fmla="*/ 121763 h 600884"/>
                  <a:gd name="connsiteY21" fmla="*/ 121763 h 600884"/>
                  <a:gd name="connsiteX22" fmla="*/ 121763 h 600884"/>
                  <a:gd name="connsiteY22" fmla="*/ 121763 h 600884"/>
                  <a:gd name="connsiteX23" fmla="*/ 121763 h 600884"/>
                  <a:gd name="connsiteY23" fmla="*/ 121763 h 600884"/>
                  <a:gd name="connsiteX24" fmla="*/ 121763 h 600884"/>
                  <a:gd name="connsiteY24" fmla="*/ 121763 h 600884"/>
                  <a:gd name="connsiteX25" fmla="*/ 121763 h 600884"/>
                  <a:gd name="connsiteY25" fmla="*/ 121763 h 600884"/>
                  <a:gd name="connsiteX26" fmla="*/ 121763 h 600884"/>
                  <a:gd name="connsiteY26" fmla="*/ 121763 h 600884"/>
                  <a:gd name="connsiteX27" fmla="*/ 121763 h 600884"/>
                  <a:gd name="connsiteY27" fmla="*/ 121763 h 600884"/>
                  <a:gd name="connsiteX28" fmla="*/ 121763 h 600884"/>
                  <a:gd name="connsiteY28" fmla="*/ 121763 h 600884"/>
                  <a:gd name="connsiteX29" fmla="*/ 121763 h 600884"/>
                  <a:gd name="connsiteY29" fmla="*/ 121763 h 600884"/>
                  <a:gd name="connsiteX30" fmla="*/ 121763 h 600884"/>
                  <a:gd name="connsiteY30" fmla="*/ 121763 h 600884"/>
                  <a:gd name="connsiteX31" fmla="*/ 121763 h 600884"/>
                  <a:gd name="connsiteY31" fmla="*/ 121763 h 600884"/>
                  <a:gd name="connsiteX32" fmla="*/ 121763 h 600884"/>
                  <a:gd name="connsiteY32" fmla="*/ 121763 h 600884"/>
                  <a:gd name="connsiteX33" fmla="*/ 121763 h 600884"/>
                  <a:gd name="connsiteY33" fmla="*/ 121763 h 600884"/>
                  <a:gd name="connsiteX34" fmla="*/ 121763 h 600884"/>
                  <a:gd name="connsiteY34" fmla="*/ 121763 h 600884"/>
                  <a:gd name="connsiteX35" fmla="*/ 121763 h 600884"/>
                  <a:gd name="connsiteY35" fmla="*/ 121763 h 600884"/>
                  <a:gd name="connsiteX36" fmla="*/ 121763 h 600884"/>
                  <a:gd name="connsiteY36" fmla="*/ 121763 h 600884"/>
                  <a:gd name="connsiteX37" fmla="*/ 121763 h 600884"/>
                  <a:gd name="connsiteY37" fmla="*/ 121763 h 600884"/>
                  <a:gd name="connsiteX38" fmla="*/ 121763 h 600884"/>
                  <a:gd name="connsiteY38" fmla="*/ 121763 h 600884"/>
                  <a:gd name="connsiteX39" fmla="*/ 121763 h 600884"/>
                  <a:gd name="connsiteY39" fmla="*/ 121763 h 600884"/>
                  <a:gd name="connsiteX40" fmla="*/ 121763 h 600884"/>
                  <a:gd name="connsiteY40" fmla="*/ 121763 h 600884"/>
                  <a:gd name="connsiteX41" fmla="*/ 121763 h 600884"/>
                  <a:gd name="connsiteY41" fmla="*/ 121763 h 600884"/>
                  <a:gd name="connsiteX42" fmla="*/ 121763 h 600884"/>
                  <a:gd name="connsiteY42" fmla="*/ 121763 h 600884"/>
                  <a:gd name="connsiteX43" fmla="*/ 121763 h 600884"/>
                  <a:gd name="connsiteY43" fmla="*/ 121763 h 600884"/>
                  <a:gd name="connsiteX44" fmla="*/ 121763 h 600884"/>
                  <a:gd name="connsiteY44" fmla="*/ 121763 h 600884"/>
                  <a:gd name="connsiteX45" fmla="*/ 121763 h 600884"/>
                  <a:gd name="connsiteY45" fmla="*/ 121763 h 600884"/>
                  <a:gd name="connsiteX46" fmla="*/ 121763 h 600884"/>
                  <a:gd name="connsiteY46" fmla="*/ 121763 h 600884"/>
                  <a:gd name="connsiteX47" fmla="*/ 121763 h 600884"/>
                  <a:gd name="connsiteY47" fmla="*/ 121763 h 600884"/>
                  <a:gd name="connsiteX48" fmla="*/ 121763 h 600884"/>
                  <a:gd name="connsiteY48" fmla="*/ 121763 h 600884"/>
                  <a:gd name="connsiteX49" fmla="*/ 121763 h 600884"/>
                  <a:gd name="connsiteY49" fmla="*/ 121763 h 600884"/>
                  <a:gd name="connsiteX50" fmla="*/ 121763 h 600884"/>
                  <a:gd name="connsiteY50" fmla="*/ 121763 h 600884"/>
                  <a:gd name="connsiteX51" fmla="*/ 121763 h 600884"/>
                  <a:gd name="connsiteY51" fmla="*/ 121763 h 600884"/>
                  <a:gd name="connsiteX52" fmla="*/ 121763 h 600884"/>
                  <a:gd name="connsiteY52" fmla="*/ 121763 h 600884"/>
                  <a:gd name="connsiteX53" fmla="*/ 121763 h 600884"/>
                  <a:gd name="connsiteY53" fmla="*/ 121763 h 600884"/>
                  <a:gd name="connsiteX54" fmla="*/ 121763 h 600884"/>
                  <a:gd name="connsiteY54" fmla="*/ 121763 h 600884"/>
                  <a:gd name="connsiteX55" fmla="*/ 121763 h 600884"/>
                  <a:gd name="connsiteY55" fmla="*/ 121763 h 600884"/>
                  <a:gd name="connsiteX56" fmla="*/ 121763 h 600884"/>
                  <a:gd name="connsiteY56" fmla="*/ 121763 h 600884"/>
                  <a:gd name="connsiteX57" fmla="*/ 121763 h 600884"/>
                  <a:gd name="connsiteY57" fmla="*/ 121763 h 600884"/>
                  <a:gd name="connsiteX58" fmla="*/ 121763 h 600884"/>
                  <a:gd name="connsiteY58" fmla="*/ 121763 h 600884"/>
                  <a:gd name="connsiteX59" fmla="*/ 121763 h 600884"/>
                  <a:gd name="connsiteY59" fmla="*/ 121763 h 600884"/>
                  <a:gd name="connsiteX60" fmla="*/ 121763 h 600884"/>
                  <a:gd name="connsiteY60" fmla="*/ 121763 h 600884"/>
                  <a:gd name="connsiteX61" fmla="*/ 121763 h 600884"/>
                  <a:gd name="connsiteY61" fmla="*/ 121763 h 600884"/>
                  <a:gd name="connsiteX62" fmla="*/ 121763 h 600884"/>
                  <a:gd name="connsiteY62" fmla="*/ 121763 h 600884"/>
                  <a:gd name="connsiteX63" fmla="*/ 121763 h 600884"/>
                  <a:gd name="connsiteY63" fmla="*/ 121763 h 600884"/>
                  <a:gd name="connsiteX64" fmla="*/ 121763 h 600884"/>
                  <a:gd name="connsiteY64" fmla="*/ 121763 h 600884"/>
                  <a:gd name="connsiteX65" fmla="*/ 121763 h 600884"/>
                  <a:gd name="connsiteY65" fmla="*/ 121763 h 600884"/>
                  <a:gd name="connsiteX66" fmla="*/ 121763 h 600884"/>
                  <a:gd name="connsiteY66" fmla="*/ 121763 h 600884"/>
                  <a:gd name="connsiteX67" fmla="*/ 121763 h 600884"/>
                  <a:gd name="connsiteY67" fmla="*/ 121763 h 600884"/>
                  <a:gd name="connsiteX68" fmla="*/ 121763 h 600884"/>
                  <a:gd name="connsiteY68" fmla="*/ 121763 h 600884"/>
                  <a:gd name="connsiteX69" fmla="*/ 121763 h 600884"/>
                  <a:gd name="connsiteY69" fmla="*/ 121763 h 600884"/>
                  <a:gd name="connsiteX70" fmla="*/ 121763 h 600884"/>
                  <a:gd name="connsiteY70" fmla="*/ 121763 h 600884"/>
                  <a:gd name="connsiteX71" fmla="*/ 121763 h 600884"/>
                  <a:gd name="connsiteY71" fmla="*/ 121763 h 600884"/>
                  <a:gd name="connsiteX72" fmla="*/ 121763 h 600884"/>
                  <a:gd name="connsiteY72" fmla="*/ 121763 h 600884"/>
                  <a:gd name="connsiteX73" fmla="*/ 121763 h 600884"/>
                  <a:gd name="connsiteY73" fmla="*/ 121763 h 600884"/>
                  <a:gd name="connsiteX74" fmla="*/ 121763 h 600884"/>
                  <a:gd name="connsiteY74" fmla="*/ 121763 h 600884"/>
                  <a:gd name="connsiteX75" fmla="*/ 121763 h 600884"/>
                  <a:gd name="connsiteY75" fmla="*/ 121763 h 600884"/>
                  <a:gd name="connsiteX76" fmla="*/ 121763 h 600884"/>
                  <a:gd name="connsiteY76" fmla="*/ 121763 h 600884"/>
                  <a:gd name="connsiteX77" fmla="*/ 121763 h 600884"/>
                  <a:gd name="connsiteY77" fmla="*/ 121763 h 600884"/>
                  <a:gd name="connsiteX78" fmla="*/ 121763 h 600884"/>
                  <a:gd name="connsiteY78" fmla="*/ 121763 h 600884"/>
                  <a:gd name="connsiteX79" fmla="*/ 121763 h 600884"/>
                  <a:gd name="connsiteY79" fmla="*/ 121763 h 600884"/>
                  <a:gd name="connsiteX80" fmla="*/ 121763 h 600884"/>
                  <a:gd name="connsiteY80" fmla="*/ 121763 h 600884"/>
                  <a:gd name="connsiteX81" fmla="*/ 121763 h 600884"/>
                  <a:gd name="connsiteY81" fmla="*/ 121763 h 600884"/>
                  <a:gd name="connsiteX82" fmla="*/ 121763 h 600884"/>
                  <a:gd name="connsiteY82" fmla="*/ 121763 h 600884"/>
                  <a:gd name="connsiteX83" fmla="*/ 121763 h 600884"/>
                  <a:gd name="connsiteY83" fmla="*/ 121763 h 60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38061" h="606651">
                    <a:moveTo>
                      <a:pt x="72469" y="461844"/>
                    </a:moveTo>
                    <a:lnTo>
                      <a:pt x="72469" y="576418"/>
                    </a:lnTo>
                    <a:lnTo>
                      <a:pt x="465592" y="576418"/>
                    </a:lnTo>
                    <a:lnTo>
                      <a:pt x="465592" y="461844"/>
                    </a:lnTo>
                    <a:close/>
                    <a:moveTo>
                      <a:pt x="244164" y="278381"/>
                    </a:moveTo>
                    <a:lnTo>
                      <a:pt x="244660" y="278381"/>
                    </a:lnTo>
                    <a:cubicBezTo>
                      <a:pt x="247307" y="288959"/>
                      <a:pt x="250451" y="302098"/>
                      <a:pt x="253677" y="312675"/>
                    </a:cubicBezTo>
                    <a:lnTo>
                      <a:pt x="264761" y="350358"/>
                    </a:lnTo>
                    <a:lnTo>
                      <a:pt x="225386" y="350358"/>
                    </a:lnTo>
                    <a:lnTo>
                      <a:pt x="235974" y="312675"/>
                    </a:lnTo>
                    <a:cubicBezTo>
                      <a:pt x="238870" y="302346"/>
                      <a:pt x="241517" y="288959"/>
                      <a:pt x="244164" y="278381"/>
                    </a:cubicBezTo>
                    <a:close/>
                    <a:moveTo>
                      <a:pt x="409354" y="276828"/>
                    </a:moveTo>
                    <a:cubicBezTo>
                      <a:pt x="427896" y="277076"/>
                      <a:pt x="438987" y="285255"/>
                      <a:pt x="438987" y="301613"/>
                    </a:cubicBezTo>
                    <a:cubicBezTo>
                      <a:pt x="438987" y="317145"/>
                      <a:pt x="427068" y="327141"/>
                      <a:pt x="406954" y="327141"/>
                    </a:cubicBezTo>
                    <a:lnTo>
                      <a:pt x="391144" y="327141"/>
                    </a:lnTo>
                    <a:lnTo>
                      <a:pt x="391144" y="278150"/>
                    </a:lnTo>
                    <a:cubicBezTo>
                      <a:pt x="394041" y="277654"/>
                      <a:pt x="399587" y="276828"/>
                      <a:pt x="409354" y="276828"/>
                    </a:cubicBezTo>
                    <a:close/>
                    <a:moveTo>
                      <a:pt x="219559" y="248311"/>
                    </a:moveTo>
                    <a:lnTo>
                      <a:pt x="165207" y="425994"/>
                    </a:lnTo>
                    <a:lnTo>
                      <a:pt x="206902" y="425994"/>
                    </a:lnTo>
                    <a:lnTo>
                      <a:pt x="219559" y="380396"/>
                    </a:lnTo>
                    <a:lnTo>
                      <a:pt x="270520" y="380396"/>
                    </a:lnTo>
                    <a:lnTo>
                      <a:pt x="284253" y="425994"/>
                    </a:lnTo>
                    <a:lnTo>
                      <a:pt x="327519" y="425994"/>
                    </a:lnTo>
                    <a:lnTo>
                      <a:pt x="272340" y="248311"/>
                    </a:lnTo>
                    <a:close/>
                    <a:moveTo>
                      <a:pt x="104485" y="248311"/>
                    </a:moveTo>
                    <a:lnTo>
                      <a:pt x="104485" y="360075"/>
                    </a:lnTo>
                    <a:cubicBezTo>
                      <a:pt x="104485" y="387748"/>
                      <a:pt x="93896" y="395430"/>
                      <a:pt x="77019" y="395430"/>
                    </a:cubicBezTo>
                    <a:cubicBezTo>
                      <a:pt x="69077" y="395430"/>
                      <a:pt x="61963" y="394108"/>
                      <a:pt x="56420" y="392291"/>
                    </a:cubicBezTo>
                    <a:lnTo>
                      <a:pt x="51953" y="424672"/>
                    </a:lnTo>
                    <a:cubicBezTo>
                      <a:pt x="59895" y="427316"/>
                      <a:pt x="72056" y="428885"/>
                      <a:pt x="81238" y="428885"/>
                    </a:cubicBezTo>
                    <a:cubicBezTo>
                      <a:pt x="120286" y="428885"/>
                      <a:pt x="144608" y="411208"/>
                      <a:pt x="144608" y="360653"/>
                    </a:cubicBezTo>
                    <a:lnTo>
                      <a:pt x="144608" y="248311"/>
                    </a:lnTo>
                    <a:close/>
                    <a:moveTo>
                      <a:pt x="404870" y="246989"/>
                    </a:moveTo>
                    <a:cubicBezTo>
                      <a:pt x="383526" y="246989"/>
                      <a:pt x="364250" y="248641"/>
                      <a:pt x="351345" y="250706"/>
                    </a:cubicBezTo>
                    <a:lnTo>
                      <a:pt x="351345" y="425994"/>
                    </a:lnTo>
                    <a:lnTo>
                      <a:pt x="391137" y="425994"/>
                    </a:lnTo>
                    <a:lnTo>
                      <a:pt x="391137" y="356110"/>
                    </a:lnTo>
                    <a:lnTo>
                      <a:pt x="403298" y="356110"/>
                    </a:lnTo>
                    <a:cubicBezTo>
                      <a:pt x="419678" y="356441"/>
                      <a:pt x="427289" y="362471"/>
                      <a:pt x="432087" y="384609"/>
                    </a:cubicBezTo>
                    <a:cubicBezTo>
                      <a:pt x="437382" y="406499"/>
                      <a:pt x="441601" y="420955"/>
                      <a:pt x="444496" y="425994"/>
                    </a:cubicBezTo>
                    <a:lnTo>
                      <a:pt x="485612" y="425994"/>
                    </a:lnTo>
                    <a:cubicBezTo>
                      <a:pt x="482220" y="419138"/>
                      <a:pt x="476677" y="395926"/>
                      <a:pt x="471135" y="375935"/>
                    </a:cubicBezTo>
                    <a:cubicBezTo>
                      <a:pt x="466667" y="359580"/>
                      <a:pt x="459801" y="347684"/>
                      <a:pt x="447392" y="342728"/>
                    </a:cubicBezTo>
                    <a:lnTo>
                      <a:pt x="447392" y="341902"/>
                    </a:lnTo>
                    <a:cubicBezTo>
                      <a:pt x="462696" y="336368"/>
                      <a:pt x="478745" y="320838"/>
                      <a:pt x="478745" y="298121"/>
                    </a:cubicBezTo>
                    <a:cubicBezTo>
                      <a:pt x="478745" y="281848"/>
                      <a:pt x="472955" y="269457"/>
                      <a:pt x="462448" y="261032"/>
                    </a:cubicBezTo>
                    <a:cubicBezTo>
                      <a:pt x="449708" y="250954"/>
                      <a:pt x="431260" y="246989"/>
                      <a:pt x="404870" y="246989"/>
                    </a:cubicBezTo>
                    <a:close/>
                    <a:moveTo>
                      <a:pt x="72469" y="23790"/>
                    </a:moveTo>
                    <a:lnTo>
                      <a:pt x="72469" y="217003"/>
                    </a:lnTo>
                    <a:lnTo>
                      <a:pt x="465592" y="217003"/>
                    </a:lnTo>
                    <a:lnTo>
                      <a:pt x="465592" y="157445"/>
                    </a:lnTo>
                    <a:lnTo>
                      <a:pt x="360362" y="157445"/>
                    </a:lnTo>
                    <a:cubicBezTo>
                      <a:pt x="353744" y="157445"/>
                      <a:pt x="348449" y="152076"/>
                      <a:pt x="348449" y="145550"/>
                    </a:cubicBezTo>
                    <a:lnTo>
                      <a:pt x="348449" y="23790"/>
                    </a:lnTo>
                    <a:close/>
                    <a:moveTo>
                      <a:pt x="72469" y="0"/>
                    </a:moveTo>
                    <a:lnTo>
                      <a:pt x="360362" y="0"/>
                    </a:lnTo>
                    <a:cubicBezTo>
                      <a:pt x="361272" y="0"/>
                      <a:pt x="362182" y="165"/>
                      <a:pt x="363092" y="330"/>
                    </a:cubicBezTo>
                    <a:cubicBezTo>
                      <a:pt x="363340" y="413"/>
                      <a:pt x="363506" y="496"/>
                      <a:pt x="363754" y="578"/>
                    </a:cubicBezTo>
                    <a:cubicBezTo>
                      <a:pt x="364581" y="826"/>
                      <a:pt x="365326" y="1156"/>
                      <a:pt x="366070" y="1569"/>
                    </a:cubicBezTo>
                    <a:cubicBezTo>
                      <a:pt x="366319" y="1652"/>
                      <a:pt x="366567" y="1817"/>
                      <a:pt x="366898" y="1983"/>
                    </a:cubicBezTo>
                    <a:cubicBezTo>
                      <a:pt x="367725" y="2561"/>
                      <a:pt x="368552" y="3222"/>
                      <a:pt x="369214" y="3965"/>
                    </a:cubicBezTo>
                    <a:cubicBezTo>
                      <a:pt x="369214" y="4048"/>
                      <a:pt x="369297" y="4048"/>
                      <a:pt x="369297" y="4048"/>
                    </a:cubicBezTo>
                    <a:lnTo>
                      <a:pt x="486439" y="137703"/>
                    </a:lnTo>
                    <a:cubicBezTo>
                      <a:pt x="488342" y="139850"/>
                      <a:pt x="489252" y="142576"/>
                      <a:pt x="489252" y="145385"/>
                    </a:cubicBezTo>
                    <a:cubicBezTo>
                      <a:pt x="489335" y="145798"/>
                      <a:pt x="489417" y="146293"/>
                      <a:pt x="489417" y="146706"/>
                    </a:cubicBezTo>
                    <a:lnTo>
                      <a:pt x="489417" y="217003"/>
                    </a:lnTo>
                    <a:lnTo>
                      <a:pt x="503977" y="217003"/>
                    </a:lnTo>
                    <a:cubicBezTo>
                      <a:pt x="522839" y="217003"/>
                      <a:pt x="538061" y="232203"/>
                      <a:pt x="538061" y="251037"/>
                    </a:cubicBezTo>
                    <a:lnTo>
                      <a:pt x="538061" y="427811"/>
                    </a:lnTo>
                    <a:cubicBezTo>
                      <a:pt x="538061" y="446563"/>
                      <a:pt x="522839" y="461844"/>
                      <a:pt x="503977" y="461844"/>
                    </a:cubicBezTo>
                    <a:lnTo>
                      <a:pt x="489417" y="461844"/>
                    </a:lnTo>
                    <a:lnTo>
                      <a:pt x="489417" y="582861"/>
                    </a:lnTo>
                    <a:cubicBezTo>
                      <a:pt x="489417" y="595995"/>
                      <a:pt x="478745" y="606651"/>
                      <a:pt x="465592" y="606651"/>
                    </a:cubicBezTo>
                    <a:lnTo>
                      <a:pt x="72469" y="606651"/>
                    </a:lnTo>
                    <a:cubicBezTo>
                      <a:pt x="59316" y="606651"/>
                      <a:pt x="48644" y="595995"/>
                      <a:pt x="48644" y="582861"/>
                    </a:cubicBezTo>
                    <a:lnTo>
                      <a:pt x="48644" y="461844"/>
                    </a:lnTo>
                    <a:lnTo>
                      <a:pt x="34084" y="461844"/>
                    </a:lnTo>
                    <a:cubicBezTo>
                      <a:pt x="15222" y="461844"/>
                      <a:pt x="0" y="446563"/>
                      <a:pt x="0" y="427811"/>
                    </a:cubicBezTo>
                    <a:lnTo>
                      <a:pt x="0" y="250954"/>
                    </a:lnTo>
                    <a:cubicBezTo>
                      <a:pt x="0" y="232203"/>
                      <a:pt x="15222" y="217003"/>
                      <a:pt x="34084" y="217003"/>
                    </a:cubicBezTo>
                    <a:lnTo>
                      <a:pt x="48644" y="217003"/>
                    </a:lnTo>
                    <a:lnTo>
                      <a:pt x="48644" y="23790"/>
                    </a:lnTo>
                    <a:cubicBezTo>
                      <a:pt x="48644" y="10656"/>
                      <a:pt x="59316" y="0"/>
                      <a:pt x="72469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</p:grp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BF59BD0E-FCF9-C2EE-9C1F-7E11E7136B8A}"/>
                </a:ext>
              </a:extLst>
            </p:cNvPr>
            <p:cNvSpPr/>
            <p:nvPr/>
          </p:nvSpPr>
          <p:spPr>
            <a:xfrm>
              <a:off x="1376249" y="1758321"/>
              <a:ext cx="1034928" cy="398136"/>
            </a:xfrm>
            <a:prstGeom prst="roundRect">
              <a:avLst>
                <a:gd name="adj" fmla="val 34926"/>
              </a:avLst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51DFD69-EBCF-BBBA-E6CC-F31D55023253}"/>
              </a:ext>
            </a:extLst>
          </p:cNvPr>
          <p:cNvCxnSpPr>
            <a:cxnSpLocks/>
          </p:cNvCxnSpPr>
          <p:nvPr/>
        </p:nvCxnSpPr>
        <p:spPr>
          <a:xfrm flipH="1">
            <a:off x="2197952" y="2044055"/>
            <a:ext cx="1769271" cy="0"/>
          </a:xfrm>
          <a:prstGeom prst="straightConnector1">
            <a:avLst/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8670BDF6-C3C1-7B14-65ED-85EFEE610742}"/>
              </a:ext>
            </a:extLst>
          </p:cNvPr>
          <p:cNvSpPr/>
          <p:nvPr/>
        </p:nvSpPr>
        <p:spPr>
          <a:xfrm>
            <a:off x="710880" y="1091114"/>
            <a:ext cx="7419975" cy="1807643"/>
          </a:xfrm>
          <a:prstGeom prst="roundRect">
            <a:avLst>
              <a:gd name="adj" fmla="val 4009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3612578-BE0D-CE74-AC37-6916D1D92B0D}"/>
              </a:ext>
            </a:extLst>
          </p:cNvPr>
          <p:cNvSpPr txBox="1"/>
          <p:nvPr/>
        </p:nvSpPr>
        <p:spPr>
          <a:xfrm>
            <a:off x="4058396" y="2533330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0151D05-3497-3E2C-E253-4FFA8B4967DB}"/>
              </a:ext>
            </a:extLst>
          </p:cNvPr>
          <p:cNvGrpSpPr/>
          <p:nvPr/>
        </p:nvGrpSpPr>
        <p:grpSpPr>
          <a:xfrm>
            <a:off x="6342066" y="1129557"/>
            <a:ext cx="1755212" cy="1703631"/>
            <a:chOff x="8602891" y="2437169"/>
            <a:chExt cx="2168499" cy="2559171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1CBF838-9475-EB0A-30B8-71B1C4A36366}"/>
                </a:ext>
              </a:extLst>
            </p:cNvPr>
            <p:cNvGrpSpPr/>
            <p:nvPr/>
          </p:nvGrpSpPr>
          <p:grpSpPr>
            <a:xfrm>
              <a:off x="8602891" y="2437169"/>
              <a:ext cx="2168499" cy="2559171"/>
              <a:chOff x="5275004" y="1972776"/>
              <a:chExt cx="2168499" cy="2559171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363439C3-B82C-E476-CB9E-4E2A479E3F29}"/>
                  </a:ext>
                </a:extLst>
              </p:cNvPr>
              <p:cNvSpPr/>
              <p:nvPr/>
            </p:nvSpPr>
            <p:spPr>
              <a:xfrm>
                <a:off x="5275004" y="1972776"/>
                <a:ext cx="2168499" cy="2559171"/>
              </a:xfrm>
              <a:prstGeom prst="roundRect">
                <a:avLst>
                  <a:gd name="adj" fmla="val 4009"/>
                </a:avLst>
              </a:prstGeom>
              <a:solidFill>
                <a:srgbClr val="E46C0A">
                  <a:alpha val="14118"/>
                </a:srgbClr>
              </a:solidFill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1A89B18-9C4F-F251-267C-8C1F5D22D9DB}"/>
                  </a:ext>
                </a:extLst>
              </p:cNvPr>
              <p:cNvSpPr txBox="1"/>
              <p:nvPr/>
            </p:nvSpPr>
            <p:spPr>
              <a:xfrm>
                <a:off x="6106341" y="4081505"/>
                <a:ext cx="5679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50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私服</a:t>
                </a:r>
                <a:endParaRPr lang="zh-CN" altLang="en-US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58" name="圆柱体 57">
              <a:extLst>
                <a:ext uri="{FF2B5EF4-FFF2-40B4-BE49-F238E27FC236}">
                  <a16:creationId xmlns:a16="http://schemas.microsoft.com/office/drawing/2014/main" id="{ADA86B1E-E805-1392-9043-82FD85E36AA7}"/>
                </a:ext>
              </a:extLst>
            </p:cNvPr>
            <p:cNvSpPr/>
            <p:nvPr/>
          </p:nvSpPr>
          <p:spPr>
            <a:xfrm>
              <a:off x="9858895" y="2532838"/>
              <a:ext cx="692213" cy="897070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(snapshot)</a:t>
              </a:r>
              <a:endPara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9" name="圆柱体 58">
              <a:extLst>
                <a:ext uri="{FF2B5EF4-FFF2-40B4-BE49-F238E27FC236}">
                  <a16:creationId xmlns:a16="http://schemas.microsoft.com/office/drawing/2014/main" id="{7B5038A8-7E79-AB7D-B182-C5465AD2B8A4}"/>
                </a:ext>
              </a:extLst>
            </p:cNvPr>
            <p:cNvSpPr/>
            <p:nvPr/>
          </p:nvSpPr>
          <p:spPr>
            <a:xfrm>
              <a:off x="8888681" y="2543846"/>
              <a:ext cx="692212" cy="89717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(release)</a:t>
              </a:r>
              <a:endPara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0" name="圆柱体 59">
              <a:extLst>
                <a:ext uri="{FF2B5EF4-FFF2-40B4-BE49-F238E27FC236}">
                  <a16:creationId xmlns:a16="http://schemas.microsoft.com/office/drawing/2014/main" id="{DED388CB-4468-3A3F-8250-40D4D626C743}"/>
                </a:ext>
              </a:extLst>
            </p:cNvPr>
            <p:cNvSpPr/>
            <p:nvPr/>
          </p:nvSpPr>
          <p:spPr>
            <a:xfrm>
              <a:off x="9276091" y="3487815"/>
              <a:ext cx="884255" cy="1027097"/>
            </a:xfrm>
            <a:prstGeom prst="can">
              <a:avLst/>
            </a:prstGeom>
            <a:gradFill flip="none" rotWithShape="1">
              <a:gsLst>
                <a:gs pos="0">
                  <a:srgbClr val="0070C0">
                    <a:tint val="66000"/>
                    <a:satMod val="160000"/>
                  </a:srgbClr>
                </a:gs>
                <a:gs pos="50000">
                  <a:srgbClr val="0070C0">
                    <a:tint val="44500"/>
                    <a:satMod val="160000"/>
                  </a:srgbClr>
                </a:gs>
                <a:gs pos="100000">
                  <a:srgbClr val="0070C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仓库</a:t>
              </a:r>
              <a:endPara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algn="ctr"/>
              <a:r>
                <a:rPr lang="en-US" altLang="zh-CN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(central)</a:t>
              </a:r>
              <a:endPara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D9FD7D7-8DE7-4136-73F4-6408586BD49C}"/>
              </a:ext>
            </a:extLst>
          </p:cNvPr>
          <p:cNvSpPr/>
          <p:nvPr/>
        </p:nvSpPr>
        <p:spPr>
          <a:xfrm>
            <a:off x="6212959" y="2079103"/>
            <a:ext cx="5963242" cy="4668954"/>
          </a:xfrm>
          <a:prstGeom prst="roundRect">
            <a:avLst>
              <a:gd name="adj" fmla="val 156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profile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&gt;allow-snapshots&lt;/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activation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activeByDefault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&gt;true&lt;/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activeByDefault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activation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repositories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&gt;maven-public&lt;/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&gt;http://</a:t>
            </a:r>
            <a:r>
              <a:rPr lang="en-US" altLang="zh-CN" sz="1050">
                <a:solidFill>
                  <a:srgbClr val="080808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192.168.150.101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:8081/repository/maven-public/&lt;/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url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releases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enabled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&gt;true&lt;/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enabled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releases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snapshots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&lt;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enabled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&gt;true&lt;/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enabled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snapshots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repository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repositories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&lt;/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profile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</a:t>
            </a:r>
            <a:endParaRPr kumimoji="0" lang="zh-CN" altLang="zh-CN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709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3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7036D00-6DE5-0C73-AC04-B506D295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资源上传与下载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51D864-6922-4C5F-F461-C6B3EB0241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768"/>
          <a:stretch/>
        </p:blipFill>
        <p:spPr>
          <a:xfrm>
            <a:off x="703936" y="1129333"/>
            <a:ext cx="2608205" cy="3293284"/>
          </a:xfrm>
          <a:prstGeom prst="roundRect">
            <a:avLst>
              <a:gd name="adj" fmla="val 2293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3879B94B-BA1B-327E-368F-66D773C2F043}"/>
              </a:ext>
            </a:extLst>
          </p:cNvPr>
          <p:cNvSpPr/>
          <p:nvPr/>
        </p:nvSpPr>
        <p:spPr>
          <a:xfrm>
            <a:off x="703936" y="3644802"/>
            <a:ext cx="2608204" cy="269367"/>
          </a:xfrm>
          <a:prstGeom prst="roundRect">
            <a:avLst>
              <a:gd name="adj" fmla="val 50000"/>
            </a:avLst>
          </a:prstGeom>
          <a:solidFill>
            <a:srgbClr val="FF0000">
              <a:alpha val="14118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2F96C6-CE54-7779-ACDD-1796161DF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60"/>
          <a:stretch/>
        </p:blipFill>
        <p:spPr>
          <a:xfrm>
            <a:off x="3632180" y="1163605"/>
            <a:ext cx="8007893" cy="2481197"/>
          </a:xfrm>
          <a:prstGeom prst="roundRect">
            <a:avLst>
              <a:gd name="adj" fmla="val 2663"/>
            </a:avLst>
          </a:prstGeom>
        </p:spPr>
      </p:pic>
    </p:spTree>
    <p:extLst>
      <p:ext uri="{BB962C8B-B14F-4D97-AF65-F5344CB8AC3E}">
        <p14:creationId xmlns:p14="http://schemas.microsoft.com/office/powerpoint/2010/main" val="350275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A48631-2F1D-B423-BC52-FC395BAAC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/>
              <a:t>私服上传资源及下载资源的步骤？</a:t>
            </a:r>
            <a:endParaRPr lang="en-US" altLang="zh-CN" sz="1800"/>
          </a:p>
          <a:p>
            <a:pPr marL="360000"/>
            <a:r>
              <a:rPr lang="zh-CN" altLang="en-US"/>
              <a:t>固定的，参照讲义操作即可。</a:t>
            </a:r>
          </a:p>
        </p:txBody>
      </p:sp>
    </p:spTree>
    <p:extLst>
      <p:ext uri="{BB962C8B-B14F-4D97-AF65-F5344CB8AC3E}">
        <p14:creationId xmlns:p14="http://schemas.microsoft.com/office/powerpoint/2010/main" val="2899028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20801</TotalTime>
  <Words>2407</Words>
  <Application>Microsoft Office PowerPoint</Application>
  <PresentationFormat>宽屏</PresentationFormat>
  <Paragraphs>298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7" baseType="lpstr">
      <vt:lpstr>Alibaba PuHuiTi B</vt:lpstr>
      <vt:lpstr>Alibaba PuHuiTi 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Calisto MT</vt:lpstr>
      <vt:lpstr>Consolas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PowerPoint 演示文稿</vt:lpstr>
      <vt:lpstr>PowerPoint 演示文稿</vt:lpstr>
      <vt:lpstr>分模块设计</vt:lpstr>
      <vt:lpstr>分模块设计</vt:lpstr>
      <vt:lpstr>分模块设计-策略</vt:lpstr>
      <vt:lpstr>分模块设计-实战</vt:lpstr>
      <vt:lpstr>分模块开发</vt:lpstr>
      <vt:lpstr>PowerPoint 演示文稿</vt:lpstr>
      <vt:lpstr>PowerPoint 演示文稿</vt:lpstr>
      <vt:lpstr>PowerPoint 演示文稿</vt:lpstr>
      <vt:lpstr>继承</vt:lpstr>
      <vt:lpstr>继承</vt:lpstr>
      <vt:lpstr>继承关系实现</vt:lpstr>
      <vt:lpstr>PowerPoint 演示文稿</vt:lpstr>
      <vt:lpstr>PowerPoint 演示文稿</vt:lpstr>
      <vt:lpstr>版本锁定</vt:lpstr>
      <vt:lpstr>自定义属性/引用属性</vt:lpstr>
      <vt:lpstr>PowerPoint 演示文稿</vt:lpstr>
      <vt:lpstr>PowerPoint 演示文稿</vt:lpstr>
      <vt:lpstr>聚合</vt:lpstr>
      <vt:lpstr>PowerPoint 演示文稿</vt:lpstr>
      <vt:lpstr>PowerPoint 演示文稿</vt:lpstr>
      <vt:lpstr>PowerPoint 演示文稿</vt:lpstr>
      <vt:lpstr>介绍</vt:lpstr>
      <vt:lpstr>介绍</vt:lpstr>
      <vt:lpstr>介绍</vt:lpstr>
      <vt:lpstr>PowerPoint 演示文稿</vt:lpstr>
      <vt:lpstr>PowerPoint 演示文稿</vt:lpstr>
      <vt:lpstr>资源上传与下载</vt:lpstr>
      <vt:lpstr>资源上传与下载</vt:lpstr>
      <vt:lpstr>资源上传与下载</vt:lpstr>
      <vt:lpstr>资源上传与下载</vt:lpstr>
      <vt:lpstr>资源上传与下载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1816</cp:revision>
  <cp:lastPrinted>2022-05-29T16:00:00Z</cp:lastPrinted>
  <dcterms:created xsi:type="dcterms:W3CDTF">2022-05-29T16:00:00Z</dcterms:created>
  <dcterms:modified xsi:type="dcterms:W3CDTF">2024-12-11T09:44:37Z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