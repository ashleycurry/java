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62" r:id="rId4"/>
    <p:sldMasterId id="2147483672" r:id="rId5"/>
  </p:sldMasterIdLst>
  <p:notesMasterIdLst>
    <p:notesMasterId r:id="rId60"/>
  </p:notesMasterIdLst>
  <p:handoutMasterIdLst>
    <p:handoutMasterId r:id="rId61"/>
  </p:handoutMasterIdLst>
  <p:sldIdLst>
    <p:sldId id="280" r:id="rId6"/>
    <p:sldId id="662" r:id="rId7"/>
    <p:sldId id="609" r:id="rId8"/>
    <p:sldId id="663" r:id="rId9"/>
    <p:sldId id="610" r:id="rId10"/>
    <p:sldId id="612" r:id="rId11"/>
    <p:sldId id="611" r:id="rId12"/>
    <p:sldId id="506" r:id="rId13"/>
    <p:sldId id="613" r:id="rId14"/>
    <p:sldId id="623" r:id="rId15"/>
    <p:sldId id="614" r:id="rId16"/>
    <p:sldId id="615" r:id="rId17"/>
    <p:sldId id="624" r:id="rId18"/>
    <p:sldId id="625" r:id="rId19"/>
    <p:sldId id="616" r:id="rId20"/>
    <p:sldId id="617" r:id="rId21"/>
    <p:sldId id="618" r:id="rId22"/>
    <p:sldId id="619" r:id="rId23"/>
    <p:sldId id="629" r:id="rId24"/>
    <p:sldId id="620" r:id="rId25"/>
    <p:sldId id="630" r:id="rId26"/>
    <p:sldId id="621" r:id="rId27"/>
    <p:sldId id="626" r:id="rId28"/>
    <p:sldId id="645" r:id="rId29"/>
    <p:sldId id="627" r:id="rId30"/>
    <p:sldId id="628" r:id="rId31"/>
    <p:sldId id="631" r:id="rId32"/>
    <p:sldId id="632" r:id="rId33"/>
    <p:sldId id="633" r:id="rId34"/>
    <p:sldId id="646" r:id="rId35"/>
    <p:sldId id="647" r:id="rId36"/>
    <p:sldId id="634" r:id="rId37"/>
    <p:sldId id="635" r:id="rId38"/>
    <p:sldId id="636" r:id="rId39"/>
    <p:sldId id="648" r:id="rId40"/>
    <p:sldId id="637" r:id="rId41"/>
    <p:sldId id="638" r:id="rId42"/>
    <p:sldId id="650" r:id="rId43"/>
    <p:sldId id="649" r:id="rId44"/>
    <p:sldId id="639" r:id="rId45"/>
    <p:sldId id="640" r:id="rId46"/>
    <p:sldId id="641" r:id="rId47"/>
    <p:sldId id="657" r:id="rId48"/>
    <p:sldId id="658" r:id="rId49"/>
    <p:sldId id="642" r:id="rId50"/>
    <p:sldId id="643" r:id="rId51"/>
    <p:sldId id="644" r:id="rId52"/>
    <p:sldId id="659" r:id="rId53"/>
    <p:sldId id="651" r:id="rId54"/>
    <p:sldId id="660" r:id="rId55"/>
    <p:sldId id="652" r:id="rId56"/>
    <p:sldId id="653" r:id="rId57"/>
    <p:sldId id="654" r:id="rId58"/>
    <p:sldId id="288" r:id="rId59"/>
  </p:sldIdLst>
  <p:sldSz cx="12192000" cy="6858000"/>
  <p:notesSz cx="6858000" cy="9144000"/>
  <p:custDataLst>
    <p:tags r:id="rId6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1094"/>
    <a:srgbClr val="3561FF"/>
    <a:srgbClr val="8037B7"/>
    <a:srgbClr val="9933FF"/>
    <a:srgbClr val="00B050"/>
    <a:srgbClr val="FF0000"/>
    <a:srgbClr val="067D17"/>
    <a:srgbClr val="3333FF"/>
    <a:srgbClr val="BBE7D3"/>
    <a:srgbClr val="33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47" autoAdjust="0"/>
    <p:restoredTop sz="95165" autoAdjust="0"/>
  </p:normalViewPr>
  <p:slideViewPr>
    <p:cSldViewPr snapToGrid="0" showGuides="1">
      <p:cViewPr varScale="1">
        <p:scale>
          <a:sx n="82" d="100"/>
          <a:sy n="82" d="100"/>
        </p:scale>
        <p:origin x="14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viewProps" Target="view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notesMaster" Target="notesMasters/notesMaster1.xml"/><Relationship Id="rId65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2024/11/25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2024/11/25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假设你是一名</a:t>
            </a:r>
            <a:r>
              <a:rPr lang="en-US" altLang="zh-CN"/>
              <a:t>java</a:t>
            </a:r>
            <a:r>
              <a:rPr lang="zh-CN" altLang="en-US"/>
              <a:t>开发工程师</a:t>
            </a:r>
            <a:r>
              <a:rPr lang="en-US" altLang="zh-CN"/>
              <a:t>, </a:t>
            </a:r>
            <a:r>
              <a:rPr lang="zh-CN" altLang="en-US"/>
              <a:t>现在开发了一个登录功能，登录成功后，给前端返回了员工信息。但是在测试的时候，发现用户即使不登录，也是可以正常访问服务端功能接口的。这是为什么呢 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5783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8378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grpSp>
        <p:nvGrpSpPr>
          <p:cNvPr id="6" name="íS1iďê">
            <a:extLst>
              <a:ext uri="{FF2B5EF4-FFF2-40B4-BE49-F238E27FC236}">
                <a16:creationId xmlns:a16="http://schemas.microsoft.com/office/drawing/2014/main" id="{4883F772-DFB6-F082-E942-F47544710FF8}"/>
              </a:ext>
            </a:extLst>
          </p:cNvPr>
          <p:cNvGrpSpPr/>
          <p:nvPr userDrawn="1"/>
        </p:nvGrpSpPr>
        <p:grpSpPr>
          <a:xfrm>
            <a:off x="7262969" y="2396723"/>
            <a:ext cx="435738" cy="435738"/>
            <a:chOff x="7101141" y="4197557"/>
            <a:chExt cx="435738" cy="435738"/>
          </a:xfrm>
        </p:grpSpPr>
        <p:sp>
          <p:nvSpPr>
            <p:cNvPr id="11" name="iS1íḓê">
              <a:extLst>
                <a:ext uri="{FF2B5EF4-FFF2-40B4-BE49-F238E27FC236}">
                  <a16:creationId xmlns:a16="http://schemas.microsoft.com/office/drawing/2014/main" id="{6F73DB22-8BD9-67FD-6EBE-B56D6BF83FC2}"/>
                </a:ext>
              </a:extLst>
            </p:cNvPr>
            <p:cNvSpPr/>
            <p:nvPr/>
          </p:nvSpPr>
          <p:spPr>
            <a:xfrm>
              <a:off x="7101141" y="4197557"/>
              <a:ext cx="435738" cy="435738"/>
            </a:xfrm>
            <a:prstGeom prst="ellipse">
              <a:avLst/>
            </a:prstGeom>
            <a:solidFill>
              <a:schemeClr val="accent1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î$ľiḓe">
              <a:extLst>
                <a:ext uri="{FF2B5EF4-FFF2-40B4-BE49-F238E27FC236}">
                  <a16:creationId xmlns:a16="http://schemas.microsoft.com/office/drawing/2014/main" id="{82339D60-0D0F-E0A8-9FEF-57B1B018D0C7}"/>
                </a:ext>
              </a:extLst>
            </p:cNvPr>
            <p:cNvSpPr/>
            <p:nvPr userDrawn="1"/>
          </p:nvSpPr>
          <p:spPr>
            <a:xfrm>
              <a:off x="7252642" y="4348192"/>
              <a:ext cx="132735" cy="13273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形 8">
            <a:extLst>
              <a:ext uri="{FF2B5EF4-FFF2-40B4-BE49-F238E27FC236}">
                <a16:creationId xmlns:a16="http://schemas.microsoft.com/office/drawing/2014/main" id="{EA3F6F4D-08CF-9E00-D954-69D3520E64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14165" y="2469081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15250" y="2203927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1439" y="2924827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26BF0C3-E78F-A831-4B61-1EB569AD1BF9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 userDrawn="1"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6">
            <a:extLst>
              <a:ext uri="{FF2B5EF4-FFF2-40B4-BE49-F238E27FC236}">
                <a16:creationId xmlns:a16="http://schemas.microsoft.com/office/drawing/2014/main" id="{4CDC7559-85E2-2FE2-201F-FE73D47864C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4058865" y="2285292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600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íşľíďe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497713" y="2654820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542133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025447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817029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32269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04020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>
            <a:extLst>
              <a:ext uri="{FF2B5EF4-FFF2-40B4-BE49-F238E27FC236}">
                <a16:creationId xmlns:a16="http://schemas.microsoft.com/office/drawing/2014/main" id="{2AF40A4C-1FC6-C591-0585-7320B21E3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六边形 63">
            <a:extLst>
              <a:ext uri="{FF2B5EF4-FFF2-40B4-BE49-F238E27FC236}">
                <a16:creationId xmlns:a16="http://schemas.microsoft.com/office/drawing/2014/main" id="{64701D48-3612-F015-7A0D-8329972945A7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2097602" y="1569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699534" y="161763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0" name="图片 69">
            <a:extLst>
              <a:ext uri="{FF2B5EF4-FFF2-40B4-BE49-F238E27FC236}">
                <a16:creationId xmlns:a16="http://schemas.microsoft.com/office/drawing/2014/main" id="{7E174D6B-A975-223E-7D47-56F22CD52ED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16200000">
            <a:off x="9714885" y="3956140"/>
            <a:ext cx="3017782" cy="2517866"/>
          </a:xfrm>
          <a:prstGeom prst="rect">
            <a:avLst/>
          </a:prstGeom>
        </p:spPr>
      </p:pic>
      <p:sp>
        <p:nvSpPr>
          <p:cNvPr id="71" name="矩形 70">
            <a:extLst>
              <a:ext uri="{FF2B5EF4-FFF2-40B4-BE49-F238E27FC236}">
                <a16:creationId xmlns:a16="http://schemas.microsoft.com/office/drawing/2014/main" id="{105A365F-E05A-6A26-7E77-E6094786D794}"/>
              </a:ext>
            </a:extLst>
          </p:cNvPr>
          <p:cNvSpPr/>
          <p:nvPr userDrawn="1"/>
        </p:nvSpPr>
        <p:spPr>
          <a:xfrm>
            <a:off x="9005828" y="3429000"/>
            <a:ext cx="3359650" cy="3563035"/>
          </a:xfrm>
          <a:prstGeom prst="rect">
            <a:avLst/>
          </a:prstGeom>
          <a:gradFill flip="none" rotWithShape="1">
            <a:gsLst>
              <a:gs pos="57000">
                <a:schemeClr val="bg1">
                  <a:alpha val="77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D5FC8854-8C90-CD00-F013-8034EF541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>
            <a:off x="0" y="226026"/>
            <a:ext cx="4021016" cy="572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六边形 15">
            <a:extLst>
              <a:ext uri="{FF2B5EF4-FFF2-40B4-BE49-F238E27FC236}">
                <a16:creationId xmlns:a16="http://schemas.microsoft.com/office/drawing/2014/main" id="{1B81F0E8-945B-4099-5F07-E0BF1C3FBB59}"/>
              </a:ext>
            </a:extLst>
          </p:cNvPr>
          <p:cNvSpPr/>
          <p:nvPr userDrawn="1"/>
        </p:nvSpPr>
        <p:spPr>
          <a:xfrm>
            <a:off x="555427" y="4668099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六边形 16">
            <a:extLst>
              <a:ext uri="{FF2B5EF4-FFF2-40B4-BE49-F238E27FC236}">
                <a16:creationId xmlns:a16="http://schemas.microsoft.com/office/drawing/2014/main" id="{D22DB145-C6D6-05B9-DD0F-B45A661DEDD2}"/>
              </a:ext>
            </a:extLst>
          </p:cNvPr>
          <p:cNvSpPr/>
          <p:nvPr userDrawn="1"/>
        </p:nvSpPr>
        <p:spPr>
          <a:xfrm>
            <a:off x="232092" y="4846932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六边形 17">
            <a:extLst>
              <a:ext uri="{FF2B5EF4-FFF2-40B4-BE49-F238E27FC236}">
                <a16:creationId xmlns:a16="http://schemas.microsoft.com/office/drawing/2014/main" id="{78E05FA1-1830-1163-CFA5-036858DC6EA2}"/>
              </a:ext>
            </a:extLst>
          </p:cNvPr>
          <p:cNvSpPr/>
          <p:nvPr userDrawn="1"/>
        </p:nvSpPr>
        <p:spPr>
          <a:xfrm>
            <a:off x="1955455" y="5706649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六边形 18">
            <a:extLst>
              <a:ext uri="{FF2B5EF4-FFF2-40B4-BE49-F238E27FC236}">
                <a16:creationId xmlns:a16="http://schemas.microsoft.com/office/drawing/2014/main" id="{1D0E7228-5407-1A86-2892-01555374856E}"/>
              </a:ext>
            </a:extLst>
          </p:cNvPr>
          <p:cNvSpPr/>
          <p:nvPr userDrawn="1"/>
        </p:nvSpPr>
        <p:spPr>
          <a:xfrm>
            <a:off x="1627448" y="5881640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六边形 19">
            <a:extLst>
              <a:ext uri="{FF2B5EF4-FFF2-40B4-BE49-F238E27FC236}">
                <a16:creationId xmlns:a16="http://schemas.microsoft.com/office/drawing/2014/main" id="{0CF68392-9E49-E170-4987-E8A7BD1B9171}"/>
              </a:ext>
            </a:extLst>
          </p:cNvPr>
          <p:cNvSpPr/>
          <p:nvPr userDrawn="1"/>
        </p:nvSpPr>
        <p:spPr>
          <a:xfrm>
            <a:off x="1299441" y="6056631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六边形 20">
            <a:extLst>
              <a:ext uri="{FF2B5EF4-FFF2-40B4-BE49-F238E27FC236}">
                <a16:creationId xmlns:a16="http://schemas.microsoft.com/office/drawing/2014/main" id="{BA5C53E6-3097-0BFC-AE3F-DCCC9ABFCC41}"/>
              </a:ext>
            </a:extLst>
          </p:cNvPr>
          <p:cNvSpPr/>
          <p:nvPr userDrawn="1"/>
        </p:nvSpPr>
        <p:spPr>
          <a:xfrm>
            <a:off x="1627447" y="6235464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六边形 21">
            <a:extLst>
              <a:ext uri="{FF2B5EF4-FFF2-40B4-BE49-F238E27FC236}">
                <a16:creationId xmlns:a16="http://schemas.microsoft.com/office/drawing/2014/main" id="{7BB9746F-3D38-1E94-5F40-1229155F902F}"/>
              </a:ext>
            </a:extLst>
          </p:cNvPr>
          <p:cNvSpPr/>
          <p:nvPr userDrawn="1"/>
        </p:nvSpPr>
        <p:spPr>
          <a:xfrm>
            <a:off x="1955453" y="6414297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1B13494D-DE3A-78AB-5BF5-FE26BED9B467}"/>
              </a:ext>
            </a:extLst>
          </p:cNvPr>
          <p:cNvSpPr/>
          <p:nvPr userDrawn="1"/>
        </p:nvSpPr>
        <p:spPr>
          <a:xfrm>
            <a:off x="1955452" y="6771964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E64BE27-8CD5-64C8-DA45-C4F450978755}"/>
              </a:ext>
            </a:extLst>
          </p:cNvPr>
          <p:cNvSpPr/>
          <p:nvPr userDrawn="1"/>
        </p:nvSpPr>
        <p:spPr>
          <a:xfrm>
            <a:off x="2339455" y="6414297"/>
            <a:ext cx="877187" cy="75619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9F1A4A4-9140-E9B3-2465-B6C6B116EA24}"/>
              </a:ext>
            </a:extLst>
          </p:cNvPr>
          <p:cNvCxnSpPr>
            <a:cxnSpLocks/>
            <a:stCxn id="17" idx="1"/>
          </p:cNvCxnSpPr>
          <p:nvPr userDrawn="1"/>
        </p:nvCxnSpPr>
        <p:spPr>
          <a:xfrm>
            <a:off x="557568" y="5204599"/>
            <a:ext cx="143106" cy="178833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3816BB5-C9D9-3736-DBE3-5C9D49D12413}"/>
              </a:ext>
            </a:extLst>
          </p:cNvPr>
          <p:cNvCxnSpPr>
            <a:cxnSpLocks/>
          </p:cNvCxnSpPr>
          <p:nvPr userDrawn="1"/>
        </p:nvCxnSpPr>
        <p:spPr>
          <a:xfrm>
            <a:off x="700674" y="5383432"/>
            <a:ext cx="241121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4DA4CB6C-9F6A-DE38-1CF8-7B044D099826}"/>
              </a:ext>
            </a:extLst>
          </p:cNvPr>
          <p:cNvCxnSpPr>
            <a:cxnSpLocks/>
          </p:cNvCxnSpPr>
          <p:nvPr userDrawn="1"/>
        </p:nvCxnSpPr>
        <p:spPr>
          <a:xfrm>
            <a:off x="941795" y="5383432"/>
            <a:ext cx="340356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7748247-1ADA-2E10-4A56-8C9F5AFFC19E}"/>
              </a:ext>
            </a:extLst>
          </p:cNvPr>
          <p:cNvCxnSpPr>
            <a:cxnSpLocks/>
          </p:cNvCxnSpPr>
          <p:nvPr userDrawn="1"/>
        </p:nvCxnSpPr>
        <p:spPr>
          <a:xfrm>
            <a:off x="1282151" y="5383432"/>
            <a:ext cx="186338" cy="23514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EBDE2CE-D91D-FCC4-65D8-FFE3C343960A}"/>
              </a:ext>
            </a:extLst>
          </p:cNvPr>
          <p:cNvCxnSpPr>
            <a:cxnSpLocks/>
          </p:cNvCxnSpPr>
          <p:nvPr userDrawn="1"/>
        </p:nvCxnSpPr>
        <p:spPr>
          <a:xfrm flipH="1">
            <a:off x="789395" y="5385849"/>
            <a:ext cx="152400" cy="23273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FA3CEEE2-A968-7044-8F7E-49924BC5D637}"/>
              </a:ext>
            </a:extLst>
          </p:cNvPr>
          <p:cNvCxnSpPr>
            <a:cxnSpLocks/>
          </p:cNvCxnSpPr>
          <p:nvPr userDrawn="1"/>
        </p:nvCxnSpPr>
        <p:spPr>
          <a:xfrm flipH="1">
            <a:off x="1299441" y="5618580"/>
            <a:ext cx="166612" cy="2689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E0E0D50F-A487-0666-EDEC-7D96E6C96427}"/>
              </a:ext>
            </a:extLst>
          </p:cNvPr>
          <p:cNvCxnSpPr>
            <a:cxnSpLocks/>
            <a:endCxn id="20" idx="4"/>
          </p:cNvCxnSpPr>
          <p:nvPr userDrawn="1"/>
        </p:nvCxnSpPr>
        <p:spPr>
          <a:xfrm>
            <a:off x="1298551" y="5885364"/>
            <a:ext cx="90307" cy="171267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A11F5436-5727-F27B-A3D5-C50E7C74359F}"/>
              </a:ext>
            </a:extLst>
          </p:cNvPr>
          <p:cNvCxnSpPr>
            <a:cxnSpLocks/>
          </p:cNvCxnSpPr>
          <p:nvPr userDrawn="1"/>
        </p:nvCxnSpPr>
        <p:spPr>
          <a:xfrm>
            <a:off x="1666204" y="5794086"/>
            <a:ext cx="48130" cy="9127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74418B16-5C08-2DCA-1E88-267BD85D21A1}"/>
              </a:ext>
            </a:extLst>
          </p:cNvPr>
          <p:cNvCxnSpPr>
            <a:cxnSpLocks/>
          </p:cNvCxnSpPr>
          <p:nvPr userDrawn="1"/>
        </p:nvCxnSpPr>
        <p:spPr>
          <a:xfrm flipH="1">
            <a:off x="1666204" y="6593130"/>
            <a:ext cx="49118" cy="8422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3632BA59-A547-A328-DF46-1D52B8D1655E}"/>
              </a:ext>
            </a:extLst>
          </p:cNvPr>
          <p:cNvCxnSpPr>
            <a:cxnSpLocks/>
          </p:cNvCxnSpPr>
          <p:nvPr userDrawn="1"/>
        </p:nvCxnSpPr>
        <p:spPr>
          <a:xfrm flipH="1">
            <a:off x="1343704" y="6414297"/>
            <a:ext cx="49118" cy="8422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六边形 49">
            <a:extLst>
              <a:ext uri="{FF2B5EF4-FFF2-40B4-BE49-F238E27FC236}">
                <a16:creationId xmlns:a16="http://schemas.microsoft.com/office/drawing/2014/main" id="{04BF8CAF-E445-183A-C65E-1829BB22BC8B}"/>
              </a:ext>
            </a:extLst>
          </p:cNvPr>
          <p:cNvSpPr/>
          <p:nvPr userDrawn="1"/>
        </p:nvSpPr>
        <p:spPr>
          <a:xfrm>
            <a:off x="974992" y="382040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六边形 50">
            <a:extLst>
              <a:ext uri="{FF2B5EF4-FFF2-40B4-BE49-F238E27FC236}">
                <a16:creationId xmlns:a16="http://schemas.microsoft.com/office/drawing/2014/main" id="{F306C9B1-841C-DF4D-BC43-C866751AD001}"/>
              </a:ext>
            </a:extLst>
          </p:cNvPr>
          <p:cNvSpPr/>
          <p:nvPr userDrawn="1"/>
        </p:nvSpPr>
        <p:spPr>
          <a:xfrm>
            <a:off x="646985" y="557031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六边形 51">
            <a:extLst>
              <a:ext uri="{FF2B5EF4-FFF2-40B4-BE49-F238E27FC236}">
                <a16:creationId xmlns:a16="http://schemas.microsoft.com/office/drawing/2014/main" id="{B44FB676-9474-6E0D-E798-28692E8DD457}"/>
              </a:ext>
            </a:extLst>
          </p:cNvPr>
          <p:cNvSpPr/>
          <p:nvPr userDrawn="1"/>
        </p:nvSpPr>
        <p:spPr>
          <a:xfrm>
            <a:off x="318978" y="732022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六边形 52">
            <a:extLst>
              <a:ext uri="{FF2B5EF4-FFF2-40B4-BE49-F238E27FC236}">
                <a16:creationId xmlns:a16="http://schemas.microsoft.com/office/drawing/2014/main" id="{234CC26C-FACC-3DED-3F34-5D2FBCA21311}"/>
              </a:ext>
            </a:extLst>
          </p:cNvPr>
          <p:cNvSpPr/>
          <p:nvPr userDrawn="1"/>
        </p:nvSpPr>
        <p:spPr>
          <a:xfrm>
            <a:off x="320061" y="1085846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六边形 53">
            <a:extLst>
              <a:ext uri="{FF2B5EF4-FFF2-40B4-BE49-F238E27FC236}">
                <a16:creationId xmlns:a16="http://schemas.microsoft.com/office/drawing/2014/main" id="{27BFDA2D-5453-0AAC-FA6D-80640A23E4CE}"/>
              </a:ext>
            </a:extLst>
          </p:cNvPr>
          <p:cNvSpPr/>
          <p:nvPr userDrawn="1"/>
        </p:nvSpPr>
        <p:spPr>
          <a:xfrm>
            <a:off x="1193162" y="902636"/>
            <a:ext cx="877187" cy="75619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D6E4D0E4-FCF3-BB9C-5A85-F8866579A681}"/>
              </a:ext>
            </a:extLst>
          </p:cNvPr>
          <p:cNvCxnSpPr>
            <a:cxnSpLocks/>
            <a:endCxn id="54" idx="4"/>
          </p:cNvCxnSpPr>
          <p:nvPr userDrawn="1"/>
        </p:nvCxnSpPr>
        <p:spPr>
          <a:xfrm>
            <a:off x="1286822" y="737595"/>
            <a:ext cx="95389" cy="1650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35447903-F4ED-0ED7-ACFA-0D1874C73166}"/>
              </a:ext>
            </a:extLst>
          </p:cNvPr>
          <p:cNvCxnSpPr>
            <a:cxnSpLocks/>
          </p:cNvCxnSpPr>
          <p:nvPr userDrawn="1"/>
        </p:nvCxnSpPr>
        <p:spPr>
          <a:xfrm>
            <a:off x="974992" y="900435"/>
            <a:ext cx="95389" cy="1650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4B5F0C7E-934E-B416-B2C1-0ED3E1158D1B}"/>
              </a:ext>
            </a:extLst>
          </p:cNvPr>
          <p:cNvCxnSpPr>
            <a:cxnSpLocks/>
            <a:endCxn id="54" idx="5"/>
          </p:cNvCxnSpPr>
          <p:nvPr userDrawn="1"/>
        </p:nvCxnSpPr>
        <p:spPr>
          <a:xfrm flipH="1">
            <a:off x="1881300" y="902636"/>
            <a:ext cx="800116" cy="0"/>
          </a:xfrm>
          <a:prstGeom prst="line">
            <a:avLst/>
          </a:prstGeom>
          <a:ln w="1905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六边形 61">
            <a:extLst>
              <a:ext uri="{FF2B5EF4-FFF2-40B4-BE49-F238E27FC236}">
                <a16:creationId xmlns:a16="http://schemas.microsoft.com/office/drawing/2014/main" id="{E92D5E4E-5463-D659-E88A-9B0E73E8F50A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F6DAED8-09BD-99BA-55B5-30C06550058A}"/>
              </a:ext>
            </a:extLst>
          </p:cNvPr>
          <p:cNvSpPr/>
          <p:nvPr userDrawn="1"/>
        </p:nvSpPr>
        <p:spPr>
          <a:xfrm>
            <a:off x="-13621" y="0"/>
            <a:ext cx="3359650" cy="6858000"/>
          </a:xfrm>
          <a:prstGeom prst="rect">
            <a:avLst/>
          </a:prstGeom>
          <a:gradFill flip="none" rotWithShape="1">
            <a:gsLst>
              <a:gs pos="57000">
                <a:schemeClr val="bg1">
                  <a:alpha val="77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iṩ1iḍé">
            <a:extLst>
              <a:ext uri="{FF2B5EF4-FFF2-40B4-BE49-F238E27FC236}">
                <a16:creationId xmlns:a16="http://schemas.microsoft.com/office/drawing/2014/main" id="{CC34B1B4-6FB3-BEC2-20A8-5483C6F96776}"/>
              </a:ext>
            </a:extLst>
          </p:cNvPr>
          <p:cNvSpPr/>
          <p:nvPr userDrawn="1"/>
        </p:nvSpPr>
        <p:spPr>
          <a:xfrm>
            <a:off x="0" y="2689964"/>
            <a:ext cx="3798317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BB2F55FB-496C-E74E-1C82-4652339E01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380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76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A538EF61-0CF6-2735-4654-C2F60C1B5FB3}"/>
              </a:ext>
            </a:extLst>
          </p:cNvPr>
          <p:cNvSpPr/>
          <p:nvPr userDrawn="1"/>
        </p:nvSpPr>
        <p:spPr>
          <a:xfrm>
            <a:off x="-2775487" y="-1213758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598458E-0E6D-4FB0-21B2-2EA0673032D8}"/>
              </a:ext>
            </a:extLst>
          </p:cNvPr>
          <p:cNvSpPr/>
          <p:nvPr userDrawn="1"/>
        </p:nvSpPr>
        <p:spPr>
          <a:xfrm>
            <a:off x="-1044975" y="516754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22B59B6-AE89-188C-D588-A8407EC0DAF4}"/>
              </a:ext>
            </a:extLst>
          </p:cNvPr>
          <p:cNvSpPr/>
          <p:nvPr userDrawn="1"/>
        </p:nvSpPr>
        <p:spPr>
          <a:xfrm>
            <a:off x="556957" y="2118686"/>
            <a:ext cx="2620620" cy="26206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emf"/><Relationship Id="rId5" Type="http://schemas.openxmlformats.org/officeDocument/2006/relationships/image" Target="../media/image25.png"/><Relationship Id="rId4" Type="http://schemas.openxmlformats.org/officeDocument/2006/relationships/image" Target="../media/image24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5.png"/><Relationship Id="rId4" Type="http://schemas.openxmlformats.org/officeDocument/2006/relationships/image" Target="../media/image24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jwt.io/" TargetMode="Externa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20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后端开发</a:t>
            </a:r>
          </a:p>
        </p:txBody>
      </p:sp>
    </p:spTree>
    <p:extLst>
      <p:ext uri="{BB962C8B-B14F-4D97-AF65-F5344CB8AC3E}">
        <p14:creationId xmlns:p14="http://schemas.microsoft.com/office/powerpoint/2010/main" val="153553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69F84D-AEB6-CEDC-B3BE-3D458BBBE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Tlias</a:t>
            </a:r>
            <a:r>
              <a:rPr lang="zh-CN" altLang="en-US"/>
              <a:t>智能学习辅助系统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596C06E-61A8-18B5-B31A-03747A81E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770" y="896582"/>
            <a:ext cx="9677750" cy="4546764"/>
          </a:xfrm>
          <a:prstGeom prst="rect">
            <a:avLst/>
          </a:prstGeom>
          <a:ln>
            <a:solidFill>
              <a:schemeClr val="tx1">
                <a:lumMod val="20000"/>
                <a:lumOff val="80000"/>
              </a:schemeClr>
            </a:solidFill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EFB1222-38DD-5EFF-E1C1-54C71567A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763" y="1247794"/>
            <a:ext cx="9637060" cy="4729061"/>
          </a:xfrm>
          <a:prstGeom prst="rect">
            <a:avLst/>
          </a:prstGeom>
          <a:ln>
            <a:solidFill>
              <a:schemeClr val="tx1">
                <a:lumMod val="20000"/>
                <a:lumOff val="80000"/>
              </a:schemeClr>
            </a:solidFill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046E88A-614F-699A-A607-6D28B702C3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9337" y="1610218"/>
            <a:ext cx="9603639" cy="4599105"/>
          </a:xfrm>
          <a:prstGeom prst="rect">
            <a:avLst/>
          </a:prstGeom>
          <a:ln>
            <a:solidFill>
              <a:schemeClr val="tx1">
                <a:lumMod val="20000"/>
                <a:lumOff val="80000"/>
              </a:schemeClr>
            </a:solidFill>
          </a:ln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9770FA4-A803-1195-6BAA-E3A6C6F7E3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6925" y="1962948"/>
            <a:ext cx="9498505" cy="4468409"/>
          </a:xfrm>
          <a:prstGeom prst="rect">
            <a:avLst/>
          </a:prstGeom>
          <a:ln>
            <a:solidFill>
              <a:schemeClr val="tx1">
                <a:lumMod val="20000"/>
                <a:lumOff val="80000"/>
              </a:schemeClr>
            </a:solidFill>
          </a:ln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A283703-7704-F1F3-F778-050E768399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66735" y="2314459"/>
            <a:ext cx="9498505" cy="4506663"/>
          </a:xfrm>
          <a:prstGeom prst="rect">
            <a:avLst/>
          </a:prstGeom>
          <a:ln>
            <a:solidFill>
              <a:schemeClr val="tx1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7488924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07AD394-015D-357D-CD53-C51A2F1FD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423" y="938192"/>
            <a:ext cx="10378379" cy="4924128"/>
          </a:xfrm>
          <a:prstGeom prst="rect">
            <a:avLst/>
          </a:prstGeom>
          <a:ln>
            <a:solidFill>
              <a:schemeClr val="tx1">
                <a:lumMod val="20000"/>
                <a:lumOff val="80000"/>
              </a:schemeClr>
            </a:solidFill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89695CE-1E82-BB0B-5148-411ED38D8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707" y="938192"/>
            <a:ext cx="10390095" cy="511438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1EF5AF5-3194-4519-537F-D0FBDAF7A3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8731" y="1354752"/>
            <a:ext cx="1638442" cy="411516"/>
          </a:xfrm>
          <a:prstGeom prst="round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AAF1BDB-8A42-24EC-0A1D-22669697DD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4023" y="1362373"/>
            <a:ext cx="1127858" cy="403895"/>
          </a:xfrm>
          <a:prstGeom prst="roundRect">
            <a:avLst>
              <a:gd name="adj" fmla="val 10008"/>
            </a:avLst>
          </a:prstGeom>
        </p:spPr>
      </p:pic>
    </p:spTree>
    <p:extLst>
      <p:ext uri="{BB962C8B-B14F-4D97-AF65-F5344CB8AC3E}">
        <p14:creationId xmlns:p14="http://schemas.microsoft.com/office/powerpoint/2010/main" val="17681147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47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55049-DD2C-458B-6224-9DD4E1C22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DABB08-BE20-6777-D422-8ECE388B6B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后端开发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053598-2F4F-E401-19F5-2E4746016F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401" y="3586894"/>
            <a:ext cx="4619812" cy="563562"/>
          </a:xfrm>
        </p:spPr>
        <p:txBody>
          <a:bodyPr/>
          <a:lstStyle/>
          <a:p>
            <a:r>
              <a:rPr lang="zh-CN" altLang="en-US"/>
              <a:t>登录认证</a:t>
            </a: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730976743"/>
      </p:ext>
    </p:extLst>
  </p:cSld>
  <p:clrMapOvr>
    <a:masterClrMapping/>
  </p:clrMapOvr>
  <p:transition spd="med">
    <p:pull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4F3F798-CC89-61DF-7EFB-39C7754B9A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登录功能</a:t>
            </a:r>
            <a:endParaRPr lang="en-US" altLang="zh-CN"/>
          </a:p>
          <a:p>
            <a:r>
              <a:rPr lang="zh-CN" altLang="en-US"/>
              <a:t>登录校验</a:t>
            </a:r>
          </a:p>
        </p:txBody>
      </p:sp>
    </p:spTree>
    <p:extLst>
      <p:ext uri="{BB962C8B-B14F-4D97-AF65-F5344CB8AC3E}">
        <p14:creationId xmlns:p14="http://schemas.microsoft.com/office/powerpoint/2010/main" val="2789567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995F6E6-0FD2-9B55-68F2-1C8CCA7C43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登录功能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24445D-B2D4-2E99-8E8B-E1E89991F87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4553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21728B-0BE9-EF0E-8B63-184995BEC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思路分析</a:t>
            </a:r>
          </a:p>
        </p:txBody>
      </p:sp>
      <p:sp>
        <p:nvSpPr>
          <p:cNvPr id="4" name="文本占位符 1">
            <a:extLst>
              <a:ext uri="{FF2B5EF4-FFF2-40B4-BE49-F238E27FC236}">
                <a16:creationId xmlns:a16="http://schemas.microsoft.com/office/drawing/2014/main" id="{A43FE7DD-146C-BF4E-715A-90D6C2362A72}"/>
              </a:ext>
            </a:extLst>
          </p:cNvPr>
          <p:cNvSpPr txBox="1">
            <a:spLocks/>
          </p:cNvSpPr>
          <p:nvPr/>
        </p:nvSpPr>
        <p:spPr>
          <a:xfrm>
            <a:off x="718593" y="4375490"/>
            <a:ext cx="5969076" cy="23032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b="1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怎么样才算登录成功了呢</a:t>
            </a:r>
            <a:r>
              <a:rPr lang="en-US" altLang="zh-CN" b="1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?</a:t>
            </a:r>
          </a:p>
          <a:p>
            <a:pPr marL="612000"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用户名和密码都输入正确，</a:t>
            </a:r>
            <a:r>
              <a:rPr lang="zh-CN" altLang="en-US" sz="1400">
                <a:solidFill>
                  <a:srgbClr val="00B05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登录成功</a:t>
            </a:r>
            <a:endParaRPr lang="en-US" altLang="zh-CN" sz="1400">
              <a:solidFill>
                <a:srgbClr val="00B050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612000"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否则，</a:t>
            </a:r>
            <a:r>
              <a:rPr lang="zh-CN" altLang="en-US" sz="14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登录失败</a:t>
            </a:r>
            <a:endParaRPr lang="en-US" altLang="zh-CN" sz="1400">
              <a:solidFill>
                <a:srgbClr val="C0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b="1">
                <a:latin typeface="Fira Code" panose="020B0809050000020004" pitchFamily="49" charset="0"/>
              </a:rPr>
              <a:t>登录功能的本质是什么</a:t>
            </a:r>
            <a:r>
              <a:rPr lang="en-US" altLang="zh-CN" sz="1600" b="1">
                <a:latin typeface="Fira Code" panose="020B0809050000020004" pitchFamily="49" charset="0"/>
                <a:ea typeface="Fira Code" panose="020B0809050000020004" pitchFamily="49" charset="0"/>
              </a:rPr>
              <a:t>?</a:t>
            </a:r>
          </a:p>
          <a:p>
            <a:pPr marL="612000"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查询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612000"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根据用户名和密码查询员工信息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42F5135-0ADD-7D86-A6B9-FCC259BC6A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8" t="671" r="5132" b="1176"/>
          <a:stretch/>
        </p:blipFill>
        <p:spPr>
          <a:xfrm>
            <a:off x="718593" y="1045007"/>
            <a:ext cx="5969076" cy="301604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5509801-65C6-5B10-08A0-8F75B1574D0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7217"/>
          <a:stretch/>
        </p:blipFill>
        <p:spPr>
          <a:xfrm>
            <a:off x="7373724" y="1045007"/>
            <a:ext cx="4263669" cy="5356517"/>
          </a:xfrm>
          <a:prstGeom prst="flowChartDocumen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89338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456F82-FAB3-4AC5-D8ED-0D2F0476F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员工登录</a:t>
            </a:r>
            <a:r>
              <a:rPr lang="en-US" altLang="zh-CN"/>
              <a:t>-</a:t>
            </a:r>
            <a:r>
              <a:rPr lang="zh-CN" altLang="en-US"/>
              <a:t>思路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54C530F-65D6-BB0F-8F7E-9D50A5D4A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8352" y="4119456"/>
            <a:ext cx="932333" cy="1302786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55086A16-DFC6-8623-43F4-CC1B89EFE526}"/>
              </a:ext>
            </a:extLst>
          </p:cNvPr>
          <p:cNvGrpSpPr/>
          <p:nvPr/>
        </p:nvGrpSpPr>
        <p:grpSpPr>
          <a:xfrm>
            <a:off x="770959" y="4455304"/>
            <a:ext cx="780070" cy="786974"/>
            <a:chOff x="1288572" y="3466291"/>
            <a:chExt cx="1076475" cy="1086002"/>
          </a:xfrm>
        </p:grpSpPr>
        <p:pic>
          <p:nvPicPr>
            <p:cNvPr id="5" name="图片 0">
              <a:extLst>
                <a:ext uri="{FF2B5EF4-FFF2-40B4-BE49-F238E27FC236}">
                  <a16:creationId xmlns:a16="http://schemas.microsoft.com/office/drawing/2014/main" id="{B36900B7-4BAA-0EBC-2736-95DD683988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88572" y="3466291"/>
              <a:ext cx="1076475" cy="1086002"/>
            </a:xfrm>
            <a:prstGeom prst="rect">
              <a:avLst/>
            </a:prstGeom>
          </p:spPr>
        </p:pic>
        <p:pic>
          <p:nvPicPr>
            <p:cNvPr id="6" name="图片 1">
              <a:extLst>
                <a:ext uri="{FF2B5EF4-FFF2-40B4-BE49-F238E27FC236}">
                  <a16:creationId xmlns:a16="http://schemas.microsoft.com/office/drawing/2014/main" id="{99DB12D2-4714-C499-A6A3-8D84DD07E6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02940" y="3784462"/>
              <a:ext cx="447737" cy="447737"/>
            </a:xfrm>
            <a:prstGeom prst="rect">
              <a:avLst/>
            </a:prstGeom>
          </p:spPr>
        </p:pic>
      </p:grpSp>
      <p:sp>
        <p:nvSpPr>
          <p:cNvPr id="7" name="箭头: 右 6">
            <a:extLst>
              <a:ext uri="{FF2B5EF4-FFF2-40B4-BE49-F238E27FC236}">
                <a16:creationId xmlns:a16="http://schemas.microsoft.com/office/drawing/2014/main" id="{5927F0A9-4B9C-58C7-6473-971FB2E85CCC}"/>
              </a:ext>
            </a:extLst>
          </p:cNvPr>
          <p:cNvSpPr/>
          <p:nvPr/>
        </p:nvSpPr>
        <p:spPr>
          <a:xfrm>
            <a:off x="1718586" y="4653029"/>
            <a:ext cx="525226" cy="391525"/>
          </a:xfrm>
          <a:prstGeom prst="rightArrow">
            <a:avLst>
              <a:gd name="adj1" fmla="val 50000"/>
              <a:gd name="adj2" fmla="val 6831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D5B22F0F-C935-036B-6026-AC94135B72CB}"/>
              </a:ext>
            </a:extLst>
          </p:cNvPr>
          <p:cNvSpPr/>
          <p:nvPr/>
        </p:nvSpPr>
        <p:spPr>
          <a:xfrm>
            <a:off x="4434892" y="4653029"/>
            <a:ext cx="525226" cy="391525"/>
          </a:xfrm>
          <a:prstGeom prst="rightArrow">
            <a:avLst>
              <a:gd name="adj1" fmla="val 50000"/>
              <a:gd name="adj2" fmla="val 6831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CB8F6930-118F-4019-31B8-CA93C43C6919}"/>
              </a:ext>
            </a:extLst>
          </p:cNvPr>
          <p:cNvSpPr/>
          <p:nvPr/>
        </p:nvSpPr>
        <p:spPr>
          <a:xfrm>
            <a:off x="7231879" y="4653029"/>
            <a:ext cx="525226" cy="391525"/>
          </a:xfrm>
          <a:prstGeom prst="rightArrow">
            <a:avLst>
              <a:gd name="adj1" fmla="val 50000"/>
              <a:gd name="adj2" fmla="val 6831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B8460B46-C507-A0DB-ADD8-7EE02F7A74ED}"/>
              </a:ext>
            </a:extLst>
          </p:cNvPr>
          <p:cNvSpPr/>
          <p:nvPr/>
        </p:nvSpPr>
        <p:spPr>
          <a:xfrm>
            <a:off x="9948185" y="4653029"/>
            <a:ext cx="525226" cy="391525"/>
          </a:xfrm>
          <a:prstGeom prst="rightArrow">
            <a:avLst>
              <a:gd name="adj1" fmla="val 50000"/>
              <a:gd name="adj2" fmla="val 6831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E3B9535-0727-3DFE-81A9-7D936B14EC61}"/>
              </a:ext>
            </a:extLst>
          </p:cNvPr>
          <p:cNvGrpSpPr/>
          <p:nvPr/>
        </p:nvGrpSpPr>
        <p:grpSpPr>
          <a:xfrm>
            <a:off x="2348753" y="3617846"/>
            <a:ext cx="1900517" cy="2611635"/>
            <a:chOff x="2303931" y="2912210"/>
            <a:chExt cx="1900517" cy="2611635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FBD2060D-8266-CC26-5181-72C5AD186567}"/>
                </a:ext>
              </a:extLst>
            </p:cNvPr>
            <p:cNvSpPr/>
            <p:nvPr/>
          </p:nvSpPr>
          <p:spPr>
            <a:xfrm>
              <a:off x="2303931" y="2912210"/>
              <a:ext cx="1900517" cy="40341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Controller</a:t>
              </a:r>
              <a:endPara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流程图: 文档 12">
              <a:extLst>
                <a:ext uri="{FF2B5EF4-FFF2-40B4-BE49-F238E27FC236}">
                  <a16:creationId xmlns:a16="http://schemas.microsoft.com/office/drawing/2014/main" id="{7E361A8E-C236-9661-9B97-3AD0C07414E5}"/>
                </a:ext>
              </a:extLst>
            </p:cNvPr>
            <p:cNvSpPr/>
            <p:nvPr/>
          </p:nvSpPr>
          <p:spPr>
            <a:xfrm>
              <a:off x="2303931" y="3316712"/>
              <a:ext cx="1900517" cy="2207133"/>
            </a:xfrm>
            <a:prstGeom prst="flowChartDocument">
              <a:avLst/>
            </a:prstGeom>
            <a:solidFill>
              <a:srgbClr val="42D1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4" name="!!流程图: 文档 1">
            <a:extLst>
              <a:ext uri="{FF2B5EF4-FFF2-40B4-BE49-F238E27FC236}">
                <a16:creationId xmlns:a16="http://schemas.microsoft.com/office/drawing/2014/main" id="{1CA66E88-8B2C-8740-84E4-971402B07AD6}"/>
              </a:ext>
            </a:extLst>
          </p:cNvPr>
          <p:cNvSpPr/>
          <p:nvPr/>
        </p:nvSpPr>
        <p:spPr>
          <a:xfrm>
            <a:off x="2348752" y="4018538"/>
            <a:ext cx="1900517" cy="2207133"/>
          </a:xfrm>
          <a:prstGeom prst="flowChartDocument">
            <a:avLst/>
          </a:prstGeom>
          <a:solidFill>
            <a:srgbClr val="42D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接收请求参数</a:t>
            </a:r>
            <a:r>
              <a:rPr lang="en-US" altLang="zh-CN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用户名、密码</a:t>
            </a:r>
            <a:r>
              <a:rPr lang="en-US" altLang="zh-CN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en-US" altLang="zh-CN" sz="11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调用</a:t>
            </a:r>
            <a:r>
              <a:rPr lang="en-US" altLang="zh-CN" sz="11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Service</a:t>
            </a:r>
            <a:r>
              <a:rPr lang="zh-CN" altLang="en-US" sz="11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方法</a:t>
            </a:r>
            <a:endParaRPr lang="en-US" altLang="zh-CN" sz="11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响应结果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BAB3917-018D-5EC4-899B-C2DF1DB0CE7B}"/>
              </a:ext>
            </a:extLst>
          </p:cNvPr>
          <p:cNvGrpSpPr/>
          <p:nvPr/>
        </p:nvGrpSpPr>
        <p:grpSpPr>
          <a:xfrm>
            <a:off x="5145740" y="3617846"/>
            <a:ext cx="1900517" cy="2615624"/>
            <a:chOff x="5100918" y="2912210"/>
            <a:chExt cx="1900517" cy="2615624"/>
          </a:xfrm>
        </p:grpSpPr>
        <p:sp>
          <p:nvSpPr>
            <p:cNvPr id="16" name="流程图: 文档 15">
              <a:extLst>
                <a:ext uri="{FF2B5EF4-FFF2-40B4-BE49-F238E27FC236}">
                  <a16:creationId xmlns:a16="http://schemas.microsoft.com/office/drawing/2014/main" id="{ED2F65DB-1071-124D-7115-36520996AB11}"/>
                </a:ext>
              </a:extLst>
            </p:cNvPr>
            <p:cNvSpPr/>
            <p:nvPr/>
          </p:nvSpPr>
          <p:spPr>
            <a:xfrm>
              <a:off x="5100918" y="3320701"/>
              <a:ext cx="1900517" cy="2207133"/>
            </a:xfrm>
            <a:prstGeom prst="flowChartDocument">
              <a:avLst/>
            </a:prstGeom>
            <a:solidFill>
              <a:srgbClr val="42D1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91C27A61-8704-8E2D-582F-B5DE6FD406DD}"/>
                </a:ext>
              </a:extLst>
            </p:cNvPr>
            <p:cNvSpPr/>
            <p:nvPr/>
          </p:nvSpPr>
          <p:spPr>
            <a:xfrm>
              <a:off x="5100918" y="2912210"/>
              <a:ext cx="1900517" cy="40341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Service</a:t>
              </a:r>
              <a:endParaRPr lang="zh-CN" altLang="en-US" sz="105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8" name="流程图: 文档 17">
            <a:extLst>
              <a:ext uri="{FF2B5EF4-FFF2-40B4-BE49-F238E27FC236}">
                <a16:creationId xmlns:a16="http://schemas.microsoft.com/office/drawing/2014/main" id="{ADEC1544-EFAE-6A03-C886-805C1E95E305}"/>
              </a:ext>
            </a:extLst>
          </p:cNvPr>
          <p:cNvSpPr/>
          <p:nvPr/>
        </p:nvSpPr>
        <p:spPr>
          <a:xfrm>
            <a:off x="5145740" y="4021257"/>
            <a:ext cx="1900517" cy="2207133"/>
          </a:xfrm>
          <a:prstGeom prst="flowChartDocument">
            <a:avLst/>
          </a:prstGeom>
          <a:solidFill>
            <a:srgbClr val="42D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根据用户名和密码查询员工信息</a:t>
            </a:r>
            <a:endParaRPr lang="en-US" altLang="zh-CN" sz="1100">
              <a:solidFill>
                <a:srgbClr val="FF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判定，组装数据并返回</a:t>
            </a:r>
            <a:endParaRPr lang="en-US" altLang="zh-CN" sz="1100">
              <a:solidFill>
                <a:srgbClr val="FF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2F651F2-0D83-99D5-6CC6-2089131087AE}"/>
              </a:ext>
            </a:extLst>
          </p:cNvPr>
          <p:cNvGrpSpPr/>
          <p:nvPr/>
        </p:nvGrpSpPr>
        <p:grpSpPr>
          <a:xfrm>
            <a:off x="7942726" y="3617846"/>
            <a:ext cx="1900518" cy="2607825"/>
            <a:chOff x="7897904" y="2912210"/>
            <a:chExt cx="1900518" cy="2607825"/>
          </a:xfrm>
        </p:grpSpPr>
        <p:sp>
          <p:nvSpPr>
            <p:cNvPr id="20" name="流程图: 文档 19">
              <a:extLst>
                <a:ext uri="{FF2B5EF4-FFF2-40B4-BE49-F238E27FC236}">
                  <a16:creationId xmlns:a16="http://schemas.microsoft.com/office/drawing/2014/main" id="{54C5893C-8F06-6D12-8CFF-C5F1BEE143EF}"/>
                </a:ext>
              </a:extLst>
            </p:cNvPr>
            <p:cNvSpPr/>
            <p:nvPr/>
          </p:nvSpPr>
          <p:spPr>
            <a:xfrm>
              <a:off x="7897904" y="3312902"/>
              <a:ext cx="1900517" cy="2207133"/>
            </a:xfrm>
            <a:prstGeom prst="flowChartDocument">
              <a:avLst/>
            </a:prstGeom>
            <a:solidFill>
              <a:srgbClr val="42D1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302F82F3-EC27-7405-8DBC-47B0BE1F7396}"/>
                </a:ext>
              </a:extLst>
            </p:cNvPr>
            <p:cNvSpPr/>
            <p:nvPr/>
          </p:nvSpPr>
          <p:spPr>
            <a:xfrm>
              <a:off x="7897905" y="2912210"/>
              <a:ext cx="1900517" cy="40341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Mapper</a:t>
              </a:r>
              <a:endPara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2" name="!!流程图: 文档 22">
            <a:extLst>
              <a:ext uri="{FF2B5EF4-FFF2-40B4-BE49-F238E27FC236}">
                <a16:creationId xmlns:a16="http://schemas.microsoft.com/office/drawing/2014/main" id="{31490123-4967-A735-74D1-B1F397580EA9}"/>
              </a:ext>
            </a:extLst>
          </p:cNvPr>
          <p:cNvSpPr/>
          <p:nvPr/>
        </p:nvSpPr>
        <p:spPr>
          <a:xfrm>
            <a:off x="7942725" y="4018537"/>
            <a:ext cx="1900517" cy="2207133"/>
          </a:xfrm>
          <a:prstGeom prst="flowChartDocument">
            <a:avLst/>
          </a:prstGeom>
          <a:solidFill>
            <a:srgbClr val="42D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en-US" altLang="zh-CN" sz="1200" b="1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SQL:</a:t>
            </a: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altLang="zh-CN" sz="10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select * from emp where username = ? and password = ?</a:t>
            </a:r>
            <a:endParaRPr lang="zh-CN" altLang="en-US" sz="10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0ED4197D-0EA3-142B-D87C-4BA0DD53BFC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48" t="671" r="5132" b="1176"/>
          <a:stretch/>
        </p:blipFill>
        <p:spPr>
          <a:xfrm>
            <a:off x="4082936" y="1051345"/>
            <a:ext cx="4026127" cy="203431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844864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4" grpId="0" animBg="1"/>
      <p:bldP spid="18" grpId="0" animBg="1"/>
      <p:bldP spid="2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FC4CF2-B74D-76A0-416D-2E93658AE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联调测试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76A03F-EE17-FB3A-BA72-8192E9789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98013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问题：</a:t>
            </a:r>
            <a:r>
              <a:rPr lang="zh-CN" altLang="en-US" sz="1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在未登录情况下，我们也可以直接访问部门管理、员工管理等功能。</a:t>
            </a:r>
            <a:endParaRPr lang="en-US" altLang="zh-CN" sz="16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需求：只有员工登录成功，才可以访问后台系统中的数据。</a:t>
            </a:r>
            <a:endParaRPr lang="en-US" altLang="zh-CN" sz="16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9624B9A8-A441-6E32-A066-62E09C9DD886}"/>
              </a:ext>
            </a:extLst>
          </p:cNvPr>
          <p:cNvSpPr/>
          <p:nvPr/>
        </p:nvSpPr>
        <p:spPr>
          <a:xfrm>
            <a:off x="763732" y="3076289"/>
            <a:ext cx="10664536" cy="3422460"/>
          </a:xfrm>
          <a:prstGeom prst="roundRect">
            <a:avLst>
              <a:gd name="adj" fmla="val 3016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3">
                  <a:lumMod val="20000"/>
                  <a:lumOff val="80000"/>
                  <a:alpha val="59000"/>
                </a:schemeClr>
              </a:solidFill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9BBB320-187A-B43B-BFA2-4459D3C11195}"/>
              </a:ext>
            </a:extLst>
          </p:cNvPr>
          <p:cNvSpPr/>
          <p:nvPr/>
        </p:nvSpPr>
        <p:spPr>
          <a:xfrm>
            <a:off x="6785780" y="3380622"/>
            <a:ext cx="2927886" cy="2590913"/>
          </a:xfrm>
          <a:prstGeom prst="roundRect">
            <a:avLst>
              <a:gd name="adj" fmla="val 2516"/>
            </a:avLst>
          </a:prstGeom>
          <a:gradFill flip="none" rotWithShape="1">
            <a:gsLst>
              <a:gs pos="0">
                <a:srgbClr val="42D2D0"/>
              </a:gs>
              <a:gs pos="100000">
                <a:srgbClr val="42D2D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BF108301-4F0A-4587-EBA6-1E724AE5502A}"/>
              </a:ext>
            </a:extLst>
          </p:cNvPr>
          <p:cNvCxnSpPr>
            <a:cxnSpLocks/>
          </p:cNvCxnSpPr>
          <p:nvPr/>
        </p:nvCxnSpPr>
        <p:spPr>
          <a:xfrm flipV="1">
            <a:off x="2222866" y="4101955"/>
            <a:ext cx="4936442" cy="462136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41A8FE8C-9DF1-2A78-1B6B-F23B40CF0B8B}"/>
              </a:ext>
            </a:extLst>
          </p:cNvPr>
          <p:cNvSpPr txBox="1"/>
          <p:nvPr/>
        </p:nvSpPr>
        <p:spPr>
          <a:xfrm>
            <a:off x="1306005" y="5247035"/>
            <a:ext cx="8070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浏览器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5695A97-EC5E-548E-BA9C-051D6CDB9A3C}"/>
              </a:ext>
            </a:extLst>
          </p:cNvPr>
          <p:cNvSpPr txBox="1"/>
          <p:nvPr/>
        </p:nvSpPr>
        <p:spPr>
          <a:xfrm>
            <a:off x="7695807" y="6060316"/>
            <a:ext cx="14679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Web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服务器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4ED136A-E5DE-AAC0-31DB-446427FF9236}"/>
              </a:ext>
            </a:extLst>
          </p:cNvPr>
          <p:cNvSpPr txBox="1"/>
          <p:nvPr/>
        </p:nvSpPr>
        <p:spPr>
          <a:xfrm rot="21301708">
            <a:off x="4341398" y="4100314"/>
            <a:ext cx="5330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1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请求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341B7E7-D4B0-579C-A417-2175A4EB087E}"/>
              </a:ext>
            </a:extLst>
          </p:cNvPr>
          <p:cNvGrpSpPr/>
          <p:nvPr/>
        </p:nvGrpSpPr>
        <p:grpSpPr>
          <a:xfrm>
            <a:off x="1306005" y="4333528"/>
            <a:ext cx="780070" cy="786974"/>
            <a:chOff x="1288572" y="3466291"/>
            <a:chExt cx="1076475" cy="1086002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2E1DABEB-1981-53CB-4930-561E86A8C5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88572" y="3466291"/>
              <a:ext cx="1076475" cy="1086002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48D75D9D-6C42-7769-51C7-DEECC256F3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02940" y="3784462"/>
              <a:ext cx="447737" cy="447737"/>
            </a:xfrm>
            <a:prstGeom prst="rect">
              <a:avLst/>
            </a:prstGeom>
          </p:spPr>
        </p:pic>
      </p:grp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B9C74DB-F021-FD2E-6B27-C1B3FEA9DF70}"/>
              </a:ext>
            </a:extLst>
          </p:cNvPr>
          <p:cNvSpPr/>
          <p:nvPr/>
        </p:nvSpPr>
        <p:spPr>
          <a:xfrm>
            <a:off x="7168273" y="3634255"/>
            <a:ext cx="2145318" cy="2093310"/>
          </a:xfrm>
          <a:prstGeom prst="roundRect">
            <a:avLst>
              <a:gd name="adj" fmla="val 3205"/>
            </a:avLst>
          </a:prstGeom>
          <a:noFill/>
          <a:ln w="6350">
            <a:solidFill>
              <a:schemeClr val="tx1">
                <a:lumMod val="65000"/>
                <a:lumOff val="3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44B291CF-4AC3-C554-497F-89F3B40747AA}"/>
              </a:ext>
            </a:extLst>
          </p:cNvPr>
          <p:cNvCxnSpPr>
            <a:cxnSpLocks/>
          </p:cNvCxnSpPr>
          <p:nvPr/>
        </p:nvCxnSpPr>
        <p:spPr>
          <a:xfrm flipH="1" flipV="1">
            <a:off x="2220547" y="4908508"/>
            <a:ext cx="4938761" cy="506583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2FA77475-95F0-DEC8-F70B-8A7B4CF3AB4A}"/>
              </a:ext>
            </a:extLst>
          </p:cNvPr>
          <p:cNvSpPr txBox="1"/>
          <p:nvPr/>
        </p:nvSpPr>
        <p:spPr>
          <a:xfrm rot="396096">
            <a:off x="4323399" y="5143411"/>
            <a:ext cx="5330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1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响应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!!文本框 35">
            <a:extLst>
              <a:ext uri="{FF2B5EF4-FFF2-40B4-BE49-F238E27FC236}">
                <a16:creationId xmlns:a16="http://schemas.microsoft.com/office/drawing/2014/main" id="{72939B65-7F19-E09D-E1D0-098312A05A4E}"/>
              </a:ext>
            </a:extLst>
          </p:cNvPr>
          <p:cNvSpPr txBox="1"/>
          <p:nvPr/>
        </p:nvSpPr>
        <p:spPr>
          <a:xfrm>
            <a:off x="5968818" y="4516391"/>
            <a:ext cx="1487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登录校验</a:t>
            </a:r>
            <a:endParaRPr lang="zh-CN" altLang="en-US" sz="2400" b="1" dirty="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1EA2376-E72F-1194-5A4A-83D618E36431}"/>
              </a:ext>
            </a:extLst>
          </p:cNvPr>
          <p:cNvSpPr/>
          <p:nvPr/>
        </p:nvSpPr>
        <p:spPr>
          <a:xfrm>
            <a:off x="7387818" y="3773945"/>
            <a:ext cx="1706227" cy="404675"/>
          </a:xfrm>
          <a:prstGeom prst="roundRect">
            <a:avLst/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Login</a:t>
            </a:r>
            <a:endParaRPr lang="zh-CN" altLang="en-US" sz="12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8D4A498-8E15-0A09-3C24-D009E655A64B}"/>
              </a:ext>
            </a:extLst>
          </p:cNvPr>
          <p:cNvSpPr/>
          <p:nvPr/>
        </p:nvSpPr>
        <p:spPr>
          <a:xfrm>
            <a:off x="7387816" y="4252016"/>
            <a:ext cx="1706227" cy="404675"/>
          </a:xfrm>
          <a:prstGeom prst="roundRect">
            <a:avLst/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Emp</a:t>
            </a:r>
            <a:endParaRPr lang="zh-CN" altLang="en-US" sz="12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59FA8F4-F281-1CAF-EAEB-65BE7F9D75A6}"/>
              </a:ext>
            </a:extLst>
          </p:cNvPr>
          <p:cNvSpPr/>
          <p:nvPr/>
        </p:nvSpPr>
        <p:spPr>
          <a:xfrm>
            <a:off x="7396609" y="4735517"/>
            <a:ext cx="1706227" cy="404675"/>
          </a:xfrm>
          <a:prstGeom prst="roundRect">
            <a:avLst/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Dept</a:t>
            </a:r>
            <a:endParaRPr lang="zh-CN" altLang="en-US" sz="12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9E5598C-3D14-49BE-A4AA-0789E41484B8}"/>
              </a:ext>
            </a:extLst>
          </p:cNvPr>
          <p:cNvSpPr/>
          <p:nvPr/>
        </p:nvSpPr>
        <p:spPr>
          <a:xfrm>
            <a:off x="7396609" y="5222497"/>
            <a:ext cx="1706227" cy="404675"/>
          </a:xfrm>
          <a:prstGeom prst="roundRect">
            <a:avLst/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Report</a:t>
            </a:r>
            <a:endParaRPr lang="zh-CN" altLang="en-US" sz="12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6200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/>
      <p:bldP spid="8" grpId="0"/>
      <p:bldP spid="9" grpId="0"/>
      <p:bldP spid="13" grpId="0" animBg="1"/>
      <p:bldP spid="15" grpId="0"/>
      <p:bldP spid="16" grpId="0"/>
      <p:bldP spid="17" grpId="0" animBg="1"/>
      <p:bldP spid="18" grpId="0" animBg="1"/>
      <p:bldP spid="19" grpId="0" animBg="1"/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4F3F798-CC89-61DF-7EFB-39C7754B9A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登录功能</a:t>
            </a:r>
            <a:endParaRPr lang="en-US" altLang="zh-CN"/>
          </a:p>
          <a:p>
            <a:r>
              <a:rPr lang="zh-CN" altLang="en-US"/>
              <a:t>登录校验</a:t>
            </a:r>
          </a:p>
        </p:txBody>
      </p:sp>
    </p:spTree>
    <p:extLst>
      <p:ext uri="{BB962C8B-B14F-4D97-AF65-F5344CB8AC3E}">
        <p14:creationId xmlns:p14="http://schemas.microsoft.com/office/powerpoint/2010/main" val="1643703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B8DA87-FD6C-FBB0-B363-736345AB02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登录校验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1D50508-E0D4-47F2-035C-4233AC418A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5815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276BD0-5BB4-1476-1D3B-8DAFC38A0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登录校验思路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E79CB695-B97E-3CEE-A3CB-76688F3821C5}"/>
              </a:ext>
            </a:extLst>
          </p:cNvPr>
          <p:cNvSpPr/>
          <p:nvPr/>
        </p:nvSpPr>
        <p:spPr>
          <a:xfrm>
            <a:off x="795943" y="1635702"/>
            <a:ext cx="10664536" cy="3422460"/>
          </a:xfrm>
          <a:prstGeom prst="roundRect">
            <a:avLst>
              <a:gd name="adj" fmla="val 3016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3">
                  <a:lumMod val="20000"/>
                  <a:lumOff val="80000"/>
                  <a:alpha val="59000"/>
                </a:schemeClr>
              </a:solidFill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05319432-0AEF-E729-4BD6-A997A44BE89C}"/>
              </a:ext>
            </a:extLst>
          </p:cNvPr>
          <p:cNvSpPr/>
          <p:nvPr/>
        </p:nvSpPr>
        <p:spPr>
          <a:xfrm>
            <a:off x="6817991" y="1940035"/>
            <a:ext cx="4119480" cy="2590913"/>
          </a:xfrm>
          <a:prstGeom prst="roundRect">
            <a:avLst>
              <a:gd name="adj" fmla="val 2516"/>
            </a:avLst>
          </a:prstGeom>
          <a:solidFill>
            <a:srgbClr val="86E2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866A482C-C4C5-AFC6-F5B2-A7D77244A02E}"/>
              </a:ext>
            </a:extLst>
          </p:cNvPr>
          <p:cNvCxnSpPr>
            <a:cxnSpLocks/>
          </p:cNvCxnSpPr>
          <p:nvPr/>
        </p:nvCxnSpPr>
        <p:spPr>
          <a:xfrm flipV="1">
            <a:off x="2255077" y="2677485"/>
            <a:ext cx="4764288" cy="446019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C3CC4704-1637-66D9-64CD-E25108653298}"/>
              </a:ext>
            </a:extLst>
          </p:cNvPr>
          <p:cNvSpPr txBox="1"/>
          <p:nvPr/>
        </p:nvSpPr>
        <p:spPr>
          <a:xfrm>
            <a:off x="1338216" y="3806448"/>
            <a:ext cx="8070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浏览器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3557B17-62D9-4906-447F-74B0BCE63B6D}"/>
              </a:ext>
            </a:extLst>
          </p:cNvPr>
          <p:cNvSpPr txBox="1"/>
          <p:nvPr/>
        </p:nvSpPr>
        <p:spPr>
          <a:xfrm>
            <a:off x="8507948" y="4718482"/>
            <a:ext cx="1102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Web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服务器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E4A1BED-96DD-EE58-C5EE-460209FAFC53}"/>
              </a:ext>
            </a:extLst>
          </p:cNvPr>
          <p:cNvSpPr txBox="1"/>
          <p:nvPr/>
        </p:nvSpPr>
        <p:spPr>
          <a:xfrm rot="21301708">
            <a:off x="4373609" y="2659727"/>
            <a:ext cx="5330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1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请求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A05955A-38CE-1593-58B3-560D10921009}"/>
              </a:ext>
            </a:extLst>
          </p:cNvPr>
          <p:cNvGrpSpPr/>
          <p:nvPr/>
        </p:nvGrpSpPr>
        <p:grpSpPr>
          <a:xfrm>
            <a:off x="1338216" y="2892941"/>
            <a:ext cx="780070" cy="786974"/>
            <a:chOff x="1288572" y="3466291"/>
            <a:chExt cx="1076475" cy="1086002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D5F3C6F1-C5CD-49F0-7914-D60D298FA1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88572" y="3466291"/>
              <a:ext cx="1076475" cy="1086002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4A80215E-9EF2-9A9B-EB80-CBD1882709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02940" y="3784462"/>
              <a:ext cx="447737" cy="447737"/>
            </a:xfrm>
            <a:prstGeom prst="rect">
              <a:avLst/>
            </a:prstGeom>
          </p:spPr>
        </p:pic>
      </p:grp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76E36FA-E7C1-FDAE-9F3A-935F12D2F57E}"/>
              </a:ext>
            </a:extLst>
          </p:cNvPr>
          <p:cNvSpPr/>
          <p:nvPr/>
        </p:nvSpPr>
        <p:spPr>
          <a:xfrm>
            <a:off x="7025185" y="2193668"/>
            <a:ext cx="3737813" cy="2093310"/>
          </a:xfrm>
          <a:prstGeom prst="roundRect">
            <a:avLst>
              <a:gd name="adj" fmla="val 3205"/>
            </a:avLst>
          </a:prstGeom>
          <a:noFill/>
          <a:ln w="6350">
            <a:solidFill>
              <a:schemeClr val="tx1">
                <a:lumMod val="65000"/>
                <a:lumOff val="3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50D3A8C2-B6FE-69C1-10C7-496D13E89E21}"/>
              </a:ext>
            </a:extLst>
          </p:cNvPr>
          <p:cNvCxnSpPr>
            <a:cxnSpLocks/>
          </p:cNvCxnSpPr>
          <p:nvPr/>
        </p:nvCxnSpPr>
        <p:spPr>
          <a:xfrm flipH="1" flipV="1">
            <a:off x="2252758" y="3467921"/>
            <a:ext cx="4764288" cy="526287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2EADC733-A3D6-CD18-1810-EDBF7C319AD9}"/>
              </a:ext>
            </a:extLst>
          </p:cNvPr>
          <p:cNvSpPr txBox="1"/>
          <p:nvPr/>
        </p:nvSpPr>
        <p:spPr>
          <a:xfrm rot="396096">
            <a:off x="4355610" y="3729719"/>
            <a:ext cx="5330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1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响应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FCE7336-7D3B-DCE0-7299-1A6DBBF5C1A7}"/>
              </a:ext>
            </a:extLst>
          </p:cNvPr>
          <p:cNvSpPr/>
          <p:nvPr/>
        </p:nvSpPr>
        <p:spPr>
          <a:xfrm>
            <a:off x="8247530" y="2321744"/>
            <a:ext cx="1441565" cy="404675"/>
          </a:xfrm>
          <a:prstGeom prst="round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Login</a:t>
            </a:r>
            <a:endParaRPr lang="zh-CN" altLang="en-US" sz="12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41DB943-E5E8-ADAE-F81B-BAE3AAEC2858}"/>
              </a:ext>
            </a:extLst>
          </p:cNvPr>
          <p:cNvSpPr/>
          <p:nvPr/>
        </p:nvSpPr>
        <p:spPr>
          <a:xfrm>
            <a:off x="8247528" y="2799815"/>
            <a:ext cx="1441565" cy="404675"/>
          </a:xfrm>
          <a:prstGeom prst="round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Emp</a:t>
            </a:r>
            <a:endParaRPr lang="zh-CN" altLang="en-US" sz="12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2966F410-FEC6-5D9B-D42D-2B5F6ADD6D78}"/>
              </a:ext>
            </a:extLst>
          </p:cNvPr>
          <p:cNvSpPr/>
          <p:nvPr/>
        </p:nvSpPr>
        <p:spPr>
          <a:xfrm>
            <a:off x="8256321" y="3283316"/>
            <a:ext cx="1441565" cy="404675"/>
          </a:xfrm>
          <a:prstGeom prst="round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Dept</a:t>
            </a:r>
            <a:endParaRPr lang="zh-CN" altLang="en-US" sz="12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340BC12-6F0E-2940-0EFF-F68FA686851E}"/>
              </a:ext>
            </a:extLst>
          </p:cNvPr>
          <p:cNvSpPr/>
          <p:nvPr/>
        </p:nvSpPr>
        <p:spPr>
          <a:xfrm>
            <a:off x="8256321" y="3770296"/>
            <a:ext cx="1441565" cy="404675"/>
          </a:xfrm>
          <a:prstGeom prst="round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Report</a:t>
            </a:r>
            <a:endParaRPr lang="zh-CN" altLang="en-US" sz="12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流程图: 文档 19">
            <a:extLst>
              <a:ext uri="{FF2B5EF4-FFF2-40B4-BE49-F238E27FC236}">
                <a16:creationId xmlns:a16="http://schemas.microsoft.com/office/drawing/2014/main" id="{B3379722-5A4C-6134-3973-39C0126C4EF5}"/>
              </a:ext>
            </a:extLst>
          </p:cNvPr>
          <p:cNvSpPr/>
          <p:nvPr/>
        </p:nvSpPr>
        <p:spPr>
          <a:xfrm>
            <a:off x="9879106" y="2892941"/>
            <a:ext cx="753270" cy="710871"/>
          </a:xfrm>
          <a:prstGeom prst="flowChartDocument">
            <a:avLst/>
          </a:prstGeom>
          <a:solidFill>
            <a:srgbClr val="7030A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20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登录标记</a:t>
            </a:r>
          </a:p>
        </p:txBody>
      </p:sp>
      <p:cxnSp>
        <p:nvCxnSpPr>
          <p:cNvPr id="21" name="连接符: 曲线 20">
            <a:extLst>
              <a:ext uri="{FF2B5EF4-FFF2-40B4-BE49-F238E27FC236}">
                <a16:creationId xmlns:a16="http://schemas.microsoft.com/office/drawing/2014/main" id="{9FA59BD2-C677-DE93-049C-1528AD389DB8}"/>
              </a:ext>
            </a:extLst>
          </p:cNvPr>
          <p:cNvCxnSpPr>
            <a:cxnSpLocks/>
            <a:stCxn id="16" idx="3"/>
            <a:endCxn id="20" idx="0"/>
          </p:cNvCxnSpPr>
          <p:nvPr/>
        </p:nvCxnSpPr>
        <p:spPr>
          <a:xfrm>
            <a:off x="9689095" y="2524082"/>
            <a:ext cx="566646" cy="368859"/>
          </a:xfrm>
          <a:prstGeom prst="curvedConnector2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连接符: 曲线 21">
            <a:extLst>
              <a:ext uri="{FF2B5EF4-FFF2-40B4-BE49-F238E27FC236}">
                <a16:creationId xmlns:a16="http://schemas.microsoft.com/office/drawing/2014/main" id="{9399A384-E1A9-C796-ABDE-FC1E36877FFC}"/>
              </a:ext>
            </a:extLst>
          </p:cNvPr>
          <p:cNvCxnSpPr>
            <a:cxnSpLocks/>
            <a:stCxn id="20" idx="2"/>
            <a:endCxn id="31" idx="1"/>
          </p:cNvCxnSpPr>
          <p:nvPr/>
        </p:nvCxnSpPr>
        <p:spPr>
          <a:xfrm rot="5400000">
            <a:off x="8617731" y="2466208"/>
            <a:ext cx="547402" cy="2728618"/>
          </a:xfrm>
          <a:prstGeom prst="curvedConnector3">
            <a:avLst>
              <a:gd name="adj1" fmla="val 165147"/>
            </a:avLst>
          </a:prstGeom>
          <a:ln w="19050">
            <a:solidFill>
              <a:schemeClr val="tx1">
                <a:lumMod val="95000"/>
                <a:lumOff val="5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E923AE43-4A66-3460-6A4D-C4A404F79211}"/>
              </a:ext>
            </a:extLst>
          </p:cNvPr>
          <p:cNvCxnSpPr>
            <a:cxnSpLocks/>
          </p:cNvCxnSpPr>
          <p:nvPr/>
        </p:nvCxnSpPr>
        <p:spPr>
          <a:xfrm flipV="1">
            <a:off x="7921490" y="2480634"/>
            <a:ext cx="314584" cy="389933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43C9CE7C-6D11-67FA-8C61-92304D213AF8}"/>
              </a:ext>
            </a:extLst>
          </p:cNvPr>
          <p:cNvCxnSpPr>
            <a:cxnSpLocks/>
          </p:cNvCxnSpPr>
          <p:nvPr/>
        </p:nvCxnSpPr>
        <p:spPr>
          <a:xfrm flipV="1">
            <a:off x="7921490" y="3002152"/>
            <a:ext cx="320220" cy="121352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AD798733-947D-27B4-A152-5BAD1150ED6C}"/>
              </a:ext>
            </a:extLst>
          </p:cNvPr>
          <p:cNvCxnSpPr>
            <a:cxnSpLocks/>
          </p:cNvCxnSpPr>
          <p:nvPr/>
        </p:nvCxnSpPr>
        <p:spPr>
          <a:xfrm>
            <a:off x="7921490" y="3377184"/>
            <a:ext cx="326038" cy="90737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15915CCD-83CA-54C6-6502-824624DB2F88}"/>
              </a:ext>
            </a:extLst>
          </p:cNvPr>
          <p:cNvCxnSpPr>
            <a:cxnSpLocks/>
          </p:cNvCxnSpPr>
          <p:nvPr/>
        </p:nvCxnSpPr>
        <p:spPr>
          <a:xfrm>
            <a:off x="7921490" y="3556816"/>
            <a:ext cx="314584" cy="415817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024D6148-60B1-25B9-A9E1-03BCE0D01039}"/>
              </a:ext>
            </a:extLst>
          </p:cNvPr>
          <p:cNvSpPr/>
          <p:nvPr/>
        </p:nvSpPr>
        <p:spPr>
          <a:xfrm>
            <a:off x="10088061" y="2372482"/>
            <a:ext cx="335359" cy="22894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存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20E200DB-FFF3-AF85-6018-36C5865301CD}"/>
              </a:ext>
            </a:extLst>
          </p:cNvPr>
          <p:cNvSpPr/>
          <p:nvPr/>
        </p:nvSpPr>
        <p:spPr>
          <a:xfrm>
            <a:off x="8723752" y="4220610"/>
            <a:ext cx="335359" cy="2179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取</a:t>
            </a:r>
          </a:p>
        </p:txBody>
      </p:sp>
      <p:sp>
        <p:nvSpPr>
          <p:cNvPr id="29" name="!!矩形: 对角圆角 58">
            <a:extLst>
              <a:ext uri="{FF2B5EF4-FFF2-40B4-BE49-F238E27FC236}">
                <a16:creationId xmlns:a16="http://schemas.microsoft.com/office/drawing/2014/main" id="{F6A9FFAA-C2C6-F212-2EB9-2F0DC007D8C3}"/>
              </a:ext>
            </a:extLst>
          </p:cNvPr>
          <p:cNvSpPr/>
          <p:nvPr/>
        </p:nvSpPr>
        <p:spPr>
          <a:xfrm>
            <a:off x="7132756" y="2392534"/>
            <a:ext cx="788734" cy="1628569"/>
          </a:xfrm>
          <a:prstGeom prst="round2DiagRect">
            <a:avLst/>
          </a:prstGeom>
          <a:solidFill>
            <a:srgbClr val="FFC91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400" b="1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统一拦截</a:t>
            </a:r>
          </a:p>
        </p:txBody>
      </p:sp>
      <p:sp>
        <p:nvSpPr>
          <p:cNvPr id="30" name="!!流程图: 文档 57">
            <a:extLst>
              <a:ext uri="{FF2B5EF4-FFF2-40B4-BE49-F238E27FC236}">
                <a16:creationId xmlns:a16="http://schemas.microsoft.com/office/drawing/2014/main" id="{C89F1A6B-3B38-BBB1-D805-265E91870151}"/>
              </a:ext>
            </a:extLst>
          </p:cNvPr>
          <p:cNvSpPr/>
          <p:nvPr/>
        </p:nvSpPr>
        <p:spPr>
          <a:xfrm>
            <a:off x="9879106" y="2892941"/>
            <a:ext cx="753270" cy="710871"/>
          </a:xfrm>
          <a:prstGeom prst="flowChartDocumen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20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登录标记</a:t>
            </a:r>
          </a:p>
        </p:txBody>
      </p:sp>
      <p:sp>
        <p:nvSpPr>
          <p:cNvPr id="31" name="矩形: 对角圆角 30">
            <a:extLst>
              <a:ext uri="{FF2B5EF4-FFF2-40B4-BE49-F238E27FC236}">
                <a16:creationId xmlns:a16="http://schemas.microsoft.com/office/drawing/2014/main" id="{32FB2AC8-0FD2-60AC-500E-98F304CE5ED1}"/>
              </a:ext>
            </a:extLst>
          </p:cNvPr>
          <p:cNvSpPr/>
          <p:nvPr/>
        </p:nvSpPr>
        <p:spPr>
          <a:xfrm>
            <a:off x="7132756" y="2392534"/>
            <a:ext cx="788734" cy="1711684"/>
          </a:xfrm>
          <a:prstGeom prst="round2DiagRect">
            <a:avLst/>
          </a:prstGeom>
          <a:solidFill>
            <a:srgbClr val="FFC91D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40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统一拦截</a:t>
            </a:r>
          </a:p>
        </p:txBody>
      </p:sp>
    </p:spTree>
    <p:extLst>
      <p:ext uri="{BB962C8B-B14F-4D97-AF65-F5344CB8AC3E}">
        <p14:creationId xmlns:p14="http://schemas.microsoft.com/office/powerpoint/2010/main" val="723821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2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0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2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1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1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/>
      <p:bldP spid="8" grpId="0"/>
      <p:bldP spid="9" grpId="0"/>
      <p:bldP spid="13" grpId="0" animBg="1"/>
      <p:bldP spid="15" grpId="0"/>
      <p:bldP spid="16" grpId="0" animBg="1"/>
      <p:bldP spid="17" grpId="0" animBg="1"/>
      <p:bldP spid="18" grpId="0" animBg="1"/>
      <p:bldP spid="19" grpId="0" animBg="1"/>
      <p:bldP spid="20" grpId="0" animBg="1"/>
      <p:bldP spid="20" grpId="1" animBg="1"/>
      <p:bldP spid="27" grpId="0" animBg="1"/>
      <p:bldP spid="28" grpId="0" animBg="1"/>
      <p:bldP spid="29" grpId="0" animBg="1"/>
      <p:bldP spid="30" grpId="0" animBg="1"/>
      <p:bldP spid="31" grpId="0" animBg="1"/>
      <p:bldP spid="31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276BD0-5BB4-1476-1D3B-8DAFC38A0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登录校验思路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EEEC2A0F-252A-3E63-9CE0-9D8B553EF4D5}"/>
              </a:ext>
            </a:extLst>
          </p:cNvPr>
          <p:cNvSpPr/>
          <p:nvPr/>
        </p:nvSpPr>
        <p:spPr>
          <a:xfrm>
            <a:off x="795943" y="1635702"/>
            <a:ext cx="10664536" cy="3422460"/>
          </a:xfrm>
          <a:prstGeom prst="roundRect">
            <a:avLst>
              <a:gd name="adj" fmla="val 3016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3">
                  <a:lumMod val="20000"/>
                  <a:lumOff val="80000"/>
                  <a:alpha val="59000"/>
                </a:schemeClr>
              </a:solidFill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D6DEB433-4901-38C3-2883-D17C03CBD902}"/>
              </a:ext>
            </a:extLst>
          </p:cNvPr>
          <p:cNvSpPr/>
          <p:nvPr/>
        </p:nvSpPr>
        <p:spPr>
          <a:xfrm>
            <a:off x="6817991" y="1940035"/>
            <a:ext cx="4119480" cy="2590913"/>
          </a:xfrm>
          <a:prstGeom prst="roundRect">
            <a:avLst>
              <a:gd name="adj" fmla="val 2516"/>
            </a:avLst>
          </a:prstGeom>
          <a:solidFill>
            <a:srgbClr val="86E2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71230E95-732A-C205-4847-275191CC0183}"/>
              </a:ext>
            </a:extLst>
          </p:cNvPr>
          <p:cNvCxnSpPr>
            <a:cxnSpLocks/>
          </p:cNvCxnSpPr>
          <p:nvPr/>
        </p:nvCxnSpPr>
        <p:spPr>
          <a:xfrm flipV="1">
            <a:off x="2255077" y="2677485"/>
            <a:ext cx="4764288" cy="446019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98FA4BFB-054A-3686-CBFD-ABA5146E2CFC}"/>
              </a:ext>
            </a:extLst>
          </p:cNvPr>
          <p:cNvSpPr txBox="1"/>
          <p:nvPr/>
        </p:nvSpPr>
        <p:spPr>
          <a:xfrm>
            <a:off x="1338216" y="3806448"/>
            <a:ext cx="8070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浏览器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5B98722F-D6D3-67D6-F066-1551353884DB}"/>
              </a:ext>
            </a:extLst>
          </p:cNvPr>
          <p:cNvSpPr txBox="1"/>
          <p:nvPr/>
        </p:nvSpPr>
        <p:spPr>
          <a:xfrm>
            <a:off x="8507948" y="4718482"/>
            <a:ext cx="1102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Web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服务器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7305A96-D38B-E530-42D0-5E55111BEF2C}"/>
              </a:ext>
            </a:extLst>
          </p:cNvPr>
          <p:cNvSpPr txBox="1"/>
          <p:nvPr/>
        </p:nvSpPr>
        <p:spPr>
          <a:xfrm rot="21301708">
            <a:off x="4373609" y="2659727"/>
            <a:ext cx="5330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1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请求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90363BAE-D246-FAC5-FAB5-1044E1D2CE4B}"/>
              </a:ext>
            </a:extLst>
          </p:cNvPr>
          <p:cNvGrpSpPr/>
          <p:nvPr/>
        </p:nvGrpSpPr>
        <p:grpSpPr>
          <a:xfrm>
            <a:off x="1338216" y="2892941"/>
            <a:ext cx="780070" cy="786974"/>
            <a:chOff x="1288572" y="3466291"/>
            <a:chExt cx="1076475" cy="1086002"/>
          </a:xfrm>
        </p:grpSpPr>
        <p:pic>
          <p:nvPicPr>
            <p:cNvPr id="39" name="图片 38">
              <a:extLst>
                <a:ext uri="{FF2B5EF4-FFF2-40B4-BE49-F238E27FC236}">
                  <a16:creationId xmlns:a16="http://schemas.microsoft.com/office/drawing/2014/main" id="{BCA4B938-E7D2-2BB7-B7D3-E0F821C8EB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88572" y="3466291"/>
              <a:ext cx="1076475" cy="1086002"/>
            </a:xfrm>
            <a:prstGeom prst="rect">
              <a:avLst/>
            </a:prstGeom>
          </p:spPr>
        </p:pic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36BC6235-C891-8A2E-5215-EA83E371B6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02940" y="3784462"/>
              <a:ext cx="447737" cy="447737"/>
            </a:xfrm>
            <a:prstGeom prst="rect">
              <a:avLst/>
            </a:prstGeom>
          </p:spPr>
        </p:pic>
      </p:grp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CD5C45B4-56DD-9D59-35E3-DDCFE978FE56}"/>
              </a:ext>
            </a:extLst>
          </p:cNvPr>
          <p:cNvSpPr/>
          <p:nvPr/>
        </p:nvSpPr>
        <p:spPr>
          <a:xfrm>
            <a:off x="7025185" y="2193668"/>
            <a:ext cx="3737813" cy="2093310"/>
          </a:xfrm>
          <a:prstGeom prst="roundRect">
            <a:avLst>
              <a:gd name="adj" fmla="val 3205"/>
            </a:avLst>
          </a:prstGeom>
          <a:noFill/>
          <a:ln w="6350">
            <a:solidFill>
              <a:schemeClr val="tx1">
                <a:lumMod val="65000"/>
                <a:lumOff val="3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949D69E1-D7D6-EB3A-38B9-79CC8859B1FA}"/>
              </a:ext>
            </a:extLst>
          </p:cNvPr>
          <p:cNvCxnSpPr>
            <a:cxnSpLocks/>
          </p:cNvCxnSpPr>
          <p:nvPr/>
        </p:nvCxnSpPr>
        <p:spPr>
          <a:xfrm flipH="1" flipV="1">
            <a:off x="2252758" y="3467921"/>
            <a:ext cx="4764288" cy="526287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FE184D44-F13F-E57C-3626-0643428CE1F2}"/>
              </a:ext>
            </a:extLst>
          </p:cNvPr>
          <p:cNvSpPr txBox="1"/>
          <p:nvPr/>
        </p:nvSpPr>
        <p:spPr>
          <a:xfrm rot="396096">
            <a:off x="4355610" y="3729719"/>
            <a:ext cx="5330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1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响应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C1146E99-62CA-A0E6-D776-D8F2D608F91D}"/>
              </a:ext>
            </a:extLst>
          </p:cNvPr>
          <p:cNvSpPr/>
          <p:nvPr/>
        </p:nvSpPr>
        <p:spPr>
          <a:xfrm>
            <a:off x="8247530" y="2321744"/>
            <a:ext cx="1441565" cy="404675"/>
          </a:xfrm>
          <a:prstGeom prst="round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Login</a:t>
            </a:r>
            <a:endParaRPr lang="zh-CN" altLang="en-US" sz="12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488D3E18-201B-B8F2-50FE-5FFEF4EB484C}"/>
              </a:ext>
            </a:extLst>
          </p:cNvPr>
          <p:cNvSpPr/>
          <p:nvPr/>
        </p:nvSpPr>
        <p:spPr>
          <a:xfrm>
            <a:off x="8247528" y="2799815"/>
            <a:ext cx="1441565" cy="404675"/>
          </a:xfrm>
          <a:prstGeom prst="round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Emp</a:t>
            </a:r>
            <a:endParaRPr lang="zh-CN" altLang="en-US" sz="12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2BC3483C-507D-A2CC-91E1-2F74040AC997}"/>
              </a:ext>
            </a:extLst>
          </p:cNvPr>
          <p:cNvSpPr/>
          <p:nvPr/>
        </p:nvSpPr>
        <p:spPr>
          <a:xfrm>
            <a:off x="8256321" y="3283316"/>
            <a:ext cx="1441565" cy="404675"/>
          </a:xfrm>
          <a:prstGeom prst="round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Dept</a:t>
            </a:r>
            <a:endParaRPr lang="zh-CN" altLang="en-US" sz="12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816E89DB-FC56-C414-E905-BB4F0CDADCEB}"/>
              </a:ext>
            </a:extLst>
          </p:cNvPr>
          <p:cNvSpPr/>
          <p:nvPr/>
        </p:nvSpPr>
        <p:spPr>
          <a:xfrm>
            <a:off x="8256321" y="3770296"/>
            <a:ext cx="1441565" cy="404675"/>
          </a:xfrm>
          <a:prstGeom prst="round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Report</a:t>
            </a:r>
            <a:endParaRPr lang="zh-CN" altLang="en-US" sz="12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8" name="流程图: 文档 47">
            <a:extLst>
              <a:ext uri="{FF2B5EF4-FFF2-40B4-BE49-F238E27FC236}">
                <a16:creationId xmlns:a16="http://schemas.microsoft.com/office/drawing/2014/main" id="{1A9B3E6C-2B7C-DB10-1AF5-5C6EBC43CD55}"/>
              </a:ext>
            </a:extLst>
          </p:cNvPr>
          <p:cNvSpPr/>
          <p:nvPr/>
        </p:nvSpPr>
        <p:spPr>
          <a:xfrm>
            <a:off x="9879106" y="2892941"/>
            <a:ext cx="753270" cy="710871"/>
          </a:xfrm>
          <a:prstGeom prst="flowChartDocument">
            <a:avLst/>
          </a:prstGeom>
          <a:solidFill>
            <a:srgbClr val="7030A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20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登录标记</a:t>
            </a:r>
          </a:p>
        </p:txBody>
      </p:sp>
      <p:sp>
        <p:nvSpPr>
          <p:cNvPr id="49" name="矩形: 对角圆角 48">
            <a:extLst>
              <a:ext uri="{FF2B5EF4-FFF2-40B4-BE49-F238E27FC236}">
                <a16:creationId xmlns:a16="http://schemas.microsoft.com/office/drawing/2014/main" id="{402D102B-423E-55A4-4727-14F872E656E0}"/>
              </a:ext>
            </a:extLst>
          </p:cNvPr>
          <p:cNvSpPr/>
          <p:nvPr/>
        </p:nvSpPr>
        <p:spPr>
          <a:xfrm>
            <a:off x="7132756" y="2392534"/>
            <a:ext cx="788734" cy="1711684"/>
          </a:xfrm>
          <a:prstGeom prst="round2DiagRect">
            <a:avLst/>
          </a:prstGeom>
          <a:solidFill>
            <a:srgbClr val="FFC91D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40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统一拦截</a:t>
            </a:r>
          </a:p>
        </p:txBody>
      </p:sp>
      <p:cxnSp>
        <p:nvCxnSpPr>
          <p:cNvPr id="50" name="连接符: 曲线 49">
            <a:extLst>
              <a:ext uri="{FF2B5EF4-FFF2-40B4-BE49-F238E27FC236}">
                <a16:creationId xmlns:a16="http://schemas.microsoft.com/office/drawing/2014/main" id="{17403942-ED3A-9644-F4FA-000CF48819EA}"/>
              </a:ext>
            </a:extLst>
          </p:cNvPr>
          <p:cNvCxnSpPr>
            <a:cxnSpLocks/>
            <a:stCxn id="44" idx="3"/>
            <a:endCxn id="48" idx="0"/>
          </p:cNvCxnSpPr>
          <p:nvPr/>
        </p:nvCxnSpPr>
        <p:spPr>
          <a:xfrm>
            <a:off x="9689095" y="2524082"/>
            <a:ext cx="566646" cy="368859"/>
          </a:xfrm>
          <a:prstGeom prst="curvedConnector2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连接符: 曲线 50">
            <a:extLst>
              <a:ext uri="{FF2B5EF4-FFF2-40B4-BE49-F238E27FC236}">
                <a16:creationId xmlns:a16="http://schemas.microsoft.com/office/drawing/2014/main" id="{F5723E41-F6BF-28A3-ED8F-A556A4ECD5CA}"/>
              </a:ext>
            </a:extLst>
          </p:cNvPr>
          <p:cNvCxnSpPr>
            <a:cxnSpLocks/>
            <a:stCxn id="48" idx="2"/>
            <a:endCxn id="49" idx="1"/>
          </p:cNvCxnSpPr>
          <p:nvPr/>
        </p:nvCxnSpPr>
        <p:spPr>
          <a:xfrm rot="5400000">
            <a:off x="8617731" y="2466208"/>
            <a:ext cx="547402" cy="2728618"/>
          </a:xfrm>
          <a:prstGeom prst="curvedConnector3">
            <a:avLst>
              <a:gd name="adj1" fmla="val 164689"/>
            </a:avLst>
          </a:prstGeom>
          <a:ln w="19050">
            <a:solidFill>
              <a:schemeClr val="tx1">
                <a:lumMod val="95000"/>
                <a:lumOff val="5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81C7B3EE-125F-6CBF-D7EF-E19557F38AFB}"/>
              </a:ext>
            </a:extLst>
          </p:cNvPr>
          <p:cNvCxnSpPr>
            <a:cxnSpLocks/>
          </p:cNvCxnSpPr>
          <p:nvPr/>
        </p:nvCxnSpPr>
        <p:spPr>
          <a:xfrm flipV="1">
            <a:off x="7921490" y="2480634"/>
            <a:ext cx="314584" cy="389933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E9D131B5-DF42-0B87-62C3-7F3985ED4EDF}"/>
              </a:ext>
            </a:extLst>
          </p:cNvPr>
          <p:cNvCxnSpPr>
            <a:cxnSpLocks/>
          </p:cNvCxnSpPr>
          <p:nvPr/>
        </p:nvCxnSpPr>
        <p:spPr>
          <a:xfrm flipV="1">
            <a:off x="7921490" y="3002152"/>
            <a:ext cx="320220" cy="121352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5566783C-A221-C877-5579-ACA866543090}"/>
              </a:ext>
            </a:extLst>
          </p:cNvPr>
          <p:cNvCxnSpPr>
            <a:cxnSpLocks/>
          </p:cNvCxnSpPr>
          <p:nvPr/>
        </p:nvCxnSpPr>
        <p:spPr>
          <a:xfrm>
            <a:off x="7921490" y="3377184"/>
            <a:ext cx="326038" cy="90737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B4A6D7F0-37D4-EF0C-6CFB-C995D2FEEAB1}"/>
              </a:ext>
            </a:extLst>
          </p:cNvPr>
          <p:cNvCxnSpPr>
            <a:cxnSpLocks/>
          </p:cNvCxnSpPr>
          <p:nvPr/>
        </p:nvCxnSpPr>
        <p:spPr>
          <a:xfrm>
            <a:off x="7921490" y="3556816"/>
            <a:ext cx="314584" cy="415817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EF36688F-C0AD-F88E-69CD-26ED2C000A73}"/>
              </a:ext>
            </a:extLst>
          </p:cNvPr>
          <p:cNvSpPr/>
          <p:nvPr/>
        </p:nvSpPr>
        <p:spPr>
          <a:xfrm>
            <a:off x="10088061" y="2372482"/>
            <a:ext cx="335359" cy="22894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存</a:t>
            </a: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596EC181-6131-5E6F-2388-EBC9FFCAB5BB}"/>
              </a:ext>
            </a:extLst>
          </p:cNvPr>
          <p:cNvSpPr/>
          <p:nvPr/>
        </p:nvSpPr>
        <p:spPr>
          <a:xfrm>
            <a:off x="8723752" y="4220610"/>
            <a:ext cx="335359" cy="2179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取</a:t>
            </a:r>
          </a:p>
        </p:txBody>
      </p:sp>
      <p:sp>
        <p:nvSpPr>
          <p:cNvPr id="58" name="!!流程图: 文档 57">
            <a:extLst>
              <a:ext uri="{FF2B5EF4-FFF2-40B4-BE49-F238E27FC236}">
                <a16:creationId xmlns:a16="http://schemas.microsoft.com/office/drawing/2014/main" id="{28EA5014-A84C-2426-FC58-5A83FD225C83}"/>
              </a:ext>
            </a:extLst>
          </p:cNvPr>
          <p:cNvSpPr/>
          <p:nvPr/>
        </p:nvSpPr>
        <p:spPr>
          <a:xfrm>
            <a:off x="795943" y="5583972"/>
            <a:ext cx="10664536" cy="461612"/>
          </a:xfrm>
          <a:prstGeom prst="roundRect">
            <a:avLst/>
          </a:prstGeom>
          <a:solidFill>
            <a:srgbClr val="C39BE1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登录标记：用户登录成功之后，在后续的每一次请求中，都可以获取到该标记。 </a:t>
            </a:r>
            <a:r>
              <a:rPr lang="en-US" altLang="zh-CN" sz="14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</a:t>
            </a:r>
            <a:r>
              <a:rPr lang="zh-CN" altLang="en-US" sz="14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会话技术</a:t>
            </a:r>
            <a:r>
              <a:rPr lang="en-US" altLang="zh-CN" sz="14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】</a:t>
            </a:r>
            <a:endParaRPr lang="zh-CN" altLang="en-US" sz="1400">
              <a:solidFill>
                <a:schemeClr val="tx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9" name="!!矩形: 对角圆角 58">
            <a:extLst>
              <a:ext uri="{FF2B5EF4-FFF2-40B4-BE49-F238E27FC236}">
                <a16:creationId xmlns:a16="http://schemas.microsoft.com/office/drawing/2014/main" id="{68400750-7C4F-3E75-D099-CAE275FB37ED}"/>
              </a:ext>
            </a:extLst>
          </p:cNvPr>
          <p:cNvSpPr/>
          <p:nvPr/>
        </p:nvSpPr>
        <p:spPr>
          <a:xfrm>
            <a:off x="795943" y="6203090"/>
            <a:ext cx="10664536" cy="461612"/>
          </a:xfrm>
          <a:prstGeom prst="roundRect">
            <a:avLst/>
          </a:prstGeom>
          <a:solidFill>
            <a:srgbClr val="FFE07D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>
                <a:solidFill>
                  <a:schemeClr val="tx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统一拦截：过滤器</a:t>
            </a:r>
            <a:r>
              <a:rPr lang="en-US" altLang="zh-CN" sz="14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Filter</a:t>
            </a:r>
            <a:r>
              <a:rPr lang="zh-CN" altLang="en-US" sz="1400">
                <a:solidFill>
                  <a:schemeClr val="tx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、拦截器</a:t>
            </a:r>
            <a:r>
              <a:rPr lang="en-US" altLang="zh-CN" sz="14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Interceptor</a:t>
            </a:r>
            <a:endParaRPr lang="zh-CN" altLang="en-US" sz="1400">
              <a:solidFill>
                <a:schemeClr val="tx1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83218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1D50508-E0D4-47F2-035C-4233AC418A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登录校验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B8DA87-FD6C-FBB0-B363-736345AB02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>
                <a:latin typeface="+mn-lt"/>
              </a:rPr>
              <a:t>会话技术</a:t>
            </a:r>
            <a:endParaRPr lang="en-US" altLang="zh-CN">
              <a:latin typeface="+mn-lt"/>
            </a:endParaRPr>
          </a:p>
          <a:p>
            <a:r>
              <a:rPr lang="en-US" altLang="zh-CN">
                <a:latin typeface="+mn-lt"/>
              </a:rPr>
              <a:t>JWT</a:t>
            </a:r>
            <a:r>
              <a:rPr lang="zh-CN" altLang="en-US">
                <a:latin typeface="+mn-lt"/>
              </a:rPr>
              <a:t>令牌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过滤器</a:t>
            </a:r>
            <a:r>
              <a:rPr lang="en-US" altLang="zh-CN">
                <a:latin typeface="+mn-lt"/>
              </a:rPr>
              <a:t>Filter</a:t>
            </a:r>
          </a:p>
          <a:p>
            <a:r>
              <a:rPr lang="zh-CN" altLang="en-US">
                <a:latin typeface="+mn-lt"/>
              </a:rPr>
              <a:t>拦截器</a:t>
            </a:r>
            <a:r>
              <a:rPr lang="en-US" altLang="zh-CN">
                <a:latin typeface="+mn-lt"/>
              </a:rPr>
              <a:t>Interceptor</a:t>
            </a:r>
            <a:endParaRPr lang="zh-CN" altLang="en-US">
              <a:latin typeface="+mn-lt"/>
            </a:endParaRP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8379477-2B8E-30F1-5750-C0F3A85768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  <p:pic>
        <p:nvPicPr>
          <p:cNvPr id="6" name="图片 5" descr="卡通人物&#10;&#10;描述已自动生成">
            <a:extLst>
              <a:ext uri="{FF2B5EF4-FFF2-40B4-BE49-F238E27FC236}">
                <a16:creationId xmlns:a16="http://schemas.microsoft.com/office/drawing/2014/main" id="{B55B6E68-7A12-0B84-A9E3-CEE3092403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9964" y="2919931"/>
            <a:ext cx="1058073" cy="1410764"/>
          </a:xfrm>
          <a:prstGeom prst="rect">
            <a:avLst/>
          </a:prstGeom>
        </p:spPr>
      </p:pic>
      <p:pic>
        <p:nvPicPr>
          <p:cNvPr id="8" name="图片 7" descr="卡通人物&#10;&#10;描述已自动生成">
            <a:extLst>
              <a:ext uri="{FF2B5EF4-FFF2-40B4-BE49-F238E27FC236}">
                <a16:creationId xmlns:a16="http://schemas.microsoft.com/office/drawing/2014/main" id="{B1BA02FE-6620-49E9-1091-3272C922DC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3926" y="5447235"/>
            <a:ext cx="1058074" cy="1410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173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413904-5987-F8D4-2828-6D70E2C28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会话技术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1CF440-EFDC-5E76-2B96-886571BBC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2808935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会话：用户打开浏览器，访问</a:t>
            </a: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web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服务器的资源，会话建立，直到有一方断开连接，会话结束。在一次会话中可以包含多次请求和响应。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会话跟踪：一种维护浏览器状态的方法，服务器需要识别多次请求是否来自于同一浏览器，以便在同一次会话的多次请求间共享数据。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会话跟踪方案：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468000"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客户端会话跟踪技术：</a:t>
            </a: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Cookie</a:t>
            </a:r>
          </a:p>
          <a:p>
            <a:pPr marL="468000"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服务端会话跟踪技术：</a:t>
            </a: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Session</a:t>
            </a:r>
          </a:p>
          <a:p>
            <a:pPr marL="468000"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令牌技术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683428B-A2EB-8FFF-173B-88C99F834230}"/>
              </a:ext>
            </a:extLst>
          </p:cNvPr>
          <p:cNvSpPr/>
          <p:nvPr/>
        </p:nvSpPr>
        <p:spPr>
          <a:xfrm>
            <a:off x="972142" y="3913552"/>
            <a:ext cx="10664536" cy="2775931"/>
          </a:xfrm>
          <a:prstGeom prst="roundRect">
            <a:avLst>
              <a:gd name="adj" fmla="val 3016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3">
                  <a:lumMod val="20000"/>
                  <a:lumOff val="80000"/>
                  <a:alpha val="59000"/>
                </a:schemeClr>
              </a:solidFill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6A7E9B3A-5700-FA5A-392E-1CB54C90F844}"/>
              </a:ext>
            </a:extLst>
          </p:cNvPr>
          <p:cNvSpPr/>
          <p:nvPr/>
        </p:nvSpPr>
        <p:spPr>
          <a:xfrm>
            <a:off x="6994189" y="4114721"/>
            <a:ext cx="3906785" cy="2298183"/>
          </a:xfrm>
          <a:prstGeom prst="roundRect">
            <a:avLst>
              <a:gd name="adj" fmla="val 4938"/>
            </a:avLst>
          </a:prstGeom>
          <a:solidFill>
            <a:srgbClr val="86E2E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!!直接箭头连接符 5">
            <a:extLst>
              <a:ext uri="{FF2B5EF4-FFF2-40B4-BE49-F238E27FC236}">
                <a16:creationId xmlns:a16="http://schemas.microsoft.com/office/drawing/2014/main" id="{29EB90F1-1981-B201-808D-83D020E165D8}"/>
              </a:ext>
            </a:extLst>
          </p:cNvPr>
          <p:cNvCxnSpPr>
            <a:cxnSpLocks/>
          </p:cNvCxnSpPr>
          <p:nvPr/>
        </p:nvCxnSpPr>
        <p:spPr>
          <a:xfrm flipV="1">
            <a:off x="2412273" y="4654217"/>
            <a:ext cx="4222455" cy="292919"/>
          </a:xfrm>
          <a:prstGeom prst="straightConnector1">
            <a:avLst/>
          </a:prstGeom>
          <a:ln w="12700">
            <a:solidFill>
              <a:srgbClr val="E46C0A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!!直接箭头连接符 6">
            <a:extLst>
              <a:ext uri="{FF2B5EF4-FFF2-40B4-BE49-F238E27FC236}">
                <a16:creationId xmlns:a16="http://schemas.microsoft.com/office/drawing/2014/main" id="{7FBDBEFF-FE0D-D65B-F950-37E18087EBC4}"/>
              </a:ext>
            </a:extLst>
          </p:cNvPr>
          <p:cNvCxnSpPr>
            <a:cxnSpLocks/>
          </p:cNvCxnSpPr>
          <p:nvPr/>
        </p:nvCxnSpPr>
        <p:spPr>
          <a:xfrm flipH="1" flipV="1">
            <a:off x="2412273" y="5370333"/>
            <a:ext cx="4152910" cy="31374"/>
          </a:xfrm>
          <a:prstGeom prst="straightConnector1">
            <a:avLst/>
          </a:prstGeom>
          <a:ln w="12700">
            <a:solidFill>
              <a:srgbClr val="0070C0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2DCBD2D5-146F-A67C-CE6E-FB867895EADF}"/>
              </a:ext>
            </a:extLst>
          </p:cNvPr>
          <p:cNvSpPr txBox="1"/>
          <p:nvPr/>
        </p:nvSpPr>
        <p:spPr>
          <a:xfrm>
            <a:off x="8473042" y="6412904"/>
            <a:ext cx="11781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Web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服务器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B866F0FA-783B-47F7-B97D-3DF767F13452}"/>
              </a:ext>
            </a:extLst>
          </p:cNvPr>
          <p:cNvGrpSpPr/>
          <p:nvPr/>
        </p:nvGrpSpPr>
        <p:grpSpPr>
          <a:xfrm>
            <a:off x="1586903" y="4935402"/>
            <a:ext cx="634321" cy="639935"/>
            <a:chOff x="1288572" y="3466291"/>
            <a:chExt cx="1076475" cy="1086002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293B5ED0-4ED1-6279-4737-CDD3ACBC23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88572" y="3466291"/>
              <a:ext cx="1076475" cy="1086002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710A2393-F846-E785-FC42-A639735FE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02940" y="3784462"/>
              <a:ext cx="447737" cy="447737"/>
            </a:xfrm>
            <a:prstGeom prst="rect">
              <a:avLst/>
            </a:prstGeom>
          </p:spPr>
        </p:pic>
      </p:grp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4617347-0361-F4CF-F702-3BDCC3E83A0C}"/>
              </a:ext>
            </a:extLst>
          </p:cNvPr>
          <p:cNvSpPr/>
          <p:nvPr/>
        </p:nvSpPr>
        <p:spPr>
          <a:xfrm>
            <a:off x="7115999" y="4251881"/>
            <a:ext cx="3685032" cy="2007484"/>
          </a:xfrm>
          <a:prstGeom prst="roundRect">
            <a:avLst>
              <a:gd name="adj" fmla="val 3205"/>
            </a:avLst>
          </a:prstGeom>
          <a:noFill/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对角圆角 17">
            <a:extLst>
              <a:ext uri="{FF2B5EF4-FFF2-40B4-BE49-F238E27FC236}">
                <a16:creationId xmlns:a16="http://schemas.microsoft.com/office/drawing/2014/main" id="{B1A339CC-F646-1F33-7D86-2D79FCDD64ED}"/>
              </a:ext>
            </a:extLst>
          </p:cNvPr>
          <p:cNvSpPr/>
          <p:nvPr/>
        </p:nvSpPr>
        <p:spPr>
          <a:xfrm>
            <a:off x="7239719" y="4404058"/>
            <a:ext cx="916312" cy="1726650"/>
          </a:xfrm>
          <a:prstGeom prst="round2DiagRect">
            <a:avLst>
              <a:gd name="adj1" fmla="val 16636"/>
              <a:gd name="adj2" fmla="val 0"/>
            </a:avLst>
          </a:prstGeom>
          <a:solidFill>
            <a:srgbClr val="FFC91D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统一拦截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AD8544E2-8BAA-2DFB-1729-32DE302B8773}"/>
              </a:ext>
            </a:extLst>
          </p:cNvPr>
          <p:cNvSpPr/>
          <p:nvPr/>
        </p:nvSpPr>
        <p:spPr>
          <a:xfrm rot="19229268">
            <a:off x="8056054" y="4631454"/>
            <a:ext cx="441955" cy="197671"/>
          </a:xfrm>
          <a:prstGeom prst="rightArrow">
            <a:avLst>
              <a:gd name="adj1" fmla="val 50000"/>
              <a:gd name="adj2" fmla="val 73159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1D21C029-D4A3-9DBC-291D-412B1128AE2B}"/>
              </a:ext>
            </a:extLst>
          </p:cNvPr>
          <p:cNvSpPr/>
          <p:nvPr/>
        </p:nvSpPr>
        <p:spPr>
          <a:xfrm rot="2290107">
            <a:off x="8059704" y="5637950"/>
            <a:ext cx="441955" cy="197671"/>
          </a:xfrm>
          <a:prstGeom prst="rightArrow">
            <a:avLst>
              <a:gd name="adj1" fmla="val 50000"/>
              <a:gd name="adj2" fmla="val 73159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CF8131C6-F092-1041-74AF-9FDFD9210CC4}"/>
              </a:ext>
            </a:extLst>
          </p:cNvPr>
          <p:cNvSpPr/>
          <p:nvPr/>
        </p:nvSpPr>
        <p:spPr>
          <a:xfrm>
            <a:off x="8110635" y="5150568"/>
            <a:ext cx="390497" cy="209605"/>
          </a:xfrm>
          <a:prstGeom prst="rightArrow">
            <a:avLst>
              <a:gd name="adj1" fmla="val 50000"/>
              <a:gd name="adj2" fmla="val 73159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!!直接箭头连接符 27">
            <a:extLst>
              <a:ext uri="{FF2B5EF4-FFF2-40B4-BE49-F238E27FC236}">
                <a16:creationId xmlns:a16="http://schemas.microsoft.com/office/drawing/2014/main" id="{4CD40396-F702-EB8D-0CC0-B96E55943A91}"/>
              </a:ext>
            </a:extLst>
          </p:cNvPr>
          <p:cNvCxnSpPr>
            <a:cxnSpLocks/>
          </p:cNvCxnSpPr>
          <p:nvPr/>
        </p:nvCxnSpPr>
        <p:spPr>
          <a:xfrm flipH="1">
            <a:off x="2412273" y="4765985"/>
            <a:ext cx="4222455" cy="314952"/>
          </a:xfrm>
          <a:prstGeom prst="straightConnector1">
            <a:avLst/>
          </a:prstGeom>
          <a:ln w="12700">
            <a:solidFill>
              <a:srgbClr val="0070C0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!!直接箭头连接符 30">
            <a:extLst>
              <a:ext uri="{FF2B5EF4-FFF2-40B4-BE49-F238E27FC236}">
                <a16:creationId xmlns:a16="http://schemas.microsoft.com/office/drawing/2014/main" id="{1B5B63AB-1669-D5CB-9005-CEA5940B9960}"/>
              </a:ext>
            </a:extLst>
          </p:cNvPr>
          <p:cNvCxnSpPr>
            <a:cxnSpLocks/>
          </p:cNvCxnSpPr>
          <p:nvPr/>
        </p:nvCxnSpPr>
        <p:spPr>
          <a:xfrm>
            <a:off x="2441176" y="5245008"/>
            <a:ext cx="4164836" cy="0"/>
          </a:xfrm>
          <a:prstGeom prst="straightConnector1">
            <a:avLst/>
          </a:prstGeom>
          <a:ln w="12700">
            <a:solidFill>
              <a:srgbClr val="E46C0A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!!直接箭头连接符 45">
            <a:extLst>
              <a:ext uri="{FF2B5EF4-FFF2-40B4-BE49-F238E27FC236}">
                <a16:creationId xmlns:a16="http://schemas.microsoft.com/office/drawing/2014/main" id="{16474C3A-C429-A0C2-BD47-19A047BE879C}"/>
              </a:ext>
            </a:extLst>
          </p:cNvPr>
          <p:cNvCxnSpPr>
            <a:cxnSpLocks/>
          </p:cNvCxnSpPr>
          <p:nvPr/>
        </p:nvCxnSpPr>
        <p:spPr>
          <a:xfrm>
            <a:off x="2412273" y="5500558"/>
            <a:ext cx="4193739" cy="269227"/>
          </a:xfrm>
          <a:prstGeom prst="straightConnector1">
            <a:avLst/>
          </a:prstGeom>
          <a:ln w="12700">
            <a:solidFill>
              <a:srgbClr val="E46C0A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!!直接箭头连接符 48">
            <a:extLst>
              <a:ext uri="{FF2B5EF4-FFF2-40B4-BE49-F238E27FC236}">
                <a16:creationId xmlns:a16="http://schemas.microsoft.com/office/drawing/2014/main" id="{8AE8EEA4-128A-3652-4399-099229EE6DB3}"/>
              </a:ext>
            </a:extLst>
          </p:cNvPr>
          <p:cNvCxnSpPr>
            <a:cxnSpLocks/>
          </p:cNvCxnSpPr>
          <p:nvPr/>
        </p:nvCxnSpPr>
        <p:spPr>
          <a:xfrm flipH="1" flipV="1">
            <a:off x="2385321" y="5634695"/>
            <a:ext cx="4179862" cy="272962"/>
          </a:xfrm>
          <a:prstGeom prst="straightConnector1">
            <a:avLst/>
          </a:prstGeom>
          <a:ln w="12700">
            <a:solidFill>
              <a:srgbClr val="0070C0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C4BDBB83-4F1F-A4F2-20BA-0948D3263F58}"/>
              </a:ext>
            </a:extLst>
          </p:cNvPr>
          <p:cNvGrpSpPr/>
          <p:nvPr/>
        </p:nvGrpSpPr>
        <p:grpSpPr>
          <a:xfrm>
            <a:off x="1571907" y="5951049"/>
            <a:ext cx="634321" cy="639935"/>
            <a:chOff x="1288572" y="3466291"/>
            <a:chExt cx="1076475" cy="1086002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grpSpPr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EB111162-7FCC-61EE-A4C8-615E4A0EF0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88572" y="3466291"/>
              <a:ext cx="1076475" cy="1086002"/>
            </a:xfrm>
            <a:prstGeom prst="rect">
              <a:avLst/>
            </a:prstGeom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05597AD2-1D53-3E51-0578-8C30593C31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02940" y="3772355"/>
              <a:ext cx="447736" cy="447738"/>
            </a:xfrm>
            <a:prstGeom prst="rect">
              <a:avLst/>
            </a:prstGeom>
          </p:spPr>
        </p:pic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E425EDBD-6677-5DC0-9FB3-AD6ED3983BF7}"/>
              </a:ext>
            </a:extLst>
          </p:cNvPr>
          <p:cNvGrpSpPr/>
          <p:nvPr/>
        </p:nvGrpSpPr>
        <p:grpSpPr>
          <a:xfrm>
            <a:off x="1590386" y="4018956"/>
            <a:ext cx="634321" cy="639935"/>
            <a:chOff x="1288572" y="3466291"/>
            <a:chExt cx="1076475" cy="1086002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grpSpPr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513DACFE-5A6C-9955-33A0-CA7BD65CA6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88572" y="3466291"/>
              <a:ext cx="1076475" cy="1086002"/>
            </a:xfrm>
            <a:prstGeom prst="rect">
              <a:avLst/>
            </a:prstGeom>
          </p:spPr>
        </p:pic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50ADFDF8-F2B9-26FD-56D2-703A567F41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02940" y="3772355"/>
              <a:ext cx="447736" cy="447738"/>
            </a:xfrm>
            <a:prstGeom prst="rect">
              <a:avLst/>
            </a:prstGeom>
          </p:spPr>
        </p:pic>
      </p:grpSp>
      <p:cxnSp>
        <p:nvCxnSpPr>
          <p:cNvPr id="27" name="!!直接箭头连接符 32">
            <a:extLst>
              <a:ext uri="{FF2B5EF4-FFF2-40B4-BE49-F238E27FC236}">
                <a16:creationId xmlns:a16="http://schemas.microsoft.com/office/drawing/2014/main" id="{05E15D58-555A-2CB7-24E6-FD3CAE3318A1}"/>
              </a:ext>
            </a:extLst>
          </p:cNvPr>
          <p:cNvCxnSpPr>
            <a:cxnSpLocks/>
          </p:cNvCxnSpPr>
          <p:nvPr/>
        </p:nvCxnSpPr>
        <p:spPr>
          <a:xfrm>
            <a:off x="2321437" y="4268035"/>
            <a:ext cx="4313291" cy="86415"/>
          </a:xfrm>
          <a:prstGeom prst="straightConnector1">
            <a:avLst/>
          </a:prstGeom>
          <a:ln w="12700">
            <a:solidFill>
              <a:srgbClr val="E46C0A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!!直接箭头连接符 35">
            <a:extLst>
              <a:ext uri="{FF2B5EF4-FFF2-40B4-BE49-F238E27FC236}">
                <a16:creationId xmlns:a16="http://schemas.microsoft.com/office/drawing/2014/main" id="{2D16DEE2-C572-27D0-D429-84CDAB271B00}"/>
              </a:ext>
            </a:extLst>
          </p:cNvPr>
          <p:cNvCxnSpPr>
            <a:cxnSpLocks/>
          </p:cNvCxnSpPr>
          <p:nvPr/>
        </p:nvCxnSpPr>
        <p:spPr>
          <a:xfrm flipH="1" flipV="1">
            <a:off x="2296571" y="4418874"/>
            <a:ext cx="4173996" cy="89042"/>
          </a:xfrm>
          <a:prstGeom prst="straightConnector1">
            <a:avLst/>
          </a:prstGeom>
          <a:ln w="12700">
            <a:solidFill>
              <a:srgbClr val="0070C0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43C70FD1-068F-85F2-D0E9-F69C1FE2246D}"/>
              </a:ext>
            </a:extLst>
          </p:cNvPr>
          <p:cNvCxnSpPr>
            <a:cxnSpLocks/>
          </p:cNvCxnSpPr>
          <p:nvPr/>
        </p:nvCxnSpPr>
        <p:spPr>
          <a:xfrm flipV="1">
            <a:off x="2321437" y="6157747"/>
            <a:ext cx="4243746" cy="129453"/>
          </a:xfrm>
          <a:prstGeom prst="straightConnector1">
            <a:avLst/>
          </a:prstGeom>
          <a:ln w="12700">
            <a:solidFill>
              <a:srgbClr val="E46C0A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CCF9E928-7387-79B2-7A0B-BF959F6EF299}"/>
              </a:ext>
            </a:extLst>
          </p:cNvPr>
          <p:cNvCxnSpPr>
            <a:cxnSpLocks/>
          </p:cNvCxnSpPr>
          <p:nvPr/>
        </p:nvCxnSpPr>
        <p:spPr>
          <a:xfrm flipH="1">
            <a:off x="2297555" y="6287200"/>
            <a:ext cx="4313348" cy="159884"/>
          </a:xfrm>
          <a:prstGeom prst="straightConnector1">
            <a:avLst/>
          </a:prstGeom>
          <a:ln w="12700">
            <a:solidFill>
              <a:srgbClr val="0070C0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流程图: 接点 30">
            <a:extLst>
              <a:ext uri="{FF2B5EF4-FFF2-40B4-BE49-F238E27FC236}">
                <a16:creationId xmlns:a16="http://schemas.microsoft.com/office/drawing/2014/main" id="{B1DA6E72-6A03-348E-9906-03441D69DB76}"/>
              </a:ext>
            </a:extLst>
          </p:cNvPr>
          <p:cNvSpPr/>
          <p:nvPr/>
        </p:nvSpPr>
        <p:spPr>
          <a:xfrm>
            <a:off x="4460357" y="4709555"/>
            <a:ext cx="316333" cy="316333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32" name="流程图: 接点 31">
            <a:extLst>
              <a:ext uri="{FF2B5EF4-FFF2-40B4-BE49-F238E27FC236}">
                <a16:creationId xmlns:a16="http://schemas.microsoft.com/office/drawing/2014/main" id="{7740AC3E-391F-22E5-B0A4-AAE974324E24}"/>
              </a:ext>
            </a:extLst>
          </p:cNvPr>
          <p:cNvSpPr/>
          <p:nvPr/>
        </p:nvSpPr>
        <p:spPr>
          <a:xfrm>
            <a:off x="4453749" y="5152383"/>
            <a:ext cx="316333" cy="316333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33" name="流程图: 接点 32">
            <a:extLst>
              <a:ext uri="{FF2B5EF4-FFF2-40B4-BE49-F238E27FC236}">
                <a16:creationId xmlns:a16="http://schemas.microsoft.com/office/drawing/2014/main" id="{0727B1CA-4FDE-3BC9-9EF3-1D0BC071F2CF}"/>
              </a:ext>
            </a:extLst>
          </p:cNvPr>
          <p:cNvSpPr/>
          <p:nvPr/>
        </p:nvSpPr>
        <p:spPr>
          <a:xfrm>
            <a:off x="4456648" y="5545369"/>
            <a:ext cx="316333" cy="316333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3</a:t>
            </a:r>
            <a:endParaRPr lang="zh-CN" altLang="en-US"/>
          </a:p>
        </p:txBody>
      </p:sp>
      <p:sp>
        <p:nvSpPr>
          <p:cNvPr id="34" name="流程图: 接点 33">
            <a:extLst>
              <a:ext uri="{FF2B5EF4-FFF2-40B4-BE49-F238E27FC236}">
                <a16:creationId xmlns:a16="http://schemas.microsoft.com/office/drawing/2014/main" id="{1F65814F-17A5-8DCB-5803-AF9277DB1161}"/>
              </a:ext>
            </a:extLst>
          </p:cNvPr>
          <p:cNvSpPr/>
          <p:nvPr/>
        </p:nvSpPr>
        <p:spPr>
          <a:xfrm>
            <a:off x="4435375" y="4218258"/>
            <a:ext cx="316333" cy="316333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35" name="流程图: 接点 34">
            <a:extLst>
              <a:ext uri="{FF2B5EF4-FFF2-40B4-BE49-F238E27FC236}">
                <a16:creationId xmlns:a16="http://schemas.microsoft.com/office/drawing/2014/main" id="{21BA5E06-CC09-846F-D923-42D1DC59595C}"/>
              </a:ext>
            </a:extLst>
          </p:cNvPr>
          <p:cNvSpPr/>
          <p:nvPr/>
        </p:nvSpPr>
        <p:spPr>
          <a:xfrm>
            <a:off x="4459937" y="6127160"/>
            <a:ext cx="316333" cy="316333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5</a:t>
            </a:r>
            <a:endParaRPr lang="zh-CN" altLang="en-US"/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8E812B07-0FAC-662E-E644-0388BA6356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6585" y="3910603"/>
            <a:ext cx="2414601" cy="2807129"/>
          </a:xfrm>
          <a:prstGeom prst="roundRect">
            <a:avLst>
              <a:gd name="adj" fmla="val 4156"/>
            </a:avLst>
          </a:prstGeom>
          <a:effectLst>
            <a:glow rad="63500">
              <a:schemeClr val="tx1">
                <a:lumMod val="75000"/>
                <a:lumOff val="25000"/>
                <a:alpha val="40000"/>
              </a:schemeClr>
            </a:glow>
          </a:effectLst>
        </p:spPr>
      </p:pic>
      <p:sp>
        <p:nvSpPr>
          <p:cNvPr id="37" name="矩形: 对角圆角 36">
            <a:extLst>
              <a:ext uri="{FF2B5EF4-FFF2-40B4-BE49-F238E27FC236}">
                <a16:creationId xmlns:a16="http://schemas.microsoft.com/office/drawing/2014/main" id="{B98CE56D-4855-4B12-CF29-5B66AC0B52B7}"/>
              </a:ext>
            </a:extLst>
          </p:cNvPr>
          <p:cNvSpPr/>
          <p:nvPr/>
        </p:nvSpPr>
        <p:spPr>
          <a:xfrm>
            <a:off x="971893" y="5634695"/>
            <a:ext cx="725584" cy="289634"/>
          </a:xfrm>
          <a:prstGeom prst="round2DiagRect">
            <a:avLst>
              <a:gd name="adj1" fmla="val 22143"/>
              <a:gd name="adj2" fmla="val 1595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Cookie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224B0B83-CFCF-A3B5-AA98-8F930AEFC9FD}"/>
              </a:ext>
            </a:extLst>
          </p:cNvPr>
          <p:cNvSpPr/>
          <p:nvPr/>
        </p:nvSpPr>
        <p:spPr>
          <a:xfrm>
            <a:off x="8513014" y="4368039"/>
            <a:ext cx="1133128" cy="320024"/>
          </a:xfrm>
          <a:prstGeom prst="round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Login</a:t>
            </a:r>
            <a:endParaRPr lang="zh-CN" altLang="en-US" sz="12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3C654528-A5F0-94A3-7CFB-4CECD925775D}"/>
              </a:ext>
            </a:extLst>
          </p:cNvPr>
          <p:cNvSpPr/>
          <p:nvPr/>
        </p:nvSpPr>
        <p:spPr>
          <a:xfrm>
            <a:off x="8513012" y="4846110"/>
            <a:ext cx="1133128" cy="320024"/>
          </a:xfrm>
          <a:prstGeom prst="round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Emp</a:t>
            </a:r>
            <a:endParaRPr lang="zh-CN" altLang="en-US" sz="12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78B6501C-1C0C-9379-8A82-C2BFFB1C0B70}"/>
              </a:ext>
            </a:extLst>
          </p:cNvPr>
          <p:cNvSpPr/>
          <p:nvPr/>
        </p:nvSpPr>
        <p:spPr>
          <a:xfrm>
            <a:off x="8521805" y="5329611"/>
            <a:ext cx="1133128" cy="320024"/>
          </a:xfrm>
          <a:prstGeom prst="round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Dept</a:t>
            </a:r>
            <a:endParaRPr lang="zh-CN" altLang="en-US" sz="12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C7DFE85B-ED1F-BAA6-A83D-058981377674}"/>
              </a:ext>
            </a:extLst>
          </p:cNvPr>
          <p:cNvSpPr/>
          <p:nvPr/>
        </p:nvSpPr>
        <p:spPr>
          <a:xfrm>
            <a:off x="8521805" y="5816591"/>
            <a:ext cx="1133128" cy="320024"/>
          </a:xfrm>
          <a:prstGeom prst="round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Report</a:t>
            </a:r>
            <a:endParaRPr lang="zh-CN" altLang="en-US" sz="12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3" name="流程图: 文档 42">
            <a:extLst>
              <a:ext uri="{FF2B5EF4-FFF2-40B4-BE49-F238E27FC236}">
                <a16:creationId xmlns:a16="http://schemas.microsoft.com/office/drawing/2014/main" id="{451BB6CA-BA23-AD7A-E64D-69F3D93296C8}"/>
              </a:ext>
            </a:extLst>
          </p:cNvPr>
          <p:cNvSpPr/>
          <p:nvPr/>
        </p:nvSpPr>
        <p:spPr>
          <a:xfrm>
            <a:off x="9965781" y="5004737"/>
            <a:ext cx="753270" cy="710871"/>
          </a:xfrm>
          <a:prstGeom prst="flowChartDocument">
            <a:avLst/>
          </a:prstGeom>
          <a:solidFill>
            <a:srgbClr val="7030A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20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登录标记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761D4AD-AD60-ECB5-1A5D-EFE0DCEC16C3}"/>
              </a:ext>
            </a:extLst>
          </p:cNvPr>
          <p:cNvSpPr/>
          <p:nvPr/>
        </p:nvSpPr>
        <p:spPr>
          <a:xfrm>
            <a:off x="2878960" y="5690653"/>
            <a:ext cx="656720" cy="269227"/>
          </a:xfrm>
          <a:prstGeom prst="rect">
            <a:avLst/>
          </a:prstGeom>
          <a:noFill/>
          <a:ln w="127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4A94CDE0-3117-8A6F-0286-CE2A74CAEBF4}"/>
              </a:ext>
            </a:extLst>
          </p:cNvPr>
          <p:cNvSpPr/>
          <p:nvPr/>
        </p:nvSpPr>
        <p:spPr>
          <a:xfrm>
            <a:off x="1956878" y="6221936"/>
            <a:ext cx="1566609" cy="269227"/>
          </a:xfrm>
          <a:prstGeom prst="rect">
            <a:avLst/>
          </a:prstGeom>
          <a:noFill/>
          <a:ln w="127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2A83ABCF-0D14-D50A-946F-82459BB8C370}"/>
              </a:ext>
            </a:extLst>
          </p:cNvPr>
          <p:cNvSpPr/>
          <p:nvPr/>
        </p:nvSpPr>
        <p:spPr>
          <a:xfrm>
            <a:off x="3566553" y="5733451"/>
            <a:ext cx="183630" cy="183630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rgbClr val="C00000"/>
                </a:solidFill>
              </a:rPr>
              <a:t>1</a:t>
            </a:r>
            <a:endParaRPr lang="zh-CN" altLang="en-US" sz="1000">
              <a:solidFill>
                <a:srgbClr val="C00000"/>
              </a:solidFill>
            </a:endParaRP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1C4EA9DA-63DA-BAA1-6A75-601D51BC4A04}"/>
              </a:ext>
            </a:extLst>
          </p:cNvPr>
          <p:cNvSpPr/>
          <p:nvPr/>
        </p:nvSpPr>
        <p:spPr>
          <a:xfrm>
            <a:off x="3566553" y="6256434"/>
            <a:ext cx="183630" cy="183630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rgbClr val="C00000"/>
                </a:solidFill>
              </a:rPr>
              <a:t>2</a:t>
            </a:r>
            <a:endParaRPr lang="zh-CN" altLang="en-US" sz="1000">
              <a:solidFill>
                <a:srgbClr val="C00000"/>
              </a:solidFill>
            </a:endParaRPr>
          </a:p>
        </p:txBody>
      </p:sp>
      <p:sp>
        <p:nvSpPr>
          <p:cNvPr id="49" name="流程图: 文档 48">
            <a:extLst>
              <a:ext uri="{FF2B5EF4-FFF2-40B4-BE49-F238E27FC236}">
                <a16:creationId xmlns:a16="http://schemas.microsoft.com/office/drawing/2014/main" id="{AA0A1C03-B95F-3011-C748-80AEA19E795A}"/>
              </a:ext>
            </a:extLst>
          </p:cNvPr>
          <p:cNvSpPr/>
          <p:nvPr/>
        </p:nvSpPr>
        <p:spPr>
          <a:xfrm>
            <a:off x="2491867" y="3985875"/>
            <a:ext cx="634321" cy="215640"/>
          </a:xfrm>
          <a:prstGeom prst="flowChartDocument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rgbClr val="C00000"/>
                </a:solidFill>
              </a:rPr>
              <a:t>1</a:t>
            </a:r>
            <a:endParaRPr lang="zh-CN" altLang="en-US" sz="900">
              <a:solidFill>
                <a:srgbClr val="C00000"/>
              </a:solidFill>
            </a:endParaRPr>
          </a:p>
        </p:txBody>
      </p:sp>
      <p:cxnSp>
        <p:nvCxnSpPr>
          <p:cNvPr id="51" name="连接符: 曲线 50">
            <a:extLst>
              <a:ext uri="{FF2B5EF4-FFF2-40B4-BE49-F238E27FC236}">
                <a16:creationId xmlns:a16="http://schemas.microsoft.com/office/drawing/2014/main" id="{27EB0CDF-9345-42CA-6D2B-21C08B604A01}"/>
              </a:ext>
            </a:extLst>
          </p:cNvPr>
          <p:cNvCxnSpPr>
            <a:cxnSpLocks/>
            <a:stCxn id="44" idx="3"/>
            <a:endCxn id="49" idx="3"/>
          </p:cNvCxnSpPr>
          <p:nvPr/>
        </p:nvCxnSpPr>
        <p:spPr>
          <a:xfrm flipH="1" flipV="1">
            <a:off x="3126188" y="4093695"/>
            <a:ext cx="409492" cy="1731572"/>
          </a:xfrm>
          <a:prstGeom prst="curvedConnector3">
            <a:avLst>
              <a:gd name="adj1" fmla="val -17120"/>
            </a:avLst>
          </a:prstGeom>
          <a:ln w="127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连接符: 曲线 54">
            <a:extLst>
              <a:ext uri="{FF2B5EF4-FFF2-40B4-BE49-F238E27FC236}">
                <a16:creationId xmlns:a16="http://schemas.microsoft.com/office/drawing/2014/main" id="{770320CF-F193-2304-2FB3-4F698AA4238C}"/>
              </a:ext>
            </a:extLst>
          </p:cNvPr>
          <p:cNvCxnSpPr>
            <a:stCxn id="49" idx="1"/>
            <a:endCxn id="45" idx="1"/>
          </p:cNvCxnSpPr>
          <p:nvPr/>
        </p:nvCxnSpPr>
        <p:spPr>
          <a:xfrm rot="10800000" flipV="1">
            <a:off x="1956879" y="4093694"/>
            <a:ext cx="534989" cy="2262855"/>
          </a:xfrm>
          <a:prstGeom prst="curvedConnector3">
            <a:avLst>
              <a:gd name="adj1" fmla="val 126778"/>
            </a:avLst>
          </a:prstGeom>
          <a:ln w="127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连接符: 曲线 57">
            <a:extLst>
              <a:ext uri="{FF2B5EF4-FFF2-40B4-BE49-F238E27FC236}">
                <a16:creationId xmlns:a16="http://schemas.microsoft.com/office/drawing/2014/main" id="{F2811BAA-4CA9-C202-6397-ED6035F07E8B}"/>
              </a:ext>
            </a:extLst>
          </p:cNvPr>
          <p:cNvCxnSpPr>
            <a:stCxn id="39" idx="3"/>
            <a:endCxn id="43" idx="0"/>
          </p:cNvCxnSpPr>
          <p:nvPr/>
        </p:nvCxnSpPr>
        <p:spPr>
          <a:xfrm>
            <a:off x="9646142" y="4528051"/>
            <a:ext cx="696274" cy="476686"/>
          </a:xfrm>
          <a:prstGeom prst="curvedConnector2">
            <a:avLst/>
          </a:prstGeom>
          <a:ln w="127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连接符: 曲线 59">
            <a:extLst>
              <a:ext uri="{FF2B5EF4-FFF2-40B4-BE49-F238E27FC236}">
                <a16:creationId xmlns:a16="http://schemas.microsoft.com/office/drawing/2014/main" id="{2BE68D51-E370-C5F5-44BE-1333F8783F44}"/>
              </a:ext>
            </a:extLst>
          </p:cNvPr>
          <p:cNvCxnSpPr>
            <a:stCxn id="43" idx="2"/>
            <a:endCxn id="13" idx="1"/>
          </p:cNvCxnSpPr>
          <p:nvPr/>
        </p:nvCxnSpPr>
        <p:spPr>
          <a:xfrm rot="5400000">
            <a:off x="8789098" y="4577390"/>
            <a:ext cx="462096" cy="2644541"/>
          </a:xfrm>
          <a:prstGeom prst="curvedConnector3">
            <a:avLst>
              <a:gd name="adj1" fmla="val 149470"/>
            </a:avLst>
          </a:prstGeom>
          <a:ln w="127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!!矩形: 对角圆角 36">
            <a:extLst>
              <a:ext uri="{FF2B5EF4-FFF2-40B4-BE49-F238E27FC236}">
                <a16:creationId xmlns:a16="http://schemas.microsoft.com/office/drawing/2014/main" id="{C50FFE89-775E-531B-04D1-F7F0FA428C54}"/>
              </a:ext>
            </a:extLst>
          </p:cNvPr>
          <p:cNvSpPr/>
          <p:nvPr/>
        </p:nvSpPr>
        <p:spPr>
          <a:xfrm>
            <a:off x="9972419" y="4594136"/>
            <a:ext cx="725584" cy="320025"/>
          </a:xfrm>
          <a:prstGeom prst="round2DiagRect">
            <a:avLst>
              <a:gd name="adj1" fmla="val 9886"/>
              <a:gd name="adj2" fmla="val 1078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Session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318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25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25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0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3" dur="2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34" grpId="0" animBg="1"/>
      <p:bldP spid="34" grpId="1" animBg="1"/>
      <p:bldP spid="35" grpId="0" animBg="1"/>
      <p:bldP spid="37" grpId="0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8" grpId="0" animBg="1"/>
      <p:bldP spid="48" grpId="1" animBg="1"/>
      <p:bldP spid="49" grpId="0" animBg="1"/>
      <p:bldP spid="49" grpId="1" animBg="1"/>
      <p:bldP spid="3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E15C0A-A65B-3251-7D41-1A4CBC3D8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会话跟踪方案对比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3DCA56E0-74B2-D417-3B12-053F9205EEAE}"/>
              </a:ext>
            </a:extLst>
          </p:cNvPr>
          <p:cNvGrpSpPr/>
          <p:nvPr/>
        </p:nvGrpSpPr>
        <p:grpSpPr>
          <a:xfrm>
            <a:off x="1733084" y="1374546"/>
            <a:ext cx="7108612" cy="1690061"/>
            <a:chOff x="813257" y="1467822"/>
            <a:chExt cx="7108612" cy="169006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8AD74DC7-E8FD-51CD-6715-16A5D5E011F8}"/>
                </a:ext>
              </a:extLst>
            </p:cNvPr>
            <p:cNvSpPr/>
            <p:nvPr/>
          </p:nvSpPr>
          <p:spPr>
            <a:xfrm>
              <a:off x="813257" y="1467822"/>
              <a:ext cx="7108612" cy="1690061"/>
            </a:xfrm>
            <a:prstGeom prst="roundRect">
              <a:avLst>
                <a:gd name="adj" fmla="val 3016"/>
              </a:avLst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FD8CBAA2-734C-3BA4-B61A-9F3C607124CA}"/>
                </a:ext>
              </a:extLst>
            </p:cNvPr>
            <p:cNvSpPr/>
            <p:nvPr/>
          </p:nvSpPr>
          <p:spPr>
            <a:xfrm>
              <a:off x="5040075" y="1545546"/>
              <a:ext cx="2740056" cy="1552273"/>
            </a:xfrm>
            <a:prstGeom prst="roundRect">
              <a:avLst>
                <a:gd name="adj" fmla="val 4938"/>
              </a:avLst>
            </a:prstGeom>
            <a:solidFill>
              <a:srgbClr val="86E2E0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B4286A91-ED61-BE02-8264-797CF18F0EF9}"/>
                </a:ext>
              </a:extLst>
            </p:cNvPr>
            <p:cNvCxnSpPr>
              <a:cxnSpLocks/>
            </p:cNvCxnSpPr>
            <p:nvPr/>
          </p:nvCxnSpPr>
          <p:spPr>
            <a:xfrm>
              <a:off x="1847850" y="2183596"/>
              <a:ext cx="3109796" cy="0"/>
            </a:xfrm>
            <a:prstGeom prst="straightConnector1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3A9D3BEA-DE56-42D0-C0C0-FBF4D94C7D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06184" y="2466487"/>
              <a:ext cx="3151462" cy="0"/>
            </a:xfrm>
            <a:prstGeom prst="straightConnector1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4A054ABA-54D7-3606-C92B-3D92E4F3C91C}"/>
                </a:ext>
              </a:extLst>
            </p:cNvPr>
            <p:cNvSpPr txBox="1"/>
            <p:nvPr/>
          </p:nvSpPr>
          <p:spPr>
            <a:xfrm>
              <a:off x="2871443" y="1971098"/>
              <a:ext cx="46618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900"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请求</a:t>
              </a:r>
              <a:endParaRPr lang="zh-CN" altLang="en-US" sz="9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DD894B6D-D294-8066-75C6-5C3439372C55}"/>
                </a:ext>
              </a:extLst>
            </p:cNvPr>
            <p:cNvSpPr txBox="1"/>
            <p:nvPr/>
          </p:nvSpPr>
          <p:spPr>
            <a:xfrm>
              <a:off x="2877517" y="2475046"/>
              <a:ext cx="41229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900"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响应</a:t>
              </a:r>
              <a:endParaRPr lang="zh-CN" altLang="en-US" sz="9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9B479232-CE74-27EE-F1C0-DB3C902A3728}"/>
                </a:ext>
              </a:extLst>
            </p:cNvPr>
            <p:cNvGrpSpPr/>
            <p:nvPr/>
          </p:nvGrpSpPr>
          <p:grpSpPr>
            <a:xfrm>
              <a:off x="1246066" y="2154107"/>
              <a:ext cx="446647" cy="456319"/>
              <a:chOff x="1288572" y="3466291"/>
              <a:chExt cx="1076475" cy="1086002"/>
            </a:xfrm>
          </p:grpSpPr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DCA367C3-39C0-CFA0-0C05-6309B8FDC1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88572" y="3466291"/>
                <a:ext cx="1076475" cy="1086002"/>
              </a:xfrm>
              <a:prstGeom prst="rect">
                <a:avLst/>
              </a:prstGeom>
            </p:spPr>
          </p:pic>
          <p:pic>
            <p:nvPicPr>
              <p:cNvPr id="22" name="图片 21">
                <a:extLst>
                  <a:ext uri="{FF2B5EF4-FFF2-40B4-BE49-F238E27FC236}">
                    <a16:creationId xmlns:a16="http://schemas.microsoft.com/office/drawing/2014/main" id="{EBE8DD38-81E0-21C8-CE11-EE9643B54A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02940" y="3784462"/>
                <a:ext cx="447737" cy="447737"/>
              </a:xfrm>
              <a:prstGeom prst="rect">
                <a:avLst/>
              </a:prstGeom>
            </p:spPr>
          </p:pic>
        </p:grp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5265E7AB-CBB2-79EC-253F-25EE8F27F876}"/>
                </a:ext>
              </a:extLst>
            </p:cNvPr>
            <p:cNvSpPr/>
            <p:nvPr/>
          </p:nvSpPr>
          <p:spPr>
            <a:xfrm>
              <a:off x="5113175" y="1622743"/>
              <a:ext cx="2584527" cy="1387391"/>
            </a:xfrm>
            <a:prstGeom prst="roundRect">
              <a:avLst>
                <a:gd name="adj" fmla="val 3205"/>
              </a:avLst>
            </a:prstGeom>
            <a:noFill/>
            <a:ln w="6350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矩形: 对角圆角 12">
              <a:extLst>
                <a:ext uri="{FF2B5EF4-FFF2-40B4-BE49-F238E27FC236}">
                  <a16:creationId xmlns:a16="http://schemas.microsoft.com/office/drawing/2014/main" id="{34E13C3A-45C4-6B46-41F1-9C10A55243D4}"/>
                </a:ext>
              </a:extLst>
            </p:cNvPr>
            <p:cNvSpPr/>
            <p:nvPr/>
          </p:nvSpPr>
          <p:spPr>
            <a:xfrm>
              <a:off x="5342832" y="1879077"/>
              <a:ext cx="642663" cy="971812"/>
            </a:xfrm>
            <a:prstGeom prst="round2DiagRect">
              <a:avLst>
                <a:gd name="adj1" fmla="val 16636"/>
                <a:gd name="adj2" fmla="val 0"/>
              </a:avLst>
            </a:prstGeom>
            <a:solidFill>
              <a:srgbClr val="FFC91D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统一拦截</a:t>
              </a:r>
              <a:endParaRPr lang="zh-CN" altLang="en-US" sz="100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395C8B2D-7ADA-5D68-4FD1-BC28603752A9}"/>
                </a:ext>
              </a:extLst>
            </p:cNvPr>
            <p:cNvSpPr/>
            <p:nvPr/>
          </p:nvSpPr>
          <p:spPr>
            <a:xfrm>
              <a:off x="6169938" y="1703873"/>
              <a:ext cx="961962" cy="250337"/>
            </a:xfrm>
            <a:prstGeom prst="roundRect">
              <a:avLst/>
            </a:prstGeom>
            <a:solidFill>
              <a:srgbClr val="34495E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Login</a:t>
              </a:r>
              <a:endParaRPr lang="zh-CN" altLang="en-US" sz="10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C0954786-0709-766A-B550-80739D5DDFA8}"/>
                </a:ext>
              </a:extLst>
            </p:cNvPr>
            <p:cNvSpPr/>
            <p:nvPr/>
          </p:nvSpPr>
          <p:spPr>
            <a:xfrm>
              <a:off x="6169936" y="2029254"/>
              <a:ext cx="961962" cy="250337"/>
            </a:xfrm>
            <a:prstGeom prst="roundRect">
              <a:avLst/>
            </a:prstGeom>
            <a:solidFill>
              <a:srgbClr val="34495E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</a:t>
              </a:r>
              <a:endParaRPr lang="zh-CN" altLang="en-US" sz="10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63A6CF87-BC71-2394-5F61-BF7CB895D077}"/>
                </a:ext>
              </a:extLst>
            </p:cNvPr>
            <p:cNvSpPr/>
            <p:nvPr/>
          </p:nvSpPr>
          <p:spPr>
            <a:xfrm>
              <a:off x="6177401" y="2354635"/>
              <a:ext cx="961962" cy="250337"/>
            </a:xfrm>
            <a:prstGeom prst="roundRect">
              <a:avLst/>
            </a:prstGeom>
            <a:solidFill>
              <a:srgbClr val="34495E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</a:t>
              </a:r>
              <a:endParaRPr lang="zh-CN" altLang="en-US" sz="10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4A083AAC-DCD1-2791-0E7F-DE0BB3B6D705}"/>
                </a:ext>
              </a:extLst>
            </p:cNvPr>
            <p:cNvSpPr/>
            <p:nvPr/>
          </p:nvSpPr>
          <p:spPr>
            <a:xfrm>
              <a:off x="6169936" y="2680015"/>
              <a:ext cx="961962" cy="250337"/>
            </a:xfrm>
            <a:prstGeom prst="roundRect">
              <a:avLst/>
            </a:prstGeom>
            <a:solidFill>
              <a:srgbClr val="34495E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Report</a:t>
              </a:r>
              <a:endParaRPr lang="zh-CN" altLang="en-US" sz="10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箭头: 右 17">
              <a:extLst>
                <a:ext uri="{FF2B5EF4-FFF2-40B4-BE49-F238E27FC236}">
                  <a16:creationId xmlns:a16="http://schemas.microsoft.com/office/drawing/2014/main" id="{9D7BB077-8F3E-AA41-C79A-F3E19781BF48}"/>
                </a:ext>
              </a:extLst>
            </p:cNvPr>
            <p:cNvSpPr/>
            <p:nvPr/>
          </p:nvSpPr>
          <p:spPr>
            <a:xfrm rot="19229268">
              <a:off x="5889167" y="1902758"/>
              <a:ext cx="375727" cy="148356"/>
            </a:xfrm>
            <a:prstGeom prst="rightArrow">
              <a:avLst>
                <a:gd name="adj1" fmla="val 50000"/>
                <a:gd name="adj2" fmla="val 73159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箭头: 右 18">
              <a:extLst>
                <a:ext uri="{FF2B5EF4-FFF2-40B4-BE49-F238E27FC236}">
                  <a16:creationId xmlns:a16="http://schemas.microsoft.com/office/drawing/2014/main" id="{50D679C7-41A5-A295-5AF3-871A1C4861C7}"/>
                </a:ext>
              </a:extLst>
            </p:cNvPr>
            <p:cNvSpPr/>
            <p:nvPr/>
          </p:nvSpPr>
          <p:spPr>
            <a:xfrm rot="2290107">
              <a:off x="5892270" y="2658154"/>
              <a:ext cx="375727" cy="148356"/>
            </a:xfrm>
            <a:prstGeom prst="rightArrow">
              <a:avLst>
                <a:gd name="adj1" fmla="val 50000"/>
                <a:gd name="adj2" fmla="val 73159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箭头: 右 19">
              <a:extLst>
                <a:ext uri="{FF2B5EF4-FFF2-40B4-BE49-F238E27FC236}">
                  <a16:creationId xmlns:a16="http://schemas.microsoft.com/office/drawing/2014/main" id="{4BE798E0-E89A-CB5D-3D94-A2C6D8E11E88}"/>
                </a:ext>
              </a:extLst>
            </p:cNvPr>
            <p:cNvSpPr/>
            <p:nvPr/>
          </p:nvSpPr>
          <p:spPr>
            <a:xfrm>
              <a:off x="5935569" y="2292364"/>
              <a:ext cx="331980" cy="157313"/>
            </a:xfrm>
            <a:prstGeom prst="rightArrow">
              <a:avLst>
                <a:gd name="adj1" fmla="val 50000"/>
                <a:gd name="adj2" fmla="val 73159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CD9E24BA-42B9-1436-30A4-4392DCF51AA4}"/>
              </a:ext>
            </a:extLst>
          </p:cNvPr>
          <p:cNvSpPr txBox="1"/>
          <p:nvPr/>
        </p:nvSpPr>
        <p:spPr>
          <a:xfrm>
            <a:off x="2104285" y="2574980"/>
            <a:ext cx="56601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浏览器</a:t>
            </a:r>
            <a:endParaRPr lang="zh-CN" altLang="en-US" sz="9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Shape 2426">
            <a:extLst>
              <a:ext uri="{FF2B5EF4-FFF2-40B4-BE49-F238E27FC236}">
                <a16:creationId xmlns:a16="http://schemas.microsoft.com/office/drawing/2014/main" id="{7A83A673-42A9-EE23-FFC2-54B7B7326A0B}"/>
              </a:ext>
            </a:extLst>
          </p:cNvPr>
          <p:cNvSpPr/>
          <p:nvPr/>
        </p:nvSpPr>
        <p:spPr>
          <a:xfrm>
            <a:off x="7990058" y="1709875"/>
            <a:ext cx="168940" cy="160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FF0000"/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algn="ctr" defTabSz="22851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000" noProof="1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Shape 2426">
            <a:extLst>
              <a:ext uri="{FF2B5EF4-FFF2-40B4-BE49-F238E27FC236}">
                <a16:creationId xmlns:a16="http://schemas.microsoft.com/office/drawing/2014/main" id="{91E18650-9B69-0ECD-83D8-761FA45B1C85}"/>
              </a:ext>
            </a:extLst>
          </p:cNvPr>
          <p:cNvSpPr/>
          <p:nvPr/>
        </p:nvSpPr>
        <p:spPr>
          <a:xfrm>
            <a:off x="1955961" y="2214763"/>
            <a:ext cx="168940" cy="160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FF0000"/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algn="ctr" defTabSz="22851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000" noProof="1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A000CF1-5CBB-13DC-A0B6-0FD45EAD7C33}"/>
              </a:ext>
            </a:extLst>
          </p:cNvPr>
          <p:cNvSpPr txBox="1"/>
          <p:nvPr/>
        </p:nvSpPr>
        <p:spPr>
          <a:xfrm>
            <a:off x="4115681" y="2434698"/>
            <a:ext cx="165977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9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(Set-Cookie:name=value)</a:t>
            </a:r>
            <a:endParaRPr lang="zh-CN" altLang="en-US" sz="900" dirty="0">
              <a:solidFill>
                <a:srgbClr val="C0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5FF04C2-90A0-D13C-4E30-2D341C0BD293}"/>
              </a:ext>
            </a:extLst>
          </p:cNvPr>
          <p:cNvSpPr txBox="1"/>
          <p:nvPr/>
        </p:nvSpPr>
        <p:spPr>
          <a:xfrm>
            <a:off x="4108061" y="1931660"/>
            <a:ext cx="142810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9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(Cookie:name=value)</a:t>
            </a:r>
            <a:endParaRPr lang="zh-CN" altLang="en-US" sz="900" dirty="0">
              <a:solidFill>
                <a:srgbClr val="C0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A54FE3D-C371-4099-90A7-D5B81E9D5529}"/>
              </a:ext>
            </a:extLst>
          </p:cNvPr>
          <p:cNvSpPr txBox="1"/>
          <p:nvPr/>
        </p:nvSpPr>
        <p:spPr>
          <a:xfrm>
            <a:off x="8945462" y="1384730"/>
            <a:ext cx="3147868" cy="1450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200">
                <a:solidFill>
                  <a:srgbClr val="00B05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优点：</a:t>
            </a:r>
            <a:r>
              <a:rPr lang="en-US" altLang="zh-CN" sz="1200">
                <a:solidFill>
                  <a:srgbClr val="00B0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HTTP</a:t>
            </a:r>
            <a:r>
              <a:rPr lang="zh-CN" altLang="en-US" sz="1200">
                <a:solidFill>
                  <a:srgbClr val="00B05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协议中支持的技术</a:t>
            </a:r>
            <a:endParaRPr lang="en-US" altLang="zh-CN" sz="1200">
              <a:solidFill>
                <a:srgbClr val="00B050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171450" indent="-1714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2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缺点：</a:t>
            </a:r>
            <a:endParaRPr lang="en-US" altLang="zh-CN" sz="1200">
              <a:solidFill>
                <a:srgbClr val="C00000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315450" indent="-1714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u"/>
              <a:tabLst>
                <a:tab pos="252000" algn="l"/>
              </a:tabLst>
            </a:pPr>
            <a:r>
              <a:rPr lang="zh-CN" altLang="en-US" sz="12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移动端</a:t>
            </a:r>
            <a:r>
              <a:rPr lang="en-US" altLang="zh-CN" sz="12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APP</a:t>
            </a:r>
            <a:r>
              <a:rPr lang="zh-CN" altLang="en-US" sz="12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无法使用</a:t>
            </a:r>
            <a:r>
              <a:rPr lang="en-US" altLang="zh-CN" sz="12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Cookie</a:t>
            </a:r>
          </a:p>
          <a:p>
            <a:pPr marL="315450" indent="-1714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u"/>
              <a:tabLst>
                <a:tab pos="252000" algn="l"/>
              </a:tabLst>
            </a:pPr>
            <a:r>
              <a:rPr lang="zh-CN" altLang="en-US" sz="12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不安全，用户可以自己禁用</a:t>
            </a:r>
            <a:r>
              <a:rPr lang="en-US" altLang="zh-CN" sz="12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Cookie</a:t>
            </a:r>
            <a:endParaRPr lang="zh-CN" altLang="en-US" sz="1200">
              <a:solidFill>
                <a:srgbClr val="C0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15450" indent="-1714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u"/>
              <a:tabLst>
                <a:tab pos="252000" algn="l"/>
              </a:tabLst>
            </a:pPr>
            <a:r>
              <a:rPr lang="en-US" altLang="zh-CN" sz="12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 Cookie</a:t>
            </a:r>
            <a:r>
              <a:rPr lang="zh-CN" altLang="en-US" sz="12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不能跨域</a:t>
            </a:r>
            <a:endParaRPr lang="en-US" altLang="zh-CN" sz="1200">
              <a:solidFill>
                <a:srgbClr val="C00000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C633C3A4-1D16-7031-6E36-1558BCFD751A}"/>
              </a:ext>
            </a:extLst>
          </p:cNvPr>
          <p:cNvCxnSpPr>
            <a:cxnSpLocks/>
          </p:cNvCxnSpPr>
          <p:nvPr/>
        </p:nvCxnSpPr>
        <p:spPr>
          <a:xfrm>
            <a:off x="2924225" y="4272946"/>
            <a:ext cx="906720" cy="1095429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040F0DD2-9D97-451D-1A8B-183A4F00295B}"/>
              </a:ext>
            </a:extLst>
          </p:cNvPr>
          <p:cNvGrpSpPr/>
          <p:nvPr/>
        </p:nvGrpSpPr>
        <p:grpSpPr>
          <a:xfrm>
            <a:off x="2368175" y="3960566"/>
            <a:ext cx="566012" cy="672980"/>
            <a:chOff x="1733084" y="3999460"/>
            <a:chExt cx="566012" cy="672980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3F1EC73C-9298-C497-DFF6-074633CABC8C}"/>
                </a:ext>
              </a:extLst>
            </p:cNvPr>
            <p:cNvSpPr txBox="1"/>
            <p:nvPr/>
          </p:nvSpPr>
          <p:spPr>
            <a:xfrm>
              <a:off x="1733084" y="4441608"/>
              <a:ext cx="5660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900">
                  <a:solidFill>
                    <a:schemeClr val="tx1">
                      <a:lumMod val="50000"/>
                    </a:schemeClr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浏览器</a:t>
              </a:r>
              <a:endParaRPr lang="zh-CN" altLang="en-US" sz="9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3D0D7305-666C-D37A-8D2C-AA77E6BE7FA7}"/>
                </a:ext>
              </a:extLst>
            </p:cNvPr>
            <p:cNvGrpSpPr/>
            <p:nvPr/>
          </p:nvGrpSpPr>
          <p:grpSpPr>
            <a:xfrm>
              <a:off x="1766700" y="3999460"/>
              <a:ext cx="446148" cy="442933"/>
              <a:chOff x="1766700" y="3999460"/>
              <a:chExt cx="487018" cy="442933"/>
            </a:xfrm>
          </p:grpSpPr>
          <p:pic>
            <p:nvPicPr>
              <p:cNvPr id="34" name="图片 33">
                <a:extLst>
                  <a:ext uri="{FF2B5EF4-FFF2-40B4-BE49-F238E27FC236}">
                    <a16:creationId xmlns:a16="http://schemas.microsoft.com/office/drawing/2014/main" id="{34FD8FB2-824E-DCC8-62AF-6D8814F853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766700" y="3999460"/>
                <a:ext cx="487018" cy="442933"/>
              </a:xfrm>
              <a:prstGeom prst="rect">
                <a:avLst/>
              </a:prstGeom>
            </p:spPr>
          </p:pic>
          <p:pic>
            <p:nvPicPr>
              <p:cNvPr id="35" name="图片 34">
                <a:extLst>
                  <a:ext uri="{FF2B5EF4-FFF2-40B4-BE49-F238E27FC236}">
                    <a16:creationId xmlns:a16="http://schemas.microsoft.com/office/drawing/2014/main" id="{366BCE54-FBD7-604D-0799-F5B773E328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08926" y="4129228"/>
                <a:ext cx="202565" cy="182612"/>
              </a:xfrm>
              <a:prstGeom prst="rect">
                <a:avLst/>
              </a:prstGeom>
            </p:spPr>
          </p:pic>
        </p:grpSp>
      </p:grp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44BD051F-324A-C8B4-665B-859598E395D0}"/>
              </a:ext>
            </a:extLst>
          </p:cNvPr>
          <p:cNvCxnSpPr>
            <a:cxnSpLocks/>
          </p:cNvCxnSpPr>
          <p:nvPr/>
        </p:nvCxnSpPr>
        <p:spPr>
          <a:xfrm>
            <a:off x="2978230" y="4219589"/>
            <a:ext cx="4311511" cy="413957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09FFFEFC-2D33-6324-571B-6C7F993B7C4C}"/>
              </a:ext>
            </a:extLst>
          </p:cNvPr>
          <p:cNvGrpSpPr/>
          <p:nvPr/>
        </p:nvGrpSpPr>
        <p:grpSpPr>
          <a:xfrm>
            <a:off x="7040529" y="4090334"/>
            <a:ext cx="1659429" cy="1429321"/>
            <a:chOff x="6405438" y="4129228"/>
            <a:chExt cx="1659429" cy="1429321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23C27E65-D976-767F-F421-7EB0E642A927}"/>
                </a:ext>
              </a:extLst>
            </p:cNvPr>
            <p:cNvGrpSpPr/>
            <p:nvPr/>
          </p:nvGrpSpPr>
          <p:grpSpPr>
            <a:xfrm>
              <a:off x="6685012" y="4129228"/>
              <a:ext cx="870544" cy="1193137"/>
              <a:chOff x="8628734" y="3737864"/>
              <a:chExt cx="1092207" cy="1479634"/>
            </a:xfrm>
          </p:grpSpPr>
          <p:pic>
            <p:nvPicPr>
              <p:cNvPr id="40" name="图片 39">
                <a:extLst>
                  <a:ext uri="{FF2B5EF4-FFF2-40B4-BE49-F238E27FC236}">
                    <a16:creationId xmlns:a16="http://schemas.microsoft.com/office/drawing/2014/main" id="{873E9891-9FBF-C7E1-6BA7-ED856EF547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28734" y="3737864"/>
                <a:ext cx="1072597" cy="1479634"/>
              </a:xfrm>
              <a:prstGeom prst="rect">
                <a:avLst/>
              </a:prstGeom>
            </p:spPr>
          </p:pic>
          <p:pic>
            <p:nvPicPr>
              <p:cNvPr id="41" name="图片 40">
                <a:extLst>
                  <a:ext uri="{FF2B5EF4-FFF2-40B4-BE49-F238E27FC236}">
                    <a16:creationId xmlns:a16="http://schemas.microsoft.com/office/drawing/2014/main" id="{EDAE1228-23EF-930B-0575-357C630EA9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035466" y="4698597"/>
                <a:ext cx="685475" cy="518901"/>
              </a:xfrm>
              <a:prstGeom prst="rect">
                <a:avLst/>
              </a:prstGeom>
            </p:spPr>
          </p:pic>
        </p:grp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6690E9B2-89C3-C951-5F69-D17FEB086C21}"/>
                </a:ext>
              </a:extLst>
            </p:cNvPr>
            <p:cNvSpPr txBox="1"/>
            <p:nvPr/>
          </p:nvSpPr>
          <p:spPr>
            <a:xfrm>
              <a:off x="6405438" y="5304633"/>
              <a:ext cx="1659429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50" b="1">
                  <a:latin typeface="Consolas" panose="020B0609020204030204" pitchFamily="49" charset="0"/>
                </a:rPr>
                <a:t>192.168.150.100:8080</a:t>
              </a:r>
              <a:endParaRPr lang="zh-CN" altLang="en-US" sz="1050" b="1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7DB40BE1-10EF-A426-590F-C51B83B3D16A}"/>
              </a:ext>
            </a:extLst>
          </p:cNvPr>
          <p:cNvGrpSpPr/>
          <p:nvPr/>
        </p:nvGrpSpPr>
        <p:grpSpPr>
          <a:xfrm>
            <a:off x="3431414" y="5105914"/>
            <a:ext cx="1511952" cy="1415687"/>
            <a:chOff x="2796323" y="5144808"/>
            <a:chExt cx="1511952" cy="1415687"/>
          </a:xfrm>
        </p:grpSpPr>
        <p:pic>
          <p:nvPicPr>
            <p:cNvPr id="43" name="图片 42">
              <a:extLst>
                <a:ext uri="{FF2B5EF4-FFF2-40B4-BE49-F238E27FC236}">
                  <a16:creationId xmlns:a16="http://schemas.microsoft.com/office/drawing/2014/main" id="{F8216B06-B9A2-F4B9-1FAA-ACEE0B18F31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188234" y="5144808"/>
              <a:ext cx="875609" cy="1193137"/>
            </a:xfrm>
            <a:prstGeom prst="rect">
              <a:avLst/>
            </a:prstGeom>
            <a:ln>
              <a:noFill/>
            </a:ln>
          </p:spPr>
        </p:pic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D64A00FF-8296-938C-42DD-7D6D89E2383F}"/>
                </a:ext>
              </a:extLst>
            </p:cNvPr>
            <p:cNvSpPr txBox="1"/>
            <p:nvPr/>
          </p:nvSpPr>
          <p:spPr>
            <a:xfrm>
              <a:off x="2796323" y="6306579"/>
              <a:ext cx="1511952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50" b="1">
                  <a:latin typeface="Consolas" panose="020B0609020204030204" pitchFamily="49" charset="0"/>
                </a:rPr>
                <a:t>192.168.150.200:90</a:t>
              </a:r>
              <a:endParaRPr lang="zh-CN" altLang="en-US" sz="1050" b="1" dirty="0">
                <a:latin typeface="Consolas" panose="020B0609020204030204" pitchFamily="49" charset="0"/>
              </a:endParaRPr>
            </a:p>
          </p:txBody>
        </p:sp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2CBEAAAE-11ED-9002-D379-DB87A5BF037C}"/>
              </a:ext>
            </a:extLst>
          </p:cNvPr>
          <p:cNvSpPr txBox="1"/>
          <p:nvPr/>
        </p:nvSpPr>
        <p:spPr>
          <a:xfrm>
            <a:off x="1630812" y="3608893"/>
            <a:ext cx="283923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b="1">
                <a:latin typeface="Consolas" panose="020B0609020204030204" pitchFamily="49" charset="0"/>
              </a:rPr>
              <a:t>http://192.168.150.200:90/login.html</a:t>
            </a:r>
            <a:endParaRPr lang="zh-CN" altLang="en-US" sz="1050" b="1" dirty="0">
              <a:latin typeface="Consolas" panose="020B0609020204030204" pitchFamily="49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BC3C4CC6-C5EE-206F-D95B-386FEBEB65DB}"/>
              </a:ext>
            </a:extLst>
          </p:cNvPr>
          <p:cNvSpPr txBox="1"/>
          <p:nvPr/>
        </p:nvSpPr>
        <p:spPr>
          <a:xfrm rot="324742">
            <a:off x="4860942" y="4126481"/>
            <a:ext cx="7809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Consolas" panose="020B0609020204030204" pitchFamily="49" charset="0"/>
              </a:rPr>
              <a:t>Cookie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C8C4A8CB-A207-8DDE-9988-9BEFF494E4C3}"/>
              </a:ext>
            </a:extLst>
          </p:cNvPr>
          <p:cNvSpPr txBox="1"/>
          <p:nvPr/>
        </p:nvSpPr>
        <p:spPr>
          <a:xfrm>
            <a:off x="5473192" y="414879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X</a:t>
            </a:r>
            <a:endParaRPr lang="zh-CN" altLang="en-US" dirty="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5033A6F5-1783-21C5-5B9C-52D6F5FF661B}"/>
              </a:ext>
            </a:extLst>
          </p:cNvPr>
          <p:cNvSpPr txBox="1"/>
          <p:nvPr/>
        </p:nvSpPr>
        <p:spPr>
          <a:xfrm>
            <a:off x="8707916" y="4811143"/>
            <a:ext cx="29562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跨域区分三个维度：协议、</a:t>
            </a:r>
            <a:r>
              <a:rPr lang="en-US" altLang="zh-CN" sz="120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IP/</a:t>
            </a:r>
            <a:r>
              <a:rPr lang="zh-CN" altLang="en-US" sz="120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域名、端口</a:t>
            </a:r>
            <a:endParaRPr lang="zh-CN" altLang="en-US" sz="12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9" name="Shape 2426">
            <a:extLst>
              <a:ext uri="{FF2B5EF4-FFF2-40B4-BE49-F238E27FC236}">
                <a16:creationId xmlns:a16="http://schemas.microsoft.com/office/drawing/2014/main" id="{A0519568-23EC-362A-9AAF-5FB869CC05D4}"/>
              </a:ext>
            </a:extLst>
          </p:cNvPr>
          <p:cNvSpPr/>
          <p:nvPr/>
        </p:nvSpPr>
        <p:spPr>
          <a:xfrm>
            <a:off x="3708841" y="1894109"/>
            <a:ext cx="168940" cy="160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FF0000"/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algn="ctr" defTabSz="22851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000" noProof="1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0" name="Shape 2426">
            <a:extLst>
              <a:ext uri="{FF2B5EF4-FFF2-40B4-BE49-F238E27FC236}">
                <a16:creationId xmlns:a16="http://schemas.microsoft.com/office/drawing/2014/main" id="{0F297F24-6B7A-5D91-E913-E3585B5A4D9D}"/>
              </a:ext>
            </a:extLst>
          </p:cNvPr>
          <p:cNvSpPr/>
          <p:nvPr/>
        </p:nvSpPr>
        <p:spPr>
          <a:xfrm>
            <a:off x="3695488" y="2397493"/>
            <a:ext cx="168940" cy="160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FF0000"/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algn="ctr" defTabSz="22851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000" noProof="1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61E31884-79BA-E87D-0455-8363078419FB}"/>
              </a:ext>
            </a:extLst>
          </p:cNvPr>
          <p:cNvSpPr txBox="1"/>
          <p:nvPr/>
        </p:nvSpPr>
        <p:spPr>
          <a:xfrm rot="299163">
            <a:off x="4026003" y="4449636"/>
            <a:ext cx="26180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b="1">
                <a:latin typeface="Consolas" panose="020B0609020204030204" pitchFamily="49" charset="0"/>
              </a:rPr>
              <a:t>http://192.168.150.100:8080/login</a:t>
            </a:r>
            <a:endParaRPr lang="zh-CN" altLang="en-US" sz="1050" b="1" dirty="0">
              <a:latin typeface="Consolas" panose="020B0609020204030204" pitchFamily="49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D957E141-4604-959A-7926-739FB3EDA6DF}"/>
              </a:ext>
            </a:extLst>
          </p:cNvPr>
          <p:cNvSpPr txBox="1"/>
          <p:nvPr/>
        </p:nvSpPr>
        <p:spPr>
          <a:xfrm>
            <a:off x="1821544" y="2465507"/>
            <a:ext cx="7909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9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name=value</a:t>
            </a:r>
            <a:endParaRPr lang="zh-CN" altLang="en-US" sz="900" dirty="0">
              <a:solidFill>
                <a:srgbClr val="C0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2587C78F-FAF7-BE4A-6881-BB05ADB7C896}"/>
              </a:ext>
            </a:extLst>
          </p:cNvPr>
          <p:cNvSpPr/>
          <p:nvPr/>
        </p:nvSpPr>
        <p:spPr>
          <a:xfrm>
            <a:off x="478214" y="1959017"/>
            <a:ext cx="1182756" cy="454596"/>
          </a:xfrm>
          <a:prstGeom prst="roundRect">
            <a:avLst/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5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方案一</a:t>
            </a:r>
            <a:r>
              <a:rPr lang="en-US" altLang="zh-CN" sz="105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en-US" altLang="zh-CN" sz="105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Cookie</a:t>
            </a:r>
            <a:r>
              <a:rPr lang="en-US" altLang="zh-CN" sz="105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zh-CN" altLang="en-US" sz="105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89991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664 -0.00833 L -0.49492 0.07361 " pathEditMode="relative" rAng="0" ptsTypes="AA">
                                      <p:cBhvr>
                                        <p:cTn id="1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078" y="40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7.40741E-7 L 0.33958 -0.00833 " pathEditMode="relative" rAng="0" ptsTypes="AA">
                                      <p:cBhvr>
                                        <p:cTn id="1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979" y="-4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5" grpId="1" animBg="1"/>
      <p:bldP spid="26" grpId="0" animBg="1"/>
      <p:bldP spid="26" grpId="1" animBg="1"/>
      <p:bldP spid="27" grpId="0"/>
      <p:bldP spid="28" grpId="0"/>
      <p:bldP spid="45" grpId="0"/>
      <p:bldP spid="46" grpId="0"/>
      <p:bldP spid="47" grpId="0"/>
      <p:bldP spid="48" grpId="0"/>
      <p:bldP spid="49" grpId="0" animBg="1"/>
      <p:bldP spid="50" grpId="0" animBg="1"/>
      <p:bldP spid="51" grpId="0"/>
      <p:bldP spid="5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E441752-B72A-B1CC-24A5-97D8FEEE7E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Cookie</a:t>
            </a:r>
            <a:r>
              <a:rPr lang="zh-CN" altLang="en-US">
                <a:latin typeface="Fira Code" panose="020B0809050000020004" pitchFamily="49" charset="0"/>
              </a:rPr>
              <a:t>会话跟踪方案的原理 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?</a:t>
            </a:r>
          </a:p>
          <a:p>
            <a:pPr marL="645750" lvl="1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响应头：</a:t>
            </a: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Set-Cookie</a:t>
            </a:r>
          </a:p>
          <a:p>
            <a:pPr marL="645750" lvl="1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请求头：</a:t>
            </a: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Cookie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Cookie</a:t>
            </a:r>
            <a:r>
              <a:rPr lang="zh-CN" altLang="en-US">
                <a:latin typeface="Fira Code" panose="020B0809050000020004" pitchFamily="49" charset="0"/>
              </a:rPr>
              <a:t>会话跟踪方案的优缺点 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?</a:t>
            </a:r>
          </a:p>
          <a:p>
            <a:pPr marL="645750" lvl="1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优点：</a:t>
            </a: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HTTP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协议中支持的技术</a:t>
            </a:r>
            <a:endParaRPr lang="en-US" altLang="zh-CN" sz="14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645750" lvl="1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缺点：</a:t>
            </a:r>
            <a:endParaRPr lang="en-US" altLang="zh-CN" sz="14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900000" lvl="2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1467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移动端</a:t>
            </a:r>
            <a:r>
              <a:rPr lang="en-US" altLang="zh-CN" sz="1467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APP</a:t>
            </a:r>
            <a:r>
              <a:rPr lang="zh-CN" altLang="en-US" sz="1467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无法使用</a:t>
            </a:r>
            <a:r>
              <a:rPr lang="en-US" altLang="zh-CN" sz="1467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Cookie</a:t>
            </a:r>
          </a:p>
          <a:p>
            <a:pPr marL="900000" lvl="2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1467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不安全，用户可以自己禁用</a:t>
            </a:r>
            <a:r>
              <a:rPr lang="en-US" altLang="zh-CN" sz="1467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Cookie</a:t>
            </a:r>
          </a:p>
          <a:p>
            <a:pPr marL="900000" lvl="2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sz="1467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Cookie</a:t>
            </a:r>
            <a:r>
              <a:rPr lang="zh-CN" altLang="en-US" sz="1467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不能跨域</a:t>
            </a:r>
            <a:endParaRPr lang="en-US" altLang="zh-CN" sz="1467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89722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51EEB7-738B-BBDD-9828-F76AD26CF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会话跟踪方案对比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49D59279-0D48-1C35-DD44-C730268B1A52}"/>
              </a:ext>
            </a:extLst>
          </p:cNvPr>
          <p:cNvGrpSpPr/>
          <p:nvPr/>
        </p:nvGrpSpPr>
        <p:grpSpPr>
          <a:xfrm>
            <a:off x="1733084" y="2806041"/>
            <a:ext cx="7108612" cy="1690061"/>
            <a:chOff x="813257" y="1467822"/>
            <a:chExt cx="7108612" cy="169006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049AF83F-7750-E009-5CE6-8FDF82D3B5B8}"/>
                </a:ext>
              </a:extLst>
            </p:cNvPr>
            <p:cNvSpPr/>
            <p:nvPr/>
          </p:nvSpPr>
          <p:spPr>
            <a:xfrm>
              <a:off x="813257" y="1467822"/>
              <a:ext cx="7108612" cy="1690061"/>
            </a:xfrm>
            <a:prstGeom prst="roundRect">
              <a:avLst>
                <a:gd name="adj" fmla="val 3016"/>
              </a:avLst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616B9039-3D8E-1B8D-DB5C-A22F9A405565}"/>
                </a:ext>
              </a:extLst>
            </p:cNvPr>
            <p:cNvSpPr/>
            <p:nvPr/>
          </p:nvSpPr>
          <p:spPr>
            <a:xfrm>
              <a:off x="5040075" y="1545546"/>
              <a:ext cx="2740056" cy="1552273"/>
            </a:xfrm>
            <a:prstGeom prst="roundRect">
              <a:avLst>
                <a:gd name="adj" fmla="val 4938"/>
              </a:avLst>
            </a:prstGeom>
            <a:solidFill>
              <a:srgbClr val="86E2E0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D81E5DEA-A6D3-776E-0834-C31949816996}"/>
                </a:ext>
              </a:extLst>
            </p:cNvPr>
            <p:cNvCxnSpPr>
              <a:cxnSpLocks/>
            </p:cNvCxnSpPr>
            <p:nvPr/>
          </p:nvCxnSpPr>
          <p:spPr>
            <a:xfrm>
              <a:off x="1847850" y="2183596"/>
              <a:ext cx="3109796" cy="0"/>
            </a:xfrm>
            <a:prstGeom prst="straightConnector1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42946986-C7FF-8422-4212-5864FD190B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06184" y="2466487"/>
              <a:ext cx="3151462" cy="0"/>
            </a:xfrm>
            <a:prstGeom prst="straightConnector1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F74F9F4F-6D28-24E2-3537-7B8FB12398CA}"/>
                </a:ext>
              </a:extLst>
            </p:cNvPr>
            <p:cNvSpPr txBox="1"/>
            <p:nvPr/>
          </p:nvSpPr>
          <p:spPr>
            <a:xfrm>
              <a:off x="2871443" y="1971098"/>
              <a:ext cx="46618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900"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请求</a:t>
              </a:r>
              <a:endParaRPr lang="zh-CN" altLang="en-US" sz="9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2ADEC1D9-D0B9-7D56-F772-4AB8893240D6}"/>
                </a:ext>
              </a:extLst>
            </p:cNvPr>
            <p:cNvSpPr txBox="1"/>
            <p:nvPr/>
          </p:nvSpPr>
          <p:spPr>
            <a:xfrm>
              <a:off x="2877517" y="2475046"/>
              <a:ext cx="41229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900"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响应</a:t>
              </a:r>
              <a:endParaRPr lang="zh-CN" altLang="en-US" sz="9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07A6F880-9D34-C495-5532-06C93E49A3DD}"/>
                </a:ext>
              </a:extLst>
            </p:cNvPr>
            <p:cNvGrpSpPr/>
            <p:nvPr/>
          </p:nvGrpSpPr>
          <p:grpSpPr>
            <a:xfrm>
              <a:off x="1246066" y="2154107"/>
              <a:ext cx="446647" cy="456319"/>
              <a:chOff x="1288572" y="3466291"/>
              <a:chExt cx="1076475" cy="1086002"/>
            </a:xfrm>
          </p:grpSpPr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7262E57D-5B2E-9128-A764-1E52BCBC1A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88572" y="3466291"/>
                <a:ext cx="1076475" cy="1086002"/>
              </a:xfrm>
              <a:prstGeom prst="rect">
                <a:avLst/>
              </a:prstGeom>
            </p:spPr>
          </p:pic>
          <p:pic>
            <p:nvPicPr>
              <p:cNvPr id="22" name="图片 21">
                <a:extLst>
                  <a:ext uri="{FF2B5EF4-FFF2-40B4-BE49-F238E27FC236}">
                    <a16:creationId xmlns:a16="http://schemas.microsoft.com/office/drawing/2014/main" id="{EC0688FA-0AB6-906F-A7DF-51A86EC74A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02940" y="3784462"/>
                <a:ext cx="447737" cy="447737"/>
              </a:xfrm>
              <a:prstGeom prst="rect">
                <a:avLst/>
              </a:prstGeom>
            </p:spPr>
          </p:pic>
        </p:grp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4F38545C-A95E-7E5C-C23E-86E228394AA5}"/>
                </a:ext>
              </a:extLst>
            </p:cNvPr>
            <p:cNvSpPr/>
            <p:nvPr/>
          </p:nvSpPr>
          <p:spPr>
            <a:xfrm>
              <a:off x="5113175" y="1622743"/>
              <a:ext cx="2584527" cy="1387391"/>
            </a:xfrm>
            <a:prstGeom prst="roundRect">
              <a:avLst>
                <a:gd name="adj" fmla="val 3205"/>
              </a:avLst>
            </a:prstGeom>
            <a:noFill/>
            <a:ln w="6350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矩形: 对角圆角 12">
              <a:extLst>
                <a:ext uri="{FF2B5EF4-FFF2-40B4-BE49-F238E27FC236}">
                  <a16:creationId xmlns:a16="http://schemas.microsoft.com/office/drawing/2014/main" id="{F9F015AA-8A28-8A7F-B8C1-1A9C62F551A0}"/>
                </a:ext>
              </a:extLst>
            </p:cNvPr>
            <p:cNvSpPr/>
            <p:nvPr/>
          </p:nvSpPr>
          <p:spPr>
            <a:xfrm>
              <a:off x="5225728" y="1874344"/>
              <a:ext cx="642663" cy="971812"/>
            </a:xfrm>
            <a:prstGeom prst="round2DiagRect">
              <a:avLst>
                <a:gd name="adj1" fmla="val 16636"/>
                <a:gd name="adj2" fmla="val 0"/>
              </a:avLst>
            </a:prstGeom>
            <a:solidFill>
              <a:srgbClr val="FFC91D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统一拦截</a:t>
              </a:r>
              <a:endParaRPr lang="zh-CN" altLang="en-US" sz="100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BCB8FA7A-3D99-DEF2-FC8E-7FCA20F2E39C}"/>
                </a:ext>
              </a:extLst>
            </p:cNvPr>
            <p:cNvSpPr/>
            <p:nvPr/>
          </p:nvSpPr>
          <p:spPr>
            <a:xfrm>
              <a:off x="6052834" y="1699140"/>
              <a:ext cx="961962" cy="250337"/>
            </a:xfrm>
            <a:prstGeom prst="roundRect">
              <a:avLst/>
            </a:prstGeom>
            <a:solidFill>
              <a:srgbClr val="34495E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Login</a:t>
              </a:r>
              <a:endParaRPr lang="zh-CN" altLang="en-US" sz="10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A81B1F17-AB64-5F83-B227-BE6338974CB0}"/>
                </a:ext>
              </a:extLst>
            </p:cNvPr>
            <p:cNvSpPr/>
            <p:nvPr/>
          </p:nvSpPr>
          <p:spPr>
            <a:xfrm>
              <a:off x="6052832" y="2024521"/>
              <a:ext cx="961962" cy="250337"/>
            </a:xfrm>
            <a:prstGeom prst="roundRect">
              <a:avLst/>
            </a:prstGeom>
            <a:solidFill>
              <a:srgbClr val="34495E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</a:t>
              </a:r>
              <a:endParaRPr lang="zh-CN" altLang="en-US" sz="10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0AB3889B-957D-3572-84E0-795B174A109E}"/>
                </a:ext>
              </a:extLst>
            </p:cNvPr>
            <p:cNvSpPr/>
            <p:nvPr/>
          </p:nvSpPr>
          <p:spPr>
            <a:xfrm>
              <a:off x="6060297" y="2349902"/>
              <a:ext cx="961962" cy="250337"/>
            </a:xfrm>
            <a:prstGeom prst="roundRect">
              <a:avLst/>
            </a:prstGeom>
            <a:solidFill>
              <a:srgbClr val="34495E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</a:t>
              </a:r>
              <a:endParaRPr lang="zh-CN" altLang="en-US" sz="10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15FF8D07-A5E0-E425-4A38-0D56A591A349}"/>
                </a:ext>
              </a:extLst>
            </p:cNvPr>
            <p:cNvSpPr/>
            <p:nvPr/>
          </p:nvSpPr>
          <p:spPr>
            <a:xfrm>
              <a:off x="6052832" y="2675282"/>
              <a:ext cx="961962" cy="250337"/>
            </a:xfrm>
            <a:prstGeom prst="roundRect">
              <a:avLst/>
            </a:prstGeom>
            <a:solidFill>
              <a:srgbClr val="34495E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Report</a:t>
              </a:r>
              <a:endParaRPr lang="zh-CN" altLang="en-US" sz="10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箭头: 右 17">
              <a:extLst>
                <a:ext uri="{FF2B5EF4-FFF2-40B4-BE49-F238E27FC236}">
                  <a16:creationId xmlns:a16="http://schemas.microsoft.com/office/drawing/2014/main" id="{6381501D-E157-899B-511B-CA9F88B91539}"/>
                </a:ext>
              </a:extLst>
            </p:cNvPr>
            <p:cNvSpPr/>
            <p:nvPr/>
          </p:nvSpPr>
          <p:spPr>
            <a:xfrm rot="19229268">
              <a:off x="5772063" y="1898025"/>
              <a:ext cx="375727" cy="148356"/>
            </a:xfrm>
            <a:prstGeom prst="rightArrow">
              <a:avLst>
                <a:gd name="adj1" fmla="val 50000"/>
                <a:gd name="adj2" fmla="val 73159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箭头: 右 18">
              <a:extLst>
                <a:ext uri="{FF2B5EF4-FFF2-40B4-BE49-F238E27FC236}">
                  <a16:creationId xmlns:a16="http://schemas.microsoft.com/office/drawing/2014/main" id="{38253712-3571-BFFD-6BFC-1176EBE36649}"/>
                </a:ext>
              </a:extLst>
            </p:cNvPr>
            <p:cNvSpPr/>
            <p:nvPr/>
          </p:nvSpPr>
          <p:spPr>
            <a:xfrm rot="2290107">
              <a:off x="5775166" y="2653421"/>
              <a:ext cx="375727" cy="148356"/>
            </a:xfrm>
            <a:prstGeom prst="rightArrow">
              <a:avLst>
                <a:gd name="adj1" fmla="val 50000"/>
                <a:gd name="adj2" fmla="val 73159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箭头: 右 19">
              <a:extLst>
                <a:ext uri="{FF2B5EF4-FFF2-40B4-BE49-F238E27FC236}">
                  <a16:creationId xmlns:a16="http://schemas.microsoft.com/office/drawing/2014/main" id="{F073B076-530A-DD25-7F16-2D9C1B8C51E0}"/>
                </a:ext>
              </a:extLst>
            </p:cNvPr>
            <p:cNvSpPr/>
            <p:nvPr/>
          </p:nvSpPr>
          <p:spPr>
            <a:xfrm>
              <a:off x="5818465" y="2287631"/>
              <a:ext cx="331980" cy="157313"/>
            </a:xfrm>
            <a:prstGeom prst="rightArrow">
              <a:avLst>
                <a:gd name="adj1" fmla="val 50000"/>
                <a:gd name="adj2" fmla="val 73159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Shape 2426">
            <a:extLst>
              <a:ext uri="{FF2B5EF4-FFF2-40B4-BE49-F238E27FC236}">
                <a16:creationId xmlns:a16="http://schemas.microsoft.com/office/drawing/2014/main" id="{8B416336-B7D7-9BF8-7761-9805D3AFC09B}"/>
              </a:ext>
            </a:extLst>
          </p:cNvPr>
          <p:cNvSpPr/>
          <p:nvPr/>
        </p:nvSpPr>
        <p:spPr>
          <a:xfrm>
            <a:off x="1969856" y="3592520"/>
            <a:ext cx="168940" cy="160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C00000"/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algn="ctr" defTabSz="22851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000" noProof="1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4802AFF-E476-0F80-010F-57F05719C4E2}"/>
              </a:ext>
            </a:extLst>
          </p:cNvPr>
          <p:cNvSpPr txBox="1"/>
          <p:nvPr/>
        </p:nvSpPr>
        <p:spPr>
          <a:xfrm>
            <a:off x="4150543" y="3859431"/>
            <a:ext cx="166359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90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(Set-Cookie:JSESSIONID=1)</a:t>
            </a:r>
            <a:endParaRPr lang="zh-CN" altLang="en-US" sz="900" dirty="0">
              <a:solidFill>
                <a:srgbClr val="C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0F02C31-D486-6617-094B-3B2A842FC67B}"/>
              </a:ext>
            </a:extLst>
          </p:cNvPr>
          <p:cNvSpPr txBox="1"/>
          <p:nvPr/>
        </p:nvSpPr>
        <p:spPr>
          <a:xfrm>
            <a:off x="4136369" y="3345871"/>
            <a:ext cx="147181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90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(Cookie:JSESSIONID=1)</a:t>
            </a:r>
            <a:endParaRPr lang="zh-CN" altLang="en-US" sz="900" dirty="0">
              <a:solidFill>
                <a:srgbClr val="C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Shape 2426">
            <a:extLst>
              <a:ext uri="{FF2B5EF4-FFF2-40B4-BE49-F238E27FC236}">
                <a16:creationId xmlns:a16="http://schemas.microsoft.com/office/drawing/2014/main" id="{447994A2-86A2-1AD0-9E55-8F2FB0DF3FA1}"/>
              </a:ext>
            </a:extLst>
          </p:cNvPr>
          <p:cNvSpPr/>
          <p:nvPr/>
        </p:nvSpPr>
        <p:spPr>
          <a:xfrm>
            <a:off x="3708841" y="3865223"/>
            <a:ext cx="168940" cy="160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C00000"/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algn="ctr" defTabSz="22851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000" noProof="1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7" name="Shape 2426">
            <a:extLst>
              <a:ext uri="{FF2B5EF4-FFF2-40B4-BE49-F238E27FC236}">
                <a16:creationId xmlns:a16="http://schemas.microsoft.com/office/drawing/2014/main" id="{DDB74A2C-2E03-2870-D9F9-F393D9E34AF7}"/>
              </a:ext>
            </a:extLst>
          </p:cNvPr>
          <p:cNvSpPr/>
          <p:nvPr/>
        </p:nvSpPr>
        <p:spPr>
          <a:xfrm>
            <a:off x="3699524" y="3274824"/>
            <a:ext cx="168940" cy="160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C00000"/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algn="ctr" defTabSz="22851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000" noProof="1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8" name="流程图: 文档 27">
            <a:extLst>
              <a:ext uri="{FF2B5EF4-FFF2-40B4-BE49-F238E27FC236}">
                <a16:creationId xmlns:a16="http://schemas.microsoft.com/office/drawing/2014/main" id="{2BC91EC0-933A-2D09-BDB8-CDE4390F1DD9}"/>
              </a:ext>
            </a:extLst>
          </p:cNvPr>
          <p:cNvSpPr/>
          <p:nvPr/>
        </p:nvSpPr>
        <p:spPr>
          <a:xfrm>
            <a:off x="7996042" y="3145497"/>
            <a:ext cx="585769" cy="297388"/>
          </a:xfrm>
          <a:prstGeom prst="flowChartDocumen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>
                <a:latin typeface="Consolas" panose="020B0609020204030204" pitchFamily="49" charset="0"/>
              </a:rPr>
              <a:t>Session(1)</a:t>
            </a:r>
            <a:endParaRPr lang="zh-CN" altLang="en-US" sz="800">
              <a:latin typeface="Consolas" panose="020B0609020204030204" pitchFamily="49" charset="0"/>
            </a:endParaRPr>
          </a:p>
        </p:txBody>
      </p:sp>
      <p:sp>
        <p:nvSpPr>
          <p:cNvPr id="29" name="流程图: 文档 28">
            <a:extLst>
              <a:ext uri="{FF2B5EF4-FFF2-40B4-BE49-F238E27FC236}">
                <a16:creationId xmlns:a16="http://schemas.microsoft.com/office/drawing/2014/main" id="{B48E5A57-A3DA-65B8-C1A1-BD066FBFC0D1}"/>
              </a:ext>
            </a:extLst>
          </p:cNvPr>
          <p:cNvSpPr/>
          <p:nvPr/>
        </p:nvSpPr>
        <p:spPr>
          <a:xfrm>
            <a:off x="7996043" y="3502949"/>
            <a:ext cx="585768" cy="290960"/>
          </a:xfrm>
          <a:prstGeom prst="flowChartDocumen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>
                <a:latin typeface="Consolas" panose="020B0609020204030204" pitchFamily="49" charset="0"/>
              </a:rPr>
              <a:t>Session(2)</a:t>
            </a:r>
            <a:endParaRPr lang="zh-CN" altLang="en-US" sz="800">
              <a:latin typeface="Consolas" panose="020B0609020204030204" pitchFamily="49" charset="0"/>
            </a:endParaRPr>
          </a:p>
        </p:txBody>
      </p:sp>
      <p:sp>
        <p:nvSpPr>
          <p:cNvPr id="30" name="流程图: 文档 29">
            <a:extLst>
              <a:ext uri="{FF2B5EF4-FFF2-40B4-BE49-F238E27FC236}">
                <a16:creationId xmlns:a16="http://schemas.microsoft.com/office/drawing/2014/main" id="{BB64EC2F-321E-8350-2650-44D086CAD298}"/>
              </a:ext>
            </a:extLst>
          </p:cNvPr>
          <p:cNvSpPr/>
          <p:nvPr/>
        </p:nvSpPr>
        <p:spPr>
          <a:xfrm>
            <a:off x="7996042" y="3855721"/>
            <a:ext cx="585767" cy="344798"/>
          </a:xfrm>
          <a:prstGeom prst="flowChartDocumen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>
                <a:latin typeface="Consolas" panose="020B0609020204030204" pitchFamily="49" charset="0"/>
              </a:rPr>
              <a:t>Session(3)</a:t>
            </a:r>
            <a:endParaRPr lang="zh-CN" altLang="en-US" sz="800">
              <a:latin typeface="Consolas" panose="020B0609020204030204" pitchFamily="49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BAEA595-BBC4-3EC4-9117-FD305B611067}"/>
              </a:ext>
            </a:extLst>
          </p:cNvPr>
          <p:cNvSpPr txBox="1"/>
          <p:nvPr/>
        </p:nvSpPr>
        <p:spPr>
          <a:xfrm>
            <a:off x="8945462" y="2839732"/>
            <a:ext cx="2526827" cy="34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200">
                <a:solidFill>
                  <a:srgbClr val="00B05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优点：存储在服务端，安全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E20FE5E7-B172-F3DD-3436-8B5BD5BC4F20}"/>
              </a:ext>
            </a:extLst>
          </p:cNvPr>
          <p:cNvGrpSpPr/>
          <p:nvPr/>
        </p:nvGrpSpPr>
        <p:grpSpPr>
          <a:xfrm>
            <a:off x="2416938" y="5261588"/>
            <a:ext cx="377352" cy="380691"/>
            <a:chOff x="1288572" y="3466291"/>
            <a:chExt cx="1076475" cy="1086002"/>
          </a:xfrm>
        </p:grpSpPr>
        <p:pic>
          <p:nvPicPr>
            <p:cNvPr id="33" name="图片 32">
              <a:extLst>
                <a:ext uri="{FF2B5EF4-FFF2-40B4-BE49-F238E27FC236}">
                  <a16:creationId xmlns:a16="http://schemas.microsoft.com/office/drawing/2014/main" id="{E5D63F15-4182-A5B4-9522-9CC6E61DBF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88572" y="3466291"/>
              <a:ext cx="1076475" cy="1086002"/>
            </a:xfrm>
            <a:prstGeom prst="rect">
              <a:avLst/>
            </a:prstGeom>
          </p:spPr>
        </p:pic>
        <p:pic>
          <p:nvPicPr>
            <p:cNvPr id="34" name="图片 33">
              <a:extLst>
                <a:ext uri="{FF2B5EF4-FFF2-40B4-BE49-F238E27FC236}">
                  <a16:creationId xmlns:a16="http://schemas.microsoft.com/office/drawing/2014/main" id="{FB26415F-2A43-4F48-43B4-B21A2377A6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02940" y="3784462"/>
              <a:ext cx="447737" cy="447737"/>
            </a:xfrm>
            <a:prstGeom prst="rect">
              <a:avLst/>
            </a:prstGeom>
          </p:spPr>
        </p:pic>
      </p:grpSp>
      <p:cxnSp>
        <p:nvCxnSpPr>
          <p:cNvPr id="35" name="!!直接箭头连接符 101">
            <a:extLst>
              <a:ext uri="{FF2B5EF4-FFF2-40B4-BE49-F238E27FC236}">
                <a16:creationId xmlns:a16="http://schemas.microsoft.com/office/drawing/2014/main" id="{1FE49557-6A58-032D-2EEE-9FB2E87C8249}"/>
              </a:ext>
            </a:extLst>
          </p:cNvPr>
          <p:cNvCxnSpPr>
            <a:cxnSpLocks/>
          </p:cNvCxnSpPr>
          <p:nvPr/>
        </p:nvCxnSpPr>
        <p:spPr>
          <a:xfrm>
            <a:off x="2821651" y="5451934"/>
            <a:ext cx="2184435" cy="0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70">
            <a:extLst>
              <a:ext uri="{FF2B5EF4-FFF2-40B4-BE49-F238E27FC236}">
                <a16:creationId xmlns:a16="http://schemas.microsoft.com/office/drawing/2014/main" id="{F978DB79-E7B8-9291-6634-E43C3EEB7B90}"/>
              </a:ext>
            </a:extLst>
          </p:cNvPr>
          <p:cNvGrpSpPr/>
          <p:nvPr/>
        </p:nvGrpSpPr>
        <p:grpSpPr>
          <a:xfrm>
            <a:off x="5230671" y="5326703"/>
            <a:ext cx="189621" cy="262644"/>
            <a:chOff x="8628734" y="3737864"/>
            <a:chExt cx="1092207" cy="1479634"/>
          </a:xfrm>
        </p:grpSpPr>
        <p:pic>
          <p:nvPicPr>
            <p:cNvPr id="37" name="图片 36">
              <a:extLst>
                <a:ext uri="{FF2B5EF4-FFF2-40B4-BE49-F238E27FC236}">
                  <a16:creationId xmlns:a16="http://schemas.microsoft.com/office/drawing/2014/main" id="{88741271-7DD3-F33A-744E-68D9977B6F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28734" y="3737864"/>
              <a:ext cx="1072597" cy="1479634"/>
            </a:xfrm>
            <a:prstGeom prst="rect">
              <a:avLst/>
            </a:prstGeom>
          </p:spPr>
        </p:pic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FE42BFD9-A3B2-78DD-6D01-5F19C1F89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35466" y="4698597"/>
              <a:ext cx="685475" cy="518901"/>
            </a:xfrm>
            <a:prstGeom prst="rect">
              <a:avLst/>
            </a:prstGeom>
          </p:spPr>
        </p:pic>
      </p:grpSp>
      <p:grpSp>
        <p:nvGrpSpPr>
          <p:cNvPr id="39" name="组合 54">
            <a:extLst>
              <a:ext uri="{FF2B5EF4-FFF2-40B4-BE49-F238E27FC236}">
                <a16:creationId xmlns:a16="http://schemas.microsoft.com/office/drawing/2014/main" id="{A5BE3122-8483-E3AE-C55D-CAB75AC08A40}"/>
              </a:ext>
            </a:extLst>
          </p:cNvPr>
          <p:cNvGrpSpPr/>
          <p:nvPr/>
        </p:nvGrpSpPr>
        <p:grpSpPr>
          <a:xfrm>
            <a:off x="5230671" y="5314070"/>
            <a:ext cx="198741" cy="275277"/>
            <a:chOff x="8628734" y="3737864"/>
            <a:chExt cx="1092207" cy="1479634"/>
          </a:xfrm>
        </p:grpSpPr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FF721043-10AE-5E09-E558-C87463EAF5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28734" y="3737864"/>
              <a:ext cx="1072597" cy="1479634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6175A85C-779F-8080-8F9D-BE885B86E5D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35466" y="4698597"/>
              <a:ext cx="685475" cy="518901"/>
            </a:xfrm>
            <a:prstGeom prst="rect">
              <a:avLst/>
            </a:prstGeom>
          </p:spPr>
        </p:pic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D0610AA5-E3CA-F076-D5D6-C5CAEEEBB9C0}"/>
              </a:ext>
            </a:extLst>
          </p:cNvPr>
          <p:cNvGrpSpPr/>
          <p:nvPr/>
        </p:nvGrpSpPr>
        <p:grpSpPr>
          <a:xfrm>
            <a:off x="5039764" y="4945231"/>
            <a:ext cx="624399" cy="855779"/>
            <a:chOff x="8628734" y="3737864"/>
            <a:chExt cx="1092207" cy="1479634"/>
          </a:xfrm>
        </p:grpSpPr>
        <p:pic>
          <p:nvPicPr>
            <p:cNvPr id="43" name="图片 42">
              <a:extLst>
                <a:ext uri="{FF2B5EF4-FFF2-40B4-BE49-F238E27FC236}">
                  <a16:creationId xmlns:a16="http://schemas.microsoft.com/office/drawing/2014/main" id="{C3C0F29A-18AA-5624-CE9E-6053EB03EF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28734" y="3737864"/>
              <a:ext cx="1072597" cy="1479634"/>
            </a:xfrm>
            <a:prstGeom prst="rect">
              <a:avLst/>
            </a:prstGeom>
          </p:spPr>
        </p:pic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6A3C6F98-FF07-5DFA-90E5-C453813544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35466" y="4698597"/>
              <a:ext cx="685475" cy="518901"/>
            </a:xfrm>
            <a:prstGeom prst="rect">
              <a:avLst/>
            </a:prstGeom>
          </p:spPr>
        </p:pic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781DA54D-10F1-0D92-8A86-05490BCDC756}"/>
              </a:ext>
            </a:extLst>
          </p:cNvPr>
          <p:cNvSpPr txBox="1"/>
          <p:nvPr/>
        </p:nvSpPr>
        <p:spPr>
          <a:xfrm>
            <a:off x="1770038" y="3956790"/>
            <a:ext cx="89373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90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JSESSIONID=1</a:t>
            </a:r>
            <a:endParaRPr lang="zh-CN" altLang="en-US" sz="900" dirty="0">
              <a:solidFill>
                <a:srgbClr val="C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E9F3E3B2-31AB-A179-3969-99A9E631BBB5}"/>
              </a:ext>
            </a:extLst>
          </p:cNvPr>
          <p:cNvGrpSpPr/>
          <p:nvPr/>
        </p:nvGrpSpPr>
        <p:grpSpPr>
          <a:xfrm>
            <a:off x="1733084" y="1073544"/>
            <a:ext cx="7108612" cy="1690061"/>
            <a:chOff x="813257" y="1467822"/>
            <a:chExt cx="7108612" cy="1690061"/>
          </a:xfrm>
        </p:grpSpPr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id="{7E699F1D-DEC7-512C-3209-6CC58CB0870C}"/>
                </a:ext>
              </a:extLst>
            </p:cNvPr>
            <p:cNvSpPr/>
            <p:nvPr/>
          </p:nvSpPr>
          <p:spPr>
            <a:xfrm>
              <a:off x="813257" y="1467822"/>
              <a:ext cx="7108612" cy="1690061"/>
            </a:xfrm>
            <a:prstGeom prst="roundRect">
              <a:avLst>
                <a:gd name="adj" fmla="val 3016"/>
              </a:avLst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20DD4F37-A566-A208-D3A7-6171E506F2D4}"/>
                </a:ext>
              </a:extLst>
            </p:cNvPr>
            <p:cNvSpPr/>
            <p:nvPr/>
          </p:nvSpPr>
          <p:spPr>
            <a:xfrm>
              <a:off x="5040075" y="1545546"/>
              <a:ext cx="2740056" cy="1552273"/>
            </a:xfrm>
            <a:prstGeom prst="roundRect">
              <a:avLst>
                <a:gd name="adj" fmla="val 4938"/>
              </a:avLst>
            </a:prstGeom>
            <a:solidFill>
              <a:srgbClr val="86E2E0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D5F910F1-7A20-7494-149A-8BE4B2BBFB05}"/>
                </a:ext>
              </a:extLst>
            </p:cNvPr>
            <p:cNvCxnSpPr>
              <a:cxnSpLocks/>
            </p:cNvCxnSpPr>
            <p:nvPr/>
          </p:nvCxnSpPr>
          <p:spPr>
            <a:xfrm>
              <a:off x="1847850" y="2183596"/>
              <a:ext cx="3109796" cy="0"/>
            </a:xfrm>
            <a:prstGeom prst="straightConnector1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377DDE46-06F7-6FDD-CABE-6CEC04ED12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06184" y="2466487"/>
              <a:ext cx="3151462" cy="0"/>
            </a:xfrm>
            <a:prstGeom prst="straightConnector1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218EA2CD-6F22-7BEA-728C-4450C97F7F51}"/>
                </a:ext>
              </a:extLst>
            </p:cNvPr>
            <p:cNvSpPr txBox="1"/>
            <p:nvPr/>
          </p:nvSpPr>
          <p:spPr>
            <a:xfrm>
              <a:off x="2871443" y="1971098"/>
              <a:ext cx="46618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900"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请求</a:t>
              </a:r>
              <a:endParaRPr lang="zh-CN" altLang="en-US" sz="9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7D002221-B861-5C40-46DB-DB04EBC78BF6}"/>
                </a:ext>
              </a:extLst>
            </p:cNvPr>
            <p:cNvSpPr txBox="1"/>
            <p:nvPr/>
          </p:nvSpPr>
          <p:spPr>
            <a:xfrm>
              <a:off x="2877517" y="2475046"/>
              <a:ext cx="41229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900"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响应</a:t>
              </a:r>
              <a:endParaRPr lang="zh-CN" altLang="en-US" sz="9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826EB0EA-6AAA-6704-21E4-4488B811CE70}"/>
                </a:ext>
              </a:extLst>
            </p:cNvPr>
            <p:cNvGrpSpPr/>
            <p:nvPr/>
          </p:nvGrpSpPr>
          <p:grpSpPr>
            <a:xfrm>
              <a:off x="1246066" y="2154107"/>
              <a:ext cx="446647" cy="456319"/>
              <a:chOff x="1288572" y="3466291"/>
              <a:chExt cx="1076475" cy="1086002"/>
            </a:xfrm>
          </p:grpSpPr>
          <p:pic>
            <p:nvPicPr>
              <p:cNvPr id="63" name="图片 62">
                <a:extLst>
                  <a:ext uri="{FF2B5EF4-FFF2-40B4-BE49-F238E27FC236}">
                    <a16:creationId xmlns:a16="http://schemas.microsoft.com/office/drawing/2014/main" id="{129C640F-89BA-FBFF-B6DD-7E8CAC9527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88572" y="3466291"/>
                <a:ext cx="1076475" cy="1086002"/>
              </a:xfrm>
              <a:prstGeom prst="rect">
                <a:avLst/>
              </a:prstGeom>
            </p:spPr>
          </p:pic>
          <p:pic>
            <p:nvPicPr>
              <p:cNvPr id="64" name="图片 63">
                <a:extLst>
                  <a:ext uri="{FF2B5EF4-FFF2-40B4-BE49-F238E27FC236}">
                    <a16:creationId xmlns:a16="http://schemas.microsoft.com/office/drawing/2014/main" id="{AAA12338-2E05-EBB3-F623-5E5ACA7148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02940" y="3784462"/>
                <a:ext cx="447737" cy="447737"/>
              </a:xfrm>
              <a:prstGeom prst="rect">
                <a:avLst/>
              </a:prstGeom>
            </p:spPr>
          </p:pic>
        </p:grpSp>
        <p:sp>
          <p:nvSpPr>
            <p:cNvPr id="54" name="矩形: 圆角 53">
              <a:extLst>
                <a:ext uri="{FF2B5EF4-FFF2-40B4-BE49-F238E27FC236}">
                  <a16:creationId xmlns:a16="http://schemas.microsoft.com/office/drawing/2014/main" id="{A211CB5E-61BD-4C1F-BBFB-B4461E864045}"/>
                </a:ext>
              </a:extLst>
            </p:cNvPr>
            <p:cNvSpPr/>
            <p:nvPr/>
          </p:nvSpPr>
          <p:spPr>
            <a:xfrm>
              <a:off x="5113175" y="1622743"/>
              <a:ext cx="2584527" cy="1387391"/>
            </a:xfrm>
            <a:prstGeom prst="roundRect">
              <a:avLst>
                <a:gd name="adj" fmla="val 3205"/>
              </a:avLst>
            </a:prstGeom>
            <a:noFill/>
            <a:ln w="6350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55" name="矩形: 对角圆角 54">
              <a:extLst>
                <a:ext uri="{FF2B5EF4-FFF2-40B4-BE49-F238E27FC236}">
                  <a16:creationId xmlns:a16="http://schemas.microsoft.com/office/drawing/2014/main" id="{70B9DF81-62D5-2205-4DDD-E73AC4F80C2C}"/>
                </a:ext>
              </a:extLst>
            </p:cNvPr>
            <p:cNvSpPr/>
            <p:nvPr/>
          </p:nvSpPr>
          <p:spPr>
            <a:xfrm>
              <a:off x="5342832" y="1879077"/>
              <a:ext cx="642663" cy="971812"/>
            </a:xfrm>
            <a:prstGeom prst="round2DiagRect">
              <a:avLst>
                <a:gd name="adj1" fmla="val 16636"/>
                <a:gd name="adj2" fmla="val 0"/>
              </a:avLst>
            </a:prstGeom>
            <a:solidFill>
              <a:srgbClr val="FFC91D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统一拦截</a:t>
              </a:r>
              <a:endParaRPr lang="zh-CN" altLang="en-US" sz="100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56" name="矩形: 圆角 55">
              <a:extLst>
                <a:ext uri="{FF2B5EF4-FFF2-40B4-BE49-F238E27FC236}">
                  <a16:creationId xmlns:a16="http://schemas.microsoft.com/office/drawing/2014/main" id="{96AA584F-9C67-8699-1C6C-9B791C263117}"/>
                </a:ext>
              </a:extLst>
            </p:cNvPr>
            <p:cNvSpPr/>
            <p:nvPr/>
          </p:nvSpPr>
          <p:spPr>
            <a:xfrm>
              <a:off x="6169938" y="1703873"/>
              <a:ext cx="961962" cy="250337"/>
            </a:xfrm>
            <a:prstGeom prst="roundRect">
              <a:avLst/>
            </a:prstGeom>
            <a:solidFill>
              <a:srgbClr val="34495E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Login</a:t>
              </a:r>
              <a:endParaRPr lang="zh-CN" altLang="en-US" sz="10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57" name="矩形: 圆角 56">
              <a:extLst>
                <a:ext uri="{FF2B5EF4-FFF2-40B4-BE49-F238E27FC236}">
                  <a16:creationId xmlns:a16="http://schemas.microsoft.com/office/drawing/2014/main" id="{5330389F-5919-709C-06CC-15A030CAB346}"/>
                </a:ext>
              </a:extLst>
            </p:cNvPr>
            <p:cNvSpPr/>
            <p:nvPr/>
          </p:nvSpPr>
          <p:spPr>
            <a:xfrm>
              <a:off x="6169936" y="2029254"/>
              <a:ext cx="961962" cy="250337"/>
            </a:xfrm>
            <a:prstGeom prst="roundRect">
              <a:avLst/>
            </a:prstGeom>
            <a:solidFill>
              <a:srgbClr val="34495E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</a:t>
              </a:r>
              <a:endParaRPr lang="zh-CN" altLang="en-US" sz="10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58" name="矩形: 圆角 57">
              <a:extLst>
                <a:ext uri="{FF2B5EF4-FFF2-40B4-BE49-F238E27FC236}">
                  <a16:creationId xmlns:a16="http://schemas.microsoft.com/office/drawing/2014/main" id="{5FEF7C16-E385-1B98-8333-841F152FE6EB}"/>
                </a:ext>
              </a:extLst>
            </p:cNvPr>
            <p:cNvSpPr/>
            <p:nvPr/>
          </p:nvSpPr>
          <p:spPr>
            <a:xfrm>
              <a:off x="6177401" y="2354635"/>
              <a:ext cx="961962" cy="250337"/>
            </a:xfrm>
            <a:prstGeom prst="roundRect">
              <a:avLst/>
            </a:prstGeom>
            <a:solidFill>
              <a:srgbClr val="34495E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</a:t>
              </a:r>
              <a:endParaRPr lang="zh-CN" altLang="en-US" sz="10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59" name="矩形: 圆角 58">
              <a:extLst>
                <a:ext uri="{FF2B5EF4-FFF2-40B4-BE49-F238E27FC236}">
                  <a16:creationId xmlns:a16="http://schemas.microsoft.com/office/drawing/2014/main" id="{19D8B94C-8B9C-E894-1780-35515A47FA53}"/>
                </a:ext>
              </a:extLst>
            </p:cNvPr>
            <p:cNvSpPr/>
            <p:nvPr/>
          </p:nvSpPr>
          <p:spPr>
            <a:xfrm>
              <a:off x="6169936" y="2680015"/>
              <a:ext cx="961962" cy="250337"/>
            </a:xfrm>
            <a:prstGeom prst="roundRect">
              <a:avLst/>
            </a:prstGeom>
            <a:solidFill>
              <a:srgbClr val="34495E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Report</a:t>
              </a:r>
              <a:endParaRPr lang="zh-CN" altLang="en-US" sz="10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60" name="箭头: 右 59">
              <a:extLst>
                <a:ext uri="{FF2B5EF4-FFF2-40B4-BE49-F238E27FC236}">
                  <a16:creationId xmlns:a16="http://schemas.microsoft.com/office/drawing/2014/main" id="{74BB1400-3BEF-7ABF-3106-A478D9D11237}"/>
                </a:ext>
              </a:extLst>
            </p:cNvPr>
            <p:cNvSpPr/>
            <p:nvPr/>
          </p:nvSpPr>
          <p:spPr>
            <a:xfrm rot="19229268">
              <a:off x="5889167" y="1902758"/>
              <a:ext cx="375727" cy="148356"/>
            </a:xfrm>
            <a:prstGeom prst="rightArrow">
              <a:avLst>
                <a:gd name="adj1" fmla="val 50000"/>
                <a:gd name="adj2" fmla="val 73159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箭头: 右 60">
              <a:extLst>
                <a:ext uri="{FF2B5EF4-FFF2-40B4-BE49-F238E27FC236}">
                  <a16:creationId xmlns:a16="http://schemas.microsoft.com/office/drawing/2014/main" id="{CA65555B-F304-1310-E3E3-502566DD4906}"/>
                </a:ext>
              </a:extLst>
            </p:cNvPr>
            <p:cNvSpPr/>
            <p:nvPr/>
          </p:nvSpPr>
          <p:spPr>
            <a:xfrm rot="2290107">
              <a:off x="5892270" y="2658154"/>
              <a:ext cx="375727" cy="148356"/>
            </a:xfrm>
            <a:prstGeom prst="rightArrow">
              <a:avLst>
                <a:gd name="adj1" fmla="val 50000"/>
                <a:gd name="adj2" fmla="val 73159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箭头: 右 61">
              <a:extLst>
                <a:ext uri="{FF2B5EF4-FFF2-40B4-BE49-F238E27FC236}">
                  <a16:creationId xmlns:a16="http://schemas.microsoft.com/office/drawing/2014/main" id="{4AC9F06B-E589-2C3E-81F8-F4DC002DEE20}"/>
                </a:ext>
              </a:extLst>
            </p:cNvPr>
            <p:cNvSpPr/>
            <p:nvPr/>
          </p:nvSpPr>
          <p:spPr>
            <a:xfrm>
              <a:off x="5935569" y="2292364"/>
              <a:ext cx="331980" cy="157313"/>
            </a:xfrm>
            <a:prstGeom prst="rightArrow">
              <a:avLst>
                <a:gd name="adj1" fmla="val 50000"/>
                <a:gd name="adj2" fmla="val 73159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5" name="文本框 64">
            <a:extLst>
              <a:ext uri="{FF2B5EF4-FFF2-40B4-BE49-F238E27FC236}">
                <a16:creationId xmlns:a16="http://schemas.microsoft.com/office/drawing/2014/main" id="{ABC108D9-8FF6-57A7-19E8-340FA39DE9FB}"/>
              </a:ext>
            </a:extLst>
          </p:cNvPr>
          <p:cNvSpPr txBox="1"/>
          <p:nvPr/>
        </p:nvSpPr>
        <p:spPr>
          <a:xfrm>
            <a:off x="2104285" y="2273978"/>
            <a:ext cx="56601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浏览器</a:t>
            </a:r>
            <a:endParaRPr lang="zh-CN" altLang="en-US" sz="9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7" name="Shape 2426">
            <a:extLst>
              <a:ext uri="{FF2B5EF4-FFF2-40B4-BE49-F238E27FC236}">
                <a16:creationId xmlns:a16="http://schemas.microsoft.com/office/drawing/2014/main" id="{56C78B67-428C-F761-481F-01FBDAED4328}"/>
              </a:ext>
            </a:extLst>
          </p:cNvPr>
          <p:cNvSpPr/>
          <p:nvPr/>
        </p:nvSpPr>
        <p:spPr>
          <a:xfrm>
            <a:off x="7990058" y="1408873"/>
            <a:ext cx="168940" cy="160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FF0000"/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algn="ctr" defTabSz="22851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000" noProof="1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8" name="Shape 2426">
            <a:extLst>
              <a:ext uri="{FF2B5EF4-FFF2-40B4-BE49-F238E27FC236}">
                <a16:creationId xmlns:a16="http://schemas.microsoft.com/office/drawing/2014/main" id="{F9B0334A-EABC-3182-148F-A0CC5433F7DE}"/>
              </a:ext>
            </a:extLst>
          </p:cNvPr>
          <p:cNvSpPr/>
          <p:nvPr/>
        </p:nvSpPr>
        <p:spPr>
          <a:xfrm>
            <a:off x="1955961" y="1913761"/>
            <a:ext cx="168940" cy="160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FF0000"/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algn="ctr" defTabSz="22851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000" noProof="1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AF049ADC-5A38-B1B2-EAA2-CF440C452418}"/>
              </a:ext>
            </a:extLst>
          </p:cNvPr>
          <p:cNvSpPr txBox="1"/>
          <p:nvPr/>
        </p:nvSpPr>
        <p:spPr>
          <a:xfrm>
            <a:off x="4115681" y="2133696"/>
            <a:ext cx="165977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9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(Set-Cookie:name=value)</a:t>
            </a:r>
            <a:endParaRPr lang="zh-CN" altLang="en-US" sz="900" dirty="0">
              <a:solidFill>
                <a:srgbClr val="C0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E55DD647-4B63-E57C-ABF4-549FD83E3E22}"/>
              </a:ext>
            </a:extLst>
          </p:cNvPr>
          <p:cNvSpPr txBox="1"/>
          <p:nvPr/>
        </p:nvSpPr>
        <p:spPr>
          <a:xfrm>
            <a:off x="4108061" y="1630658"/>
            <a:ext cx="142810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9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(Cookie:name=value)</a:t>
            </a:r>
            <a:endParaRPr lang="zh-CN" altLang="en-US" sz="900" dirty="0">
              <a:solidFill>
                <a:srgbClr val="C0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C8CA1A84-16D1-8C53-A1BF-55333F7CFCD6}"/>
              </a:ext>
            </a:extLst>
          </p:cNvPr>
          <p:cNvSpPr txBox="1"/>
          <p:nvPr/>
        </p:nvSpPr>
        <p:spPr>
          <a:xfrm>
            <a:off x="8945462" y="1083728"/>
            <a:ext cx="3147868" cy="1450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200">
                <a:solidFill>
                  <a:srgbClr val="00B05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优点：</a:t>
            </a:r>
            <a:r>
              <a:rPr lang="en-US" altLang="zh-CN" sz="1200">
                <a:solidFill>
                  <a:srgbClr val="00B0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HTTP</a:t>
            </a:r>
            <a:r>
              <a:rPr lang="zh-CN" altLang="en-US" sz="1200">
                <a:solidFill>
                  <a:srgbClr val="00B05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协议中支持的技术</a:t>
            </a:r>
            <a:endParaRPr lang="en-US" altLang="zh-CN" sz="1200">
              <a:solidFill>
                <a:srgbClr val="00B050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171450" indent="-1714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2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缺点：</a:t>
            </a:r>
            <a:endParaRPr lang="en-US" altLang="zh-CN" sz="1200">
              <a:solidFill>
                <a:srgbClr val="C00000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315450" indent="-1714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u"/>
              <a:tabLst>
                <a:tab pos="252000" algn="l"/>
              </a:tabLst>
            </a:pPr>
            <a:r>
              <a:rPr lang="zh-CN" altLang="en-US" sz="12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移动端</a:t>
            </a:r>
            <a:r>
              <a:rPr lang="en-US" altLang="zh-CN" sz="12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APP</a:t>
            </a:r>
            <a:r>
              <a:rPr lang="zh-CN" altLang="en-US" sz="12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无法使用</a:t>
            </a:r>
            <a:r>
              <a:rPr lang="en-US" altLang="zh-CN" sz="12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Cookie</a:t>
            </a:r>
          </a:p>
          <a:p>
            <a:pPr marL="315450" indent="-1714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u"/>
              <a:tabLst>
                <a:tab pos="252000" algn="l"/>
              </a:tabLst>
            </a:pPr>
            <a:r>
              <a:rPr lang="zh-CN" altLang="en-US" sz="12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不安全，用户可以自己禁用</a:t>
            </a:r>
            <a:r>
              <a:rPr lang="en-US" altLang="zh-CN" sz="12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Cookie</a:t>
            </a:r>
            <a:endParaRPr lang="zh-CN" altLang="en-US" sz="1200">
              <a:solidFill>
                <a:srgbClr val="C0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15450" indent="-1714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u"/>
              <a:tabLst>
                <a:tab pos="252000" algn="l"/>
              </a:tabLst>
            </a:pPr>
            <a:r>
              <a:rPr lang="en-US" altLang="zh-CN" sz="12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 Cookie</a:t>
            </a:r>
            <a:r>
              <a:rPr lang="zh-CN" altLang="en-US" sz="12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不能跨域</a:t>
            </a:r>
            <a:endParaRPr lang="en-US" altLang="zh-CN" sz="1200">
              <a:solidFill>
                <a:srgbClr val="C00000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72" name="Shape 2426">
            <a:extLst>
              <a:ext uri="{FF2B5EF4-FFF2-40B4-BE49-F238E27FC236}">
                <a16:creationId xmlns:a16="http://schemas.microsoft.com/office/drawing/2014/main" id="{C828D1F2-10A4-4B75-B2E4-87E7AAB14481}"/>
              </a:ext>
            </a:extLst>
          </p:cNvPr>
          <p:cNvSpPr/>
          <p:nvPr/>
        </p:nvSpPr>
        <p:spPr>
          <a:xfrm>
            <a:off x="3708841" y="1593107"/>
            <a:ext cx="168940" cy="160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FF0000"/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algn="ctr" defTabSz="22851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000" noProof="1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3" name="Shape 2426">
            <a:extLst>
              <a:ext uri="{FF2B5EF4-FFF2-40B4-BE49-F238E27FC236}">
                <a16:creationId xmlns:a16="http://schemas.microsoft.com/office/drawing/2014/main" id="{F5577660-04B6-0C73-1313-C65CF7355FA1}"/>
              </a:ext>
            </a:extLst>
          </p:cNvPr>
          <p:cNvSpPr/>
          <p:nvPr/>
        </p:nvSpPr>
        <p:spPr>
          <a:xfrm>
            <a:off x="3695488" y="2096491"/>
            <a:ext cx="168940" cy="160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FF0000"/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algn="ctr" defTabSz="22851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000" noProof="1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D037600-24F3-5229-1C5C-143AE7458DB3}"/>
              </a:ext>
            </a:extLst>
          </p:cNvPr>
          <p:cNvSpPr txBox="1"/>
          <p:nvPr/>
        </p:nvSpPr>
        <p:spPr>
          <a:xfrm>
            <a:off x="1821544" y="2164505"/>
            <a:ext cx="7909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9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name=value</a:t>
            </a:r>
            <a:endParaRPr lang="zh-CN" altLang="en-US" sz="900" dirty="0">
              <a:solidFill>
                <a:srgbClr val="C0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7D54E8EA-C1F9-7AF6-FCCF-3FEFE8EFC4A0}"/>
              </a:ext>
            </a:extLst>
          </p:cNvPr>
          <p:cNvSpPr/>
          <p:nvPr/>
        </p:nvSpPr>
        <p:spPr>
          <a:xfrm>
            <a:off x="478214" y="1658015"/>
            <a:ext cx="1182756" cy="454596"/>
          </a:xfrm>
          <a:prstGeom prst="roundRect">
            <a:avLst/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5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方案一</a:t>
            </a:r>
            <a:r>
              <a:rPr lang="en-US" altLang="zh-CN" sz="105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en-US" altLang="zh-CN" sz="105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Cookie</a:t>
            </a:r>
            <a:r>
              <a:rPr lang="en-US" altLang="zh-CN" sz="105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zh-CN" altLang="en-US" sz="105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92AA91F5-B828-BB9A-874C-2AFBDBE37940}"/>
              </a:ext>
            </a:extLst>
          </p:cNvPr>
          <p:cNvSpPr/>
          <p:nvPr/>
        </p:nvSpPr>
        <p:spPr>
          <a:xfrm>
            <a:off x="478214" y="3363130"/>
            <a:ext cx="1182756" cy="454596"/>
          </a:xfrm>
          <a:prstGeom prst="roundRect">
            <a:avLst/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5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方案二</a:t>
            </a:r>
            <a:r>
              <a:rPr lang="en-US" altLang="zh-CN" sz="105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(Session)</a:t>
            </a:r>
            <a:endParaRPr lang="zh-CN" altLang="en-US" sz="105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324F4698-7684-6236-B3B8-1BAF7FB57C0B}"/>
              </a:ext>
            </a:extLst>
          </p:cNvPr>
          <p:cNvSpPr/>
          <p:nvPr/>
        </p:nvSpPr>
        <p:spPr>
          <a:xfrm>
            <a:off x="0" y="946519"/>
            <a:ext cx="12192000" cy="1838489"/>
          </a:xfrm>
          <a:prstGeom prst="rect">
            <a:avLst/>
          </a:prstGeom>
          <a:solidFill>
            <a:srgbClr val="0D0D0D">
              <a:alpha val="4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2360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/>
      <p:bldP spid="25" grpId="0"/>
      <p:bldP spid="26" grpId="0" animBg="1"/>
      <p:bldP spid="27" grpId="0" animBg="1"/>
      <p:bldP spid="28" grpId="0" animBg="1"/>
      <p:bldP spid="29" grpId="0" animBg="1"/>
      <p:bldP spid="30" grpId="0" animBg="1"/>
      <p:bldP spid="4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51EEB7-738B-BBDD-9828-F76AD26CF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会话跟踪方案对比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49D59279-0D48-1C35-DD44-C730268B1A52}"/>
              </a:ext>
            </a:extLst>
          </p:cNvPr>
          <p:cNvGrpSpPr/>
          <p:nvPr/>
        </p:nvGrpSpPr>
        <p:grpSpPr>
          <a:xfrm>
            <a:off x="1733084" y="2806041"/>
            <a:ext cx="7108612" cy="1690061"/>
            <a:chOff x="813257" y="1467822"/>
            <a:chExt cx="7108612" cy="169006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049AF83F-7750-E009-5CE6-8FDF82D3B5B8}"/>
                </a:ext>
              </a:extLst>
            </p:cNvPr>
            <p:cNvSpPr/>
            <p:nvPr/>
          </p:nvSpPr>
          <p:spPr>
            <a:xfrm>
              <a:off x="813257" y="1467822"/>
              <a:ext cx="7108612" cy="1690061"/>
            </a:xfrm>
            <a:prstGeom prst="roundRect">
              <a:avLst>
                <a:gd name="adj" fmla="val 3016"/>
              </a:avLst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616B9039-3D8E-1B8D-DB5C-A22F9A405565}"/>
                </a:ext>
              </a:extLst>
            </p:cNvPr>
            <p:cNvSpPr/>
            <p:nvPr/>
          </p:nvSpPr>
          <p:spPr>
            <a:xfrm>
              <a:off x="5040075" y="1545546"/>
              <a:ext cx="2740056" cy="1552273"/>
            </a:xfrm>
            <a:prstGeom prst="roundRect">
              <a:avLst>
                <a:gd name="adj" fmla="val 4938"/>
              </a:avLst>
            </a:prstGeom>
            <a:solidFill>
              <a:srgbClr val="86E2E0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D81E5DEA-A6D3-776E-0834-C31949816996}"/>
                </a:ext>
              </a:extLst>
            </p:cNvPr>
            <p:cNvCxnSpPr>
              <a:cxnSpLocks/>
            </p:cNvCxnSpPr>
            <p:nvPr/>
          </p:nvCxnSpPr>
          <p:spPr>
            <a:xfrm>
              <a:off x="1847850" y="2183596"/>
              <a:ext cx="3109796" cy="0"/>
            </a:xfrm>
            <a:prstGeom prst="straightConnector1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42946986-C7FF-8422-4212-5864FD190B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06184" y="2466487"/>
              <a:ext cx="3151462" cy="0"/>
            </a:xfrm>
            <a:prstGeom prst="straightConnector1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F74F9F4F-6D28-24E2-3537-7B8FB12398CA}"/>
                </a:ext>
              </a:extLst>
            </p:cNvPr>
            <p:cNvSpPr txBox="1"/>
            <p:nvPr/>
          </p:nvSpPr>
          <p:spPr>
            <a:xfrm>
              <a:off x="2871443" y="1971098"/>
              <a:ext cx="46618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900"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请求</a:t>
              </a:r>
              <a:endParaRPr lang="zh-CN" altLang="en-US" sz="9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2ADEC1D9-D0B9-7D56-F772-4AB8893240D6}"/>
                </a:ext>
              </a:extLst>
            </p:cNvPr>
            <p:cNvSpPr txBox="1"/>
            <p:nvPr/>
          </p:nvSpPr>
          <p:spPr>
            <a:xfrm>
              <a:off x="2877517" y="2475046"/>
              <a:ext cx="41229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900"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响应</a:t>
              </a:r>
              <a:endParaRPr lang="zh-CN" altLang="en-US" sz="9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07A6F880-9D34-C495-5532-06C93E49A3DD}"/>
                </a:ext>
              </a:extLst>
            </p:cNvPr>
            <p:cNvGrpSpPr/>
            <p:nvPr/>
          </p:nvGrpSpPr>
          <p:grpSpPr>
            <a:xfrm>
              <a:off x="1246066" y="2154107"/>
              <a:ext cx="446647" cy="456319"/>
              <a:chOff x="1288572" y="3466291"/>
              <a:chExt cx="1076475" cy="1086002"/>
            </a:xfrm>
          </p:grpSpPr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7262E57D-5B2E-9128-A764-1E52BCBC1A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88572" y="3466291"/>
                <a:ext cx="1076475" cy="1086002"/>
              </a:xfrm>
              <a:prstGeom prst="rect">
                <a:avLst/>
              </a:prstGeom>
            </p:spPr>
          </p:pic>
          <p:pic>
            <p:nvPicPr>
              <p:cNvPr id="22" name="图片 21">
                <a:extLst>
                  <a:ext uri="{FF2B5EF4-FFF2-40B4-BE49-F238E27FC236}">
                    <a16:creationId xmlns:a16="http://schemas.microsoft.com/office/drawing/2014/main" id="{EC0688FA-0AB6-906F-A7DF-51A86EC74A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02940" y="3784462"/>
                <a:ext cx="447737" cy="447737"/>
              </a:xfrm>
              <a:prstGeom prst="rect">
                <a:avLst/>
              </a:prstGeom>
            </p:spPr>
          </p:pic>
        </p:grp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4F38545C-A95E-7E5C-C23E-86E228394AA5}"/>
                </a:ext>
              </a:extLst>
            </p:cNvPr>
            <p:cNvSpPr/>
            <p:nvPr/>
          </p:nvSpPr>
          <p:spPr>
            <a:xfrm>
              <a:off x="5113175" y="1622743"/>
              <a:ext cx="2584527" cy="1387391"/>
            </a:xfrm>
            <a:prstGeom prst="roundRect">
              <a:avLst>
                <a:gd name="adj" fmla="val 3205"/>
              </a:avLst>
            </a:prstGeom>
            <a:noFill/>
            <a:ln w="6350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矩形: 对角圆角 12">
              <a:extLst>
                <a:ext uri="{FF2B5EF4-FFF2-40B4-BE49-F238E27FC236}">
                  <a16:creationId xmlns:a16="http://schemas.microsoft.com/office/drawing/2014/main" id="{F9F015AA-8A28-8A7F-B8C1-1A9C62F551A0}"/>
                </a:ext>
              </a:extLst>
            </p:cNvPr>
            <p:cNvSpPr/>
            <p:nvPr/>
          </p:nvSpPr>
          <p:spPr>
            <a:xfrm>
              <a:off x="5225728" y="1874344"/>
              <a:ext cx="642663" cy="971812"/>
            </a:xfrm>
            <a:prstGeom prst="round2DiagRect">
              <a:avLst>
                <a:gd name="adj1" fmla="val 16636"/>
                <a:gd name="adj2" fmla="val 0"/>
              </a:avLst>
            </a:prstGeom>
            <a:solidFill>
              <a:srgbClr val="FFC91D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统一拦截</a:t>
              </a:r>
              <a:endParaRPr lang="zh-CN" altLang="en-US" sz="100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BCB8FA7A-3D99-DEF2-FC8E-7FCA20F2E39C}"/>
                </a:ext>
              </a:extLst>
            </p:cNvPr>
            <p:cNvSpPr/>
            <p:nvPr/>
          </p:nvSpPr>
          <p:spPr>
            <a:xfrm>
              <a:off x="6052834" y="1699140"/>
              <a:ext cx="961962" cy="250337"/>
            </a:xfrm>
            <a:prstGeom prst="roundRect">
              <a:avLst/>
            </a:prstGeom>
            <a:solidFill>
              <a:srgbClr val="34495E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Login</a:t>
              </a:r>
              <a:endParaRPr lang="zh-CN" altLang="en-US" sz="10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A81B1F17-AB64-5F83-B227-BE6338974CB0}"/>
                </a:ext>
              </a:extLst>
            </p:cNvPr>
            <p:cNvSpPr/>
            <p:nvPr/>
          </p:nvSpPr>
          <p:spPr>
            <a:xfrm>
              <a:off x="6052832" y="2024521"/>
              <a:ext cx="961962" cy="250337"/>
            </a:xfrm>
            <a:prstGeom prst="roundRect">
              <a:avLst/>
            </a:prstGeom>
            <a:solidFill>
              <a:srgbClr val="34495E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</a:t>
              </a:r>
              <a:endParaRPr lang="zh-CN" altLang="en-US" sz="10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0AB3889B-957D-3572-84E0-795B174A109E}"/>
                </a:ext>
              </a:extLst>
            </p:cNvPr>
            <p:cNvSpPr/>
            <p:nvPr/>
          </p:nvSpPr>
          <p:spPr>
            <a:xfrm>
              <a:off x="6060297" y="2349902"/>
              <a:ext cx="961962" cy="250337"/>
            </a:xfrm>
            <a:prstGeom prst="roundRect">
              <a:avLst/>
            </a:prstGeom>
            <a:solidFill>
              <a:srgbClr val="34495E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</a:t>
              </a:r>
              <a:endParaRPr lang="zh-CN" altLang="en-US" sz="10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15FF8D07-A5E0-E425-4A38-0D56A591A349}"/>
                </a:ext>
              </a:extLst>
            </p:cNvPr>
            <p:cNvSpPr/>
            <p:nvPr/>
          </p:nvSpPr>
          <p:spPr>
            <a:xfrm>
              <a:off x="6052832" y="2675282"/>
              <a:ext cx="961962" cy="250337"/>
            </a:xfrm>
            <a:prstGeom prst="roundRect">
              <a:avLst/>
            </a:prstGeom>
            <a:solidFill>
              <a:srgbClr val="34495E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Report</a:t>
              </a:r>
              <a:endParaRPr lang="zh-CN" altLang="en-US" sz="10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箭头: 右 17">
              <a:extLst>
                <a:ext uri="{FF2B5EF4-FFF2-40B4-BE49-F238E27FC236}">
                  <a16:creationId xmlns:a16="http://schemas.microsoft.com/office/drawing/2014/main" id="{6381501D-E157-899B-511B-CA9F88B91539}"/>
                </a:ext>
              </a:extLst>
            </p:cNvPr>
            <p:cNvSpPr/>
            <p:nvPr/>
          </p:nvSpPr>
          <p:spPr>
            <a:xfrm rot="19229268">
              <a:off x="5772063" y="1898025"/>
              <a:ext cx="375727" cy="148356"/>
            </a:xfrm>
            <a:prstGeom prst="rightArrow">
              <a:avLst>
                <a:gd name="adj1" fmla="val 50000"/>
                <a:gd name="adj2" fmla="val 73159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箭头: 右 18">
              <a:extLst>
                <a:ext uri="{FF2B5EF4-FFF2-40B4-BE49-F238E27FC236}">
                  <a16:creationId xmlns:a16="http://schemas.microsoft.com/office/drawing/2014/main" id="{38253712-3571-BFFD-6BFC-1176EBE36649}"/>
                </a:ext>
              </a:extLst>
            </p:cNvPr>
            <p:cNvSpPr/>
            <p:nvPr/>
          </p:nvSpPr>
          <p:spPr>
            <a:xfrm rot="2290107">
              <a:off x="5775166" y="2653421"/>
              <a:ext cx="375727" cy="148356"/>
            </a:xfrm>
            <a:prstGeom prst="rightArrow">
              <a:avLst>
                <a:gd name="adj1" fmla="val 50000"/>
                <a:gd name="adj2" fmla="val 73159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箭头: 右 19">
              <a:extLst>
                <a:ext uri="{FF2B5EF4-FFF2-40B4-BE49-F238E27FC236}">
                  <a16:creationId xmlns:a16="http://schemas.microsoft.com/office/drawing/2014/main" id="{F073B076-530A-DD25-7F16-2D9C1B8C51E0}"/>
                </a:ext>
              </a:extLst>
            </p:cNvPr>
            <p:cNvSpPr/>
            <p:nvPr/>
          </p:nvSpPr>
          <p:spPr>
            <a:xfrm>
              <a:off x="5818465" y="2287631"/>
              <a:ext cx="331980" cy="157313"/>
            </a:xfrm>
            <a:prstGeom prst="rightArrow">
              <a:avLst>
                <a:gd name="adj1" fmla="val 50000"/>
                <a:gd name="adj2" fmla="val 73159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Shape 2426">
            <a:extLst>
              <a:ext uri="{FF2B5EF4-FFF2-40B4-BE49-F238E27FC236}">
                <a16:creationId xmlns:a16="http://schemas.microsoft.com/office/drawing/2014/main" id="{8B416336-B7D7-9BF8-7761-9805D3AFC09B}"/>
              </a:ext>
            </a:extLst>
          </p:cNvPr>
          <p:cNvSpPr/>
          <p:nvPr/>
        </p:nvSpPr>
        <p:spPr>
          <a:xfrm>
            <a:off x="1969856" y="3592520"/>
            <a:ext cx="168940" cy="160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C00000"/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algn="ctr" defTabSz="22851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000" noProof="1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4802AFF-E476-0F80-010F-57F05719C4E2}"/>
              </a:ext>
            </a:extLst>
          </p:cNvPr>
          <p:cNvSpPr txBox="1"/>
          <p:nvPr/>
        </p:nvSpPr>
        <p:spPr>
          <a:xfrm>
            <a:off x="4150543" y="3859431"/>
            <a:ext cx="166359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90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(Set-Cookie:JSESSIONID=1)</a:t>
            </a:r>
            <a:endParaRPr lang="zh-CN" altLang="en-US" sz="900" dirty="0">
              <a:solidFill>
                <a:srgbClr val="C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0F02C31-D486-6617-094B-3B2A842FC67B}"/>
              </a:ext>
            </a:extLst>
          </p:cNvPr>
          <p:cNvSpPr txBox="1"/>
          <p:nvPr/>
        </p:nvSpPr>
        <p:spPr>
          <a:xfrm>
            <a:off x="4136369" y="3345871"/>
            <a:ext cx="147181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90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(Cookie:JSESSIONID=1)</a:t>
            </a:r>
            <a:endParaRPr lang="zh-CN" altLang="en-US" sz="900" dirty="0">
              <a:solidFill>
                <a:srgbClr val="C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Shape 2426">
            <a:extLst>
              <a:ext uri="{FF2B5EF4-FFF2-40B4-BE49-F238E27FC236}">
                <a16:creationId xmlns:a16="http://schemas.microsoft.com/office/drawing/2014/main" id="{447994A2-86A2-1AD0-9E55-8F2FB0DF3FA1}"/>
              </a:ext>
            </a:extLst>
          </p:cNvPr>
          <p:cNvSpPr/>
          <p:nvPr/>
        </p:nvSpPr>
        <p:spPr>
          <a:xfrm>
            <a:off x="3708841" y="3865223"/>
            <a:ext cx="168940" cy="160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C00000"/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algn="ctr" defTabSz="22851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000" noProof="1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7" name="Shape 2426">
            <a:extLst>
              <a:ext uri="{FF2B5EF4-FFF2-40B4-BE49-F238E27FC236}">
                <a16:creationId xmlns:a16="http://schemas.microsoft.com/office/drawing/2014/main" id="{DDB74A2C-2E03-2870-D9F9-F393D9E34AF7}"/>
              </a:ext>
            </a:extLst>
          </p:cNvPr>
          <p:cNvSpPr/>
          <p:nvPr/>
        </p:nvSpPr>
        <p:spPr>
          <a:xfrm>
            <a:off x="3699524" y="3274824"/>
            <a:ext cx="168940" cy="160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C00000"/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algn="ctr" defTabSz="22851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000" noProof="1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8" name="流程图: 文档 27">
            <a:extLst>
              <a:ext uri="{FF2B5EF4-FFF2-40B4-BE49-F238E27FC236}">
                <a16:creationId xmlns:a16="http://schemas.microsoft.com/office/drawing/2014/main" id="{2BC91EC0-933A-2D09-BDB8-CDE4390F1DD9}"/>
              </a:ext>
            </a:extLst>
          </p:cNvPr>
          <p:cNvSpPr/>
          <p:nvPr/>
        </p:nvSpPr>
        <p:spPr>
          <a:xfrm>
            <a:off x="7996042" y="3145497"/>
            <a:ext cx="585769" cy="297388"/>
          </a:xfrm>
          <a:prstGeom prst="flowChartDocumen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>
                <a:latin typeface="Consolas" panose="020B0609020204030204" pitchFamily="49" charset="0"/>
              </a:rPr>
              <a:t>Session(1)</a:t>
            </a:r>
            <a:endParaRPr lang="zh-CN" altLang="en-US" sz="800">
              <a:latin typeface="Consolas" panose="020B0609020204030204" pitchFamily="49" charset="0"/>
            </a:endParaRPr>
          </a:p>
        </p:txBody>
      </p:sp>
      <p:sp>
        <p:nvSpPr>
          <p:cNvPr id="29" name="流程图: 文档 28">
            <a:extLst>
              <a:ext uri="{FF2B5EF4-FFF2-40B4-BE49-F238E27FC236}">
                <a16:creationId xmlns:a16="http://schemas.microsoft.com/office/drawing/2014/main" id="{B48E5A57-A3DA-65B8-C1A1-BD066FBFC0D1}"/>
              </a:ext>
            </a:extLst>
          </p:cNvPr>
          <p:cNvSpPr/>
          <p:nvPr/>
        </p:nvSpPr>
        <p:spPr>
          <a:xfrm>
            <a:off x="7996043" y="3502949"/>
            <a:ext cx="585768" cy="290960"/>
          </a:xfrm>
          <a:prstGeom prst="flowChartDocumen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>
                <a:latin typeface="Consolas" panose="020B0609020204030204" pitchFamily="49" charset="0"/>
              </a:rPr>
              <a:t>Session(2)</a:t>
            </a:r>
            <a:endParaRPr lang="zh-CN" altLang="en-US" sz="800">
              <a:latin typeface="Consolas" panose="020B0609020204030204" pitchFamily="49" charset="0"/>
            </a:endParaRPr>
          </a:p>
        </p:txBody>
      </p:sp>
      <p:sp>
        <p:nvSpPr>
          <p:cNvPr id="30" name="流程图: 文档 29">
            <a:extLst>
              <a:ext uri="{FF2B5EF4-FFF2-40B4-BE49-F238E27FC236}">
                <a16:creationId xmlns:a16="http://schemas.microsoft.com/office/drawing/2014/main" id="{BB64EC2F-321E-8350-2650-44D086CAD298}"/>
              </a:ext>
            </a:extLst>
          </p:cNvPr>
          <p:cNvSpPr/>
          <p:nvPr/>
        </p:nvSpPr>
        <p:spPr>
          <a:xfrm>
            <a:off x="7996042" y="3855721"/>
            <a:ext cx="585767" cy="344798"/>
          </a:xfrm>
          <a:prstGeom prst="flowChartDocumen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>
                <a:latin typeface="Consolas" panose="020B0609020204030204" pitchFamily="49" charset="0"/>
              </a:rPr>
              <a:t>Session(3)</a:t>
            </a:r>
            <a:endParaRPr lang="zh-CN" altLang="en-US" sz="800">
              <a:latin typeface="Consolas" panose="020B0609020204030204" pitchFamily="49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781DA54D-10F1-0D92-8A86-05490BCDC756}"/>
              </a:ext>
            </a:extLst>
          </p:cNvPr>
          <p:cNvSpPr txBox="1"/>
          <p:nvPr/>
        </p:nvSpPr>
        <p:spPr>
          <a:xfrm>
            <a:off x="1770038" y="3956790"/>
            <a:ext cx="89373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90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JSESSIONID=1</a:t>
            </a:r>
            <a:endParaRPr lang="zh-CN" altLang="en-US" sz="900" dirty="0">
              <a:solidFill>
                <a:srgbClr val="C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E9F3E3B2-31AB-A179-3969-99A9E631BBB5}"/>
              </a:ext>
            </a:extLst>
          </p:cNvPr>
          <p:cNvGrpSpPr/>
          <p:nvPr/>
        </p:nvGrpSpPr>
        <p:grpSpPr>
          <a:xfrm>
            <a:off x="1733084" y="1073544"/>
            <a:ext cx="7108612" cy="1690061"/>
            <a:chOff x="813257" y="1467822"/>
            <a:chExt cx="7108612" cy="1690061"/>
          </a:xfrm>
        </p:grpSpPr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id="{7E699F1D-DEC7-512C-3209-6CC58CB0870C}"/>
                </a:ext>
              </a:extLst>
            </p:cNvPr>
            <p:cNvSpPr/>
            <p:nvPr/>
          </p:nvSpPr>
          <p:spPr>
            <a:xfrm>
              <a:off x="813257" y="1467822"/>
              <a:ext cx="7108612" cy="1690061"/>
            </a:xfrm>
            <a:prstGeom prst="roundRect">
              <a:avLst>
                <a:gd name="adj" fmla="val 3016"/>
              </a:avLst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20DD4F37-A566-A208-D3A7-6171E506F2D4}"/>
                </a:ext>
              </a:extLst>
            </p:cNvPr>
            <p:cNvSpPr/>
            <p:nvPr/>
          </p:nvSpPr>
          <p:spPr>
            <a:xfrm>
              <a:off x="5040075" y="1545546"/>
              <a:ext cx="2740056" cy="1552273"/>
            </a:xfrm>
            <a:prstGeom prst="roundRect">
              <a:avLst>
                <a:gd name="adj" fmla="val 4938"/>
              </a:avLst>
            </a:prstGeom>
            <a:solidFill>
              <a:srgbClr val="86E2E0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D5F910F1-7A20-7494-149A-8BE4B2BBFB05}"/>
                </a:ext>
              </a:extLst>
            </p:cNvPr>
            <p:cNvCxnSpPr>
              <a:cxnSpLocks/>
            </p:cNvCxnSpPr>
            <p:nvPr/>
          </p:nvCxnSpPr>
          <p:spPr>
            <a:xfrm>
              <a:off x="1847850" y="2183596"/>
              <a:ext cx="3109796" cy="0"/>
            </a:xfrm>
            <a:prstGeom prst="straightConnector1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377DDE46-06F7-6FDD-CABE-6CEC04ED12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06184" y="2466487"/>
              <a:ext cx="3151462" cy="0"/>
            </a:xfrm>
            <a:prstGeom prst="straightConnector1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218EA2CD-6F22-7BEA-728C-4450C97F7F51}"/>
                </a:ext>
              </a:extLst>
            </p:cNvPr>
            <p:cNvSpPr txBox="1"/>
            <p:nvPr/>
          </p:nvSpPr>
          <p:spPr>
            <a:xfrm>
              <a:off x="2871443" y="1971098"/>
              <a:ext cx="46618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900"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请求</a:t>
              </a:r>
              <a:endParaRPr lang="zh-CN" altLang="en-US" sz="9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7D002221-B861-5C40-46DB-DB04EBC78BF6}"/>
                </a:ext>
              </a:extLst>
            </p:cNvPr>
            <p:cNvSpPr txBox="1"/>
            <p:nvPr/>
          </p:nvSpPr>
          <p:spPr>
            <a:xfrm>
              <a:off x="2877517" y="2475046"/>
              <a:ext cx="41229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900"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响应</a:t>
              </a:r>
              <a:endParaRPr lang="zh-CN" altLang="en-US" sz="9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826EB0EA-6AAA-6704-21E4-4488B811CE70}"/>
                </a:ext>
              </a:extLst>
            </p:cNvPr>
            <p:cNvGrpSpPr/>
            <p:nvPr/>
          </p:nvGrpSpPr>
          <p:grpSpPr>
            <a:xfrm>
              <a:off x="1246066" y="2154107"/>
              <a:ext cx="446647" cy="456319"/>
              <a:chOff x="1288572" y="3466291"/>
              <a:chExt cx="1076475" cy="1086002"/>
            </a:xfrm>
          </p:grpSpPr>
          <p:pic>
            <p:nvPicPr>
              <p:cNvPr id="63" name="图片 62">
                <a:extLst>
                  <a:ext uri="{FF2B5EF4-FFF2-40B4-BE49-F238E27FC236}">
                    <a16:creationId xmlns:a16="http://schemas.microsoft.com/office/drawing/2014/main" id="{129C640F-89BA-FBFF-B6DD-7E8CAC9527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88572" y="3466291"/>
                <a:ext cx="1076475" cy="1086002"/>
              </a:xfrm>
              <a:prstGeom prst="rect">
                <a:avLst/>
              </a:prstGeom>
            </p:spPr>
          </p:pic>
          <p:pic>
            <p:nvPicPr>
              <p:cNvPr id="64" name="图片 63">
                <a:extLst>
                  <a:ext uri="{FF2B5EF4-FFF2-40B4-BE49-F238E27FC236}">
                    <a16:creationId xmlns:a16="http://schemas.microsoft.com/office/drawing/2014/main" id="{AAA12338-2E05-EBB3-F623-5E5ACA7148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02940" y="3784462"/>
                <a:ext cx="447737" cy="447737"/>
              </a:xfrm>
              <a:prstGeom prst="rect">
                <a:avLst/>
              </a:prstGeom>
            </p:spPr>
          </p:pic>
        </p:grpSp>
        <p:sp>
          <p:nvSpPr>
            <p:cNvPr id="54" name="矩形: 圆角 53">
              <a:extLst>
                <a:ext uri="{FF2B5EF4-FFF2-40B4-BE49-F238E27FC236}">
                  <a16:creationId xmlns:a16="http://schemas.microsoft.com/office/drawing/2014/main" id="{A211CB5E-61BD-4C1F-BBFB-B4461E864045}"/>
                </a:ext>
              </a:extLst>
            </p:cNvPr>
            <p:cNvSpPr/>
            <p:nvPr/>
          </p:nvSpPr>
          <p:spPr>
            <a:xfrm>
              <a:off x="5113175" y="1622743"/>
              <a:ext cx="2584527" cy="1387391"/>
            </a:xfrm>
            <a:prstGeom prst="roundRect">
              <a:avLst>
                <a:gd name="adj" fmla="val 3205"/>
              </a:avLst>
            </a:prstGeom>
            <a:noFill/>
            <a:ln w="6350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55" name="矩形: 对角圆角 54">
              <a:extLst>
                <a:ext uri="{FF2B5EF4-FFF2-40B4-BE49-F238E27FC236}">
                  <a16:creationId xmlns:a16="http://schemas.microsoft.com/office/drawing/2014/main" id="{70B9DF81-62D5-2205-4DDD-E73AC4F80C2C}"/>
                </a:ext>
              </a:extLst>
            </p:cNvPr>
            <p:cNvSpPr/>
            <p:nvPr/>
          </p:nvSpPr>
          <p:spPr>
            <a:xfrm>
              <a:off x="5342832" y="1879077"/>
              <a:ext cx="642663" cy="971812"/>
            </a:xfrm>
            <a:prstGeom prst="round2DiagRect">
              <a:avLst>
                <a:gd name="adj1" fmla="val 16636"/>
                <a:gd name="adj2" fmla="val 0"/>
              </a:avLst>
            </a:prstGeom>
            <a:solidFill>
              <a:srgbClr val="FFC91D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统一拦截</a:t>
              </a:r>
              <a:endParaRPr lang="zh-CN" altLang="en-US" sz="100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56" name="矩形: 圆角 55">
              <a:extLst>
                <a:ext uri="{FF2B5EF4-FFF2-40B4-BE49-F238E27FC236}">
                  <a16:creationId xmlns:a16="http://schemas.microsoft.com/office/drawing/2014/main" id="{96AA584F-9C67-8699-1C6C-9B791C263117}"/>
                </a:ext>
              </a:extLst>
            </p:cNvPr>
            <p:cNvSpPr/>
            <p:nvPr/>
          </p:nvSpPr>
          <p:spPr>
            <a:xfrm>
              <a:off x="6169938" y="1703873"/>
              <a:ext cx="961962" cy="250337"/>
            </a:xfrm>
            <a:prstGeom prst="roundRect">
              <a:avLst/>
            </a:prstGeom>
            <a:solidFill>
              <a:srgbClr val="34495E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Login</a:t>
              </a:r>
              <a:endParaRPr lang="zh-CN" altLang="en-US" sz="10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57" name="矩形: 圆角 56">
              <a:extLst>
                <a:ext uri="{FF2B5EF4-FFF2-40B4-BE49-F238E27FC236}">
                  <a16:creationId xmlns:a16="http://schemas.microsoft.com/office/drawing/2014/main" id="{5330389F-5919-709C-06CC-15A030CAB346}"/>
                </a:ext>
              </a:extLst>
            </p:cNvPr>
            <p:cNvSpPr/>
            <p:nvPr/>
          </p:nvSpPr>
          <p:spPr>
            <a:xfrm>
              <a:off x="6169936" y="2029254"/>
              <a:ext cx="961962" cy="250337"/>
            </a:xfrm>
            <a:prstGeom prst="roundRect">
              <a:avLst/>
            </a:prstGeom>
            <a:solidFill>
              <a:srgbClr val="34495E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</a:t>
              </a:r>
              <a:endParaRPr lang="zh-CN" altLang="en-US" sz="10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58" name="矩形: 圆角 57">
              <a:extLst>
                <a:ext uri="{FF2B5EF4-FFF2-40B4-BE49-F238E27FC236}">
                  <a16:creationId xmlns:a16="http://schemas.microsoft.com/office/drawing/2014/main" id="{5FEF7C16-E385-1B98-8333-841F152FE6EB}"/>
                </a:ext>
              </a:extLst>
            </p:cNvPr>
            <p:cNvSpPr/>
            <p:nvPr/>
          </p:nvSpPr>
          <p:spPr>
            <a:xfrm>
              <a:off x="6177401" y="2354635"/>
              <a:ext cx="961962" cy="250337"/>
            </a:xfrm>
            <a:prstGeom prst="roundRect">
              <a:avLst/>
            </a:prstGeom>
            <a:solidFill>
              <a:srgbClr val="34495E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</a:t>
              </a:r>
              <a:endParaRPr lang="zh-CN" altLang="en-US" sz="10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59" name="矩形: 圆角 58">
              <a:extLst>
                <a:ext uri="{FF2B5EF4-FFF2-40B4-BE49-F238E27FC236}">
                  <a16:creationId xmlns:a16="http://schemas.microsoft.com/office/drawing/2014/main" id="{19D8B94C-8B9C-E894-1780-35515A47FA53}"/>
                </a:ext>
              </a:extLst>
            </p:cNvPr>
            <p:cNvSpPr/>
            <p:nvPr/>
          </p:nvSpPr>
          <p:spPr>
            <a:xfrm>
              <a:off x="6169936" y="2680015"/>
              <a:ext cx="961962" cy="250337"/>
            </a:xfrm>
            <a:prstGeom prst="roundRect">
              <a:avLst/>
            </a:prstGeom>
            <a:solidFill>
              <a:srgbClr val="34495E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Report</a:t>
              </a:r>
              <a:endParaRPr lang="zh-CN" altLang="en-US" sz="10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60" name="箭头: 右 59">
              <a:extLst>
                <a:ext uri="{FF2B5EF4-FFF2-40B4-BE49-F238E27FC236}">
                  <a16:creationId xmlns:a16="http://schemas.microsoft.com/office/drawing/2014/main" id="{74BB1400-3BEF-7ABF-3106-A478D9D11237}"/>
                </a:ext>
              </a:extLst>
            </p:cNvPr>
            <p:cNvSpPr/>
            <p:nvPr/>
          </p:nvSpPr>
          <p:spPr>
            <a:xfrm rot="19229268">
              <a:off x="5889167" y="1902758"/>
              <a:ext cx="375727" cy="148356"/>
            </a:xfrm>
            <a:prstGeom prst="rightArrow">
              <a:avLst>
                <a:gd name="adj1" fmla="val 50000"/>
                <a:gd name="adj2" fmla="val 73159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箭头: 右 60">
              <a:extLst>
                <a:ext uri="{FF2B5EF4-FFF2-40B4-BE49-F238E27FC236}">
                  <a16:creationId xmlns:a16="http://schemas.microsoft.com/office/drawing/2014/main" id="{CA65555B-F304-1310-E3E3-502566DD4906}"/>
                </a:ext>
              </a:extLst>
            </p:cNvPr>
            <p:cNvSpPr/>
            <p:nvPr/>
          </p:nvSpPr>
          <p:spPr>
            <a:xfrm rot="2290107">
              <a:off x="5892270" y="2658154"/>
              <a:ext cx="375727" cy="148356"/>
            </a:xfrm>
            <a:prstGeom prst="rightArrow">
              <a:avLst>
                <a:gd name="adj1" fmla="val 50000"/>
                <a:gd name="adj2" fmla="val 73159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箭头: 右 61">
              <a:extLst>
                <a:ext uri="{FF2B5EF4-FFF2-40B4-BE49-F238E27FC236}">
                  <a16:creationId xmlns:a16="http://schemas.microsoft.com/office/drawing/2014/main" id="{4AC9F06B-E589-2C3E-81F8-F4DC002DEE20}"/>
                </a:ext>
              </a:extLst>
            </p:cNvPr>
            <p:cNvSpPr/>
            <p:nvPr/>
          </p:nvSpPr>
          <p:spPr>
            <a:xfrm>
              <a:off x="5935569" y="2292364"/>
              <a:ext cx="331980" cy="157313"/>
            </a:xfrm>
            <a:prstGeom prst="rightArrow">
              <a:avLst>
                <a:gd name="adj1" fmla="val 50000"/>
                <a:gd name="adj2" fmla="val 73159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5" name="文本框 64">
            <a:extLst>
              <a:ext uri="{FF2B5EF4-FFF2-40B4-BE49-F238E27FC236}">
                <a16:creationId xmlns:a16="http://schemas.microsoft.com/office/drawing/2014/main" id="{ABC108D9-8FF6-57A7-19E8-340FA39DE9FB}"/>
              </a:ext>
            </a:extLst>
          </p:cNvPr>
          <p:cNvSpPr txBox="1"/>
          <p:nvPr/>
        </p:nvSpPr>
        <p:spPr>
          <a:xfrm>
            <a:off x="2104285" y="2273978"/>
            <a:ext cx="56601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浏览器</a:t>
            </a:r>
            <a:endParaRPr lang="zh-CN" altLang="en-US" sz="9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7" name="Shape 2426">
            <a:extLst>
              <a:ext uri="{FF2B5EF4-FFF2-40B4-BE49-F238E27FC236}">
                <a16:creationId xmlns:a16="http://schemas.microsoft.com/office/drawing/2014/main" id="{56C78B67-428C-F761-481F-01FBDAED4328}"/>
              </a:ext>
            </a:extLst>
          </p:cNvPr>
          <p:cNvSpPr/>
          <p:nvPr/>
        </p:nvSpPr>
        <p:spPr>
          <a:xfrm>
            <a:off x="7990058" y="1408873"/>
            <a:ext cx="168940" cy="160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FF0000"/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algn="ctr" defTabSz="22851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000" noProof="1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8" name="Shape 2426">
            <a:extLst>
              <a:ext uri="{FF2B5EF4-FFF2-40B4-BE49-F238E27FC236}">
                <a16:creationId xmlns:a16="http://schemas.microsoft.com/office/drawing/2014/main" id="{F9B0334A-EABC-3182-148F-A0CC5433F7DE}"/>
              </a:ext>
            </a:extLst>
          </p:cNvPr>
          <p:cNvSpPr/>
          <p:nvPr/>
        </p:nvSpPr>
        <p:spPr>
          <a:xfrm>
            <a:off x="1955961" y="1913761"/>
            <a:ext cx="168940" cy="160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FF0000"/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algn="ctr" defTabSz="22851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000" noProof="1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AF049ADC-5A38-B1B2-EAA2-CF440C452418}"/>
              </a:ext>
            </a:extLst>
          </p:cNvPr>
          <p:cNvSpPr txBox="1"/>
          <p:nvPr/>
        </p:nvSpPr>
        <p:spPr>
          <a:xfrm>
            <a:off x="4115681" y="2133696"/>
            <a:ext cx="165977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9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(Set-Cookie:name=value)</a:t>
            </a:r>
            <a:endParaRPr lang="zh-CN" altLang="en-US" sz="900" dirty="0">
              <a:solidFill>
                <a:srgbClr val="C0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E55DD647-4B63-E57C-ABF4-549FD83E3E22}"/>
              </a:ext>
            </a:extLst>
          </p:cNvPr>
          <p:cNvSpPr txBox="1"/>
          <p:nvPr/>
        </p:nvSpPr>
        <p:spPr>
          <a:xfrm>
            <a:off x="4108061" y="1630658"/>
            <a:ext cx="142810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9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(Cookie:name=value)</a:t>
            </a:r>
            <a:endParaRPr lang="zh-CN" altLang="en-US" sz="900" dirty="0">
              <a:solidFill>
                <a:srgbClr val="C0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C8CA1A84-16D1-8C53-A1BF-55333F7CFCD6}"/>
              </a:ext>
            </a:extLst>
          </p:cNvPr>
          <p:cNvSpPr txBox="1"/>
          <p:nvPr/>
        </p:nvSpPr>
        <p:spPr>
          <a:xfrm>
            <a:off x="8945462" y="1083728"/>
            <a:ext cx="3147868" cy="1450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200">
                <a:solidFill>
                  <a:srgbClr val="00B05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优点：</a:t>
            </a:r>
            <a:r>
              <a:rPr lang="en-US" altLang="zh-CN" sz="1200">
                <a:solidFill>
                  <a:srgbClr val="00B0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HTTP</a:t>
            </a:r>
            <a:r>
              <a:rPr lang="zh-CN" altLang="en-US" sz="1200">
                <a:solidFill>
                  <a:srgbClr val="00B05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协议中支持的技术</a:t>
            </a:r>
            <a:endParaRPr lang="en-US" altLang="zh-CN" sz="1200">
              <a:solidFill>
                <a:srgbClr val="00B050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171450" indent="-1714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2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缺点：</a:t>
            </a:r>
            <a:endParaRPr lang="en-US" altLang="zh-CN" sz="1200">
              <a:solidFill>
                <a:srgbClr val="C00000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315450" indent="-1714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u"/>
              <a:tabLst>
                <a:tab pos="252000" algn="l"/>
              </a:tabLst>
            </a:pPr>
            <a:r>
              <a:rPr lang="zh-CN" altLang="en-US" sz="12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移动端</a:t>
            </a:r>
            <a:r>
              <a:rPr lang="en-US" altLang="zh-CN" sz="12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APP</a:t>
            </a:r>
            <a:r>
              <a:rPr lang="zh-CN" altLang="en-US" sz="12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无法使用</a:t>
            </a:r>
            <a:r>
              <a:rPr lang="en-US" altLang="zh-CN" sz="12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Cookie</a:t>
            </a:r>
          </a:p>
          <a:p>
            <a:pPr marL="315450" indent="-1714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u"/>
              <a:tabLst>
                <a:tab pos="252000" algn="l"/>
              </a:tabLst>
            </a:pPr>
            <a:r>
              <a:rPr lang="zh-CN" altLang="en-US" sz="12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不安全，用户可以自己禁用</a:t>
            </a:r>
            <a:r>
              <a:rPr lang="en-US" altLang="zh-CN" sz="12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Cookie</a:t>
            </a:r>
            <a:endParaRPr lang="zh-CN" altLang="en-US" sz="1200">
              <a:solidFill>
                <a:srgbClr val="C0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15450" indent="-1714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u"/>
              <a:tabLst>
                <a:tab pos="252000" algn="l"/>
              </a:tabLst>
            </a:pPr>
            <a:r>
              <a:rPr lang="en-US" altLang="zh-CN" sz="12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 Cookie</a:t>
            </a:r>
            <a:r>
              <a:rPr lang="zh-CN" altLang="en-US" sz="12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不能跨域</a:t>
            </a:r>
            <a:endParaRPr lang="en-US" altLang="zh-CN" sz="1200">
              <a:solidFill>
                <a:srgbClr val="C00000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72" name="Shape 2426">
            <a:extLst>
              <a:ext uri="{FF2B5EF4-FFF2-40B4-BE49-F238E27FC236}">
                <a16:creationId xmlns:a16="http://schemas.microsoft.com/office/drawing/2014/main" id="{C828D1F2-10A4-4B75-B2E4-87E7AAB14481}"/>
              </a:ext>
            </a:extLst>
          </p:cNvPr>
          <p:cNvSpPr/>
          <p:nvPr/>
        </p:nvSpPr>
        <p:spPr>
          <a:xfrm>
            <a:off x="3708841" y="1593107"/>
            <a:ext cx="168940" cy="160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FF0000"/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algn="ctr" defTabSz="22851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000" noProof="1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3" name="Shape 2426">
            <a:extLst>
              <a:ext uri="{FF2B5EF4-FFF2-40B4-BE49-F238E27FC236}">
                <a16:creationId xmlns:a16="http://schemas.microsoft.com/office/drawing/2014/main" id="{F5577660-04B6-0C73-1313-C65CF7355FA1}"/>
              </a:ext>
            </a:extLst>
          </p:cNvPr>
          <p:cNvSpPr/>
          <p:nvPr/>
        </p:nvSpPr>
        <p:spPr>
          <a:xfrm>
            <a:off x="3695488" y="2096491"/>
            <a:ext cx="168940" cy="160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FF0000"/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algn="ctr" defTabSz="22851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000" noProof="1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D037600-24F3-5229-1C5C-143AE7458DB3}"/>
              </a:ext>
            </a:extLst>
          </p:cNvPr>
          <p:cNvSpPr txBox="1"/>
          <p:nvPr/>
        </p:nvSpPr>
        <p:spPr>
          <a:xfrm>
            <a:off x="1821544" y="2164505"/>
            <a:ext cx="7909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9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name=value</a:t>
            </a:r>
            <a:endParaRPr lang="zh-CN" altLang="en-US" sz="900" dirty="0">
              <a:solidFill>
                <a:srgbClr val="C0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7D54E8EA-C1F9-7AF6-FCCF-3FEFE8EFC4A0}"/>
              </a:ext>
            </a:extLst>
          </p:cNvPr>
          <p:cNvSpPr/>
          <p:nvPr/>
        </p:nvSpPr>
        <p:spPr>
          <a:xfrm>
            <a:off x="478214" y="1658015"/>
            <a:ext cx="1182756" cy="454596"/>
          </a:xfrm>
          <a:prstGeom prst="roundRect">
            <a:avLst/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5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方案一</a:t>
            </a:r>
            <a:r>
              <a:rPr lang="en-US" altLang="zh-CN" sz="105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en-US" altLang="zh-CN" sz="105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Cookie</a:t>
            </a:r>
            <a:r>
              <a:rPr lang="en-US" altLang="zh-CN" sz="105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zh-CN" altLang="en-US" sz="105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92AA91F5-B828-BB9A-874C-2AFBDBE37940}"/>
              </a:ext>
            </a:extLst>
          </p:cNvPr>
          <p:cNvSpPr/>
          <p:nvPr/>
        </p:nvSpPr>
        <p:spPr>
          <a:xfrm>
            <a:off x="478214" y="3363130"/>
            <a:ext cx="1182756" cy="454596"/>
          </a:xfrm>
          <a:prstGeom prst="roundRect">
            <a:avLst/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5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方案二</a:t>
            </a:r>
            <a:r>
              <a:rPr lang="en-US" altLang="zh-CN" sz="105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(Session)</a:t>
            </a:r>
            <a:endParaRPr lang="zh-CN" altLang="en-US" sz="105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324F4698-7684-6236-B3B8-1BAF7FB57C0B}"/>
              </a:ext>
            </a:extLst>
          </p:cNvPr>
          <p:cNvSpPr/>
          <p:nvPr/>
        </p:nvSpPr>
        <p:spPr>
          <a:xfrm>
            <a:off x="0" y="946519"/>
            <a:ext cx="12192000" cy="1838489"/>
          </a:xfrm>
          <a:prstGeom prst="rect">
            <a:avLst/>
          </a:prstGeom>
          <a:solidFill>
            <a:srgbClr val="0D0D0D">
              <a:alpha val="4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矩形: 对角圆角 2">
            <a:extLst>
              <a:ext uri="{FF2B5EF4-FFF2-40B4-BE49-F238E27FC236}">
                <a16:creationId xmlns:a16="http://schemas.microsoft.com/office/drawing/2014/main" id="{79EE5B09-8DE7-A14D-2071-1ECD5781874E}"/>
              </a:ext>
            </a:extLst>
          </p:cNvPr>
          <p:cNvSpPr/>
          <p:nvPr/>
        </p:nvSpPr>
        <p:spPr>
          <a:xfrm>
            <a:off x="6390883" y="4923444"/>
            <a:ext cx="565195" cy="256627"/>
          </a:xfrm>
          <a:prstGeom prst="round2DiagRect">
            <a:avLst>
              <a:gd name="adj1" fmla="val 50000"/>
              <a:gd name="adj2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Cookie</a:t>
            </a:r>
          </a:p>
          <a:p>
            <a:pPr algn="ctr"/>
            <a:r>
              <a:rPr lang="en-US" altLang="zh-CN" sz="50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(JSESSIONID=1)</a:t>
            </a:r>
            <a:endParaRPr lang="zh-CN" altLang="en-US" sz="500">
              <a:solidFill>
                <a:schemeClr val="tx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8" name="矩形: 对角圆角 77">
            <a:extLst>
              <a:ext uri="{FF2B5EF4-FFF2-40B4-BE49-F238E27FC236}">
                <a16:creationId xmlns:a16="http://schemas.microsoft.com/office/drawing/2014/main" id="{F2DE4A22-F377-56B7-167F-AA422B702CC7}"/>
              </a:ext>
            </a:extLst>
          </p:cNvPr>
          <p:cNvSpPr/>
          <p:nvPr/>
        </p:nvSpPr>
        <p:spPr>
          <a:xfrm>
            <a:off x="6393002" y="4916373"/>
            <a:ext cx="589241" cy="256627"/>
          </a:xfrm>
          <a:prstGeom prst="round2DiagRect">
            <a:avLst>
              <a:gd name="adj1" fmla="val 50000"/>
              <a:gd name="adj2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>
                <a:solidFill>
                  <a:schemeClr val="bg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Session(1)</a:t>
            </a:r>
            <a:endParaRPr lang="zh-CN" altLang="en-US" sz="400">
              <a:solidFill>
                <a:schemeClr val="bg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DC8242D8-5A92-CD41-0F64-492274FEC8AC}"/>
              </a:ext>
            </a:extLst>
          </p:cNvPr>
          <p:cNvGrpSpPr/>
          <p:nvPr/>
        </p:nvGrpSpPr>
        <p:grpSpPr>
          <a:xfrm>
            <a:off x="1654998" y="5632428"/>
            <a:ext cx="377352" cy="380691"/>
            <a:chOff x="1288572" y="3466291"/>
            <a:chExt cx="1076475" cy="1086002"/>
          </a:xfrm>
        </p:grpSpPr>
        <p:pic>
          <p:nvPicPr>
            <p:cNvPr id="80" name="图片 79">
              <a:extLst>
                <a:ext uri="{FF2B5EF4-FFF2-40B4-BE49-F238E27FC236}">
                  <a16:creationId xmlns:a16="http://schemas.microsoft.com/office/drawing/2014/main" id="{E0C0BB34-991A-1AC7-109A-06985A7047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88572" y="3466291"/>
              <a:ext cx="1076475" cy="1086002"/>
            </a:xfrm>
            <a:prstGeom prst="rect">
              <a:avLst/>
            </a:prstGeom>
          </p:spPr>
        </p:pic>
        <p:pic>
          <p:nvPicPr>
            <p:cNvPr id="81" name="图片 80">
              <a:extLst>
                <a:ext uri="{FF2B5EF4-FFF2-40B4-BE49-F238E27FC236}">
                  <a16:creationId xmlns:a16="http://schemas.microsoft.com/office/drawing/2014/main" id="{776387FA-A4AE-B3E3-CE9D-431663089D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02940" y="3784462"/>
              <a:ext cx="447737" cy="447737"/>
            </a:xfrm>
            <a:prstGeom prst="rect">
              <a:avLst/>
            </a:prstGeom>
          </p:spPr>
        </p:pic>
      </p:grpSp>
      <p:cxnSp>
        <p:nvCxnSpPr>
          <p:cNvPr id="82" name="!!直接箭头连接符 101">
            <a:extLst>
              <a:ext uri="{FF2B5EF4-FFF2-40B4-BE49-F238E27FC236}">
                <a16:creationId xmlns:a16="http://schemas.microsoft.com/office/drawing/2014/main" id="{C4D73029-8C11-7894-DEF8-F71D8AA48DDC}"/>
              </a:ext>
            </a:extLst>
          </p:cNvPr>
          <p:cNvCxnSpPr>
            <a:cxnSpLocks/>
          </p:cNvCxnSpPr>
          <p:nvPr/>
        </p:nvCxnSpPr>
        <p:spPr>
          <a:xfrm>
            <a:off x="4523774" y="5822774"/>
            <a:ext cx="1275334" cy="0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70">
            <a:extLst>
              <a:ext uri="{FF2B5EF4-FFF2-40B4-BE49-F238E27FC236}">
                <a16:creationId xmlns:a16="http://schemas.microsoft.com/office/drawing/2014/main" id="{13E87480-1F50-8B51-407C-EC48AA9AAD1B}"/>
              </a:ext>
            </a:extLst>
          </p:cNvPr>
          <p:cNvGrpSpPr/>
          <p:nvPr/>
        </p:nvGrpSpPr>
        <p:grpSpPr>
          <a:xfrm>
            <a:off x="5933228" y="4908828"/>
            <a:ext cx="373393" cy="517186"/>
            <a:chOff x="8628734" y="3737864"/>
            <a:chExt cx="1092207" cy="1479634"/>
          </a:xfrm>
        </p:grpSpPr>
        <p:pic>
          <p:nvPicPr>
            <p:cNvPr id="84" name="图片 83">
              <a:extLst>
                <a:ext uri="{FF2B5EF4-FFF2-40B4-BE49-F238E27FC236}">
                  <a16:creationId xmlns:a16="http://schemas.microsoft.com/office/drawing/2014/main" id="{F2EF346C-6E45-2F11-3C36-F5C741ABB3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28734" y="3737864"/>
              <a:ext cx="1072597" cy="1479634"/>
            </a:xfrm>
            <a:prstGeom prst="rect">
              <a:avLst/>
            </a:prstGeom>
          </p:spPr>
        </p:pic>
        <p:pic>
          <p:nvPicPr>
            <p:cNvPr id="85" name="图片 84">
              <a:extLst>
                <a:ext uri="{FF2B5EF4-FFF2-40B4-BE49-F238E27FC236}">
                  <a16:creationId xmlns:a16="http://schemas.microsoft.com/office/drawing/2014/main" id="{BB2839A4-6D11-7F2B-0F85-B23D0FD5D90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35466" y="4698597"/>
              <a:ext cx="685475" cy="518901"/>
            </a:xfrm>
            <a:prstGeom prst="rect">
              <a:avLst/>
            </a:prstGeom>
          </p:spPr>
        </p:pic>
      </p:grpSp>
      <p:grpSp>
        <p:nvGrpSpPr>
          <p:cNvPr id="86" name="组合 54">
            <a:extLst>
              <a:ext uri="{FF2B5EF4-FFF2-40B4-BE49-F238E27FC236}">
                <a16:creationId xmlns:a16="http://schemas.microsoft.com/office/drawing/2014/main" id="{7CE87B44-0968-21EC-6983-64748F4DA78C}"/>
              </a:ext>
            </a:extLst>
          </p:cNvPr>
          <p:cNvGrpSpPr/>
          <p:nvPr/>
        </p:nvGrpSpPr>
        <p:grpSpPr>
          <a:xfrm>
            <a:off x="5933230" y="6043559"/>
            <a:ext cx="373391" cy="517186"/>
            <a:chOff x="8628734" y="3737864"/>
            <a:chExt cx="1092207" cy="1479634"/>
          </a:xfrm>
        </p:grpSpPr>
        <p:pic>
          <p:nvPicPr>
            <p:cNvPr id="87" name="图片 86">
              <a:extLst>
                <a:ext uri="{FF2B5EF4-FFF2-40B4-BE49-F238E27FC236}">
                  <a16:creationId xmlns:a16="http://schemas.microsoft.com/office/drawing/2014/main" id="{77313F3C-E715-C16E-384F-5713016EB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28734" y="3737864"/>
              <a:ext cx="1072597" cy="1479634"/>
            </a:xfrm>
            <a:prstGeom prst="rect">
              <a:avLst/>
            </a:prstGeom>
          </p:spPr>
        </p:pic>
        <p:pic>
          <p:nvPicPr>
            <p:cNvPr id="88" name="图片 87">
              <a:extLst>
                <a:ext uri="{FF2B5EF4-FFF2-40B4-BE49-F238E27FC236}">
                  <a16:creationId xmlns:a16="http://schemas.microsoft.com/office/drawing/2014/main" id="{65A499E7-9D03-E1F1-D784-653606C8A51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35466" y="4698597"/>
              <a:ext cx="685475" cy="518901"/>
            </a:xfrm>
            <a:prstGeom prst="rect">
              <a:avLst/>
            </a:prstGeom>
          </p:spPr>
        </p:pic>
      </p:grp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E3BB1130-1EAB-BDC7-1D71-3FFD840A8CCB}"/>
              </a:ext>
            </a:extLst>
          </p:cNvPr>
          <p:cNvGrpSpPr/>
          <p:nvPr/>
        </p:nvGrpSpPr>
        <p:grpSpPr>
          <a:xfrm>
            <a:off x="5929268" y="5477971"/>
            <a:ext cx="377353" cy="517187"/>
            <a:chOff x="8628734" y="3737864"/>
            <a:chExt cx="1092207" cy="1479634"/>
          </a:xfrm>
        </p:grpSpPr>
        <p:pic>
          <p:nvPicPr>
            <p:cNvPr id="90" name="图片 89">
              <a:extLst>
                <a:ext uri="{FF2B5EF4-FFF2-40B4-BE49-F238E27FC236}">
                  <a16:creationId xmlns:a16="http://schemas.microsoft.com/office/drawing/2014/main" id="{242CE0D0-7603-66CD-543E-3C34F78B77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28734" y="3737864"/>
              <a:ext cx="1072597" cy="1479634"/>
            </a:xfrm>
            <a:prstGeom prst="rect">
              <a:avLst/>
            </a:prstGeom>
          </p:spPr>
        </p:pic>
        <p:pic>
          <p:nvPicPr>
            <p:cNvPr id="91" name="图片 90">
              <a:extLst>
                <a:ext uri="{FF2B5EF4-FFF2-40B4-BE49-F238E27FC236}">
                  <a16:creationId xmlns:a16="http://schemas.microsoft.com/office/drawing/2014/main" id="{3DA5B8BC-5C31-3227-70CE-B9E9086B9D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35466" y="4698597"/>
              <a:ext cx="685475" cy="518901"/>
            </a:xfrm>
            <a:prstGeom prst="rect">
              <a:avLst/>
            </a:prstGeom>
          </p:spPr>
        </p:pic>
      </p:grpSp>
      <p:sp>
        <p:nvSpPr>
          <p:cNvPr id="92" name="流程图: 文档 91">
            <a:extLst>
              <a:ext uri="{FF2B5EF4-FFF2-40B4-BE49-F238E27FC236}">
                <a16:creationId xmlns:a16="http://schemas.microsoft.com/office/drawing/2014/main" id="{2BF37B89-0DA0-5905-59F3-925241D748B4}"/>
              </a:ext>
            </a:extLst>
          </p:cNvPr>
          <p:cNvSpPr/>
          <p:nvPr/>
        </p:nvSpPr>
        <p:spPr>
          <a:xfrm>
            <a:off x="3703343" y="5564181"/>
            <a:ext cx="725398" cy="517186"/>
          </a:xfrm>
          <a:prstGeom prst="flowChartDocumen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服务器</a:t>
            </a:r>
            <a:endParaRPr lang="en-US" altLang="zh-CN" sz="11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en-US" altLang="zh-CN" sz="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负载均衡</a:t>
            </a:r>
            <a:r>
              <a:rPr lang="en-US" altLang="zh-CN" sz="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zh-CN" altLang="en-US" sz="10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93" name="!!直接箭头连接符 101">
            <a:extLst>
              <a:ext uri="{FF2B5EF4-FFF2-40B4-BE49-F238E27FC236}">
                <a16:creationId xmlns:a16="http://schemas.microsoft.com/office/drawing/2014/main" id="{C1C98690-0E51-ADA3-9596-0B1D019AF2D5}"/>
              </a:ext>
            </a:extLst>
          </p:cNvPr>
          <p:cNvCxnSpPr>
            <a:cxnSpLocks/>
            <a:stCxn id="80" idx="3"/>
          </p:cNvCxnSpPr>
          <p:nvPr/>
        </p:nvCxnSpPr>
        <p:spPr>
          <a:xfrm>
            <a:off x="2032350" y="5822774"/>
            <a:ext cx="1629857" cy="0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矩形: 对角圆角 93">
            <a:extLst>
              <a:ext uri="{FF2B5EF4-FFF2-40B4-BE49-F238E27FC236}">
                <a16:creationId xmlns:a16="http://schemas.microsoft.com/office/drawing/2014/main" id="{921F618C-DF2A-94F5-7BA9-FE8C8BED19D4}"/>
              </a:ext>
            </a:extLst>
          </p:cNvPr>
          <p:cNvSpPr/>
          <p:nvPr/>
        </p:nvSpPr>
        <p:spPr>
          <a:xfrm>
            <a:off x="1057528" y="5670958"/>
            <a:ext cx="629891" cy="297135"/>
          </a:xfrm>
          <a:prstGeom prst="round2DiagRect">
            <a:avLst>
              <a:gd name="adj1" fmla="val 50000"/>
              <a:gd name="adj2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Cookie</a:t>
            </a:r>
          </a:p>
          <a:p>
            <a:pPr algn="ctr"/>
            <a:r>
              <a:rPr lang="en-US" altLang="zh-CN" sz="50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(JSESSIONID=1)</a:t>
            </a:r>
            <a:endParaRPr lang="zh-CN" altLang="en-US" sz="500">
              <a:solidFill>
                <a:schemeClr val="tx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19570B9B-F64F-4E88-4924-85C2A3E50806}"/>
              </a:ext>
            </a:extLst>
          </p:cNvPr>
          <p:cNvGrpSpPr/>
          <p:nvPr/>
        </p:nvGrpSpPr>
        <p:grpSpPr>
          <a:xfrm>
            <a:off x="6632244" y="5473398"/>
            <a:ext cx="796922" cy="766709"/>
            <a:chOff x="8881367" y="2551357"/>
            <a:chExt cx="1778908" cy="1711465"/>
          </a:xfrm>
        </p:grpSpPr>
        <p:pic>
          <p:nvPicPr>
            <p:cNvPr id="96" name="图片 95">
              <a:extLst>
                <a:ext uri="{FF2B5EF4-FFF2-40B4-BE49-F238E27FC236}">
                  <a16:creationId xmlns:a16="http://schemas.microsoft.com/office/drawing/2014/main" id="{DF3F9540-293E-E7B4-0E9A-82970641B5A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81367" y="2551357"/>
              <a:ext cx="1778363" cy="1711465"/>
            </a:xfrm>
            <a:prstGeom prst="rect">
              <a:avLst/>
            </a:prstGeom>
          </p:spPr>
        </p:pic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AAE77237-988D-F955-AC70-5440B9049965}"/>
                </a:ext>
              </a:extLst>
            </p:cNvPr>
            <p:cNvSpPr/>
            <p:nvPr/>
          </p:nvSpPr>
          <p:spPr>
            <a:xfrm>
              <a:off x="8881912" y="2551357"/>
              <a:ext cx="1778363" cy="1711465"/>
            </a:xfrm>
            <a:prstGeom prst="rect">
              <a:avLst/>
            </a:prstGeom>
            <a:solidFill>
              <a:srgbClr val="FFFF79">
                <a:alpha val="12941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8" name="文本框 97">
            <a:extLst>
              <a:ext uri="{FF2B5EF4-FFF2-40B4-BE49-F238E27FC236}">
                <a16:creationId xmlns:a16="http://schemas.microsoft.com/office/drawing/2014/main" id="{CA7E475A-4AC6-C36B-23F3-B5BE67E3A598}"/>
              </a:ext>
            </a:extLst>
          </p:cNvPr>
          <p:cNvSpPr txBox="1"/>
          <p:nvPr/>
        </p:nvSpPr>
        <p:spPr>
          <a:xfrm>
            <a:off x="8942055" y="2837322"/>
            <a:ext cx="3337978" cy="1173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200">
                <a:solidFill>
                  <a:srgbClr val="00B05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优点：存储在服务端，安全</a:t>
            </a:r>
            <a:endParaRPr lang="en-US" altLang="zh-CN" sz="1200">
              <a:solidFill>
                <a:srgbClr val="00B05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71450" indent="-1714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20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缺点：</a:t>
            </a:r>
            <a:endParaRPr lang="en-US" altLang="zh-CN" sz="1200">
              <a:solidFill>
                <a:srgbClr val="C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15450" indent="-1714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u"/>
              <a:tabLst>
                <a:tab pos="252000" algn="l"/>
              </a:tabLst>
            </a:pPr>
            <a:r>
              <a:rPr lang="zh-CN" altLang="en-US" sz="120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服务器集群环境下无法直接使用</a:t>
            </a:r>
            <a:r>
              <a:rPr lang="en-US" altLang="zh-CN" sz="120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Session</a:t>
            </a:r>
          </a:p>
          <a:p>
            <a:pPr marL="315450" indent="-171450">
              <a:lnSpc>
                <a:spcPct val="150000"/>
              </a:lnSpc>
              <a:buFont typeface="Wingdings" panose="05000000000000000000" pitchFamily="2" charset="2"/>
              <a:buChar char="u"/>
              <a:tabLst>
                <a:tab pos="252000" algn="l"/>
              </a:tabLst>
            </a:pPr>
            <a:r>
              <a:rPr lang="en-US" altLang="zh-CN" sz="120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Cookie</a:t>
            </a:r>
            <a:r>
              <a:rPr lang="zh-CN" altLang="en-US" sz="120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的缺点</a:t>
            </a:r>
            <a:endParaRPr lang="en-US" altLang="zh-CN" sz="1200">
              <a:solidFill>
                <a:srgbClr val="C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03124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4.07407E-6 L -0.43724 0.1125 " pathEditMode="relative" rAng="0" ptsTypes="AA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862" y="5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778E-17 3.7037E-7 L 0.40781 -0.00741 " pathEditMode="relative" rAng="0" ptsTypes="AA">
                                      <p:cBhvr>
                                        <p:cTn id="20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391" y="-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78" grpId="0" animBg="1"/>
      <p:bldP spid="94" grpId="0" animBg="1"/>
      <p:bldP spid="94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56E581-ABC6-3B87-299B-D6A14D4B8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>
                <a:latin typeface="Fira Code" panose="020B0809050000020004" pitchFamily="49" charset="0"/>
              </a:rPr>
              <a:t>Session</a:t>
            </a:r>
            <a:r>
              <a:rPr lang="zh-CN" altLang="en-US">
                <a:latin typeface="Fira Code" panose="020B0809050000020004" pitchFamily="49" charset="0"/>
              </a:rPr>
              <a:t>会话跟踪方案的原理 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?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Session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的底层是基于</a:t>
            </a:r>
            <a:r>
              <a:rPr lang="en-US" altLang="zh-CN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Cookie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</a:t>
            </a:r>
            <a:r>
              <a:rPr lang="en-US" altLang="zh-CN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Set-Cookie,Cookie)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Session</a:t>
            </a:r>
            <a:r>
              <a:rPr lang="zh-CN" altLang="en-US">
                <a:latin typeface="Fira Code" panose="020B0809050000020004" pitchFamily="49" charset="0"/>
              </a:rPr>
              <a:t>会话跟踪方案的优缺点 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?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优点：存储在服务端，安全</a:t>
            </a:r>
            <a:endParaRPr lang="en-US" altLang="zh-CN" sz="14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缺点：</a:t>
            </a:r>
            <a:endParaRPr lang="en-US" altLang="zh-CN" sz="14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900000" lvl="2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1467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服务器集群环境下无法直接使用</a:t>
            </a:r>
            <a:r>
              <a:rPr lang="en-US" altLang="zh-CN" sz="1467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Session</a:t>
            </a:r>
            <a:endParaRPr lang="en-US" altLang="zh-CN" sz="1467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900000" lvl="2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1467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Cookie</a:t>
            </a:r>
            <a:r>
              <a:rPr lang="zh-CN" altLang="en-US" sz="1467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的缺点</a:t>
            </a:r>
            <a:endParaRPr lang="zh-CN" altLang="en-US">
              <a:latin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2902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B1D0E3-5A9B-CE52-99DB-32F050ED8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会话跟踪方案对比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EA30CB1-4D30-5807-ECF3-3E861D5871C8}"/>
              </a:ext>
            </a:extLst>
          </p:cNvPr>
          <p:cNvSpPr txBox="1"/>
          <p:nvPr/>
        </p:nvSpPr>
        <p:spPr>
          <a:xfrm>
            <a:off x="8963575" y="5050350"/>
            <a:ext cx="2848622" cy="1451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200">
                <a:solidFill>
                  <a:srgbClr val="00B05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优点：</a:t>
            </a:r>
            <a:endParaRPr lang="en-US" altLang="zh-CN" sz="1200">
              <a:solidFill>
                <a:srgbClr val="00B05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15450" lvl="1" indent="-171450">
              <a:lnSpc>
                <a:spcPct val="150000"/>
              </a:lnSpc>
              <a:buFont typeface="Wingdings" panose="05000000000000000000" pitchFamily="2" charset="2"/>
              <a:buChar char="u"/>
              <a:tabLst>
                <a:tab pos="252000" algn="l"/>
              </a:tabLst>
            </a:pPr>
            <a:r>
              <a:rPr lang="zh-CN" altLang="en-US" sz="1200">
                <a:solidFill>
                  <a:srgbClr val="00B05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支持</a:t>
            </a:r>
            <a:r>
              <a:rPr lang="en-US" altLang="zh-CN" sz="1200">
                <a:solidFill>
                  <a:srgbClr val="00B05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PC</a:t>
            </a:r>
            <a:r>
              <a:rPr lang="zh-CN" altLang="en-US" sz="1200">
                <a:solidFill>
                  <a:srgbClr val="00B05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端、移动端</a:t>
            </a:r>
            <a:endParaRPr lang="en-US" altLang="zh-CN" sz="1200">
              <a:solidFill>
                <a:srgbClr val="00B05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15450" lvl="1" indent="-171450">
              <a:lnSpc>
                <a:spcPct val="150000"/>
              </a:lnSpc>
              <a:buFont typeface="Wingdings" panose="05000000000000000000" pitchFamily="2" charset="2"/>
              <a:buChar char="u"/>
              <a:tabLst>
                <a:tab pos="252000" algn="l"/>
              </a:tabLst>
            </a:pPr>
            <a:r>
              <a:rPr lang="en-US" altLang="zh-CN" sz="1200">
                <a:solidFill>
                  <a:srgbClr val="00B05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200">
                <a:solidFill>
                  <a:srgbClr val="00B05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解决集群环境下的认证问题</a:t>
            </a:r>
            <a:endParaRPr lang="en-US" altLang="zh-CN" sz="1200">
              <a:solidFill>
                <a:srgbClr val="00B05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15450" lvl="1" indent="-171450">
              <a:lnSpc>
                <a:spcPct val="150000"/>
              </a:lnSpc>
              <a:buFont typeface="Wingdings" panose="05000000000000000000" pitchFamily="2" charset="2"/>
              <a:buChar char="u"/>
              <a:tabLst>
                <a:tab pos="252000" algn="l"/>
              </a:tabLst>
            </a:pPr>
            <a:r>
              <a:rPr lang="zh-CN" altLang="en-US" sz="1200">
                <a:solidFill>
                  <a:srgbClr val="00B05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减轻服务器端存储压力</a:t>
            </a:r>
            <a:endParaRPr lang="en-US" altLang="zh-CN" sz="1200">
              <a:solidFill>
                <a:srgbClr val="00B05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71450" indent="-1714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20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缺点：需要自己实现</a:t>
            </a:r>
            <a:endParaRPr lang="en-US" altLang="zh-CN" sz="1200">
              <a:solidFill>
                <a:srgbClr val="C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20C888C-985B-1748-6922-22FD47DD64B3}"/>
              </a:ext>
            </a:extLst>
          </p:cNvPr>
          <p:cNvSpPr/>
          <p:nvPr/>
        </p:nvSpPr>
        <p:spPr>
          <a:xfrm>
            <a:off x="1733084" y="5014430"/>
            <a:ext cx="7108612" cy="1690061"/>
          </a:xfrm>
          <a:prstGeom prst="roundRect">
            <a:avLst>
              <a:gd name="adj" fmla="val 3016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>
              <a:solidFill>
                <a:schemeClr val="tx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6CF5FC2-3ADD-7A66-07BA-F35060663BCB}"/>
              </a:ext>
            </a:extLst>
          </p:cNvPr>
          <p:cNvSpPr/>
          <p:nvPr/>
        </p:nvSpPr>
        <p:spPr>
          <a:xfrm>
            <a:off x="5959902" y="5092154"/>
            <a:ext cx="2740056" cy="1552273"/>
          </a:xfrm>
          <a:prstGeom prst="roundRect">
            <a:avLst>
              <a:gd name="adj" fmla="val 4938"/>
            </a:avLst>
          </a:prstGeom>
          <a:solidFill>
            <a:srgbClr val="86E2E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>
              <a:solidFill>
                <a:schemeClr val="tx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293FE1DD-D6BC-BE77-486D-95A4FC7BA16F}"/>
              </a:ext>
            </a:extLst>
          </p:cNvPr>
          <p:cNvCxnSpPr>
            <a:cxnSpLocks/>
          </p:cNvCxnSpPr>
          <p:nvPr/>
        </p:nvCxnSpPr>
        <p:spPr>
          <a:xfrm>
            <a:off x="2767677" y="5730204"/>
            <a:ext cx="3109796" cy="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1E07BED8-5CBE-B832-77E0-3869DCC62CE9}"/>
              </a:ext>
            </a:extLst>
          </p:cNvPr>
          <p:cNvCxnSpPr>
            <a:cxnSpLocks/>
          </p:cNvCxnSpPr>
          <p:nvPr/>
        </p:nvCxnSpPr>
        <p:spPr>
          <a:xfrm flipH="1">
            <a:off x="2726011" y="6013095"/>
            <a:ext cx="3151462" cy="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!!文本框 112">
            <a:extLst>
              <a:ext uri="{FF2B5EF4-FFF2-40B4-BE49-F238E27FC236}">
                <a16:creationId xmlns:a16="http://schemas.microsoft.com/office/drawing/2014/main" id="{A12F967C-F57C-3A09-7526-35A411C16E75}"/>
              </a:ext>
            </a:extLst>
          </p:cNvPr>
          <p:cNvSpPr txBox="1"/>
          <p:nvPr/>
        </p:nvSpPr>
        <p:spPr>
          <a:xfrm>
            <a:off x="2104285" y="6214864"/>
            <a:ext cx="56601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浏览器</a:t>
            </a:r>
            <a:endParaRPr lang="zh-CN" altLang="en-US" sz="9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B7C3005-E4BC-3161-CD5E-9108CE9010A5}"/>
              </a:ext>
            </a:extLst>
          </p:cNvPr>
          <p:cNvSpPr txBox="1"/>
          <p:nvPr/>
        </p:nvSpPr>
        <p:spPr>
          <a:xfrm>
            <a:off x="4072623" y="5517706"/>
            <a:ext cx="4661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请求</a:t>
            </a:r>
            <a:endParaRPr lang="zh-CN" altLang="en-US" sz="9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40B3818-38C8-8D36-1142-8BE22646D211}"/>
              </a:ext>
            </a:extLst>
          </p:cNvPr>
          <p:cNvSpPr txBox="1"/>
          <p:nvPr/>
        </p:nvSpPr>
        <p:spPr>
          <a:xfrm>
            <a:off x="4078697" y="6021654"/>
            <a:ext cx="4122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响应</a:t>
            </a:r>
            <a:endParaRPr lang="zh-CN" altLang="en-US" sz="9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4F36D075-335B-F04A-B485-7351667FBF4D}"/>
              </a:ext>
            </a:extLst>
          </p:cNvPr>
          <p:cNvGrpSpPr/>
          <p:nvPr/>
        </p:nvGrpSpPr>
        <p:grpSpPr>
          <a:xfrm>
            <a:off x="2182177" y="5700715"/>
            <a:ext cx="470734" cy="442933"/>
            <a:chOff x="1288572" y="3466291"/>
            <a:chExt cx="1076475" cy="1086002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018D1903-1A77-ACE8-006F-176B345E16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88572" y="3466291"/>
              <a:ext cx="1076475" cy="1086002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57021DDC-EB93-5E4A-AF42-D36E520011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02940" y="3784462"/>
              <a:ext cx="447737" cy="447737"/>
            </a:xfrm>
            <a:prstGeom prst="rect">
              <a:avLst/>
            </a:prstGeom>
          </p:spPr>
        </p:pic>
      </p:grp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DC8BA8B-5BD8-FC37-050C-2EA32750B96C}"/>
              </a:ext>
            </a:extLst>
          </p:cNvPr>
          <p:cNvSpPr/>
          <p:nvPr/>
        </p:nvSpPr>
        <p:spPr>
          <a:xfrm>
            <a:off x="6033002" y="5169351"/>
            <a:ext cx="2584527" cy="1387391"/>
          </a:xfrm>
          <a:prstGeom prst="roundRect">
            <a:avLst>
              <a:gd name="adj" fmla="val 3205"/>
            </a:avLst>
          </a:prstGeom>
          <a:noFill/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>
              <a:solidFill>
                <a:schemeClr val="tx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矩形: 对角圆角 14">
            <a:extLst>
              <a:ext uri="{FF2B5EF4-FFF2-40B4-BE49-F238E27FC236}">
                <a16:creationId xmlns:a16="http://schemas.microsoft.com/office/drawing/2014/main" id="{D48C6EA9-6257-2BD4-42D1-04A909E2D051}"/>
              </a:ext>
            </a:extLst>
          </p:cNvPr>
          <p:cNvSpPr/>
          <p:nvPr/>
        </p:nvSpPr>
        <p:spPr>
          <a:xfrm>
            <a:off x="6257823" y="5415402"/>
            <a:ext cx="642663" cy="971812"/>
          </a:xfrm>
          <a:prstGeom prst="round2DiagRect">
            <a:avLst>
              <a:gd name="adj1" fmla="val 16636"/>
              <a:gd name="adj2" fmla="val 0"/>
            </a:avLst>
          </a:prstGeom>
          <a:solidFill>
            <a:srgbClr val="FFC91D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统一拦截</a:t>
            </a:r>
            <a:endParaRPr lang="zh-CN" altLang="en-US" sz="1000">
              <a:solidFill>
                <a:schemeClr val="tx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7" name="图形 16" descr="雇员徽章 轮廓">
            <a:extLst>
              <a:ext uri="{FF2B5EF4-FFF2-40B4-BE49-F238E27FC236}">
                <a16:creationId xmlns:a16="http://schemas.microsoft.com/office/drawing/2014/main" id="{7901FA56-A0CA-3CC8-8D5E-3CD11A64C9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57036" y="5775070"/>
            <a:ext cx="269038" cy="269038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DB0B1E94-87BA-F2FA-406C-0D5E33AC6F45}"/>
              </a:ext>
            </a:extLst>
          </p:cNvPr>
          <p:cNvSpPr txBox="1"/>
          <p:nvPr/>
        </p:nvSpPr>
        <p:spPr>
          <a:xfrm>
            <a:off x="3309500" y="6123237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000">
                <a:solidFill>
                  <a:srgbClr val="00B05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主流方案</a:t>
            </a:r>
            <a:endParaRPr lang="zh-CN" altLang="en-US" sz="4000" dirty="0">
              <a:solidFill>
                <a:srgbClr val="00B05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B3E434FE-7D72-0886-5726-E22D8FF0D8C2}"/>
              </a:ext>
            </a:extLst>
          </p:cNvPr>
          <p:cNvGrpSpPr/>
          <p:nvPr/>
        </p:nvGrpSpPr>
        <p:grpSpPr>
          <a:xfrm>
            <a:off x="1733084" y="3085984"/>
            <a:ext cx="7108612" cy="1690061"/>
            <a:chOff x="813257" y="1467822"/>
            <a:chExt cx="7108612" cy="1690061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767C9560-77BC-47B6-92F4-94D79230552A}"/>
                </a:ext>
              </a:extLst>
            </p:cNvPr>
            <p:cNvSpPr/>
            <p:nvPr/>
          </p:nvSpPr>
          <p:spPr>
            <a:xfrm>
              <a:off x="813257" y="1467822"/>
              <a:ext cx="7108612" cy="1690061"/>
            </a:xfrm>
            <a:prstGeom prst="roundRect">
              <a:avLst>
                <a:gd name="adj" fmla="val 3016"/>
              </a:avLst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2BC05C49-166A-0FBF-71E4-BAF55AD225E7}"/>
                </a:ext>
              </a:extLst>
            </p:cNvPr>
            <p:cNvSpPr/>
            <p:nvPr/>
          </p:nvSpPr>
          <p:spPr>
            <a:xfrm>
              <a:off x="5040075" y="1545546"/>
              <a:ext cx="2740056" cy="1552273"/>
            </a:xfrm>
            <a:prstGeom prst="roundRect">
              <a:avLst>
                <a:gd name="adj" fmla="val 4938"/>
              </a:avLst>
            </a:prstGeom>
            <a:solidFill>
              <a:srgbClr val="86E2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105EA794-980B-FBFB-C162-A99D59D77277}"/>
                </a:ext>
              </a:extLst>
            </p:cNvPr>
            <p:cNvCxnSpPr>
              <a:cxnSpLocks/>
            </p:cNvCxnSpPr>
            <p:nvPr/>
          </p:nvCxnSpPr>
          <p:spPr>
            <a:xfrm>
              <a:off x="1847850" y="2183596"/>
              <a:ext cx="3109796" cy="0"/>
            </a:xfrm>
            <a:prstGeom prst="straightConnector1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9ADD569A-7FBC-175B-B86B-F0CB33DF1A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06184" y="2466487"/>
              <a:ext cx="3151462" cy="0"/>
            </a:xfrm>
            <a:prstGeom prst="straightConnector1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2ACF8D2B-AD6C-F8F5-CE22-A3DCB909868D}"/>
                </a:ext>
              </a:extLst>
            </p:cNvPr>
            <p:cNvSpPr txBox="1"/>
            <p:nvPr/>
          </p:nvSpPr>
          <p:spPr>
            <a:xfrm>
              <a:off x="2871443" y="1971098"/>
              <a:ext cx="46618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900"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请求</a:t>
              </a:r>
              <a:endParaRPr lang="zh-CN" altLang="en-US" sz="9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792F3F75-72A5-5500-AE9E-37A76C083E86}"/>
                </a:ext>
              </a:extLst>
            </p:cNvPr>
            <p:cNvSpPr txBox="1"/>
            <p:nvPr/>
          </p:nvSpPr>
          <p:spPr>
            <a:xfrm>
              <a:off x="2877517" y="2475046"/>
              <a:ext cx="41229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900"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响应</a:t>
              </a:r>
              <a:endParaRPr lang="zh-CN" altLang="en-US" sz="9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19651EA7-0E65-19DB-761A-6FDA4146F306}"/>
                </a:ext>
              </a:extLst>
            </p:cNvPr>
            <p:cNvGrpSpPr/>
            <p:nvPr/>
          </p:nvGrpSpPr>
          <p:grpSpPr>
            <a:xfrm>
              <a:off x="1246066" y="2154107"/>
              <a:ext cx="446647" cy="456319"/>
              <a:chOff x="1288572" y="3466291"/>
              <a:chExt cx="1076475" cy="1086002"/>
            </a:xfrm>
          </p:grpSpPr>
          <p:pic>
            <p:nvPicPr>
              <p:cNvPr id="36" name="图片 35">
                <a:extLst>
                  <a:ext uri="{FF2B5EF4-FFF2-40B4-BE49-F238E27FC236}">
                    <a16:creationId xmlns:a16="http://schemas.microsoft.com/office/drawing/2014/main" id="{993CE079-59F0-B4B4-B2AE-035DC40916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88572" y="3466291"/>
                <a:ext cx="1076475" cy="1086002"/>
              </a:xfrm>
              <a:prstGeom prst="rect">
                <a:avLst/>
              </a:prstGeom>
            </p:spPr>
          </p:pic>
          <p:pic>
            <p:nvPicPr>
              <p:cNvPr id="37" name="图片 36">
                <a:extLst>
                  <a:ext uri="{FF2B5EF4-FFF2-40B4-BE49-F238E27FC236}">
                    <a16:creationId xmlns:a16="http://schemas.microsoft.com/office/drawing/2014/main" id="{6FF94D67-D634-BB4D-22CB-59018C8EE5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02940" y="3784462"/>
                <a:ext cx="447737" cy="447737"/>
              </a:xfrm>
              <a:prstGeom prst="rect">
                <a:avLst/>
              </a:prstGeom>
            </p:spPr>
          </p:pic>
        </p:grpSp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A5CA0DE8-65DC-7575-4A2A-122B5922C6E9}"/>
                </a:ext>
              </a:extLst>
            </p:cNvPr>
            <p:cNvSpPr/>
            <p:nvPr/>
          </p:nvSpPr>
          <p:spPr>
            <a:xfrm>
              <a:off x="5113175" y="1622743"/>
              <a:ext cx="2584527" cy="1387391"/>
            </a:xfrm>
            <a:prstGeom prst="roundRect">
              <a:avLst>
                <a:gd name="adj" fmla="val 3205"/>
              </a:avLst>
            </a:prstGeom>
            <a:noFill/>
            <a:ln w="6350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8" name="矩形: 对角圆角 27">
              <a:extLst>
                <a:ext uri="{FF2B5EF4-FFF2-40B4-BE49-F238E27FC236}">
                  <a16:creationId xmlns:a16="http://schemas.microsoft.com/office/drawing/2014/main" id="{F8571EDA-FC80-3E27-A5FD-160D2247D387}"/>
                </a:ext>
              </a:extLst>
            </p:cNvPr>
            <p:cNvSpPr/>
            <p:nvPr/>
          </p:nvSpPr>
          <p:spPr>
            <a:xfrm>
              <a:off x="5225728" y="1874344"/>
              <a:ext cx="642663" cy="971812"/>
            </a:xfrm>
            <a:prstGeom prst="round2DiagRect">
              <a:avLst>
                <a:gd name="adj1" fmla="val 16636"/>
                <a:gd name="adj2" fmla="val 0"/>
              </a:avLst>
            </a:prstGeom>
            <a:solidFill>
              <a:srgbClr val="FFC91D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统一拦截</a:t>
              </a:r>
              <a:endParaRPr lang="zh-CN" altLang="en-US" sz="100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0F556282-68B4-07BF-D015-95E916E15017}"/>
                </a:ext>
              </a:extLst>
            </p:cNvPr>
            <p:cNvSpPr/>
            <p:nvPr/>
          </p:nvSpPr>
          <p:spPr>
            <a:xfrm>
              <a:off x="6052834" y="1699140"/>
              <a:ext cx="961962" cy="250337"/>
            </a:xfrm>
            <a:prstGeom prst="roundRect">
              <a:avLst/>
            </a:prstGeom>
            <a:solidFill>
              <a:srgbClr val="34495E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Login</a:t>
              </a:r>
              <a:endParaRPr lang="zh-CN" altLang="en-US" sz="10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60937C65-315D-DAEA-F868-B4F01E128193}"/>
                </a:ext>
              </a:extLst>
            </p:cNvPr>
            <p:cNvSpPr/>
            <p:nvPr/>
          </p:nvSpPr>
          <p:spPr>
            <a:xfrm>
              <a:off x="6052832" y="2024521"/>
              <a:ext cx="961962" cy="250337"/>
            </a:xfrm>
            <a:prstGeom prst="roundRect">
              <a:avLst/>
            </a:prstGeom>
            <a:solidFill>
              <a:srgbClr val="34495E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</a:t>
              </a:r>
              <a:endParaRPr lang="zh-CN" altLang="en-US" sz="10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4AA60B61-809F-14AE-8F3C-EE2D5AAF2D38}"/>
                </a:ext>
              </a:extLst>
            </p:cNvPr>
            <p:cNvSpPr/>
            <p:nvPr/>
          </p:nvSpPr>
          <p:spPr>
            <a:xfrm>
              <a:off x="6060297" y="2349902"/>
              <a:ext cx="961962" cy="250337"/>
            </a:xfrm>
            <a:prstGeom prst="roundRect">
              <a:avLst/>
            </a:prstGeom>
            <a:solidFill>
              <a:srgbClr val="34495E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</a:t>
              </a:r>
              <a:endParaRPr lang="zh-CN" altLang="en-US" sz="10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CF1F7B9A-CB55-D225-51BF-A105E61B43EA}"/>
                </a:ext>
              </a:extLst>
            </p:cNvPr>
            <p:cNvSpPr/>
            <p:nvPr/>
          </p:nvSpPr>
          <p:spPr>
            <a:xfrm>
              <a:off x="6052832" y="2675282"/>
              <a:ext cx="961962" cy="250337"/>
            </a:xfrm>
            <a:prstGeom prst="roundRect">
              <a:avLst/>
            </a:prstGeom>
            <a:solidFill>
              <a:srgbClr val="34495E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Report</a:t>
              </a:r>
              <a:endParaRPr lang="zh-CN" altLang="en-US" sz="10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33" name="箭头: 右 32">
              <a:extLst>
                <a:ext uri="{FF2B5EF4-FFF2-40B4-BE49-F238E27FC236}">
                  <a16:creationId xmlns:a16="http://schemas.microsoft.com/office/drawing/2014/main" id="{8CF1F026-5CFB-F69A-1A03-3422A33CF6D4}"/>
                </a:ext>
              </a:extLst>
            </p:cNvPr>
            <p:cNvSpPr/>
            <p:nvPr/>
          </p:nvSpPr>
          <p:spPr>
            <a:xfrm rot="19229268">
              <a:off x="5772063" y="1898025"/>
              <a:ext cx="375727" cy="148356"/>
            </a:xfrm>
            <a:prstGeom prst="rightArrow">
              <a:avLst>
                <a:gd name="adj1" fmla="val 50000"/>
                <a:gd name="adj2" fmla="val 73159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箭头: 右 33">
              <a:extLst>
                <a:ext uri="{FF2B5EF4-FFF2-40B4-BE49-F238E27FC236}">
                  <a16:creationId xmlns:a16="http://schemas.microsoft.com/office/drawing/2014/main" id="{2A94B223-5D48-B622-9445-B0E15E493320}"/>
                </a:ext>
              </a:extLst>
            </p:cNvPr>
            <p:cNvSpPr/>
            <p:nvPr/>
          </p:nvSpPr>
          <p:spPr>
            <a:xfrm rot="2290107">
              <a:off x="5775166" y="2653421"/>
              <a:ext cx="375727" cy="148356"/>
            </a:xfrm>
            <a:prstGeom prst="rightArrow">
              <a:avLst>
                <a:gd name="adj1" fmla="val 50000"/>
                <a:gd name="adj2" fmla="val 73159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箭头: 右 34">
              <a:extLst>
                <a:ext uri="{FF2B5EF4-FFF2-40B4-BE49-F238E27FC236}">
                  <a16:creationId xmlns:a16="http://schemas.microsoft.com/office/drawing/2014/main" id="{ED4BBD34-99A1-843B-D2ED-18C64A062C6F}"/>
                </a:ext>
              </a:extLst>
            </p:cNvPr>
            <p:cNvSpPr/>
            <p:nvPr/>
          </p:nvSpPr>
          <p:spPr>
            <a:xfrm>
              <a:off x="5818465" y="2287631"/>
              <a:ext cx="331980" cy="157313"/>
            </a:xfrm>
            <a:prstGeom prst="rightArrow">
              <a:avLst>
                <a:gd name="adj1" fmla="val 50000"/>
                <a:gd name="adj2" fmla="val 73159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8" name="Shape 2426">
            <a:extLst>
              <a:ext uri="{FF2B5EF4-FFF2-40B4-BE49-F238E27FC236}">
                <a16:creationId xmlns:a16="http://schemas.microsoft.com/office/drawing/2014/main" id="{99202A9D-FB6B-8E52-1171-100EC08ECF61}"/>
              </a:ext>
            </a:extLst>
          </p:cNvPr>
          <p:cNvSpPr/>
          <p:nvPr/>
        </p:nvSpPr>
        <p:spPr>
          <a:xfrm>
            <a:off x="1969856" y="3872463"/>
            <a:ext cx="168940" cy="160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C00000"/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algn="ctr" defTabSz="22851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000" noProof="1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3A5E359-6997-A656-94C3-CCFF5D4F28EE}"/>
              </a:ext>
            </a:extLst>
          </p:cNvPr>
          <p:cNvSpPr txBox="1"/>
          <p:nvPr/>
        </p:nvSpPr>
        <p:spPr>
          <a:xfrm>
            <a:off x="4150543" y="4139374"/>
            <a:ext cx="166359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90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(Set-Cookie:JSESSIONID=1)</a:t>
            </a:r>
            <a:endParaRPr lang="zh-CN" altLang="en-US" sz="900" dirty="0">
              <a:solidFill>
                <a:srgbClr val="C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0995F6AB-7361-B4FB-2214-BBF92834D17C}"/>
              </a:ext>
            </a:extLst>
          </p:cNvPr>
          <p:cNvSpPr txBox="1"/>
          <p:nvPr/>
        </p:nvSpPr>
        <p:spPr>
          <a:xfrm>
            <a:off x="4136369" y="3625814"/>
            <a:ext cx="147181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90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(Cookie:JSESSIONID=1)</a:t>
            </a:r>
            <a:endParaRPr lang="zh-CN" altLang="en-US" sz="900" dirty="0">
              <a:solidFill>
                <a:srgbClr val="C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Shape 2426">
            <a:extLst>
              <a:ext uri="{FF2B5EF4-FFF2-40B4-BE49-F238E27FC236}">
                <a16:creationId xmlns:a16="http://schemas.microsoft.com/office/drawing/2014/main" id="{F15389F1-D4CB-5E52-9AD6-0C39C2E54963}"/>
              </a:ext>
            </a:extLst>
          </p:cNvPr>
          <p:cNvSpPr/>
          <p:nvPr/>
        </p:nvSpPr>
        <p:spPr>
          <a:xfrm>
            <a:off x="3708841" y="4145166"/>
            <a:ext cx="168940" cy="160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C00000"/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algn="ctr" defTabSz="22851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000" noProof="1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Shape 2426">
            <a:extLst>
              <a:ext uri="{FF2B5EF4-FFF2-40B4-BE49-F238E27FC236}">
                <a16:creationId xmlns:a16="http://schemas.microsoft.com/office/drawing/2014/main" id="{BCD0BBDE-F062-18B4-5487-4B573B98B023}"/>
              </a:ext>
            </a:extLst>
          </p:cNvPr>
          <p:cNvSpPr/>
          <p:nvPr/>
        </p:nvSpPr>
        <p:spPr>
          <a:xfrm>
            <a:off x="3699524" y="3554767"/>
            <a:ext cx="168940" cy="160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C00000"/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algn="ctr" defTabSz="22851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000" noProof="1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3" name="流程图: 文档 42">
            <a:extLst>
              <a:ext uri="{FF2B5EF4-FFF2-40B4-BE49-F238E27FC236}">
                <a16:creationId xmlns:a16="http://schemas.microsoft.com/office/drawing/2014/main" id="{8FC16D77-6113-9B0D-2642-1AFA150D91DE}"/>
              </a:ext>
            </a:extLst>
          </p:cNvPr>
          <p:cNvSpPr/>
          <p:nvPr/>
        </p:nvSpPr>
        <p:spPr>
          <a:xfrm>
            <a:off x="7996042" y="3425440"/>
            <a:ext cx="585769" cy="297388"/>
          </a:xfrm>
          <a:prstGeom prst="flowChartDocumen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>
                <a:latin typeface="Consolas" panose="020B0609020204030204" pitchFamily="49" charset="0"/>
              </a:rPr>
              <a:t>Session(1)</a:t>
            </a:r>
            <a:endParaRPr lang="zh-CN" altLang="en-US" sz="800">
              <a:latin typeface="Consolas" panose="020B0609020204030204" pitchFamily="49" charset="0"/>
            </a:endParaRPr>
          </a:p>
        </p:txBody>
      </p:sp>
      <p:sp>
        <p:nvSpPr>
          <p:cNvPr id="44" name="流程图: 文档 43">
            <a:extLst>
              <a:ext uri="{FF2B5EF4-FFF2-40B4-BE49-F238E27FC236}">
                <a16:creationId xmlns:a16="http://schemas.microsoft.com/office/drawing/2014/main" id="{C8A53461-EEBE-9940-BA4E-E4F10F6833E0}"/>
              </a:ext>
            </a:extLst>
          </p:cNvPr>
          <p:cNvSpPr/>
          <p:nvPr/>
        </p:nvSpPr>
        <p:spPr>
          <a:xfrm>
            <a:off x="7996043" y="3782892"/>
            <a:ext cx="585768" cy="290960"/>
          </a:xfrm>
          <a:prstGeom prst="flowChartDocumen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>
                <a:latin typeface="Consolas" panose="020B0609020204030204" pitchFamily="49" charset="0"/>
              </a:rPr>
              <a:t>Session(2)</a:t>
            </a:r>
            <a:endParaRPr lang="zh-CN" altLang="en-US" sz="800">
              <a:latin typeface="Consolas" panose="020B0609020204030204" pitchFamily="49" charset="0"/>
            </a:endParaRPr>
          </a:p>
        </p:txBody>
      </p:sp>
      <p:sp>
        <p:nvSpPr>
          <p:cNvPr id="45" name="流程图: 文档 44">
            <a:extLst>
              <a:ext uri="{FF2B5EF4-FFF2-40B4-BE49-F238E27FC236}">
                <a16:creationId xmlns:a16="http://schemas.microsoft.com/office/drawing/2014/main" id="{5404B650-920A-50D9-90F8-7CD1311916C8}"/>
              </a:ext>
            </a:extLst>
          </p:cNvPr>
          <p:cNvSpPr/>
          <p:nvPr/>
        </p:nvSpPr>
        <p:spPr>
          <a:xfrm>
            <a:off x="7996042" y="4135664"/>
            <a:ext cx="585767" cy="344798"/>
          </a:xfrm>
          <a:prstGeom prst="flowChartDocumen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>
                <a:latin typeface="Consolas" panose="020B0609020204030204" pitchFamily="49" charset="0"/>
              </a:rPr>
              <a:t>Session(3)</a:t>
            </a:r>
            <a:endParaRPr lang="zh-CN" altLang="en-US" sz="800">
              <a:latin typeface="Consolas" panose="020B0609020204030204" pitchFamily="49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8D2A310-F00C-479C-5EF1-5CFCA1940CBE}"/>
              </a:ext>
            </a:extLst>
          </p:cNvPr>
          <p:cNvSpPr txBox="1"/>
          <p:nvPr/>
        </p:nvSpPr>
        <p:spPr>
          <a:xfrm>
            <a:off x="1770038" y="4236733"/>
            <a:ext cx="89373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90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JSESSIONID=1</a:t>
            </a:r>
            <a:endParaRPr lang="zh-CN" altLang="en-US" sz="900" dirty="0">
              <a:solidFill>
                <a:srgbClr val="C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5800BE1B-D4E6-12FC-5DAA-D391EA05C407}"/>
              </a:ext>
            </a:extLst>
          </p:cNvPr>
          <p:cNvGrpSpPr/>
          <p:nvPr/>
        </p:nvGrpSpPr>
        <p:grpSpPr>
          <a:xfrm>
            <a:off x="1733084" y="1092225"/>
            <a:ext cx="7108612" cy="1690061"/>
            <a:chOff x="813257" y="1467822"/>
            <a:chExt cx="7108612" cy="1690061"/>
          </a:xfrm>
        </p:grpSpPr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E7190590-FF6B-C7FE-7C5F-E281B90E9375}"/>
                </a:ext>
              </a:extLst>
            </p:cNvPr>
            <p:cNvSpPr/>
            <p:nvPr/>
          </p:nvSpPr>
          <p:spPr>
            <a:xfrm>
              <a:off x="813257" y="1467822"/>
              <a:ext cx="7108612" cy="1690061"/>
            </a:xfrm>
            <a:prstGeom prst="roundRect">
              <a:avLst>
                <a:gd name="adj" fmla="val 3016"/>
              </a:avLst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4A6BA6C0-37D0-60F5-AB81-327847F8EF5D}"/>
                </a:ext>
              </a:extLst>
            </p:cNvPr>
            <p:cNvSpPr/>
            <p:nvPr/>
          </p:nvSpPr>
          <p:spPr>
            <a:xfrm>
              <a:off x="5040075" y="1545546"/>
              <a:ext cx="2740056" cy="1552273"/>
            </a:xfrm>
            <a:prstGeom prst="roundRect">
              <a:avLst>
                <a:gd name="adj" fmla="val 4938"/>
              </a:avLst>
            </a:prstGeom>
            <a:solidFill>
              <a:srgbClr val="86E2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10ED4590-3FEB-217F-AD87-256DB9B5DECD}"/>
                </a:ext>
              </a:extLst>
            </p:cNvPr>
            <p:cNvCxnSpPr>
              <a:cxnSpLocks/>
            </p:cNvCxnSpPr>
            <p:nvPr/>
          </p:nvCxnSpPr>
          <p:spPr>
            <a:xfrm>
              <a:off x="1847850" y="2183596"/>
              <a:ext cx="3109796" cy="0"/>
            </a:xfrm>
            <a:prstGeom prst="straightConnector1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312B0AB7-87B6-1764-742E-9EAB7CCA77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06184" y="2466487"/>
              <a:ext cx="3151462" cy="0"/>
            </a:xfrm>
            <a:prstGeom prst="straightConnector1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AEC45F54-CAF5-71B1-79E3-86B9341F30E1}"/>
                </a:ext>
              </a:extLst>
            </p:cNvPr>
            <p:cNvSpPr txBox="1"/>
            <p:nvPr/>
          </p:nvSpPr>
          <p:spPr>
            <a:xfrm>
              <a:off x="2871443" y="1971098"/>
              <a:ext cx="46618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900"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请求</a:t>
              </a:r>
              <a:endParaRPr lang="zh-CN" altLang="en-US" sz="9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43F8326D-7D7F-9770-4A6B-28E186D86E0E}"/>
                </a:ext>
              </a:extLst>
            </p:cNvPr>
            <p:cNvSpPr txBox="1"/>
            <p:nvPr/>
          </p:nvSpPr>
          <p:spPr>
            <a:xfrm>
              <a:off x="2877517" y="2475046"/>
              <a:ext cx="41229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900"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响应</a:t>
              </a:r>
              <a:endParaRPr lang="zh-CN" altLang="en-US" sz="9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9B995178-417B-A79E-7B08-562B13938608}"/>
                </a:ext>
              </a:extLst>
            </p:cNvPr>
            <p:cNvGrpSpPr/>
            <p:nvPr/>
          </p:nvGrpSpPr>
          <p:grpSpPr>
            <a:xfrm>
              <a:off x="1246066" y="2154107"/>
              <a:ext cx="446647" cy="456319"/>
              <a:chOff x="1288572" y="3466291"/>
              <a:chExt cx="1076475" cy="1086002"/>
            </a:xfrm>
          </p:grpSpPr>
          <p:pic>
            <p:nvPicPr>
              <p:cNvPr id="64" name="图片 63">
                <a:extLst>
                  <a:ext uri="{FF2B5EF4-FFF2-40B4-BE49-F238E27FC236}">
                    <a16:creationId xmlns:a16="http://schemas.microsoft.com/office/drawing/2014/main" id="{84ADEF6B-A3DB-6DE2-C270-02F70F309C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88572" y="3466291"/>
                <a:ext cx="1076475" cy="1086002"/>
              </a:xfrm>
              <a:prstGeom prst="rect">
                <a:avLst/>
              </a:prstGeom>
            </p:spPr>
          </p:pic>
          <p:pic>
            <p:nvPicPr>
              <p:cNvPr id="65" name="图片 64">
                <a:extLst>
                  <a:ext uri="{FF2B5EF4-FFF2-40B4-BE49-F238E27FC236}">
                    <a16:creationId xmlns:a16="http://schemas.microsoft.com/office/drawing/2014/main" id="{9087A255-4B46-1CA4-0484-DD8B0EE57A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02940" y="3784462"/>
                <a:ext cx="447737" cy="447737"/>
              </a:xfrm>
              <a:prstGeom prst="rect">
                <a:avLst/>
              </a:prstGeom>
            </p:spPr>
          </p:pic>
        </p:grpSp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96292390-ED65-352A-2D15-9BDCB17C6BB4}"/>
                </a:ext>
              </a:extLst>
            </p:cNvPr>
            <p:cNvSpPr/>
            <p:nvPr/>
          </p:nvSpPr>
          <p:spPr>
            <a:xfrm>
              <a:off x="5113175" y="1622743"/>
              <a:ext cx="2584527" cy="1387391"/>
            </a:xfrm>
            <a:prstGeom prst="roundRect">
              <a:avLst>
                <a:gd name="adj" fmla="val 3205"/>
              </a:avLst>
            </a:prstGeom>
            <a:noFill/>
            <a:ln w="6350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56" name="矩形: 对角圆角 55">
              <a:extLst>
                <a:ext uri="{FF2B5EF4-FFF2-40B4-BE49-F238E27FC236}">
                  <a16:creationId xmlns:a16="http://schemas.microsoft.com/office/drawing/2014/main" id="{C7C550F9-F190-867C-1E86-3906F242541B}"/>
                </a:ext>
              </a:extLst>
            </p:cNvPr>
            <p:cNvSpPr/>
            <p:nvPr/>
          </p:nvSpPr>
          <p:spPr>
            <a:xfrm>
              <a:off x="5342832" y="1879077"/>
              <a:ext cx="642663" cy="971812"/>
            </a:xfrm>
            <a:prstGeom prst="round2DiagRect">
              <a:avLst>
                <a:gd name="adj1" fmla="val 16636"/>
                <a:gd name="adj2" fmla="val 0"/>
              </a:avLst>
            </a:prstGeom>
            <a:solidFill>
              <a:srgbClr val="FFC91D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统一拦截</a:t>
              </a:r>
              <a:endParaRPr lang="zh-CN" altLang="en-US" sz="100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57" name="矩形: 圆角 56">
              <a:extLst>
                <a:ext uri="{FF2B5EF4-FFF2-40B4-BE49-F238E27FC236}">
                  <a16:creationId xmlns:a16="http://schemas.microsoft.com/office/drawing/2014/main" id="{6A41E260-7509-332E-AC08-42AF99307B57}"/>
                </a:ext>
              </a:extLst>
            </p:cNvPr>
            <p:cNvSpPr/>
            <p:nvPr/>
          </p:nvSpPr>
          <p:spPr>
            <a:xfrm>
              <a:off x="6169938" y="1703873"/>
              <a:ext cx="961962" cy="250337"/>
            </a:xfrm>
            <a:prstGeom prst="roundRect">
              <a:avLst/>
            </a:prstGeom>
            <a:solidFill>
              <a:srgbClr val="34495E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Login</a:t>
              </a:r>
              <a:endParaRPr lang="zh-CN" altLang="en-US" sz="10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58" name="矩形: 圆角 57">
              <a:extLst>
                <a:ext uri="{FF2B5EF4-FFF2-40B4-BE49-F238E27FC236}">
                  <a16:creationId xmlns:a16="http://schemas.microsoft.com/office/drawing/2014/main" id="{A75F54A1-1AC6-305D-B3A8-A9FF2ECA5923}"/>
                </a:ext>
              </a:extLst>
            </p:cNvPr>
            <p:cNvSpPr/>
            <p:nvPr/>
          </p:nvSpPr>
          <p:spPr>
            <a:xfrm>
              <a:off x="6169936" y="2029254"/>
              <a:ext cx="961962" cy="250337"/>
            </a:xfrm>
            <a:prstGeom prst="roundRect">
              <a:avLst/>
            </a:prstGeom>
            <a:solidFill>
              <a:srgbClr val="34495E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</a:t>
              </a:r>
              <a:endParaRPr lang="zh-CN" altLang="en-US" sz="10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59" name="矩形: 圆角 58">
              <a:extLst>
                <a:ext uri="{FF2B5EF4-FFF2-40B4-BE49-F238E27FC236}">
                  <a16:creationId xmlns:a16="http://schemas.microsoft.com/office/drawing/2014/main" id="{2D9D4EA9-C560-A349-2814-CB9FC4EF8CBC}"/>
                </a:ext>
              </a:extLst>
            </p:cNvPr>
            <p:cNvSpPr/>
            <p:nvPr/>
          </p:nvSpPr>
          <p:spPr>
            <a:xfrm>
              <a:off x="6177401" y="2354635"/>
              <a:ext cx="961962" cy="250337"/>
            </a:xfrm>
            <a:prstGeom prst="roundRect">
              <a:avLst/>
            </a:prstGeom>
            <a:solidFill>
              <a:srgbClr val="34495E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</a:t>
              </a:r>
              <a:endParaRPr lang="zh-CN" altLang="en-US" sz="10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B398632C-4E82-82C6-7FCD-1413A0B4956E}"/>
                </a:ext>
              </a:extLst>
            </p:cNvPr>
            <p:cNvSpPr/>
            <p:nvPr/>
          </p:nvSpPr>
          <p:spPr>
            <a:xfrm>
              <a:off x="6169936" y="2680015"/>
              <a:ext cx="961962" cy="250337"/>
            </a:xfrm>
            <a:prstGeom prst="roundRect">
              <a:avLst/>
            </a:prstGeom>
            <a:solidFill>
              <a:srgbClr val="34495E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Report</a:t>
              </a:r>
              <a:endParaRPr lang="zh-CN" altLang="en-US" sz="10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61" name="箭头: 右 60">
              <a:extLst>
                <a:ext uri="{FF2B5EF4-FFF2-40B4-BE49-F238E27FC236}">
                  <a16:creationId xmlns:a16="http://schemas.microsoft.com/office/drawing/2014/main" id="{53A55C12-1948-D2A2-A24A-242C3B70379E}"/>
                </a:ext>
              </a:extLst>
            </p:cNvPr>
            <p:cNvSpPr/>
            <p:nvPr/>
          </p:nvSpPr>
          <p:spPr>
            <a:xfrm rot="19229268">
              <a:off x="5889167" y="1902758"/>
              <a:ext cx="375727" cy="148356"/>
            </a:xfrm>
            <a:prstGeom prst="rightArrow">
              <a:avLst>
                <a:gd name="adj1" fmla="val 50000"/>
                <a:gd name="adj2" fmla="val 73159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箭头: 右 61">
              <a:extLst>
                <a:ext uri="{FF2B5EF4-FFF2-40B4-BE49-F238E27FC236}">
                  <a16:creationId xmlns:a16="http://schemas.microsoft.com/office/drawing/2014/main" id="{1175399F-5F38-EA1F-12F9-0398B161555B}"/>
                </a:ext>
              </a:extLst>
            </p:cNvPr>
            <p:cNvSpPr/>
            <p:nvPr/>
          </p:nvSpPr>
          <p:spPr>
            <a:xfrm rot="2290107">
              <a:off x="5892270" y="2658154"/>
              <a:ext cx="375727" cy="148356"/>
            </a:xfrm>
            <a:prstGeom prst="rightArrow">
              <a:avLst>
                <a:gd name="adj1" fmla="val 50000"/>
                <a:gd name="adj2" fmla="val 73159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箭头: 右 62">
              <a:extLst>
                <a:ext uri="{FF2B5EF4-FFF2-40B4-BE49-F238E27FC236}">
                  <a16:creationId xmlns:a16="http://schemas.microsoft.com/office/drawing/2014/main" id="{85B67334-CDAE-3D91-39DC-529BCF19698C}"/>
                </a:ext>
              </a:extLst>
            </p:cNvPr>
            <p:cNvSpPr/>
            <p:nvPr/>
          </p:nvSpPr>
          <p:spPr>
            <a:xfrm>
              <a:off x="5935569" y="2292364"/>
              <a:ext cx="331980" cy="157313"/>
            </a:xfrm>
            <a:prstGeom prst="rightArrow">
              <a:avLst>
                <a:gd name="adj1" fmla="val 50000"/>
                <a:gd name="adj2" fmla="val 73159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6" name="文本框 65">
            <a:extLst>
              <a:ext uri="{FF2B5EF4-FFF2-40B4-BE49-F238E27FC236}">
                <a16:creationId xmlns:a16="http://schemas.microsoft.com/office/drawing/2014/main" id="{0C7C3DEF-015D-AA27-9BF4-03C8C6EF1781}"/>
              </a:ext>
            </a:extLst>
          </p:cNvPr>
          <p:cNvSpPr txBox="1"/>
          <p:nvPr/>
        </p:nvSpPr>
        <p:spPr>
          <a:xfrm>
            <a:off x="2104285" y="2292659"/>
            <a:ext cx="56601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浏览器</a:t>
            </a:r>
            <a:endParaRPr lang="zh-CN" altLang="en-US" sz="9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8" name="Shape 2426">
            <a:extLst>
              <a:ext uri="{FF2B5EF4-FFF2-40B4-BE49-F238E27FC236}">
                <a16:creationId xmlns:a16="http://schemas.microsoft.com/office/drawing/2014/main" id="{F4146695-14D1-7D21-48A1-3EF2E96E0D6C}"/>
              </a:ext>
            </a:extLst>
          </p:cNvPr>
          <p:cNvSpPr/>
          <p:nvPr/>
        </p:nvSpPr>
        <p:spPr>
          <a:xfrm>
            <a:off x="7990058" y="1427554"/>
            <a:ext cx="168940" cy="160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FF0000"/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algn="ctr" defTabSz="22851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000" noProof="1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9" name="Shape 2426">
            <a:extLst>
              <a:ext uri="{FF2B5EF4-FFF2-40B4-BE49-F238E27FC236}">
                <a16:creationId xmlns:a16="http://schemas.microsoft.com/office/drawing/2014/main" id="{D0969ED3-43D0-2B58-8052-E49770ECA5B7}"/>
              </a:ext>
            </a:extLst>
          </p:cNvPr>
          <p:cNvSpPr/>
          <p:nvPr/>
        </p:nvSpPr>
        <p:spPr>
          <a:xfrm>
            <a:off x="1955961" y="1932442"/>
            <a:ext cx="168940" cy="160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FF0000"/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algn="ctr" defTabSz="22851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000" noProof="1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1598EDF3-2538-9604-CB87-5FFF54A32929}"/>
              </a:ext>
            </a:extLst>
          </p:cNvPr>
          <p:cNvSpPr txBox="1"/>
          <p:nvPr/>
        </p:nvSpPr>
        <p:spPr>
          <a:xfrm>
            <a:off x="4115681" y="2152377"/>
            <a:ext cx="165977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9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(Set-Cookie:name=value)</a:t>
            </a:r>
            <a:endParaRPr lang="zh-CN" altLang="en-US" sz="900" dirty="0">
              <a:solidFill>
                <a:srgbClr val="C0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F8FAE9E9-68A8-15C4-1654-7584BC79AE55}"/>
              </a:ext>
            </a:extLst>
          </p:cNvPr>
          <p:cNvSpPr txBox="1"/>
          <p:nvPr/>
        </p:nvSpPr>
        <p:spPr>
          <a:xfrm>
            <a:off x="4108061" y="1649339"/>
            <a:ext cx="142810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9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(Cookie:name=value)</a:t>
            </a:r>
            <a:endParaRPr lang="zh-CN" altLang="en-US" sz="900" dirty="0">
              <a:solidFill>
                <a:srgbClr val="C0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2" name="Shape 2426">
            <a:extLst>
              <a:ext uri="{FF2B5EF4-FFF2-40B4-BE49-F238E27FC236}">
                <a16:creationId xmlns:a16="http://schemas.microsoft.com/office/drawing/2014/main" id="{F2E1F675-5D93-8291-77C6-BDFA8C5DDF5C}"/>
              </a:ext>
            </a:extLst>
          </p:cNvPr>
          <p:cNvSpPr/>
          <p:nvPr/>
        </p:nvSpPr>
        <p:spPr>
          <a:xfrm>
            <a:off x="3708841" y="1611788"/>
            <a:ext cx="168940" cy="160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FF0000"/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algn="ctr" defTabSz="22851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000" noProof="1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3" name="Shape 2426">
            <a:extLst>
              <a:ext uri="{FF2B5EF4-FFF2-40B4-BE49-F238E27FC236}">
                <a16:creationId xmlns:a16="http://schemas.microsoft.com/office/drawing/2014/main" id="{2B8B7B39-A1A4-9212-DD69-4F4F8641B71F}"/>
              </a:ext>
            </a:extLst>
          </p:cNvPr>
          <p:cNvSpPr/>
          <p:nvPr/>
        </p:nvSpPr>
        <p:spPr>
          <a:xfrm>
            <a:off x="3695488" y="2115172"/>
            <a:ext cx="168940" cy="160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FF0000"/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algn="ctr" defTabSz="22851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000" noProof="1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7DFFBF79-A402-80E5-F86D-70C02C5AE7F4}"/>
              </a:ext>
            </a:extLst>
          </p:cNvPr>
          <p:cNvSpPr txBox="1"/>
          <p:nvPr/>
        </p:nvSpPr>
        <p:spPr>
          <a:xfrm>
            <a:off x="1821544" y="2183186"/>
            <a:ext cx="7909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9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name=value</a:t>
            </a:r>
            <a:endParaRPr lang="zh-CN" altLang="en-US" sz="900" dirty="0">
              <a:solidFill>
                <a:srgbClr val="C0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7EFF0453-3B68-E0A2-49BE-AD958325D508}"/>
              </a:ext>
            </a:extLst>
          </p:cNvPr>
          <p:cNvSpPr/>
          <p:nvPr/>
        </p:nvSpPr>
        <p:spPr>
          <a:xfrm>
            <a:off x="478214" y="1676696"/>
            <a:ext cx="1182756" cy="454596"/>
          </a:xfrm>
          <a:prstGeom prst="roundRect">
            <a:avLst/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5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方案一</a:t>
            </a:r>
            <a:r>
              <a:rPr lang="en-US" altLang="zh-CN" sz="105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en-US" altLang="zh-CN" sz="105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Cookie</a:t>
            </a:r>
            <a:r>
              <a:rPr lang="en-US" altLang="zh-CN" sz="105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zh-CN" altLang="en-US" sz="105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4AAFCD1A-1DB4-DB99-68C9-3C2CE29A9173}"/>
              </a:ext>
            </a:extLst>
          </p:cNvPr>
          <p:cNvSpPr/>
          <p:nvPr/>
        </p:nvSpPr>
        <p:spPr>
          <a:xfrm>
            <a:off x="478214" y="3643073"/>
            <a:ext cx="1182756" cy="454596"/>
          </a:xfrm>
          <a:prstGeom prst="roundRect">
            <a:avLst/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5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方案二</a:t>
            </a:r>
            <a:r>
              <a:rPr lang="en-US" altLang="zh-CN" sz="105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(Session)</a:t>
            </a:r>
            <a:endParaRPr lang="zh-CN" altLang="en-US" sz="105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0AD614AC-5EF1-82E4-483F-2C10EB6DC74A}"/>
              </a:ext>
            </a:extLst>
          </p:cNvPr>
          <p:cNvSpPr txBox="1"/>
          <p:nvPr/>
        </p:nvSpPr>
        <p:spPr>
          <a:xfrm>
            <a:off x="8945462" y="3119675"/>
            <a:ext cx="3337978" cy="1173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200">
                <a:solidFill>
                  <a:srgbClr val="00B05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优点：存储在服务端，安全</a:t>
            </a:r>
            <a:endParaRPr lang="en-US" altLang="zh-CN" sz="1200">
              <a:solidFill>
                <a:srgbClr val="00B05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71450" indent="-1714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20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缺点：</a:t>
            </a:r>
            <a:endParaRPr lang="en-US" altLang="zh-CN" sz="1200">
              <a:solidFill>
                <a:srgbClr val="C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15450" indent="-1714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u"/>
              <a:tabLst>
                <a:tab pos="252000" algn="l"/>
              </a:tabLst>
            </a:pPr>
            <a:r>
              <a:rPr lang="zh-CN" altLang="en-US" sz="120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服务器集群环境下无法直接使用</a:t>
            </a:r>
            <a:r>
              <a:rPr lang="en-US" altLang="zh-CN" sz="120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Session</a:t>
            </a:r>
          </a:p>
          <a:p>
            <a:pPr marL="315450" indent="-171450">
              <a:lnSpc>
                <a:spcPct val="150000"/>
              </a:lnSpc>
              <a:buFont typeface="Wingdings" panose="05000000000000000000" pitchFamily="2" charset="2"/>
              <a:buChar char="u"/>
              <a:tabLst>
                <a:tab pos="252000" algn="l"/>
              </a:tabLst>
            </a:pPr>
            <a:r>
              <a:rPr lang="en-US" altLang="zh-CN" sz="120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Cookie</a:t>
            </a:r>
            <a:r>
              <a:rPr lang="zh-CN" altLang="en-US" sz="120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的缺点</a:t>
            </a:r>
            <a:endParaRPr lang="en-US" altLang="zh-CN" sz="1200">
              <a:solidFill>
                <a:srgbClr val="C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348615AC-C4FC-D436-9E45-C3881547C684}"/>
              </a:ext>
            </a:extLst>
          </p:cNvPr>
          <p:cNvSpPr txBox="1"/>
          <p:nvPr/>
        </p:nvSpPr>
        <p:spPr>
          <a:xfrm>
            <a:off x="8945462" y="1102409"/>
            <a:ext cx="3147868" cy="1450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200">
                <a:solidFill>
                  <a:srgbClr val="00B05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优点：</a:t>
            </a:r>
            <a:r>
              <a:rPr lang="en-US" altLang="zh-CN" sz="1200">
                <a:solidFill>
                  <a:srgbClr val="00B0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HTTP</a:t>
            </a:r>
            <a:r>
              <a:rPr lang="zh-CN" altLang="en-US" sz="1200">
                <a:solidFill>
                  <a:srgbClr val="00B05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协议中支持的技术</a:t>
            </a:r>
            <a:endParaRPr lang="en-US" altLang="zh-CN" sz="1200">
              <a:solidFill>
                <a:srgbClr val="00B050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171450" indent="-1714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2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缺点：</a:t>
            </a:r>
            <a:endParaRPr lang="en-US" altLang="zh-CN" sz="1200">
              <a:solidFill>
                <a:srgbClr val="C00000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315450" indent="-1714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u"/>
              <a:tabLst>
                <a:tab pos="252000" algn="l"/>
              </a:tabLst>
            </a:pPr>
            <a:r>
              <a:rPr lang="zh-CN" altLang="en-US" sz="12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移动端</a:t>
            </a:r>
            <a:r>
              <a:rPr lang="en-US" altLang="zh-CN" sz="12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APP</a:t>
            </a:r>
            <a:r>
              <a:rPr lang="zh-CN" altLang="en-US" sz="12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无法使用</a:t>
            </a:r>
            <a:r>
              <a:rPr lang="en-US" altLang="zh-CN" sz="12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Cookie</a:t>
            </a:r>
          </a:p>
          <a:p>
            <a:pPr marL="315450" indent="-1714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u"/>
              <a:tabLst>
                <a:tab pos="252000" algn="l"/>
              </a:tabLst>
            </a:pPr>
            <a:r>
              <a:rPr lang="zh-CN" altLang="en-US" sz="12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不安全，用户可以自己禁用</a:t>
            </a:r>
            <a:r>
              <a:rPr lang="en-US" altLang="zh-CN" sz="12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Cookie</a:t>
            </a:r>
            <a:endParaRPr lang="zh-CN" altLang="en-US" sz="1200">
              <a:solidFill>
                <a:srgbClr val="C0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15450" indent="-1714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u"/>
              <a:tabLst>
                <a:tab pos="252000" algn="l"/>
              </a:tabLst>
            </a:pPr>
            <a:r>
              <a:rPr lang="en-US" altLang="zh-CN" sz="12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 Cookie</a:t>
            </a:r>
            <a:r>
              <a:rPr lang="zh-CN" altLang="en-US" sz="12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不能跨域</a:t>
            </a:r>
            <a:endParaRPr lang="en-US" altLang="zh-CN" sz="1200">
              <a:solidFill>
                <a:srgbClr val="C00000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ED339F50-33A1-27E6-85E0-6F265047C5F7}"/>
              </a:ext>
            </a:extLst>
          </p:cNvPr>
          <p:cNvSpPr/>
          <p:nvPr/>
        </p:nvSpPr>
        <p:spPr>
          <a:xfrm>
            <a:off x="478214" y="5567058"/>
            <a:ext cx="1182756" cy="454596"/>
          </a:xfrm>
          <a:prstGeom prst="roundRect">
            <a:avLst/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5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方案三</a:t>
            </a:r>
            <a:r>
              <a:rPr lang="en-US" altLang="zh-CN" sz="105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05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令牌</a:t>
            </a:r>
            <a:r>
              <a:rPr lang="en-US" altLang="zh-CN" sz="105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zh-CN" altLang="en-US" sz="105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02E53A1E-A564-281A-3FC3-2929E61F867D}"/>
              </a:ext>
            </a:extLst>
          </p:cNvPr>
          <p:cNvSpPr/>
          <p:nvPr/>
        </p:nvSpPr>
        <p:spPr>
          <a:xfrm>
            <a:off x="7089278" y="5244408"/>
            <a:ext cx="961962" cy="250337"/>
          </a:xfrm>
          <a:prstGeom prst="round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Login</a:t>
            </a:r>
            <a:endParaRPr lang="zh-CN" altLang="en-US" sz="10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439E29D0-C18B-6F5B-C8B0-0B9DAF00328C}"/>
              </a:ext>
            </a:extLst>
          </p:cNvPr>
          <p:cNvSpPr/>
          <p:nvPr/>
        </p:nvSpPr>
        <p:spPr>
          <a:xfrm>
            <a:off x="7089276" y="5569789"/>
            <a:ext cx="961962" cy="250337"/>
          </a:xfrm>
          <a:prstGeom prst="round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Emp</a:t>
            </a:r>
            <a:endParaRPr lang="zh-CN" altLang="en-US" sz="10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3E0FE1AE-76FA-B186-E56C-C1A1C103C105}"/>
              </a:ext>
            </a:extLst>
          </p:cNvPr>
          <p:cNvSpPr/>
          <p:nvPr/>
        </p:nvSpPr>
        <p:spPr>
          <a:xfrm>
            <a:off x="7096741" y="5895170"/>
            <a:ext cx="961962" cy="250337"/>
          </a:xfrm>
          <a:prstGeom prst="round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Dept</a:t>
            </a:r>
            <a:endParaRPr lang="zh-CN" altLang="en-US" sz="10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B177DA82-576B-DB92-8510-536469F086FB}"/>
              </a:ext>
            </a:extLst>
          </p:cNvPr>
          <p:cNvSpPr/>
          <p:nvPr/>
        </p:nvSpPr>
        <p:spPr>
          <a:xfrm>
            <a:off x="7089276" y="6220550"/>
            <a:ext cx="961962" cy="250337"/>
          </a:xfrm>
          <a:prstGeom prst="round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Report</a:t>
            </a:r>
            <a:endParaRPr lang="zh-CN" altLang="en-US" sz="10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4" name="箭头: 右 83">
            <a:extLst>
              <a:ext uri="{FF2B5EF4-FFF2-40B4-BE49-F238E27FC236}">
                <a16:creationId xmlns:a16="http://schemas.microsoft.com/office/drawing/2014/main" id="{7242C009-0C25-29A3-7CAA-5A207259D6BD}"/>
              </a:ext>
            </a:extLst>
          </p:cNvPr>
          <p:cNvSpPr/>
          <p:nvPr/>
        </p:nvSpPr>
        <p:spPr>
          <a:xfrm rot="19229268">
            <a:off x="6808507" y="5443293"/>
            <a:ext cx="375727" cy="148356"/>
          </a:xfrm>
          <a:prstGeom prst="rightArrow">
            <a:avLst>
              <a:gd name="adj1" fmla="val 50000"/>
              <a:gd name="adj2" fmla="val 73159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箭头: 右 84">
            <a:extLst>
              <a:ext uri="{FF2B5EF4-FFF2-40B4-BE49-F238E27FC236}">
                <a16:creationId xmlns:a16="http://schemas.microsoft.com/office/drawing/2014/main" id="{978E244C-C3F8-8E97-F06C-4DEE58538D7D}"/>
              </a:ext>
            </a:extLst>
          </p:cNvPr>
          <p:cNvSpPr/>
          <p:nvPr/>
        </p:nvSpPr>
        <p:spPr>
          <a:xfrm rot="2290107">
            <a:off x="6811610" y="6198689"/>
            <a:ext cx="375727" cy="148356"/>
          </a:xfrm>
          <a:prstGeom prst="rightArrow">
            <a:avLst>
              <a:gd name="adj1" fmla="val 50000"/>
              <a:gd name="adj2" fmla="val 73159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箭头: 右 85">
            <a:extLst>
              <a:ext uri="{FF2B5EF4-FFF2-40B4-BE49-F238E27FC236}">
                <a16:creationId xmlns:a16="http://schemas.microsoft.com/office/drawing/2014/main" id="{A1458FFA-A131-3865-6140-84E410BF0AFD}"/>
              </a:ext>
            </a:extLst>
          </p:cNvPr>
          <p:cNvSpPr/>
          <p:nvPr/>
        </p:nvSpPr>
        <p:spPr>
          <a:xfrm>
            <a:off x="6854909" y="5832899"/>
            <a:ext cx="331980" cy="157313"/>
          </a:xfrm>
          <a:prstGeom prst="rightArrow">
            <a:avLst>
              <a:gd name="adj1" fmla="val 50000"/>
              <a:gd name="adj2" fmla="val 73159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7" name="图形 86" descr="雇员徽章 轮廓">
            <a:extLst>
              <a:ext uri="{FF2B5EF4-FFF2-40B4-BE49-F238E27FC236}">
                <a16:creationId xmlns:a16="http://schemas.microsoft.com/office/drawing/2014/main" id="{6D80344A-D52E-28CA-DD05-50CFF48962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24479" y="5229923"/>
            <a:ext cx="269038" cy="269038"/>
          </a:xfrm>
          <a:prstGeom prst="rect">
            <a:avLst/>
          </a:prstGeom>
        </p:spPr>
      </p:pic>
      <p:sp>
        <p:nvSpPr>
          <p:cNvPr id="89" name="矩形 88">
            <a:extLst>
              <a:ext uri="{FF2B5EF4-FFF2-40B4-BE49-F238E27FC236}">
                <a16:creationId xmlns:a16="http://schemas.microsoft.com/office/drawing/2014/main" id="{F677090C-B0A1-11AB-2E63-28ADBEC2EA65}"/>
              </a:ext>
            </a:extLst>
          </p:cNvPr>
          <p:cNvSpPr/>
          <p:nvPr/>
        </p:nvSpPr>
        <p:spPr>
          <a:xfrm>
            <a:off x="0" y="965200"/>
            <a:ext cx="12192000" cy="1972862"/>
          </a:xfrm>
          <a:prstGeom prst="rect">
            <a:avLst/>
          </a:prstGeom>
          <a:solidFill>
            <a:srgbClr val="0D0D0D">
              <a:alpha val="4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644BB74D-BC65-0976-6531-AB19830070A1}"/>
              </a:ext>
            </a:extLst>
          </p:cNvPr>
          <p:cNvSpPr/>
          <p:nvPr/>
        </p:nvSpPr>
        <p:spPr>
          <a:xfrm>
            <a:off x="0" y="2949143"/>
            <a:ext cx="12192000" cy="1851006"/>
          </a:xfrm>
          <a:prstGeom prst="rect">
            <a:avLst/>
          </a:prstGeom>
          <a:solidFill>
            <a:srgbClr val="0D0D0D">
              <a:alpha val="4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E8FB0904-8C6B-C045-467C-0B5AC3B04CA7}"/>
              </a:ext>
            </a:extLst>
          </p:cNvPr>
          <p:cNvSpPr txBox="1"/>
          <p:nvPr/>
        </p:nvSpPr>
        <p:spPr>
          <a:xfrm>
            <a:off x="3420548" y="2661687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0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传统方案</a:t>
            </a:r>
            <a:endParaRPr lang="zh-CN" altLang="en-US" sz="4000" dirty="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0975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68 0.00393 L -0.50586 0.07939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133" y="37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4.07407E-6 L 0.34922 -0.00717 " pathEditMode="relative" rAng="0" ptsTypes="AA">
                                      <p:cBhvr>
                                        <p:cTn id="1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461" y="-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2" presetClass="emph" presetSubtype="0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79" grpId="0" animBg="1"/>
      <p:bldP spid="89" grpId="0" animBg="1"/>
      <p:bldP spid="90" grpId="0" animBg="1"/>
      <p:bldP spid="8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F229ADD-1A6B-1490-02FE-C431A9D8E0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>
                <a:latin typeface="Fira Code" panose="020B0809050000020004" pitchFamily="49" charset="0"/>
              </a:rPr>
              <a:t>令牌会话跟踪方案的优缺点 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?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优点：</a:t>
            </a:r>
          </a:p>
          <a:p>
            <a:pPr marL="900000" lvl="2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467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支持</a:t>
            </a:r>
            <a:r>
              <a:rPr lang="en-US" altLang="zh-CN" sz="1467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PC</a:t>
            </a:r>
            <a:r>
              <a:rPr lang="zh-CN" altLang="en-US" sz="1467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端、移动端</a:t>
            </a:r>
          </a:p>
          <a:p>
            <a:pPr marL="900000" lvl="2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467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解决集群环境下的认证问题</a:t>
            </a:r>
          </a:p>
          <a:p>
            <a:pPr marL="900000" lvl="2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467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减轻服务器端存储压力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缺点：需要自己实现</a:t>
            </a:r>
          </a:p>
        </p:txBody>
      </p:sp>
    </p:spTree>
    <p:extLst>
      <p:ext uri="{BB962C8B-B14F-4D97-AF65-F5344CB8AC3E}">
        <p14:creationId xmlns:p14="http://schemas.microsoft.com/office/powerpoint/2010/main" val="437760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C3029D-6D92-1931-9799-63FE72E50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令牌技术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DDA979D-3E5B-AE31-B1D4-9C98A61938E2}"/>
              </a:ext>
            </a:extLst>
          </p:cNvPr>
          <p:cNvSpPr/>
          <p:nvPr/>
        </p:nvSpPr>
        <p:spPr>
          <a:xfrm>
            <a:off x="1138518" y="1661371"/>
            <a:ext cx="10185175" cy="2685872"/>
          </a:xfrm>
          <a:prstGeom prst="roundRect">
            <a:avLst>
              <a:gd name="adj" fmla="val 3016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tx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46737B6-FD44-A2DF-48BE-DEEB34230969}"/>
              </a:ext>
            </a:extLst>
          </p:cNvPr>
          <p:cNvSpPr/>
          <p:nvPr/>
        </p:nvSpPr>
        <p:spPr>
          <a:xfrm>
            <a:off x="7042220" y="1784891"/>
            <a:ext cx="3468901" cy="2466897"/>
          </a:xfrm>
          <a:prstGeom prst="roundRect">
            <a:avLst>
              <a:gd name="adj" fmla="val 4938"/>
            </a:avLst>
          </a:prstGeom>
          <a:solidFill>
            <a:srgbClr val="86E2E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tx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8145FB13-5479-0881-AB42-9DCCB0BC2D0A}"/>
              </a:ext>
            </a:extLst>
          </p:cNvPr>
          <p:cNvCxnSpPr>
            <a:cxnSpLocks/>
          </p:cNvCxnSpPr>
          <p:nvPr/>
        </p:nvCxnSpPr>
        <p:spPr>
          <a:xfrm>
            <a:off x="3000875" y="2798891"/>
            <a:ext cx="3936990" cy="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65516D22-F0BB-1317-4189-1926CED0AB53}"/>
              </a:ext>
            </a:extLst>
          </p:cNvPr>
          <p:cNvCxnSpPr>
            <a:cxnSpLocks/>
          </p:cNvCxnSpPr>
          <p:nvPr/>
        </p:nvCxnSpPr>
        <p:spPr>
          <a:xfrm flipH="1">
            <a:off x="2948126" y="3248465"/>
            <a:ext cx="3989739" cy="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!!文本框 112">
            <a:extLst>
              <a:ext uri="{FF2B5EF4-FFF2-40B4-BE49-F238E27FC236}">
                <a16:creationId xmlns:a16="http://schemas.microsoft.com/office/drawing/2014/main" id="{44F90FCD-64DD-F741-6380-C37AEB04DCB7}"/>
              </a:ext>
            </a:extLst>
          </p:cNvPr>
          <p:cNvSpPr txBox="1"/>
          <p:nvPr/>
        </p:nvSpPr>
        <p:spPr>
          <a:xfrm>
            <a:off x="2284307" y="3421642"/>
            <a:ext cx="6638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浏览器</a:t>
            </a:r>
            <a:endParaRPr lang="zh-CN" altLang="en-US" sz="12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65BE65E-CC09-57CF-3126-9484EF10730D}"/>
              </a:ext>
            </a:extLst>
          </p:cNvPr>
          <p:cNvSpPr txBox="1"/>
          <p:nvPr/>
        </p:nvSpPr>
        <p:spPr>
          <a:xfrm>
            <a:off x="4652932" y="2461185"/>
            <a:ext cx="5901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请求</a:t>
            </a:r>
            <a:endParaRPr lang="zh-CN" altLang="en-US" sz="12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AD880FE-4CF7-EDA4-E793-6EFEE81C6506}"/>
              </a:ext>
            </a:extLst>
          </p:cNvPr>
          <p:cNvSpPr txBox="1"/>
          <p:nvPr/>
        </p:nvSpPr>
        <p:spPr>
          <a:xfrm>
            <a:off x="4660622" y="3262068"/>
            <a:ext cx="4860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响应</a:t>
            </a:r>
            <a:endParaRPr lang="zh-CN" altLang="en-US" sz="12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0F04FB73-1026-1ED6-20AA-EFF5D45AD18E}"/>
              </a:ext>
            </a:extLst>
          </p:cNvPr>
          <p:cNvGrpSpPr/>
          <p:nvPr/>
        </p:nvGrpSpPr>
        <p:grpSpPr>
          <a:xfrm>
            <a:off x="2287567" y="2703080"/>
            <a:ext cx="595948" cy="622749"/>
            <a:chOff x="1339028" y="3390775"/>
            <a:chExt cx="1076475" cy="960776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2508A122-D38F-0CC4-5299-8EEE569135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39028" y="3390775"/>
              <a:ext cx="1076475" cy="960776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C82159EF-BC8B-3053-F199-8E7D2C9847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53395" y="3650475"/>
              <a:ext cx="447737" cy="425919"/>
            </a:xfrm>
            <a:prstGeom prst="rect">
              <a:avLst/>
            </a:prstGeom>
          </p:spPr>
        </p:pic>
      </p:grp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D8ECB11-85C9-5154-63CC-8F1B810EA49A}"/>
              </a:ext>
            </a:extLst>
          </p:cNvPr>
          <p:cNvSpPr/>
          <p:nvPr/>
        </p:nvSpPr>
        <p:spPr>
          <a:xfrm>
            <a:off x="7134765" y="1907574"/>
            <a:ext cx="3272002" cy="2204864"/>
          </a:xfrm>
          <a:prstGeom prst="roundRect">
            <a:avLst>
              <a:gd name="adj" fmla="val 3205"/>
            </a:avLst>
          </a:prstGeom>
          <a:noFill/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tx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矩形: 对角圆角 14">
            <a:extLst>
              <a:ext uri="{FF2B5EF4-FFF2-40B4-BE49-F238E27FC236}">
                <a16:creationId xmlns:a16="http://schemas.microsoft.com/office/drawing/2014/main" id="{BF045AB5-8704-E2B1-0958-10269D6B3C01}"/>
              </a:ext>
            </a:extLst>
          </p:cNvPr>
          <p:cNvSpPr/>
          <p:nvPr/>
        </p:nvSpPr>
        <p:spPr>
          <a:xfrm>
            <a:off x="7419387" y="2298602"/>
            <a:ext cx="813609" cy="1544419"/>
          </a:xfrm>
          <a:prstGeom prst="round2DiagRect">
            <a:avLst>
              <a:gd name="adj1" fmla="val 16636"/>
              <a:gd name="adj2" fmla="val 0"/>
            </a:avLst>
          </a:prstGeom>
          <a:solidFill>
            <a:srgbClr val="FFC91D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统一拦截</a:t>
            </a:r>
            <a:endParaRPr lang="zh-CN" altLang="en-US" sz="1400">
              <a:solidFill>
                <a:schemeClr val="tx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4A0206BB-E95C-4D54-1BEF-29B8829144C1}"/>
              </a:ext>
            </a:extLst>
          </p:cNvPr>
          <p:cNvSpPr/>
          <p:nvPr/>
        </p:nvSpPr>
        <p:spPr>
          <a:xfrm>
            <a:off x="8472006" y="2026856"/>
            <a:ext cx="1217840" cy="397840"/>
          </a:xfrm>
          <a:prstGeom prst="round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Login</a:t>
            </a:r>
            <a:endParaRPr lang="zh-CN" altLang="en-US" sz="14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65C4430-F548-0F78-7BE9-39C958F27441}"/>
              </a:ext>
            </a:extLst>
          </p:cNvPr>
          <p:cNvSpPr/>
          <p:nvPr/>
        </p:nvSpPr>
        <p:spPr>
          <a:xfrm>
            <a:off x="8472004" y="2543956"/>
            <a:ext cx="1217840" cy="397840"/>
          </a:xfrm>
          <a:prstGeom prst="round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Emp</a:t>
            </a:r>
            <a:endParaRPr lang="zh-CN" altLang="en-US" sz="14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544DC0E-3547-1F80-D9FF-B20BCF6EE0B8}"/>
              </a:ext>
            </a:extLst>
          </p:cNvPr>
          <p:cNvSpPr/>
          <p:nvPr/>
        </p:nvSpPr>
        <p:spPr>
          <a:xfrm>
            <a:off x="8481454" y="3061057"/>
            <a:ext cx="1217840" cy="397840"/>
          </a:xfrm>
          <a:prstGeom prst="round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Dept</a:t>
            </a:r>
            <a:endParaRPr lang="zh-CN" altLang="en-US" sz="14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0C02653-FB0E-9DDF-63CA-D2FD8E81FF50}"/>
              </a:ext>
            </a:extLst>
          </p:cNvPr>
          <p:cNvSpPr/>
          <p:nvPr/>
        </p:nvSpPr>
        <p:spPr>
          <a:xfrm>
            <a:off x="8472004" y="3578156"/>
            <a:ext cx="1217840" cy="397840"/>
          </a:xfrm>
          <a:prstGeom prst="round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Report</a:t>
            </a:r>
            <a:endParaRPr lang="zh-CN" altLang="en-US" sz="14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C6A2D2DD-CF7E-F916-86C5-A66A340913F3}"/>
              </a:ext>
            </a:extLst>
          </p:cNvPr>
          <p:cNvSpPr/>
          <p:nvPr/>
        </p:nvSpPr>
        <p:spPr>
          <a:xfrm rot="19229268">
            <a:off x="8116551" y="2342927"/>
            <a:ext cx="475669" cy="235770"/>
          </a:xfrm>
          <a:prstGeom prst="rightArrow">
            <a:avLst>
              <a:gd name="adj1" fmla="val 50000"/>
              <a:gd name="adj2" fmla="val 73159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EE54341A-8BF4-D1AC-C51E-29313F79324D}"/>
              </a:ext>
            </a:extLst>
          </p:cNvPr>
          <p:cNvSpPr/>
          <p:nvPr/>
        </p:nvSpPr>
        <p:spPr>
          <a:xfrm rot="2290107">
            <a:off x="8120479" y="3543414"/>
            <a:ext cx="475669" cy="235770"/>
          </a:xfrm>
          <a:prstGeom prst="rightArrow">
            <a:avLst>
              <a:gd name="adj1" fmla="val 50000"/>
              <a:gd name="adj2" fmla="val 73159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33A5EAB3-0AE4-61A5-D547-548804FC3EEA}"/>
              </a:ext>
            </a:extLst>
          </p:cNvPr>
          <p:cNvSpPr/>
          <p:nvPr/>
        </p:nvSpPr>
        <p:spPr>
          <a:xfrm>
            <a:off x="8175296" y="2962095"/>
            <a:ext cx="420285" cy="250004"/>
          </a:xfrm>
          <a:prstGeom prst="rightArrow">
            <a:avLst>
              <a:gd name="adj1" fmla="val 50000"/>
              <a:gd name="adj2" fmla="val 73159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pic>
        <p:nvPicPr>
          <p:cNvPr id="24" name="图形 23" descr="雇员徽章 轮廓">
            <a:extLst>
              <a:ext uri="{FF2B5EF4-FFF2-40B4-BE49-F238E27FC236}">
                <a16:creationId xmlns:a16="http://schemas.microsoft.com/office/drawing/2014/main" id="{21AA2E37-CEE3-E34F-6CA4-90782EFB7D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9294" y="1995173"/>
            <a:ext cx="397840" cy="397840"/>
          </a:xfrm>
          <a:prstGeom prst="rect">
            <a:avLst/>
          </a:prstGeom>
        </p:spPr>
      </p:pic>
      <p:pic>
        <p:nvPicPr>
          <p:cNvPr id="25" name="图形 24" descr="雇员徽章 轮廓">
            <a:extLst>
              <a:ext uri="{FF2B5EF4-FFF2-40B4-BE49-F238E27FC236}">
                <a16:creationId xmlns:a16="http://schemas.microsoft.com/office/drawing/2014/main" id="{2E7361BF-6503-B9AD-7748-EB58AFA59E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21278" y="2793875"/>
            <a:ext cx="454590" cy="45459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A3EFE363-72C0-FDD3-FCFD-3177AF6B98AF}"/>
              </a:ext>
            </a:extLst>
          </p:cNvPr>
          <p:cNvSpPr txBox="1"/>
          <p:nvPr/>
        </p:nvSpPr>
        <p:spPr>
          <a:xfrm>
            <a:off x="5243114" y="1179737"/>
            <a:ext cx="1338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4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JWT</a:t>
            </a:r>
            <a:r>
              <a:rPr lang="zh-CN" altLang="en-US" sz="24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令牌</a:t>
            </a:r>
            <a:endParaRPr lang="en-US" altLang="zh-CN" sz="240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5C002E0-4D5A-87BD-E0B9-7FAE29BA5059}"/>
              </a:ext>
            </a:extLst>
          </p:cNvPr>
          <p:cNvSpPr txBox="1"/>
          <p:nvPr/>
        </p:nvSpPr>
        <p:spPr>
          <a:xfrm>
            <a:off x="9616732" y="1999147"/>
            <a:ext cx="8422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生成</a:t>
            </a:r>
            <a:endParaRPr lang="en-US" altLang="zh-CN" sz="240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14A2BE6-3AC5-AC19-61D2-1EBB4E29DC6B}"/>
              </a:ext>
            </a:extLst>
          </p:cNvPr>
          <p:cNvSpPr txBox="1"/>
          <p:nvPr/>
        </p:nvSpPr>
        <p:spPr>
          <a:xfrm>
            <a:off x="6954411" y="2435455"/>
            <a:ext cx="8422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校验</a:t>
            </a:r>
            <a:endParaRPr lang="en-US" altLang="zh-CN" sz="240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87720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2.59259E-6 L -0.64388 0.1206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201" y="6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7.40741E-7 L 0.43203 -0.00232 " pathEditMode="relative" rAng="0" ptsTypes="AA">
                                      <p:cBhvr>
                                        <p:cTn id="1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602" y="-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1D50508-E0D4-47F2-035C-4233AC418A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登录校验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B8DA87-FD6C-FBB0-B363-736345AB02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>
                <a:latin typeface="+mn-lt"/>
              </a:rPr>
              <a:t>会话技术</a:t>
            </a:r>
            <a:endParaRPr lang="en-US" altLang="zh-CN">
              <a:latin typeface="+mn-lt"/>
            </a:endParaRPr>
          </a:p>
          <a:p>
            <a:r>
              <a:rPr lang="en-US" altLang="zh-CN">
                <a:solidFill>
                  <a:srgbClr val="C00000"/>
                </a:solidFill>
                <a:latin typeface="+mn-lt"/>
              </a:rPr>
              <a:t>JWT</a:t>
            </a:r>
            <a:r>
              <a:rPr lang="zh-CN" altLang="en-US">
                <a:solidFill>
                  <a:srgbClr val="C00000"/>
                </a:solidFill>
                <a:latin typeface="+mn-lt"/>
              </a:rPr>
              <a:t>令牌</a:t>
            </a:r>
            <a:endParaRPr lang="en-US" altLang="zh-CN">
              <a:solidFill>
                <a:srgbClr val="C00000"/>
              </a:solidFill>
              <a:latin typeface="+mn-lt"/>
            </a:endParaRPr>
          </a:p>
          <a:p>
            <a:r>
              <a:rPr lang="zh-CN" altLang="en-US">
                <a:latin typeface="+mn-lt"/>
              </a:rPr>
              <a:t>过滤器</a:t>
            </a:r>
            <a:r>
              <a:rPr lang="en-US" altLang="zh-CN">
                <a:latin typeface="+mn-lt"/>
              </a:rPr>
              <a:t>Filter</a:t>
            </a:r>
          </a:p>
          <a:p>
            <a:r>
              <a:rPr lang="zh-CN" altLang="en-US">
                <a:latin typeface="+mn-lt"/>
              </a:rPr>
              <a:t>拦截器</a:t>
            </a:r>
            <a:r>
              <a:rPr lang="en-US" altLang="zh-CN">
                <a:latin typeface="+mn-lt"/>
              </a:rPr>
              <a:t>Interceptor</a:t>
            </a:r>
            <a:endParaRPr lang="zh-CN" altLang="en-US">
              <a:latin typeface="+mn-lt"/>
            </a:endParaRP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8379477-2B8E-30F1-5750-C0F3A85768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74519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D96C42-8254-FC5B-1E87-972AC4D48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JWT</a:t>
            </a:r>
            <a:r>
              <a:rPr lang="zh-CN" altLang="en-US"/>
              <a:t>令牌</a:t>
            </a:r>
            <a:r>
              <a:rPr lang="en-US" altLang="zh-CN"/>
              <a:t>-</a:t>
            </a:r>
            <a:r>
              <a:rPr lang="zh-CN" altLang="en-US"/>
              <a:t>介绍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326B92-D00D-15E1-CB9A-9EFDA7768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2952371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全称：</a:t>
            </a:r>
            <a:r>
              <a:rPr lang="en-US" altLang="zh-CN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J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SON </a:t>
            </a:r>
            <a:r>
              <a:rPr lang="en-US" altLang="zh-CN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W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eb </a:t>
            </a:r>
            <a:r>
              <a:rPr lang="en-US" altLang="zh-CN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T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oken</a:t>
            </a:r>
            <a:r>
              <a:rPr lang="zh-CN" altLang="en-US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（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  <a:hlinkClick r:id="rId2"/>
              </a:rPr>
              <a:t>https://jwt.io/</a:t>
            </a:r>
            <a:r>
              <a:rPr lang="zh-CN" altLang="en-US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定义了一种简洁的、自包含的格式，用于在通信双方以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json</a:t>
            </a:r>
            <a:r>
              <a:rPr lang="zh-CN" altLang="en-US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数据格式安全的传输信息。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组成：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第一部分：</a:t>
            </a:r>
            <a:r>
              <a:rPr lang="en-US" altLang="zh-CN" sz="1400" b="0" i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Header(</a:t>
            </a:r>
            <a:r>
              <a:rPr lang="zh-CN" altLang="en-US" sz="1400" b="0" i="0">
                <a:effectLst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头），记录令牌类型、签名算法等。 例如：</a:t>
            </a:r>
            <a:r>
              <a:rPr lang="en-US" altLang="zh-CN" sz="1400" b="0" i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{"alg":"HS256","type":"JWT"}</a:t>
            </a: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第二部分：</a:t>
            </a:r>
            <a:r>
              <a:rPr lang="en-US" altLang="zh-CN" sz="1400" b="0" i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Payload(</a:t>
            </a:r>
            <a:r>
              <a:rPr lang="zh-CN" altLang="en-US" sz="1400" b="0" i="0">
                <a:effectLst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有效载荷），携带一些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自定义</a:t>
            </a:r>
            <a:r>
              <a:rPr lang="zh-CN" altLang="en-US" sz="1400" b="0" i="0">
                <a:effectLst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信息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zh-CN" altLang="en-US" sz="1400" b="0" i="0">
                <a:effectLst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默认信息等。 例如：</a:t>
            </a:r>
            <a:r>
              <a:rPr lang="en-US" altLang="zh-CN" sz="1400" b="0" i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{"id":"1","username":"Tom"}</a:t>
            </a: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第三部分：</a:t>
            </a:r>
            <a:r>
              <a:rPr lang="en-US" altLang="zh-CN" sz="1400" b="0" i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Signature(</a:t>
            </a:r>
            <a:r>
              <a:rPr lang="zh-CN" altLang="en-US" sz="1400" b="0" i="0">
                <a:effectLst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签名），防止</a:t>
            </a:r>
            <a:r>
              <a:rPr lang="en-US" altLang="zh-CN" sz="1400" b="0" i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Token</a:t>
            </a:r>
            <a:r>
              <a:rPr lang="zh-CN" altLang="en-US" sz="1400" b="0" i="0">
                <a:effectLst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被篡改、确保安全性。将</a:t>
            </a:r>
            <a:r>
              <a:rPr lang="en-US" altLang="zh-CN" sz="1400" b="0" i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header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payload</a:t>
            </a:r>
            <a:r>
              <a:rPr lang="zh-CN" altLang="en-US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融入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，并加入指定秘钥，通过指定签名算法计算而来。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999F516-8C20-8E74-16A4-720C4CC5514A}"/>
              </a:ext>
            </a:extLst>
          </p:cNvPr>
          <p:cNvSpPr txBox="1"/>
          <p:nvPr/>
        </p:nvSpPr>
        <p:spPr>
          <a:xfrm>
            <a:off x="765159" y="5132335"/>
            <a:ext cx="10698800" cy="436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</a:pPr>
            <a:r>
              <a:rPr lang="en-US" altLang="zh-CN" sz="1100" b="1">
                <a:solidFill>
                  <a:srgbClr val="92D05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eyJhbGciOiJIUzI1NiIsInR5cCI6IkpXVCJ9</a:t>
            </a:r>
            <a:r>
              <a:rPr lang="en-US" altLang="zh-CN" sz="1100" b="1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  <a:r>
              <a:rPr lang="en-US" altLang="zh-CN" sz="1100" b="1">
                <a:solidFill>
                  <a:srgbClr val="AE78D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JTdCJTIybmFtZSUyMiUzQSUyMlRvbSUyMiUyQyUyMmlhdCUyMiUzQTE1MTYyMzkwMjIlN0Q=</a:t>
            </a:r>
            <a:r>
              <a:rPr lang="en-US" altLang="zh-CN" sz="1100" b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  <a:r>
              <a:rPr lang="en-US" altLang="zh-CN" sz="1100" b="1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SflKxwRJSMeKKF2QT4fwpMeJf...</a:t>
            </a:r>
          </a:p>
        </p:txBody>
      </p:sp>
      <p:sp>
        <p:nvSpPr>
          <p:cNvPr id="5" name="右大括号 4">
            <a:extLst>
              <a:ext uri="{FF2B5EF4-FFF2-40B4-BE49-F238E27FC236}">
                <a16:creationId xmlns:a16="http://schemas.microsoft.com/office/drawing/2014/main" id="{0F44F73E-4A4B-76AD-2190-1078A6E594EC}"/>
              </a:ext>
            </a:extLst>
          </p:cNvPr>
          <p:cNvSpPr/>
          <p:nvPr/>
        </p:nvSpPr>
        <p:spPr>
          <a:xfrm rot="16200000">
            <a:off x="2060935" y="3837775"/>
            <a:ext cx="284371" cy="2733042"/>
          </a:xfrm>
          <a:prstGeom prst="rightBrace">
            <a:avLst>
              <a:gd name="adj1" fmla="val 41081"/>
              <a:gd name="adj2" fmla="val 50000"/>
            </a:avLst>
          </a:prstGeom>
          <a:ln w="127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2D050"/>
              </a:solidFill>
            </a:endParaRPr>
          </a:p>
        </p:txBody>
      </p:sp>
      <p:sp>
        <p:nvSpPr>
          <p:cNvPr id="6" name="右大括号 5">
            <a:extLst>
              <a:ext uri="{FF2B5EF4-FFF2-40B4-BE49-F238E27FC236}">
                <a16:creationId xmlns:a16="http://schemas.microsoft.com/office/drawing/2014/main" id="{A28466B0-065B-ADE5-B499-F83D9597B932}"/>
              </a:ext>
            </a:extLst>
          </p:cNvPr>
          <p:cNvSpPr/>
          <p:nvPr/>
        </p:nvSpPr>
        <p:spPr>
          <a:xfrm rot="16200000">
            <a:off x="6282576" y="2461256"/>
            <a:ext cx="284372" cy="5486079"/>
          </a:xfrm>
          <a:prstGeom prst="rightBrace">
            <a:avLst>
              <a:gd name="adj1" fmla="val 41081"/>
              <a:gd name="adj2" fmla="val 50000"/>
            </a:avLst>
          </a:prstGeom>
          <a:ln w="12700">
            <a:solidFill>
              <a:srgbClr val="AE78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7" name="右大括号 6">
            <a:extLst>
              <a:ext uri="{FF2B5EF4-FFF2-40B4-BE49-F238E27FC236}">
                <a16:creationId xmlns:a16="http://schemas.microsoft.com/office/drawing/2014/main" id="{0AF2AE78-D96E-0C79-75D4-F2D5692BAD15}"/>
              </a:ext>
            </a:extLst>
          </p:cNvPr>
          <p:cNvSpPr/>
          <p:nvPr/>
        </p:nvSpPr>
        <p:spPr>
          <a:xfrm rot="16200000">
            <a:off x="10173855" y="4168136"/>
            <a:ext cx="284373" cy="2072317"/>
          </a:xfrm>
          <a:prstGeom prst="rightBrace">
            <a:avLst>
              <a:gd name="adj1" fmla="val 41081"/>
              <a:gd name="adj2" fmla="val 50000"/>
            </a:avLst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D8CC287-3842-EEAA-E23D-0A9E6BF31FF4}"/>
              </a:ext>
            </a:extLst>
          </p:cNvPr>
          <p:cNvSpPr txBox="1"/>
          <p:nvPr/>
        </p:nvSpPr>
        <p:spPr>
          <a:xfrm>
            <a:off x="836599" y="4805016"/>
            <a:ext cx="2733043" cy="18466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lang="en-US" altLang="zh-CN" sz="1200" b="0" i="0">
                <a:solidFill>
                  <a:srgbClr val="92D05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{"alg":"HS256","</a:t>
            </a:r>
            <a:r>
              <a:rPr lang="en-US" altLang="zh-CN" sz="1200">
                <a:solidFill>
                  <a:srgbClr val="92D0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type":"</a:t>
            </a:r>
            <a:r>
              <a:rPr lang="en-US" altLang="zh-CN" sz="1200" b="0" i="0">
                <a:solidFill>
                  <a:srgbClr val="92D05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JWT"}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3850E7D-6501-F0A8-3767-7852B745D53E}"/>
              </a:ext>
            </a:extLst>
          </p:cNvPr>
          <p:cNvSpPr txBox="1"/>
          <p:nvPr/>
        </p:nvSpPr>
        <p:spPr>
          <a:xfrm>
            <a:off x="4804769" y="4842330"/>
            <a:ext cx="3110124" cy="18466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lang="en-US" altLang="zh-CN" sz="1200">
                <a:solidFill>
                  <a:srgbClr val="AE78D6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{"name":"Tom","iat":1516239022}</a:t>
            </a:r>
            <a:endParaRPr lang="en-US" altLang="zh-CN" sz="1200" b="0" i="0">
              <a:solidFill>
                <a:srgbClr val="AE78D6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2CFB34E-4EE0-8442-2A93-987B98692A90}"/>
              </a:ext>
            </a:extLst>
          </p:cNvPr>
          <p:cNvSpPr txBox="1"/>
          <p:nvPr/>
        </p:nvSpPr>
        <p:spPr>
          <a:xfrm>
            <a:off x="8812586" y="4847029"/>
            <a:ext cx="3006910" cy="18466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lang="zh-CN" altLang="en-US" sz="1200" b="0" i="0">
                <a:solidFill>
                  <a:srgbClr val="C00000"/>
                </a:solidFill>
                <a:effectLst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数字签名</a:t>
            </a:r>
            <a:r>
              <a:rPr lang="en-US" altLang="zh-CN" sz="1200" b="0" i="0">
                <a:solidFill>
                  <a:srgbClr val="C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(header.payload</a:t>
            </a:r>
            <a:r>
              <a:rPr lang="zh-CN" altLang="en-US" sz="1200" b="0" i="0">
                <a:solidFill>
                  <a:srgbClr val="C00000"/>
                </a:solidFill>
                <a:effectLst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</a:t>
            </a:r>
            <a:r>
              <a:rPr lang="en-US" altLang="zh-CN" sz="1200" b="0" i="0">
                <a:solidFill>
                  <a:srgbClr val="C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secret)</a:t>
            </a:r>
          </a:p>
        </p:txBody>
      </p:sp>
      <p:sp>
        <p:nvSpPr>
          <p:cNvPr id="11" name="矩形: 对角圆角 10">
            <a:extLst>
              <a:ext uri="{FF2B5EF4-FFF2-40B4-BE49-F238E27FC236}">
                <a16:creationId xmlns:a16="http://schemas.microsoft.com/office/drawing/2014/main" id="{9CADCED1-7C7C-1E1E-C78B-F5E839CD8B00}"/>
              </a:ext>
            </a:extLst>
          </p:cNvPr>
          <p:cNvSpPr/>
          <p:nvPr/>
        </p:nvSpPr>
        <p:spPr>
          <a:xfrm>
            <a:off x="836599" y="5901759"/>
            <a:ext cx="10800079" cy="436402"/>
          </a:xfrm>
          <a:prstGeom prst="round2DiagRect">
            <a:avLst>
              <a:gd name="adj1" fmla="val 30000"/>
              <a:gd name="adj2" fmla="val 0"/>
            </a:avLst>
          </a:prstGeom>
          <a:solidFill>
            <a:schemeClr val="accent6">
              <a:lumMod val="40000"/>
              <a:lumOff val="60000"/>
            </a:schemeClr>
          </a:solidFill>
          <a:ln w="6350">
            <a:noFill/>
            <a:prstDash val="dash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 b="1">
                <a:solidFill>
                  <a:schemeClr val="tx1">
                    <a:lumMod val="75000"/>
                    <a:lumOff val="2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Base64</a:t>
            </a:r>
            <a:r>
              <a:rPr lang="zh-CN" altLang="en-US" sz="1200" b="1">
                <a:solidFill>
                  <a:schemeClr val="tx1">
                    <a:lumMod val="75000"/>
                    <a:lumOff val="2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是一种基于</a:t>
            </a:r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64</a:t>
            </a: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个可打印字符（</a:t>
            </a:r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A-Z</a:t>
            </a: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a-z</a:t>
            </a: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0-9</a:t>
            </a: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+ </a:t>
            </a:r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/</a:t>
            </a: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）来表示二进制数据的编码方式。</a:t>
            </a:r>
            <a:endParaRPr lang="zh-CN" altLang="en-US" sz="1200">
              <a:solidFill>
                <a:schemeClr val="tx1">
                  <a:lumMod val="75000"/>
                  <a:lumOff val="25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09981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8" grpId="0"/>
      <p:bldP spid="9" grpId="0"/>
      <p:bldP spid="10" grpId="0"/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0478B7-AEB4-3BD8-D000-3811B85B2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JWT</a:t>
            </a:r>
            <a:r>
              <a:rPr lang="zh-CN" altLang="en-US"/>
              <a:t>令牌</a:t>
            </a:r>
            <a:r>
              <a:rPr lang="en-US" altLang="zh-CN"/>
              <a:t>-</a:t>
            </a:r>
            <a:r>
              <a:rPr lang="zh-CN" altLang="en-US"/>
              <a:t>生成</a:t>
            </a:r>
            <a:r>
              <a:rPr lang="en-US" altLang="zh-CN"/>
              <a:t>/</a:t>
            </a:r>
            <a:r>
              <a:rPr lang="zh-CN" altLang="en-US"/>
              <a:t>解析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88611A-DA86-6409-7DBA-30C028C28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1981198"/>
            <a:ext cx="11060481" cy="936137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引入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jjwt</a:t>
            </a:r>
            <a:r>
              <a:rPr lang="zh-CN" altLang="en-US">
                <a:latin typeface="Fira Code" panose="020B0809050000020004" pitchFamily="49" charset="0"/>
              </a:rPr>
              <a:t>的依赖。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调用官方提供的工具类 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Jwts </a:t>
            </a:r>
            <a:r>
              <a:rPr lang="zh-CN" altLang="en-US">
                <a:latin typeface="Fira Code" panose="020B0809050000020004" pitchFamily="49" charset="0"/>
              </a:rPr>
              <a:t>来生成或解析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jwt</a:t>
            </a:r>
            <a:r>
              <a:rPr lang="zh-CN" altLang="en-US">
                <a:latin typeface="Fira Code" panose="020B0809050000020004" pitchFamily="49" charset="0"/>
              </a:rPr>
              <a:t>令牌。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5729713-0FBB-2740-2769-93812875DB09}"/>
              </a:ext>
            </a:extLst>
          </p:cNvPr>
          <p:cNvSpPr txBox="1"/>
          <p:nvPr/>
        </p:nvSpPr>
        <p:spPr>
          <a:xfrm>
            <a:off x="698924" y="1398135"/>
            <a:ext cx="10698800" cy="436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</a:pPr>
            <a:r>
              <a:rPr lang="en-US" altLang="zh-CN" sz="1100" b="1">
                <a:solidFill>
                  <a:srgbClr val="92D05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eyJhbGciOiJIUzI1NiIsInR5cCI6IkpXVCJ9</a:t>
            </a:r>
            <a:r>
              <a:rPr lang="en-US" altLang="zh-CN" sz="1100" b="1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  <a:r>
              <a:rPr lang="en-US" altLang="zh-CN" sz="1100" b="1">
                <a:solidFill>
                  <a:srgbClr val="AE78D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JTdCJTIybmFtZSUyMiUzQSUyMlRvbSUyMiUyQyUyMmlhdCUyMiUzQTE1MTYyMzkwMjIlN0Q=</a:t>
            </a:r>
            <a:r>
              <a:rPr lang="en-US" altLang="zh-CN" sz="1100" b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  <a:r>
              <a:rPr lang="en-US" altLang="zh-CN" sz="1100" b="1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SflKxwRJSMeKKF2QT4fwpMeJf...</a:t>
            </a:r>
          </a:p>
        </p:txBody>
      </p:sp>
      <p:sp>
        <p:nvSpPr>
          <p:cNvPr id="5" name="右大括号 4">
            <a:extLst>
              <a:ext uri="{FF2B5EF4-FFF2-40B4-BE49-F238E27FC236}">
                <a16:creationId xmlns:a16="http://schemas.microsoft.com/office/drawing/2014/main" id="{221E8E82-D715-C2DA-4473-0C971AB8D7BD}"/>
              </a:ext>
            </a:extLst>
          </p:cNvPr>
          <p:cNvSpPr/>
          <p:nvPr/>
        </p:nvSpPr>
        <p:spPr>
          <a:xfrm rot="16200000">
            <a:off x="1994700" y="103575"/>
            <a:ext cx="284371" cy="2733042"/>
          </a:xfrm>
          <a:prstGeom prst="rightBrace">
            <a:avLst>
              <a:gd name="adj1" fmla="val 41081"/>
              <a:gd name="adj2" fmla="val 50000"/>
            </a:avLst>
          </a:prstGeom>
          <a:ln w="127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2D050"/>
              </a:solidFill>
            </a:endParaRPr>
          </a:p>
        </p:txBody>
      </p:sp>
      <p:sp>
        <p:nvSpPr>
          <p:cNvPr id="6" name="右大括号 5">
            <a:extLst>
              <a:ext uri="{FF2B5EF4-FFF2-40B4-BE49-F238E27FC236}">
                <a16:creationId xmlns:a16="http://schemas.microsoft.com/office/drawing/2014/main" id="{5AA08447-3FA6-87EA-DBC6-FAEB2985868A}"/>
              </a:ext>
            </a:extLst>
          </p:cNvPr>
          <p:cNvSpPr/>
          <p:nvPr/>
        </p:nvSpPr>
        <p:spPr>
          <a:xfrm rot="16200000">
            <a:off x="6216341" y="-1272944"/>
            <a:ext cx="284372" cy="5486079"/>
          </a:xfrm>
          <a:prstGeom prst="rightBrace">
            <a:avLst>
              <a:gd name="adj1" fmla="val 41081"/>
              <a:gd name="adj2" fmla="val 50000"/>
            </a:avLst>
          </a:prstGeom>
          <a:ln w="12700">
            <a:solidFill>
              <a:srgbClr val="AE78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7" name="右大括号 6">
            <a:extLst>
              <a:ext uri="{FF2B5EF4-FFF2-40B4-BE49-F238E27FC236}">
                <a16:creationId xmlns:a16="http://schemas.microsoft.com/office/drawing/2014/main" id="{D580DC48-5E1F-7DD0-2699-85F52C9FE54A}"/>
              </a:ext>
            </a:extLst>
          </p:cNvPr>
          <p:cNvSpPr/>
          <p:nvPr/>
        </p:nvSpPr>
        <p:spPr>
          <a:xfrm rot="16200000">
            <a:off x="10107620" y="433936"/>
            <a:ext cx="284373" cy="2072317"/>
          </a:xfrm>
          <a:prstGeom prst="rightBrace">
            <a:avLst>
              <a:gd name="adj1" fmla="val 41081"/>
              <a:gd name="adj2" fmla="val 50000"/>
            </a:avLst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13C8E1F-5C85-6691-EE01-7303CDD76F27}"/>
              </a:ext>
            </a:extLst>
          </p:cNvPr>
          <p:cNvSpPr txBox="1"/>
          <p:nvPr/>
        </p:nvSpPr>
        <p:spPr>
          <a:xfrm>
            <a:off x="770364" y="1070816"/>
            <a:ext cx="2733043" cy="18466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lang="en-US" altLang="zh-CN" sz="1200" b="0" i="0">
                <a:solidFill>
                  <a:srgbClr val="92D05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{"alg":"HS256","</a:t>
            </a:r>
            <a:r>
              <a:rPr lang="en-US" altLang="zh-CN" sz="1200">
                <a:solidFill>
                  <a:srgbClr val="92D0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type":"</a:t>
            </a:r>
            <a:r>
              <a:rPr lang="en-US" altLang="zh-CN" sz="1200" b="0" i="0">
                <a:solidFill>
                  <a:srgbClr val="92D05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JWT"}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23542CA-B89D-6DC6-311B-F03DC1B957E5}"/>
              </a:ext>
            </a:extLst>
          </p:cNvPr>
          <p:cNvSpPr txBox="1"/>
          <p:nvPr/>
        </p:nvSpPr>
        <p:spPr>
          <a:xfrm>
            <a:off x="4738534" y="1108130"/>
            <a:ext cx="3110124" cy="18466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lang="en-US" altLang="zh-CN" sz="1200">
                <a:solidFill>
                  <a:srgbClr val="AE78D6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{"name":"Tom","iat":1516239022}</a:t>
            </a:r>
            <a:endParaRPr lang="en-US" altLang="zh-CN" sz="1200" b="0" i="0">
              <a:solidFill>
                <a:srgbClr val="AE78D6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F097D4A-87DC-C276-835F-9012711233BD}"/>
              </a:ext>
            </a:extLst>
          </p:cNvPr>
          <p:cNvSpPr txBox="1"/>
          <p:nvPr/>
        </p:nvSpPr>
        <p:spPr>
          <a:xfrm>
            <a:off x="8746351" y="1112829"/>
            <a:ext cx="3006910" cy="18466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lang="zh-CN" altLang="en-US" sz="1200" b="0" i="0">
                <a:solidFill>
                  <a:srgbClr val="C00000"/>
                </a:solidFill>
                <a:effectLst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数字签名</a:t>
            </a:r>
            <a:r>
              <a:rPr lang="en-US" altLang="zh-CN" sz="1200" b="0" i="0">
                <a:solidFill>
                  <a:srgbClr val="C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(header.payload</a:t>
            </a:r>
            <a:r>
              <a:rPr lang="zh-CN" altLang="en-US" sz="1200" b="0" i="0">
                <a:solidFill>
                  <a:srgbClr val="C00000"/>
                </a:solidFill>
                <a:effectLst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</a:t>
            </a:r>
            <a:r>
              <a:rPr lang="en-US" altLang="zh-CN" sz="1200" b="0" i="0">
                <a:solidFill>
                  <a:srgbClr val="C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secret)</a:t>
            </a:r>
          </a:p>
        </p:txBody>
      </p:sp>
      <p:grpSp>
        <p:nvGrpSpPr>
          <p:cNvPr id="11" name="组合 2">
            <a:extLst>
              <a:ext uri="{FF2B5EF4-FFF2-40B4-BE49-F238E27FC236}">
                <a16:creationId xmlns:a16="http://schemas.microsoft.com/office/drawing/2014/main" id="{A947AC15-3BE5-7C20-0524-564E29064177}"/>
              </a:ext>
            </a:extLst>
          </p:cNvPr>
          <p:cNvGrpSpPr/>
          <p:nvPr/>
        </p:nvGrpSpPr>
        <p:grpSpPr>
          <a:xfrm>
            <a:off x="825758" y="3004921"/>
            <a:ext cx="3713317" cy="1712510"/>
            <a:chOff x="2297721" y="3660322"/>
            <a:chExt cx="4091385" cy="1712612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EA554D32-64DA-62F8-58F6-70170C36E643}"/>
                </a:ext>
              </a:extLst>
            </p:cNvPr>
            <p:cNvSpPr/>
            <p:nvPr/>
          </p:nvSpPr>
          <p:spPr>
            <a:xfrm>
              <a:off x="2297728" y="3660324"/>
              <a:ext cx="4091378" cy="1712610"/>
            </a:xfrm>
            <a:prstGeom prst="roundRect">
              <a:avLst>
                <a:gd name="adj" fmla="val 4140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&lt;</a:t>
              </a: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dependency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&gt;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&lt;</a:t>
              </a: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groupId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&gt;io.jsonwebtoken&lt;/</a:t>
              </a: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groupId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&gt;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&lt;</a:t>
              </a: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artifactId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&gt;jjwt&lt;/</a:t>
              </a: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artifactId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&gt;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&lt;</a:t>
              </a: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version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&gt;0.9.1&lt;/</a:t>
              </a: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version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&gt;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&lt;/</a:t>
              </a: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dependency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&gt;</a:t>
              </a:r>
            </a:p>
          </p:txBody>
        </p:sp>
        <p:sp>
          <p:nvSpPr>
            <p:cNvPr id="13" name="矩形: 圆顶角 12">
              <a:extLst>
                <a:ext uri="{FF2B5EF4-FFF2-40B4-BE49-F238E27FC236}">
                  <a16:creationId xmlns:a16="http://schemas.microsoft.com/office/drawing/2014/main" id="{02D6A948-B3C2-034B-1A3B-DE22D713060D}"/>
                </a:ext>
              </a:extLst>
            </p:cNvPr>
            <p:cNvSpPr/>
            <p:nvPr/>
          </p:nvSpPr>
          <p:spPr>
            <a:xfrm>
              <a:off x="2297721" y="3660322"/>
              <a:ext cx="4091378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pom.xml</a:t>
              </a: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4C73A1C7-2833-5ED9-76DE-FA1D0D0EF574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6CBB5A59-777A-17A6-51BE-F9938389AD1E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16B43941-10B0-CF9D-50B3-35FF516ED934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组合 2">
            <a:extLst>
              <a:ext uri="{FF2B5EF4-FFF2-40B4-BE49-F238E27FC236}">
                <a16:creationId xmlns:a16="http://schemas.microsoft.com/office/drawing/2014/main" id="{7F787B2A-3C74-6395-CF33-39D37E3BB3DB}"/>
              </a:ext>
            </a:extLst>
          </p:cNvPr>
          <p:cNvGrpSpPr/>
          <p:nvPr/>
        </p:nvGrpSpPr>
        <p:grpSpPr>
          <a:xfrm>
            <a:off x="4650891" y="3004921"/>
            <a:ext cx="7102370" cy="3090874"/>
            <a:chOff x="2297722" y="3660322"/>
            <a:chExt cx="7825492" cy="3091059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CE40B43F-FDD6-82B1-BAC6-FBA1F2DB9889}"/>
                </a:ext>
              </a:extLst>
            </p:cNvPr>
            <p:cNvSpPr/>
            <p:nvPr/>
          </p:nvSpPr>
          <p:spPr>
            <a:xfrm>
              <a:off x="2297729" y="3660324"/>
              <a:ext cx="7825485" cy="3091057"/>
            </a:xfrm>
            <a:prstGeom prst="roundRect">
              <a:avLst>
                <a:gd name="adj" fmla="val 2150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  <a:t>@Test</a:t>
              </a:r>
              <a:br>
                <a:rPr lang="en-US" altLang="zh-CN" sz="1100"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public void </a:t>
              </a:r>
              <a:r>
                <a:rPr lang="en-US" altLang="zh-CN" sz="11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testGenJwt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 {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Map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&lt;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String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Object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&gt;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claims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new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HashMap&lt;&gt;();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claims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.put(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"id"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);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claims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.put(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"username"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"itheima"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);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String jwt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Jwts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</a:t>
              </a:r>
              <a:r>
                <a:rPr lang="en-US" altLang="zh-CN" sz="1100" i="1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builder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().signWith(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SignatureAlgorithm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</a:t>
              </a:r>
              <a:r>
                <a:rPr lang="en-US" altLang="zh-CN" sz="1100" i="1">
                  <a:solidFill>
                    <a:srgbClr val="871094"/>
                  </a:solidFill>
                  <a:effectLst/>
                  <a:latin typeface="Fira Code" panose="020B0809050000020004" pitchFamily="49" charset="0"/>
                </a:rPr>
                <a:t>HS256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"SVRIRUlNQQ=="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	.addClaims(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claims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	.setExpiration(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new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Date(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System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</a:t>
              </a:r>
              <a:r>
                <a:rPr lang="en-US" altLang="zh-CN" sz="1100" i="1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currentTimeMillis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 +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12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*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3600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*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1000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   .compact();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System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</a:t>
              </a:r>
              <a:r>
                <a:rPr lang="en-US" altLang="zh-CN" sz="1100" i="1">
                  <a:solidFill>
                    <a:srgbClr val="871094"/>
                  </a:solidFill>
                  <a:effectLst/>
                  <a:latin typeface="Fira Code" panose="020B0809050000020004" pitchFamily="49" charset="0"/>
                </a:rPr>
                <a:t>out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.println(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jwt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);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}</a:t>
              </a:r>
            </a:p>
          </p:txBody>
        </p:sp>
        <p:sp>
          <p:nvSpPr>
            <p:cNvPr id="19" name="矩形: 圆顶角 18">
              <a:extLst>
                <a:ext uri="{FF2B5EF4-FFF2-40B4-BE49-F238E27FC236}">
                  <a16:creationId xmlns:a16="http://schemas.microsoft.com/office/drawing/2014/main" id="{6A87FC8E-AA7B-545A-BA1E-0D3DB243C478}"/>
                </a:ext>
              </a:extLst>
            </p:cNvPr>
            <p:cNvSpPr/>
            <p:nvPr/>
          </p:nvSpPr>
          <p:spPr>
            <a:xfrm>
              <a:off x="2297722" y="3660322"/>
              <a:ext cx="7825485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生成令牌</a:t>
              </a:r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96E9F158-8A18-D27D-E994-640427DF0AC6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8F0E965F-6126-A490-EA33-544B9E8C171B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6A243258-DFF5-17E4-1899-6DC9094582DA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">
            <a:extLst>
              <a:ext uri="{FF2B5EF4-FFF2-40B4-BE49-F238E27FC236}">
                <a16:creationId xmlns:a16="http://schemas.microsoft.com/office/drawing/2014/main" id="{48BF6DC3-7AA9-60AC-ECFF-9DBCEF628CC6}"/>
              </a:ext>
            </a:extLst>
          </p:cNvPr>
          <p:cNvGrpSpPr/>
          <p:nvPr/>
        </p:nvGrpSpPr>
        <p:grpSpPr>
          <a:xfrm>
            <a:off x="5287585" y="3986445"/>
            <a:ext cx="6872215" cy="2838853"/>
            <a:chOff x="2297722" y="3660322"/>
            <a:chExt cx="7571904" cy="2839023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3D720A21-A788-0628-AC96-FB7879B36767}"/>
                </a:ext>
              </a:extLst>
            </p:cNvPr>
            <p:cNvSpPr/>
            <p:nvPr/>
          </p:nvSpPr>
          <p:spPr>
            <a:xfrm>
              <a:off x="2297729" y="3660324"/>
              <a:ext cx="7571897" cy="2839021"/>
            </a:xfrm>
            <a:prstGeom prst="roundRect">
              <a:avLst>
                <a:gd name="adj" fmla="val 2478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  <a:t>@Test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public void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testParseJwt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throws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Exception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{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String jwtToken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"eyJ0eXAiOiJKV1QiLCJhbGciOiJIUzI1NiJ9.</a:t>
              </a: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..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;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Claims claims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Jwts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</a:t>
              </a:r>
              <a:r>
                <a:rPr kumimoji="0" lang="zh-CN" altLang="zh-CN" sz="1200" b="0" i="1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parser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    .setSigningKey(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"SVRIRUlNQQ=="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    .parseClaimsJws(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jwtToken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    .getBody();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System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</a:t>
              </a:r>
              <a:r>
                <a:rPr kumimoji="0" lang="zh-CN" altLang="zh-CN" sz="1200" b="0" i="1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  <a:latin typeface="Fira Code" panose="020B0809050000020004" pitchFamily="49" charset="0"/>
                </a:rPr>
                <a:t>out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.println(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claims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);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}</a:t>
              </a:r>
              <a:endPara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Fira Code" panose="020B0809050000020004" pitchFamily="49" charset="0"/>
              </a:endParaRPr>
            </a:p>
          </p:txBody>
        </p:sp>
        <p:sp>
          <p:nvSpPr>
            <p:cNvPr id="25" name="矩形: 圆顶角 24">
              <a:extLst>
                <a:ext uri="{FF2B5EF4-FFF2-40B4-BE49-F238E27FC236}">
                  <a16:creationId xmlns:a16="http://schemas.microsoft.com/office/drawing/2014/main" id="{8019FAA7-E747-8F7D-0113-E7D412BB6F59}"/>
                </a:ext>
              </a:extLst>
            </p:cNvPr>
            <p:cNvSpPr/>
            <p:nvPr/>
          </p:nvSpPr>
          <p:spPr>
            <a:xfrm>
              <a:off x="2297722" y="3660322"/>
              <a:ext cx="7571897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解析令牌</a:t>
              </a:r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1856DFBA-B344-01E2-C7F1-701B7FCDED5B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EA2388DA-A7AF-2879-A47C-F5DA8A827C83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D0A19247-C1A1-6848-D58C-9384A9DB9273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057068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9761376-B3F9-9DF2-AAD2-2D8CCF5843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48420" y="866551"/>
            <a:ext cx="7602877" cy="5124898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JWT</a:t>
            </a:r>
            <a:r>
              <a:rPr lang="zh-CN" altLang="en-US">
                <a:latin typeface="Fira Code" panose="020B0809050000020004" pitchFamily="49" charset="0"/>
              </a:rPr>
              <a:t>令牌由哪几个部分组成 ，每个部分都存储什么内容？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</a:rPr>
              <a:t>header</a:t>
            </a:r>
            <a:r>
              <a:rPr lang="zh-CN" altLang="en-US" sz="1400" b="0">
                <a:latin typeface="Fira Code" panose="020B0809050000020004" pitchFamily="49" charset="0"/>
                <a:ea typeface="Fira Code" panose="020B0809050000020004" pitchFamily="49" charset="0"/>
              </a:rPr>
              <a:t>（头），记录令牌类型、签名算法</a:t>
            </a:r>
            <a:endParaRPr lang="en-US" altLang="zh-CN" sz="1400" b="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</a:rPr>
              <a:t>payload</a:t>
            </a:r>
            <a:r>
              <a:rPr lang="zh-CN" altLang="en-US" sz="1400" b="0">
                <a:latin typeface="Fira Code" panose="020B0809050000020004" pitchFamily="49" charset="0"/>
                <a:ea typeface="Fira Code" panose="020B0809050000020004" pitchFamily="49" charset="0"/>
              </a:rPr>
              <a:t>（载荷），携带一些自定义的信息</a:t>
            </a:r>
            <a:endParaRPr lang="en-US" altLang="zh-CN" sz="1400" b="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</a:rPr>
              <a:t>signature</a:t>
            </a:r>
            <a:r>
              <a:rPr lang="zh-CN" altLang="en-US" sz="1400" b="0">
                <a:latin typeface="Fira Code" panose="020B0809050000020004" pitchFamily="49" charset="0"/>
                <a:ea typeface="Fira Code" panose="020B0809050000020004" pitchFamily="49" charset="0"/>
              </a:rPr>
              <a:t>（签名），访问被篡改，保证安全性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JWT</a:t>
            </a:r>
            <a:r>
              <a:rPr lang="zh-CN" altLang="en-US">
                <a:latin typeface="Fira Code" panose="020B0809050000020004" pitchFamily="49" charset="0"/>
              </a:rPr>
              <a:t>令牌生成及校验？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</a:rPr>
              <a:t>Jwts.builder()...</a:t>
            </a: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</a:rPr>
              <a:t>Jwts.parser()...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JWT</a:t>
            </a:r>
            <a:r>
              <a:rPr lang="zh-CN" altLang="en-US">
                <a:latin typeface="Fira Code" panose="020B0809050000020004" pitchFamily="49" charset="0"/>
              </a:rPr>
              <a:t>令牌解析（校验）时什么情况会报错？</a:t>
            </a:r>
            <a:endParaRPr lang="en-US" altLang="zh-CN">
              <a:latin typeface="Fira Code" panose="020B0809050000020004" pitchFamily="49" charset="0"/>
            </a:endParaRP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JWT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令牌被篡改 或 过期失效了</a:t>
            </a:r>
            <a:endParaRPr lang="en-US" altLang="zh-CN" sz="14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>
                <a:solidFill>
                  <a:srgbClr val="C00000"/>
                </a:solidFill>
                <a:latin typeface="Fira Code" panose="020B0809050000020004" pitchFamily="49" charset="0"/>
              </a:rPr>
              <a:t>注意事项</a:t>
            </a:r>
            <a:endParaRPr lang="en-US" altLang="zh-CN">
              <a:solidFill>
                <a:srgbClr val="C00000"/>
              </a:solidFill>
              <a:latin typeface="Fira Code" panose="020B0809050000020004" pitchFamily="49" charset="0"/>
            </a:endParaRP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4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JWT</a:t>
            </a:r>
            <a:r>
              <a:rPr lang="zh-CN" altLang="en-US" sz="14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校验时使用的签名秘钥，必须和生成</a:t>
            </a:r>
            <a:r>
              <a:rPr lang="en-US" altLang="zh-CN" sz="14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JWT</a:t>
            </a:r>
            <a:r>
              <a:rPr lang="zh-CN" altLang="en-US" sz="14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令牌时使用的秘钥是配套的</a:t>
            </a:r>
            <a:endParaRPr lang="en-US" altLang="zh-CN" sz="1400" b="0">
              <a:solidFill>
                <a:srgbClr val="C00000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7950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5866A4-5E6C-F774-15D4-156D3298F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登录成功后</a:t>
            </a:r>
            <a:r>
              <a:rPr lang="en-US" altLang="zh-CN"/>
              <a:t>-</a:t>
            </a:r>
            <a:r>
              <a:rPr lang="zh-CN" altLang="en-US"/>
              <a:t>生成令牌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C38796-75F2-13A0-611F-A05069C16C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2976" y="4503029"/>
            <a:ext cx="9824773" cy="981150"/>
          </a:xfrm>
        </p:spPr>
        <p:txBody>
          <a:bodyPr/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sz="1600">
                <a:latin typeface="Fira Code" panose="020B0809050000020004" pitchFamily="49" charset="0"/>
                <a:ea typeface="Fira Code" panose="020B0809050000020004" pitchFamily="49" charset="0"/>
              </a:rPr>
              <a:t>定义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JWT</a:t>
            </a:r>
            <a:r>
              <a:rPr lang="zh-CN" altLang="en-US" sz="1600">
                <a:latin typeface="Fira Code" panose="020B0809050000020004" pitchFamily="49" charset="0"/>
              </a:rPr>
              <a:t>令牌操作工具类。</a:t>
            </a:r>
            <a:r>
              <a:rPr lang="zh-CN" altLang="en-US" sz="1600">
                <a:solidFill>
                  <a:srgbClr val="C00000"/>
                </a:solidFill>
                <a:latin typeface="Fira Code" panose="020B0809050000020004" pitchFamily="49" charset="0"/>
              </a:rPr>
              <a:t>（基于</a:t>
            </a:r>
            <a:r>
              <a:rPr lang="en-US" altLang="zh-CN" sz="1600">
                <a:solidFill>
                  <a:srgbClr val="C00000"/>
                </a:solidFill>
                <a:latin typeface="Fira Code" panose="020B0809050000020004" pitchFamily="49" charset="0"/>
              </a:rPr>
              <a:t>AI</a:t>
            </a:r>
            <a:r>
              <a:rPr lang="zh-CN" altLang="en-US" sz="1600">
                <a:solidFill>
                  <a:srgbClr val="C00000"/>
                </a:solidFill>
                <a:latin typeface="Fira Code" panose="020B0809050000020004" pitchFamily="49" charset="0"/>
              </a:rPr>
              <a:t>）</a:t>
            </a:r>
            <a:endParaRPr lang="en-US" altLang="zh-CN" sz="1600">
              <a:solidFill>
                <a:srgbClr val="C00000"/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sz="1600">
                <a:latin typeface="Fira Code" panose="020B0809050000020004" pitchFamily="49" charset="0"/>
              </a:rPr>
              <a:t>登录完成后，调用工具类生成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JWT</a:t>
            </a:r>
            <a:r>
              <a:rPr lang="zh-CN" altLang="en-US" sz="1600">
                <a:latin typeface="Fira Code" panose="020B0809050000020004" pitchFamily="49" charset="0"/>
              </a:rPr>
              <a:t>令牌，并返回。</a:t>
            </a:r>
            <a:endParaRPr lang="en-US" altLang="zh-CN" sz="1600"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EE3A4D95-B90D-A110-B3F3-4F58D104CF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EC1C8E60-2282-3C44-946D-2AA506351812}"/>
              </a:ext>
            </a:extLst>
          </p:cNvPr>
          <p:cNvSpPr/>
          <p:nvPr/>
        </p:nvSpPr>
        <p:spPr>
          <a:xfrm>
            <a:off x="1138518" y="1661371"/>
            <a:ext cx="10185175" cy="2685872"/>
          </a:xfrm>
          <a:prstGeom prst="roundRect">
            <a:avLst>
              <a:gd name="adj" fmla="val 3016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tx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F706810D-E349-DDD8-DDA8-74DA3D4998F6}"/>
              </a:ext>
            </a:extLst>
          </p:cNvPr>
          <p:cNvSpPr/>
          <p:nvPr/>
        </p:nvSpPr>
        <p:spPr>
          <a:xfrm>
            <a:off x="7042220" y="1784891"/>
            <a:ext cx="3468901" cy="2466897"/>
          </a:xfrm>
          <a:prstGeom prst="roundRect">
            <a:avLst>
              <a:gd name="adj" fmla="val 4938"/>
            </a:avLst>
          </a:prstGeom>
          <a:solidFill>
            <a:srgbClr val="86E2E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tx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84A1E819-1C92-AAF3-3A60-791F2BEC5044}"/>
              </a:ext>
            </a:extLst>
          </p:cNvPr>
          <p:cNvCxnSpPr>
            <a:cxnSpLocks/>
          </p:cNvCxnSpPr>
          <p:nvPr/>
        </p:nvCxnSpPr>
        <p:spPr>
          <a:xfrm>
            <a:off x="3000875" y="2798891"/>
            <a:ext cx="3936990" cy="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C8590F6A-33A7-213F-132E-E7773A6A53AD}"/>
              </a:ext>
            </a:extLst>
          </p:cNvPr>
          <p:cNvCxnSpPr>
            <a:cxnSpLocks/>
          </p:cNvCxnSpPr>
          <p:nvPr/>
        </p:nvCxnSpPr>
        <p:spPr>
          <a:xfrm flipH="1">
            <a:off x="2948126" y="3248465"/>
            <a:ext cx="3989739" cy="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!!文本框 112">
            <a:extLst>
              <a:ext uri="{FF2B5EF4-FFF2-40B4-BE49-F238E27FC236}">
                <a16:creationId xmlns:a16="http://schemas.microsoft.com/office/drawing/2014/main" id="{8BDA9F5B-18F9-4270-D7C3-E41117C6FAA7}"/>
              </a:ext>
            </a:extLst>
          </p:cNvPr>
          <p:cNvSpPr txBox="1"/>
          <p:nvPr/>
        </p:nvSpPr>
        <p:spPr>
          <a:xfrm>
            <a:off x="2284307" y="3421642"/>
            <a:ext cx="6638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浏览器</a:t>
            </a:r>
            <a:endParaRPr lang="zh-CN" altLang="en-US" sz="12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3E54979-CE1F-3502-0A92-22961C23252E}"/>
              </a:ext>
            </a:extLst>
          </p:cNvPr>
          <p:cNvSpPr txBox="1"/>
          <p:nvPr/>
        </p:nvSpPr>
        <p:spPr>
          <a:xfrm>
            <a:off x="4652932" y="2461185"/>
            <a:ext cx="5901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请求</a:t>
            </a:r>
            <a:endParaRPr lang="zh-CN" altLang="en-US" sz="12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D121DE69-FBF6-F482-A136-512110D1472A}"/>
              </a:ext>
            </a:extLst>
          </p:cNvPr>
          <p:cNvSpPr txBox="1"/>
          <p:nvPr/>
        </p:nvSpPr>
        <p:spPr>
          <a:xfrm>
            <a:off x="4660622" y="3262068"/>
            <a:ext cx="4860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响应</a:t>
            </a:r>
            <a:endParaRPr lang="zh-CN" altLang="en-US" sz="12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0288D3E8-5C76-E9C8-F908-AAEFBB50275C}"/>
              </a:ext>
            </a:extLst>
          </p:cNvPr>
          <p:cNvGrpSpPr/>
          <p:nvPr/>
        </p:nvGrpSpPr>
        <p:grpSpPr>
          <a:xfrm>
            <a:off x="2287567" y="2703080"/>
            <a:ext cx="595948" cy="622749"/>
            <a:chOff x="1339028" y="3390775"/>
            <a:chExt cx="1076475" cy="960776"/>
          </a:xfrm>
        </p:grpSpPr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E8F7E2BA-69A5-48F8-8F77-6F69EA016C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39028" y="3390775"/>
              <a:ext cx="1076475" cy="960776"/>
            </a:xfrm>
            <a:prstGeom prst="rect">
              <a:avLst/>
            </a:prstGeom>
          </p:spPr>
        </p:pic>
        <p:pic>
          <p:nvPicPr>
            <p:cNvPr id="45" name="图片 44">
              <a:extLst>
                <a:ext uri="{FF2B5EF4-FFF2-40B4-BE49-F238E27FC236}">
                  <a16:creationId xmlns:a16="http://schemas.microsoft.com/office/drawing/2014/main" id="{35D3F930-7377-B8A1-BB6B-7DBE8F6AF1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53395" y="3650475"/>
              <a:ext cx="447737" cy="425919"/>
            </a:xfrm>
            <a:prstGeom prst="rect">
              <a:avLst/>
            </a:prstGeom>
          </p:spPr>
        </p:pic>
      </p:grp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5603C24F-4AC6-1BA3-2F3C-F27F81DCCBB9}"/>
              </a:ext>
            </a:extLst>
          </p:cNvPr>
          <p:cNvSpPr/>
          <p:nvPr/>
        </p:nvSpPr>
        <p:spPr>
          <a:xfrm>
            <a:off x="7134765" y="1907574"/>
            <a:ext cx="3272002" cy="2204864"/>
          </a:xfrm>
          <a:prstGeom prst="roundRect">
            <a:avLst>
              <a:gd name="adj" fmla="val 3205"/>
            </a:avLst>
          </a:prstGeom>
          <a:noFill/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tx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7" name="矩形: 对角圆角 46">
            <a:extLst>
              <a:ext uri="{FF2B5EF4-FFF2-40B4-BE49-F238E27FC236}">
                <a16:creationId xmlns:a16="http://schemas.microsoft.com/office/drawing/2014/main" id="{34B4921E-82A8-5D7F-FBDB-05D74B365BB7}"/>
              </a:ext>
            </a:extLst>
          </p:cNvPr>
          <p:cNvSpPr/>
          <p:nvPr/>
        </p:nvSpPr>
        <p:spPr>
          <a:xfrm>
            <a:off x="7419387" y="2298602"/>
            <a:ext cx="813609" cy="1544419"/>
          </a:xfrm>
          <a:prstGeom prst="round2DiagRect">
            <a:avLst>
              <a:gd name="adj1" fmla="val 16636"/>
              <a:gd name="adj2" fmla="val 0"/>
            </a:avLst>
          </a:prstGeom>
          <a:solidFill>
            <a:srgbClr val="FFC91D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统一拦截</a:t>
            </a:r>
            <a:endParaRPr lang="zh-CN" altLang="en-US" sz="1400">
              <a:solidFill>
                <a:schemeClr val="tx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B1144285-67B1-C50A-C654-25F0330A8D11}"/>
              </a:ext>
            </a:extLst>
          </p:cNvPr>
          <p:cNvSpPr/>
          <p:nvPr/>
        </p:nvSpPr>
        <p:spPr>
          <a:xfrm>
            <a:off x="8472006" y="2026856"/>
            <a:ext cx="1217840" cy="397840"/>
          </a:xfrm>
          <a:prstGeom prst="round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Login</a:t>
            </a:r>
            <a:endParaRPr lang="zh-CN" altLang="en-US" sz="14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FFD59485-648B-4A3D-824A-7655E8033E7D}"/>
              </a:ext>
            </a:extLst>
          </p:cNvPr>
          <p:cNvSpPr/>
          <p:nvPr/>
        </p:nvSpPr>
        <p:spPr>
          <a:xfrm>
            <a:off x="8472004" y="2543956"/>
            <a:ext cx="1217840" cy="397840"/>
          </a:xfrm>
          <a:prstGeom prst="round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Emp</a:t>
            </a:r>
            <a:endParaRPr lang="zh-CN" altLang="en-US" sz="14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866A6D41-D258-C4A5-9D5E-AB534126C1AC}"/>
              </a:ext>
            </a:extLst>
          </p:cNvPr>
          <p:cNvSpPr/>
          <p:nvPr/>
        </p:nvSpPr>
        <p:spPr>
          <a:xfrm>
            <a:off x="8481454" y="3061057"/>
            <a:ext cx="1217840" cy="397840"/>
          </a:xfrm>
          <a:prstGeom prst="round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Dept</a:t>
            </a:r>
            <a:endParaRPr lang="zh-CN" altLang="en-US" sz="14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662B7C90-ADB5-1FDC-0C80-E2E65FC573CD}"/>
              </a:ext>
            </a:extLst>
          </p:cNvPr>
          <p:cNvSpPr/>
          <p:nvPr/>
        </p:nvSpPr>
        <p:spPr>
          <a:xfrm>
            <a:off x="8472004" y="3578156"/>
            <a:ext cx="1217840" cy="397840"/>
          </a:xfrm>
          <a:prstGeom prst="round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Report</a:t>
            </a:r>
            <a:endParaRPr lang="zh-CN" altLang="en-US" sz="14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2" name="箭头: 右 51">
            <a:extLst>
              <a:ext uri="{FF2B5EF4-FFF2-40B4-BE49-F238E27FC236}">
                <a16:creationId xmlns:a16="http://schemas.microsoft.com/office/drawing/2014/main" id="{61CE23B0-B2EC-2C49-2D21-096F6F5E088F}"/>
              </a:ext>
            </a:extLst>
          </p:cNvPr>
          <p:cNvSpPr/>
          <p:nvPr/>
        </p:nvSpPr>
        <p:spPr>
          <a:xfrm rot="19229268">
            <a:off x="8116551" y="2342927"/>
            <a:ext cx="475669" cy="235770"/>
          </a:xfrm>
          <a:prstGeom prst="rightArrow">
            <a:avLst>
              <a:gd name="adj1" fmla="val 50000"/>
              <a:gd name="adj2" fmla="val 73159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53" name="箭头: 右 52">
            <a:extLst>
              <a:ext uri="{FF2B5EF4-FFF2-40B4-BE49-F238E27FC236}">
                <a16:creationId xmlns:a16="http://schemas.microsoft.com/office/drawing/2014/main" id="{89681A0E-B8DA-95B1-EA3D-616BD26E0822}"/>
              </a:ext>
            </a:extLst>
          </p:cNvPr>
          <p:cNvSpPr/>
          <p:nvPr/>
        </p:nvSpPr>
        <p:spPr>
          <a:xfrm rot="2290107">
            <a:off x="8120479" y="3543414"/>
            <a:ext cx="475669" cy="235770"/>
          </a:xfrm>
          <a:prstGeom prst="rightArrow">
            <a:avLst>
              <a:gd name="adj1" fmla="val 50000"/>
              <a:gd name="adj2" fmla="val 73159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54" name="箭头: 右 53">
            <a:extLst>
              <a:ext uri="{FF2B5EF4-FFF2-40B4-BE49-F238E27FC236}">
                <a16:creationId xmlns:a16="http://schemas.microsoft.com/office/drawing/2014/main" id="{0C5D4743-934B-E1F7-50EF-2F188CE2A394}"/>
              </a:ext>
            </a:extLst>
          </p:cNvPr>
          <p:cNvSpPr/>
          <p:nvPr/>
        </p:nvSpPr>
        <p:spPr>
          <a:xfrm>
            <a:off x="8175296" y="2962095"/>
            <a:ext cx="420285" cy="250004"/>
          </a:xfrm>
          <a:prstGeom prst="rightArrow">
            <a:avLst>
              <a:gd name="adj1" fmla="val 50000"/>
              <a:gd name="adj2" fmla="val 73159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pic>
        <p:nvPicPr>
          <p:cNvPr id="55" name="图形 54" descr="雇员徽章 轮廓">
            <a:extLst>
              <a:ext uri="{FF2B5EF4-FFF2-40B4-BE49-F238E27FC236}">
                <a16:creationId xmlns:a16="http://schemas.microsoft.com/office/drawing/2014/main" id="{96806F10-1BB8-3CB7-C04C-A4FF237F98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9294" y="1995173"/>
            <a:ext cx="397840" cy="397840"/>
          </a:xfrm>
          <a:prstGeom prst="rect">
            <a:avLst/>
          </a:prstGeom>
        </p:spPr>
      </p:pic>
      <p:pic>
        <p:nvPicPr>
          <p:cNvPr id="56" name="图形 55" descr="雇员徽章 轮廓">
            <a:extLst>
              <a:ext uri="{FF2B5EF4-FFF2-40B4-BE49-F238E27FC236}">
                <a16:creationId xmlns:a16="http://schemas.microsoft.com/office/drawing/2014/main" id="{9422C792-CE4A-36C6-CB60-874C6F078D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21278" y="2793875"/>
            <a:ext cx="454590" cy="454590"/>
          </a:xfrm>
          <a:prstGeom prst="rect">
            <a:avLst/>
          </a:prstGeom>
        </p:spPr>
      </p:pic>
      <p:sp>
        <p:nvSpPr>
          <p:cNvPr id="57" name="文本框 56">
            <a:extLst>
              <a:ext uri="{FF2B5EF4-FFF2-40B4-BE49-F238E27FC236}">
                <a16:creationId xmlns:a16="http://schemas.microsoft.com/office/drawing/2014/main" id="{A890867B-8260-704D-8D9E-7CF03484E74C}"/>
              </a:ext>
            </a:extLst>
          </p:cNvPr>
          <p:cNvSpPr txBox="1"/>
          <p:nvPr/>
        </p:nvSpPr>
        <p:spPr>
          <a:xfrm>
            <a:off x="9616732" y="1999147"/>
            <a:ext cx="8422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生成</a:t>
            </a:r>
            <a:endParaRPr lang="en-US" altLang="zh-CN" sz="240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7564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2.59259E-6 L -0.64388 0.1206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201" y="6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7.40741E-7 L 0.43203 -0.00232 " pathEditMode="relative" rAng="0" ptsTypes="AA">
                                      <p:cBhvr>
                                        <p:cTn id="17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602" y="-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220A0A-95A1-12DC-FC32-51158450C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令牌技术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5FA1921-E7B4-4933-04D0-A1D09BBF3870}"/>
              </a:ext>
            </a:extLst>
          </p:cNvPr>
          <p:cNvSpPr/>
          <p:nvPr/>
        </p:nvSpPr>
        <p:spPr>
          <a:xfrm>
            <a:off x="1183613" y="1706460"/>
            <a:ext cx="9824774" cy="3071993"/>
          </a:xfrm>
          <a:prstGeom prst="roundRect">
            <a:avLst>
              <a:gd name="adj" fmla="val 3016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tx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96B06B7-D711-E6DD-BFEF-031C093114B1}"/>
              </a:ext>
            </a:extLst>
          </p:cNvPr>
          <p:cNvSpPr/>
          <p:nvPr/>
        </p:nvSpPr>
        <p:spPr>
          <a:xfrm>
            <a:off x="6947397" y="2009009"/>
            <a:ext cx="3468901" cy="2466897"/>
          </a:xfrm>
          <a:prstGeom prst="roundRect">
            <a:avLst>
              <a:gd name="adj" fmla="val 4938"/>
            </a:avLst>
          </a:prstGeom>
          <a:solidFill>
            <a:srgbClr val="86E2E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tx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C4EE91E7-816E-96EA-F206-2E1A0A51104B}"/>
              </a:ext>
            </a:extLst>
          </p:cNvPr>
          <p:cNvCxnSpPr>
            <a:cxnSpLocks/>
          </p:cNvCxnSpPr>
          <p:nvPr/>
        </p:nvCxnSpPr>
        <p:spPr>
          <a:xfrm>
            <a:off x="2906052" y="3023009"/>
            <a:ext cx="3936990" cy="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5F5FCE4E-55ED-D2CC-D10D-7135FCA7C8A6}"/>
              </a:ext>
            </a:extLst>
          </p:cNvPr>
          <p:cNvCxnSpPr>
            <a:cxnSpLocks/>
          </p:cNvCxnSpPr>
          <p:nvPr/>
        </p:nvCxnSpPr>
        <p:spPr>
          <a:xfrm flipH="1">
            <a:off x="2853303" y="3472583"/>
            <a:ext cx="3989739" cy="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!!文本框 112">
            <a:extLst>
              <a:ext uri="{FF2B5EF4-FFF2-40B4-BE49-F238E27FC236}">
                <a16:creationId xmlns:a16="http://schemas.microsoft.com/office/drawing/2014/main" id="{8E39CE24-B010-9C65-9DF6-605D99B1CDB9}"/>
              </a:ext>
            </a:extLst>
          </p:cNvPr>
          <p:cNvSpPr txBox="1"/>
          <p:nvPr/>
        </p:nvSpPr>
        <p:spPr>
          <a:xfrm>
            <a:off x="2189484" y="3645760"/>
            <a:ext cx="6638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浏览器</a:t>
            </a:r>
            <a:endParaRPr lang="zh-CN" altLang="en-US" sz="12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9D5A10E-A106-D944-6B8B-8FB33D365A71}"/>
              </a:ext>
            </a:extLst>
          </p:cNvPr>
          <p:cNvSpPr txBox="1"/>
          <p:nvPr/>
        </p:nvSpPr>
        <p:spPr>
          <a:xfrm>
            <a:off x="4558109" y="2685303"/>
            <a:ext cx="5901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请求</a:t>
            </a:r>
            <a:endParaRPr lang="zh-CN" altLang="en-US" sz="12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79C12DD-B6EA-5C2C-A806-AFF2713C8DD2}"/>
              </a:ext>
            </a:extLst>
          </p:cNvPr>
          <p:cNvSpPr txBox="1"/>
          <p:nvPr/>
        </p:nvSpPr>
        <p:spPr>
          <a:xfrm>
            <a:off x="4565799" y="3486186"/>
            <a:ext cx="4860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响应</a:t>
            </a:r>
            <a:endParaRPr lang="zh-CN" altLang="en-US" sz="12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2A150A13-4D55-EF4E-7F9A-69E4C8565DD9}"/>
              </a:ext>
            </a:extLst>
          </p:cNvPr>
          <p:cNvGrpSpPr/>
          <p:nvPr/>
        </p:nvGrpSpPr>
        <p:grpSpPr>
          <a:xfrm>
            <a:off x="2192744" y="2927198"/>
            <a:ext cx="595948" cy="622749"/>
            <a:chOff x="1339028" y="3390775"/>
            <a:chExt cx="1076475" cy="960776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96E08585-60AF-1570-A87F-BA8378CE39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39028" y="3390775"/>
              <a:ext cx="1076475" cy="960776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FB03499E-69F8-0860-EB35-ED584FD1BA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53395" y="3650475"/>
              <a:ext cx="447737" cy="425919"/>
            </a:xfrm>
            <a:prstGeom prst="rect">
              <a:avLst/>
            </a:prstGeom>
          </p:spPr>
        </p:pic>
      </p:grp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697A146-9845-7991-981C-DFAB290D2C5E}"/>
              </a:ext>
            </a:extLst>
          </p:cNvPr>
          <p:cNvSpPr/>
          <p:nvPr/>
        </p:nvSpPr>
        <p:spPr>
          <a:xfrm>
            <a:off x="7039942" y="2131692"/>
            <a:ext cx="3272002" cy="2204864"/>
          </a:xfrm>
          <a:prstGeom prst="roundRect">
            <a:avLst>
              <a:gd name="adj" fmla="val 3205"/>
            </a:avLst>
          </a:prstGeom>
          <a:noFill/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tx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矩形: 对角圆角 14">
            <a:extLst>
              <a:ext uri="{FF2B5EF4-FFF2-40B4-BE49-F238E27FC236}">
                <a16:creationId xmlns:a16="http://schemas.microsoft.com/office/drawing/2014/main" id="{A1436DD8-89DD-B243-5A13-3B806264107B}"/>
              </a:ext>
            </a:extLst>
          </p:cNvPr>
          <p:cNvSpPr/>
          <p:nvPr/>
        </p:nvSpPr>
        <p:spPr>
          <a:xfrm>
            <a:off x="7324564" y="2522720"/>
            <a:ext cx="813609" cy="1544419"/>
          </a:xfrm>
          <a:prstGeom prst="round2DiagRect">
            <a:avLst>
              <a:gd name="adj1" fmla="val 16636"/>
              <a:gd name="adj2" fmla="val 0"/>
            </a:avLst>
          </a:prstGeom>
          <a:solidFill>
            <a:srgbClr val="FFC91D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统一拦截</a:t>
            </a:r>
            <a:endParaRPr lang="zh-CN" altLang="en-US" sz="1400">
              <a:solidFill>
                <a:schemeClr val="tx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DEFDF39-7C0E-5E79-5F3E-B6C1FA606E43}"/>
              </a:ext>
            </a:extLst>
          </p:cNvPr>
          <p:cNvSpPr/>
          <p:nvPr/>
        </p:nvSpPr>
        <p:spPr>
          <a:xfrm>
            <a:off x="8377183" y="2250974"/>
            <a:ext cx="1217840" cy="397840"/>
          </a:xfrm>
          <a:prstGeom prst="round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Login</a:t>
            </a:r>
            <a:endParaRPr lang="zh-CN" altLang="en-US" sz="14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626D5399-BBC1-4E0E-EC64-BB34C7D87D5B}"/>
              </a:ext>
            </a:extLst>
          </p:cNvPr>
          <p:cNvSpPr/>
          <p:nvPr/>
        </p:nvSpPr>
        <p:spPr>
          <a:xfrm>
            <a:off x="8377181" y="2768074"/>
            <a:ext cx="1217840" cy="397840"/>
          </a:xfrm>
          <a:prstGeom prst="round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Emp</a:t>
            </a:r>
            <a:endParaRPr lang="zh-CN" altLang="en-US" sz="14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E50EA572-D2EC-0353-314D-07101664587B}"/>
              </a:ext>
            </a:extLst>
          </p:cNvPr>
          <p:cNvSpPr/>
          <p:nvPr/>
        </p:nvSpPr>
        <p:spPr>
          <a:xfrm>
            <a:off x="8386631" y="3285175"/>
            <a:ext cx="1217840" cy="397840"/>
          </a:xfrm>
          <a:prstGeom prst="round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Dept</a:t>
            </a:r>
            <a:endParaRPr lang="zh-CN" altLang="en-US" sz="14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E21EC2A-0E92-011A-2176-C1109230F752}"/>
              </a:ext>
            </a:extLst>
          </p:cNvPr>
          <p:cNvSpPr/>
          <p:nvPr/>
        </p:nvSpPr>
        <p:spPr>
          <a:xfrm>
            <a:off x="8377181" y="3802274"/>
            <a:ext cx="1217840" cy="397840"/>
          </a:xfrm>
          <a:prstGeom prst="round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Report</a:t>
            </a:r>
            <a:endParaRPr lang="zh-CN" altLang="en-US" sz="14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0D5DD5DE-05D4-4D2E-A4D6-22EC02512956}"/>
              </a:ext>
            </a:extLst>
          </p:cNvPr>
          <p:cNvSpPr/>
          <p:nvPr/>
        </p:nvSpPr>
        <p:spPr>
          <a:xfrm rot="19229268">
            <a:off x="8021728" y="2567045"/>
            <a:ext cx="475669" cy="235770"/>
          </a:xfrm>
          <a:prstGeom prst="rightArrow">
            <a:avLst>
              <a:gd name="adj1" fmla="val 50000"/>
              <a:gd name="adj2" fmla="val 73159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7A8D687F-D0CF-07B7-F1E0-58D09E03E25F}"/>
              </a:ext>
            </a:extLst>
          </p:cNvPr>
          <p:cNvSpPr/>
          <p:nvPr/>
        </p:nvSpPr>
        <p:spPr>
          <a:xfrm rot="2290107">
            <a:off x="8025656" y="3767532"/>
            <a:ext cx="475669" cy="235770"/>
          </a:xfrm>
          <a:prstGeom prst="rightArrow">
            <a:avLst>
              <a:gd name="adj1" fmla="val 50000"/>
              <a:gd name="adj2" fmla="val 73159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D19EA322-C11C-7A2F-837F-66050A531512}"/>
              </a:ext>
            </a:extLst>
          </p:cNvPr>
          <p:cNvSpPr/>
          <p:nvPr/>
        </p:nvSpPr>
        <p:spPr>
          <a:xfrm>
            <a:off x="8080473" y="3186213"/>
            <a:ext cx="420285" cy="250004"/>
          </a:xfrm>
          <a:prstGeom prst="rightArrow">
            <a:avLst>
              <a:gd name="adj1" fmla="val 50000"/>
              <a:gd name="adj2" fmla="val 73159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pic>
        <p:nvPicPr>
          <p:cNvPr id="23" name="图形 22" descr="雇员徽章 轮廓">
            <a:extLst>
              <a:ext uri="{FF2B5EF4-FFF2-40B4-BE49-F238E27FC236}">
                <a16:creationId xmlns:a16="http://schemas.microsoft.com/office/drawing/2014/main" id="{F8672624-DB18-AB0E-1855-8C0F145803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04471" y="2219291"/>
            <a:ext cx="397840" cy="397840"/>
          </a:xfrm>
          <a:prstGeom prst="rect">
            <a:avLst/>
          </a:prstGeom>
        </p:spPr>
      </p:pic>
      <p:pic>
        <p:nvPicPr>
          <p:cNvPr id="24" name="图形 23" descr="雇员徽章 轮廓">
            <a:extLst>
              <a:ext uri="{FF2B5EF4-FFF2-40B4-BE49-F238E27FC236}">
                <a16:creationId xmlns:a16="http://schemas.microsoft.com/office/drawing/2014/main" id="{42419E05-ADFE-C1C3-3E80-6A7CA38099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26455" y="3017993"/>
            <a:ext cx="454590" cy="454590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91F7890C-0E9A-37A7-DBC5-6BFED780F949}"/>
              </a:ext>
            </a:extLst>
          </p:cNvPr>
          <p:cNvSpPr txBox="1"/>
          <p:nvPr/>
        </p:nvSpPr>
        <p:spPr>
          <a:xfrm>
            <a:off x="6859588" y="2659573"/>
            <a:ext cx="8422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校验</a:t>
            </a:r>
            <a:endParaRPr lang="en-US" altLang="zh-CN" sz="240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FE5F79F-56FC-7A67-E2A7-2E5BD5B9C9B3}"/>
              </a:ext>
            </a:extLst>
          </p:cNvPr>
          <p:cNvSpPr txBox="1"/>
          <p:nvPr/>
        </p:nvSpPr>
        <p:spPr>
          <a:xfrm>
            <a:off x="7331808" y="3928784"/>
            <a:ext cx="9012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Filter</a:t>
            </a:r>
            <a:endParaRPr lang="zh-CN" altLang="en-US" sz="2800" dirty="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03064C8-76C9-E7A7-90F5-8764071C0EFA}"/>
              </a:ext>
            </a:extLst>
          </p:cNvPr>
          <p:cNvSpPr txBox="1"/>
          <p:nvPr/>
        </p:nvSpPr>
        <p:spPr>
          <a:xfrm>
            <a:off x="7012009" y="4203992"/>
            <a:ext cx="15408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Interceptor</a:t>
            </a:r>
            <a:endParaRPr lang="zh-CN" altLang="en-US" sz="2800" dirty="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6983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3.7037E-6 L -0.64388 0.1206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201" y="6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1.85185E-6 L 0.43203 -0.00232 " pathEditMode="relative" rAng="0" ptsTypes="AA">
                                      <p:cBhvr>
                                        <p:cTn id="1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602" y="-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1D50508-E0D4-47F2-035C-4233AC418A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登录校验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B8DA87-FD6C-FBB0-B363-736345AB02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>
                <a:latin typeface="+mn-lt"/>
              </a:rPr>
              <a:t>会话技术</a:t>
            </a:r>
            <a:endParaRPr lang="en-US" altLang="zh-CN">
              <a:latin typeface="+mn-lt"/>
            </a:endParaRPr>
          </a:p>
          <a:p>
            <a:r>
              <a:rPr lang="en-US" altLang="zh-CN">
                <a:latin typeface="+mn-lt"/>
              </a:rPr>
              <a:t>JWT</a:t>
            </a:r>
            <a:r>
              <a:rPr lang="zh-CN" altLang="en-US">
                <a:latin typeface="+mn-lt"/>
              </a:rPr>
              <a:t>令牌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过滤器</a:t>
            </a:r>
            <a:r>
              <a:rPr lang="en-US" altLang="zh-CN">
                <a:latin typeface="+mn-lt"/>
              </a:rPr>
              <a:t>Filter</a:t>
            </a:r>
          </a:p>
          <a:p>
            <a:r>
              <a:rPr lang="zh-CN" altLang="en-US">
                <a:latin typeface="+mn-lt"/>
              </a:rPr>
              <a:t>拦截器</a:t>
            </a:r>
            <a:r>
              <a:rPr lang="en-US" altLang="zh-CN">
                <a:latin typeface="+mn-lt"/>
              </a:rPr>
              <a:t>Interceptor</a:t>
            </a:r>
            <a:endParaRPr lang="zh-CN" altLang="en-US">
              <a:latin typeface="+mn-lt"/>
            </a:endParaRP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8379477-2B8E-30F1-5750-C0F3A85768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408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1D50508-E0D4-47F2-035C-4233AC418A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登录校验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B8DA87-FD6C-FBB0-B363-736345AB02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3475973"/>
          </a:xfrm>
        </p:spPr>
        <p:txBody>
          <a:bodyPr/>
          <a:lstStyle/>
          <a:p>
            <a:r>
              <a:rPr lang="zh-CN" altLang="en-US">
                <a:latin typeface="+mn-lt"/>
              </a:rPr>
              <a:t>会话技术</a:t>
            </a:r>
            <a:endParaRPr lang="en-US" altLang="zh-CN">
              <a:latin typeface="+mn-lt"/>
            </a:endParaRPr>
          </a:p>
          <a:p>
            <a:r>
              <a:rPr lang="en-US" altLang="zh-CN">
                <a:latin typeface="+mn-lt"/>
              </a:rPr>
              <a:t>JWT</a:t>
            </a:r>
            <a:r>
              <a:rPr lang="zh-CN" altLang="en-US">
                <a:latin typeface="+mn-lt"/>
              </a:rPr>
              <a:t>令牌</a:t>
            </a:r>
            <a:endParaRPr lang="en-US" altLang="zh-CN">
              <a:latin typeface="+mn-lt"/>
            </a:endParaRPr>
          </a:p>
          <a:p>
            <a:r>
              <a:rPr lang="zh-CN" altLang="en-US">
                <a:solidFill>
                  <a:srgbClr val="C00000"/>
                </a:solidFill>
                <a:latin typeface="+mn-lt"/>
              </a:rPr>
              <a:t>过滤器</a:t>
            </a:r>
            <a:r>
              <a:rPr lang="en-US" altLang="zh-CN">
                <a:solidFill>
                  <a:srgbClr val="C00000"/>
                </a:solidFill>
                <a:latin typeface="+mn-lt"/>
              </a:rPr>
              <a:t>Filter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>
                <a:solidFill>
                  <a:srgbClr val="C00000"/>
                </a:solidFill>
              </a:rPr>
              <a:t>快速入门</a:t>
            </a:r>
            <a:endParaRPr lang="en-US" altLang="zh-CN" sz="140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令牌校验</a:t>
            </a:r>
            <a:r>
              <a:rPr lang="en-US" altLang="zh-CN" sz="1400"/>
              <a:t>Filter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详解</a:t>
            </a:r>
            <a:endParaRPr lang="en-US" altLang="zh-CN" sz="1400"/>
          </a:p>
          <a:p>
            <a:r>
              <a:rPr lang="zh-CN" altLang="en-US">
                <a:latin typeface="+mn-lt"/>
              </a:rPr>
              <a:t>拦截器</a:t>
            </a:r>
            <a:r>
              <a:rPr lang="en-US" altLang="zh-CN">
                <a:latin typeface="+mn-lt"/>
              </a:rPr>
              <a:t>Interceptor</a:t>
            </a:r>
            <a:endParaRPr lang="zh-CN" altLang="en-US">
              <a:latin typeface="+mn-lt"/>
            </a:endParaRP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8379477-2B8E-30F1-5750-C0F3A85768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4558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A298A2-25DB-FDC6-2342-19888AB39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过滤器</a:t>
            </a:r>
            <a:r>
              <a:rPr lang="en-US" altLang="zh-CN"/>
              <a:t>(Filter)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6870D2-11A8-5D8D-C687-3312C2904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1473194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>
                <a:latin typeface="Fira Code" panose="020B0809050000020004" pitchFamily="49" charset="0"/>
              </a:rPr>
              <a:t>概念：</a:t>
            </a:r>
            <a:r>
              <a:rPr lang="en-US" altLang="zh-CN" sz="16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Filter</a:t>
            </a:r>
            <a:r>
              <a:rPr lang="zh-CN" altLang="en-US" sz="1600">
                <a:solidFill>
                  <a:srgbClr val="C00000"/>
                </a:solidFill>
                <a:latin typeface="Fira Code" panose="020B0809050000020004" pitchFamily="49" charset="0"/>
              </a:rPr>
              <a:t>过滤器</a:t>
            </a:r>
            <a:r>
              <a:rPr lang="zh-CN" altLang="en-US" sz="1600">
                <a:latin typeface="Fira Code" panose="020B0809050000020004" pitchFamily="49" charset="0"/>
              </a:rPr>
              <a:t>，是</a:t>
            </a:r>
            <a:r>
              <a:rPr lang="en-US" altLang="zh-CN" sz="1600">
                <a:latin typeface="Fira Code" panose="020B0809050000020004" pitchFamily="49" charset="0"/>
              </a:rPr>
              <a:t>J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avaWeb</a:t>
            </a:r>
            <a:r>
              <a:rPr lang="zh-CN" altLang="en-US" sz="1600">
                <a:latin typeface="Fira Code" panose="020B0809050000020004" pitchFamily="49" charset="0"/>
              </a:rPr>
              <a:t>三大组件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(Servlet</a:t>
            </a:r>
            <a:r>
              <a:rPr lang="zh-CN" altLang="en-US" sz="1600">
                <a:latin typeface="Fira Code" panose="020B0809050000020004" pitchFamily="49" charset="0"/>
              </a:rPr>
              <a:t>、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Filter</a:t>
            </a:r>
            <a:r>
              <a:rPr lang="zh-CN" altLang="en-US" sz="1600">
                <a:latin typeface="Fira Code" panose="020B0809050000020004" pitchFamily="49" charset="0"/>
              </a:rPr>
              <a:t>、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Listener)</a:t>
            </a:r>
            <a:r>
              <a:rPr lang="zh-CN" altLang="en-US" sz="1600">
                <a:latin typeface="Fira Code" panose="020B0809050000020004" pitchFamily="49" charset="0"/>
              </a:rPr>
              <a:t>之一。</a:t>
            </a:r>
            <a:endParaRPr lang="en-US" altLang="zh-CN" sz="160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>
                <a:latin typeface="Fira Code" panose="020B0809050000020004" pitchFamily="49" charset="0"/>
              </a:rPr>
              <a:t>过滤器可以把对资源的请求</a:t>
            </a:r>
            <a:r>
              <a:rPr lang="zh-CN" altLang="en-US" sz="1600">
                <a:solidFill>
                  <a:srgbClr val="C00000"/>
                </a:solidFill>
                <a:latin typeface="Fira Code" panose="020B0809050000020004" pitchFamily="49" charset="0"/>
              </a:rPr>
              <a:t>拦截</a:t>
            </a:r>
            <a:r>
              <a:rPr lang="zh-CN" altLang="en-US" sz="1600">
                <a:latin typeface="Fira Code" panose="020B0809050000020004" pitchFamily="49" charset="0"/>
              </a:rPr>
              <a:t>下来，从而实现一些特殊的功能。</a:t>
            </a:r>
            <a:endParaRPr lang="en-US" altLang="zh-CN" sz="160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>
                <a:latin typeface="Fira Code" panose="020B0809050000020004" pitchFamily="49" charset="0"/>
              </a:rPr>
              <a:t>过滤器一般完成一些</a:t>
            </a:r>
            <a:r>
              <a:rPr lang="zh-CN" altLang="en-US" sz="1600">
                <a:solidFill>
                  <a:srgbClr val="C00000"/>
                </a:solidFill>
                <a:latin typeface="Fira Code" panose="020B0809050000020004" pitchFamily="49" charset="0"/>
              </a:rPr>
              <a:t>通用</a:t>
            </a:r>
            <a:r>
              <a:rPr lang="zh-CN" altLang="en-US" sz="1600">
                <a:latin typeface="Fira Code" panose="020B0809050000020004" pitchFamily="49" charset="0"/>
              </a:rPr>
              <a:t>的操作，比如：登录校验、统一编码处理、敏感字符处理等。</a:t>
            </a:r>
            <a:endParaRPr lang="en-US" altLang="zh-CN" sz="1600"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902CF184-456E-0BD9-B906-F378680A2E2D}"/>
              </a:ext>
            </a:extLst>
          </p:cNvPr>
          <p:cNvSpPr/>
          <p:nvPr/>
        </p:nvSpPr>
        <p:spPr>
          <a:xfrm>
            <a:off x="898604" y="3725330"/>
            <a:ext cx="8999477" cy="2685872"/>
          </a:xfrm>
          <a:prstGeom prst="roundRect">
            <a:avLst>
              <a:gd name="adj" fmla="val 3016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tx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711FBA7-BA8D-5C8D-7DE2-F95D9DBC6CB2}"/>
              </a:ext>
            </a:extLst>
          </p:cNvPr>
          <p:cNvSpPr/>
          <p:nvPr/>
        </p:nvSpPr>
        <p:spPr>
          <a:xfrm>
            <a:off x="6249740" y="3848850"/>
            <a:ext cx="3468901" cy="2466897"/>
          </a:xfrm>
          <a:prstGeom prst="roundRect">
            <a:avLst>
              <a:gd name="adj" fmla="val 4938"/>
            </a:avLst>
          </a:prstGeom>
          <a:solidFill>
            <a:srgbClr val="86E2E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tx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68AA009D-65C9-64FB-C093-2D61450FC572}"/>
              </a:ext>
            </a:extLst>
          </p:cNvPr>
          <p:cNvCxnSpPr>
            <a:cxnSpLocks/>
          </p:cNvCxnSpPr>
          <p:nvPr/>
        </p:nvCxnSpPr>
        <p:spPr>
          <a:xfrm>
            <a:off x="2208395" y="4862850"/>
            <a:ext cx="3936990" cy="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6045F922-BE72-F421-38F8-96CE08504A0D}"/>
              </a:ext>
            </a:extLst>
          </p:cNvPr>
          <p:cNvCxnSpPr>
            <a:cxnSpLocks/>
          </p:cNvCxnSpPr>
          <p:nvPr/>
        </p:nvCxnSpPr>
        <p:spPr>
          <a:xfrm flipH="1">
            <a:off x="2155646" y="5312424"/>
            <a:ext cx="3989739" cy="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!!文本框 112">
            <a:extLst>
              <a:ext uri="{FF2B5EF4-FFF2-40B4-BE49-F238E27FC236}">
                <a16:creationId xmlns:a16="http://schemas.microsoft.com/office/drawing/2014/main" id="{9A8CA059-E238-46A1-3E0B-EEB4C73DB0EB}"/>
              </a:ext>
            </a:extLst>
          </p:cNvPr>
          <p:cNvSpPr txBox="1"/>
          <p:nvPr/>
        </p:nvSpPr>
        <p:spPr>
          <a:xfrm>
            <a:off x="1436764" y="5488226"/>
            <a:ext cx="7125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浏览器</a:t>
            </a:r>
            <a:endParaRPr lang="zh-CN" altLang="en-US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5EF5035-242A-595A-FC57-1C6567801CBB}"/>
              </a:ext>
            </a:extLst>
          </p:cNvPr>
          <p:cNvSpPr txBox="1"/>
          <p:nvPr/>
        </p:nvSpPr>
        <p:spPr>
          <a:xfrm>
            <a:off x="3860452" y="4525144"/>
            <a:ext cx="5901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请求</a:t>
            </a:r>
            <a:endParaRPr lang="zh-CN" altLang="en-US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1CB4F96-0A4C-BE3B-5D7B-7CB27DD015AA}"/>
              </a:ext>
            </a:extLst>
          </p:cNvPr>
          <p:cNvSpPr txBox="1"/>
          <p:nvPr/>
        </p:nvSpPr>
        <p:spPr>
          <a:xfrm>
            <a:off x="3860452" y="5383923"/>
            <a:ext cx="5373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响应</a:t>
            </a:r>
            <a:endParaRPr lang="zh-CN" altLang="en-US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CBC3E041-505D-5922-C2FD-6DA7CF2DB012}"/>
              </a:ext>
            </a:extLst>
          </p:cNvPr>
          <p:cNvGrpSpPr/>
          <p:nvPr/>
        </p:nvGrpSpPr>
        <p:grpSpPr>
          <a:xfrm>
            <a:off x="1495087" y="4767039"/>
            <a:ext cx="595948" cy="622749"/>
            <a:chOff x="1339028" y="3390775"/>
            <a:chExt cx="1076475" cy="960776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03EE4A1D-D484-65BE-6429-B74270191F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39028" y="3390775"/>
              <a:ext cx="1076475" cy="960776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B6D769F0-3EE2-794D-1587-ABE5E6E42E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53395" y="3650475"/>
              <a:ext cx="447737" cy="425919"/>
            </a:xfrm>
            <a:prstGeom prst="rect">
              <a:avLst/>
            </a:prstGeom>
          </p:spPr>
        </p:pic>
      </p:grp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B2664F5-42B4-F4F3-2047-6ADDC2DE382A}"/>
              </a:ext>
            </a:extLst>
          </p:cNvPr>
          <p:cNvSpPr/>
          <p:nvPr/>
        </p:nvSpPr>
        <p:spPr>
          <a:xfrm>
            <a:off x="6342285" y="3971533"/>
            <a:ext cx="3272002" cy="2204864"/>
          </a:xfrm>
          <a:prstGeom prst="roundRect">
            <a:avLst>
              <a:gd name="adj" fmla="val 3205"/>
            </a:avLst>
          </a:prstGeom>
          <a:noFill/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tx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D457F3E-77CD-DDF6-E907-19AE196FE013}"/>
              </a:ext>
            </a:extLst>
          </p:cNvPr>
          <p:cNvSpPr/>
          <p:nvPr/>
        </p:nvSpPr>
        <p:spPr>
          <a:xfrm>
            <a:off x="8136726" y="4090815"/>
            <a:ext cx="1217840" cy="397840"/>
          </a:xfrm>
          <a:prstGeom prst="round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Login</a:t>
            </a:r>
            <a:endParaRPr lang="zh-CN" altLang="en-US" sz="14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7A5A489-9743-52C2-F4EE-C6412A0BECD6}"/>
              </a:ext>
            </a:extLst>
          </p:cNvPr>
          <p:cNvSpPr/>
          <p:nvPr/>
        </p:nvSpPr>
        <p:spPr>
          <a:xfrm>
            <a:off x="8136724" y="4607915"/>
            <a:ext cx="1217840" cy="397840"/>
          </a:xfrm>
          <a:prstGeom prst="round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Emp</a:t>
            </a:r>
            <a:endParaRPr lang="zh-CN" altLang="en-US" sz="14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EC99A78-6A15-3056-BE1E-CFE40841F4DA}"/>
              </a:ext>
            </a:extLst>
          </p:cNvPr>
          <p:cNvSpPr/>
          <p:nvPr/>
        </p:nvSpPr>
        <p:spPr>
          <a:xfrm>
            <a:off x="8146174" y="5125016"/>
            <a:ext cx="1217840" cy="397840"/>
          </a:xfrm>
          <a:prstGeom prst="round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Dept</a:t>
            </a:r>
            <a:endParaRPr lang="zh-CN" altLang="en-US" sz="14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FC5A1D8-1F37-A629-9685-C0CD84E543C3}"/>
              </a:ext>
            </a:extLst>
          </p:cNvPr>
          <p:cNvSpPr/>
          <p:nvPr/>
        </p:nvSpPr>
        <p:spPr>
          <a:xfrm>
            <a:off x="8136724" y="5642115"/>
            <a:ext cx="1217840" cy="397840"/>
          </a:xfrm>
          <a:prstGeom prst="round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Report</a:t>
            </a:r>
            <a:endParaRPr lang="zh-CN" altLang="en-US" sz="14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8453E585-34BF-69CF-CD98-86D31D7AFB89}"/>
              </a:ext>
            </a:extLst>
          </p:cNvPr>
          <p:cNvSpPr/>
          <p:nvPr/>
        </p:nvSpPr>
        <p:spPr>
          <a:xfrm>
            <a:off x="7558001" y="4721779"/>
            <a:ext cx="420285" cy="250004"/>
          </a:xfrm>
          <a:prstGeom prst="rightArrow">
            <a:avLst>
              <a:gd name="adj1" fmla="val 50000"/>
              <a:gd name="adj2" fmla="val 73159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D8D70C63-9D00-D681-66D8-FBFF1482FBD1}"/>
              </a:ext>
            </a:extLst>
          </p:cNvPr>
          <p:cNvSpPr/>
          <p:nvPr/>
        </p:nvSpPr>
        <p:spPr>
          <a:xfrm rot="10966345">
            <a:off x="7519854" y="5234299"/>
            <a:ext cx="420285" cy="250004"/>
          </a:xfrm>
          <a:prstGeom prst="rightArrow">
            <a:avLst>
              <a:gd name="adj1" fmla="val 50000"/>
              <a:gd name="adj2" fmla="val 73159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21" name="矩形: 对角圆角 20">
            <a:extLst>
              <a:ext uri="{FF2B5EF4-FFF2-40B4-BE49-F238E27FC236}">
                <a16:creationId xmlns:a16="http://schemas.microsoft.com/office/drawing/2014/main" id="{CFC05027-2EF2-FCB3-C4DB-4C4D8A1CD716}"/>
              </a:ext>
            </a:extLst>
          </p:cNvPr>
          <p:cNvSpPr/>
          <p:nvPr/>
        </p:nvSpPr>
        <p:spPr>
          <a:xfrm>
            <a:off x="6564952" y="4352806"/>
            <a:ext cx="813609" cy="1544419"/>
          </a:xfrm>
          <a:prstGeom prst="round2DiagRect">
            <a:avLst>
              <a:gd name="adj1" fmla="val 16636"/>
              <a:gd name="adj2" fmla="val 0"/>
            </a:avLst>
          </a:prstGeom>
          <a:solidFill>
            <a:srgbClr val="FFC00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Filter</a:t>
            </a:r>
            <a:endParaRPr lang="zh-CN" altLang="en-US" sz="1400">
              <a:solidFill>
                <a:schemeClr val="tx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流程图: 文档 21">
            <a:extLst>
              <a:ext uri="{FF2B5EF4-FFF2-40B4-BE49-F238E27FC236}">
                <a16:creationId xmlns:a16="http://schemas.microsoft.com/office/drawing/2014/main" id="{910FAA49-6592-E446-BD24-4BD83EBF6183}"/>
              </a:ext>
            </a:extLst>
          </p:cNvPr>
          <p:cNvSpPr/>
          <p:nvPr/>
        </p:nvSpPr>
        <p:spPr>
          <a:xfrm>
            <a:off x="8032372" y="4156108"/>
            <a:ext cx="329432" cy="250003"/>
          </a:xfrm>
          <a:prstGeom prst="flowChartDocumen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流程图: 文档 22">
            <a:extLst>
              <a:ext uri="{FF2B5EF4-FFF2-40B4-BE49-F238E27FC236}">
                <a16:creationId xmlns:a16="http://schemas.microsoft.com/office/drawing/2014/main" id="{3F141BDE-B228-5498-D6E9-FFE06EA16B4E}"/>
              </a:ext>
            </a:extLst>
          </p:cNvPr>
          <p:cNvSpPr/>
          <p:nvPr/>
        </p:nvSpPr>
        <p:spPr>
          <a:xfrm>
            <a:off x="8039070" y="4674673"/>
            <a:ext cx="329432" cy="250003"/>
          </a:xfrm>
          <a:prstGeom prst="flowChartDocumen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流程图: 文档 23">
            <a:extLst>
              <a:ext uri="{FF2B5EF4-FFF2-40B4-BE49-F238E27FC236}">
                <a16:creationId xmlns:a16="http://schemas.microsoft.com/office/drawing/2014/main" id="{6ADCB013-463F-1D1E-E5DA-38F847D0E84D}"/>
              </a:ext>
            </a:extLst>
          </p:cNvPr>
          <p:cNvSpPr/>
          <p:nvPr/>
        </p:nvSpPr>
        <p:spPr>
          <a:xfrm>
            <a:off x="8032372" y="5201835"/>
            <a:ext cx="329432" cy="250003"/>
          </a:xfrm>
          <a:prstGeom prst="flowChartDocumen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流程图: 文档 24">
            <a:extLst>
              <a:ext uri="{FF2B5EF4-FFF2-40B4-BE49-F238E27FC236}">
                <a16:creationId xmlns:a16="http://schemas.microsoft.com/office/drawing/2014/main" id="{87B7B9AC-19ED-4DDB-ADA9-5484AA2E985E}"/>
              </a:ext>
            </a:extLst>
          </p:cNvPr>
          <p:cNvSpPr/>
          <p:nvPr/>
        </p:nvSpPr>
        <p:spPr>
          <a:xfrm>
            <a:off x="8032372" y="5731271"/>
            <a:ext cx="329432" cy="250003"/>
          </a:xfrm>
          <a:prstGeom prst="flowChartDocumen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787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4.44444E-6 L -0.09987 0.08495 " pathEditMode="relative" rAng="0" ptsTypes="AA">
                                      <p:cBhvr>
                                        <p:cTn id="100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00" y="4236"/>
                                    </p:animMotion>
                                  </p:childTnLst>
                                </p:cTn>
                              </p:par>
                              <p:par>
                                <p:cTn id="10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1.48148E-6 L -0.09987 0.02129 " pathEditMode="relative" rAng="0" ptsTypes="AA">
                                      <p:cBhvr>
                                        <p:cTn id="10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00" y="1065"/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3.7037E-7 L -0.09935 0.00833 " pathEditMode="relative" rAng="0" ptsTypes="AA">
                                      <p:cBhvr>
                                        <p:cTn id="104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74" y="417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4.81481E-6 L -0.09987 -0.06899 " pathEditMode="relative" rAng="0" ptsTypes="AA">
                                      <p:cBhvr>
                                        <p:cTn id="106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00" y="-34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2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/>
      <p:bldP spid="9" grpId="0"/>
      <p:bldP spid="10" grpId="0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8B1D7E-A026-0B9A-E31C-9DA2E3EAE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Filter</a:t>
            </a:r>
            <a:r>
              <a:rPr lang="zh-CN" altLang="en-US"/>
              <a:t>快速入门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BC8B91-CCC6-6770-28B9-5CFA0695FF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9953" y="1024932"/>
            <a:ext cx="11098306" cy="902480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lang="zh-CN" altLang="en-US" sz="1400">
                <a:latin typeface="Fira Code" panose="020B0809050000020004" pitchFamily="49" charset="0"/>
              </a:rPr>
              <a:t>定义</a:t>
            </a: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</a:rPr>
              <a:t>Filter</a:t>
            </a:r>
            <a:r>
              <a:rPr lang="zh-CN" altLang="en-US" sz="1400">
                <a:latin typeface="Fira Code" panose="020B0809050000020004" pitchFamily="49" charset="0"/>
              </a:rPr>
              <a:t>：定义一个类，实现 </a:t>
            </a: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</a:rPr>
              <a:t>Filter </a:t>
            </a:r>
            <a:r>
              <a:rPr lang="zh-CN" altLang="en-US" sz="1400">
                <a:latin typeface="Fira Code" panose="020B0809050000020004" pitchFamily="49" charset="0"/>
              </a:rPr>
              <a:t>接口，并实现其所有方法。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zh-CN" altLang="en-US" sz="1400">
                <a:latin typeface="Fira Code" panose="020B0809050000020004" pitchFamily="49" charset="0"/>
              </a:rPr>
              <a:t>配置</a:t>
            </a: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</a:rPr>
              <a:t>Filter</a:t>
            </a:r>
            <a:r>
              <a:rPr lang="zh-CN" altLang="en-US" sz="1400">
                <a:latin typeface="Fira Code" panose="020B0809050000020004" pitchFamily="49" charset="0"/>
              </a:rPr>
              <a:t>：</a:t>
            </a: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</a:rPr>
              <a:t>Filter</a:t>
            </a:r>
            <a:r>
              <a:rPr lang="zh-CN" altLang="en-US" sz="1400">
                <a:latin typeface="Fira Code" panose="020B0809050000020004" pitchFamily="49" charset="0"/>
              </a:rPr>
              <a:t>类上加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Fira Code" panose="020B0809050000020004" pitchFamily="49" charset="0"/>
              </a:rPr>
              <a:t>@WebFilter</a:t>
            </a:r>
            <a:r>
              <a:rPr lang="zh-CN" altLang="en-US" sz="1400">
                <a:latin typeface="Fira Code" panose="020B0809050000020004" pitchFamily="49" charset="0"/>
              </a:rPr>
              <a:t>注解，配置拦截路径。引导类上加 </a:t>
            </a:r>
            <a:r>
              <a:rPr lang="en-US" altLang="zh-CN" sz="1400">
                <a:solidFill>
                  <a:srgbClr val="808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@ServletComponentScan </a:t>
            </a:r>
            <a:r>
              <a:rPr lang="zh-CN" altLang="en-US" sz="1400">
                <a:latin typeface="Fira Code" panose="020B0809050000020004" pitchFamily="49" charset="0"/>
              </a:rPr>
              <a:t>开启</a:t>
            </a: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</a:rPr>
              <a:t>Servlet</a:t>
            </a:r>
            <a:r>
              <a:rPr lang="zh-CN" altLang="en-US" sz="1400">
                <a:latin typeface="Fira Code" panose="020B0809050000020004" pitchFamily="49" charset="0"/>
              </a:rPr>
              <a:t>组件支持。</a:t>
            </a:r>
          </a:p>
          <a:p>
            <a:endParaRPr lang="zh-CN" altLang="en-US"/>
          </a:p>
        </p:txBody>
      </p:sp>
      <p:grpSp>
        <p:nvGrpSpPr>
          <p:cNvPr id="6" name="组合 2">
            <a:extLst>
              <a:ext uri="{FF2B5EF4-FFF2-40B4-BE49-F238E27FC236}">
                <a16:creationId xmlns:a16="http://schemas.microsoft.com/office/drawing/2014/main" id="{11AD2DCC-B939-66CB-10A3-DA1FD13772BD}"/>
              </a:ext>
            </a:extLst>
          </p:cNvPr>
          <p:cNvGrpSpPr/>
          <p:nvPr/>
        </p:nvGrpSpPr>
        <p:grpSpPr>
          <a:xfrm>
            <a:off x="914398" y="2026621"/>
            <a:ext cx="10638120" cy="3962399"/>
            <a:chOff x="2297721" y="3660322"/>
            <a:chExt cx="11721231" cy="3962635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644A7D22-7405-9F2B-97CE-8A7BDB08C39E}"/>
                </a:ext>
              </a:extLst>
            </p:cNvPr>
            <p:cNvSpPr/>
            <p:nvPr/>
          </p:nvSpPr>
          <p:spPr>
            <a:xfrm>
              <a:off x="2297728" y="3660324"/>
              <a:ext cx="11721224" cy="3962633"/>
            </a:xfrm>
            <a:prstGeom prst="roundRect">
              <a:avLst>
                <a:gd name="adj" fmla="val 2178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>
                <a:lnSpc>
                  <a:spcPct val="150000"/>
                </a:lnSpc>
              </a:pPr>
              <a:r>
                <a:rPr lang="en-US" altLang="zh-CN" sz="1050">
                  <a:solidFill>
                    <a:srgbClr val="9E880D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@WebFilter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(urlPatterns = 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"/*"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)</a:t>
              </a:r>
              <a:b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50">
                  <a:solidFill>
                    <a:srgbClr val="0033B3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public class </a:t>
              </a:r>
              <a:r>
                <a:rPr lang="en-US" altLang="zh-CN" sz="105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DemoFilter </a:t>
              </a:r>
              <a:r>
                <a:rPr lang="en-US" altLang="zh-CN" sz="1050">
                  <a:solidFill>
                    <a:srgbClr val="0033B3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implements </a:t>
              </a:r>
              <a:r>
                <a:rPr lang="en-US" altLang="zh-CN" sz="105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Filter 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{</a:t>
              </a:r>
              <a:b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05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//</a:t>
              </a:r>
              <a:r>
                <a:rPr lang="zh-CN" altLang="en-US" sz="105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初始化方法</a:t>
              </a:r>
              <a:r>
                <a:rPr lang="en-US" altLang="zh-CN" sz="105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web</a:t>
              </a:r>
              <a:r>
                <a:rPr lang="zh-CN" altLang="en-US" sz="105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服务器启动</a:t>
              </a:r>
              <a:r>
                <a:rPr lang="en-US" altLang="zh-CN" sz="105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zh-CN" altLang="en-US" sz="105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创建</a:t>
              </a:r>
              <a:r>
                <a:rPr lang="en-US" altLang="zh-CN" sz="105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Filter</a:t>
              </a:r>
              <a:r>
                <a:rPr lang="zh-CN" altLang="en-US" sz="105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实例时调用</a:t>
              </a:r>
              <a:r>
                <a:rPr lang="en-US" altLang="zh-CN" sz="105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zh-CN" altLang="en-US" sz="105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只调用一次</a:t>
              </a:r>
              <a:br>
                <a:rPr lang="zh-CN" altLang="en-US" sz="105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</a:br>
              <a:r>
                <a:rPr lang="zh-CN" altLang="en-US" sz="105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050">
                  <a:solidFill>
                    <a:srgbClr val="0033B3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public void </a:t>
              </a:r>
              <a:r>
                <a:rPr lang="en-US" altLang="zh-CN" sz="1050">
                  <a:solidFill>
                    <a:srgbClr val="00627A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init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(</a:t>
              </a:r>
              <a:r>
                <a:rPr lang="en-US" altLang="zh-CN" sz="105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FilterConfig 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filterConfig) </a:t>
              </a:r>
              <a:r>
                <a:rPr lang="en-US" altLang="zh-CN" sz="1050">
                  <a:solidFill>
                    <a:srgbClr val="0033B3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throws </a:t>
              </a:r>
              <a:r>
                <a:rPr lang="en-US" altLang="zh-CN" sz="105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ServletException 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{</a:t>
              </a:r>
              <a:b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    </a:t>
              </a:r>
              <a:r>
                <a:rPr lang="en-US" altLang="zh-CN" sz="105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System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</a:t>
              </a:r>
              <a:r>
                <a:rPr lang="en-US" altLang="zh-CN" sz="1050">
                  <a:solidFill>
                    <a:srgbClr val="871094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out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.println(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"init ..."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);</a:t>
              </a:r>
              <a:b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}</a:t>
              </a:r>
              <a:b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05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//</a:t>
              </a:r>
              <a:r>
                <a:rPr lang="zh-CN" altLang="en-US" sz="105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拦截到请求时</a:t>
              </a:r>
              <a:r>
                <a:rPr lang="en-US" altLang="zh-CN" sz="105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</a:t>
              </a:r>
              <a:r>
                <a:rPr lang="zh-CN" altLang="en-US" sz="105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调用该方法</a:t>
              </a:r>
              <a:r>
                <a:rPr lang="en-US" altLang="zh-CN" sz="105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</a:t>
              </a:r>
              <a:r>
                <a:rPr lang="zh-CN" altLang="en-US" sz="105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可以调用多次</a:t>
              </a:r>
              <a:br>
                <a:rPr lang="zh-CN" altLang="en-US" sz="105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</a:br>
              <a:r>
                <a:rPr lang="zh-CN" altLang="en-US" sz="105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050">
                  <a:solidFill>
                    <a:srgbClr val="0033B3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public void </a:t>
              </a:r>
              <a:r>
                <a:rPr lang="en-US" altLang="zh-CN" sz="1050">
                  <a:solidFill>
                    <a:srgbClr val="00627A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doFilter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(</a:t>
              </a:r>
              <a:r>
                <a:rPr lang="en-US" altLang="zh-CN" sz="105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ServletRequest 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servletRequest, </a:t>
              </a:r>
              <a:r>
                <a:rPr lang="en-US" altLang="zh-CN" sz="105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ServletResponse 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servletResponse, </a:t>
              </a:r>
              <a:r>
                <a:rPr lang="en-US" altLang="zh-CN" sz="105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FilterChain 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chain) </a:t>
              </a:r>
              <a:r>
                <a:rPr lang="en-US" altLang="zh-CN" sz="1050">
                  <a:solidFill>
                    <a:srgbClr val="0033B3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throws </a:t>
              </a:r>
              <a:r>
                <a:rPr lang="en-US" altLang="zh-CN" sz="105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Exception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{</a:t>
              </a:r>
              <a:b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    </a:t>
              </a:r>
              <a:r>
                <a:rPr lang="en-US" altLang="zh-CN" sz="105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System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</a:t>
              </a:r>
              <a:r>
                <a:rPr lang="en-US" altLang="zh-CN" sz="1050">
                  <a:solidFill>
                    <a:srgbClr val="871094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out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.println(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"</a:t>
              </a:r>
              <a:r>
                <a:rPr lang="zh-CN" altLang="en-US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拦截到了请求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..."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);</a:t>
              </a:r>
              <a:b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    chain.doFilter(servletRequest, servletResponse);</a:t>
              </a:r>
              <a:b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}</a:t>
              </a:r>
              <a:b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05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//</a:t>
              </a:r>
              <a:r>
                <a:rPr lang="zh-CN" altLang="en-US" sz="105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销毁方法</a:t>
              </a:r>
              <a:r>
                <a:rPr lang="en-US" altLang="zh-CN" sz="105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web</a:t>
              </a:r>
              <a:r>
                <a:rPr lang="zh-CN" altLang="en-US" sz="105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服务器关闭时调用</a:t>
              </a:r>
              <a:r>
                <a:rPr lang="en-US" altLang="zh-CN" sz="105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zh-CN" altLang="en-US" sz="105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只调用一次</a:t>
              </a:r>
              <a:br>
                <a:rPr lang="zh-CN" altLang="en-US" sz="105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</a:br>
              <a:r>
                <a:rPr lang="zh-CN" altLang="en-US" sz="105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050">
                  <a:solidFill>
                    <a:srgbClr val="0033B3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public void </a:t>
              </a:r>
              <a:r>
                <a:rPr lang="en-US" altLang="zh-CN" sz="1050">
                  <a:solidFill>
                    <a:srgbClr val="00627A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destroy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() {</a:t>
              </a:r>
              <a:b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    </a:t>
              </a:r>
              <a:r>
                <a:rPr lang="en-US" altLang="zh-CN" sz="105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System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</a:t>
              </a:r>
              <a:r>
                <a:rPr lang="en-US" altLang="zh-CN" sz="1050">
                  <a:solidFill>
                    <a:srgbClr val="871094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out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.println(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"destroy ... "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);</a:t>
              </a:r>
              <a:b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}</a:t>
              </a:r>
            </a:p>
          </p:txBody>
        </p:sp>
        <p:sp>
          <p:nvSpPr>
            <p:cNvPr id="8" name="矩形: 圆顶角 7">
              <a:extLst>
                <a:ext uri="{FF2B5EF4-FFF2-40B4-BE49-F238E27FC236}">
                  <a16:creationId xmlns:a16="http://schemas.microsoft.com/office/drawing/2014/main" id="{92712753-24ED-F5D0-008D-66C2E746CF9D}"/>
                </a:ext>
              </a:extLst>
            </p:cNvPr>
            <p:cNvSpPr/>
            <p:nvPr/>
          </p:nvSpPr>
          <p:spPr>
            <a:xfrm>
              <a:off x="2297721" y="3660322"/>
              <a:ext cx="11721223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400" b="1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①</a:t>
              </a:r>
              <a:r>
                <a:rPr lang="en-US" altLang="zh-CN" sz="1400" b="1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</a:t>
              </a:r>
              <a:r>
                <a:rPr lang="en-US" altLang="zh-CN" sz="1200" b="1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DemoFilter</a:t>
              </a: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016606B2-EA39-7D51-491D-FA5E9A320092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FCD3EFA0-69D0-FFBF-7407-40CFCDE66D01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5CA2D795-C5D8-E9DF-AA50-447A1CB8F03C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2">
            <a:extLst>
              <a:ext uri="{FF2B5EF4-FFF2-40B4-BE49-F238E27FC236}">
                <a16:creationId xmlns:a16="http://schemas.microsoft.com/office/drawing/2014/main" id="{7054965E-AE2E-4957-1330-87FC42C4B5F3}"/>
              </a:ext>
            </a:extLst>
          </p:cNvPr>
          <p:cNvGrpSpPr/>
          <p:nvPr/>
        </p:nvGrpSpPr>
        <p:grpSpPr>
          <a:xfrm>
            <a:off x="6416936" y="5487437"/>
            <a:ext cx="5441284" cy="1201587"/>
            <a:chOff x="2297721" y="3660322"/>
            <a:chExt cx="5995284" cy="1201659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F14EBD51-B784-7952-B32C-72343906FE7E}"/>
                </a:ext>
              </a:extLst>
            </p:cNvPr>
            <p:cNvSpPr/>
            <p:nvPr/>
          </p:nvSpPr>
          <p:spPr>
            <a:xfrm>
              <a:off x="2297727" y="3660324"/>
              <a:ext cx="5995277" cy="1201657"/>
            </a:xfrm>
            <a:prstGeom prst="roundRect">
              <a:avLst>
                <a:gd name="adj" fmla="val 6043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  <a:t>@ServletComponentScan</a:t>
              </a:r>
              <a:br>
                <a:rPr lang="en-US" altLang="zh-CN" sz="1100"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  <a:t>@SpringBootApplication</a:t>
              </a:r>
              <a:br>
                <a:rPr lang="en-US" altLang="zh-CN" sz="1100"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public class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TliasManagementApplication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{</a:t>
              </a:r>
            </a:p>
          </p:txBody>
        </p:sp>
        <p:sp>
          <p:nvSpPr>
            <p:cNvPr id="14" name="矩形: 圆顶角 13">
              <a:extLst>
                <a:ext uri="{FF2B5EF4-FFF2-40B4-BE49-F238E27FC236}">
                  <a16:creationId xmlns:a16="http://schemas.microsoft.com/office/drawing/2014/main" id="{4A5B64A5-3170-19BA-1D52-58C39DDE92CA}"/>
                </a:ext>
              </a:extLst>
            </p:cNvPr>
            <p:cNvSpPr/>
            <p:nvPr/>
          </p:nvSpPr>
          <p:spPr>
            <a:xfrm>
              <a:off x="2297721" y="3660322"/>
              <a:ext cx="5995284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400" b="1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②</a:t>
              </a:r>
              <a:r>
                <a:rPr lang="en-US" altLang="zh-CN" sz="1400" b="1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</a:t>
              </a:r>
              <a:r>
                <a:rPr lang="zh-CN" altLang="en-US" sz="1200" b="1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引导类</a:t>
              </a:r>
              <a:endParaRPr lang="en-US" altLang="zh-CN" sz="1200" b="1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26E7FFCC-6BD9-0B8C-EC3B-8B149345ABDB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FA9C61FD-9D40-5371-01D4-C295070BA336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32A638E0-0730-F5DE-D247-EA809D3C8B24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63C631B8-650E-DA51-623B-37F645FEA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8" y="2366928"/>
            <a:ext cx="3581710" cy="220999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480EAE84-2460-5D9C-EE23-6807D8CB7F75}"/>
              </a:ext>
            </a:extLst>
          </p:cNvPr>
          <p:cNvSpPr/>
          <p:nvPr/>
        </p:nvSpPr>
        <p:spPr>
          <a:xfrm>
            <a:off x="6416936" y="5775541"/>
            <a:ext cx="5441278" cy="270174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65526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72C3C85-B519-CDA3-31DA-13472BC03E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/>
              <a:t>Filter</a:t>
            </a:r>
            <a:r>
              <a:rPr lang="zh-CN" altLang="en-US"/>
              <a:t>的开发步骤 </a:t>
            </a:r>
            <a:r>
              <a:rPr lang="en-US" altLang="zh-CN"/>
              <a:t>?</a:t>
            </a: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定义：定义一个类实现</a:t>
            </a: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Filter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</a:t>
            </a:r>
            <a:r>
              <a:rPr lang="en-US" altLang="zh-CN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(init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doFilter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destroy)</a:t>
            </a:r>
            <a:endParaRPr lang="en-US" altLang="zh-CN" sz="14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配置：</a:t>
            </a:r>
            <a:endParaRPr lang="en-US" altLang="zh-CN" sz="14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895335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	@WebFilter(urlPatterns="/*")</a:t>
            </a:r>
          </a:p>
          <a:p>
            <a:pPr marL="895335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	@ServletComponentScan</a:t>
            </a:r>
            <a:endParaRPr lang="en-US" altLang="zh-CN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>
                <a:solidFill>
                  <a:srgbClr val="C00000"/>
                </a:solidFill>
              </a:rPr>
              <a:t>注意事项</a:t>
            </a:r>
            <a:endParaRPr lang="en-US" altLang="zh-CN">
              <a:solidFill>
                <a:srgbClr val="C00000"/>
              </a:solidFill>
            </a:endParaRP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如果过滤器中不执行放行操作，过滤器拦截到请求之后，就不会访问对应的资源。</a:t>
            </a:r>
            <a:endParaRPr lang="en-US" altLang="zh-CN" sz="1400" b="0">
              <a:solidFill>
                <a:srgbClr val="C0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放行：</a:t>
            </a:r>
            <a:r>
              <a:rPr lang="en-US" altLang="zh-CN" sz="14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chain.doFilter(request,response)</a:t>
            </a:r>
            <a:endParaRPr lang="zh-CN" altLang="en-US" sz="1400" b="0">
              <a:solidFill>
                <a:srgbClr val="C0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49731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1D50508-E0D4-47F2-035C-4233AC418A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登录校验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B8DA87-FD6C-FBB0-B363-736345AB02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3475973"/>
          </a:xfrm>
        </p:spPr>
        <p:txBody>
          <a:bodyPr/>
          <a:lstStyle/>
          <a:p>
            <a:r>
              <a:rPr lang="zh-CN" altLang="en-US">
                <a:latin typeface="+mn-lt"/>
              </a:rPr>
              <a:t>会话技术</a:t>
            </a:r>
            <a:endParaRPr lang="en-US" altLang="zh-CN">
              <a:latin typeface="+mn-lt"/>
            </a:endParaRPr>
          </a:p>
          <a:p>
            <a:r>
              <a:rPr lang="en-US" altLang="zh-CN">
                <a:latin typeface="+mn-lt"/>
              </a:rPr>
              <a:t>JWT</a:t>
            </a:r>
            <a:r>
              <a:rPr lang="zh-CN" altLang="en-US">
                <a:latin typeface="+mn-lt"/>
              </a:rPr>
              <a:t>令牌</a:t>
            </a:r>
            <a:endParaRPr lang="en-US" altLang="zh-CN">
              <a:latin typeface="+mn-lt"/>
            </a:endParaRPr>
          </a:p>
          <a:p>
            <a:r>
              <a:rPr lang="zh-CN" altLang="en-US">
                <a:solidFill>
                  <a:srgbClr val="C00000"/>
                </a:solidFill>
                <a:latin typeface="+mn-lt"/>
              </a:rPr>
              <a:t>过滤器</a:t>
            </a:r>
            <a:r>
              <a:rPr lang="en-US" altLang="zh-CN">
                <a:solidFill>
                  <a:srgbClr val="C00000"/>
                </a:solidFill>
                <a:latin typeface="+mn-lt"/>
              </a:rPr>
              <a:t>Filter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快速入门</a:t>
            </a:r>
            <a:endParaRPr lang="en-US" altLang="zh-CN" sz="1400">
              <a:solidFill>
                <a:schemeClr val="tx1">
                  <a:lumMod val="50000"/>
                </a:schemeClr>
              </a:solidFill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>
                <a:solidFill>
                  <a:srgbClr val="C00000"/>
                </a:solidFill>
              </a:rPr>
              <a:t>令牌校验</a:t>
            </a:r>
            <a:r>
              <a:rPr lang="en-US" altLang="zh-CN" sz="1400">
                <a:solidFill>
                  <a:srgbClr val="C00000"/>
                </a:solidFill>
              </a:rPr>
              <a:t>Filter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详解</a:t>
            </a:r>
            <a:endParaRPr lang="en-US" altLang="zh-CN" sz="140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>
                <a:latin typeface="+mn-lt"/>
              </a:rPr>
              <a:t>拦截器</a:t>
            </a:r>
            <a:r>
              <a:rPr lang="en-US" altLang="zh-CN">
                <a:latin typeface="+mn-lt"/>
              </a:rPr>
              <a:t>Interceptor</a:t>
            </a:r>
            <a:endParaRPr lang="zh-CN" altLang="en-US">
              <a:latin typeface="+mn-lt"/>
            </a:endParaRP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8379477-2B8E-30F1-5750-C0F3A85768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22584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D300CB-D912-D399-DBE8-5A76ECC49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登录校验</a:t>
            </a:r>
            <a:r>
              <a:rPr lang="en-US" altLang="zh-CN"/>
              <a:t>Filter</a:t>
            </a:r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65F12EFD-EF2C-AF2F-BD94-74859FC0D703}"/>
              </a:ext>
            </a:extLst>
          </p:cNvPr>
          <p:cNvSpPr/>
          <p:nvPr/>
        </p:nvSpPr>
        <p:spPr>
          <a:xfrm>
            <a:off x="713333" y="1075079"/>
            <a:ext cx="8999477" cy="2685872"/>
          </a:xfrm>
          <a:prstGeom prst="roundRect">
            <a:avLst>
              <a:gd name="adj" fmla="val 3016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tx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6DE1869-0E6F-7A7B-C0A4-58352F21B14F}"/>
              </a:ext>
            </a:extLst>
          </p:cNvPr>
          <p:cNvSpPr/>
          <p:nvPr/>
        </p:nvSpPr>
        <p:spPr>
          <a:xfrm>
            <a:off x="6064469" y="1198599"/>
            <a:ext cx="3468901" cy="2466897"/>
          </a:xfrm>
          <a:prstGeom prst="roundRect">
            <a:avLst>
              <a:gd name="adj" fmla="val 4938"/>
            </a:avLst>
          </a:prstGeom>
          <a:solidFill>
            <a:srgbClr val="86E2E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tx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FFE10EB6-48D3-DF28-B70B-22EDCA966DEA}"/>
              </a:ext>
            </a:extLst>
          </p:cNvPr>
          <p:cNvCxnSpPr>
            <a:cxnSpLocks/>
          </p:cNvCxnSpPr>
          <p:nvPr/>
        </p:nvCxnSpPr>
        <p:spPr>
          <a:xfrm>
            <a:off x="2023124" y="2212599"/>
            <a:ext cx="3936990" cy="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3408A74B-CDC2-1D81-9DC5-CC90EB5D5711}"/>
              </a:ext>
            </a:extLst>
          </p:cNvPr>
          <p:cNvCxnSpPr>
            <a:cxnSpLocks/>
          </p:cNvCxnSpPr>
          <p:nvPr/>
        </p:nvCxnSpPr>
        <p:spPr>
          <a:xfrm flipH="1">
            <a:off x="1970375" y="2662173"/>
            <a:ext cx="3989739" cy="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!!文本框 112">
            <a:extLst>
              <a:ext uri="{FF2B5EF4-FFF2-40B4-BE49-F238E27FC236}">
                <a16:creationId xmlns:a16="http://schemas.microsoft.com/office/drawing/2014/main" id="{E248B4C6-B274-5D12-2DEF-1E249F612A19}"/>
              </a:ext>
            </a:extLst>
          </p:cNvPr>
          <p:cNvSpPr txBox="1"/>
          <p:nvPr/>
        </p:nvSpPr>
        <p:spPr>
          <a:xfrm>
            <a:off x="1306556" y="2835350"/>
            <a:ext cx="6638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浏览器</a:t>
            </a:r>
            <a:endParaRPr lang="zh-CN" altLang="en-US" sz="12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A6B3168-AE04-8633-A5A1-669A03989CDD}"/>
              </a:ext>
            </a:extLst>
          </p:cNvPr>
          <p:cNvSpPr txBox="1"/>
          <p:nvPr/>
        </p:nvSpPr>
        <p:spPr>
          <a:xfrm>
            <a:off x="3675181" y="1874893"/>
            <a:ext cx="5901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请求</a:t>
            </a:r>
            <a:endParaRPr lang="zh-CN" altLang="en-US" sz="12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39CFD6B-0B03-E0B6-E73D-7EFABAE92EAA}"/>
              </a:ext>
            </a:extLst>
          </p:cNvPr>
          <p:cNvSpPr txBox="1"/>
          <p:nvPr/>
        </p:nvSpPr>
        <p:spPr>
          <a:xfrm>
            <a:off x="3682871" y="2675776"/>
            <a:ext cx="4860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响应</a:t>
            </a:r>
            <a:endParaRPr lang="zh-CN" altLang="en-US" sz="12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6D15EA15-9B58-AD33-FAE3-245D4EB8F253}"/>
              </a:ext>
            </a:extLst>
          </p:cNvPr>
          <p:cNvGrpSpPr/>
          <p:nvPr/>
        </p:nvGrpSpPr>
        <p:grpSpPr>
          <a:xfrm>
            <a:off x="1309816" y="2116788"/>
            <a:ext cx="595948" cy="622749"/>
            <a:chOff x="1339028" y="3390775"/>
            <a:chExt cx="1076475" cy="960776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CEBAE793-A999-467B-C328-6D2DB272E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39028" y="3390775"/>
              <a:ext cx="1076475" cy="960776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523A0417-06BF-7261-A08D-B63073F32A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53395" y="3650475"/>
              <a:ext cx="447737" cy="425919"/>
            </a:xfrm>
            <a:prstGeom prst="rect">
              <a:avLst/>
            </a:prstGeom>
          </p:spPr>
        </p:pic>
      </p:grp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C0CC710-4EA4-FF5A-B338-3770D10A347C}"/>
              </a:ext>
            </a:extLst>
          </p:cNvPr>
          <p:cNvSpPr/>
          <p:nvPr/>
        </p:nvSpPr>
        <p:spPr>
          <a:xfrm>
            <a:off x="6157014" y="1321282"/>
            <a:ext cx="3272002" cy="2204864"/>
          </a:xfrm>
          <a:prstGeom prst="roundRect">
            <a:avLst>
              <a:gd name="adj" fmla="val 3205"/>
            </a:avLst>
          </a:prstGeom>
          <a:noFill/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tx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矩形: 对角圆角 14">
            <a:extLst>
              <a:ext uri="{FF2B5EF4-FFF2-40B4-BE49-F238E27FC236}">
                <a16:creationId xmlns:a16="http://schemas.microsoft.com/office/drawing/2014/main" id="{4A0D5AA8-1347-ED91-E482-54B43A76C355}"/>
              </a:ext>
            </a:extLst>
          </p:cNvPr>
          <p:cNvSpPr/>
          <p:nvPr/>
        </p:nvSpPr>
        <p:spPr>
          <a:xfrm>
            <a:off x="6441636" y="1712310"/>
            <a:ext cx="813609" cy="1544419"/>
          </a:xfrm>
          <a:prstGeom prst="round2DiagRect">
            <a:avLst>
              <a:gd name="adj1" fmla="val 16636"/>
              <a:gd name="adj2" fmla="val 0"/>
            </a:avLst>
          </a:prstGeom>
          <a:solidFill>
            <a:srgbClr val="FFC91D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Filter</a:t>
            </a:r>
            <a:endParaRPr lang="zh-CN" altLang="en-US" sz="1400">
              <a:solidFill>
                <a:schemeClr val="tx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B672DFCE-0768-999B-05E0-2FE23850B890}"/>
              </a:ext>
            </a:extLst>
          </p:cNvPr>
          <p:cNvSpPr/>
          <p:nvPr/>
        </p:nvSpPr>
        <p:spPr>
          <a:xfrm>
            <a:off x="7494255" y="1440564"/>
            <a:ext cx="1217840" cy="397840"/>
          </a:xfrm>
          <a:prstGeom prst="round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Login</a:t>
            </a:r>
            <a:endParaRPr lang="zh-CN" altLang="en-US" sz="14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06E9DE4-CCB6-6092-4A33-03D8BB82F91F}"/>
              </a:ext>
            </a:extLst>
          </p:cNvPr>
          <p:cNvSpPr/>
          <p:nvPr/>
        </p:nvSpPr>
        <p:spPr>
          <a:xfrm>
            <a:off x="7494253" y="1957664"/>
            <a:ext cx="1217840" cy="397840"/>
          </a:xfrm>
          <a:prstGeom prst="round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Emp</a:t>
            </a:r>
            <a:endParaRPr lang="zh-CN" altLang="en-US" sz="14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4EA12C99-DCB7-9C8C-84F7-DDE67A2FB57A}"/>
              </a:ext>
            </a:extLst>
          </p:cNvPr>
          <p:cNvSpPr/>
          <p:nvPr/>
        </p:nvSpPr>
        <p:spPr>
          <a:xfrm>
            <a:off x="7503703" y="2474765"/>
            <a:ext cx="1217840" cy="397840"/>
          </a:xfrm>
          <a:prstGeom prst="round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Dept</a:t>
            </a:r>
            <a:endParaRPr lang="zh-CN" altLang="en-US" sz="14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9351C28-7155-C045-06CA-1B5CF6F937B7}"/>
              </a:ext>
            </a:extLst>
          </p:cNvPr>
          <p:cNvSpPr/>
          <p:nvPr/>
        </p:nvSpPr>
        <p:spPr>
          <a:xfrm>
            <a:off x="7494253" y="2991864"/>
            <a:ext cx="1217840" cy="397840"/>
          </a:xfrm>
          <a:prstGeom prst="round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Report</a:t>
            </a:r>
            <a:endParaRPr lang="zh-CN" altLang="en-US" sz="14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38773A08-76A3-B63B-3EF2-EA1042DD8015}"/>
              </a:ext>
            </a:extLst>
          </p:cNvPr>
          <p:cNvSpPr/>
          <p:nvPr/>
        </p:nvSpPr>
        <p:spPr>
          <a:xfrm rot="19229268">
            <a:off x="7138800" y="1756635"/>
            <a:ext cx="475669" cy="235770"/>
          </a:xfrm>
          <a:prstGeom prst="rightArrow">
            <a:avLst>
              <a:gd name="adj1" fmla="val 50000"/>
              <a:gd name="adj2" fmla="val 73159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941B456F-D646-786D-7E50-AB3A0B35E42A}"/>
              </a:ext>
            </a:extLst>
          </p:cNvPr>
          <p:cNvSpPr/>
          <p:nvPr/>
        </p:nvSpPr>
        <p:spPr>
          <a:xfrm rot="2290107">
            <a:off x="7142728" y="2957122"/>
            <a:ext cx="475669" cy="235770"/>
          </a:xfrm>
          <a:prstGeom prst="rightArrow">
            <a:avLst>
              <a:gd name="adj1" fmla="val 50000"/>
              <a:gd name="adj2" fmla="val 73159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0FE0BA2F-172C-C876-8D96-207F5AF99C41}"/>
              </a:ext>
            </a:extLst>
          </p:cNvPr>
          <p:cNvSpPr/>
          <p:nvPr/>
        </p:nvSpPr>
        <p:spPr>
          <a:xfrm>
            <a:off x="7197545" y="2375803"/>
            <a:ext cx="420285" cy="250004"/>
          </a:xfrm>
          <a:prstGeom prst="rightArrow">
            <a:avLst>
              <a:gd name="adj1" fmla="val 50000"/>
              <a:gd name="adj2" fmla="val 73159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pic>
        <p:nvPicPr>
          <p:cNvPr id="23" name="图形 22" descr="雇员徽章 轮廓">
            <a:extLst>
              <a:ext uri="{FF2B5EF4-FFF2-40B4-BE49-F238E27FC236}">
                <a16:creationId xmlns:a16="http://schemas.microsoft.com/office/drawing/2014/main" id="{5E0FB62B-18C5-0CCB-1E06-2BD7F7913D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21543" y="1408881"/>
            <a:ext cx="397840" cy="397840"/>
          </a:xfrm>
          <a:prstGeom prst="rect">
            <a:avLst/>
          </a:prstGeom>
        </p:spPr>
      </p:pic>
      <p:pic>
        <p:nvPicPr>
          <p:cNvPr id="24" name="图形 23" descr="雇员徽章 轮廓">
            <a:extLst>
              <a:ext uri="{FF2B5EF4-FFF2-40B4-BE49-F238E27FC236}">
                <a16:creationId xmlns:a16="http://schemas.microsoft.com/office/drawing/2014/main" id="{BBF8273D-7C85-8344-E36B-21BA632C13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3527" y="2207583"/>
            <a:ext cx="454590" cy="454590"/>
          </a:xfrm>
          <a:prstGeom prst="rect">
            <a:avLst/>
          </a:prstGeom>
        </p:spPr>
      </p:pic>
      <p:sp>
        <p:nvSpPr>
          <p:cNvPr id="25" name="文本占位符 1">
            <a:extLst>
              <a:ext uri="{FF2B5EF4-FFF2-40B4-BE49-F238E27FC236}">
                <a16:creationId xmlns:a16="http://schemas.microsoft.com/office/drawing/2014/main" id="{950305E6-37B5-25AB-9F73-3493975FFB69}"/>
              </a:ext>
            </a:extLst>
          </p:cNvPr>
          <p:cNvSpPr txBox="1">
            <a:spLocks/>
          </p:cNvSpPr>
          <p:nvPr/>
        </p:nvSpPr>
        <p:spPr>
          <a:xfrm>
            <a:off x="710881" y="5001013"/>
            <a:ext cx="10749598" cy="13818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思考：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504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所有的请求，拦截到了之后，都需要校验令牌吗？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504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拦截到请求后，什么情况下才可以放行，执行业务操作？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文本占位符 16">
            <a:extLst>
              <a:ext uri="{FF2B5EF4-FFF2-40B4-BE49-F238E27FC236}">
                <a16:creationId xmlns:a16="http://schemas.microsoft.com/office/drawing/2014/main" id="{3965F90B-3829-9D6E-9B0B-A8FBC2B8290D}"/>
              </a:ext>
            </a:extLst>
          </p:cNvPr>
          <p:cNvSpPr txBox="1">
            <a:spLocks/>
          </p:cNvSpPr>
          <p:nvPr/>
        </p:nvSpPr>
        <p:spPr>
          <a:xfrm>
            <a:off x="5822070" y="5575248"/>
            <a:ext cx="1970945" cy="345106"/>
          </a:xfrm>
          <a:prstGeom prst="rect">
            <a:avLst/>
          </a:prstGeom>
        </p:spPr>
        <p:txBody>
          <a:bodyPr tIns="0" bIns="0"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400" b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有一个例外，登录请求</a:t>
            </a:r>
            <a:endParaRPr lang="en-US" altLang="zh-CN" sz="1400" b="1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7" name="文本占位符 16">
            <a:extLst>
              <a:ext uri="{FF2B5EF4-FFF2-40B4-BE49-F238E27FC236}">
                <a16:creationId xmlns:a16="http://schemas.microsoft.com/office/drawing/2014/main" id="{F5767CD8-6C4E-3EA5-BB26-214DA7B5DDB8}"/>
              </a:ext>
            </a:extLst>
          </p:cNvPr>
          <p:cNvSpPr txBox="1">
            <a:spLocks/>
          </p:cNvSpPr>
          <p:nvPr/>
        </p:nvSpPr>
        <p:spPr>
          <a:xfrm>
            <a:off x="6361322" y="5996920"/>
            <a:ext cx="5119797" cy="345106"/>
          </a:xfrm>
          <a:prstGeom prst="rect">
            <a:avLst/>
          </a:prstGeom>
        </p:spPr>
        <p:txBody>
          <a:bodyPr tIns="0" bIns="0"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400" b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有令牌，且令牌校验通过（合法）；否则都返回未登录错误结果</a:t>
            </a:r>
            <a:endParaRPr lang="en-US" altLang="zh-CN" sz="1400" b="1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95744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7.40741E-7 L -0.64388 0.1206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201" y="6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-2.59259E-6 L 0.43203 -0.00231 " pathEditMode="relative" rAng="0" ptsTypes="AA">
                                      <p:cBhvr>
                                        <p:cTn id="1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602" y="-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5" grpId="0" uiExpand="1" build="p"/>
      <p:bldP spid="26" grpId="0"/>
      <p:bldP spid="2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A4E864-824D-F582-80F6-F3F24FC64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令牌校验</a:t>
            </a:r>
            <a:r>
              <a:rPr lang="en-US" altLang="zh-CN"/>
              <a:t>Filter-</a:t>
            </a:r>
            <a:r>
              <a:rPr lang="zh-CN" altLang="en-US"/>
              <a:t>流程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D38A10-5030-1C1A-F644-70C77ABDA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774" y="1072598"/>
            <a:ext cx="6703144" cy="2826865"/>
          </a:xfrm>
        </p:spPr>
        <p:txBody>
          <a:bodyPr/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sz="16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获取请求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url</a:t>
            </a:r>
            <a:r>
              <a:rPr lang="zh-CN" altLang="en-US" sz="16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endParaRPr lang="en-US" altLang="zh-CN" sz="16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sz="16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判断请求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url</a:t>
            </a:r>
            <a:r>
              <a:rPr lang="zh-CN" altLang="en-US" sz="16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中是否包含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login</a:t>
            </a:r>
            <a:r>
              <a:rPr lang="zh-CN" altLang="en-US" sz="16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，如果包含，说明是登录操作，放行。</a:t>
            </a:r>
            <a:endParaRPr lang="en-US" altLang="zh-CN" sz="16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sz="16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获取请求头中的令牌（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token</a:t>
            </a:r>
            <a:r>
              <a:rPr lang="zh-CN" altLang="en-US" sz="16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）。</a:t>
            </a:r>
            <a:endParaRPr lang="en-US" altLang="zh-CN" sz="16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sz="16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判断令牌是否存在，如果不存在，响应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401</a:t>
            </a:r>
            <a:r>
              <a:rPr lang="zh-CN" altLang="en-US" sz="16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endParaRPr lang="en-US" altLang="zh-CN" sz="16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sz="16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解析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token</a:t>
            </a:r>
            <a:r>
              <a:rPr lang="zh-CN" altLang="en-US" sz="16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，如果解析失败，响应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401 </a:t>
            </a:r>
            <a:r>
              <a:rPr lang="zh-CN" altLang="en-US" sz="16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endParaRPr lang="en-US" altLang="zh-CN" sz="16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sz="16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放行。</a:t>
            </a:r>
            <a:endParaRPr lang="en-US" altLang="zh-CN" sz="16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10" name="!!矩形: 对角圆角 17">
            <a:extLst>
              <a:ext uri="{FF2B5EF4-FFF2-40B4-BE49-F238E27FC236}">
                <a16:creationId xmlns:a16="http://schemas.microsoft.com/office/drawing/2014/main" id="{DDA26E49-3302-403C-D7F3-4EB3A856CD8D}"/>
              </a:ext>
            </a:extLst>
          </p:cNvPr>
          <p:cNvSpPr/>
          <p:nvPr/>
        </p:nvSpPr>
        <p:spPr>
          <a:xfrm>
            <a:off x="7301198" y="1072598"/>
            <a:ext cx="4569241" cy="4898782"/>
          </a:xfrm>
          <a:prstGeom prst="round2DiagRect">
            <a:avLst>
              <a:gd name="adj1" fmla="val 2478"/>
              <a:gd name="adj2" fmla="val 2301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流程图: 决策 10">
            <a:extLst>
              <a:ext uri="{FF2B5EF4-FFF2-40B4-BE49-F238E27FC236}">
                <a16:creationId xmlns:a16="http://schemas.microsoft.com/office/drawing/2014/main" id="{4C2FF522-20E0-45FF-DBBA-2DBCF356BB85}"/>
              </a:ext>
            </a:extLst>
          </p:cNvPr>
          <p:cNvSpPr/>
          <p:nvPr/>
        </p:nvSpPr>
        <p:spPr>
          <a:xfrm>
            <a:off x="8279223" y="2422397"/>
            <a:ext cx="1446636" cy="586668"/>
          </a:xfrm>
          <a:prstGeom prst="flowChartDecision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判断是否是登录请求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361FE98-EB98-F64F-A5CF-B113DB53D9DA}"/>
              </a:ext>
            </a:extLst>
          </p:cNvPr>
          <p:cNvSpPr/>
          <p:nvPr/>
        </p:nvSpPr>
        <p:spPr>
          <a:xfrm>
            <a:off x="8279224" y="1747694"/>
            <a:ext cx="1446636" cy="44841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获取请求路径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B5520D-AF5D-6E22-6B77-4BBCAECC91E6}"/>
              </a:ext>
            </a:extLst>
          </p:cNvPr>
          <p:cNvSpPr/>
          <p:nvPr/>
        </p:nvSpPr>
        <p:spPr>
          <a:xfrm>
            <a:off x="8279223" y="3235359"/>
            <a:ext cx="1446636" cy="44841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获取请求头</a:t>
            </a:r>
            <a:r>
              <a:rPr lang="en-US" altLang="zh-CN" sz="10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token</a:t>
            </a:r>
            <a:endParaRPr lang="zh-CN" altLang="en-US" sz="10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4" name="流程图: 决策 13">
            <a:extLst>
              <a:ext uri="{FF2B5EF4-FFF2-40B4-BE49-F238E27FC236}">
                <a16:creationId xmlns:a16="http://schemas.microsoft.com/office/drawing/2014/main" id="{0AF25439-A4F9-15FB-957C-5B860FFCA421}"/>
              </a:ext>
            </a:extLst>
          </p:cNvPr>
          <p:cNvSpPr/>
          <p:nvPr/>
        </p:nvSpPr>
        <p:spPr>
          <a:xfrm>
            <a:off x="8279223" y="3910062"/>
            <a:ext cx="1446636" cy="586668"/>
          </a:xfrm>
          <a:prstGeom prst="flowChartDecision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判断是否有</a:t>
            </a:r>
            <a:r>
              <a:rPr lang="en-US" altLang="zh-CN" sz="10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token</a:t>
            </a:r>
            <a:endParaRPr lang="zh-CN" altLang="en-US" sz="10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流程图: 决策 14">
            <a:extLst>
              <a:ext uri="{FF2B5EF4-FFF2-40B4-BE49-F238E27FC236}">
                <a16:creationId xmlns:a16="http://schemas.microsoft.com/office/drawing/2014/main" id="{8624CDAC-81F3-7F69-2C0C-1DACA20F47AE}"/>
              </a:ext>
            </a:extLst>
          </p:cNvPr>
          <p:cNvSpPr/>
          <p:nvPr/>
        </p:nvSpPr>
        <p:spPr>
          <a:xfrm>
            <a:off x="8279223" y="4714748"/>
            <a:ext cx="1446636" cy="586668"/>
          </a:xfrm>
          <a:prstGeom prst="flowChartDecision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解析</a:t>
            </a:r>
            <a:r>
              <a:rPr lang="en-US" altLang="zh-CN" sz="10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token</a:t>
            </a:r>
            <a:endParaRPr lang="zh-CN" altLang="en-US" sz="10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6B2BE2E3-4A39-7E9C-DF42-ACB6032896C1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9002542" y="1480378"/>
            <a:ext cx="0" cy="26731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5769898C-8562-4067-9756-26678DFF6ED6}"/>
              </a:ext>
            </a:extLst>
          </p:cNvPr>
          <p:cNvCxnSpPr>
            <a:stCxn id="12" idx="2"/>
            <a:endCxn id="11" idx="0"/>
          </p:cNvCxnSpPr>
          <p:nvPr/>
        </p:nvCxnSpPr>
        <p:spPr>
          <a:xfrm flipH="1">
            <a:off x="9002541" y="2196103"/>
            <a:ext cx="1" cy="226293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03F7AAE0-8F3B-472C-1345-28C0D8E4AA74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>
            <a:off x="9002541" y="3683768"/>
            <a:ext cx="0" cy="226293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48">
            <a:extLst>
              <a:ext uri="{FF2B5EF4-FFF2-40B4-BE49-F238E27FC236}">
                <a16:creationId xmlns:a16="http://schemas.microsoft.com/office/drawing/2014/main" id="{E8FB64ED-A855-DBE4-7C1D-B6972074E4F6}"/>
              </a:ext>
            </a:extLst>
          </p:cNvPr>
          <p:cNvCxnSpPr>
            <a:cxnSpLocks/>
            <a:stCxn id="11" idx="1"/>
            <a:endCxn id="21" idx="1"/>
          </p:cNvCxnSpPr>
          <p:nvPr/>
        </p:nvCxnSpPr>
        <p:spPr>
          <a:xfrm rot="10800000" flipH="1" flipV="1">
            <a:off x="8279222" y="2715731"/>
            <a:ext cx="345495" cy="3044384"/>
          </a:xfrm>
          <a:prstGeom prst="bentConnector3">
            <a:avLst>
              <a:gd name="adj1" fmla="val -117038"/>
            </a:avLst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9F038590-CEFB-2B2E-55C5-DF321C67B9D0}"/>
              </a:ext>
            </a:extLst>
          </p:cNvPr>
          <p:cNvSpPr/>
          <p:nvPr/>
        </p:nvSpPr>
        <p:spPr>
          <a:xfrm>
            <a:off x="8607786" y="1138838"/>
            <a:ext cx="755645" cy="341539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请求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335999E-3701-9329-A874-820B34FD4D0E}"/>
              </a:ext>
            </a:extLst>
          </p:cNvPr>
          <p:cNvSpPr/>
          <p:nvPr/>
        </p:nvSpPr>
        <p:spPr>
          <a:xfrm>
            <a:off x="8624718" y="5589344"/>
            <a:ext cx="755645" cy="341539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放行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4FC9BB8F-CE58-B500-597C-6A2BE0ED3CA9}"/>
              </a:ext>
            </a:extLst>
          </p:cNvPr>
          <p:cNvSpPr/>
          <p:nvPr/>
        </p:nvSpPr>
        <p:spPr>
          <a:xfrm>
            <a:off x="10491558" y="4033261"/>
            <a:ext cx="1091534" cy="341539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响应</a:t>
            </a:r>
            <a:r>
              <a:rPr lang="en-US" altLang="zh-CN" sz="10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401</a:t>
            </a:r>
            <a:endParaRPr lang="zh-CN" altLang="en-US" sz="10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9CD8B51-F2FF-55A8-DDD8-9D27A4E42535}"/>
              </a:ext>
            </a:extLst>
          </p:cNvPr>
          <p:cNvSpPr txBox="1"/>
          <p:nvPr/>
        </p:nvSpPr>
        <p:spPr>
          <a:xfrm>
            <a:off x="7602172" y="4134639"/>
            <a:ext cx="299226" cy="213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527FBCDF-21BF-EE77-8B30-4C00F279F2E5}"/>
              </a:ext>
            </a:extLst>
          </p:cNvPr>
          <p:cNvGrpSpPr/>
          <p:nvPr/>
        </p:nvGrpSpPr>
        <p:grpSpPr>
          <a:xfrm>
            <a:off x="9002541" y="2979673"/>
            <a:ext cx="467439" cy="246735"/>
            <a:chOff x="8298100" y="3098549"/>
            <a:chExt cx="508195" cy="284578"/>
          </a:xfrm>
        </p:grpSpPr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8B82FC16-AFF0-3EAC-80E0-6FF6272AE760}"/>
                </a:ext>
              </a:extLst>
            </p:cNvPr>
            <p:cNvCxnSpPr>
              <a:cxnSpLocks/>
              <a:stCxn id="11" idx="2"/>
              <a:endCxn id="13" idx="0"/>
            </p:cNvCxnSpPr>
            <p:nvPr/>
          </p:nvCxnSpPr>
          <p:spPr>
            <a:xfrm>
              <a:off x="8298100" y="3122121"/>
              <a:ext cx="0" cy="261002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90036002-3AE1-FE94-70CA-80D26702EB02}"/>
                </a:ext>
              </a:extLst>
            </p:cNvPr>
            <p:cNvSpPr txBox="1"/>
            <p:nvPr/>
          </p:nvSpPr>
          <p:spPr>
            <a:xfrm>
              <a:off x="8480980" y="3098549"/>
              <a:ext cx="32531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否</a:t>
              </a:r>
              <a:endPara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A094123B-A775-9BA0-6D64-8B5EE42D5D78}"/>
              </a:ext>
            </a:extLst>
          </p:cNvPr>
          <p:cNvGrpSpPr/>
          <p:nvPr/>
        </p:nvGrpSpPr>
        <p:grpSpPr>
          <a:xfrm>
            <a:off x="9002541" y="4467341"/>
            <a:ext cx="424806" cy="238436"/>
            <a:chOff x="8319377" y="4814403"/>
            <a:chExt cx="461845" cy="275006"/>
          </a:xfrm>
        </p:grpSpPr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4ABDA8A2-67D0-A0E2-F465-2FB1246891EA}"/>
                </a:ext>
              </a:extLst>
            </p:cNvPr>
            <p:cNvCxnSpPr>
              <a:cxnSpLocks/>
              <a:stCxn id="14" idx="2"/>
              <a:endCxn id="15" idx="0"/>
            </p:cNvCxnSpPr>
            <p:nvPr/>
          </p:nvCxnSpPr>
          <p:spPr>
            <a:xfrm>
              <a:off x="8319377" y="4837963"/>
              <a:ext cx="0" cy="251457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A679B1E3-E0C5-BAA5-26DB-2BC581D6A6FC}"/>
                </a:ext>
              </a:extLst>
            </p:cNvPr>
            <p:cNvSpPr txBox="1"/>
            <p:nvPr/>
          </p:nvSpPr>
          <p:spPr>
            <a:xfrm>
              <a:off x="8455907" y="4814403"/>
              <a:ext cx="32531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是</a:t>
              </a:r>
              <a:endPara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AB887E12-4465-67AC-9ECA-1AF4D0616827}"/>
              </a:ext>
            </a:extLst>
          </p:cNvPr>
          <p:cNvGrpSpPr/>
          <p:nvPr/>
        </p:nvGrpSpPr>
        <p:grpSpPr>
          <a:xfrm>
            <a:off x="9725859" y="3973521"/>
            <a:ext cx="765699" cy="221546"/>
            <a:chOff x="9307521" y="4244830"/>
            <a:chExt cx="832460" cy="255528"/>
          </a:xfrm>
        </p:grpSpPr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B24027D0-D4FE-BE0C-62D6-1F99B22FA135}"/>
                </a:ext>
              </a:extLst>
            </p:cNvPr>
            <p:cNvCxnSpPr>
              <a:cxnSpLocks/>
              <a:stCxn id="14" idx="3"/>
              <a:endCxn id="22" idx="1"/>
            </p:cNvCxnSpPr>
            <p:nvPr/>
          </p:nvCxnSpPr>
          <p:spPr>
            <a:xfrm>
              <a:off x="9307520" y="4499634"/>
              <a:ext cx="832460" cy="732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CE81801E-B631-0D2C-07AD-9687F33B429C}"/>
                </a:ext>
              </a:extLst>
            </p:cNvPr>
            <p:cNvSpPr txBox="1"/>
            <p:nvPr/>
          </p:nvSpPr>
          <p:spPr>
            <a:xfrm>
              <a:off x="9490400" y="4244830"/>
              <a:ext cx="32531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否</a:t>
              </a:r>
              <a:endPara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FF03B681-08ED-070D-5564-F1928DD5EF9B}"/>
              </a:ext>
            </a:extLst>
          </p:cNvPr>
          <p:cNvGrpSpPr/>
          <p:nvPr/>
        </p:nvGrpSpPr>
        <p:grpSpPr>
          <a:xfrm>
            <a:off x="9725859" y="4374801"/>
            <a:ext cx="1311466" cy="845084"/>
            <a:chOff x="9438185" y="3849834"/>
            <a:chExt cx="1425813" cy="974705"/>
          </a:xfrm>
        </p:grpSpPr>
        <p:cxnSp>
          <p:nvCxnSpPr>
            <p:cNvPr id="34" name="直接箭头连接符 66">
              <a:extLst>
                <a:ext uri="{FF2B5EF4-FFF2-40B4-BE49-F238E27FC236}">
                  <a16:creationId xmlns:a16="http://schemas.microsoft.com/office/drawing/2014/main" id="{C6CB112A-D198-8E4A-B6F5-734C4E473BA7}"/>
                </a:ext>
              </a:extLst>
            </p:cNvPr>
            <p:cNvCxnSpPr>
              <a:cxnSpLocks/>
              <a:stCxn id="15" idx="3"/>
              <a:endCxn id="22" idx="2"/>
            </p:cNvCxnSpPr>
            <p:nvPr/>
          </p:nvCxnSpPr>
          <p:spPr>
            <a:xfrm flipV="1">
              <a:off x="9438186" y="3849835"/>
              <a:ext cx="1425813" cy="730416"/>
            </a:xfrm>
            <a:prstGeom prst="bentConnector2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283B23FA-3660-39C5-9292-141FEBBE5ABC}"/>
                </a:ext>
              </a:extLst>
            </p:cNvPr>
            <p:cNvSpPr txBox="1"/>
            <p:nvPr/>
          </p:nvSpPr>
          <p:spPr>
            <a:xfrm>
              <a:off x="9705714" y="4578318"/>
              <a:ext cx="4813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失败</a:t>
              </a:r>
              <a:endPara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E6582244-6523-BCB5-0BB3-E13FB97DE94D}"/>
              </a:ext>
            </a:extLst>
          </p:cNvPr>
          <p:cNvGrpSpPr/>
          <p:nvPr/>
        </p:nvGrpSpPr>
        <p:grpSpPr>
          <a:xfrm>
            <a:off x="9002537" y="5301412"/>
            <a:ext cx="442733" cy="287928"/>
            <a:chOff x="8349060" y="4919712"/>
            <a:chExt cx="481335" cy="332090"/>
          </a:xfrm>
        </p:grpSpPr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D1D8E8C1-FA19-69DB-4E81-B5270922539B}"/>
                </a:ext>
              </a:extLst>
            </p:cNvPr>
            <p:cNvCxnSpPr>
              <a:cxnSpLocks/>
              <a:stCxn id="15" idx="2"/>
              <a:endCxn id="21" idx="0"/>
            </p:cNvCxnSpPr>
            <p:nvPr/>
          </p:nvCxnSpPr>
          <p:spPr>
            <a:xfrm>
              <a:off x="8349061" y="4919717"/>
              <a:ext cx="0" cy="33209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BD8F09C2-C0DD-8E7B-2847-99A821CC08AF}"/>
                </a:ext>
              </a:extLst>
            </p:cNvPr>
            <p:cNvSpPr txBox="1"/>
            <p:nvPr/>
          </p:nvSpPr>
          <p:spPr>
            <a:xfrm>
              <a:off x="8349060" y="4919717"/>
              <a:ext cx="4813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成功</a:t>
              </a:r>
              <a:endPara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E21DB2A8-A24D-848E-BF66-8A0AA1286242}"/>
              </a:ext>
            </a:extLst>
          </p:cNvPr>
          <p:cNvSpPr txBox="1"/>
          <p:nvPr/>
        </p:nvSpPr>
        <p:spPr>
          <a:xfrm>
            <a:off x="9658255" y="1783800"/>
            <a:ext cx="2279789" cy="213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0">
                <a:solidFill>
                  <a:srgbClr val="00B050"/>
                </a:solidFill>
                <a:latin typeface="Consolas" panose="020B0609020204030204" pitchFamily="49" charset="0"/>
              </a:rPr>
              <a:t>http://localhost:8080/login</a:t>
            </a:r>
            <a:endParaRPr lang="zh-CN" altLang="en-US" sz="1000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99ADC56-F365-DBEC-7C3A-AC826A073EED}"/>
              </a:ext>
            </a:extLst>
          </p:cNvPr>
          <p:cNvSpPr txBox="1"/>
          <p:nvPr/>
        </p:nvSpPr>
        <p:spPr>
          <a:xfrm>
            <a:off x="9658255" y="1947210"/>
            <a:ext cx="2201643" cy="213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0">
                <a:solidFill>
                  <a:srgbClr val="00B050"/>
                </a:solidFill>
                <a:latin typeface="Consolas" panose="020B0609020204030204" pitchFamily="49" charset="0"/>
              </a:rPr>
              <a:t>http://localhost:8080/emps</a:t>
            </a:r>
            <a:endParaRPr lang="zh-CN" altLang="en-US" sz="1000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5385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20" grpId="0" animBg="1"/>
      <p:bldP spid="21" grpId="0" animBg="1"/>
      <p:bldP spid="22" grpId="0" animBg="1"/>
      <p:bldP spid="23" grpId="0"/>
      <p:bldP spid="39" grpId="0"/>
      <p:bldP spid="4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1D50508-E0D4-47F2-035C-4233AC418A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登录校验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B8DA87-FD6C-FBB0-B363-736345AB02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4521970" cy="3475973"/>
          </a:xfrm>
        </p:spPr>
        <p:txBody>
          <a:bodyPr/>
          <a:lstStyle/>
          <a:p>
            <a:r>
              <a:rPr lang="zh-CN" altLang="en-US">
                <a:latin typeface="+mn-lt"/>
              </a:rPr>
              <a:t>会话技术</a:t>
            </a:r>
            <a:endParaRPr lang="en-US" altLang="zh-CN">
              <a:latin typeface="+mn-lt"/>
            </a:endParaRPr>
          </a:p>
          <a:p>
            <a:r>
              <a:rPr lang="en-US" altLang="zh-CN">
                <a:latin typeface="+mn-lt"/>
              </a:rPr>
              <a:t>JWT</a:t>
            </a:r>
            <a:r>
              <a:rPr lang="zh-CN" altLang="en-US">
                <a:latin typeface="+mn-lt"/>
              </a:rPr>
              <a:t>令牌</a:t>
            </a:r>
            <a:endParaRPr lang="en-US" altLang="zh-CN">
              <a:latin typeface="+mn-lt"/>
            </a:endParaRPr>
          </a:p>
          <a:p>
            <a:r>
              <a:rPr lang="zh-CN" altLang="en-US">
                <a:solidFill>
                  <a:srgbClr val="C00000"/>
                </a:solidFill>
                <a:latin typeface="+mn-lt"/>
              </a:rPr>
              <a:t>过滤器</a:t>
            </a:r>
            <a:r>
              <a:rPr lang="en-US" altLang="zh-CN">
                <a:solidFill>
                  <a:srgbClr val="C00000"/>
                </a:solidFill>
                <a:latin typeface="+mn-lt"/>
              </a:rPr>
              <a:t>Filter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快速入门</a:t>
            </a:r>
            <a:endParaRPr lang="en-US" altLang="zh-CN" sz="1400">
              <a:solidFill>
                <a:schemeClr val="tx1">
                  <a:lumMod val="50000"/>
                </a:schemeClr>
              </a:solidFill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令牌校验</a:t>
            </a:r>
            <a:r>
              <a:rPr lang="en-US" altLang="zh-CN" sz="1400"/>
              <a:t>Filter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>
                <a:solidFill>
                  <a:srgbClr val="C00000"/>
                </a:solidFill>
              </a:rPr>
              <a:t>详解</a:t>
            </a:r>
            <a:r>
              <a:rPr lang="en-US" altLang="zh-CN" sz="1400">
                <a:solidFill>
                  <a:srgbClr val="C00000"/>
                </a:solidFill>
              </a:rPr>
              <a:t>(</a:t>
            </a:r>
            <a:r>
              <a:rPr lang="zh-CN" altLang="en-US" sz="1400">
                <a:solidFill>
                  <a:srgbClr val="C00000"/>
                </a:solidFill>
              </a:rPr>
              <a:t>执行流程、拦截路径、过滤器链</a:t>
            </a:r>
            <a:r>
              <a:rPr lang="en-US" altLang="zh-CN" sz="1400">
                <a:solidFill>
                  <a:srgbClr val="C00000"/>
                </a:solidFill>
              </a:rPr>
              <a:t>)</a:t>
            </a:r>
          </a:p>
          <a:p>
            <a:r>
              <a:rPr lang="zh-CN" altLang="en-US">
                <a:latin typeface="+mn-lt"/>
              </a:rPr>
              <a:t>拦截器</a:t>
            </a:r>
            <a:r>
              <a:rPr lang="en-US" altLang="zh-CN">
                <a:latin typeface="+mn-lt"/>
              </a:rPr>
              <a:t>Interceptor</a:t>
            </a:r>
            <a:endParaRPr lang="zh-CN" altLang="en-US">
              <a:latin typeface="+mn-lt"/>
            </a:endParaRP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8379477-2B8E-30F1-5750-C0F3A85768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6435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E19A60-FC48-128B-D521-AFBCE132B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Filter</a:t>
            </a:r>
            <a:r>
              <a:rPr lang="zh-CN" altLang="en-US"/>
              <a:t>执行流程</a:t>
            </a:r>
          </a:p>
        </p:txBody>
      </p:sp>
      <p:sp>
        <p:nvSpPr>
          <p:cNvPr id="4" name="文本占位符 32">
            <a:extLst>
              <a:ext uri="{FF2B5EF4-FFF2-40B4-BE49-F238E27FC236}">
                <a16:creationId xmlns:a16="http://schemas.microsoft.com/office/drawing/2014/main" id="{FB2689C6-F097-B60E-16F4-4647B4C7B3C3}"/>
              </a:ext>
            </a:extLst>
          </p:cNvPr>
          <p:cNvSpPr txBox="1">
            <a:spLocks/>
          </p:cNvSpPr>
          <p:nvPr/>
        </p:nvSpPr>
        <p:spPr>
          <a:xfrm>
            <a:off x="710880" y="5497475"/>
            <a:ext cx="10698800" cy="100040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/>
              <a:t>问题</a:t>
            </a:r>
            <a:r>
              <a:rPr lang="en-US" altLang="zh-CN" sz="1600">
                <a:ea typeface="Fira Code" panose="020B0809050000020004" pitchFamily="49" charset="0"/>
              </a:rPr>
              <a:t>1</a:t>
            </a:r>
            <a:r>
              <a:rPr lang="zh-CN" altLang="en-US" sz="1600"/>
              <a:t>：放行后访问对应资源，资源访问完成后，还会回到</a:t>
            </a:r>
            <a:r>
              <a:rPr lang="en-US" altLang="zh-CN" sz="1600">
                <a:ea typeface="Fira Code" panose="020B0809050000020004" pitchFamily="49" charset="0"/>
              </a:rPr>
              <a:t>Filter</a:t>
            </a:r>
            <a:r>
              <a:rPr lang="zh-CN" altLang="en-US" sz="1600"/>
              <a:t>中吗？</a:t>
            </a:r>
            <a:endParaRPr lang="en-US" altLang="zh-CN" sz="1600">
              <a:ea typeface="Fira Code" panose="020B0809050000020004" pitchFamily="49" charset="0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/>
              <a:t>问题</a:t>
            </a:r>
            <a:r>
              <a:rPr lang="en-US" altLang="zh-CN" sz="1600">
                <a:ea typeface="Fira Code" panose="020B0809050000020004" pitchFamily="49" charset="0"/>
              </a:rPr>
              <a:t>2</a:t>
            </a:r>
            <a:r>
              <a:rPr lang="zh-CN" altLang="en-US" sz="1600"/>
              <a:t>：如果回到</a:t>
            </a:r>
            <a:r>
              <a:rPr lang="en-US" altLang="zh-CN" sz="1600">
                <a:ea typeface="Fira Code" panose="020B0809050000020004" pitchFamily="49" charset="0"/>
              </a:rPr>
              <a:t>Filter</a:t>
            </a:r>
            <a:r>
              <a:rPr lang="zh-CN" altLang="en-US" sz="1600"/>
              <a:t>中，是重新执行还是执行放行后的逻辑呢？</a:t>
            </a:r>
            <a:endParaRPr lang="en-US" altLang="zh-CN" sz="1600">
              <a:ea typeface="Fira Code" panose="020B0809050000020004" pitchFamily="49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5D1026C8-877F-0BFF-D826-AE07978FE834}"/>
              </a:ext>
            </a:extLst>
          </p:cNvPr>
          <p:cNvSpPr/>
          <p:nvPr/>
        </p:nvSpPr>
        <p:spPr>
          <a:xfrm>
            <a:off x="817922" y="2518089"/>
            <a:ext cx="8999477" cy="2685872"/>
          </a:xfrm>
          <a:prstGeom prst="roundRect">
            <a:avLst>
              <a:gd name="adj" fmla="val 3016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tx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C8DC69D-0FE7-3539-58D4-8BC84EA887D4}"/>
              </a:ext>
            </a:extLst>
          </p:cNvPr>
          <p:cNvSpPr/>
          <p:nvPr/>
        </p:nvSpPr>
        <p:spPr>
          <a:xfrm>
            <a:off x="6169058" y="2641609"/>
            <a:ext cx="3468901" cy="2466897"/>
          </a:xfrm>
          <a:prstGeom prst="roundRect">
            <a:avLst>
              <a:gd name="adj" fmla="val 4938"/>
            </a:avLst>
          </a:prstGeom>
          <a:solidFill>
            <a:srgbClr val="86E2E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tx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93ECD008-5E08-537B-7315-20C1CBB61E22}"/>
              </a:ext>
            </a:extLst>
          </p:cNvPr>
          <p:cNvCxnSpPr>
            <a:cxnSpLocks/>
          </p:cNvCxnSpPr>
          <p:nvPr/>
        </p:nvCxnSpPr>
        <p:spPr>
          <a:xfrm>
            <a:off x="2127713" y="3655609"/>
            <a:ext cx="3936990" cy="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B1B0B54E-D97E-3B36-B42B-311605B7E980}"/>
              </a:ext>
            </a:extLst>
          </p:cNvPr>
          <p:cNvCxnSpPr>
            <a:cxnSpLocks/>
          </p:cNvCxnSpPr>
          <p:nvPr/>
        </p:nvCxnSpPr>
        <p:spPr>
          <a:xfrm flipH="1">
            <a:off x="2074964" y="4105183"/>
            <a:ext cx="3989739" cy="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!!文本框 112">
            <a:extLst>
              <a:ext uri="{FF2B5EF4-FFF2-40B4-BE49-F238E27FC236}">
                <a16:creationId xmlns:a16="http://schemas.microsoft.com/office/drawing/2014/main" id="{186377CB-74E2-FF5F-2AC2-410971AE49D5}"/>
              </a:ext>
            </a:extLst>
          </p:cNvPr>
          <p:cNvSpPr txBox="1"/>
          <p:nvPr/>
        </p:nvSpPr>
        <p:spPr>
          <a:xfrm>
            <a:off x="1356082" y="4280985"/>
            <a:ext cx="7125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浏览器</a:t>
            </a:r>
            <a:endParaRPr lang="zh-CN" altLang="en-US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3B51721-628F-EAE3-5BB8-E9C5202A8FC8}"/>
              </a:ext>
            </a:extLst>
          </p:cNvPr>
          <p:cNvSpPr txBox="1"/>
          <p:nvPr/>
        </p:nvSpPr>
        <p:spPr>
          <a:xfrm>
            <a:off x="3779770" y="3317903"/>
            <a:ext cx="5901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请求</a:t>
            </a:r>
            <a:endParaRPr lang="zh-CN" altLang="en-US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D9BBB92-DC58-C1EA-B361-D0FBF0443283}"/>
              </a:ext>
            </a:extLst>
          </p:cNvPr>
          <p:cNvSpPr txBox="1"/>
          <p:nvPr/>
        </p:nvSpPr>
        <p:spPr>
          <a:xfrm>
            <a:off x="3779770" y="4176682"/>
            <a:ext cx="5373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响应</a:t>
            </a:r>
            <a:endParaRPr lang="zh-CN" altLang="en-US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46FB16F-6B4B-F202-AE48-F38E87713645}"/>
              </a:ext>
            </a:extLst>
          </p:cNvPr>
          <p:cNvGrpSpPr/>
          <p:nvPr/>
        </p:nvGrpSpPr>
        <p:grpSpPr>
          <a:xfrm>
            <a:off x="1414405" y="3559798"/>
            <a:ext cx="595948" cy="622749"/>
            <a:chOff x="1339028" y="3390775"/>
            <a:chExt cx="1076475" cy="960776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94348FB2-F998-941E-B9E3-CCE7B0068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39028" y="3390775"/>
              <a:ext cx="1076475" cy="960776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E4199255-EEAF-B980-45E0-93BF35E669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53395" y="3650475"/>
              <a:ext cx="447737" cy="425919"/>
            </a:xfrm>
            <a:prstGeom prst="rect">
              <a:avLst/>
            </a:prstGeom>
          </p:spPr>
        </p:pic>
      </p:grp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B32A9A8-A5CE-FBDC-CE65-8F6FF7B17810}"/>
              </a:ext>
            </a:extLst>
          </p:cNvPr>
          <p:cNvSpPr/>
          <p:nvPr/>
        </p:nvSpPr>
        <p:spPr>
          <a:xfrm>
            <a:off x="6261603" y="2764292"/>
            <a:ext cx="3272002" cy="2204864"/>
          </a:xfrm>
          <a:prstGeom prst="roundRect">
            <a:avLst>
              <a:gd name="adj" fmla="val 3205"/>
            </a:avLst>
          </a:prstGeom>
          <a:noFill/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tx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9C64151-36BE-0D6B-559A-C270C3A9557B}"/>
              </a:ext>
            </a:extLst>
          </p:cNvPr>
          <p:cNvSpPr/>
          <p:nvPr/>
        </p:nvSpPr>
        <p:spPr>
          <a:xfrm>
            <a:off x="8056044" y="2883574"/>
            <a:ext cx="1217840" cy="397840"/>
          </a:xfrm>
          <a:prstGeom prst="round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Login</a:t>
            </a:r>
            <a:endParaRPr lang="zh-CN" altLang="en-US" sz="14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C348572-96AE-1657-BF80-16C8B21B3FF0}"/>
              </a:ext>
            </a:extLst>
          </p:cNvPr>
          <p:cNvSpPr/>
          <p:nvPr/>
        </p:nvSpPr>
        <p:spPr>
          <a:xfrm>
            <a:off x="8056042" y="3349460"/>
            <a:ext cx="1217840" cy="397840"/>
          </a:xfrm>
          <a:prstGeom prst="round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Emp</a:t>
            </a:r>
            <a:endParaRPr lang="zh-CN" altLang="en-US" sz="14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07E2CA4A-87F5-5D67-1ADA-D7CBC9132119}"/>
              </a:ext>
            </a:extLst>
          </p:cNvPr>
          <p:cNvSpPr/>
          <p:nvPr/>
        </p:nvSpPr>
        <p:spPr>
          <a:xfrm>
            <a:off x="8065492" y="3815346"/>
            <a:ext cx="1217840" cy="397840"/>
          </a:xfrm>
          <a:prstGeom prst="round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Dept</a:t>
            </a:r>
            <a:endParaRPr lang="zh-CN" altLang="en-US" sz="14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FDA8D21-094D-5A97-0CD5-B0E63F677E58}"/>
              </a:ext>
            </a:extLst>
          </p:cNvPr>
          <p:cNvSpPr/>
          <p:nvPr/>
        </p:nvSpPr>
        <p:spPr>
          <a:xfrm>
            <a:off x="8085928" y="4281233"/>
            <a:ext cx="1217840" cy="397840"/>
          </a:xfrm>
          <a:prstGeom prst="round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Report</a:t>
            </a:r>
            <a:endParaRPr lang="zh-CN" altLang="en-US" sz="14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06780C26-7F5C-4C92-97D1-4956CA4A781E}"/>
              </a:ext>
            </a:extLst>
          </p:cNvPr>
          <p:cNvSpPr/>
          <p:nvPr/>
        </p:nvSpPr>
        <p:spPr>
          <a:xfrm>
            <a:off x="7477319" y="3514538"/>
            <a:ext cx="420285" cy="250004"/>
          </a:xfrm>
          <a:prstGeom prst="rightArrow">
            <a:avLst>
              <a:gd name="adj1" fmla="val 50000"/>
              <a:gd name="adj2" fmla="val 73159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6E338462-E8DD-ADD5-446C-6C77588DDB69}"/>
              </a:ext>
            </a:extLst>
          </p:cNvPr>
          <p:cNvSpPr/>
          <p:nvPr/>
        </p:nvSpPr>
        <p:spPr>
          <a:xfrm rot="10966345">
            <a:off x="7439172" y="4027058"/>
            <a:ext cx="420285" cy="250004"/>
          </a:xfrm>
          <a:prstGeom prst="rightArrow">
            <a:avLst>
              <a:gd name="adj1" fmla="val 50000"/>
              <a:gd name="adj2" fmla="val 73159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22" name="矩形: 对角圆角 21">
            <a:extLst>
              <a:ext uri="{FF2B5EF4-FFF2-40B4-BE49-F238E27FC236}">
                <a16:creationId xmlns:a16="http://schemas.microsoft.com/office/drawing/2014/main" id="{71CA9C63-F68D-2AB4-7B6D-0698B7AC36B3}"/>
              </a:ext>
            </a:extLst>
          </p:cNvPr>
          <p:cNvSpPr/>
          <p:nvPr/>
        </p:nvSpPr>
        <p:spPr>
          <a:xfrm>
            <a:off x="6484270" y="3042031"/>
            <a:ext cx="813609" cy="1647954"/>
          </a:xfrm>
          <a:prstGeom prst="round2DiagRect">
            <a:avLst>
              <a:gd name="adj1" fmla="val 16636"/>
              <a:gd name="adj2" fmla="val 0"/>
            </a:avLst>
          </a:prstGeom>
          <a:solidFill>
            <a:srgbClr val="FFC00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放行前</a:t>
            </a:r>
            <a:endParaRPr lang="en-US" altLang="zh-CN" sz="1200">
              <a:solidFill>
                <a:schemeClr val="tx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endParaRPr lang="en-US" altLang="zh-CN" sz="1200">
              <a:solidFill>
                <a:schemeClr val="tx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120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放行</a:t>
            </a:r>
            <a:endParaRPr lang="en-US" altLang="zh-CN" sz="1200">
              <a:solidFill>
                <a:schemeClr val="tx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endParaRPr lang="en-US" altLang="zh-CN" sz="1200">
              <a:solidFill>
                <a:schemeClr val="tx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120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放行后</a:t>
            </a:r>
            <a:endParaRPr lang="zh-CN" altLang="en-US" sz="1400">
              <a:solidFill>
                <a:schemeClr val="tx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ED9D2D7-040A-DD22-68F3-EC71F0F48967}"/>
              </a:ext>
            </a:extLst>
          </p:cNvPr>
          <p:cNvSpPr txBox="1"/>
          <p:nvPr/>
        </p:nvSpPr>
        <p:spPr>
          <a:xfrm>
            <a:off x="6484270" y="4675682"/>
            <a:ext cx="8219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Filter</a:t>
            </a:r>
            <a:endParaRPr lang="zh-CN" altLang="en-US" sz="1400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84AF1B3B-A2D1-D457-5D9C-1B650188EB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573" y="1065035"/>
            <a:ext cx="5545670" cy="1390251"/>
          </a:xfrm>
          <a:prstGeom prst="roundRect">
            <a:avLst>
              <a:gd name="adj" fmla="val 3942"/>
            </a:avLst>
          </a:prstGeom>
          <a:ln w="6350">
            <a:solidFill>
              <a:schemeClr val="tx1">
                <a:lumMod val="65000"/>
                <a:lumOff val="35000"/>
              </a:schemeClr>
            </a:solidFill>
            <a:prstDash val="dash"/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C25B1847-44E3-34FF-A7FD-71B31DE578A7}"/>
              </a:ext>
            </a:extLst>
          </p:cNvPr>
          <p:cNvSpPr/>
          <p:nvPr/>
        </p:nvSpPr>
        <p:spPr>
          <a:xfrm>
            <a:off x="6450185" y="2005997"/>
            <a:ext cx="5226926" cy="253895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对角圆角 25">
            <a:extLst>
              <a:ext uri="{FF2B5EF4-FFF2-40B4-BE49-F238E27FC236}">
                <a16:creationId xmlns:a16="http://schemas.microsoft.com/office/drawing/2014/main" id="{2A938956-4459-BA89-E81A-D93ACB577240}"/>
              </a:ext>
            </a:extLst>
          </p:cNvPr>
          <p:cNvSpPr/>
          <p:nvPr/>
        </p:nvSpPr>
        <p:spPr>
          <a:xfrm>
            <a:off x="6605654" y="4071088"/>
            <a:ext cx="612459" cy="310483"/>
          </a:xfrm>
          <a:prstGeom prst="round2DiagRect">
            <a:avLst>
              <a:gd name="adj1" fmla="val 0"/>
              <a:gd name="adj2" fmla="val 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400">
              <a:solidFill>
                <a:schemeClr val="tx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7" name="矩形: 对角圆角 26">
            <a:extLst>
              <a:ext uri="{FF2B5EF4-FFF2-40B4-BE49-F238E27FC236}">
                <a16:creationId xmlns:a16="http://schemas.microsoft.com/office/drawing/2014/main" id="{A45BF82A-B200-41E8-DEA7-9BF60A55D13D}"/>
              </a:ext>
            </a:extLst>
          </p:cNvPr>
          <p:cNvSpPr/>
          <p:nvPr/>
        </p:nvSpPr>
        <p:spPr>
          <a:xfrm>
            <a:off x="6578299" y="3328799"/>
            <a:ext cx="612459" cy="285984"/>
          </a:xfrm>
          <a:prstGeom prst="round2DiagRect">
            <a:avLst>
              <a:gd name="adj1" fmla="val 0"/>
              <a:gd name="adj2" fmla="val 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400">
              <a:solidFill>
                <a:schemeClr val="tx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8" name="矩形: 对角圆角 27">
            <a:extLst>
              <a:ext uri="{FF2B5EF4-FFF2-40B4-BE49-F238E27FC236}">
                <a16:creationId xmlns:a16="http://schemas.microsoft.com/office/drawing/2014/main" id="{B9D5C24F-2CD2-5745-5D47-D5A098724EB1}"/>
              </a:ext>
            </a:extLst>
          </p:cNvPr>
          <p:cNvSpPr/>
          <p:nvPr/>
        </p:nvSpPr>
        <p:spPr>
          <a:xfrm>
            <a:off x="6578299" y="3724938"/>
            <a:ext cx="612459" cy="285984"/>
          </a:xfrm>
          <a:prstGeom prst="round2DiagRect">
            <a:avLst>
              <a:gd name="adj1" fmla="val 0"/>
              <a:gd name="adj2" fmla="val 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400">
              <a:solidFill>
                <a:schemeClr val="tx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9" name="文本占位符 16">
            <a:extLst>
              <a:ext uri="{FF2B5EF4-FFF2-40B4-BE49-F238E27FC236}">
                <a16:creationId xmlns:a16="http://schemas.microsoft.com/office/drawing/2014/main" id="{4CCCD310-B78D-981E-A6B8-1F747A155DC6}"/>
              </a:ext>
            </a:extLst>
          </p:cNvPr>
          <p:cNvSpPr txBox="1">
            <a:spLocks/>
          </p:cNvSpPr>
          <p:nvPr/>
        </p:nvSpPr>
        <p:spPr>
          <a:xfrm>
            <a:off x="7576348" y="5549576"/>
            <a:ext cx="447945" cy="331198"/>
          </a:xfrm>
          <a:prstGeom prst="rect">
            <a:avLst/>
          </a:prstGeom>
        </p:spPr>
        <p:txBody>
          <a:bodyPr tIns="0" bIns="0"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会</a:t>
            </a:r>
            <a:endParaRPr lang="en-US" altLang="zh-CN" b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文本占位符 16">
            <a:extLst>
              <a:ext uri="{FF2B5EF4-FFF2-40B4-BE49-F238E27FC236}">
                <a16:creationId xmlns:a16="http://schemas.microsoft.com/office/drawing/2014/main" id="{4AD4181B-4CDC-24FC-0A40-B7DDEEC7DE3E}"/>
              </a:ext>
            </a:extLst>
          </p:cNvPr>
          <p:cNvSpPr txBox="1">
            <a:spLocks/>
          </p:cNvSpPr>
          <p:nvPr/>
        </p:nvSpPr>
        <p:spPr>
          <a:xfrm>
            <a:off x="7190758" y="6044358"/>
            <a:ext cx="1864050" cy="331198"/>
          </a:xfrm>
          <a:prstGeom prst="rect">
            <a:avLst/>
          </a:prstGeom>
        </p:spPr>
        <p:txBody>
          <a:bodyPr tIns="0" bIns="0"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执行放行后逻辑</a:t>
            </a:r>
            <a:endParaRPr lang="en-US" altLang="zh-CN" b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864DA26-D4D8-7D06-A34D-355361DC73D3}"/>
              </a:ext>
            </a:extLst>
          </p:cNvPr>
          <p:cNvSpPr txBox="1"/>
          <p:nvPr/>
        </p:nvSpPr>
        <p:spPr>
          <a:xfrm>
            <a:off x="6972773" y="3262088"/>
            <a:ext cx="353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①</a:t>
            </a:r>
            <a:endParaRPr lang="zh-CN" altLang="en-US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4B2B4D3-D139-841C-3C05-7447B17B2997}"/>
              </a:ext>
            </a:extLst>
          </p:cNvPr>
          <p:cNvSpPr txBox="1"/>
          <p:nvPr/>
        </p:nvSpPr>
        <p:spPr>
          <a:xfrm>
            <a:off x="6972773" y="3674191"/>
            <a:ext cx="353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②</a:t>
            </a:r>
            <a:endParaRPr lang="zh-CN" altLang="en-US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825EB29-1FE8-8382-A8E0-725BEF6950EE}"/>
              </a:ext>
            </a:extLst>
          </p:cNvPr>
          <p:cNvSpPr txBox="1"/>
          <p:nvPr/>
        </p:nvSpPr>
        <p:spPr>
          <a:xfrm>
            <a:off x="7800321" y="3642003"/>
            <a:ext cx="353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③</a:t>
            </a:r>
            <a:endParaRPr lang="zh-CN" altLang="en-US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48A3BB0-826F-34A0-C91C-A536C1E1B306}"/>
              </a:ext>
            </a:extLst>
          </p:cNvPr>
          <p:cNvSpPr txBox="1"/>
          <p:nvPr/>
        </p:nvSpPr>
        <p:spPr>
          <a:xfrm>
            <a:off x="6972112" y="4086294"/>
            <a:ext cx="353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④</a:t>
            </a:r>
            <a:endParaRPr lang="zh-CN" altLang="en-US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EDDB5729-3B3C-E706-12DA-97AF4E139AAF}"/>
              </a:ext>
            </a:extLst>
          </p:cNvPr>
          <p:cNvSpPr txBox="1"/>
          <p:nvPr/>
        </p:nvSpPr>
        <p:spPr>
          <a:xfrm>
            <a:off x="8413826" y="4675682"/>
            <a:ext cx="5620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资源</a:t>
            </a:r>
          </a:p>
        </p:txBody>
      </p:sp>
    </p:spTree>
    <p:extLst>
      <p:ext uri="{BB962C8B-B14F-4D97-AF65-F5344CB8AC3E}">
        <p14:creationId xmlns:p14="http://schemas.microsoft.com/office/powerpoint/2010/main" val="1513834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20" grpId="0" animBg="1"/>
      <p:bldP spid="21" grpId="0" animBg="1"/>
      <p:bldP spid="25" grpId="0" animBg="1"/>
      <p:bldP spid="25" grpId="1" animBg="1"/>
      <p:bldP spid="26" grpId="0" animBg="1"/>
      <p:bldP spid="27" grpId="0" animBg="1"/>
      <p:bldP spid="28" grpId="0" animBg="1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485A35-6F0C-FE4C-CE51-5770ACA41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Filter-</a:t>
            </a:r>
            <a:r>
              <a:rPr lang="zh-CN" altLang="en-US"/>
              <a:t>拦截路径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6AE3B9-1438-1D90-7D05-A05EA8E32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Filter </a:t>
            </a:r>
            <a:r>
              <a:rPr lang="zh-CN" altLang="en-US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可以根据需求，配置不同的拦截资源路径：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76F3B1F-5835-909E-952F-73E5AFE4C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185" y="866727"/>
            <a:ext cx="5142181" cy="563929"/>
          </a:xfrm>
          <a:prstGeom prst="roundRect">
            <a:avLst>
              <a:gd name="adj" fmla="val 7129"/>
            </a:avLst>
          </a:prstGeom>
          <a:ln w="635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</p:pic>
      <p:graphicFrame>
        <p:nvGraphicFramePr>
          <p:cNvPr id="5" name="表格 6">
            <a:extLst>
              <a:ext uri="{FF2B5EF4-FFF2-40B4-BE49-F238E27FC236}">
                <a16:creationId xmlns:a16="http://schemas.microsoft.com/office/drawing/2014/main" id="{86D33E0F-7424-AFC9-6A9E-587EC5B4D1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1897464"/>
              </p:ext>
            </p:extLst>
          </p:nvPr>
        </p:nvGraphicFramePr>
        <p:xfrm>
          <a:off x="1014070" y="1576083"/>
          <a:ext cx="10404296" cy="196153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69852">
                  <a:extLst>
                    <a:ext uri="{9D8B030D-6E8A-4147-A177-3AD203B41FA5}">
                      <a16:colId xmlns:a16="http://schemas.microsoft.com/office/drawing/2014/main" val="2622190329"/>
                    </a:ext>
                  </a:extLst>
                </a:gridCol>
                <a:gridCol w="3093570">
                  <a:extLst>
                    <a:ext uri="{9D8B030D-6E8A-4147-A177-3AD203B41FA5}">
                      <a16:colId xmlns:a16="http://schemas.microsoft.com/office/drawing/2014/main" val="4224734778"/>
                    </a:ext>
                  </a:extLst>
                </a:gridCol>
                <a:gridCol w="4640874">
                  <a:extLst>
                    <a:ext uri="{9D8B030D-6E8A-4147-A177-3AD203B41FA5}">
                      <a16:colId xmlns:a16="http://schemas.microsoft.com/office/drawing/2014/main" val="3735183795"/>
                    </a:ext>
                  </a:extLst>
                </a:gridCol>
              </a:tblGrid>
              <a:tr h="57837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拦截路径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8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urlPatterns</a:t>
                      </a:r>
                      <a:r>
                        <a:rPr lang="zh-CN" altLang="en-US" sz="1600" b="0"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8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含义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8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9013525"/>
                  </a:ext>
                </a:extLst>
              </a:tr>
              <a:tr h="46105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拦截具体路径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883">
                        <a:alpha val="3215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/login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883">
                        <a:alpha val="3215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只有访问 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/login 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路径时，才会被拦截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883">
                        <a:alpha val="32157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3607866"/>
                  </a:ext>
                </a:extLst>
              </a:tr>
              <a:tr h="46105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目录拦截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883">
                        <a:alpha val="3215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/emps/*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883">
                        <a:alpha val="3215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访问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/emps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下的所有资源，都会被拦截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883">
                        <a:alpha val="32157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9086678"/>
                  </a:ext>
                </a:extLst>
              </a:tr>
              <a:tr h="46105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拦截所有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883">
                        <a:alpha val="3215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/*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883">
                        <a:alpha val="3215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访问所有资源，都会被拦截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883">
                        <a:alpha val="32157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211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651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447B05-7146-7D8A-D683-E3DB70A50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Filter-</a:t>
            </a:r>
            <a:r>
              <a:rPr lang="zh-CN" altLang="en-US"/>
              <a:t>过滤器链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81013A-E172-4288-DEF4-F409CF594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989100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介绍：一个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web</a:t>
            </a:r>
            <a:r>
              <a:rPr lang="zh-CN" altLang="en-US" sz="16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应用中，可以配置多个过滤器，这多个过滤器就形成了一个</a:t>
            </a:r>
            <a:r>
              <a:rPr lang="zh-CN" altLang="en-US" sz="16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过滤器链</a:t>
            </a:r>
            <a:r>
              <a:rPr lang="zh-CN" altLang="en-US" sz="16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endParaRPr lang="en-US" altLang="zh-CN" sz="16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顺序：注解配置的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Filter</a:t>
            </a:r>
            <a:r>
              <a:rPr lang="zh-CN" altLang="en-US" sz="16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，优先级是按照过滤器类名（字符串）的自然排序。</a:t>
            </a:r>
            <a:endParaRPr lang="en-US" altLang="zh-CN" sz="16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5CFF23F1-390E-C1DE-4A6A-3AB4C3B6D5C1}"/>
              </a:ext>
            </a:extLst>
          </p:cNvPr>
          <p:cNvGrpSpPr/>
          <p:nvPr/>
        </p:nvGrpSpPr>
        <p:grpSpPr>
          <a:xfrm>
            <a:off x="881870" y="2180512"/>
            <a:ext cx="10632397" cy="3019111"/>
            <a:chOff x="828082" y="3036248"/>
            <a:chExt cx="10632397" cy="301911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FC175AA3-DEC2-7EDC-7186-5FBD3C2D97AA}"/>
                </a:ext>
              </a:extLst>
            </p:cNvPr>
            <p:cNvSpPr/>
            <p:nvPr/>
          </p:nvSpPr>
          <p:spPr>
            <a:xfrm>
              <a:off x="828082" y="3036248"/>
              <a:ext cx="10632397" cy="3019111"/>
            </a:xfrm>
            <a:prstGeom prst="roundRect">
              <a:avLst>
                <a:gd name="adj" fmla="val 3016"/>
              </a:avLst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C6AD60FF-D531-662E-5D97-573E05F7DCC5}"/>
                </a:ext>
              </a:extLst>
            </p:cNvPr>
            <p:cNvSpPr/>
            <p:nvPr/>
          </p:nvSpPr>
          <p:spPr>
            <a:xfrm>
              <a:off x="6212272" y="3309229"/>
              <a:ext cx="4994208" cy="2466897"/>
            </a:xfrm>
            <a:prstGeom prst="roundRect">
              <a:avLst>
                <a:gd name="adj" fmla="val 4938"/>
              </a:avLst>
            </a:prstGeom>
            <a:solidFill>
              <a:srgbClr val="86E2E0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42E05106-B72F-CBE3-5A4C-0755166A7FB2}"/>
                </a:ext>
              </a:extLst>
            </p:cNvPr>
            <p:cNvCxnSpPr>
              <a:cxnSpLocks/>
            </p:cNvCxnSpPr>
            <p:nvPr/>
          </p:nvCxnSpPr>
          <p:spPr>
            <a:xfrm>
              <a:off x="2137873" y="4173769"/>
              <a:ext cx="3936990" cy="0"/>
            </a:xfrm>
            <a:prstGeom prst="straightConnector1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4E097EC7-8CA7-C567-21EE-4E5B1A4462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85124" y="4623343"/>
              <a:ext cx="3989739" cy="0"/>
            </a:xfrm>
            <a:prstGeom prst="straightConnector1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!!文本框 112">
              <a:extLst>
                <a:ext uri="{FF2B5EF4-FFF2-40B4-BE49-F238E27FC236}">
                  <a16:creationId xmlns:a16="http://schemas.microsoft.com/office/drawing/2014/main" id="{D49639F3-D536-3810-042C-3735743BB4BC}"/>
                </a:ext>
              </a:extLst>
            </p:cNvPr>
            <p:cNvSpPr txBox="1"/>
            <p:nvPr/>
          </p:nvSpPr>
          <p:spPr>
            <a:xfrm>
              <a:off x="1366242" y="4799145"/>
              <a:ext cx="7125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浏览器</a:t>
              </a:r>
              <a:endPara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AAA1BFC-EF9E-B6E6-40AC-4359B680CE40}"/>
                </a:ext>
              </a:extLst>
            </p:cNvPr>
            <p:cNvSpPr txBox="1"/>
            <p:nvPr/>
          </p:nvSpPr>
          <p:spPr>
            <a:xfrm>
              <a:off x="3789930" y="3836063"/>
              <a:ext cx="5901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请求</a:t>
              </a:r>
              <a:endPara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D0F03575-1741-9274-52EF-5140D6F5DAA0}"/>
                </a:ext>
              </a:extLst>
            </p:cNvPr>
            <p:cNvSpPr txBox="1"/>
            <p:nvPr/>
          </p:nvSpPr>
          <p:spPr>
            <a:xfrm>
              <a:off x="3789930" y="4694842"/>
              <a:ext cx="53732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响应</a:t>
              </a:r>
              <a:endPara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42C8F8B2-00D4-C12B-77D5-DFC928F70499}"/>
                </a:ext>
              </a:extLst>
            </p:cNvPr>
            <p:cNvGrpSpPr/>
            <p:nvPr/>
          </p:nvGrpSpPr>
          <p:grpSpPr>
            <a:xfrm>
              <a:off x="1424565" y="4077958"/>
              <a:ext cx="595948" cy="622749"/>
              <a:chOff x="1339028" y="3390775"/>
              <a:chExt cx="1076475" cy="960776"/>
            </a:xfrm>
          </p:grpSpPr>
          <p:pic>
            <p:nvPicPr>
              <p:cNvPr id="23" name="图片 22">
                <a:extLst>
                  <a:ext uri="{FF2B5EF4-FFF2-40B4-BE49-F238E27FC236}">
                    <a16:creationId xmlns:a16="http://schemas.microsoft.com/office/drawing/2014/main" id="{3B00C32C-5CD8-E852-7947-3124BF3B5D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339028" y="3390775"/>
                <a:ext cx="1076475" cy="960776"/>
              </a:xfrm>
              <a:prstGeom prst="rect">
                <a:avLst/>
              </a:prstGeom>
            </p:spPr>
          </p:pic>
          <p:pic>
            <p:nvPicPr>
              <p:cNvPr id="24" name="图片 23">
                <a:extLst>
                  <a:ext uri="{FF2B5EF4-FFF2-40B4-BE49-F238E27FC236}">
                    <a16:creationId xmlns:a16="http://schemas.microsoft.com/office/drawing/2014/main" id="{0AEE9AF8-D3B3-72E5-53B1-44FA8B3F2B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53395" y="3650475"/>
                <a:ext cx="447737" cy="425919"/>
              </a:xfrm>
              <a:prstGeom prst="rect">
                <a:avLst/>
              </a:prstGeom>
            </p:spPr>
          </p:pic>
        </p:grp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381D929C-D5AB-DAEE-C3A1-CD88FAC426C4}"/>
                </a:ext>
              </a:extLst>
            </p:cNvPr>
            <p:cNvSpPr/>
            <p:nvPr/>
          </p:nvSpPr>
          <p:spPr>
            <a:xfrm>
              <a:off x="6304816" y="3431912"/>
              <a:ext cx="4759423" cy="2204864"/>
            </a:xfrm>
            <a:prstGeom prst="roundRect">
              <a:avLst>
                <a:gd name="adj" fmla="val 3205"/>
              </a:avLst>
            </a:prstGeom>
            <a:noFill/>
            <a:ln w="6350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8B22542B-6148-80A2-A060-14ABD066D3D8}"/>
                </a:ext>
              </a:extLst>
            </p:cNvPr>
            <p:cNvSpPr/>
            <p:nvPr/>
          </p:nvSpPr>
          <p:spPr>
            <a:xfrm>
              <a:off x="9664522" y="3562106"/>
              <a:ext cx="1217840" cy="397840"/>
            </a:xfrm>
            <a:prstGeom prst="roundRect">
              <a:avLst/>
            </a:prstGeom>
            <a:solidFill>
              <a:srgbClr val="34495E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Login</a:t>
              </a:r>
              <a:endPara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73F1A7A1-40AC-221D-4FF5-0C9E2FA0A2E5}"/>
                </a:ext>
              </a:extLst>
            </p:cNvPr>
            <p:cNvSpPr/>
            <p:nvPr/>
          </p:nvSpPr>
          <p:spPr>
            <a:xfrm>
              <a:off x="9664520" y="4027992"/>
              <a:ext cx="1217840" cy="397840"/>
            </a:xfrm>
            <a:prstGeom prst="roundRect">
              <a:avLst/>
            </a:prstGeom>
            <a:solidFill>
              <a:srgbClr val="34495E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</a:t>
              </a:r>
              <a:endPara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76C093EE-A70A-70CC-AF4D-AD84B90545D9}"/>
                </a:ext>
              </a:extLst>
            </p:cNvPr>
            <p:cNvSpPr/>
            <p:nvPr/>
          </p:nvSpPr>
          <p:spPr>
            <a:xfrm>
              <a:off x="9673970" y="4493878"/>
              <a:ext cx="1217840" cy="397840"/>
            </a:xfrm>
            <a:prstGeom prst="roundRect">
              <a:avLst/>
            </a:prstGeom>
            <a:solidFill>
              <a:srgbClr val="34495E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</a:t>
              </a:r>
              <a:endPara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0B841ED3-3F7F-A467-B171-92C523B90913}"/>
                </a:ext>
              </a:extLst>
            </p:cNvPr>
            <p:cNvSpPr/>
            <p:nvPr/>
          </p:nvSpPr>
          <p:spPr>
            <a:xfrm>
              <a:off x="9694406" y="4959765"/>
              <a:ext cx="1217840" cy="397840"/>
            </a:xfrm>
            <a:prstGeom prst="roundRect">
              <a:avLst/>
            </a:prstGeom>
            <a:solidFill>
              <a:srgbClr val="34495E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Report</a:t>
              </a:r>
              <a:endPara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矩形: 对角圆角 17">
              <a:extLst>
                <a:ext uri="{FF2B5EF4-FFF2-40B4-BE49-F238E27FC236}">
                  <a16:creationId xmlns:a16="http://schemas.microsoft.com/office/drawing/2014/main" id="{4F4DAA10-5B87-EA6D-0538-A30361D2FE3F}"/>
                </a:ext>
              </a:extLst>
            </p:cNvPr>
            <p:cNvSpPr/>
            <p:nvPr/>
          </p:nvSpPr>
          <p:spPr>
            <a:xfrm>
              <a:off x="6527484" y="3709651"/>
              <a:ext cx="813609" cy="1647954"/>
            </a:xfrm>
            <a:prstGeom prst="round2DiagRect">
              <a:avLst>
                <a:gd name="adj1" fmla="val 16636"/>
                <a:gd name="adj2" fmla="val 0"/>
              </a:avLst>
            </a:prstGeom>
            <a:solidFill>
              <a:srgbClr val="FFC000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1200">
                  <a:solidFill>
                    <a:schemeClr val="tx1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放行前</a:t>
              </a:r>
              <a:endParaRPr lang="en-US" altLang="zh-CN" sz="120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algn="ctr"/>
              <a:endParaRPr lang="en-US" altLang="zh-CN" sz="120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algn="ctr"/>
              <a:r>
                <a:rPr lang="zh-CN" altLang="en-US" sz="1200">
                  <a:solidFill>
                    <a:schemeClr val="tx1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放行</a:t>
              </a:r>
              <a:endParaRPr lang="en-US" altLang="zh-CN" sz="120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algn="ctr"/>
              <a:endParaRPr lang="en-US" altLang="zh-CN" sz="120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algn="ctr"/>
              <a:r>
                <a:rPr lang="zh-CN" altLang="en-US" sz="1200">
                  <a:solidFill>
                    <a:schemeClr val="tx1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放行后</a:t>
              </a:r>
              <a:endParaRPr lang="zh-CN" altLang="en-US" sz="140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ED1B4C39-ED77-B38B-4F18-5ED7156C76F6}"/>
                </a:ext>
              </a:extLst>
            </p:cNvPr>
            <p:cNvSpPr txBox="1"/>
            <p:nvPr/>
          </p:nvSpPr>
          <p:spPr>
            <a:xfrm>
              <a:off x="6527484" y="5343302"/>
              <a:ext cx="94910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>
                  <a:solidFill>
                    <a:schemeClr val="tx1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Filter1</a:t>
              </a:r>
              <a:endParaRPr lang="zh-CN" altLang="en-US" sz="140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430EE12F-31FA-1B52-B0D5-71DD5DBCEAB6}"/>
                </a:ext>
              </a:extLst>
            </p:cNvPr>
            <p:cNvSpPr txBox="1"/>
            <p:nvPr/>
          </p:nvSpPr>
          <p:spPr>
            <a:xfrm>
              <a:off x="10022304" y="5354214"/>
              <a:ext cx="56204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资源</a:t>
              </a:r>
            </a:p>
          </p:txBody>
        </p:sp>
        <p:sp>
          <p:nvSpPr>
            <p:cNvPr id="21" name="矩形: 对角圆角 20">
              <a:extLst>
                <a:ext uri="{FF2B5EF4-FFF2-40B4-BE49-F238E27FC236}">
                  <a16:creationId xmlns:a16="http://schemas.microsoft.com/office/drawing/2014/main" id="{5C1EC2B4-9AEA-A14E-4D7B-F3B48245B9B4}"/>
                </a:ext>
              </a:extLst>
            </p:cNvPr>
            <p:cNvSpPr/>
            <p:nvPr/>
          </p:nvSpPr>
          <p:spPr>
            <a:xfrm>
              <a:off x="8053890" y="3709651"/>
              <a:ext cx="813609" cy="1647954"/>
            </a:xfrm>
            <a:prstGeom prst="round2DiagRect">
              <a:avLst>
                <a:gd name="adj1" fmla="val 16636"/>
                <a:gd name="adj2" fmla="val 0"/>
              </a:avLst>
            </a:prstGeom>
            <a:solidFill>
              <a:srgbClr val="FFC000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1200">
                  <a:solidFill>
                    <a:schemeClr val="tx1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放行前</a:t>
              </a:r>
              <a:endParaRPr lang="en-US" altLang="zh-CN" sz="120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algn="ctr"/>
              <a:endParaRPr lang="en-US" altLang="zh-CN" sz="120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algn="ctr"/>
              <a:r>
                <a:rPr lang="zh-CN" altLang="en-US" sz="1200">
                  <a:solidFill>
                    <a:schemeClr val="tx1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放行</a:t>
              </a:r>
              <a:endParaRPr lang="en-US" altLang="zh-CN" sz="120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algn="ctr"/>
              <a:endParaRPr lang="en-US" altLang="zh-CN" sz="120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algn="ctr"/>
              <a:r>
                <a:rPr lang="zh-CN" altLang="en-US" sz="1200">
                  <a:solidFill>
                    <a:schemeClr val="tx1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放行后</a:t>
              </a:r>
              <a:endParaRPr lang="zh-CN" altLang="en-US" sz="140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630BA593-ACE0-508F-E446-B16076E8DEA9}"/>
                </a:ext>
              </a:extLst>
            </p:cNvPr>
            <p:cNvSpPr txBox="1"/>
            <p:nvPr/>
          </p:nvSpPr>
          <p:spPr>
            <a:xfrm>
              <a:off x="8021347" y="5354213"/>
              <a:ext cx="94910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>
                  <a:solidFill>
                    <a:schemeClr val="tx1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Filter</a:t>
              </a:r>
              <a:r>
                <a:rPr lang="en-US" altLang="zh-CN" sz="1400"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2</a:t>
              </a:r>
              <a:endParaRPr lang="zh-CN" altLang="en-US" sz="1400"/>
            </a:p>
          </p:txBody>
        </p:sp>
      </p:grpSp>
      <p:sp>
        <p:nvSpPr>
          <p:cNvPr id="25" name="箭头: 右 24">
            <a:extLst>
              <a:ext uri="{FF2B5EF4-FFF2-40B4-BE49-F238E27FC236}">
                <a16:creationId xmlns:a16="http://schemas.microsoft.com/office/drawing/2014/main" id="{4DAC5303-3E78-FDF3-D1F7-46C8F6C21CDE}"/>
              </a:ext>
            </a:extLst>
          </p:cNvPr>
          <p:cNvSpPr/>
          <p:nvPr/>
        </p:nvSpPr>
        <p:spPr>
          <a:xfrm>
            <a:off x="7574321" y="3326422"/>
            <a:ext cx="420285" cy="156162"/>
          </a:xfrm>
          <a:prstGeom prst="rightArrow">
            <a:avLst>
              <a:gd name="adj1" fmla="val 50000"/>
              <a:gd name="adj2" fmla="val 108943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FBBFCBFC-D19B-3043-0233-68BDF3C6A3F1}"/>
              </a:ext>
            </a:extLst>
          </p:cNvPr>
          <p:cNvSpPr/>
          <p:nvPr/>
        </p:nvSpPr>
        <p:spPr>
          <a:xfrm rot="10800000">
            <a:off x="7535128" y="3941745"/>
            <a:ext cx="420285" cy="155552"/>
          </a:xfrm>
          <a:prstGeom prst="rightArrow">
            <a:avLst>
              <a:gd name="adj1" fmla="val 50000"/>
              <a:gd name="adj2" fmla="val 12867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C32CC4A-0C93-1CC5-C343-4E3D62B459D7}"/>
              </a:ext>
            </a:extLst>
          </p:cNvPr>
          <p:cNvSpPr txBox="1"/>
          <p:nvPr/>
        </p:nvSpPr>
        <p:spPr>
          <a:xfrm>
            <a:off x="7140920" y="3133367"/>
            <a:ext cx="353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①</a:t>
            </a:r>
            <a:endParaRPr lang="zh-CN" altLang="en-US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3A1AC1D-7332-F1AE-E778-6A6B27CD579F}"/>
              </a:ext>
            </a:extLst>
          </p:cNvPr>
          <p:cNvSpPr txBox="1"/>
          <p:nvPr/>
        </p:nvSpPr>
        <p:spPr>
          <a:xfrm>
            <a:off x="7149848" y="3493226"/>
            <a:ext cx="353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②</a:t>
            </a:r>
            <a:endParaRPr lang="zh-CN" altLang="en-US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ED37FE0-78B0-643C-4ABC-BBED56260EC8}"/>
              </a:ext>
            </a:extLst>
          </p:cNvPr>
          <p:cNvSpPr txBox="1"/>
          <p:nvPr/>
        </p:nvSpPr>
        <p:spPr>
          <a:xfrm>
            <a:off x="8670912" y="3127336"/>
            <a:ext cx="353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③</a:t>
            </a:r>
            <a:endParaRPr lang="zh-CN" altLang="en-US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D3B8A44-077F-A734-7BDE-E9E10C63B606}"/>
              </a:ext>
            </a:extLst>
          </p:cNvPr>
          <p:cNvSpPr txBox="1"/>
          <p:nvPr/>
        </p:nvSpPr>
        <p:spPr>
          <a:xfrm>
            <a:off x="8670912" y="3507124"/>
            <a:ext cx="353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④</a:t>
            </a:r>
            <a:endParaRPr lang="zh-CN" altLang="en-US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箭头: 右 30">
            <a:extLst>
              <a:ext uri="{FF2B5EF4-FFF2-40B4-BE49-F238E27FC236}">
                <a16:creationId xmlns:a16="http://schemas.microsoft.com/office/drawing/2014/main" id="{9AFD0693-636C-846D-D10A-2E1F783C13A7}"/>
              </a:ext>
            </a:extLst>
          </p:cNvPr>
          <p:cNvSpPr/>
          <p:nvPr/>
        </p:nvSpPr>
        <p:spPr>
          <a:xfrm>
            <a:off x="9137792" y="3295759"/>
            <a:ext cx="420285" cy="156162"/>
          </a:xfrm>
          <a:prstGeom prst="rightArrow">
            <a:avLst>
              <a:gd name="adj1" fmla="val 50000"/>
              <a:gd name="adj2" fmla="val 108943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32" name="箭头: 右 31">
            <a:extLst>
              <a:ext uri="{FF2B5EF4-FFF2-40B4-BE49-F238E27FC236}">
                <a16:creationId xmlns:a16="http://schemas.microsoft.com/office/drawing/2014/main" id="{28B43288-BD00-60ED-0D01-9A6FC89FA1B6}"/>
              </a:ext>
            </a:extLst>
          </p:cNvPr>
          <p:cNvSpPr/>
          <p:nvPr/>
        </p:nvSpPr>
        <p:spPr>
          <a:xfrm rot="10800000">
            <a:off x="9098599" y="3911082"/>
            <a:ext cx="420285" cy="155552"/>
          </a:xfrm>
          <a:prstGeom prst="rightArrow">
            <a:avLst>
              <a:gd name="adj1" fmla="val 50000"/>
              <a:gd name="adj2" fmla="val 12867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1AFCCF8-B879-E978-14B9-0909EE076ADF}"/>
              </a:ext>
            </a:extLst>
          </p:cNvPr>
          <p:cNvSpPr txBox="1"/>
          <p:nvPr/>
        </p:nvSpPr>
        <p:spPr>
          <a:xfrm>
            <a:off x="9436151" y="3467730"/>
            <a:ext cx="353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⑤</a:t>
            </a:r>
            <a:endParaRPr lang="zh-CN" altLang="en-US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B8DDA9E-A4CC-4248-8159-329AEC137436}"/>
              </a:ext>
            </a:extLst>
          </p:cNvPr>
          <p:cNvSpPr txBox="1"/>
          <p:nvPr/>
        </p:nvSpPr>
        <p:spPr>
          <a:xfrm>
            <a:off x="8662195" y="3863162"/>
            <a:ext cx="353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⑥</a:t>
            </a:r>
            <a:endParaRPr lang="zh-CN" altLang="en-US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873A9B1-4138-7D23-48D3-10613C7C3FD2}"/>
              </a:ext>
            </a:extLst>
          </p:cNvPr>
          <p:cNvSpPr txBox="1"/>
          <p:nvPr/>
        </p:nvSpPr>
        <p:spPr>
          <a:xfrm>
            <a:off x="7143547" y="3872227"/>
            <a:ext cx="353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⑦</a:t>
            </a:r>
            <a:endParaRPr lang="zh-CN" altLang="en-US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32674D6D-2E8B-5C7F-C854-4D230DB079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3055" y="5090615"/>
            <a:ext cx="6332769" cy="746825"/>
          </a:xfrm>
          <a:prstGeom prst="flowChartDocumen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37" name="椭圆 36">
            <a:extLst>
              <a:ext uri="{FF2B5EF4-FFF2-40B4-BE49-F238E27FC236}">
                <a16:creationId xmlns:a16="http://schemas.microsoft.com/office/drawing/2014/main" id="{6682F03A-6A8E-01C6-1310-A530653D07C0}"/>
              </a:ext>
            </a:extLst>
          </p:cNvPr>
          <p:cNvSpPr/>
          <p:nvPr/>
        </p:nvSpPr>
        <p:spPr>
          <a:xfrm>
            <a:off x="7650928" y="5090615"/>
            <a:ext cx="1112520" cy="185813"/>
          </a:xfrm>
          <a:prstGeom prst="ellipse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25141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0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/>
      <p:bldP spid="28" grpId="0"/>
      <p:bldP spid="29" grpId="0"/>
      <p:bldP spid="30" grpId="0"/>
      <p:bldP spid="31" grpId="0" animBg="1"/>
      <p:bldP spid="32" grpId="0" animBg="1"/>
      <p:bldP spid="33" grpId="0"/>
      <p:bldP spid="34" grpId="0"/>
      <p:bldP spid="35" grpId="0"/>
      <p:bldP spid="3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6D170D8-784C-B8CA-35CA-FE855F2F7A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>
                <a:latin typeface="Fira Code" panose="020B0809050000020004" pitchFamily="49" charset="0"/>
              </a:rPr>
              <a:t>过滤器的执行流程 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540000" lvl="1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放行前 </a:t>
            </a: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-&gt; 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放行 </a:t>
            </a: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-&gt; 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资源 </a:t>
            </a: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-&gt; 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放行后</a:t>
            </a:r>
            <a:endParaRPr lang="en-US" altLang="zh-CN" sz="14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>
                <a:latin typeface="Fira Code" panose="020B0809050000020004" pitchFamily="49" charset="0"/>
              </a:rPr>
              <a:t>配置的过滤器的拦截路径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/* </a:t>
            </a:r>
            <a:r>
              <a:rPr lang="zh-CN" altLang="en-US">
                <a:latin typeface="Fira Code" panose="020B0809050000020004" pitchFamily="49" charset="0"/>
              </a:rPr>
              <a:t>与 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/emps/* </a:t>
            </a:r>
            <a:r>
              <a:rPr lang="zh-CN" altLang="en-US">
                <a:latin typeface="Fira Code" panose="020B0809050000020004" pitchFamily="49" charset="0"/>
              </a:rPr>
              <a:t>分别代表什么意思 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?</a:t>
            </a:r>
          </a:p>
          <a:p>
            <a:pPr marL="540000" lvl="1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/*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：表示拦截所有</a:t>
            </a:r>
            <a:endParaRPr lang="en-US" altLang="zh-CN" sz="14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40000" lvl="1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/emps/*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：表示目录拦截，拦截</a:t>
            </a: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/emps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下的所有资源</a:t>
            </a:r>
            <a:endParaRPr lang="en-US" altLang="zh-CN" sz="14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>
                <a:latin typeface="Fira Code" panose="020B0809050000020004" pitchFamily="49" charset="0"/>
              </a:rPr>
              <a:t>什么是过滤器链 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?</a:t>
            </a:r>
          </a:p>
          <a:p>
            <a:pPr marL="540000" lvl="1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项目中的多个过滤器就形成了一个过滤器链</a:t>
            </a:r>
          </a:p>
        </p:txBody>
      </p:sp>
    </p:spTree>
    <p:extLst>
      <p:ext uri="{BB962C8B-B14F-4D97-AF65-F5344CB8AC3E}">
        <p14:creationId xmlns:p14="http://schemas.microsoft.com/office/powerpoint/2010/main" val="4177266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1D50508-E0D4-47F2-035C-4233AC418A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登录校验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B8DA87-FD6C-FBB0-B363-736345AB02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3475973"/>
          </a:xfrm>
        </p:spPr>
        <p:txBody>
          <a:bodyPr/>
          <a:lstStyle/>
          <a:p>
            <a:r>
              <a:rPr lang="zh-CN" altLang="en-US">
                <a:latin typeface="+mn-lt"/>
              </a:rPr>
              <a:t>会话技术</a:t>
            </a:r>
            <a:endParaRPr lang="en-US" altLang="zh-CN">
              <a:latin typeface="+mn-lt"/>
            </a:endParaRPr>
          </a:p>
          <a:p>
            <a:r>
              <a:rPr lang="en-US" altLang="zh-CN">
                <a:latin typeface="+mn-lt"/>
              </a:rPr>
              <a:t>JWT</a:t>
            </a:r>
            <a:r>
              <a:rPr lang="zh-CN" altLang="en-US">
                <a:latin typeface="+mn-lt"/>
              </a:rPr>
              <a:t>令牌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过滤器</a:t>
            </a:r>
            <a:r>
              <a:rPr lang="en-US" altLang="zh-CN">
                <a:latin typeface="+mn-lt"/>
              </a:rPr>
              <a:t>Filter</a:t>
            </a:r>
          </a:p>
          <a:p>
            <a:r>
              <a:rPr lang="zh-CN" altLang="en-US">
                <a:latin typeface="+mn-lt"/>
              </a:rPr>
              <a:t>拦截器</a:t>
            </a:r>
            <a:r>
              <a:rPr lang="en-US" altLang="zh-CN">
                <a:latin typeface="+mn-lt"/>
              </a:rPr>
              <a:t>Interceptor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8379477-2B8E-30F1-5750-C0F3A85768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20076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1D50508-E0D4-47F2-035C-4233AC418A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登录校验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B8DA87-FD6C-FBB0-B363-736345AB02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3475973"/>
          </a:xfrm>
        </p:spPr>
        <p:txBody>
          <a:bodyPr/>
          <a:lstStyle/>
          <a:p>
            <a:r>
              <a:rPr lang="zh-CN" altLang="en-US">
                <a:latin typeface="+mn-lt"/>
              </a:rPr>
              <a:t>会话技术</a:t>
            </a:r>
            <a:endParaRPr lang="en-US" altLang="zh-CN">
              <a:latin typeface="+mn-lt"/>
            </a:endParaRPr>
          </a:p>
          <a:p>
            <a:r>
              <a:rPr lang="en-US" altLang="zh-CN">
                <a:latin typeface="+mn-lt"/>
              </a:rPr>
              <a:t>JWT</a:t>
            </a:r>
            <a:r>
              <a:rPr lang="zh-CN" altLang="en-US">
                <a:latin typeface="+mn-lt"/>
              </a:rPr>
              <a:t>令牌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过滤器</a:t>
            </a:r>
            <a:r>
              <a:rPr lang="en-US" altLang="zh-CN">
                <a:latin typeface="+mn-lt"/>
              </a:rPr>
              <a:t>Filter</a:t>
            </a:r>
          </a:p>
          <a:p>
            <a:r>
              <a:rPr lang="zh-CN" altLang="en-US">
                <a:solidFill>
                  <a:srgbClr val="C00000"/>
                </a:solidFill>
                <a:latin typeface="+mn-lt"/>
              </a:rPr>
              <a:t>拦截器</a:t>
            </a:r>
            <a:r>
              <a:rPr lang="en-US" altLang="zh-CN">
                <a:solidFill>
                  <a:srgbClr val="C00000"/>
                </a:solidFill>
                <a:latin typeface="+mn-lt"/>
              </a:rPr>
              <a:t>Interceptor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>
                <a:solidFill>
                  <a:srgbClr val="C00000"/>
                </a:solidFill>
              </a:rPr>
              <a:t>快速入门</a:t>
            </a:r>
            <a:endParaRPr lang="en-US" altLang="zh-CN" sz="140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令牌校验</a:t>
            </a:r>
            <a:r>
              <a:rPr lang="en-US" altLang="zh-CN" sz="1400"/>
              <a:t>Interceptor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详解</a:t>
            </a:r>
            <a:endParaRPr lang="en-US" altLang="zh-CN" sz="1400"/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8379477-2B8E-30F1-5750-C0F3A85768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99585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2F7DCE-D6CF-9B21-C21C-8B737FBED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拦截器</a:t>
            </a:r>
            <a:r>
              <a:rPr lang="en-US" altLang="zh-CN"/>
              <a:t>(Interceptor)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106105-52F8-11A1-CC7F-DD1ED69CA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962206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概念：是一种动态拦截方法调用的机制，类似于过滤器。</a:t>
            </a:r>
            <a:r>
              <a:rPr lang="en-US" altLang="zh-CN" sz="1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Spring</a:t>
            </a:r>
            <a:r>
              <a:rPr lang="zh-CN" altLang="en-US" sz="1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框架中提供的，主要用来动态拦截控制器方法的执行。</a:t>
            </a:r>
            <a:endParaRPr lang="en-US" altLang="zh-CN" sz="16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作用：拦截请求，在指定的方法调用前后，根据业务需要执行预先设定的代码。</a:t>
            </a:r>
            <a:endParaRPr lang="en-US" altLang="zh-CN" sz="16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B453692-A869-9E21-894B-9326D7A3385E}"/>
              </a:ext>
            </a:extLst>
          </p:cNvPr>
          <p:cNvSpPr/>
          <p:nvPr/>
        </p:nvSpPr>
        <p:spPr>
          <a:xfrm>
            <a:off x="978090" y="2086064"/>
            <a:ext cx="8999477" cy="2685872"/>
          </a:xfrm>
          <a:prstGeom prst="roundRect">
            <a:avLst>
              <a:gd name="adj" fmla="val 3016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tx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7CC45D8C-73D8-ADDC-CBFF-871B6DA1D762}"/>
              </a:ext>
            </a:extLst>
          </p:cNvPr>
          <p:cNvSpPr/>
          <p:nvPr/>
        </p:nvSpPr>
        <p:spPr>
          <a:xfrm>
            <a:off x="6329226" y="2209584"/>
            <a:ext cx="3468901" cy="2466897"/>
          </a:xfrm>
          <a:prstGeom prst="roundRect">
            <a:avLst>
              <a:gd name="adj" fmla="val 4938"/>
            </a:avLst>
          </a:prstGeom>
          <a:solidFill>
            <a:srgbClr val="86E2E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tx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172BD484-F827-CA41-08A3-CB7A244CED4F}"/>
              </a:ext>
            </a:extLst>
          </p:cNvPr>
          <p:cNvCxnSpPr>
            <a:cxnSpLocks/>
          </p:cNvCxnSpPr>
          <p:nvPr/>
        </p:nvCxnSpPr>
        <p:spPr>
          <a:xfrm>
            <a:off x="2287881" y="3223584"/>
            <a:ext cx="3936990" cy="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012EB96D-AA93-BEE7-413F-273130939EA5}"/>
              </a:ext>
            </a:extLst>
          </p:cNvPr>
          <p:cNvCxnSpPr>
            <a:cxnSpLocks/>
          </p:cNvCxnSpPr>
          <p:nvPr/>
        </p:nvCxnSpPr>
        <p:spPr>
          <a:xfrm flipH="1">
            <a:off x="2235132" y="3673158"/>
            <a:ext cx="3989739" cy="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!!文本框 112">
            <a:extLst>
              <a:ext uri="{FF2B5EF4-FFF2-40B4-BE49-F238E27FC236}">
                <a16:creationId xmlns:a16="http://schemas.microsoft.com/office/drawing/2014/main" id="{DB54D949-6DF7-8801-FCDB-525FCA2E9AB2}"/>
              </a:ext>
            </a:extLst>
          </p:cNvPr>
          <p:cNvSpPr txBox="1"/>
          <p:nvPr/>
        </p:nvSpPr>
        <p:spPr>
          <a:xfrm>
            <a:off x="1516250" y="3848960"/>
            <a:ext cx="7125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浏览器</a:t>
            </a:r>
            <a:endParaRPr lang="zh-CN" altLang="en-US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73DE0D6-9420-C7ED-4CDC-55B72B73E746}"/>
              </a:ext>
            </a:extLst>
          </p:cNvPr>
          <p:cNvSpPr txBox="1"/>
          <p:nvPr/>
        </p:nvSpPr>
        <p:spPr>
          <a:xfrm>
            <a:off x="3939938" y="2885878"/>
            <a:ext cx="5901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请求</a:t>
            </a:r>
            <a:endParaRPr lang="zh-CN" altLang="en-US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9BC378-0460-E10D-D900-A2C83180FC8F}"/>
              </a:ext>
            </a:extLst>
          </p:cNvPr>
          <p:cNvSpPr txBox="1"/>
          <p:nvPr/>
        </p:nvSpPr>
        <p:spPr>
          <a:xfrm>
            <a:off x="3939938" y="3744657"/>
            <a:ext cx="5373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响应</a:t>
            </a:r>
            <a:endParaRPr lang="zh-CN" altLang="en-US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8A9CF514-18BB-307F-CB65-C7ECB4F53AAB}"/>
              </a:ext>
            </a:extLst>
          </p:cNvPr>
          <p:cNvGrpSpPr/>
          <p:nvPr/>
        </p:nvGrpSpPr>
        <p:grpSpPr>
          <a:xfrm>
            <a:off x="1574573" y="3127773"/>
            <a:ext cx="595948" cy="622749"/>
            <a:chOff x="1339028" y="3390775"/>
            <a:chExt cx="1076475" cy="960776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1AAEFA3E-248B-7023-04CC-7EBBE1B40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39028" y="3390775"/>
              <a:ext cx="1076475" cy="960776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8E66E13D-C58B-7BF9-F04E-191EA7CC55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53395" y="3650475"/>
              <a:ext cx="447737" cy="425919"/>
            </a:xfrm>
            <a:prstGeom prst="rect">
              <a:avLst/>
            </a:prstGeom>
          </p:spPr>
        </p:pic>
      </p:grp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774A5F3-F4CC-8FEB-DB98-4B04271464CF}"/>
              </a:ext>
            </a:extLst>
          </p:cNvPr>
          <p:cNvSpPr/>
          <p:nvPr/>
        </p:nvSpPr>
        <p:spPr>
          <a:xfrm>
            <a:off x="6421771" y="2332267"/>
            <a:ext cx="3272002" cy="2204864"/>
          </a:xfrm>
          <a:prstGeom prst="roundRect">
            <a:avLst>
              <a:gd name="adj" fmla="val 3205"/>
            </a:avLst>
          </a:prstGeom>
          <a:noFill/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tx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222FDF6-EB62-ECAA-90FF-FD3EC2144433}"/>
              </a:ext>
            </a:extLst>
          </p:cNvPr>
          <p:cNvSpPr/>
          <p:nvPr/>
        </p:nvSpPr>
        <p:spPr>
          <a:xfrm>
            <a:off x="8216212" y="2451549"/>
            <a:ext cx="1217840" cy="397840"/>
          </a:xfrm>
          <a:prstGeom prst="round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Login</a:t>
            </a:r>
            <a:endParaRPr lang="zh-CN" altLang="en-US" sz="14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30673C7-2EF4-F542-C663-D2FC547A2089}"/>
              </a:ext>
            </a:extLst>
          </p:cNvPr>
          <p:cNvSpPr/>
          <p:nvPr/>
        </p:nvSpPr>
        <p:spPr>
          <a:xfrm>
            <a:off x="8216210" y="2968649"/>
            <a:ext cx="1217840" cy="397840"/>
          </a:xfrm>
          <a:prstGeom prst="round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Emp</a:t>
            </a:r>
            <a:endParaRPr lang="zh-CN" altLang="en-US" sz="14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8863BAA-EA4F-13A1-A687-9100C617BE47}"/>
              </a:ext>
            </a:extLst>
          </p:cNvPr>
          <p:cNvSpPr/>
          <p:nvPr/>
        </p:nvSpPr>
        <p:spPr>
          <a:xfrm>
            <a:off x="8225660" y="3485750"/>
            <a:ext cx="1217840" cy="397840"/>
          </a:xfrm>
          <a:prstGeom prst="round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Dept</a:t>
            </a:r>
            <a:endParaRPr lang="zh-CN" altLang="en-US" sz="14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2D64060-6AA0-6800-645B-EC68733374EA}"/>
              </a:ext>
            </a:extLst>
          </p:cNvPr>
          <p:cNvSpPr/>
          <p:nvPr/>
        </p:nvSpPr>
        <p:spPr>
          <a:xfrm>
            <a:off x="8216210" y="4002849"/>
            <a:ext cx="1217840" cy="397840"/>
          </a:xfrm>
          <a:prstGeom prst="round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Report</a:t>
            </a:r>
            <a:endParaRPr lang="zh-CN" altLang="en-US" sz="14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CE93CE91-1B57-B7CB-E7E6-115E44E82C0F}"/>
              </a:ext>
            </a:extLst>
          </p:cNvPr>
          <p:cNvSpPr/>
          <p:nvPr/>
        </p:nvSpPr>
        <p:spPr>
          <a:xfrm>
            <a:off x="7691571" y="3068653"/>
            <a:ext cx="420285" cy="250004"/>
          </a:xfrm>
          <a:prstGeom prst="rightArrow">
            <a:avLst>
              <a:gd name="adj1" fmla="val 50000"/>
              <a:gd name="adj2" fmla="val 73159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2992AA55-E286-C339-B232-31CB3AD8BA8E}"/>
              </a:ext>
            </a:extLst>
          </p:cNvPr>
          <p:cNvSpPr/>
          <p:nvPr/>
        </p:nvSpPr>
        <p:spPr>
          <a:xfrm rot="10966345">
            <a:off x="7653424" y="3581173"/>
            <a:ext cx="420285" cy="250004"/>
          </a:xfrm>
          <a:prstGeom prst="rightArrow">
            <a:avLst>
              <a:gd name="adj1" fmla="val 50000"/>
              <a:gd name="adj2" fmla="val 73159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21" name="矩形: 对角圆角 20">
            <a:extLst>
              <a:ext uri="{FF2B5EF4-FFF2-40B4-BE49-F238E27FC236}">
                <a16:creationId xmlns:a16="http://schemas.microsoft.com/office/drawing/2014/main" id="{8344F2DA-6553-1FFD-F0E7-C80857C7F2CC}"/>
              </a:ext>
            </a:extLst>
          </p:cNvPr>
          <p:cNvSpPr/>
          <p:nvPr/>
        </p:nvSpPr>
        <p:spPr>
          <a:xfrm>
            <a:off x="6528696" y="2713540"/>
            <a:ext cx="1051282" cy="1544419"/>
          </a:xfrm>
          <a:prstGeom prst="round2DiagRect">
            <a:avLst>
              <a:gd name="adj1" fmla="val 16636"/>
              <a:gd name="adj2" fmla="val 0"/>
            </a:avLst>
          </a:prstGeom>
          <a:solidFill>
            <a:srgbClr val="FFC00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Interceptor</a:t>
            </a:r>
            <a:endParaRPr lang="zh-CN" altLang="en-US" sz="1200" b="1">
              <a:solidFill>
                <a:schemeClr val="tx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38413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9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9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9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/>
      <p:bldP spid="9" grpId="0"/>
      <p:bldP spid="10" grpId="0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1" grpId="1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DDE15B42-2C0C-9CB9-F305-1D88C08EF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Interceptor</a:t>
            </a:r>
            <a:r>
              <a:rPr lang="zh-CN" altLang="en-US"/>
              <a:t>快速入门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10C869F3-C7ED-BAEB-1D7E-F3086D56D6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847" y="1024932"/>
            <a:ext cx="10776792" cy="1027986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>
                <a:latin typeface="Fira Code" panose="020B0809050000020004" pitchFamily="49" charset="0"/>
              </a:rPr>
              <a:t>定义拦截器，实现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HandlerInterceptor</a:t>
            </a:r>
            <a:r>
              <a:rPr lang="zh-CN" altLang="en-US">
                <a:latin typeface="Fira Code" panose="020B0809050000020004" pitchFamily="49" charset="0"/>
              </a:rPr>
              <a:t>接口，并实现其所有方法。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>
                <a:latin typeface="Fira Code" panose="020B0809050000020004" pitchFamily="49" charset="0"/>
              </a:rPr>
              <a:t>注册拦截器</a:t>
            </a:r>
          </a:p>
        </p:txBody>
      </p:sp>
      <p:grpSp>
        <p:nvGrpSpPr>
          <p:cNvPr id="8" name="组合 2">
            <a:extLst>
              <a:ext uri="{FF2B5EF4-FFF2-40B4-BE49-F238E27FC236}">
                <a16:creationId xmlns:a16="http://schemas.microsoft.com/office/drawing/2014/main" id="{4A07D537-824E-5112-DC76-C46F5EEC9194}"/>
              </a:ext>
            </a:extLst>
          </p:cNvPr>
          <p:cNvGrpSpPr/>
          <p:nvPr/>
        </p:nvGrpSpPr>
        <p:grpSpPr>
          <a:xfrm>
            <a:off x="987420" y="2052918"/>
            <a:ext cx="10336219" cy="3783104"/>
            <a:chOff x="2297721" y="3660322"/>
            <a:chExt cx="11388595" cy="3783329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44361CD7-8E9D-B60D-AC38-C405712DACAE}"/>
                </a:ext>
              </a:extLst>
            </p:cNvPr>
            <p:cNvSpPr/>
            <p:nvPr/>
          </p:nvSpPr>
          <p:spPr>
            <a:xfrm>
              <a:off x="2297727" y="3660324"/>
              <a:ext cx="11388589" cy="3783327"/>
            </a:xfrm>
            <a:prstGeom prst="roundRect">
              <a:avLst>
                <a:gd name="adj" fmla="val 207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  <a:t>@Component</a:t>
              </a:r>
              <a:br>
                <a:rPr lang="en-US" altLang="zh-CN" sz="1000"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public class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DemoInterceptor </a:t>
              </a:r>
              <a:r>
                <a:rPr lang="en-US" altLang="zh-CN" sz="10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implements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HandlerInterceptor 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{</a:t>
              </a:r>
              <a:b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000"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  <a:t>@Override</a:t>
              </a:r>
              <a:br>
                <a:rPr lang="en-US" altLang="zh-CN" sz="1000"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0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public boolean </a:t>
              </a:r>
              <a:r>
                <a:rPr lang="en-US" altLang="zh-CN" sz="10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preHandle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HttpServletRequest 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req,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HttpServletResponse 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resp,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Object 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handler) </a:t>
              </a:r>
              <a:r>
                <a:rPr lang="en-US" altLang="zh-CN" sz="10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throws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Exception 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{</a:t>
              </a:r>
              <a:b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</a:t>
              </a:r>
              <a:r>
                <a:rPr lang="en-US" altLang="zh-CN" sz="10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return true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;</a:t>
              </a:r>
              <a:b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}</a:t>
              </a:r>
              <a:b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000"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  <a:t>@Override</a:t>
              </a:r>
              <a:br>
                <a:rPr lang="en-US" altLang="zh-CN" sz="1000"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0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public void </a:t>
              </a:r>
              <a:r>
                <a:rPr lang="en-US" altLang="zh-CN" sz="10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postHandle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HttpServletRequest 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req,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HttpServletResponse 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resp,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Object 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handler,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ModelAndView 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mv) </a:t>
              </a:r>
              <a:r>
                <a:rPr lang="en-US" altLang="zh-CN" sz="10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throws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Exception 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{</a:t>
              </a:r>
              <a:b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System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</a:t>
              </a:r>
              <a:r>
                <a:rPr lang="en-US" altLang="zh-CN" sz="1000" i="1">
                  <a:solidFill>
                    <a:srgbClr val="871094"/>
                  </a:solidFill>
                  <a:effectLst/>
                  <a:latin typeface="Fira Code" panose="020B0809050000020004" pitchFamily="49" charset="0"/>
                </a:rPr>
                <a:t>out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.println(</a:t>
              </a:r>
              <a:r>
                <a:rPr lang="en-US" altLang="zh-CN" sz="10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"preHandle..."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);</a:t>
              </a:r>
              <a:b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}</a:t>
              </a:r>
              <a:b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000"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  <a:t>@Override</a:t>
              </a:r>
              <a:br>
                <a:rPr lang="en-US" altLang="zh-CN" sz="1000"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0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public void </a:t>
              </a:r>
              <a:r>
                <a:rPr lang="en-US" altLang="zh-CN" sz="10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afterCompletion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HttpServletRequest 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req,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HttpServletResponse 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resp,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Object 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handler,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Exception 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ex) </a:t>
              </a:r>
              <a:r>
                <a:rPr lang="en-US" altLang="zh-CN" sz="10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throws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Exception 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{</a:t>
              </a:r>
              <a:b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System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</a:t>
              </a:r>
              <a:r>
                <a:rPr lang="en-US" altLang="zh-CN" sz="1000" i="1">
                  <a:solidFill>
                    <a:srgbClr val="871094"/>
                  </a:solidFill>
                  <a:effectLst/>
                  <a:latin typeface="Fira Code" panose="020B0809050000020004" pitchFamily="49" charset="0"/>
                </a:rPr>
                <a:t>out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.println(</a:t>
              </a:r>
              <a:r>
                <a:rPr lang="en-US" altLang="zh-CN" sz="10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"afterCompletion..."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);</a:t>
              </a:r>
              <a:b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}</a:t>
              </a:r>
              <a:b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}</a:t>
              </a:r>
            </a:p>
          </p:txBody>
        </p:sp>
        <p:sp>
          <p:nvSpPr>
            <p:cNvPr id="10" name="矩形: 圆顶角 9">
              <a:extLst>
                <a:ext uri="{FF2B5EF4-FFF2-40B4-BE49-F238E27FC236}">
                  <a16:creationId xmlns:a16="http://schemas.microsoft.com/office/drawing/2014/main" id="{A259655B-736B-D943-7610-FD7383E89B3E}"/>
                </a:ext>
              </a:extLst>
            </p:cNvPr>
            <p:cNvSpPr/>
            <p:nvPr/>
          </p:nvSpPr>
          <p:spPr>
            <a:xfrm>
              <a:off x="2297721" y="3660322"/>
              <a:ext cx="11388588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400" b="1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①</a:t>
              </a:r>
              <a:r>
                <a:rPr lang="en-US" altLang="zh-CN" sz="1400" b="1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</a:t>
              </a:r>
              <a:r>
                <a:rPr lang="en-US" altLang="zh-CN" sz="1200" b="1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DemoInterceptor</a:t>
              </a: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BA42942B-3DB2-9728-A79D-7B02F82F2511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34F030A3-013D-8AFD-8CE2-E110A9D9B7E9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5838628C-E1B4-4E56-5C14-2FA71DAEA2E1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AC6C57D5-FC0A-AA5A-F455-6C6389B53D06}"/>
              </a:ext>
            </a:extLst>
          </p:cNvPr>
          <p:cNvSpPr txBox="1"/>
          <p:nvPr/>
        </p:nvSpPr>
        <p:spPr>
          <a:xfrm>
            <a:off x="1969011" y="2823190"/>
            <a:ext cx="48413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//</a:t>
            </a:r>
            <a:r>
              <a:rPr lang="zh-CN" altLang="en-US" sz="12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目标资源方法执行前执行，放回</a:t>
            </a:r>
            <a:r>
              <a:rPr lang="en-US" altLang="zh-CN" sz="12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true</a:t>
            </a:r>
            <a:r>
              <a:rPr lang="zh-CN" altLang="en-US" sz="12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：放行，返回</a:t>
            </a:r>
            <a:r>
              <a:rPr lang="en-US" altLang="zh-CN" sz="12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false</a:t>
            </a:r>
            <a:r>
              <a:rPr lang="zh-CN" altLang="en-US" sz="12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：不放行</a:t>
            </a:r>
            <a:endParaRPr lang="zh-CN" altLang="en-US" sz="1200" dirty="0">
              <a:solidFill>
                <a:srgbClr val="C0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DB77155-1E55-B485-B658-5F0C2E30330F}"/>
              </a:ext>
            </a:extLst>
          </p:cNvPr>
          <p:cNvSpPr txBox="1"/>
          <p:nvPr/>
        </p:nvSpPr>
        <p:spPr>
          <a:xfrm>
            <a:off x="1986941" y="3733617"/>
            <a:ext cx="19960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//</a:t>
            </a:r>
            <a:r>
              <a:rPr lang="zh-CN" altLang="en-US" sz="12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目标资源方法执行后执行</a:t>
            </a:r>
            <a:endParaRPr lang="zh-CN" altLang="en-US" sz="12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5B5EE31-BDE7-CEC2-8B5A-788AE8EFFC40}"/>
              </a:ext>
            </a:extLst>
          </p:cNvPr>
          <p:cNvSpPr txBox="1"/>
          <p:nvPr/>
        </p:nvSpPr>
        <p:spPr>
          <a:xfrm>
            <a:off x="1986941" y="4646319"/>
            <a:ext cx="24577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//</a:t>
            </a:r>
            <a:r>
              <a:rPr lang="zh-CN" altLang="en-US" sz="12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视图渲染完毕后执行，最后执行</a:t>
            </a:r>
            <a:endParaRPr lang="zh-CN" altLang="en-US" sz="12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17" name="组合 2">
            <a:extLst>
              <a:ext uri="{FF2B5EF4-FFF2-40B4-BE49-F238E27FC236}">
                <a16:creationId xmlns:a16="http://schemas.microsoft.com/office/drawing/2014/main" id="{C2181FA1-7643-7D10-CCC9-740C65572025}"/>
              </a:ext>
            </a:extLst>
          </p:cNvPr>
          <p:cNvGrpSpPr/>
          <p:nvPr/>
        </p:nvGrpSpPr>
        <p:grpSpPr>
          <a:xfrm>
            <a:off x="6243932" y="4353070"/>
            <a:ext cx="5770429" cy="2383014"/>
            <a:chOff x="2297720" y="3660322"/>
            <a:chExt cx="6357942" cy="2383156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FD9A8D76-E529-4297-F958-EC64804B5FFA}"/>
                </a:ext>
              </a:extLst>
            </p:cNvPr>
            <p:cNvSpPr/>
            <p:nvPr/>
          </p:nvSpPr>
          <p:spPr>
            <a:xfrm>
              <a:off x="2297728" y="3660323"/>
              <a:ext cx="6357934" cy="2383155"/>
            </a:xfrm>
            <a:prstGeom prst="roundRect">
              <a:avLst>
                <a:gd name="adj" fmla="val 312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  <a:t>@Configuration</a:t>
              </a:r>
              <a:br>
                <a:rPr lang="en-US" altLang="zh-CN" sz="1000"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public class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WebConfig </a:t>
              </a:r>
              <a:r>
                <a:rPr lang="en-US" altLang="zh-CN" sz="10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implements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WebMvcConfigurer 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{</a:t>
              </a:r>
              <a:b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000"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  <a:t>@Autowired</a:t>
              </a:r>
              <a:br>
                <a:rPr lang="en-US" altLang="zh-CN" sz="1000"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0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private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DemoInterceptor </a:t>
              </a:r>
              <a:r>
                <a:rPr lang="en-US" altLang="zh-CN" sz="1000">
                  <a:solidFill>
                    <a:srgbClr val="871094"/>
                  </a:solidFill>
                  <a:effectLst/>
                  <a:latin typeface="Fira Code" panose="020B0809050000020004" pitchFamily="49" charset="0"/>
                </a:rPr>
                <a:t>demoInterceptor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;</a:t>
              </a:r>
              <a:b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000"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  <a:t>@Override</a:t>
              </a:r>
              <a:br>
                <a:rPr lang="en-US" altLang="zh-CN" sz="1000"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0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public void </a:t>
              </a:r>
              <a:r>
                <a:rPr lang="en-US" altLang="zh-CN" sz="10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addInterceptors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InterceptorRegistry 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registry) {</a:t>
              </a:r>
              <a:b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registry.addInterceptor(</a:t>
              </a:r>
              <a:r>
                <a:rPr lang="en-US" altLang="zh-CN" sz="1000">
                  <a:solidFill>
                    <a:srgbClr val="871094"/>
                  </a:solidFill>
                  <a:effectLst/>
                  <a:latin typeface="Fira Code" panose="020B0809050000020004" pitchFamily="49" charset="0"/>
                </a:rPr>
                <a:t>demoInterceptor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).addPathPatterns(</a:t>
              </a:r>
              <a:r>
                <a:rPr lang="en-US" altLang="zh-CN" sz="10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"/**"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);</a:t>
              </a:r>
              <a:b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}</a:t>
              </a:r>
              <a:b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}</a:t>
              </a:r>
            </a:p>
          </p:txBody>
        </p:sp>
        <p:sp>
          <p:nvSpPr>
            <p:cNvPr id="19" name="矩形: 圆顶角 18">
              <a:extLst>
                <a:ext uri="{FF2B5EF4-FFF2-40B4-BE49-F238E27FC236}">
                  <a16:creationId xmlns:a16="http://schemas.microsoft.com/office/drawing/2014/main" id="{3B6723DA-0A79-074F-563F-4B135445B6AA}"/>
                </a:ext>
              </a:extLst>
            </p:cNvPr>
            <p:cNvSpPr/>
            <p:nvPr/>
          </p:nvSpPr>
          <p:spPr>
            <a:xfrm>
              <a:off x="2297720" y="3660322"/>
              <a:ext cx="6357933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400" b="1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②</a:t>
              </a:r>
              <a:r>
                <a:rPr lang="en-US" altLang="zh-CN" sz="1400" b="1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</a:t>
              </a:r>
              <a:r>
                <a:rPr lang="en-US" altLang="zh-CN" sz="1200" b="1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WebConfig</a:t>
              </a: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EB693868-2FB6-488D-EB01-39B3D4C2017F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99FBE5EA-823B-0D4C-9C1A-9B93EF97BB0F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2551AF17-2ABF-92EB-6E01-8EA2805BB5C8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61086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661AD99-345E-6E8E-2FC9-0EFC9ED02D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拦截器</a:t>
            </a:r>
            <a:r>
              <a:rPr lang="en-US" altLang="zh-CN"/>
              <a:t>Interceptor</a:t>
            </a:r>
            <a:r>
              <a:rPr lang="zh-CN" altLang="en-US"/>
              <a:t>的使用步骤 </a:t>
            </a:r>
            <a:r>
              <a:rPr lang="en-US" altLang="zh-CN"/>
              <a:t>?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定义：实现</a:t>
            </a: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HandlerInterceptor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</a:t>
            </a:r>
            <a:endParaRPr lang="en-US" altLang="zh-CN" sz="14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1008000" lvl="2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altLang="zh-CN" sz="1467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preHandle</a:t>
            </a:r>
          </a:p>
          <a:p>
            <a:pPr marL="1008000" lvl="2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altLang="zh-CN" sz="1467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postHandle</a:t>
            </a:r>
          </a:p>
          <a:p>
            <a:pPr marL="1008000" lvl="2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altLang="zh-CN" sz="1467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afterCompletion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配置：定义一个配置类实现</a:t>
            </a: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WebMvcConfigurer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接口，注册拦截器</a:t>
            </a:r>
            <a:r>
              <a:rPr lang="en-US" altLang="zh-CN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(/**)</a:t>
            </a:r>
            <a:endParaRPr lang="zh-CN" altLang="en-US" sz="1400" b="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FF83091-B20F-B8E8-ED2D-DF3623B57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736" y="4245429"/>
            <a:ext cx="1059272" cy="312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643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1D50508-E0D4-47F2-035C-4233AC418A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登录校验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B8DA87-FD6C-FBB0-B363-736345AB02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3475973"/>
          </a:xfrm>
        </p:spPr>
        <p:txBody>
          <a:bodyPr/>
          <a:lstStyle/>
          <a:p>
            <a:r>
              <a:rPr lang="zh-CN" altLang="en-US">
                <a:latin typeface="+mn-lt"/>
              </a:rPr>
              <a:t>会话技术</a:t>
            </a:r>
            <a:endParaRPr lang="en-US" altLang="zh-CN">
              <a:latin typeface="+mn-lt"/>
            </a:endParaRPr>
          </a:p>
          <a:p>
            <a:r>
              <a:rPr lang="en-US" altLang="zh-CN">
                <a:latin typeface="+mn-lt"/>
              </a:rPr>
              <a:t>JWT</a:t>
            </a:r>
            <a:r>
              <a:rPr lang="zh-CN" altLang="en-US">
                <a:latin typeface="+mn-lt"/>
              </a:rPr>
              <a:t>令牌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过滤器</a:t>
            </a:r>
            <a:r>
              <a:rPr lang="en-US" altLang="zh-CN">
                <a:latin typeface="+mn-lt"/>
              </a:rPr>
              <a:t>Filter</a:t>
            </a:r>
          </a:p>
          <a:p>
            <a:r>
              <a:rPr lang="zh-CN" altLang="en-US">
                <a:solidFill>
                  <a:srgbClr val="C00000"/>
                </a:solidFill>
                <a:latin typeface="+mn-lt"/>
              </a:rPr>
              <a:t>拦截器</a:t>
            </a:r>
            <a:r>
              <a:rPr lang="en-US" altLang="zh-CN">
                <a:solidFill>
                  <a:srgbClr val="C00000"/>
                </a:solidFill>
                <a:latin typeface="+mn-lt"/>
              </a:rPr>
              <a:t>Interceptor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快速入门</a:t>
            </a:r>
            <a:endParaRPr lang="en-US" altLang="zh-CN" sz="1400"/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>
                <a:solidFill>
                  <a:srgbClr val="C00000"/>
                </a:solidFill>
              </a:rPr>
              <a:t>令牌校验</a:t>
            </a:r>
            <a:r>
              <a:rPr lang="en-US" altLang="zh-CN" sz="1400">
                <a:solidFill>
                  <a:srgbClr val="C00000"/>
                </a:solidFill>
              </a:rPr>
              <a:t>Interceptor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详解</a:t>
            </a:r>
            <a:endParaRPr lang="en-US" altLang="zh-CN" sz="1400"/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8379477-2B8E-30F1-5750-C0F3A85768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5354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BABF85-80F9-DE7F-1A1F-3D09FBF5F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令牌校验</a:t>
            </a:r>
            <a:r>
              <a:rPr lang="en-US" altLang="zh-CN"/>
              <a:t>-</a:t>
            </a:r>
            <a:r>
              <a:rPr lang="zh-CN" altLang="en-US"/>
              <a:t>拦截器</a:t>
            </a:r>
          </a:p>
        </p:txBody>
      </p:sp>
      <p:sp>
        <p:nvSpPr>
          <p:cNvPr id="4" name="文本占位符 1">
            <a:extLst>
              <a:ext uri="{FF2B5EF4-FFF2-40B4-BE49-F238E27FC236}">
                <a16:creationId xmlns:a16="http://schemas.microsoft.com/office/drawing/2014/main" id="{48327C23-BF69-3099-537C-1B8239E2B6DA}"/>
              </a:ext>
            </a:extLst>
          </p:cNvPr>
          <p:cNvSpPr txBox="1">
            <a:spLocks/>
          </p:cNvSpPr>
          <p:nvPr/>
        </p:nvSpPr>
        <p:spPr>
          <a:xfrm>
            <a:off x="629278" y="995860"/>
            <a:ext cx="6007688" cy="287923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获取请求</a:t>
            </a: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url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判断请求</a:t>
            </a: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url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中是否包含</a:t>
            </a: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login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，如果包含，说明是登录操作，放行。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获取请求头中的令牌（</a:t>
            </a: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token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）。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判断令牌是否存在，如果不存在，响应</a:t>
            </a: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401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解析</a:t>
            </a: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token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，如果解析失败，响应</a:t>
            </a: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401 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放行。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5" name="!!矩形: 对角圆角 17">
            <a:extLst>
              <a:ext uri="{FF2B5EF4-FFF2-40B4-BE49-F238E27FC236}">
                <a16:creationId xmlns:a16="http://schemas.microsoft.com/office/drawing/2014/main" id="{89F83D03-6530-E035-F8C9-7AA90DC12688}"/>
              </a:ext>
            </a:extLst>
          </p:cNvPr>
          <p:cNvSpPr/>
          <p:nvPr/>
        </p:nvSpPr>
        <p:spPr>
          <a:xfrm>
            <a:off x="6802119" y="878639"/>
            <a:ext cx="4967632" cy="5650194"/>
          </a:xfrm>
          <a:prstGeom prst="round2DiagRect">
            <a:avLst>
              <a:gd name="adj1" fmla="val 2478"/>
              <a:gd name="adj2" fmla="val 2301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流程图: 决策 5">
            <a:extLst>
              <a:ext uri="{FF2B5EF4-FFF2-40B4-BE49-F238E27FC236}">
                <a16:creationId xmlns:a16="http://schemas.microsoft.com/office/drawing/2014/main" id="{49846A3D-E216-B3CE-DE59-BA23C9C5C2EB}"/>
              </a:ext>
            </a:extLst>
          </p:cNvPr>
          <p:cNvSpPr/>
          <p:nvPr/>
        </p:nvSpPr>
        <p:spPr>
          <a:xfrm>
            <a:off x="7865418" y="2435480"/>
            <a:ext cx="1572768" cy="676656"/>
          </a:xfrm>
          <a:prstGeom prst="flowChartDecision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判断是否是登录请求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F8C42BF-F44B-0F6B-69C1-9042C88500E4}"/>
              </a:ext>
            </a:extLst>
          </p:cNvPr>
          <p:cNvSpPr/>
          <p:nvPr/>
        </p:nvSpPr>
        <p:spPr>
          <a:xfrm>
            <a:off x="7865419" y="1657286"/>
            <a:ext cx="1572768" cy="51719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获取请求路径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7F02410-1B2B-4909-1AC9-991522484637}"/>
              </a:ext>
            </a:extLst>
          </p:cNvPr>
          <p:cNvSpPr/>
          <p:nvPr/>
        </p:nvSpPr>
        <p:spPr>
          <a:xfrm>
            <a:off x="7865418" y="3373140"/>
            <a:ext cx="1572768" cy="51719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获取请求头</a:t>
            </a:r>
            <a:r>
              <a:rPr lang="en-US" altLang="zh-CN"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token</a:t>
            </a:r>
            <a:endParaRPr lang="zh-CN" altLang="en-US" sz="12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流程图: 决策 8">
            <a:extLst>
              <a:ext uri="{FF2B5EF4-FFF2-40B4-BE49-F238E27FC236}">
                <a16:creationId xmlns:a16="http://schemas.microsoft.com/office/drawing/2014/main" id="{9288FCF4-273E-1EB4-6B35-5B646EC9D81F}"/>
              </a:ext>
            </a:extLst>
          </p:cNvPr>
          <p:cNvSpPr/>
          <p:nvPr/>
        </p:nvSpPr>
        <p:spPr>
          <a:xfrm>
            <a:off x="7865418" y="4151334"/>
            <a:ext cx="1572768" cy="676656"/>
          </a:xfrm>
          <a:prstGeom prst="flowChartDecision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判断是否有</a:t>
            </a:r>
            <a:r>
              <a:rPr lang="en-US" altLang="zh-CN"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token</a:t>
            </a:r>
            <a:endParaRPr lang="zh-CN" altLang="en-US" sz="12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流程图: 决策 9">
            <a:extLst>
              <a:ext uri="{FF2B5EF4-FFF2-40B4-BE49-F238E27FC236}">
                <a16:creationId xmlns:a16="http://schemas.microsoft.com/office/drawing/2014/main" id="{3900057C-C3D7-12A7-AC80-C5E3965575B6}"/>
              </a:ext>
            </a:extLst>
          </p:cNvPr>
          <p:cNvSpPr/>
          <p:nvPr/>
        </p:nvSpPr>
        <p:spPr>
          <a:xfrm>
            <a:off x="7865418" y="5079449"/>
            <a:ext cx="1572768" cy="676656"/>
          </a:xfrm>
          <a:prstGeom prst="flowChartDecision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解析</a:t>
            </a:r>
            <a:r>
              <a:rPr lang="en-US" altLang="zh-CN"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token</a:t>
            </a:r>
            <a:endParaRPr lang="zh-CN" altLang="en-US" sz="12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747E5887-E5D8-44C4-4EFB-9AB9732C4CA0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8651803" y="1348967"/>
            <a:ext cx="0" cy="308319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4FA37BD0-2172-6916-7741-DEA64F05E140}"/>
              </a:ext>
            </a:extLst>
          </p:cNvPr>
          <p:cNvCxnSpPr>
            <a:stCxn id="7" idx="2"/>
            <a:endCxn id="6" idx="0"/>
          </p:cNvCxnSpPr>
          <p:nvPr/>
        </p:nvCxnSpPr>
        <p:spPr>
          <a:xfrm flipH="1">
            <a:off x="8651802" y="2174476"/>
            <a:ext cx="1" cy="261004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C46EF896-2C19-692A-8018-7A41EF335107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8651802" y="3890330"/>
            <a:ext cx="0" cy="261004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48">
            <a:extLst>
              <a:ext uri="{FF2B5EF4-FFF2-40B4-BE49-F238E27FC236}">
                <a16:creationId xmlns:a16="http://schemas.microsoft.com/office/drawing/2014/main" id="{54C393FB-ACAB-E00D-EE02-02A59930A935}"/>
              </a:ext>
            </a:extLst>
          </p:cNvPr>
          <p:cNvCxnSpPr>
            <a:cxnSpLocks/>
            <a:stCxn id="6" idx="1"/>
            <a:endCxn id="16" idx="1"/>
          </p:cNvCxnSpPr>
          <p:nvPr/>
        </p:nvCxnSpPr>
        <p:spPr>
          <a:xfrm rot="10800000" flipH="1" flipV="1">
            <a:off x="7865417" y="2773808"/>
            <a:ext cx="375619" cy="3511354"/>
          </a:xfrm>
          <a:prstGeom prst="bentConnector3">
            <a:avLst>
              <a:gd name="adj1" fmla="val -117038"/>
            </a:avLst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CD570BC-A744-AB34-365E-60BB98E304B9}"/>
              </a:ext>
            </a:extLst>
          </p:cNvPr>
          <p:cNvSpPr/>
          <p:nvPr/>
        </p:nvSpPr>
        <p:spPr>
          <a:xfrm>
            <a:off x="8222628" y="955039"/>
            <a:ext cx="821530" cy="393927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请求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4CE12D0-BD6B-0AD8-8F08-2E76778C03AB}"/>
              </a:ext>
            </a:extLst>
          </p:cNvPr>
          <p:cNvSpPr/>
          <p:nvPr/>
        </p:nvSpPr>
        <p:spPr>
          <a:xfrm>
            <a:off x="8241037" y="6088198"/>
            <a:ext cx="821530" cy="393927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放行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47EEFE4-E858-4BF5-17DA-AF9699BDFAA9}"/>
              </a:ext>
            </a:extLst>
          </p:cNvPr>
          <p:cNvSpPr/>
          <p:nvPr/>
        </p:nvSpPr>
        <p:spPr>
          <a:xfrm>
            <a:off x="10270646" y="4293431"/>
            <a:ext cx="1186705" cy="393927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响应</a:t>
            </a:r>
            <a:r>
              <a:rPr lang="en-US" altLang="zh-CN"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401</a:t>
            </a:r>
            <a:endParaRPr lang="zh-CN" altLang="en-US" sz="12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02D1D2F-2C5D-30C4-F360-D58F7776136E}"/>
              </a:ext>
            </a:extLst>
          </p:cNvPr>
          <p:cNvSpPr txBox="1"/>
          <p:nvPr/>
        </p:nvSpPr>
        <p:spPr>
          <a:xfrm>
            <a:off x="7129335" y="4410359"/>
            <a:ext cx="3253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BD232C07-E6A1-59A7-0976-D2B5620D7FB3}"/>
              </a:ext>
            </a:extLst>
          </p:cNvPr>
          <p:cNvGrpSpPr/>
          <p:nvPr/>
        </p:nvGrpSpPr>
        <p:grpSpPr>
          <a:xfrm>
            <a:off x="8651802" y="3078229"/>
            <a:ext cx="508195" cy="276999"/>
            <a:chOff x="8298100" y="3098549"/>
            <a:chExt cx="508195" cy="276999"/>
          </a:xfrm>
        </p:grpSpPr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DD3942CF-BF6D-3D3E-8C99-A1629795765E}"/>
                </a:ext>
              </a:extLst>
            </p:cNvPr>
            <p:cNvCxnSpPr>
              <a:stCxn id="6" idx="2"/>
              <a:endCxn id="8" idx="0"/>
            </p:cNvCxnSpPr>
            <p:nvPr/>
          </p:nvCxnSpPr>
          <p:spPr>
            <a:xfrm>
              <a:off x="8298100" y="3112136"/>
              <a:ext cx="0" cy="261004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4E3173EE-5067-2D53-8793-2E8D66A56A98}"/>
                </a:ext>
              </a:extLst>
            </p:cNvPr>
            <p:cNvSpPr txBox="1"/>
            <p:nvPr/>
          </p:nvSpPr>
          <p:spPr>
            <a:xfrm>
              <a:off x="8480980" y="3098549"/>
              <a:ext cx="32531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否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2F560F56-4E83-DD00-7105-33B5DAF2967B}"/>
              </a:ext>
            </a:extLst>
          </p:cNvPr>
          <p:cNvGrpSpPr/>
          <p:nvPr/>
        </p:nvGrpSpPr>
        <p:grpSpPr>
          <a:xfrm>
            <a:off x="8651802" y="4794083"/>
            <a:ext cx="461845" cy="276999"/>
            <a:chOff x="8319377" y="4814403"/>
            <a:chExt cx="461845" cy="276999"/>
          </a:xfrm>
        </p:grpSpPr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E3BD3C2D-C2D4-66EB-252D-6E2745382E6B}"/>
                </a:ext>
              </a:extLst>
            </p:cNvPr>
            <p:cNvCxnSpPr>
              <a:stCxn id="9" idx="2"/>
              <a:endCxn id="10" idx="0"/>
            </p:cNvCxnSpPr>
            <p:nvPr/>
          </p:nvCxnSpPr>
          <p:spPr>
            <a:xfrm>
              <a:off x="8319377" y="4827990"/>
              <a:ext cx="0" cy="251459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842611CD-4EE8-2999-6CAB-ACC6B837A618}"/>
                </a:ext>
              </a:extLst>
            </p:cNvPr>
            <p:cNvSpPr txBox="1"/>
            <p:nvPr/>
          </p:nvSpPr>
          <p:spPr>
            <a:xfrm>
              <a:off x="8455907" y="4814403"/>
              <a:ext cx="32531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是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12A13A7E-8EEE-740B-AA05-6A2B175F4055}"/>
              </a:ext>
            </a:extLst>
          </p:cNvPr>
          <p:cNvGrpSpPr/>
          <p:nvPr/>
        </p:nvGrpSpPr>
        <p:grpSpPr>
          <a:xfrm>
            <a:off x="9438186" y="4224510"/>
            <a:ext cx="832460" cy="276999"/>
            <a:chOff x="9307520" y="4244830"/>
            <a:chExt cx="832460" cy="276999"/>
          </a:xfrm>
        </p:grpSpPr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FE45283E-F54B-5AAE-9580-F1CE80F1B81F}"/>
                </a:ext>
              </a:extLst>
            </p:cNvPr>
            <p:cNvCxnSpPr>
              <a:stCxn id="9" idx="3"/>
              <a:endCxn id="17" idx="1"/>
            </p:cNvCxnSpPr>
            <p:nvPr/>
          </p:nvCxnSpPr>
          <p:spPr>
            <a:xfrm>
              <a:off x="9307520" y="4489662"/>
              <a:ext cx="832460" cy="733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569170BF-9D86-A0D2-225B-DDE178929CD3}"/>
                </a:ext>
              </a:extLst>
            </p:cNvPr>
            <p:cNvSpPr txBox="1"/>
            <p:nvPr/>
          </p:nvSpPr>
          <p:spPr>
            <a:xfrm>
              <a:off x="9490400" y="4244830"/>
              <a:ext cx="32531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否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9B00FD46-3067-1F3C-8610-E50FCC2F3290}"/>
              </a:ext>
            </a:extLst>
          </p:cNvPr>
          <p:cNvGrpSpPr/>
          <p:nvPr/>
        </p:nvGrpSpPr>
        <p:grpSpPr>
          <a:xfrm>
            <a:off x="9438186" y="4687358"/>
            <a:ext cx="1425813" cy="790948"/>
            <a:chOff x="9438186" y="4687358"/>
            <a:chExt cx="1425813" cy="790948"/>
          </a:xfrm>
        </p:grpSpPr>
        <p:cxnSp>
          <p:nvCxnSpPr>
            <p:cNvPr id="29" name="直接箭头连接符 66">
              <a:extLst>
                <a:ext uri="{FF2B5EF4-FFF2-40B4-BE49-F238E27FC236}">
                  <a16:creationId xmlns:a16="http://schemas.microsoft.com/office/drawing/2014/main" id="{3DCE016A-5AA1-3394-CC70-01AA890BFC99}"/>
                </a:ext>
              </a:extLst>
            </p:cNvPr>
            <p:cNvCxnSpPr>
              <a:stCxn id="10" idx="3"/>
              <a:endCxn id="17" idx="2"/>
            </p:cNvCxnSpPr>
            <p:nvPr/>
          </p:nvCxnSpPr>
          <p:spPr>
            <a:xfrm flipV="1">
              <a:off x="9438186" y="4687358"/>
              <a:ext cx="1425813" cy="730419"/>
            </a:xfrm>
            <a:prstGeom prst="bentConnector2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0E1F3D72-1CB7-F89F-1B32-7BD3597CBB14}"/>
                </a:ext>
              </a:extLst>
            </p:cNvPr>
            <p:cNvSpPr txBox="1"/>
            <p:nvPr/>
          </p:nvSpPr>
          <p:spPr>
            <a:xfrm>
              <a:off x="9726534" y="5201307"/>
              <a:ext cx="4813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失败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7909529F-AFA3-9DEF-904D-30F0AB64773C}"/>
              </a:ext>
            </a:extLst>
          </p:cNvPr>
          <p:cNvGrpSpPr/>
          <p:nvPr/>
        </p:nvGrpSpPr>
        <p:grpSpPr>
          <a:xfrm>
            <a:off x="8651802" y="5756105"/>
            <a:ext cx="558497" cy="332093"/>
            <a:chOff x="8349061" y="5757264"/>
            <a:chExt cx="558497" cy="332093"/>
          </a:xfrm>
        </p:grpSpPr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DCFFCA75-F6F8-3518-768A-519EE1E8A502}"/>
                </a:ext>
              </a:extLst>
            </p:cNvPr>
            <p:cNvCxnSpPr>
              <a:stCxn id="10" idx="2"/>
              <a:endCxn id="16" idx="0"/>
            </p:cNvCxnSpPr>
            <p:nvPr/>
          </p:nvCxnSpPr>
          <p:spPr>
            <a:xfrm>
              <a:off x="8349061" y="5757264"/>
              <a:ext cx="0" cy="332093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7798C06D-E08B-149D-ADF6-EAFC17E468EE}"/>
                </a:ext>
              </a:extLst>
            </p:cNvPr>
            <p:cNvSpPr txBox="1"/>
            <p:nvPr/>
          </p:nvSpPr>
          <p:spPr>
            <a:xfrm>
              <a:off x="8426223" y="5784811"/>
              <a:ext cx="4813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成功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AA70B8A6-1C4B-F46B-9C74-D4B8BA22E423}"/>
              </a:ext>
            </a:extLst>
          </p:cNvPr>
          <p:cNvSpPr txBox="1"/>
          <p:nvPr/>
        </p:nvSpPr>
        <p:spPr>
          <a:xfrm>
            <a:off x="9364687" y="1698930"/>
            <a:ext cx="24785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rgbClr val="00B050"/>
                </a:solidFill>
                <a:latin typeface="Consolas" panose="020B0609020204030204" pitchFamily="49" charset="0"/>
              </a:rPr>
              <a:t>http://localhost:8080/login</a:t>
            </a:r>
            <a:endParaRPr lang="zh-CN" altLang="en-US" sz="1200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F6CC5C9-3BF9-4A1B-9436-E7CE4EBD48BA}"/>
              </a:ext>
            </a:extLst>
          </p:cNvPr>
          <p:cNvSpPr txBox="1"/>
          <p:nvPr/>
        </p:nvSpPr>
        <p:spPr>
          <a:xfrm>
            <a:off x="9364687" y="1887406"/>
            <a:ext cx="23936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rgbClr val="00B050"/>
                </a:solidFill>
                <a:latin typeface="Consolas" panose="020B0609020204030204" pitchFamily="49" charset="0"/>
              </a:rPr>
              <a:t>http://localhost:8080/emps</a:t>
            </a:r>
            <a:endParaRPr lang="zh-CN" altLang="en-US" sz="1200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80446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1D50508-E0D4-47F2-035C-4233AC418A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登录校验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B8DA87-FD6C-FBB0-B363-736345AB02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3475973"/>
          </a:xfrm>
        </p:spPr>
        <p:txBody>
          <a:bodyPr/>
          <a:lstStyle/>
          <a:p>
            <a:r>
              <a:rPr lang="zh-CN" altLang="en-US">
                <a:latin typeface="+mn-lt"/>
              </a:rPr>
              <a:t>会话技术</a:t>
            </a:r>
            <a:endParaRPr lang="en-US" altLang="zh-CN">
              <a:latin typeface="+mn-lt"/>
            </a:endParaRPr>
          </a:p>
          <a:p>
            <a:r>
              <a:rPr lang="en-US" altLang="zh-CN">
                <a:latin typeface="+mn-lt"/>
              </a:rPr>
              <a:t>JWT</a:t>
            </a:r>
            <a:r>
              <a:rPr lang="zh-CN" altLang="en-US">
                <a:latin typeface="+mn-lt"/>
              </a:rPr>
              <a:t>令牌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过滤器</a:t>
            </a:r>
            <a:r>
              <a:rPr lang="en-US" altLang="zh-CN">
                <a:latin typeface="+mn-lt"/>
              </a:rPr>
              <a:t>Filter</a:t>
            </a:r>
          </a:p>
          <a:p>
            <a:r>
              <a:rPr lang="zh-CN" altLang="en-US">
                <a:solidFill>
                  <a:srgbClr val="C00000"/>
                </a:solidFill>
                <a:latin typeface="+mn-lt"/>
              </a:rPr>
              <a:t>拦截器</a:t>
            </a:r>
            <a:r>
              <a:rPr lang="en-US" altLang="zh-CN">
                <a:solidFill>
                  <a:srgbClr val="C00000"/>
                </a:solidFill>
                <a:latin typeface="+mn-lt"/>
              </a:rPr>
              <a:t>Interceptor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快速入门</a:t>
            </a:r>
            <a:endParaRPr lang="en-US" altLang="zh-CN" sz="1400"/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令牌校验</a:t>
            </a:r>
            <a:r>
              <a:rPr lang="en-US" altLang="zh-CN" sz="1400"/>
              <a:t>Interceptor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>
                <a:solidFill>
                  <a:srgbClr val="C00000"/>
                </a:solidFill>
              </a:rPr>
              <a:t>详解（拦截路径、执行流程）</a:t>
            </a:r>
            <a:endParaRPr lang="en-US" altLang="zh-CN" sz="1400">
              <a:solidFill>
                <a:srgbClr val="C00000"/>
              </a:solidFill>
            </a:endParaRP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8379477-2B8E-30F1-5750-C0F3A85768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43357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B6178F-F5CC-3D8C-372B-2371ABDB2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拦截器</a:t>
            </a:r>
            <a:r>
              <a:rPr lang="en-US" altLang="zh-CN"/>
              <a:t>-</a:t>
            </a:r>
            <a:r>
              <a:rPr lang="zh-CN" altLang="en-US"/>
              <a:t>拦截路径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F2C5A6-C05C-049C-64D8-C8EE378A0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拦截器可以根据需求，配置不同的拦截路径：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13AC21D-6594-28AD-F567-677B12BB1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312" y="1510423"/>
            <a:ext cx="9217420" cy="1137953"/>
          </a:xfrm>
          <a:prstGeom prst="roundRect">
            <a:avLst>
              <a:gd name="adj" fmla="val 4797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5A6AC3D-3BDA-B37A-7CBA-10903AA3B5BA}"/>
              </a:ext>
            </a:extLst>
          </p:cNvPr>
          <p:cNvSpPr txBox="1"/>
          <p:nvPr/>
        </p:nvSpPr>
        <p:spPr>
          <a:xfrm>
            <a:off x="6096000" y="2340598"/>
            <a:ext cx="15953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需要拦截哪些资源</a:t>
            </a:r>
            <a:endParaRPr lang="zh-CN" altLang="en-US" sz="1400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B54457B-0EA5-5FEC-B3C2-3F17D92DD7F4}"/>
              </a:ext>
            </a:extLst>
          </p:cNvPr>
          <p:cNvSpPr txBox="1"/>
          <p:nvPr/>
        </p:nvSpPr>
        <p:spPr>
          <a:xfrm>
            <a:off x="8479093" y="2340598"/>
            <a:ext cx="1771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不需要拦截哪些资源</a:t>
            </a:r>
            <a:endParaRPr lang="zh-CN" altLang="en-US" sz="1400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28BE89C-DD6C-95AC-C681-EC3086648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1780743"/>
              </p:ext>
            </p:extLst>
          </p:nvPr>
        </p:nvGraphicFramePr>
        <p:xfrm>
          <a:off x="1033312" y="3064176"/>
          <a:ext cx="10370893" cy="236681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32097">
                  <a:extLst>
                    <a:ext uri="{9D8B030D-6E8A-4147-A177-3AD203B41FA5}">
                      <a16:colId xmlns:a16="http://schemas.microsoft.com/office/drawing/2014/main" val="2622190329"/>
                    </a:ext>
                  </a:extLst>
                </a:gridCol>
                <a:gridCol w="2802210">
                  <a:extLst>
                    <a:ext uri="{9D8B030D-6E8A-4147-A177-3AD203B41FA5}">
                      <a16:colId xmlns:a16="http://schemas.microsoft.com/office/drawing/2014/main" val="4224734778"/>
                    </a:ext>
                  </a:extLst>
                </a:gridCol>
                <a:gridCol w="5636586">
                  <a:extLst>
                    <a:ext uri="{9D8B030D-6E8A-4147-A177-3AD203B41FA5}">
                      <a16:colId xmlns:a16="http://schemas.microsoft.com/office/drawing/2014/main" val="3735183795"/>
                    </a:ext>
                  </a:extLst>
                </a:gridCol>
              </a:tblGrid>
              <a:tr h="49481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拦截路径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8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含义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8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举例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8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901352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/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*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883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一级路径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883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能匹配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/depts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/emps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/login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C00000"/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不能匹配 </a:t>
                      </a:r>
                      <a:r>
                        <a:rPr lang="en-US" altLang="zh-CN" sz="1200">
                          <a:solidFill>
                            <a:srgbClr val="C00000"/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/depts/1</a:t>
                      </a:r>
                      <a:endParaRPr lang="zh-CN" altLang="en-US" sz="1200">
                        <a:solidFill>
                          <a:srgbClr val="C00000"/>
                        </a:solidFill>
                        <a:latin typeface="+mn-lt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883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360786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/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**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883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任意级路径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883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能匹配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/depts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/depts/1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/depts/1/2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+mn-lt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883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9086678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/depts/*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+mn-lt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883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/depts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下的一级路径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883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能匹配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/depts/1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C00000"/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不能匹配</a:t>
                      </a:r>
                      <a:r>
                        <a:rPr lang="en-US" altLang="zh-CN" sz="1200">
                          <a:solidFill>
                            <a:srgbClr val="C00000"/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/depts/1/2</a:t>
                      </a:r>
                      <a:r>
                        <a:rPr lang="zh-CN" altLang="en-US" sz="1200">
                          <a:solidFill>
                            <a:srgbClr val="C00000"/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</a:t>
                      </a:r>
                      <a:r>
                        <a:rPr lang="en-US" altLang="zh-CN" sz="1200">
                          <a:solidFill>
                            <a:srgbClr val="C00000"/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/depts</a:t>
                      </a:r>
                      <a:endParaRPr lang="zh-CN" altLang="en-US" sz="1200">
                        <a:solidFill>
                          <a:srgbClr val="C00000"/>
                        </a:solidFill>
                        <a:latin typeface="+mn-lt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883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21167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/depts/**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+mn-lt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883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/depts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下的任意级路径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883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能匹配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/depts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/depts/1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/depts/1/2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C00000"/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不能匹配</a:t>
                      </a:r>
                      <a:r>
                        <a:rPr lang="en-US" altLang="zh-CN" sz="1200">
                          <a:solidFill>
                            <a:srgbClr val="C00000"/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/emps/1</a:t>
                      </a:r>
                      <a:endParaRPr lang="zh-CN" altLang="en-US" sz="1200">
                        <a:solidFill>
                          <a:srgbClr val="C00000"/>
                        </a:solidFill>
                        <a:latin typeface="+mn-lt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883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0695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3250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5C3D13-2582-977F-1929-BA9AD8273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拦截器</a:t>
            </a:r>
            <a:r>
              <a:rPr lang="en-US" altLang="zh-CN"/>
              <a:t>-</a:t>
            </a:r>
            <a:r>
              <a:rPr lang="zh-CN" altLang="en-US"/>
              <a:t>执行流程</a:t>
            </a:r>
          </a:p>
        </p:txBody>
      </p:sp>
      <p:sp>
        <p:nvSpPr>
          <p:cNvPr id="4" name="文本占位符 1">
            <a:extLst>
              <a:ext uri="{FF2B5EF4-FFF2-40B4-BE49-F238E27FC236}">
                <a16:creationId xmlns:a16="http://schemas.microsoft.com/office/drawing/2014/main" id="{E157392C-63FD-2A84-AFD5-90BF0F82843C}"/>
              </a:ext>
            </a:extLst>
          </p:cNvPr>
          <p:cNvSpPr txBox="1">
            <a:spLocks/>
          </p:cNvSpPr>
          <p:nvPr/>
        </p:nvSpPr>
        <p:spPr>
          <a:xfrm>
            <a:off x="721201" y="5217940"/>
            <a:ext cx="10749598" cy="149463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Filter </a:t>
            </a:r>
            <a:r>
              <a:rPr lang="zh-CN" altLang="en-US" sz="1600">
                <a:latin typeface="Fira Code" panose="020B0809050000020004" pitchFamily="49" charset="0"/>
              </a:rPr>
              <a:t>与 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Interceptor</a:t>
            </a:r>
            <a:r>
              <a:rPr lang="zh-CN" altLang="en-US" sz="1600">
                <a:latin typeface="Fira Code" panose="020B0809050000020004" pitchFamily="49" charset="0"/>
              </a:rPr>
              <a:t> 区别：</a:t>
            </a:r>
            <a:endParaRPr lang="en-US" altLang="zh-CN" sz="160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702038" lvl="1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接口规范不同：过滤器需要实现</a:t>
            </a: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Filter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接口，而拦截器需要实现</a:t>
            </a: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HandlerInterceptor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接口。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702038" lvl="1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拦截范围不同：过滤器</a:t>
            </a: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Filter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会拦截所有的资源，而</a:t>
            </a: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Interceptor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只会拦截</a:t>
            </a: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Spring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环境中的资源。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424C09B-C811-FC2A-1186-4E87E4AF27DD}"/>
              </a:ext>
            </a:extLst>
          </p:cNvPr>
          <p:cNvGrpSpPr/>
          <p:nvPr/>
        </p:nvGrpSpPr>
        <p:grpSpPr>
          <a:xfrm>
            <a:off x="5117127" y="1314406"/>
            <a:ext cx="5285494" cy="2580497"/>
            <a:chOff x="5071228" y="2388553"/>
            <a:chExt cx="5285494" cy="2580497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1E51C99A-EBE8-898F-A2EC-F0906634C44D}"/>
                </a:ext>
              </a:extLst>
            </p:cNvPr>
            <p:cNvSpPr/>
            <p:nvPr/>
          </p:nvSpPr>
          <p:spPr>
            <a:xfrm>
              <a:off x="5071228" y="2388553"/>
              <a:ext cx="5285494" cy="2580497"/>
            </a:xfrm>
            <a:prstGeom prst="roundRect">
              <a:avLst>
                <a:gd name="adj" fmla="val 2715"/>
              </a:avLst>
            </a:prstGeom>
            <a:solidFill>
              <a:srgbClr val="F2F2F2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Fira Code" panose="020B0809050000020004" pitchFamily="49" charset="0"/>
              </a:endParaRPr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8483CBE0-14BD-31D7-1195-A7520C18E0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45501" y="4754373"/>
              <a:ext cx="703257" cy="201861"/>
            </a:xfrm>
            <a:prstGeom prst="rect">
              <a:avLst/>
            </a:prstGeom>
          </p:spPr>
        </p:pic>
      </p:grpSp>
      <p:sp>
        <p:nvSpPr>
          <p:cNvPr id="8" name="矩形: 对角圆角 7">
            <a:extLst>
              <a:ext uri="{FF2B5EF4-FFF2-40B4-BE49-F238E27FC236}">
                <a16:creationId xmlns:a16="http://schemas.microsoft.com/office/drawing/2014/main" id="{A38CD4A9-A4FB-CF8D-5807-FC7BCED8D29F}"/>
              </a:ext>
            </a:extLst>
          </p:cNvPr>
          <p:cNvSpPr/>
          <p:nvPr/>
        </p:nvSpPr>
        <p:spPr>
          <a:xfrm>
            <a:off x="8831848" y="1623051"/>
            <a:ext cx="1219696" cy="453421"/>
          </a:xfrm>
          <a:prstGeom prst="round2DiagRect">
            <a:avLst>
              <a:gd name="adj1" fmla="val 50000"/>
              <a:gd name="adj2" fmla="val 50000"/>
            </a:avLst>
          </a:prstGeom>
          <a:solidFill>
            <a:srgbClr val="34495E"/>
          </a:solidFill>
          <a:ln>
            <a:noFill/>
          </a:ln>
          <a:effectLst>
            <a:glow rad="63500">
              <a:schemeClr val="bg1">
                <a:lumMod val="6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Controller</a:t>
            </a:r>
            <a:endParaRPr lang="zh-CN" altLang="en-US" sz="1200">
              <a:solidFill>
                <a:schemeClr val="bg1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4558E80-5BF7-C460-B1B9-23C3259F0DA2}"/>
              </a:ext>
            </a:extLst>
          </p:cNvPr>
          <p:cNvGrpSpPr/>
          <p:nvPr/>
        </p:nvGrpSpPr>
        <p:grpSpPr>
          <a:xfrm>
            <a:off x="5477532" y="1426484"/>
            <a:ext cx="1414031" cy="2356339"/>
            <a:chOff x="4814185" y="2500633"/>
            <a:chExt cx="1084727" cy="2356339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grpSpPr>
        <p:sp>
          <p:nvSpPr>
            <p:cNvPr id="10" name="矩形: 对角圆角 9">
              <a:extLst>
                <a:ext uri="{FF2B5EF4-FFF2-40B4-BE49-F238E27FC236}">
                  <a16:creationId xmlns:a16="http://schemas.microsoft.com/office/drawing/2014/main" id="{3F313AA2-0CF8-0453-864C-F5B1FE713E85}"/>
                </a:ext>
              </a:extLst>
            </p:cNvPr>
            <p:cNvSpPr/>
            <p:nvPr/>
          </p:nvSpPr>
          <p:spPr>
            <a:xfrm>
              <a:off x="4814185" y="2500633"/>
              <a:ext cx="1084727" cy="2356339"/>
            </a:xfrm>
            <a:prstGeom prst="round2DiagRect">
              <a:avLst>
                <a:gd name="adj1" fmla="val 0"/>
                <a:gd name="adj2" fmla="val 6426"/>
              </a:avLst>
            </a:prstGeom>
            <a:solidFill>
              <a:srgbClr val="FFC91D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preHandle</a:t>
              </a:r>
              <a:endParaRPr lang="en-US" altLang="zh-CN" sz="1300">
                <a:solidFill>
                  <a:schemeClr val="tx1">
                    <a:lumMod val="95000"/>
                    <a:lumOff val="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endParaRPr>
            </a:p>
            <a:p>
              <a:pPr algn="ctr"/>
              <a:endParaRPr lang="en-US" altLang="zh-CN" sz="1300">
                <a:solidFill>
                  <a:schemeClr val="tx1">
                    <a:lumMod val="95000"/>
                    <a:lumOff val="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endParaRPr>
            </a:p>
            <a:p>
              <a:pPr algn="ctr"/>
              <a:r>
                <a: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postHandle</a:t>
              </a:r>
              <a:endParaRPr lang="en-US" altLang="zh-CN" sz="1300">
                <a:solidFill>
                  <a:schemeClr val="tx1">
                    <a:lumMod val="95000"/>
                    <a:lumOff val="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endParaRPr>
            </a:p>
            <a:p>
              <a:pPr algn="ctr"/>
              <a:endParaRPr lang="en-US" altLang="zh-CN" sz="1300">
                <a:solidFill>
                  <a:schemeClr val="tx1">
                    <a:lumMod val="95000"/>
                    <a:lumOff val="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endParaRPr>
            </a:p>
            <a:p>
              <a:pPr algn="ctr"/>
              <a:r>
                <a:rPr lang="en-US" altLang="zh-CN" sz="1100">
                  <a:solidFill>
                    <a:schemeClr val="tx1">
                      <a:lumMod val="95000"/>
                      <a:lumOff val="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afterCompletion</a:t>
              </a:r>
              <a:endParaRPr lang="zh-CN" altLang="en-US" sz="1100">
                <a:solidFill>
                  <a:schemeClr val="tx1">
                    <a:lumMod val="95000"/>
                    <a:lumOff val="5000"/>
                  </a:schemeClr>
                </a:solidFill>
                <a:latin typeface="Fira Code" panose="020B0809050000020004" pitchFamily="49" charset="0"/>
              </a:endParaRPr>
            </a:p>
          </p:txBody>
        </p:sp>
        <p:sp>
          <p:nvSpPr>
            <p:cNvPr id="11" name="矩形: 对角圆角 10">
              <a:extLst>
                <a:ext uri="{FF2B5EF4-FFF2-40B4-BE49-F238E27FC236}">
                  <a16:creationId xmlns:a16="http://schemas.microsoft.com/office/drawing/2014/main" id="{FDD5C768-2719-98FD-B861-14C101067A5A}"/>
                </a:ext>
              </a:extLst>
            </p:cNvPr>
            <p:cNvSpPr/>
            <p:nvPr/>
          </p:nvSpPr>
          <p:spPr>
            <a:xfrm>
              <a:off x="4814185" y="4545621"/>
              <a:ext cx="1084727" cy="311347"/>
            </a:xfrm>
            <a:prstGeom prst="round2DiagRect">
              <a:avLst>
                <a:gd name="adj1" fmla="val 0"/>
                <a:gd name="adj2" fmla="val 25416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200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Interceptor</a:t>
              </a:r>
              <a:endParaRPr lang="zh-CN" altLang="en-US" sz="1200">
                <a:solidFill>
                  <a:schemeClr val="bg1"/>
                </a:solidFill>
                <a:latin typeface="Fira Code" panose="020B0809050000020004" pitchFamily="49" charset="0"/>
              </a:endParaRPr>
            </a:p>
          </p:txBody>
        </p:sp>
      </p:grpSp>
      <p:sp>
        <p:nvSpPr>
          <p:cNvPr id="12" name="矩形: 对角圆角 11">
            <a:extLst>
              <a:ext uri="{FF2B5EF4-FFF2-40B4-BE49-F238E27FC236}">
                <a16:creationId xmlns:a16="http://schemas.microsoft.com/office/drawing/2014/main" id="{B6E59B32-E365-83D9-8145-A04DCE95C747}"/>
              </a:ext>
            </a:extLst>
          </p:cNvPr>
          <p:cNvSpPr/>
          <p:nvPr/>
        </p:nvSpPr>
        <p:spPr>
          <a:xfrm>
            <a:off x="8831848" y="2117756"/>
            <a:ext cx="1219696" cy="453421"/>
          </a:xfrm>
          <a:prstGeom prst="round2DiagRect">
            <a:avLst>
              <a:gd name="adj1" fmla="val 50000"/>
              <a:gd name="adj2" fmla="val 50000"/>
            </a:avLst>
          </a:prstGeom>
          <a:solidFill>
            <a:srgbClr val="34495E"/>
          </a:solidFill>
          <a:ln>
            <a:noFill/>
          </a:ln>
          <a:effectLst>
            <a:glow rad="63500">
              <a:schemeClr val="bg1">
                <a:lumMod val="6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Controller</a:t>
            </a:r>
            <a:endParaRPr lang="zh-CN" altLang="en-US" sz="1200">
              <a:solidFill>
                <a:schemeClr val="bg1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矩形: 对角圆角 12">
            <a:extLst>
              <a:ext uri="{FF2B5EF4-FFF2-40B4-BE49-F238E27FC236}">
                <a16:creationId xmlns:a16="http://schemas.microsoft.com/office/drawing/2014/main" id="{876897EB-99FA-1F9E-1455-8C9D6560CDEF}"/>
              </a:ext>
            </a:extLst>
          </p:cNvPr>
          <p:cNvSpPr/>
          <p:nvPr/>
        </p:nvSpPr>
        <p:spPr>
          <a:xfrm>
            <a:off x="8831848" y="2612461"/>
            <a:ext cx="1219696" cy="453421"/>
          </a:xfrm>
          <a:prstGeom prst="round2DiagRect">
            <a:avLst>
              <a:gd name="adj1" fmla="val 50000"/>
              <a:gd name="adj2" fmla="val 50000"/>
            </a:avLst>
          </a:prstGeom>
          <a:solidFill>
            <a:srgbClr val="34495E"/>
          </a:solidFill>
          <a:ln>
            <a:noFill/>
          </a:ln>
          <a:effectLst>
            <a:glow rad="63500">
              <a:schemeClr val="bg1">
                <a:lumMod val="6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Controller</a:t>
            </a:r>
            <a:endParaRPr lang="zh-CN" altLang="en-US" sz="1200">
              <a:solidFill>
                <a:schemeClr val="bg1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619F91A2-947F-AC49-D819-9A4DB50DEF3D}"/>
              </a:ext>
            </a:extLst>
          </p:cNvPr>
          <p:cNvGrpSpPr/>
          <p:nvPr/>
        </p:nvGrpSpPr>
        <p:grpSpPr>
          <a:xfrm>
            <a:off x="736168" y="2306496"/>
            <a:ext cx="838964" cy="1108447"/>
            <a:chOff x="475692" y="3248695"/>
            <a:chExt cx="838964" cy="1108447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5500B00F-C4B4-91E2-5EB3-59B58D394D11}"/>
                </a:ext>
              </a:extLst>
            </p:cNvPr>
            <p:cNvSpPr txBox="1"/>
            <p:nvPr/>
          </p:nvSpPr>
          <p:spPr>
            <a:xfrm>
              <a:off x="507634" y="4049365"/>
              <a:ext cx="8070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浏览器</a:t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502BC8A3-C7FE-7951-4C89-D3CA6F94B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5692" y="3248695"/>
              <a:ext cx="780070" cy="786974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60672E00-0AF5-55EF-4013-516FFCAF28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3499" y="3479258"/>
              <a:ext cx="324454" cy="324454"/>
            </a:xfrm>
            <a:prstGeom prst="rect">
              <a:avLst/>
            </a:prstGeom>
          </p:spPr>
        </p:pic>
      </p:grpSp>
      <p:sp>
        <p:nvSpPr>
          <p:cNvPr id="18" name="矩形: 对角圆角 17">
            <a:extLst>
              <a:ext uri="{FF2B5EF4-FFF2-40B4-BE49-F238E27FC236}">
                <a16:creationId xmlns:a16="http://schemas.microsoft.com/office/drawing/2014/main" id="{C8788886-5172-1BDF-73FE-E9F98A8E8183}"/>
              </a:ext>
            </a:extLst>
          </p:cNvPr>
          <p:cNvSpPr/>
          <p:nvPr/>
        </p:nvSpPr>
        <p:spPr>
          <a:xfrm>
            <a:off x="8831848" y="3107166"/>
            <a:ext cx="1219696" cy="453421"/>
          </a:xfrm>
          <a:prstGeom prst="round2DiagRect">
            <a:avLst>
              <a:gd name="adj1" fmla="val 50000"/>
              <a:gd name="adj2" fmla="val 50000"/>
            </a:avLst>
          </a:prstGeom>
          <a:solidFill>
            <a:srgbClr val="34495E"/>
          </a:solidFill>
          <a:ln>
            <a:noFill/>
          </a:ln>
          <a:effectLst>
            <a:glow rad="63500">
              <a:schemeClr val="bg1">
                <a:lumMod val="6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Controller</a:t>
            </a:r>
            <a:endParaRPr lang="zh-CN" altLang="en-US" sz="1200">
              <a:solidFill>
                <a:schemeClr val="bg1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7538F6ED-8BB3-823C-9A96-29DD7357A3FB}"/>
              </a:ext>
            </a:extLst>
          </p:cNvPr>
          <p:cNvCxnSpPr>
            <a:cxnSpLocks/>
          </p:cNvCxnSpPr>
          <p:nvPr/>
        </p:nvCxnSpPr>
        <p:spPr>
          <a:xfrm>
            <a:off x="1575132" y="2582453"/>
            <a:ext cx="680923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20FEA469-3F07-ABAC-6C65-F3608F3CD0ED}"/>
              </a:ext>
            </a:extLst>
          </p:cNvPr>
          <p:cNvCxnSpPr>
            <a:cxnSpLocks/>
          </p:cNvCxnSpPr>
          <p:nvPr/>
        </p:nvCxnSpPr>
        <p:spPr>
          <a:xfrm>
            <a:off x="3928025" y="2188453"/>
            <a:ext cx="1083246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615BACF0-3A99-A8B3-0F08-0347CB5EA43B}"/>
              </a:ext>
            </a:extLst>
          </p:cNvPr>
          <p:cNvCxnSpPr>
            <a:cxnSpLocks/>
          </p:cNvCxnSpPr>
          <p:nvPr/>
        </p:nvCxnSpPr>
        <p:spPr>
          <a:xfrm>
            <a:off x="7234518" y="2188453"/>
            <a:ext cx="1407459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8EE373A7-2A35-015B-02D1-3D505C880114}"/>
              </a:ext>
            </a:extLst>
          </p:cNvPr>
          <p:cNvCxnSpPr>
            <a:cxnSpLocks/>
          </p:cNvCxnSpPr>
          <p:nvPr/>
        </p:nvCxnSpPr>
        <p:spPr>
          <a:xfrm>
            <a:off x="7171765" y="2994117"/>
            <a:ext cx="1470212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CE52C949-F4FA-866A-10D4-7C3C18DFC0D9}"/>
              </a:ext>
            </a:extLst>
          </p:cNvPr>
          <p:cNvCxnSpPr>
            <a:cxnSpLocks/>
          </p:cNvCxnSpPr>
          <p:nvPr/>
        </p:nvCxnSpPr>
        <p:spPr>
          <a:xfrm>
            <a:off x="3910095" y="3107166"/>
            <a:ext cx="1083246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972FE156-7A15-7510-B892-D7DEDBD9B308}"/>
              </a:ext>
            </a:extLst>
          </p:cNvPr>
          <p:cNvCxnSpPr>
            <a:cxnSpLocks/>
          </p:cNvCxnSpPr>
          <p:nvPr/>
        </p:nvCxnSpPr>
        <p:spPr>
          <a:xfrm>
            <a:off x="1575132" y="2861513"/>
            <a:ext cx="680923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A47619A9-C0A4-EB83-03FE-C41B820C5C83}"/>
              </a:ext>
            </a:extLst>
          </p:cNvPr>
          <p:cNvGrpSpPr/>
          <p:nvPr/>
        </p:nvGrpSpPr>
        <p:grpSpPr>
          <a:xfrm>
            <a:off x="2314319" y="1250632"/>
            <a:ext cx="8519742" cy="3359624"/>
            <a:chOff x="2268420" y="2233339"/>
            <a:chExt cx="8519742" cy="3359624"/>
          </a:xfrm>
        </p:grpSpPr>
        <p:sp>
          <p:nvSpPr>
            <p:cNvPr id="28" name="流程图: 文档 2">
              <a:extLst>
                <a:ext uri="{FF2B5EF4-FFF2-40B4-BE49-F238E27FC236}">
                  <a16:creationId xmlns:a16="http://schemas.microsoft.com/office/drawing/2014/main" id="{426FE32A-38E4-6BE2-AA69-4E48962EF5AD}"/>
                </a:ext>
              </a:extLst>
            </p:cNvPr>
            <p:cNvSpPr/>
            <p:nvPr/>
          </p:nvSpPr>
          <p:spPr>
            <a:xfrm>
              <a:off x="2268420" y="2233339"/>
              <a:ext cx="8519742" cy="3165594"/>
            </a:xfrm>
            <a:custGeom>
              <a:avLst/>
              <a:gdLst>
                <a:gd name="connsiteX0" fmla="*/ 0 w 21600"/>
                <a:gd name="connsiteY0" fmla="*/ 0 h 21600"/>
                <a:gd name="connsiteX1" fmla="*/ 21600 w 21600"/>
                <a:gd name="connsiteY1" fmla="*/ 0 h 21600"/>
                <a:gd name="connsiteX2" fmla="*/ 21600 w 21600"/>
                <a:gd name="connsiteY2" fmla="*/ 17322 h 21600"/>
                <a:gd name="connsiteX3" fmla="*/ 0 w 21600"/>
                <a:gd name="connsiteY3" fmla="*/ 20172 h 21600"/>
                <a:gd name="connsiteX4" fmla="*/ 0 w 21600"/>
                <a:gd name="connsiteY4" fmla="*/ 0 h 21600"/>
                <a:gd name="connsiteX0" fmla="*/ 0 w 21600"/>
                <a:gd name="connsiteY0" fmla="*/ 0 h 21448"/>
                <a:gd name="connsiteX1" fmla="*/ 21600 w 21600"/>
                <a:gd name="connsiteY1" fmla="*/ 0 h 21448"/>
                <a:gd name="connsiteX2" fmla="*/ 21600 w 21600"/>
                <a:gd name="connsiteY2" fmla="*/ 18213 h 21448"/>
                <a:gd name="connsiteX3" fmla="*/ 0 w 21600"/>
                <a:gd name="connsiteY3" fmla="*/ 20172 h 21448"/>
                <a:gd name="connsiteX4" fmla="*/ 0 w 21600"/>
                <a:gd name="connsiteY4" fmla="*/ 0 h 21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600" h="21448">
                  <a:moveTo>
                    <a:pt x="0" y="0"/>
                  </a:moveTo>
                  <a:lnTo>
                    <a:pt x="21600" y="0"/>
                  </a:lnTo>
                  <a:lnTo>
                    <a:pt x="21600" y="18213"/>
                  </a:lnTo>
                  <a:cubicBezTo>
                    <a:pt x="10800" y="18213"/>
                    <a:pt x="10800" y="23922"/>
                    <a:pt x="0" y="20172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Fira Code" panose="020B0809050000020004" pitchFamily="49" charset="0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4EA30FE8-C3BB-3691-8BC2-EEC9A399E575}"/>
                </a:ext>
              </a:extLst>
            </p:cNvPr>
            <p:cNvSpPr txBox="1"/>
            <p:nvPr/>
          </p:nvSpPr>
          <p:spPr>
            <a:xfrm>
              <a:off x="6005416" y="5315964"/>
              <a:ext cx="9204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Web</a:t>
              </a: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服务器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B8373AB4-992B-FC4A-0C16-E05F8B12E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88990" y="4838354"/>
              <a:ext cx="553572" cy="348052"/>
            </a:xfrm>
            <a:prstGeom prst="rect">
              <a:avLst/>
            </a:prstGeom>
          </p:spPr>
        </p:pic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7065F30B-61CA-8827-8E03-86A0574375CD}"/>
              </a:ext>
            </a:extLst>
          </p:cNvPr>
          <p:cNvGrpSpPr/>
          <p:nvPr/>
        </p:nvGrpSpPr>
        <p:grpSpPr>
          <a:xfrm>
            <a:off x="2508424" y="1461983"/>
            <a:ext cx="1334154" cy="2356339"/>
            <a:chOff x="1896871" y="2500633"/>
            <a:chExt cx="1334154" cy="2356339"/>
          </a:xfrm>
        </p:grpSpPr>
        <p:sp>
          <p:nvSpPr>
            <p:cNvPr id="32" name="矩形: 对角圆角 31">
              <a:extLst>
                <a:ext uri="{FF2B5EF4-FFF2-40B4-BE49-F238E27FC236}">
                  <a16:creationId xmlns:a16="http://schemas.microsoft.com/office/drawing/2014/main" id="{FE67756C-EC4F-9661-CF87-D0DE9B6A9228}"/>
                </a:ext>
              </a:extLst>
            </p:cNvPr>
            <p:cNvSpPr/>
            <p:nvPr/>
          </p:nvSpPr>
          <p:spPr>
            <a:xfrm>
              <a:off x="1896871" y="2500633"/>
              <a:ext cx="1334154" cy="2356339"/>
            </a:xfrm>
            <a:prstGeom prst="round2DiagRect">
              <a:avLst>
                <a:gd name="adj1" fmla="val 5247"/>
                <a:gd name="adj2" fmla="val 0"/>
              </a:avLst>
            </a:prstGeom>
            <a:solidFill>
              <a:srgbClr val="FFC91D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放行前逻辑</a:t>
              </a:r>
              <a:endParaRPr lang="en-US" altLang="zh-CN" sz="1200">
                <a:solidFill>
                  <a:schemeClr val="tx1">
                    <a:lumMod val="95000"/>
                    <a:lumOff val="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  <a:p>
              <a:pPr algn="ctr"/>
              <a:endParaRPr lang="en-US" altLang="zh-CN" sz="1300">
                <a:solidFill>
                  <a:schemeClr val="tx1">
                    <a:lumMod val="95000"/>
                    <a:lumOff val="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endParaRPr>
            </a:p>
            <a:p>
              <a:pPr algn="ctr"/>
              <a:endParaRPr lang="en-US" altLang="zh-CN" sz="1300">
                <a:solidFill>
                  <a:schemeClr val="tx1">
                    <a:lumMod val="95000"/>
                    <a:lumOff val="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endParaRPr>
            </a:p>
            <a:p>
              <a:pPr algn="ctr"/>
              <a:r>
                <a:rPr lang="en-US" altLang="zh-CN" sz="1050">
                  <a:solidFill>
                    <a:schemeClr val="tx1">
                      <a:lumMod val="95000"/>
                      <a:lumOff val="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doFilter()</a:t>
              </a:r>
            </a:p>
            <a:p>
              <a:pPr algn="ctr"/>
              <a:endParaRPr lang="en-US" altLang="zh-CN" sz="1300">
                <a:solidFill>
                  <a:schemeClr val="tx1">
                    <a:lumMod val="95000"/>
                    <a:lumOff val="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endParaRPr>
            </a:p>
            <a:p>
              <a:pPr algn="ctr"/>
              <a:endParaRPr lang="en-US" altLang="zh-CN" sz="1300">
                <a:solidFill>
                  <a:schemeClr val="tx1">
                    <a:lumMod val="95000"/>
                    <a:lumOff val="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endParaRPr>
            </a:p>
            <a:p>
              <a:pPr algn="ctr"/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放行后逻辑</a:t>
              </a:r>
            </a:p>
          </p:txBody>
        </p:sp>
        <p:sp>
          <p:nvSpPr>
            <p:cNvPr id="33" name="矩形: 对角圆角 32">
              <a:extLst>
                <a:ext uri="{FF2B5EF4-FFF2-40B4-BE49-F238E27FC236}">
                  <a16:creationId xmlns:a16="http://schemas.microsoft.com/office/drawing/2014/main" id="{649C5CB5-FBB3-C6A6-9E0C-8B067367CE3F}"/>
                </a:ext>
              </a:extLst>
            </p:cNvPr>
            <p:cNvSpPr/>
            <p:nvPr/>
          </p:nvSpPr>
          <p:spPr>
            <a:xfrm>
              <a:off x="1896871" y="4545623"/>
              <a:ext cx="1334154" cy="311347"/>
            </a:xfrm>
            <a:prstGeom prst="round2Diag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Filter</a:t>
              </a:r>
              <a:endParaRPr lang="zh-CN" altLang="en-US" sz="1200">
                <a:solidFill>
                  <a:schemeClr val="bg1"/>
                </a:solidFill>
                <a:latin typeface="Fira Code" panose="020B08090500000200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02590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8" grpId="0" animBg="1"/>
      <p:bldP spid="12" grpId="0" animBg="1"/>
      <p:bldP spid="13" grpId="0" animBg="1"/>
      <p:bldP spid="18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0CDEBBF-D2D6-68EB-6EF9-88E439548C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拦截器中的拦截路径 </a:t>
            </a:r>
            <a:r>
              <a:rPr lang="en-US" altLang="zh-CN"/>
              <a:t>/* </a:t>
            </a:r>
            <a:r>
              <a:rPr lang="zh-CN" altLang="en-US"/>
              <a:t>与 </a:t>
            </a:r>
            <a:r>
              <a:rPr lang="en-US" altLang="zh-CN"/>
              <a:t>/** </a:t>
            </a:r>
            <a:r>
              <a:rPr lang="zh-CN" altLang="en-US"/>
              <a:t>的区别是什么 </a:t>
            </a:r>
            <a:r>
              <a:rPr lang="en-US" altLang="zh-CN"/>
              <a:t>?</a:t>
            </a: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/*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：只能拦截一级路径，如：</a:t>
            </a: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/depts</a:t>
            </a:r>
            <a:r>
              <a:rPr lang="zh-CN" altLang="en-US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，</a:t>
            </a: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/emps</a:t>
            </a: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/**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：拦截任意级路径，如：</a:t>
            </a: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/depts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</a:t>
            </a: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/depts/1</a:t>
            </a:r>
            <a:endParaRPr lang="en-US" altLang="zh-CN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过滤器与拦截器的区别 </a:t>
            </a:r>
            <a:r>
              <a:rPr lang="en-US" altLang="zh-CN"/>
              <a:t>?</a:t>
            </a: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接口规范不同</a:t>
            </a:r>
            <a:endParaRPr lang="en-US" altLang="zh-CN" sz="14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拦截范围不同</a:t>
            </a:r>
          </a:p>
        </p:txBody>
      </p:sp>
    </p:spTree>
    <p:extLst>
      <p:ext uri="{BB962C8B-B14F-4D97-AF65-F5344CB8AC3E}">
        <p14:creationId xmlns:p14="http://schemas.microsoft.com/office/powerpoint/2010/main" val="837020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18527</TotalTime>
  <Words>3353</Words>
  <Application>Microsoft Office PowerPoint</Application>
  <PresentationFormat>宽屏</PresentationFormat>
  <Paragraphs>662</Paragraphs>
  <Slides>54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54</vt:i4>
      </vt:variant>
    </vt:vector>
  </HeadingPairs>
  <TitlesOfParts>
    <vt:vector size="72" baseType="lpstr">
      <vt:lpstr>Alibaba PuHuiTi B</vt:lpstr>
      <vt:lpstr>阿里巴巴普惠体</vt:lpstr>
      <vt:lpstr>阿里巴巴普惠体 Heavy</vt:lpstr>
      <vt:lpstr>阿里巴巴普惠体 Medium</vt:lpstr>
      <vt:lpstr>等线</vt:lpstr>
      <vt:lpstr>汉仪尚巍流云体简</vt:lpstr>
      <vt:lpstr>楷体</vt:lpstr>
      <vt:lpstr>Arial</vt:lpstr>
      <vt:lpstr>Calisto MT</vt:lpstr>
      <vt:lpstr>Consolas</vt:lpstr>
      <vt:lpstr>Fira Code</vt:lpstr>
      <vt:lpstr>Source Code Pro</vt:lpstr>
      <vt:lpstr>Wingdings</vt:lpstr>
      <vt:lpstr>内容模板</vt:lpstr>
      <vt:lpstr>封面</vt:lpstr>
      <vt:lpstr>章节目录模板</vt:lpstr>
      <vt:lpstr>小结思考模板</vt:lpstr>
      <vt:lpstr>小结思考模板2</vt:lpstr>
      <vt:lpstr>Web后端开发</vt:lpstr>
      <vt:lpstr>Tlias智能学习辅助系统</vt:lpstr>
      <vt:lpstr>PowerPoint 演示文稿</vt:lpstr>
      <vt:lpstr>Web后端开发</vt:lpstr>
      <vt:lpstr>PowerPoint 演示文稿</vt:lpstr>
      <vt:lpstr>PowerPoint 演示文稿</vt:lpstr>
      <vt:lpstr>思路分析</vt:lpstr>
      <vt:lpstr>员工登录-思路</vt:lpstr>
      <vt:lpstr>联调测试</vt:lpstr>
      <vt:lpstr>PowerPoint 演示文稿</vt:lpstr>
      <vt:lpstr>PowerPoint 演示文稿</vt:lpstr>
      <vt:lpstr>登录校验思路</vt:lpstr>
      <vt:lpstr>登录校验思路</vt:lpstr>
      <vt:lpstr>PowerPoint 演示文稿</vt:lpstr>
      <vt:lpstr>会话技术</vt:lpstr>
      <vt:lpstr>会话跟踪方案对比</vt:lpstr>
      <vt:lpstr>PowerPoint 演示文稿</vt:lpstr>
      <vt:lpstr>会话跟踪方案对比</vt:lpstr>
      <vt:lpstr>会话跟踪方案对比</vt:lpstr>
      <vt:lpstr>PowerPoint 演示文稿</vt:lpstr>
      <vt:lpstr>会话跟踪方案对比</vt:lpstr>
      <vt:lpstr>PowerPoint 演示文稿</vt:lpstr>
      <vt:lpstr>令牌技术</vt:lpstr>
      <vt:lpstr>PowerPoint 演示文稿</vt:lpstr>
      <vt:lpstr>JWT令牌-介绍</vt:lpstr>
      <vt:lpstr>JWT令牌-生成/解析</vt:lpstr>
      <vt:lpstr>PowerPoint 演示文稿</vt:lpstr>
      <vt:lpstr>登录成功后-生成令牌</vt:lpstr>
      <vt:lpstr>令牌技术</vt:lpstr>
      <vt:lpstr>PowerPoint 演示文稿</vt:lpstr>
      <vt:lpstr>PowerPoint 演示文稿</vt:lpstr>
      <vt:lpstr>过滤器(Filter)</vt:lpstr>
      <vt:lpstr>Filter快速入门</vt:lpstr>
      <vt:lpstr>PowerPoint 演示文稿</vt:lpstr>
      <vt:lpstr>PowerPoint 演示文稿</vt:lpstr>
      <vt:lpstr>登录校验Filter</vt:lpstr>
      <vt:lpstr>令牌校验Filter-流程</vt:lpstr>
      <vt:lpstr>PowerPoint 演示文稿</vt:lpstr>
      <vt:lpstr>Filter执行流程</vt:lpstr>
      <vt:lpstr>Filter-拦截路径</vt:lpstr>
      <vt:lpstr>Filter-过滤器链</vt:lpstr>
      <vt:lpstr>PowerPoint 演示文稿</vt:lpstr>
      <vt:lpstr>PowerPoint 演示文稿</vt:lpstr>
      <vt:lpstr>PowerPoint 演示文稿</vt:lpstr>
      <vt:lpstr>拦截器(Interceptor)</vt:lpstr>
      <vt:lpstr>Interceptor快速入门</vt:lpstr>
      <vt:lpstr>PowerPoint 演示文稿</vt:lpstr>
      <vt:lpstr>PowerPoint 演示文稿</vt:lpstr>
      <vt:lpstr>令牌校验-拦截器</vt:lpstr>
      <vt:lpstr>PowerPoint 演示文稿</vt:lpstr>
      <vt:lpstr>拦截器-拦截路径</vt:lpstr>
      <vt:lpstr>拦截器-执行流程</vt:lpstr>
      <vt:lpstr>PowerPoint 演示文稿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M8242</cp:lastModifiedBy>
  <cp:revision>1428</cp:revision>
  <cp:lastPrinted>2022-05-29T16:00:00Z</cp:lastPrinted>
  <dcterms:created xsi:type="dcterms:W3CDTF">2022-05-29T16:00:00Z</dcterms:created>
  <dcterms:modified xsi:type="dcterms:W3CDTF">2024-11-25T11:39:40Z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