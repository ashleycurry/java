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62"/>
  </p:notesMasterIdLst>
  <p:handoutMasterIdLst>
    <p:handoutMasterId r:id="rId63"/>
  </p:handoutMasterIdLst>
  <p:sldIdLst>
    <p:sldId id="280" r:id="rId6"/>
    <p:sldId id="983" r:id="rId7"/>
    <p:sldId id="981" r:id="rId8"/>
    <p:sldId id="982" r:id="rId9"/>
    <p:sldId id="991" r:id="rId10"/>
    <p:sldId id="992" r:id="rId11"/>
    <p:sldId id="993" r:id="rId12"/>
    <p:sldId id="994" r:id="rId13"/>
    <p:sldId id="1031" r:id="rId14"/>
    <p:sldId id="995" r:id="rId15"/>
    <p:sldId id="1029" r:id="rId16"/>
    <p:sldId id="984" r:id="rId17"/>
    <p:sldId id="985" r:id="rId18"/>
    <p:sldId id="986" r:id="rId19"/>
    <p:sldId id="987" r:id="rId20"/>
    <p:sldId id="1030" r:id="rId21"/>
    <p:sldId id="988" r:id="rId22"/>
    <p:sldId id="989" r:id="rId23"/>
    <p:sldId id="990" r:id="rId24"/>
    <p:sldId id="996" r:id="rId25"/>
    <p:sldId id="1002" r:id="rId26"/>
    <p:sldId id="1003" r:id="rId27"/>
    <p:sldId id="997" r:id="rId28"/>
    <p:sldId id="998" r:id="rId29"/>
    <p:sldId id="1004" r:id="rId30"/>
    <p:sldId id="999" r:id="rId31"/>
    <p:sldId id="1000" r:id="rId32"/>
    <p:sldId id="1001" r:id="rId33"/>
    <p:sldId id="1005" r:id="rId34"/>
    <p:sldId id="1006" r:id="rId35"/>
    <p:sldId id="1028" r:id="rId36"/>
    <p:sldId id="1032" r:id="rId37"/>
    <p:sldId id="1033" r:id="rId38"/>
    <p:sldId id="1017" r:id="rId39"/>
    <p:sldId id="1007" r:id="rId40"/>
    <p:sldId id="1008" r:id="rId41"/>
    <p:sldId id="1009" r:id="rId42"/>
    <p:sldId id="1025" r:id="rId43"/>
    <p:sldId id="1011" r:id="rId44"/>
    <p:sldId id="1018" r:id="rId45"/>
    <p:sldId id="1012" r:id="rId46"/>
    <p:sldId id="1019" r:id="rId47"/>
    <p:sldId id="1013" r:id="rId48"/>
    <p:sldId id="1014" r:id="rId49"/>
    <p:sldId id="1020" r:id="rId50"/>
    <p:sldId id="1026" r:id="rId51"/>
    <p:sldId id="1016" r:id="rId52"/>
    <p:sldId id="1034" r:id="rId53"/>
    <p:sldId id="1015" r:id="rId54"/>
    <p:sldId id="1036" r:id="rId55"/>
    <p:sldId id="1035" r:id="rId56"/>
    <p:sldId id="1021" r:id="rId57"/>
    <p:sldId id="1027" r:id="rId58"/>
    <p:sldId id="1022" r:id="rId59"/>
    <p:sldId id="1023" r:id="rId60"/>
    <p:sldId id="288" r:id="rId61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B6F5"/>
    <a:srgbClr val="273D77"/>
    <a:srgbClr val="166DB2"/>
    <a:srgbClr val="0000FF"/>
    <a:srgbClr val="00FF00"/>
    <a:srgbClr val="00B050"/>
    <a:srgbClr val="FFFF00"/>
    <a:srgbClr val="FF6600"/>
    <a:srgbClr val="3C3D3F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2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37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gs" Target="tags/tag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你是一名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java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开发工程师，基于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Springboot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开发了一个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web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项目，并将其达成一个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jar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包，名字为 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app.jar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，现需要将其制作为一个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docker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镜像，请帮我编写一份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Dockerfile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文件：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jar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包的名字叫 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app.jar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基础镜像为 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centos:7, 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里面没有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jdk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的环境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jdk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的安装包为 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jdk17.tar.gz</a:t>
            </a:r>
          </a:p>
          <a:p>
            <a:pPr algn="l"/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请参照上述提供的信息，帮我编写一份</a:t>
            </a:r>
            <a:r>
              <a:rPr lang="en-US" altLang="zh-CN" b="0" i="0">
                <a:solidFill>
                  <a:srgbClr val="2C2C36"/>
                </a:solidFill>
                <a:effectLst/>
                <a:latin typeface="-apple-system"/>
              </a:rPr>
              <a:t>docker</a:t>
            </a:r>
            <a:r>
              <a:rPr lang="zh-CN" altLang="en-US" b="0" i="0">
                <a:solidFill>
                  <a:srgbClr val="2C2C36"/>
                </a:solidFill>
                <a:effectLst/>
                <a:latin typeface="-apple-system"/>
              </a:rPr>
              <a:t>文件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977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将下面这条</a:t>
            </a:r>
            <a:r>
              <a:rPr lang="en-US" altLang="zh-CN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Docker</a:t>
            </a:r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创建容器的命令，帮我转换成</a:t>
            </a:r>
            <a:r>
              <a:rPr lang="en-US" altLang="zh-CN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docker-compose.yml</a:t>
            </a:r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文件的写法， 并添加上注释。 命令如下：</a:t>
            </a:r>
            <a:r>
              <a:rPr lang="en-US" altLang="zh-CN" b="0" i="0">
                <a:solidFill>
                  <a:srgbClr val="2C2C36"/>
                </a:solidFill>
                <a:effectLst/>
                <a:highlight>
                  <a:srgbClr val="E0DFFF"/>
                </a:highlight>
                <a:latin typeface="-apple-system"/>
              </a:rPr>
              <a:t>docker run -d --name nginx-tlias -v /usr/local/app/html:/usr/share/nginx/html -v /usr/local/app/conf/nginx.conf:/etc/nginx/nginx.conf --network itheima -p 80:80 nginx:1.20.2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55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6.xml"/><Relationship Id="rId7" Type="http://schemas.openxmlformats.org/officeDocument/2006/relationships/image" Target="../media/image12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hyperlink" Target="https://hub.docker.com/" TargetMode="Externa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9.xml"/><Relationship Id="rId7" Type="http://schemas.openxmlformats.org/officeDocument/2006/relationships/image" Target="../media/image1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hyperlink" Target="https://docs.docker.com/" TargetMode="Externa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commandline/volume_ls/" TargetMode="External"/><Relationship Id="rId2" Type="http://schemas.openxmlformats.org/officeDocument/2006/relationships/hyperlink" Target="https://docs.docker.com/engine/reference/commandline/volume_create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docker.com/engine/reference/commandline/volume_inspect/" TargetMode="External"/><Relationship Id="rId4" Type="http://schemas.openxmlformats.org/officeDocument/2006/relationships/hyperlink" Target="https://docs.docker.com/engine/reference/commandline/volume_prune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A03DC2-40F2-3E07-A3E7-1D2601457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  <a:r>
              <a:rPr lang="en-US" altLang="zh-CN"/>
              <a:t>(Docker)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FB18B4-6FE8-7B7E-409B-3EE574200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5498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Docker</a:t>
            </a:r>
            <a:r>
              <a:rPr lang="zh-CN" altLang="en-US"/>
              <a:t>就是一款快速构建、运行、管理应用的工具。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Docker</a:t>
            </a:r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1ED38F2-D584-0B23-140E-219CD938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142" y="956241"/>
            <a:ext cx="1979033" cy="16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9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0E0A2-362E-C074-C0FE-13180B7E3A41}"/>
              </a:ext>
            </a:extLst>
          </p:cNvPr>
          <p:cNvGrpSpPr/>
          <p:nvPr/>
        </p:nvGrpSpPr>
        <p:grpSpPr>
          <a:xfrm>
            <a:off x="1615786" y="2464869"/>
            <a:ext cx="8960427" cy="2563537"/>
            <a:chOff x="1859972" y="2480205"/>
            <a:chExt cx="8960427" cy="256353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F40F187-0C3F-95D2-E0EF-965C7ED4C64F}"/>
                </a:ext>
              </a:extLst>
            </p:cNvPr>
            <p:cNvSpPr/>
            <p:nvPr/>
          </p:nvSpPr>
          <p:spPr>
            <a:xfrm>
              <a:off x="1859972" y="2480205"/>
              <a:ext cx="8960427" cy="2563537"/>
            </a:xfrm>
            <a:prstGeom prst="roundRect">
              <a:avLst>
                <a:gd name="adj" fmla="val 3114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87AE3-E2A2-F93E-D183-427C4838C6A9}"/>
                </a:ext>
              </a:extLst>
            </p:cNvPr>
            <p:cNvSpPr txBox="1"/>
            <p:nvPr/>
          </p:nvSpPr>
          <p:spPr>
            <a:xfrm>
              <a:off x="1859973" y="2845725"/>
              <a:ext cx="8675948" cy="1884170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查看已安装的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rpm -qa | grep 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rpm -qa | grep m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ariadb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mariadb-libs-5.5.68-1.el7.x86_64</a:t>
              </a: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卸载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MySQL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rpm -e --nodeps </a:t>
              </a: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mariadb-libs-5.5.60-1.el7_5.x86_64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B15C2FD-1E89-6D51-53E7-7A6D490D49C2}"/>
                </a:ext>
              </a:extLst>
            </p:cNvPr>
            <p:cNvSpPr/>
            <p:nvPr/>
          </p:nvSpPr>
          <p:spPr>
            <a:xfrm>
              <a:off x="1859972" y="2480205"/>
              <a:ext cx="8960427" cy="365520"/>
            </a:xfrm>
            <a:prstGeom prst="roundRect">
              <a:avLst>
                <a:gd name="adj" fmla="val 22817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CFE13-B919-7185-AB2D-798F745716A0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BFFB8C6-80D9-B2FF-4CD2-564F5E9BAF99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0F2B1D4-ADE4-B984-8591-1FF53F790F47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A8C786B-C6BA-96A7-0438-5423DDE3DC52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FC078EE-EB2D-F394-1E62-C3B3E24B7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907" y="1335596"/>
            <a:ext cx="7745811" cy="502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2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DDD3B0-4082-94E4-3A65-8B93F3BA7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697" y="1335596"/>
            <a:ext cx="7745811" cy="5026601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A62B054-BB32-E0B3-438A-90B99BD1A1B3}"/>
              </a:ext>
            </a:extLst>
          </p:cNvPr>
          <p:cNvGrpSpPr/>
          <p:nvPr/>
        </p:nvGrpSpPr>
        <p:grpSpPr>
          <a:xfrm>
            <a:off x="-9333568" y="2147231"/>
            <a:ext cx="8960427" cy="2563537"/>
            <a:chOff x="1859972" y="2480205"/>
            <a:chExt cx="8960427" cy="256353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5957429-801B-F20F-8517-3E5180316033}"/>
                </a:ext>
              </a:extLst>
            </p:cNvPr>
            <p:cNvSpPr/>
            <p:nvPr/>
          </p:nvSpPr>
          <p:spPr>
            <a:xfrm>
              <a:off x="1859972" y="2480205"/>
              <a:ext cx="8960427" cy="2563537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0D5F1F3-4524-932E-1D80-940EC08B65F3}"/>
                </a:ext>
              </a:extLst>
            </p:cNvPr>
            <p:cNvSpPr txBox="1"/>
            <p:nvPr/>
          </p:nvSpPr>
          <p:spPr>
            <a:xfrm>
              <a:off x="1859973" y="2845725"/>
              <a:ext cx="8675948" cy="1884170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查看已安装的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rpm -qa | grep 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rpm -qa | grep m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ariadb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mariadb-libs-5.5.68-1.el7.x86_64</a:t>
              </a: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卸载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MySQL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rpm -e --nodeps </a:t>
              </a: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mariadb-libs-5.5.60-1.el7_5.x86_64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20FE73B-2603-740A-66F7-9CD33EE5E3FA}"/>
                </a:ext>
              </a:extLst>
            </p:cNvPr>
            <p:cNvSpPr/>
            <p:nvPr/>
          </p:nvSpPr>
          <p:spPr>
            <a:xfrm>
              <a:off x="1859972" y="2480205"/>
              <a:ext cx="8960427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D4EFCAB-C54B-85EB-E20E-5F17B098B3A1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55CD2BEA-E711-912F-6BB3-64898A7EC925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0DB4917-CDA3-174B-B701-AE1641FAE556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DC2DA0D-3697-D54D-E11E-92A80C9AFED3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A8FBBD7-D80A-1C58-158D-A99404739C10}"/>
              </a:ext>
            </a:extLst>
          </p:cNvPr>
          <p:cNvGrpSpPr/>
          <p:nvPr/>
        </p:nvGrpSpPr>
        <p:grpSpPr>
          <a:xfrm>
            <a:off x="12573700" y="2147231"/>
            <a:ext cx="8960427" cy="3028237"/>
            <a:chOff x="1859972" y="2480205"/>
            <a:chExt cx="8960427" cy="3028237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4E8104A-3D1D-AD5D-14E9-F6390F038C05}"/>
                </a:ext>
              </a:extLst>
            </p:cNvPr>
            <p:cNvSpPr/>
            <p:nvPr/>
          </p:nvSpPr>
          <p:spPr>
            <a:xfrm>
              <a:off x="1859972" y="2480205"/>
              <a:ext cx="8960427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66EE1F4-E043-EDF2-23A2-EC1F09528EEE}"/>
                </a:ext>
              </a:extLst>
            </p:cNvPr>
            <p:cNvSpPr txBox="1"/>
            <p:nvPr/>
          </p:nvSpPr>
          <p:spPr>
            <a:xfrm>
              <a:off x="1859973" y="2845725"/>
              <a:ext cx="8675948" cy="266271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上传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的安装包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解压缩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tar -xvf mysql-8.0.30-linux-glibc2.12-x86_64.tar.xz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移动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&amp;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重命名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mv mysql-8.0.30-linux-glibc2.12-x86_64 /usr/local/mysql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切换目录</a:t>
              </a:r>
              <a:endParaRPr lang="en-US" altLang="zh-CN" sz="1400">
                <a:solidFill>
                  <a:schemeClr val="bg1">
                    <a:lumMod val="65000"/>
                  </a:schemeClr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cd /usr/local/mysql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705A7FB-0521-2451-F245-930E1A5FE393}"/>
                </a:ext>
              </a:extLst>
            </p:cNvPr>
            <p:cNvSpPr/>
            <p:nvPr/>
          </p:nvSpPr>
          <p:spPr>
            <a:xfrm>
              <a:off x="1859972" y="2480205"/>
              <a:ext cx="8960427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4EFEEF8-E290-A73E-3DCE-0811E140E293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1A095456-8ED6-E97B-2546-BEEDCD8E2E87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0715A55F-A4CC-9958-3FA8-9BE17D0E23ED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85438B-2F78-9DDB-0EFD-6198F11F5CC4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2775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0E0A2-362E-C074-C0FE-13180B7E3A41}"/>
              </a:ext>
            </a:extLst>
          </p:cNvPr>
          <p:cNvGrpSpPr/>
          <p:nvPr/>
        </p:nvGrpSpPr>
        <p:grpSpPr>
          <a:xfrm>
            <a:off x="1326537" y="2194282"/>
            <a:ext cx="8960427" cy="3028237"/>
            <a:chOff x="1859972" y="2480205"/>
            <a:chExt cx="8960427" cy="302823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F40F187-0C3F-95D2-E0EF-965C7ED4C64F}"/>
                </a:ext>
              </a:extLst>
            </p:cNvPr>
            <p:cNvSpPr/>
            <p:nvPr/>
          </p:nvSpPr>
          <p:spPr>
            <a:xfrm>
              <a:off x="1859972" y="2480205"/>
              <a:ext cx="8960427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87AE3-E2A2-F93E-D183-427C4838C6A9}"/>
                </a:ext>
              </a:extLst>
            </p:cNvPr>
            <p:cNvSpPr txBox="1"/>
            <p:nvPr/>
          </p:nvSpPr>
          <p:spPr>
            <a:xfrm>
              <a:off x="1859973" y="2845725"/>
              <a:ext cx="8675948" cy="266271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上传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的安装包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解压缩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tar -xvf mysql-8.0.30-linux-glibc2.12-x86_64.tar.xz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移动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&amp;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重命名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mv mysql-8.0.30-linux-glibc2.12-x86_64 /usr/local/mysql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切换目录</a:t>
              </a:r>
              <a:endParaRPr lang="en-US" altLang="zh-CN" sz="1400">
                <a:solidFill>
                  <a:schemeClr val="bg1">
                    <a:lumMod val="65000"/>
                  </a:schemeClr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cd /usr/local/mysql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B15C2FD-1E89-6D51-53E7-7A6D490D49C2}"/>
                </a:ext>
              </a:extLst>
            </p:cNvPr>
            <p:cNvSpPr/>
            <p:nvPr/>
          </p:nvSpPr>
          <p:spPr>
            <a:xfrm>
              <a:off x="1859972" y="2480205"/>
              <a:ext cx="8960427" cy="365520"/>
            </a:xfrm>
            <a:prstGeom prst="roundRect">
              <a:avLst>
                <a:gd name="adj" fmla="val 22817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CFE13-B919-7185-AB2D-798F745716A0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BFFB8C6-80D9-B2FF-4CD2-564F5E9BAF99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0F2B1D4-ADE4-B984-8591-1FF53F790F47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A8C786B-C6BA-96A7-0438-5423DDE3DC52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B60968A-8138-095C-A3A6-B8A856FDB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18595" y="1182416"/>
            <a:ext cx="7745811" cy="502660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8C7936-6BB9-081A-E79D-DFC5BD99500E}"/>
              </a:ext>
            </a:extLst>
          </p:cNvPr>
          <p:cNvGrpSpPr/>
          <p:nvPr/>
        </p:nvGrpSpPr>
        <p:grpSpPr>
          <a:xfrm>
            <a:off x="12533798" y="2171865"/>
            <a:ext cx="9926181" cy="3025287"/>
            <a:chOff x="1859972" y="2480205"/>
            <a:chExt cx="9926181" cy="3025287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F31D225-A978-9A81-3F95-F7535F6EA92F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0485B3F-3EFD-DEDF-2D45-4FC08B51DE56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65976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配置环境变量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vim /etc/profile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刷新环境变量，立即生效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source /etc/profile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注册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为系统服务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cp /usr/local/mysql/support-files/mysql.server /etc/init.d/mysql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chkconfig --add 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8F0C885-91AE-D133-F33F-FED373E3B4CD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B0D6EBE-FA77-E7DF-79EB-1FB212E3475D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0EA47981-F183-80F9-4F6F-08D08A156B6E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5368429F-AE12-393C-6573-1D4E95359926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746D63D-14CB-BCC6-E07C-5148ECF7A4F3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8868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0E0A2-362E-C074-C0FE-13180B7E3A41}"/>
              </a:ext>
            </a:extLst>
          </p:cNvPr>
          <p:cNvGrpSpPr/>
          <p:nvPr/>
        </p:nvGrpSpPr>
        <p:grpSpPr>
          <a:xfrm>
            <a:off x="1326537" y="2194282"/>
            <a:ext cx="9926181" cy="3025287"/>
            <a:chOff x="1859972" y="2480205"/>
            <a:chExt cx="9926181" cy="302528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F40F187-0C3F-95D2-E0EF-965C7ED4C64F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87AE3-E2A2-F93E-D183-427C4838C6A9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65976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配置环境变量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vim /etc/profile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刷新环境变量，立即生效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source /etc/profile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注册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为系统服务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cp /usr/local/mysql/support-files/mysql.server /etc/init.d/mysql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chkconfig --add 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B15C2FD-1E89-6D51-53E7-7A6D490D49C2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9481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CFE13-B919-7185-AB2D-798F745716A0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BFFB8C6-80D9-B2FF-4CD2-564F5E9BAF99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0F2B1D4-ADE4-B984-8591-1FF53F790F47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A8C786B-C6BA-96A7-0438-5423DDE3DC52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DFAEEF6-1BFA-73C8-A55A-736183325751}"/>
              </a:ext>
            </a:extLst>
          </p:cNvPr>
          <p:cNvGrpSpPr/>
          <p:nvPr/>
        </p:nvGrpSpPr>
        <p:grpSpPr>
          <a:xfrm>
            <a:off x="-9458694" y="2194282"/>
            <a:ext cx="8960427" cy="3028237"/>
            <a:chOff x="1859972" y="2480205"/>
            <a:chExt cx="8960427" cy="302823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696987E-EB6B-F4CF-ADC0-9E0069A4DA62}"/>
                </a:ext>
              </a:extLst>
            </p:cNvPr>
            <p:cNvSpPr/>
            <p:nvPr/>
          </p:nvSpPr>
          <p:spPr>
            <a:xfrm>
              <a:off x="1859972" y="2480205"/>
              <a:ext cx="8960427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A62045-D7FD-CBA0-DF2A-0FC61524E2E9}"/>
                </a:ext>
              </a:extLst>
            </p:cNvPr>
            <p:cNvSpPr txBox="1"/>
            <p:nvPr/>
          </p:nvSpPr>
          <p:spPr>
            <a:xfrm>
              <a:off x="1859973" y="2845725"/>
              <a:ext cx="8675948" cy="266271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上传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的安装包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解压缩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tar -xvf mysql-8.0.30-linux-glibc2.12-x86_64.tar.xz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移动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&amp;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重命名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mv mysql-8.0.30-linux-glibc2.12-x86_64 /usr/local/mysql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切换目录</a:t>
              </a:r>
              <a:endParaRPr lang="en-US" altLang="zh-CN" sz="1400">
                <a:solidFill>
                  <a:schemeClr val="bg1">
                    <a:lumMod val="65000"/>
                  </a:schemeClr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~]#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cd /usr/local/mysql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06EE75D-03B1-011C-2CFF-25486DFED166}"/>
                </a:ext>
              </a:extLst>
            </p:cNvPr>
            <p:cNvSpPr/>
            <p:nvPr/>
          </p:nvSpPr>
          <p:spPr>
            <a:xfrm>
              <a:off x="1859972" y="2480205"/>
              <a:ext cx="8960427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7386D78-E664-AE9D-0756-9FB80F3F426F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3019AB8-0CCB-B856-C079-F09AEBF343C3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A4A43E8-3F32-1A45-473B-E7DE72AAE7CE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0461ABFD-0282-E31F-8A66-3F92521F0A8C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8FD44D-7ED8-4C0F-8555-8973C7A4A404}"/>
              </a:ext>
            </a:extLst>
          </p:cNvPr>
          <p:cNvGrpSpPr/>
          <p:nvPr/>
        </p:nvGrpSpPr>
        <p:grpSpPr>
          <a:xfrm>
            <a:off x="12655025" y="2194282"/>
            <a:ext cx="9926181" cy="3283819"/>
            <a:chOff x="1859972" y="2480205"/>
            <a:chExt cx="9926181" cy="3283819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37A87364-CFDB-B01F-C4FB-22D118860E2F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7623B59-0FFD-E671-0CAB-0911A4DB6890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918299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创建一个用户组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,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组名就叫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groupadd 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创建一个系统用户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mysql,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并归属于用户组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useradd -r -g mysql -s /bin/false 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初始化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mysqld --initialize --user=mysql --basedir=/usr/local/mysql --datadir=/usr/local/mysql/data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A47F8443-E4C9-47F6-05BD-7E6DBFD110CD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A911C6FA-BC8F-A2D0-C0EE-15970FBF85AF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A0947BFE-B558-AC70-5C96-8932D0BC637B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9605445-4036-AF76-50A1-5C30D383007D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F8A43F5-E9BF-D392-D729-7B1C21D03820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651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0E0A2-362E-C074-C0FE-13180B7E3A41}"/>
              </a:ext>
            </a:extLst>
          </p:cNvPr>
          <p:cNvGrpSpPr/>
          <p:nvPr/>
        </p:nvGrpSpPr>
        <p:grpSpPr>
          <a:xfrm>
            <a:off x="1326537" y="2194282"/>
            <a:ext cx="9926181" cy="3283819"/>
            <a:chOff x="1859972" y="2480205"/>
            <a:chExt cx="9926181" cy="328381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F40F187-0C3F-95D2-E0EF-965C7ED4C64F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87AE3-E2A2-F93E-D183-427C4838C6A9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918299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创建一个用户组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,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组名就叫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groupadd 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创建一个系统用户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mysql,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并归属于用户组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useradd -r -g mysql -s /bin/false 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初始化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mysqld --initialize --user=mysql --basedir=/usr/local/mysql --datadir=/usr/local/mysql/data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B15C2FD-1E89-6D51-53E7-7A6D490D49C2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24484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CFE13-B919-7185-AB2D-798F745716A0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BFFB8C6-80D9-B2FF-4CD2-564F5E9BAF99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0F2B1D4-ADE4-B984-8591-1FF53F790F47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A8C786B-C6BA-96A7-0438-5423DDE3DC52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3D48076-4075-0B28-D488-85CFF10C6902}"/>
              </a:ext>
            </a:extLst>
          </p:cNvPr>
          <p:cNvGrpSpPr/>
          <p:nvPr/>
        </p:nvGrpSpPr>
        <p:grpSpPr>
          <a:xfrm>
            <a:off x="-10419986" y="2171865"/>
            <a:ext cx="9926181" cy="3025287"/>
            <a:chOff x="1859972" y="2480205"/>
            <a:chExt cx="9926181" cy="302528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04F581E-2E2E-5065-F43E-5AFD5AB9420D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989C505-58DA-9264-323A-87FE226AE229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65976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配置环境变量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vim /etc/profile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刷新环境变量，立即生效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source /etc/profile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注册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为系统服务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cp /usr/local/mysql/support-files/mysql.server /etc/init.d/mysql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>
                  <a:solidFill>
                    <a:schemeClr val="bg1"/>
                  </a:solidFill>
                  <a:latin typeface="Source code pro" panose="020B0509030403020204" pitchFamily="49" charset="0"/>
                </a:rPr>
                <a:t>chkconfig --add mysql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7B69161-B874-7A89-45F4-F0072EE4D6AF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1A776FC-2B43-2569-0E60-0C7B3F275177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DB51CEEE-F253-D709-8CD1-EACB400A8DD7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77A50912-77F8-335B-E927-3018285060F0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AD692A60-F048-9889-C274-B81358241DD1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5B319D-13B7-B780-B16D-B4D6CF6E8934}"/>
              </a:ext>
            </a:extLst>
          </p:cNvPr>
          <p:cNvGrpSpPr/>
          <p:nvPr/>
        </p:nvGrpSpPr>
        <p:grpSpPr>
          <a:xfrm>
            <a:off x="12933101" y="2171865"/>
            <a:ext cx="9926181" cy="3025287"/>
            <a:chOff x="1859972" y="2480205"/>
            <a:chExt cx="9926181" cy="3025287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D49F6B0-8F79-DA3E-ABFD-6A65F1F4D24D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ABB21AC-7732-BE1D-063D-11EABE95CABD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65976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启动</a:t>
              </a:r>
              <a:r>
                <a:rPr lang="en-US" altLang="zh-CN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MySQL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服务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systemctl start 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通过初始化时的临时密码，登录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mysql -uroot -pxxxxx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修改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root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用户的密码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ALTER USER 'root'@'localhost' IDENTIFIED WITH mysql_native_password BY '1234';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后续省略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260A775-4BAB-5ADF-2EC9-1B6249B1C9B8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DE276F1-40B8-0BF3-4F01-816668B546B3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4BB11AFE-E389-24F0-0CA8-1144CD491912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CBC1B87-872D-37B1-4CDE-B3955D8562BC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BE297CE9-8FF5-867C-73B4-7DD803F3269E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446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中安装</a:t>
            </a:r>
            <a:r>
              <a:rPr lang="en-US" altLang="zh-CN"/>
              <a:t>MySQL</a:t>
            </a:r>
            <a:r>
              <a:rPr lang="zh-CN" altLang="en-US"/>
              <a:t>回顾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0E0A2-362E-C074-C0FE-13180B7E3A41}"/>
              </a:ext>
            </a:extLst>
          </p:cNvPr>
          <p:cNvGrpSpPr/>
          <p:nvPr/>
        </p:nvGrpSpPr>
        <p:grpSpPr>
          <a:xfrm>
            <a:off x="1056841" y="2194282"/>
            <a:ext cx="9926181" cy="3025287"/>
            <a:chOff x="1859972" y="2480205"/>
            <a:chExt cx="9926181" cy="302528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F40F187-0C3F-95D2-E0EF-965C7ED4C64F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87AE3-E2A2-F93E-D183-427C4838C6A9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65976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启动</a:t>
              </a:r>
              <a:r>
                <a:rPr lang="en-US" altLang="zh-CN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MySQL</a:t>
              </a:r>
              <a:r>
                <a:rPr lang="zh-CN" altLang="en-US" sz="1400">
                  <a:solidFill>
                    <a:schemeClr val="tx1">
                      <a:lumMod val="40000"/>
                      <a:lumOff val="60000"/>
                    </a:schemeClr>
                  </a:solidFill>
                  <a:latin typeface="Source code pro" panose="020B0509030403020204" pitchFamily="49" charset="0"/>
                </a:rPr>
                <a:t>服务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systemctl start 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通过初始化时的临时密码，登录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mysql -uroot -pxxxxx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修改</a:t>
              </a:r>
              <a:r>
                <a:rPr lang="en-US" altLang="zh-CN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root</a:t>
              </a: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Source code pro" panose="020B0509030403020204" pitchFamily="49" charset="0"/>
                </a:rPr>
                <a:t>用户的密码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ALTER USER 'root'@'localhost' IDENTIFIED WITH mysql_native_password BY '1234';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后续省略</a:t>
              </a:r>
              <a:endParaRPr lang="en-US" altLang="zh-CN" sz="1400" b="0">
                <a:solidFill>
                  <a:schemeClr val="tx1">
                    <a:lumMod val="40000"/>
                    <a:lumOff val="60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B15C2FD-1E89-6D51-53E7-7A6D490D49C2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6146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CFE13-B919-7185-AB2D-798F745716A0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BFFB8C6-80D9-B2FF-4CD2-564F5E9BAF99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0F2B1D4-ADE4-B984-8591-1FF53F790F47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A8C786B-C6BA-96A7-0438-5423DDE3DC52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DCA1E15-FB05-6536-2474-9522E082406E}"/>
              </a:ext>
            </a:extLst>
          </p:cNvPr>
          <p:cNvGrpSpPr/>
          <p:nvPr/>
        </p:nvGrpSpPr>
        <p:grpSpPr>
          <a:xfrm>
            <a:off x="-11871340" y="2194282"/>
            <a:ext cx="9926181" cy="3283819"/>
            <a:chOff x="1859972" y="2480205"/>
            <a:chExt cx="9926181" cy="328381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F5BF6656-8F60-ACF7-A2C2-09A67E7D76D9}"/>
                </a:ext>
              </a:extLst>
            </p:cNvPr>
            <p:cNvSpPr/>
            <p:nvPr/>
          </p:nvSpPr>
          <p:spPr>
            <a:xfrm>
              <a:off x="1859972" y="2480205"/>
              <a:ext cx="9926181" cy="3002870"/>
            </a:xfrm>
            <a:prstGeom prst="roundRect">
              <a:avLst>
                <a:gd name="adj" fmla="val 2401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92B93ED-1C49-3DD0-773C-22B90C86643B}"/>
                </a:ext>
              </a:extLst>
            </p:cNvPr>
            <p:cNvSpPr txBox="1"/>
            <p:nvPr/>
          </p:nvSpPr>
          <p:spPr>
            <a:xfrm>
              <a:off x="1859972" y="2845725"/>
              <a:ext cx="9786222" cy="2918299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创建一个用户组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, </a:t>
              </a:r>
              <a:r>
                <a:rPr lang="zh-CN" altLang="en-US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组名就叫</a:t>
              </a:r>
              <a:r>
                <a:rPr lang="en-US" altLang="zh-CN" sz="1400" b="0">
                  <a:solidFill>
                    <a:schemeClr val="tx1">
                      <a:lumMod val="40000"/>
                      <a:lumOff val="60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groupadd mysql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创建一个系统用户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mysql,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并归属于用户组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useradd -r -g mysql -s /bin/false mysql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初始化</a:t>
              </a:r>
              <a:r>
                <a:rPr lang="en-US" altLang="zh-CN" sz="1400" b="0">
                  <a:solidFill>
                    <a:schemeClr val="bg1">
                      <a:lumMod val="65000"/>
                    </a:schemeClr>
                  </a:solidFill>
                  <a:effectLst/>
                  <a:latin typeface="Source code pro" panose="020B0509030403020204" pitchFamily="49" charset="0"/>
                </a:rPr>
                <a:t>mysql</a:t>
              </a:r>
              <a:endPara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mysqld --initialize --user=mysql --basedir=/usr/local/mysql --datadir=/usr/local/mysql/data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>
                <a:solidFill>
                  <a:schemeClr val="bg1"/>
                </a:solidFill>
                <a:latin typeface="Source code pro" panose="020B050903040302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[root@heima mysql]# </a:t>
              </a:r>
              <a:endParaRPr lang="en-US" altLang="zh-CN" sz="1400" b="0">
                <a:solidFill>
                  <a:schemeClr val="bg1">
                    <a:lumMod val="65000"/>
                  </a:schemeClr>
                </a:solidFill>
                <a:effectLst/>
                <a:latin typeface="Source code pro" panose="020B0509030403020204" pitchFamily="49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F6518D6-FB2E-EF6F-3C24-65172E86A21D}"/>
                </a:ext>
              </a:extLst>
            </p:cNvPr>
            <p:cNvSpPr/>
            <p:nvPr/>
          </p:nvSpPr>
          <p:spPr>
            <a:xfrm>
              <a:off x="1859972" y="2480205"/>
              <a:ext cx="9926181" cy="365520"/>
            </a:xfrm>
            <a:prstGeom prst="roundRect">
              <a:avLst>
                <a:gd name="adj" fmla="val 12810"/>
              </a:avLst>
            </a:prstGeom>
            <a:solidFill>
              <a:srgbClr val="002060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216000" bIns="45720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9922BFC-48A2-843D-057E-1BCBD849EC78}"/>
                </a:ext>
              </a:extLst>
            </p:cNvPr>
            <p:cNvGrpSpPr/>
            <p:nvPr/>
          </p:nvGrpSpPr>
          <p:grpSpPr>
            <a:xfrm>
              <a:off x="2016840" y="2577251"/>
              <a:ext cx="780463" cy="183269"/>
              <a:chOff x="2016840" y="2577251"/>
              <a:chExt cx="780463" cy="183269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2C09EA00-503A-737C-87EA-2967246DD2BA}"/>
                  </a:ext>
                </a:extLst>
              </p:cNvPr>
              <p:cNvSpPr/>
              <p:nvPr/>
            </p:nvSpPr>
            <p:spPr>
              <a:xfrm>
                <a:off x="2016840" y="2577253"/>
                <a:ext cx="183267" cy="183267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50356F7-236A-EE89-7044-5CCC6C7D3DFF}"/>
                  </a:ext>
                </a:extLst>
              </p:cNvPr>
              <p:cNvSpPr/>
              <p:nvPr/>
            </p:nvSpPr>
            <p:spPr>
              <a:xfrm>
                <a:off x="2315438" y="2577252"/>
                <a:ext cx="183267" cy="183267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9D740EC-A22A-71F9-C158-E432ACCE8248}"/>
                  </a:ext>
                </a:extLst>
              </p:cNvPr>
              <p:cNvSpPr/>
              <p:nvPr/>
            </p:nvSpPr>
            <p:spPr>
              <a:xfrm>
                <a:off x="2614036" y="2577251"/>
                <a:ext cx="183267" cy="183267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" name="爆炸形: 8 pt  21">
            <a:extLst>
              <a:ext uri="{FF2B5EF4-FFF2-40B4-BE49-F238E27FC236}">
                <a16:creationId xmlns:a16="http://schemas.microsoft.com/office/drawing/2014/main" id="{5BBB4AFF-EE01-6A9A-C7E8-84DA79143BE5}"/>
              </a:ext>
            </a:extLst>
          </p:cNvPr>
          <p:cNvSpPr/>
          <p:nvPr/>
        </p:nvSpPr>
        <p:spPr>
          <a:xfrm>
            <a:off x="4857742" y="4147510"/>
            <a:ext cx="2879928" cy="1845734"/>
          </a:xfrm>
          <a:prstGeom prst="irregularSeal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命令太太太多，记不住</a:t>
            </a:r>
          </a:p>
        </p:txBody>
      </p:sp>
      <p:sp>
        <p:nvSpPr>
          <p:cNvPr id="23" name="爆炸形: 8 pt  22">
            <a:extLst>
              <a:ext uri="{FF2B5EF4-FFF2-40B4-BE49-F238E27FC236}">
                <a16:creationId xmlns:a16="http://schemas.microsoft.com/office/drawing/2014/main" id="{090926A1-4F05-A75D-746C-C13FEAFCB83B}"/>
              </a:ext>
            </a:extLst>
          </p:cNvPr>
          <p:cNvSpPr/>
          <p:nvPr/>
        </p:nvSpPr>
        <p:spPr>
          <a:xfrm>
            <a:off x="7933246" y="1368461"/>
            <a:ext cx="2879928" cy="1845734"/>
          </a:xfrm>
          <a:prstGeom prst="irregularSeal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步骤太太太多，易出错</a:t>
            </a:r>
          </a:p>
        </p:txBody>
      </p:sp>
      <p:sp>
        <p:nvSpPr>
          <p:cNvPr id="24" name="爆炸形: 8 pt  23">
            <a:extLst>
              <a:ext uri="{FF2B5EF4-FFF2-40B4-BE49-F238E27FC236}">
                <a16:creationId xmlns:a16="http://schemas.microsoft.com/office/drawing/2014/main" id="{36BCFF11-5D72-21AE-2CDC-A68E44376814}"/>
              </a:ext>
            </a:extLst>
          </p:cNvPr>
          <p:cNvSpPr/>
          <p:nvPr/>
        </p:nvSpPr>
        <p:spPr>
          <a:xfrm>
            <a:off x="1852442" y="1398190"/>
            <a:ext cx="2879928" cy="1845734"/>
          </a:xfrm>
          <a:prstGeom prst="irregularSeal1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安装包哪里下载，找不到</a:t>
            </a:r>
          </a:p>
        </p:txBody>
      </p:sp>
    </p:spTree>
    <p:extLst>
      <p:ext uri="{BB962C8B-B14F-4D97-AF65-F5344CB8AC3E}">
        <p14:creationId xmlns:p14="http://schemas.microsoft.com/office/powerpoint/2010/main" val="444557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16D0C-B114-13E4-47B1-AC90FF6B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F543-E9E2-6075-E038-5D4D9328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如何解决？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E6D1739-8A7B-9B51-4D79-2349BBB0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515" y="1541220"/>
            <a:ext cx="3498969" cy="29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5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6DDE16-1BF7-5747-222C-689A53D107AD}"/>
              </a:ext>
            </a:extLst>
          </p:cNvPr>
          <p:cNvSpPr/>
          <p:nvPr/>
        </p:nvSpPr>
        <p:spPr>
          <a:xfrm>
            <a:off x="576196" y="1505104"/>
            <a:ext cx="11154686" cy="4914897"/>
          </a:xfrm>
          <a:prstGeom prst="roundRect">
            <a:avLst>
              <a:gd name="adj" fmla="val 2239"/>
            </a:avLst>
          </a:prstGeom>
          <a:solidFill>
            <a:srgbClr val="011C2F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2CDF6-BD7E-5A10-0FB4-80F4A5411885}"/>
              </a:ext>
            </a:extLst>
          </p:cNvPr>
          <p:cNvSpPr txBox="1"/>
          <p:nvPr/>
        </p:nvSpPr>
        <p:spPr>
          <a:xfrm>
            <a:off x="576198" y="1870623"/>
            <a:ext cx="2223653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[root@heima ~]#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B771860-0145-3929-B4F9-425155F2DF61}"/>
              </a:ext>
            </a:extLst>
          </p:cNvPr>
          <p:cNvSpPr/>
          <p:nvPr/>
        </p:nvSpPr>
        <p:spPr>
          <a:xfrm>
            <a:off x="576197" y="1505104"/>
            <a:ext cx="11154686" cy="365520"/>
          </a:xfrm>
          <a:prstGeom prst="roundRect">
            <a:avLst>
              <a:gd name="adj" fmla="val 42744"/>
            </a:avLst>
          </a:prstGeom>
          <a:solidFill>
            <a:srgbClr val="3C3D3F"/>
          </a:solidFill>
          <a:ln w="3175">
            <a:noFill/>
          </a:ln>
          <a:effectLst>
            <a:outerShdw blurRad="127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216000" bIns="45720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950BCC-385C-DBC2-88BF-3635BAF2530E}"/>
              </a:ext>
            </a:extLst>
          </p:cNvPr>
          <p:cNvGrpSpPr/>
          <p:nvPr/>
        </p:nvGrpSpPr>
        <p:grpSpPr>
          <a:xfrm>
            <a:off x="751685" y="1602150"/>
            <a:ext cx="873103" cy="183269"/>
            <a:chOff x="2016840" y="2577251"/>
            <a:chExt cx="780463" cy="183269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D15467F-DD41-76D0-EA18-CD27489F2808}"/>
                </a:ext>
              </a:extLst>
            </p:cNvPr>
            <p:cNvSpPr/>
            <p:nvPr/>
          </p:nvSpPr>
          <p:spPr>
            <a:xfrm>
              <a:off x="2016840" y="2577253"/>
              <a:ext cx="183267" cy="183267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  <a:effectLst>
              <a:innerShdw blurRad="25400">
                <a:prstClr val="black">
                  <a:alpha val="6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D6B78AA-DF37-2C58-DB67-FFE7F986F38A}"/>
                </a:ext>
              </a:extLst>
            </p:cNvPr>
            <p:cNvSpPr/>
            <p:nvPr/>
          </p:nvSpPr>
          <p:spPr>
            <a:xfrm>
              <a:off x="2315438" y="2577252"/>
              <a:ext cx="183267" cy="183267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  <a:effectLst>
              <a:innerShdw blurRad="25400">
                <a:prstClr val="black">
                  <a:alpha val="6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E958D24-D341-C62F-338A-ABBD03114FD1}"/>
                </a:ext>
              </a:extLst>
            </p:cNvPr>
            <p:cNvSpPr/>
            <p:nvPr/>
          </p:nvSpPr>
          <p:spPr>
            <a:xfrm>
              <a:off x="2614036" y="2577251"/>
              <a:ext cx="183267" cy="183267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  <a:effectLst>
              <a:innerShdw blurRad="25400">
                <a:prstClr val="black">
                  <a:alpha val="6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B526025-6486-8515-BC42-E656500F9FE3}"/>
              </a:ext>
            </a:extLst>
          </p:cNvPr>
          <p:cNvSpPr txBox="1"/>
          <p:nvPr/>
        </p:nvSpPr>
        <p:spPr>
          <a:xfrm>
            <a:off x="2277749" y="1870623"/>
            <a:ext cx="860540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docker run </a:t>
            </a:r>
            <a:r>
              <a:rPr lang="en-US" altLang="zh-CN" sz="1400" b="0">
                <a:solidFill>
                  <a:srgbClr val="129FDB"/>
                </a:solidFill>
                <a:effectLst/>
                <a:latin typeface="Source code pro" panose="020B0509030403020204" pitchFamily="49" charset="0"/>
              </a:rPr>
              <a:t>-d</a:t>
            </a: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sz="1400" b="0">
                <a:solidFill>
                  <a:srgbClr val="129FDB"/>
                </a:solidFill>
                <a:effectLst/>
                <a:latin typeface="Source code pro" panose="020B0509030403020204" pitchFamily="49" charset="0"/>
              </a:rPr>
              <a:t>--name</a:t>
            </a: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 mysql </a:t>
            </a:r>
            <a:r>
              <a:rPr lang="en-US" altLang="zh-CN" sz="1400" b="0">
                <a:solidFill>
                  <a:srgbClr val="129FDB"/>
                </a:solidFill>
                <a:effectLst/>
                <a:latin typeface="Source code pro" panose="020B0509030403020204" pitchFamily="49" charset="0"/>
              </a:rPr>
              <a:t>-p</a:t>
            </a: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 3307:3306 </a:t>
            </a:r>
            <a:r>
              <a:rPr lang="en-US" altLang="zh-CN" sz="1400" b="0">
                <a:solidFill>
                  <a:srgbClr val="129FDB"/>
                </a:solidFill>
                <a:effectLst/>
                <a:latin typeface="Source code pro" panose="020B0509030403020204" pitchFamily="49" charset="0"/>
              </a:rPr>
              <a:t>-e </a:t>
            </a: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MYSQL_ROOT_PASSWORD=123 mysql:8</a:t>
            </a:r>
          </a:p>
        </p:txBody>
      </p:sp>
      <p:sp>
        <p:nvSpPr>
          <p:cNvPr id="20" name="PA-文本框 5">
            <a:extLst>
              <a:ext uri="{FF2B5EF4-FFF2-40B4-BE49-F238E27FC236}">
                <a16:creationId xmlns:a16="http://schemas.microsoft.com/office/drawing/2014/main" id="{43E1C6A8-48DE-A831-19E0-0DA94D6C3F1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66030" y="1865045"/>
            <a:ext cx="78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bg1"/>
                </a:solidFill>
                <a:latin typeface="+mn-lt"/>
                <a:ea typeface="+mn-ea"/>
              </a:rPr>
              <a:t>|</a:t>
            </a:r>
            <a:endParaRPr lang="zh-CN" altLang="en-US" sz="16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7A4A4C-9F9E-9D89-D2AD-AC372B085801}"/>
              </a:ext>
            </a:extLst>
          </p:cNvPr>
          <p:cNvSpPr txBox="1"/>
          <p:nvPr/>
        </p:nvSpPr>
        <p:spPr>
          <a:xfrm>
            <a:off x="601954" y="2145358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Unable to find image 'mysql:latest' locally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D8FB82-B97F-C607-3154-73C6577F3701}"/>
              </a:ext>
            </a:extLst>
          </p:cNvPr>
          <p:cNvSpPr txBox="1"/>
          <p:nvPr/>
        </p:nvSpPr>
        <p:spPr>
          <a:xfrm>
            <a:off x="601954" y="2390759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latest: Pulling from library/mysql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EB55A0-ECD3-3449-7AD3-C46CC7ABCA20}"/>
              </a:ext>
            </a:extLst>
          </p:cNvPr>
          <p:cNvSpPr txBox="1"/>
          <p:nvPr/>
        </p:nvSpPr>
        <p:spPr>
          <a:xfrm>
            <a:off x="601954" y="2636160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72a69066d2fe: Pull complete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54E0C0-EE19-CC4B-604B-D9DF3D1C2064}"/>
              </a:ext>
            </a:extLst>
          </p:cNvPr>
          <p:cNvSpPr txBox="1"/>
          <p:nvPr/>
        </p:nvSpPr>
        <p:spPr>
          <a:xfrm>
            <a:off x="601954" y="2881561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93619dbc5b36: Pull complete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1DEEC3C-CA19-4F91-12DB-E43FED7683C1}"/>
              </a:ext>
            </a:extLst>
          </p:cNvPr>
          <p:cNvSpPr txBox="1"/>
          <p:nvPr/>
        </p:nvSpPr>
        <p:spPr>
          <a:xfrm>
            <a:off x="601954" y="3126962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99da31dd6142: Pull complete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864D96-FA7B-A69D-D2DD-B74D5A3F4B32}"/>
              </a:ext>
            </a:extLst>
          </p:cNvPr>
          <p:cNvSpPr txBox="1"/>
          <p:nvPr/>
        </p:nvSpPr>
        <p:spPr>
          <a:xfrm>
            <a:off x="601954" y="3372363"/>
            <a:ext cx="5234334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0">
                <a:solidFill>
                  <a:schemeClr val="bg1"/>
                </a:solidFill>
                <a:effectLst/>
                <a:latin typeface="Source code pro" panose="020B0509030403020204" pitchFamily="49" charset="0"/>
              </a:rPr>
              <a:t>626033c43d70: Pull complete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2106E8-99C3-6B91-776B-863EA3CE2E8A}"/>
              </a:ext>
            </a:extLst>
          </p:cNvPr>
          <p:cNvSpPr txBox="1"/>
          <p:nvPr/>
        </p:nvSpPr>
        <p:spPr>
          <a:xfrm>
            <a:off x="601954" y="3617764"/>
            <a:ext cx="7093190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>
                <a:solidFill>
                  <a:schemeClr val="bg1"/>
                </a:solidFill>
                <a:latin typeface="Source code pro" panose="020B0509030403020204" pitchFamily="49" charset="0"/>
              </a:rPr>
              <a:t>Status: Downloaded newer image for mysql:latest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3CC822-4CC7-97E0-570E-D89B80862045}"/>
              </a:ext>
            </a:extLst>
          </p:cNvPr>
          <p:cNvSpPr txBox="1"/>
          <p:nvPr/>
        </p:nvSpPr>
        <p:spPr>
          <a:xfrm>
            <a:off x="601953" y="3863165"/>
            <a:ext cx="8903887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>
                <a:solidFill>
                  <a:schemeClr val="bg1"/>
                </a:solidFill>
                <a:latin typeface="Source code pro" panose="020B0509030403020204" pitchFamily="49" charset="0"/>
              </a:rPr>
              <a:t>a6cec8ff4765ca0876d0453f3ccab205fca29b5dce74f8cfbad8d76571bf79be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3FD6045-A051-A671-42C7-99EBD76B6248}"/>
              </a:ext>
            </a:extLst>
          </p:cNvPr>
          <p:cNvSpPr txBox="1"/>
          <p:nvPr/>
        </p:nvSpPr>
        <p:spPr>
          <a:xfrm>
            <a:off x="589074" y="4142125"/>
            <a:ext cx="8903887" cy="332976"/>
          </a:xfrm>
          <a:prstGeom prst="rect">
            <a:avLst/>
          </a:prstGeom>
          <a:noFill/>
        </p:spPr>
        <p:txBody>
          <a:bodyPr wrap="square" lIns="217440" tIns="45720" rIns="21600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>
                <a:solidFill>
                  <a:schemeClr val="bg1"/>
                </a:solidFill>
                <a:latin typeface="Source code pro" panose="020B0509030403020204" pitchFamily="49" charset="0"/>
              </a:rPr>
              <a:t>[root@heima ~]#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1ED38F2-D584-0B23-140E-219CD9383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590" y="4862365"/>
            <a:ext cx="1749485" cy="145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5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"/>
                            </p:stCondLst>
                            <p:childTnLst>
                              <p:par>
                                <p:cTn id="14" presetID="1" presetClass="exit" presetSubtype="0" fill="hold" grpId="3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" presetClass="entr" presetSubtype="0" fill="hold" grpId="4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3" presetClass="pat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22222E-6 L 0.60807 0.00023 " pathEditMode="relative" rAng="0" ptsTypes="AA">
                                      <p:cBhvr>
                                        <p:cTn id="20" dur="1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04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5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71"/>
                            </p:stCondLst>
                            <p:childTnLst>
                              <p:par>
                                <p:cTn id="24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71"/>
                            </p:stCondLst>
                            <p:childTnLst>
                              <p:par>
                                <p:cTn id="27" presetID="1" presetClass="exit" presetSubtype="0" fill="hold" grpId="7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971"/>
                            </p:stCondLst>
                            <p:childTnLst>
                              <p:par>
                                <p:cTn id="30" presetID="1" presetClass="entr" presetSubtype="0" fill="hold" grpId="8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1"/>
                            </p:stCondLst>
                            <p:childTnLst>
                              <p:par>
                                <p:cTn id="33" presetID="1" presetClass="exit" presetSubtype="0" fill="hold" grpId="9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71"/>
                            </p:stCondLst>
                            <p:childTnLst>
                              <p:par>
                                <p:cTn id="36" presetID="1" presetClass="entr" presetSubtype="0" fill="hold" grpId="1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21"/>
                            </p:stCondLst>
                            <p:childTnLst>
                              <p:par>
                                <p:cTn id="39" presetID="1" presetClass="exit" presetSubtype="0" fill="hold" grpId="1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971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371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71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171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71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971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371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771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171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2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0" grpId="2"/>
      <p:bldP spid="20" grpId="3"/>
      <p:bldP spid="20" grpId="4"/>
      <p:bldP spid="20" grpId="5"/>
      <p:bldP spid="20" grpId="6"/>
      <p:bldP spid="20" grpId="7"/>
      <p:bldP spid="20" grpId="8"/>
      <p:bldP spid="20" grpId="9"/>
      <p:bldP spid="20" grpId="10"/>
      <p:bldP spid="20" grpId="11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6DED4-C3F6-F2F1-7E05-58B69429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485CE5-9420-B79F-3B12-6B498FE9D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456" y="1469621"/>
            <a:ext cx="2359085" cy="1959379"/>
          </a:xfrm>
          <a:prstGeom prst="rect">
            <a:avLst/>
          </a:prstGeom>
        </p:spPr>
      </p:pic>
      <p:sp>
        <p:nvSpPr>
          <p:cNvPr id="4" name="文本占位符 2">
            <a:extLst>
              <a:ext uri="{FF2B5EF4-FFF2-40B4-BE49-F238E27FC236}">
                <a16:creationId xmlns:a16="http://schemas.microsoft.com/office/drawing/2014/main" id="{51A3AEF4-C0FF-1D33-558C-65C266822C79}"/>
              </a:ext>
            </a:extLst>
          </p:cNvPr>
          <p:cNvSpPr txBox="1">
            <a:spLocks/>
          </p:cNvSpPr>
          <p:nvPr/>
        </p:nvSpPr>
        <p:spPr>
          <a:xfrm>
            <a:off x="1323830" y="4251602"/>
            <a:ext cx="9242611" cy="6444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b="1">
                <a:solidFill>
                  <a:srgbClr val="C00000"/>
                </a:solidFill>
              </a:rPr>
              <a:t>快速</a:t>
            </a:r>
            <a:r>
              <a:rPr lang="zh-CN" altLang="en-US" sz="4800" b="1">
                <a:solidFill>
                  <a:schemeClr val="tx1">
                    <a:lumMod val="50000"/>
                  </a:schemeClr>
                </a:solidFill>
              </a:rPr>
              <a:t>构建、运行、管理应用的工具</a:t>
            </a:r>
          </a:p>
        </p:txBody>
      </p:sp>
    </p:spTree>
    <p:extLst>
      <p:ext uri="{BB962C8B-B14F-4D97-AF65-F5344CB8AC3E}">
        <p14:creationId xmlns:p14="http://schemas.microsoft.com/office/powerpoint/2010/main" val="1368041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D508A4-917E-96C4-3290-648499AB4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en-US" altLang="zh-CN"/>
              <a:t>Docker</a:t>
            </a:r>
            <a:r>
              <a:rPr lang="zh-CN" altLang="en-US"/>
              <a:t>核心</a:t>
            </a:r>
            <a:endParaRPr lang="en-US" altLang="zh-CN"/>
          </a:p>
          <a:p>
            <a:r>
              <a:rPr lang="zh-CN" altLang="en-US"/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36654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38E486-190D-C343-11AA-FDF95AD47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快速入门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6BD9EF-302B-93E7-90ED-161F06F0D1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5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MySQL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先停掉虚拟机中的</a:t>
            </a:r>
            <a:r>
              <a:rPr lang="en-US" altLang="zh-CN"/>
              <a:t>MySQL</a:t>
            </a:r>
            <a:r>
              <a:rPr lang="zh-CN" altLang="en-US"/>
              <a:t>，确保你的虚拟机已经安装</a:t>
            </a:r>
            <a:r>
              <a:rPr lang="en-US" altLang="zh-CN"/>
              <a:t>Docker</a:t>
            </a:r>
            <a:r>
              <a:rPr lang="zh-CN" altLang="en-US"/>
              <a:t>，且网络开通的情况下，执行下面命令即可安装</a:t>
            </a:r>
            <a:r>
              <a:rPr lang="en-US" altLang="zh-CN"/>
              <a:t>MySQL</a:t>
            </a:r>
            <a:r>
              <a:rPr lang="zh-CN" altLang="en-US"/>
              <a:t>：</a:t>
            </a:r>
            <a:endParaRPr lang="en-US" altLang="zh-CN"/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30157AEB-4624-42F6-5052-7476C440A567}"/>
              </a:ext>
            </a:extLst>
          </p:cNvPr>
          <p:cNvGrpSpPr/>
          <p:nvPr/>
        </p:nvGrpSpPr>
        <p:grpSpPr>
          <a:xfrm>
            <a:off x="986318" y="1576086"/>
            <a:ext cx="7667098" cy="2701321"/>
            <a:chOff x="2297721" y="3660322"/>
            <a:chExt cx="8525399" cy="260941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4573B14-2950-BCE0-3020-D1FA54134F3B}"/>
                </a:ext>
              </a:extLst>
            </p:cNvPr>
            <p:cNvSpPr/>
            <p:nvPr/>
          </p:nvSpPr>
          <p:spPr>
            <a:xfrm>
              <a:off x="2297722" y="3660322"/>
              <a:ext cx="8525398" cy="2609410"/>
            </a:xfrm>
            <a:prstGeom prst="roundRect">
              <a:avLst>
                <a:gd name="adj" fmla="val 2967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 run -d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--name mysql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-p 3307:3306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-e TZ=Asia/Shanghai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-e MYSQL_ROOT_PASSWORD=123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4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mysql:8</a:t>
              </a:r>
              <a:endParaRPr lang="en-US" altLang="zh-CN" sz="1400" b="0">
                <a:solidFill>
                  <a:schemeClr val="bg1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78F9F493-9C98-2A1C-5853-2377BDDAE8B1}"/>
                </a:ext>
              </a:extLst>
            </p:cNvPr>
            <p:cNvSpPr/>
            <p:nvPr/>
          </p:nvSpPr>
          <p:spPr>
            <a:xfrm>
              <a:off x="2297721" y="3660322"/>
              <a:ext cx="8525398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F4AD22C-FF31-8F6D-5A56-A1A53A23BC05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2E6A87A-81AE-D2F5-CB6D-A6A57EFAF434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6718FD5-A60E-0965-F624-F50BEE5E1AFA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922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镜像和容器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338724"/>
          </a:xfrm>
        </p:spPr>
        <p:txBody>
          <a:bodyPr/>
          <a:lstStyle/>
          <a:p>
            <a:r>
              <a:rPr lang="zh-CN" altLang="en-US"/>
              <a:t>当我们利用</a:t>
            </a:r>
            <a:r>
              <a:rPr lang="en-US" altLang="zh-CN"/>
              <a:t>Docker</a:t>
            </a:r>
            <a:r>
              <a:rPr lang="zh-CN" altLang="en-US"/>
              <a:t>安装应用时，</a:t>
            </a:r>
            <a:r>
              <a:rPr lang="en-US" altLang="zh-CN"/>
              <a:t>Docker</a:t>
            </a:r>
            <a:r>
              <a:rPr lang="zh-CN" altLang="en-US"/>
              <a:t>会自动搜索并下载应用</a:t>
            </a:r>
            <a:r>
              <a:rPr lang="zh-CN" altLang="en-US" b="1"/>
              <a:t>镜像（</a:t>
            </a:r>
            <a:r>
              <a:rPr lang="en-US" altLang="zh-CN" b="1"/>
              <a:t>image</a:t>
            </a:r>
            <a:r>
              <a:rPr lang="zh-CN" altLang="en-US" b="1"/>
              <a:t>）</a:t>
            </a:r>
            <a:r>
              <a:rPr lang="zh-CN" altLang="en-US"/>
              <a:t>。镜像不仅包含应用本身，还包含应用运行所需要的环境、配置、系统函数库。</a:t>
            </a:r>
            <a:r>
              <a:rPr lang="en-US" altLang="zh-CN"/>
              <a:t>Docker</a:t>
            </a:r>
            <a:r>
              <a:rPr lang="zh-CN" altLang="en-US"/>
              <a:t>会在运行镜像时创建一个隔离环境，称为</a:t>
            </a:r>
            <a:r>
              <a:rPr lang="zh-CN" altLang="en-US" b="1"/>
              <a:t>容器（</a:t>
            </a:r>
            <a:r>
              <a:rPr lang="en-US" altLang="zh-CN" b="1"/>
              <a:t>container</a:t>
            </a:r>
            <a:r>
              <a:rPr lang="zh-CN" altLang="en-US" b="1"/>
              <a:t>）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 b="1"/>
              <a:t>镜像仓库</a:t>
            </a:r>
            <a:r>
              <a:rPr lang="zh-CN" altLang="en-US"/>
              <a:t>：存储和管理镜像的平台，</a:t>
            </a:r>
            <a:r>
              <a:rPr lang="en-US" altLang="zh-CN"/>
              <a:t>Docker</a:t>
            </a:r>
            <a:r>
              <a:rPr lang="zh-CN" altLang="en-US"/>
              <a:t>官方维护了一个公共仓库：</a:t>
            </a:r>
            <a:r>
              <a:rPr lang="en-US" altLang="zh-CN">
                <a:hlinkClick r:id="rId3"/>
              </a:rPr>
              <a:t>Docker Hub</a:t>
            </a:r>
            <a:r>
              <a:rPr lang="zh-CN" altLang="en-US"/>
              <a:t>。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CFB57D9-9DA8-FC81-C5D6-D7F27A6345D7}"/>
              </a:ext>
            </a:extLst>
          </p:cNvPr>
          <p:cNvSpPr/>
          <p:nvPr/>
        </p:nvSpPr>
        <p:spPr>
          <a:xfrm>
            <a:off x="3787335" y="3122699"/>
            <a:ext cx="4150659" cy="2761129"/>
          </a:xfrm>
          <a:prstGeom prst="roundRect">
            <a:avLst>
              <a:gd name="adj" fmla="val 739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A3EF0AD-8AF7-AD2B-6806-34C9A0A4037F}"/>
              </a:ext>
            </a:extLst>
          </p:cNvPr>
          <p:cNvSpPr/>
          <p:nvPr/>
        </p:nvSpPr>
        <p:spPr>
          <a:xfrm>
            <a:off x="4150659" y="3330388"/>
            <a:ext cx="3451412" cy="76648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应用软件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B11755C-6CD1-DEBE-2BA5-825E1E1270B6}"/>
              </a:ext>
            </a:extLst>
          </p:cNvPr>
          <p:cNvSpPr/>
          <p:nvPr/>
        </p:nvSpPr>
        <p:spPr>
          <a:xfrm>
            <a:off x="4150659" y="4186516"/>
            <a:ext cx="1075765" cy="1497107"/>
          </a:xfrm>
          <a:prstGeom prst="roundRect">
            <a:avLst>
              <a:gd name="adj" fmla="val 1159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运行环境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721A018-14EC-4419-C7DB-98F22F7EE9DE}"/>
              </a:ext>
            </a:extLst>
          </p:cNvPr>
          <p:cNvSpPr/>
          <p:nvPr/>
        </p:nvSpPr>
        <p:spPr>
          <a:xfrm>
            <a:off x="5324783" y="4186516"/>
            <a:ext cx="1075765" cy="1497107"/>
          </a:xfrm>
          <a:prstGeom prst="roundRect">
            <a:avLst>
              <a:gd name="adj" fmla="val 1159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配置文件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861C454-57DB-B9D6-194A-8F5DC741E034}"/>
              </a:ext>
            </a:extLst>
          </p:cNvPr>
          <p:cNvSpPr/>
          <p:nvPr/>
        </p:nvSpPr>
        <p:spPr>
          <a:xfrm>
            <a:off x="6526306" y="4186516"/>
            <a:ext cx="1075765" cy="1497107"/>
          </a:xfrm>
          <a:prstGeom prst="roundRect">
            <a:avLst>
              <a:gd name="adj" fmla="val 1159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函数库</a:t>
            </a:r>
          </a:p>
        </p:txBody>
      </p:sp>
      <p:pic>
        <p:nvPicPr>
          <p:cNvPr id="37" name="!!PA-图片 64">
            <a:extLst>
              <a:ext uri="{FF2B5EF4-FFF2-40B4-BE49-F238E27FC236}">
                <a16:creationId xmlns:a16="http://schemas.microsoft.com/office/drawing/2014/main" id="{46D7D0AD-5689-995C-D01D-F75B6B489D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485" y="3153570"/>
            <a:ext cx="2699386" cy="269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 animBg="1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A8EB-39F4-46C7-0013-4A8E79D0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679CC-43E4-7F8D-04B9-84AC4B55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镜像和容器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A6B31-B622-A8E7-F7B3-23D83B0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338724"/>
          </a:xfrm>
        </p:spPr>
        <p:txBody>
          <a:bodyPr/>
          <a:lstStyle/>
          <a:p>
            <a:r>
              <a:rPr lang="zh-CN" altLang="en-US"/>
              <a:t>当我们利用</a:t>
            </a:r>
            <a:r>
              <a:rPr lang="en-US" altLang="zh-CN"/>
              <a:t>Docker</a:t>
            </a:r>
            <a:r>
              <a:rPr lang="zh-CN" altLang="en-US"/>
              <a:t>安装应用时，</a:t>
            </a:r>
            <a:r>
              <a:rPr lang="en-US" altLang="zh-CN"/>
              <a:t>Docker</a:t>
            </a:r>
            <a:r>
              <a:rPr lang="zh-CN" altLang="en-US"/>
              <a:t>会自动搜索并下载应用</a:t>
            </a:r>
            <a:r>
              <a:rPr lang="zh-CN" altLang="en-US" b="1"/>
              <a:t>镜像（</a:t>
            </a:r>
            <a:r>
              <a:rPr lang="en-US" altLang="zh-CN" b="1"/>
              <a:t>image</a:t>
            </a:r>
            <a:r>
              <a:rPr lang="zh-CN" altLang="en-US" b="1"/>
              <a:t>）</a:t>
            </a:r>
            <a:r>
              <a:rPr lang="zh-CN" altLang="en-US"/>
              <a:t>。镜像不仅包含应用本身，还包含应用运行所需要的环境、配置、系统函数库。</a:t>
            </a:r>
            <a:r>
              <a:rPr lang="en-US" altLang="zh-CN"/>
              <a:t>Docker</a:t>
            </a:r>
            <a:r>
              <a:rPr lang="zh-CN" altLang="en-US"/>
              <a:t>会在运行镜像时创建一个隔离环境，称为</a:t>
            </a:r>
            <a:r>
              <a:rPr lang="zh-CN" altLang="en-US" b="1"/>
              <a:t>容器（</a:t>
            </a:r>
            <a:r>
              <a:rPr lang="en-US" altLang="zh-CN" b="1"/>
              <a:t>container</a:t>
            </a:r>
            <a:r>
              <a:rPr lang="zh-CN" altLang="en-US" b="1"/>
              <a:t>）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 b="1"/>
              <a:t>镜像仓库</a:t>
            </a:r>
            <a:r>
              <a:rPr lang="zh-CN" altLang="en-US"/>
              <a:t>：存储和管理镜像的平台，</a:t>
            </a:r>
            <a:r>
              <a:rPr lang="en-US" altLang="zh-CN"/>
              <a:t>Docker</a:t>
            </a:r>
            <a:r>
              <a:rPr lang="zh-CN" altLang="en-US"/>
              <a:t>官方维护了一个公共仓库：</a:t>
            </a:r>
            <a:r>
              <a:rPr lang="en-US" altLang="zh-CN">
                <a:hlinkClick r:id="rId5"/>
              </a:rPr>
              <a:t>Docker Hub</a:t>
            </a:r>
            <a:r>
              <a:rPr lang="zh-CN" altLang="en-US"/>
              <a:t>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65466F-A486-06E8-1FDC-9A03274AF020}"/>
              </a:ext>
            </a:extLst>
          </p:cNvPr>
          <p:cNvGrpSpPr/>
          <p:nvPr/>
        </p:nvGrpSpPr>
        <p:grpSpPr>
          <a:xfrm>
            <a:off x="8461015" y="3002280"/>
            <a:ext cx="2161309" cy="1901538"/>
            <a:chOff x="893618" y="3106880"/>
            <a:chExt cx="2161309" cy="1901538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6DBC13D-BA4D-C930-B009-FE64FA1AC377}"/>
                </a:ext>
              </a:extLst>
            </p:cNvPr>
            <p:cNvSpPr/>
            <p:nvPr/>
          </p:nvSpPr>
          <p:spPr>
            <a:xfrm>
              <a:off x="893618" y="3262745"/>
              <a:ext cx="2161309" cy="1745673"/>
            </a:xfrm>
            <a:prstGeom prst="rect">
              <a:avLst/>
            </a:prstGeom>
            <a:solidFill>
              <a:srgbClr val="EAF2F8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0C133ACC-44E4-1DC9-50BA-98BBEFDE7B06}"/>
                </a:ext>
              </a:extLst>
            </p:cNvPr>
            <p:cNvSpPr/>
            <p:nvPr/>
          </p:nvSpPr>
          <p:spPr>
            <a:xfrm>
              <a:off x="893618" y="3106880"/>
              <a:ext cx="918540" cy="29715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镜像仓库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8BEFC10-4EF8-116B-3C72-5B29D0CED5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936" y="2647328"/>
            <a:ext cx="971693" cy="971693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3832B35F-F5FA-4B3F-7483-49063CA09A1D}"/>
              </a:ext>
            </a:extLst>
          </p:cNvPr>
          <p:cNvGrpSpPr/>
          <p:nvPr/>
        </p:nvGrpSpPr>
        <p:grpSpPr>
          <a:xfrm>
            <a:off x="3933366" y="3002000"/>
            <a:ext cx="3803073" cy="3331295"/>
            <a:chOff x="893618" y="3131850"/>
            <a:chExt cx="3803073" cy="3331295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0774B95-C684-B32D-2388-A6B02C203A45}"/>
                </a:ext>
              </a:extLst>
            </p:cNvPr>
            <p:cNvSpPr/>
            <p:nvPr/>
          </p:nvSpPr>
          <p:spPr>
            <a:xfrm>
              <a:off x="893618" y="3262745"/>
              <a:ext cx="3803073" cy="3200400"/>
            </a:xfrm>
            <a:prstGeom prst="rect">
              <a:avLst/>
            </a:prstGeom>
            <a:solidFill>
              <a:srgbClr val="EAF2F8"/>
            </a:solidFill>
            <a:ln>
              <a:solidFill>
                <a:srgbClr val="215968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8A7E1BA-6251-5536-509F-E792F9D9584C}"/>
                </a:ext>
              </a:extLst>
            </p:cNvPr>
            <p:cNvSpPr/>
            <p:nvPr/>
          </p:nvSpPr>
          <p:spPr>
            <a:xfrm>
              <a:off x="893618" y="3131850"/>
              <a:ext cx="1465117" cy="29715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2159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 Server</a:t>
              </a:r>
              <a:endParaRPr lang="zh-CN" altLang="en-US" sz="14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F6226DB-7F7B-F56D-23BE-5D984CE9E3E1}"/>
              </a:ext>
            </a:extLst>
          </p:cNvPr>
          <p:cNvGrpSpPr/>
          <p:nvPr/>
        </p:nvGrpSpPr>
        <p:grpSpPr>
          <a:xfrm>
            <a:off x="4097541" y="3943206"/>
            <a:ext cx="1455963" cy="2134920"/>
            <a:chOff x="893618" y="3106880"/>
            <a:chExt cx="1455963" cy="2054384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5A64440-5B97-8AF7-0FCA-31C3D85A90D3}"/>
                </a:ext>
              </a:extLst>
            </p:cNvPr>
            <p:cNvSpPr/>
            <p:nvPr/>
          </p:nvSpPr>
          <p:spPr>
            <a:xfrm>
              <a:off x="893618" y="3249385"/>
              <a:ext cx="1455963" cy="1911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946D5EA-4E9A-31E8-3517-E6D014803F6E}"/>
                </a:ext>
              </a:extLst>
            </p:cNvPr>
            <p:cNvSpPr/>
            <p:nvPr/>
          </p:nvSpPr>
          <p:spPr>
            <a:xfrm>
              <a:off x="893618" y="3106880"/>
              <a:ext cx="1081486" cy="32212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721A868-15B6-CCA7-4BBF-E0ACCE9E19DF}"/>
              </a:ext>
            </a:extLst>
          </p:cNvPr>
          <p:cNvGrpSpPr/>
          <p:nvPr/>
        </p:nvGrpSpPr>
        <p:grpSpPr>
          <a:xfrm>
            <a:off x="6134253" y="3943206"/>
            <a:ext cx="1455963" cy="2134920"/>
            <a:chOff x="893618" y="3106880"/>
            <a:chExt cx="1455963" cy="2248883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D5A6D74-DF5A-B6F6-C105-4AA17A5956DA}"/>
                </a:ext>
              </a:extLst>
            </p:cNvPr>
            <p:cNvSpPr/>
            <p:nvPr/>
          </p:nvSpPr>
          <p:spPr>
            <a:xfrm>
              <a:off x="893618" y="3262745"/>
              <a:ext cx="1455963" cy="209301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EE7FEDE-2EAE-1D18-D268-D69386BFE370}"/>
                </a:ext>
              </a:extLst>
            </p:cNvPr>
            <p:cNvSpPr/>
            <p:nvPr/>
          </p:nvSpPr>
          <p:spPr>
            <a:xfrm>
              <a:off x="893618" y="3106880"/>
              <a:ext cx="1081486" cy="32212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images</a:t>
              </a:r>
              <a:endParaRPr lang="zh-CN" altLang="en-US" sz="14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96EE1DE-4813-1DD8-61E7-D79654FE4290}"/>
              </a:ext>
            </a:extLst>
          </p:cNvPr>
          <p:cNvSpPr/>
          <p:nvPr/>
        </p:nvSpPr>
        <p:spPr>
          <a:xfrm>
            <a:off x="4139832" y="3381302"/>
            <a:ext cx="3330429" cy="212927"/>
          </a:xfrm>
          <a:prstGeom prst="roundRect">
            <a:avLst/>
          </a:prstGeom>
          <a:solidFill>
            <a:srgbClr val="49504F"/>
          </a:solidFill>
          <a:ln>
            <a:solidFill>
              <a:srgbClr val="215968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daemon </a:t>
            </a:r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守护进程</a:t>
            </a: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4BEA61F2-F058-FE26-731D-CD5D612D32C2}"/>
              </a:ext>
            </a:extLst>
          </p:cNvPr>
          <p:cNvCxnSpPr>
            <a:cxnSpLocks/>
          </p:cNvCxnSpPr>
          <p:nvPr/>
        </p:nvCxnSpPr>
        <p:spPr>
          <a:xfrm rot="10800000">
            <a:off x="5150934" y="4728768"/>
            <a:ext cx="1279554" cy="301828"/>
          </a:xfrm>
          <a:prstGeom prst="curvedConnector3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72A6F0DB-F215-BB2B-F421-FAB0BC49D8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414121" y="4365765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E1EC70C-8749-5787-D487-DB86B415D3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414121" y="4903538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74BBD73-F64C-3552-AD21-42DCE1FACB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428126" y="5429546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AFCD13DF-530B-CB27-23CE-36AD93081345}"/>
              </a:ext>
            </a:extLst>
          </p:cNvPr>
          <p:cNvGrpSpPr/>
          <p:nvPr/>
        </p:nvGrpSpPr>
        <p:grpSpPr>
          <a:xfrm>
            <a:off x="1147618" y="3002000"/>
            <a:ext cx="2161309" cy="1901538"/>
            <a:chOff x="893618" y="3106880"/>
            <a:chExt cx="2161309" cy="1901538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1B4CE7E-9A69-CBA2-EDC3-46A5A131C7ED}"/>
                </a:ext>
              </a:extLst>
            </p:cNvPr>
            <p:cNvSpPr/>
            <p:nvPr/>
          </p:nvSpPr>
          <p:spPr>
            <a:xfrm>
              <a:off x="893618" y="3262745"/>
              <a:ext cx="2161309" cy="1745673"/>
            </a:xfrm>
            <a:prstGeom prst="rect">
              <a:avLst/>
            </a:prstGeom>
            <a:solidFill>
              <a:srgbClr val="EAF2F8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816A6371-57B6-B104-5E4B-E5DD593011DB}"/>
                </a:ext>
              </a:extLst>
            </p:cNvPr>
            <p:cNvSpPr/>
            <p:nvPr/>
          </p:nvSpPr>
          <p:spPr>
            <a:xfrm>
              <a:off x="893618" y="3106880"/>
              <a:ext cx="696191" cy="32212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Client</a:t>
              </a:r>
              <a:endParaRPr lang="zh-CN" altLang="en-US" sz="14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E12CE97-7E7F-23F3-64A8-7431DEAEB409}"/>
              </a:ext>
            </a:extLst>
          </p:cNvPr>
          <p:cNvSpPr/>
          <p:nvPr/>
        </p:nvSpPr>
        <p:spPr>
          <a:xfrm>
            <a:off x="1485305" y="3558744"/>
            <a:ext cx="1451418" cy="27210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</a:t>
            </a:r>
            <a:endParaRPr lang="zh-CN" altLang="en-US" sz="1400">
              <a:solidFill>
                <a:schemeClr val="tx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9" name="连接符: 肘形 59">
            <a:extLst>
              <a:ext uri="{FF2B5EF4-FFF2-40B4-BE49-F238E27FC236}">
                <a16:creationId xmlns:a16="http://schemas.microsoft.com/office/drawing/2014/main" id="{860B9DBC-1AB6-AD25-8126-2223F333B015}"/>
              </a:ext>
            </a:extLst>
          </p:cNvPr>
          <p:cNvCxnSpPr>
            <a:stCxn id="28" idx="3"/>
            <a:endCxn id="20" idx="1"/>
          </p:cNvCxnSpPr>
          <p:nvPr/>
        </p:nvCxnSpPr>
        <p:spPr>
          <a:xfrm flipV="1">
            <a:off x="2936723" y="3487766"/>
            <a:ext cx="1203109" cy="207032"/>
          </a:xfrm>
          <a:prstGeom prst="curvedConnector3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连接符: 肘形 61">
            <a:extLst>
              <a:ext uri="{FF2B5EF4-FFF2-40B4-BE49-F238E27FC236}">
                <a16:creationId xmlns:a16="http://schemas.microsoft.com/office/drawing/2014/main" id="{230BEC49-A31B-23F3-EE13-2F42D25F7C3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470261" y="3487766"/>
            <a:ext cx="1123623" cy="237358"/>
          </a:xfrm>
          <a:prstGeom prst="curvedConnector3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1" name="PA-图片 64">
            <a:extLst>
              <a:ext uri="{FF2B5EF4-FFF2-40B4-BE49-F238E27FC236}">
                <a16:creationId xmlns:a16="http://schemas.microsoft.com/office/drawing/2014/main" id="{F71C4F3B-9E50-2EF1-784F-E291082C346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802" y="3287918"/>
            <a:ext cx="710119" cy="710119"/>
          </a:xfrm>
          <a:prstGeom prst="rect">
            <a:avLst/>
          </a:prstGeom>
        </p:spPr>
      </p:pic>
      <p:cxnSp>
        <p:nvCxnSpPr>
          <p:cNvPr id="32" name="PA-连接符: 肘形 66">
            <a:extLst>
              <a:ext uri="{FF2B5EF4-FFF2-40B4-BE49-F238E27FC236}">
                <a16:creationId xmlns:a16="http://schemas.microsoft.com/office/drawing/2014/main" id="{B86A9781-D04D-3538-7882-A28C39B48546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rot="10800000" flipV="1">
            <a:off x="7307720" y="3772054"/>
            <a:ext cx="1252453" cy="1131481"/>
          </a:xfrm>
          <a:prstGeom prst="curvedConnector3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AA1B4746-F2E5-2D42-944B-90F4A3C7D7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12182" y="5030596"/>
            <a:ext cx="1237818" cy="233784"/>
          </a:xfrm>
          <a:prstGeom prst="curvedConnector3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5EFE23C0-F578-C048-A1BB-CD4E8ADB0F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33364" y="5030595"/>
            <a:ext cx="1297125" cy="723154"/>
          </a:xfrm>
          <a:prstGeom prst="curvedConnector3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0B40D7-D508-E025-73C8-F95802AE1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645" y="4006744"/>
            <a:ext cx="723296" cy="72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!!PA-图片 64">
            <a:extLst>
              <a:ext uri="{FF2B5EF4-FFF2-40B4-BE49-F238E27FC236}">
                <a16:creationId xmlns:a16="http://schemas.microsoft.com/office/drawing/2014/main" id="{D1AB9D85-7656-1FDF-30BC-A8AB78BEFFE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802" y="3287918"/>
            <a:ext cx="710119" cy="71011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C21ABE6-F0FF-B0E5-DAAF-C922757E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859" y="3976147"/>
            <a:ext cx="723296" cy="72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34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19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20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accel="20000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36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37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38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48148E-6 C -0.02005 -0.00185 -0.03984 -0.00347 -0.05273 0.00301 C -0.06563 0.00926 -0.07096 0.01736 -0.07773 0.03842 C -0.08438 0.05972 -0.0832 0.10879 -0.09349 0.13032 C -0.10404 0.15185 -0.12656 0.16111 -0.14023 0.16736 C -0.15391 0.17361 -0.18958 0.18981 -0.2 0.1868 " pathEditMode="relative" rAng="0" ptsTypes="AAAAAA">
                                      <p:cBhvr from="" to=""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673A5-08C3-3B28-1BD0-58F7771962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3415" y="1084189"/>
            <a:ext cx="7782025" cy="4689621"/>
          </a:xfrm>
        </p:spPr>
        <p:txBody>
          <a:bodyPr/>
          <a:lstStyle/>
          <a:p>
            <a:r>
              <a:rPr lang="en-US" altLang="zh-CN" sz="1800"/>
              <a:t>1. </a:t>
            </a:r>
            <a:r>
              <a:rPr lang="zh-CN" altLang="en-US" sz="1800"/>
              <a:t>什么是镜像？</a:t>
            </a:r>
            <a:endParaRPr lang="en-US" altLang="zh-CN" sz="1800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将应用所需的运行环境、配置文件、系统函数库等与应用一起打包得到的就是镜像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800"/>
              <a:t>2. </a:t>
            </a:r>
            <a:r>
              <a:rPr lang="zh-CN" altLang="en-US" sz="1800"/>
              <a:t>什么是容器</a:t>
            </a:r>
            <a:r>
              <a:rPr lang="en-US" altLang="zh-CN" sz="1800"/>
              <a:t>?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为每个镜像的应用进程创建的隔离运行环境就是容器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800"/>
              <a:t>3. </a:t>
            </a:r>
            <a:r>
              <a:rPr lang="zh-CN" altLang="en-US" sz="1800"/>
              <a:t>什么是镜像仓库</a:t>
            </a:r>
            <a:r>
              <a:rPr lang="en-US" altLang="zh-CN" sz="1800"/>
              <a:t>?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存储和管理镜像的平台就是镜像仓库</a:t>
            </a:r>
            <a:endParaRPr lang="en-US" altLang="zh-CN" sz="1400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DockerHub</a:t>
            </a:r>
            <a:r>
              <a:rPr lang="zh-CN" altLang="en-US" sz="1400"/>
              <a:t>是目前最大的镜像仓库，其中包含各种常见的应用镜像</a:t>
            </a:r>
          </a:p>
        </p:txBody>
      </p:sp>
    </p:spTree>
    <p:extLst>
      <p:ext uri="{BB962C8B-B14F-4D97-AF65-F5344CB8AC3E}">
        <p14:creationId xmlns:p14="http://schemas.microsoft.com/office/powerpoint/2010/main" val="317885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29CE8150-FD1D-D8D5-E9F3-8AECDCAE9D96}"/>
              </a:ext>
            </a:extLst>
          </p:cNvPr>
          <p:cNvGrpSpPr/>
          <p:nvPr/>
        </p:nvGrpSpPr>
        <p:grpSpPr>
          <a:xfrm>
            <a:off x="10288644" y="4270738"/>
            <a:ext cx="1535254" cy="2327444"/>
            <a:chOff x="10010739" y="4252808"/>
            <a:chExt cx="1535254" cy="2327444"/>
          </a:xfrm>
        </p:grpSpPr>
        <p:sp>
          <p:nvSpPr>
            <p:cNvPr id="23" name="矩形: 对角圆角 22">
              <a:extLst>
                <a:ext uri="{FF2B5EF4-FFF2-40B4-BE49-F238E27FC236}">
                  <a16:creationId xmlns:a16="http://schemas.microsoft.com/office/drawing/2014/main" id="{91B5F7DF-55BE-6B09-3EDE-92F5F3CC4B13}"/>
                </a:ext>
              </a:extLst>
            </p:cNvPr>
            <p:cNvSpPr/>
            <p:nvPr/>
          </p:nvSpPr>
          <p:spPr>
            <a:xfrm>
              <a:off x="10010739" y="4252808"/>
              <a:ext cx="1533652" cy="2327444"/>
            </a:xfrm>
            <a:prstGeom prst="round2DiagRect">
              <a:avLst>
                <a:gd name="adj1" fmla="val 13744"/>
                <a:gd name="adj2" fmla="val 1286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E3C1B36B-E10C-6ECB-A648-4B4EF6C080B5}"/>
                </a:ext>
              </a:extLst>
            </p:cNvPr>
            <p:cNvSpPr/>
            <p:nvPr/>
          </p:nvSpPr>
          <p:spPr>
            <a:xfrm>
              <a:off x="10012341" y="4252808"/>
              <a:ext cx="1533652" cy="4198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200"/>
                <a:t>192.168.100.128</a:t>
              </a:r>
              <a:endParaRPr lang="zh-CN" altLang="en-US" sz="120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命令解读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89" y="4119663"/>
            <a:ext cx="5629636" cy="22183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docker run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：创建并运行一个容器，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-d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是让容器在后台运行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--name mysql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：给容器起个名字，必须唯一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-p 3307:3306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：设置端口映射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-e KEY=VALUE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：是设置环境变量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mysql:8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：指定运行的镜像的名字，版本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7114B34C-65DF-E56E-12C4-246E59C95B09}"/>
              </a:ext>
            </a:extLst>
          </p:cNvPr>
          <p:cNvGrpSpPr/>
          <p:nvPr/>
        </p:nvGrpSpPr>
        <p:grpSpPr>
          <a:xfrm>
            <a:off x="663588" y="971197"/>
            <a:ext cx="7667098" cy="2622041"/>
            <a:chOff x="2297721" y="3660322"/>
            <a:chExt cx="8525399" cy="23741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81608CC-C8C6-F2F9-4590-661F7F960A75}"/>
                </a:ext>
              </a:extLst>
            </p:cNvPr>
            <p:cNvSpPr/>
            <p:nvPr/>
          </p:nvSpPr>
          <p:spPr>
            <a:xfrm>
              <a:off x="2297722" y="3660323"/>
              <a:ext cx="8525398" cy="2374177"/>
            </a:xfrm>
            <a:prstGeom prst="roundRect">
              <a:avLst>
                <a:gd name="adj" fmla="val 2967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 run -d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--name mysql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-p 3307:3306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-e TZ=Asia/Shanghai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-e MYSQL_ROOT_PASSWORD=123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mysql:8</a:t>
              </a:r>
              <a:endParaRPr lang="en-US" altLang="zh-CN" sz="1200" b="0">
                <a:solidFill>
                  <a:schemeClr val="bg1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FE5CB52E-D418-181D-3472-5CEBB1D86B02}"/>
                </a:ext>
              </a:extLst>
            </p:cNvPr>
            <p:cNvSpPr/>
            <p:nvPr/>
          </p:nvSpPr>
          <p:spPr>
            <a:xfrm>
              <a:off x="2297721" y="3660322"/>
              <a:ext cx="8525398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B4DD654-D768-3410-22D1-1259ECA05F44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45B3E47-0704-A972-7DC5-BF489C44F3CD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094E516-A553-7175-1B57-96C7AF6E8A64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BADB70-0F67-23CA-BED6-D81946C3B22E}"/>
              </a:ext>
            </a:extLst>
          </p:cNvPr>
          <p:cNvGrpSpPr/>
          <p:nvPr/>
        </p:nvGrpSpPr>
        <p:grpSpPr>
          <a:xfrm>
            <a:off x="4804790" y="5086090"/>
            <a:ext cx="1798767" cy="1348933"/>
            <a:chOff x="7295021" y="2738307"/>
            <a:chExt cx="3597534" cy="3472076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47FA1AA-51B7-37D2-E30A-CF654E0CDAB4}"/>
                </a:ext>
              </a:extLst>
            </p:cNvPr>
            <p:cNvSpPr/>
            <p:nvPr/>
          </p:nvSpPr>
          <p:spPr>
            <a:xfrm>
              <a:off x="8388626" y="5841840"/>
              <a:ext cx="1311965" cy="368543"/>
            </a:xfrm>
            <a:prstGeom prst="ellipse">
              <a:avLst/>
            </a:prstGeom>
            <a:gradFill flip="none" rotWithShape="1">
              <a:gsLst>
                <a:gs pos="0">
                  <a:srgbClr val="6F6F6F"/>
                </a:gs>
                <a:gs pos="70000">
                  <a:srgbClr val="404040"/>
                </a:gs>
              </a:gsLst>
              <a:lin ang="5400000" scaled="1"/>
              <a:tileRect/>
            </a:gra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00EAB3EF-A29D-E269-89C2-590B1D301DAB}"/>
                </a:ext>
              </a:extLst>
            </p:cNvPr>
            <p:cNvSpPr/>
            <p:nvPr/>
          </p:nvSpPr>
          <p:spPr>
            <a:xfrm>
              <a:off x="8587013" y="5131085"/>
              <a:ext cx="894887" cy="867140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EA9E5F0-CC49-FE9A-C1AA-812AC6F1204D}"/>
                </a:ext>
              </a:extLst>
            </p:cNvPr>
            <p:cNvSpPr/>
            <p:nvPr/>
          </p:nvSpPr>
          <p:spPr>
            <a:xfrm>
              <a:off x="7295021" y="2738307"/>
              <a:ext cx="3597534" cy="2701372"/>
            </a:xfrm>
            <a:prstGeom prst="roundRect">
              <a:avLst>
                <a:gd name="adj" fmla="val 44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47B53BB-BBCC-44AA-DA63-A20297A558C5}"/>
                </a:ext>
              </a:extLst>
            </p:cNvPr>
            <p:cNvSpPr/>
            <p:nvPr/>
          </p:nvSpPr>
          <p:spPr>
            <a:xfrm>
              <a:off x="7342098" y="2775751"/>
              <a:ext cx="3484927" cy="2617884"/>
            </a:xfrm>
            <a:prstGeom prst="roundRect">
              <a:avLst>
                <a:gd name="adj" fmla="val 35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9ADAC98-437C-D06C-9CCE-06FD6790FABF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6570793" y="5074658"/>
            <a:ext cx="4049888" cy="534515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8CC0BEB-225E-E1DF-95C7-51794EAC51C0}"/>
              </a:ext>
            </a:extLst>
          </p:cNvPr>
          <p:cNvSpPr/>
          <p:nvPr/>
        </p:nvSpPr>
        <p:spPr>
          <a:xfrm>
            <a:off x="10530477" y="6015706"/>
            <a:ext cx="1071121" cy="39012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200"/>
              <a:t>mysql</a:t>
            </a:r>
            <a:r>
              <a:rPr lang="zh-CN" altLang="en-US" sz="1200"/>
              <a:t>容器</a:t>
            </a:r>
            <a:endParaRPr lang="en-US" altLang="zh-CN" sz="1200"/>
          </a:p>
          <a:p>
            <a:pPr algn="ctr"/>
            <a:r>
              <a:rPr lang="en-US" altLang="zh-CN" sz="1200"/>
              <a:t>3306</a:t>
            </a:r>
            <a:endParaRPr lang="zh-CN" altLang="en-US" sz="12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2BF8BA-A0ED-0BCA-7A6A-53D4A0B896A5}"/>
              </a:ext>
            </a:extLst>
          </p:cNvPr>
          <p:cNvSpPr txBox="1"/>
          <p:nvPr/>
        </p:nvSpPr>
        <p:spPr>
          <a:xfrm rot="21147380">
            <a:off x="6999412" y="5088405"/>
            <a:ext cx="3072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i="1"/>
              <a:t>jdbc:mysql://192.168.100.128:3307</a:t>
            </a:r>
            <a:endParaRPr lang="zh-CN" altLang="en-US" sz="1100" i="1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10B6B9C-29C3-0A90-8BCF-21A6F44E4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07" y="5133227"/>
            <a:ext cx="1734085" cy="91645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480730A-0EF6-B262-1356-3C4866F23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18" y="5097371"/>
            <a:ext cx="1712287" cy="968216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672DA98-59EE-58EA-653E-BA01EADC7EC2}"/>
              </a:ext>
            </a:extLst>
          </p:cNvPr>
          <p:cNvCxnSpPr>
            <a:cxnSpLocks/>
          </p:cNvCxnSpPr>
          <p:nvPr/>
        </p:nvCxnSpPr>
        <p:spPr>
          <a:xfrm>
            <a:off x="6570792" y="5710291"/>
            <a:ext cx="3958083" cy="518945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6805325-985E-6C74-2018-1A0CAAB96E66}"/>
              </a:ext>
            </a:extLst>
          </p:cNvPr>
          <p:cNvSpPr/>
          <p:nvPr/>
        </p:nvSpPr>
        <p:spPr>
          <a:xfrm>
            <a:off x="10620681" y="4940593"/>
            <a:ext cx="869577" cy="32412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3307</a:t>
            </a:r>
            <a:endParaRPr lang="zh-CN" altLang="en-US" sz="14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D4C1312-DEE5-CCE0-DD9F-5FED9CEA55A8}"/>
              </a:ext>
            </a:extLst>
          </p:cNvPr>
          <p:cNvCxnSpPr>
            <a:cxnSpLocks/>
          </p:cNvCxnSpPr>
          <p:nvPr/>
        </p:nvCxnSpPr>
        <p:spPr>
          <a:xfrm>
            <a:off x="11055469" y="5330928"/>
            <a:ext cx="0" cy="621637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 descr="图标&#10;&#10;描述已自动生成">
            <a:extLst>
              <a:ext uri="{FF2B5EF4-FFF2-40B4-BE49-F238E27FC236}">
                <a16:creationId xmlns:a16="http://schemas.microsoft.com/office/drawing/2014/main" id="{E063A734-0ACA-AAB3-2E53-0E09E3FA8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295" y="5980751"/>
            <a:ext cx="366565" cy="36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0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 animBg="1"/>
      <p:bldP spid="24" grpId="0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镜像命名规范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106999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镜像名称一般分两部分组成：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[repository]:[tag]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。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其中</a:t>
            </a:r>
            <a:r>
              <a:rPr lang="en-US" altLang="zh-CN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repository</a:t>
            </a:r>
            <a:r>
              <a:rPr lang="zh-CN" altLang="en-US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就是镜像名</a:t>
            </a:r>
            <a:endParaRPr lang="en-US" altLang="zh-CN" b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tag</a:t>
            </a:r>
            <a:r>
              <a:rPr lang="zh-CN" altLang="en-US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是镜像的版本</a:t>
            </a:r>
            <a:endParaRPr lang="en-US" altLang="zh-CN" b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F1FD0A-F031-A403-D52E-0E7D172D5602}"/>
              </a:ext>
            </a:extLst>
          </p:cNvPr>
          <p:cNvSpPr/>
          <p:nvPr/>
        </p:nvSpPr>
        <p:spPr>
          <a:xfrm>
            <a:off x="6094579" y="3530271"/>
            <a:ext cx="728870" cy="613603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8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F007AA-4483-B8E2-2650-F9264CBF1602}"/>
              </a:ext>
            </a:extLst>
          </p:cNvPr>
          <p:cNvSpPr/>
          <p:nvPr/>
        </p:nvSpPr>
        <p:spPr>
          <a:xfrm>
            <a:off x="4794847" y="3530271"/>
            <a:ext cx="1160753" cy="613603"/>
          </a:xfrm>
          <a:prstGeom prst="round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mysql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CDFABE-DF09-89AC-7AFF-25F34A970F4B}"/>
              </a:ext>
            </a:extLst>
          </p:cNvPr>
          <p:cNvSpPr txBox="1"/>
          <p:nvPr/>
        </p:nvSpPr>
        <p:spPr>
          <a:xfrm>
            <a:off x="5895169" y="3637017"/>
            <a:ext cx="186034" cy="400110"/>
          </a:xfrm>
          <a:prstGeom prst="rect">
            <a:avLst/>
          </a:prstGeom>
          <a:noFill/>
        </p:spPr>
        <p:txBody>
          <a:bodyPr wrap="square" lIns="73440" tIns="45720" rIns="0" bIns="4572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</a:rPr>
              <a:t>: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2" name="标注: 双弯曲线形(无边框) 11">
            <a:extLst>
              <a:ext uri="{FF2B5EF4-FFF2-40B4-BE49-F238E27FC236}">
                <a16:creationId xmlns:a16="http://schemas.microsoft.com/office/drawing/2014/main" id="{224496E9-87D5-B861-5191-4B45680678BD}"/>
              </a:ext>
            </a:extLst>
          </p:cNvPr>
          <p:cNvSpPr/>
          <p:nvPr/>
        </p:nvSpPr>
        <p:spPr>
          <a:xfrm>
            <a:off x="1393366" y="4143874"/>
            <a:ext cx="2438400" cy="829748"/>
          </a:xfrm>
          <a:prstGeom prst="callout3">
            <a:avLst>
              <a:gd name="adj1" fmla="val -2013"/>
              <a:gd name="adj2" fmla="val 138950"/>
              <a:gd name="adj3" fmla="val 31527"/>
              <a:gd name="adj4" fmla="val 88224"/>
              <a:gd name="adj5" fmla="val 77640"/>
              <a:gd name="adj6" fmla="val 80615"/>
              <a:gd name="adj7" fmla="val 77826"/>
              <a:gd name="adj8" fmla="val 14494"/>
            </a:avLst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Repository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13" name="标注: 双弯曲线形(无边框) 12">
            <a:extLst>
              <a:ext uri="{FF2B5EF4-FFF2-40B4-BE49-F238E27FC236}">
                <a16:creationId xmlns:a16="http://schemas.microsoft.com/office/drawing/2014/main" id="{DD898D41-3C02-197D-5AE5-4084BDE03B2A}"/>
              </a:ext>
            </a:extLst>
          </p:cNvPr>
          <p:cNvSpPr/>
          <p:nvPr/>
        </p:nvSpPr>
        <p:spPr>
          <a:xfrm>
            <a:off x="7224113" y="4143874"/>
            <a:ext cx="2438400" cy="829748"/>
          </a:xfrm>
          <a:prstGeom prst="callout3">
            <a:avLst>
              <a:gd name="adj1" fmla="val 74650"/>
              <a:gd name="adj2" fmla="val 67210"/>
              <a:gd name="adj3" fmla="val 74649"/>
              <a:gd name="adj4" fmla="val 39311"/>
              <a:gd name="adj5" fmla="val 28129"/>
              <a:gd name="adj6" fmla="val 33876"/>
              <a:gd name="adj7" fmla="val -6822"/>
              <a:gd name="adj8" fmla="val -14309"/>
            </a:avLst>
          </a:prstGeom>
          <a:noFill/>
          <a:ln w="2540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Tag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22C4378-6A81-9C2A-EC14-E85BF415845E}"/>
              </a:ext>
            </a:extLst>
          </p:cNvPr>
          <p:cNvGrpSpPr/>
          <p:nvPr/>
        </p:nvGrpSpPr>
        <p:grpSpPr>
          <a:xfrm>
            <a:off x="859012" y="6066774"/>
            <a:ext cx="10786141" cy="448408"/>
            <a:chOff x="710879" y="5978768"/>
            <a:chExt cx="10701134" cy="44840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5C6DA24-625C-B675-A125-71F4C0CD308B}"/>
                </a:ext>
              </a:extLst>
            </p:cNvPr>
            <p:cNvSpPr/>
            <p:nvPr/>
          </p:nvSpPr>
          <p:spPr>
            <a:xfrm>
              <a:off x="710880" y="5978769"/>
              <a:ext cx="10701133" cy="44840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在没有指定</a:t>
              </a:r>
              <a:r>
                <a:rPr lang="en-US" altLang="zh-CN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tag</a:t>
              </a: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时，默认是</a:t>
              </a:r>
              <a:r>
                <a:rPr lang="en-US" altLang="zh-CN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latest</a:t>
              </a: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，代表最新版本的镜像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A2E7691B-33FE-B9E6-B02B-1A839632A8B5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Shape 2468">
              <a:extLst>
                <a:ext uri="{FF2B5EF4-FFF2-40B4-BE49-F238E27FC236}">
                  <a16:creationId xmlns:a16="http://schemas.microsoft.com/office/drawing/2014/main" id="{7A68162D-DC71-79B4-635A-F2A2C028EC8A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874419-A693-4EB8-391D-52A684059011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331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AA21E1-B512-8F3E-6210-174CA6B2F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379062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docker run</a:t>
            </a:r>
            <a:r>
              <a:rPr lang="zh-CN" altLang="en-US" sz="1800"/>
              <a:t>命令中的常见参数</a:t>
            </a:r>
            <a:r>
              <a:rPr lang="en-US" altLang="zh-CN" sz="1800"/>
              <a:t>: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/>
              <a:t>-d :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/>
              <a:t>--name</a:t>
            </a:r>
            <a:r>
              <a:rPr lang="zh-CN" altLang="en-US" sz="1600"/>
              <a:t>：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/>
              <a:t>-e </a:t>
            </a:r>
            <a:r>
              <a:rPr lang="zh-CN" altLang="en-US" sz="1600"/>
              <a:t>：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/>
              <a:t>-p </a:t>
            </a:r>
            <a:r>
              <a:rPr lang="zh-CN" altLang="en-US" sz="1600"/>
              <a:t>：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镜像名称结构：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/>
              <a:t> Repository:TAG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F3B031-4714-3571-788B-8498B33C9A4E}"/>
              </a:ext>
            </a:extLst>
          </p:cNvPr>
          <p:cNvSpPr txBox="1"/>
          <p:nvPr/>
        </p:nvSpPr>
        <p:spPr>
          <a:xfrm>
            <a:off x="5296799" y="2241820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让容器后台运行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453559-C74E-3A1D-E647-62476C5E4599}"/>
              </a:ext>
            </a:extLst>
          </p:cNvPr>
          <p:cNvSpPr txBox="1"/>
          <p:nvPr/>
        </p:nvSpPr>
        <p:spPr>
          <a:xfrm>
            <a:off x="5610172" y="2677984"/>
            <a:ext cx="1800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给容器命名，唯一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9E0E16-9842-FAA1-0FE2-AA6391C51343}"/>
              </a:ext>
            </a:extLst>
          </p:cNvPr>
          <p:cNvSpPr txBox="1"/>
          <p:nvPr/>
        </p:nvSpPr>
        <p:spPr>
          <a:xfrm>
            <a:off x="5296799" y="3124677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环境变量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9BAFEB-3A81-9B53-6B4D-D09E650E0A5F}"/>
              </a:ext>
            </a:extLst>
          </p:cNvPr>
          <p:cNvSpPr txBox="1"/>
          <p:nvPr/>
        </p:nvSpPr>
        <p:spPr>
          <a:xfrm>
            <a:off x="5296799" y="3573265"/>
            <a:ext cx="281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宿主机端口映射到容器内端口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FAD0F8-2473-20C1-7A11-6ACDE69F3E83}"/>
              </a:ext>
            </a:extLst>
          </p:cNvPr>
          <p:cNvSpPr txBox="1"/>
          <p:nvPr/>
        </p:nvSpPr>
        <p:spPr>
          <a:xfrm>
            <a:off x="4799438" y="5244868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镜像名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802F6B-AB8A-CAD7-3658-0A61D1053224}"/>
              </a:ext>
            </a:extLst>
          </p:cNvPr>
          <p:cNvSpPr txBox="1"/>
          <p:nvPr/>
        </p:nvSpPr>
        <p:spPr>
          <a:xfrm>
            <a:off x="6070969" y="5231786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版本号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0AD4353-7A54-5860-2CAD-97D55D14CA22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5194739" y="4872034"/>
            <a:ext cx="90527" cy="372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B8C1D70-5BAA-8134-786C-08DE334B6FC2}"/>
              </a:ext>
            </a:extLst>
          </p:cNvPr>
          <p:cNvCxnSpPr>
            <a:endCxn id="10" idx="0"/>
          </p:cNvCxnSpPr>
          <p:nvPr/>
        </p:nvCxnSpPr>
        <p:spPr>
          <a:xfrm>
            <a:off x="6382848" y="4872034"/>
            <a:ext cx="83422" cy="35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15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D508A4-917E-96C4-3290-648499AB4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Docker</a:t>
            </a:r>
            <a:r>
              <a:rPr lang="zh-CN" altLang="en-US">
                <a:solidFill>
                  <a:srgbClr val="C00000"/>
                </a:solidFill>
              </a:rPr>
              <a:t>核心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4041242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ACF9A-CB85-A989-E0AB-6A294F968D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核心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89A8B-DE06-9306-9564-EB864A892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常见命令</a:t>
            </a:r>
            <a:endParaRPr lang="en-US" altLang="zh-CN"/>
          </a:p>
          <a:p>
            <a:r>
              <a:rPr lang="zh-CN" altLang="en-US"/>
              <a:t>数据卷</a:t>
            </a:r>
            <a:endParaRPr lang="en-US" altLang="zh-CN"/>
          </a:p>
          <a:p>
            <a:r>
              <a:rPr lang="zh-CN" altLang="en-US"/>
              <a:t>自定义镜像</a:t>
            </a:r>
            <a:endParaRPr lang="en-US" altLang="zh-CN"/>
          </a:p>
          <a:p>
            <a:r>
              <a:rPr lang="zh-CN" altLang="en-US"/>
              <a:t>网络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80E98A-363A-8564-4D00-478DB3B2C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51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最常见的命令就是操作镜像、容器的命令，详见官方文档：</a:t>
            </a:r>
            <a:r>
              <a:rPr lang="en-US" altLang="zh-CN">
                <a:hlinkClick r:id="rId6"/>
              </a:rPr>
              <a:t> https://docs.docker.com/</a:t>
            </a:r>
            <a:endParaRPr lang="zh-CN" altLang="en-US"/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18E36AB7-E676-3AC0-94B5-2652B94C893F}"/>
              </a:ext>
            </a:extLst>
          </p:cNvPr>
          <p:cNvSpPr/>
          <p:nvPr/>
        </p:nvSpPr>
        <p:spPr>
          <a:xfrm>
            <a:off x="3978645" y="1825851"/>
            <a:ext cx="2966356" cy="849085"/>
          </a:xfrm>
          <a:prstGeom prst="cloud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镜像仓库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3AC45D4-6EBE-3AE7-10A3-A8BCE5FC1728}"/>
              </a:ext>
            </a:extLst>
          </p:cNvPr>
          <p:cNvSpPr/>
          <p:nvPr/>
        </p:nvSpPr>
        <p:spPr>
          <a:xfrm>
            <a:off x="3877951" y="4003835"/>
            <a:ext cx="3167743" cy="1198966"/>
          </a:xfrm>
          <a:prstGeom prst="roundRect">
            <a:avLst>
              <a:gd name="adj" fmla="val 112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本地镜像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FF0F51F-56E3-FD34-B3C4-1E4E626A59D3}"/>
              </a:ext>
            </a:extLst>
          </p:cNvPr>
          <p:cNvCxnSpPr>
            <a:cxnSpLocks/>
          </p:cNvCxnSpPr>
          <p:nvPr/>
        </p:nvCxnSpPr>
        <p:spPr>
          <a:xfrm>
            <a:off x="4686216" y="2674936"/>
            <a:ext cx="0" cy="128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8919030-5703-249E-E934-021F44103542}"/>
              </a:ext>
            </a:extLst>
          </p:cNvPr>
          <p:cNvSpPr txBox="1"/>
          <p:nvPr/>
        </p:nvSpPr>
        <p:spPr>
          <a:xfrm>
            <a:off x="4052124" y="3263997"/>
            <a:ext cx="12681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pull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PA-open-folder-with-document_32743">
            <a:extLst>
              <a:ext uri="{FF2B5EF4-FFF2-40B4-BE49-F238E27FC236}">
                <a16:creationId xmlns:a16="http://schemas.microsoft.com/office/drawing/2014/main" id="{89971992-53A5-4B75-89CA-97D4CA1FF5A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285084" y="4588608"/>
            <a:ext cx="401132" cy="372515"/>
          </a:xfrm>
          <a:custGeom>
            <a:avLst/>
            <a:gdLst>
              <a:gd name="T0" fmla="*/ 6459 w 7984"/>
              <a:gd name="T1" fmla="*/ 7154 h 7426"/>
              <a:gd name="T2" fmla="*/ 446 w 7984"/>
              <a:gd name="T3" fmla="*/ 7426 h 7426"/>
              <a:gd name="T4" fmla="*/ 0 w 7984"/>
              <a:gd name="T5" fmla="*/ 6980 h 7426"/>
              <a:gd name="T6" fmla="*/ 446 w 7984"/>
              <a:gd name="T7" fmla="*/ 2184 h 7426"/>
              <a:gd name="T8" fmla="*/ 856 w 7984"/>
              <a:gd name="T9" fmla="*/ 2564 h 7426"/>
              <a:gd name="T10" fmla="*/ 439 w 7984"/>
              <a:gd name="T11" fmla="*/ 2623 h 7426"/>
              <a:gd name="T12" fmla="*/ 380 w 7984"/>
              <a:gd name="T13" fmla="*/ 6844 h 7426"/>
              <a:gd name="T14" fmla="*/ 863 w 7984"/>
              <a:gd name="T15" fmla="*/ 7046 h 7426"/>
              <a:gd name="T16" fmla="*/ 2552 w 7984"/>
              <a:gd name="T17" fmla="*/ 4098 h 7426"/>
              <a:gd name="T18" fmla="*/ 5795 w 7984"/>
              <a:gd name="T19" fmla="*/ 3020 h 7426"/>
              <a:gd name="T20" fmla="*/ 6174 w 7984"/>
              <a:gd name="T21" fmla="*/ 4098 h 7426"/>
              <a:gd name="T22" fmla="*/ 7856 w 7984"/>
              <a:gd name="T23" fmla="*/ 4511 h 7426"/>
              <a:gd name="T24" fmla="*/ 1114 w 7984"/>
              <a:gd name="T25" fmla="*/ 366 h 7426"/>
              <a:gd name="T26" fmla="*/ 4408 w 7984"/>
              <a:gd name="T27" fmla="*/ 0 h 7426"/>
              <a:gd name="T28" fmla="*/ 5478 w 7984"/>
              <a:gd name="T29" fmla="*/ 1083 h 7426"/>
              <a:gd name="T30" fmla="*/ 5522 w 7984"/>
              <a:gd name="T31" fmla="*/ 3861 h 7426"/>
              <a:gd name="T32" fmla="*/ 5215 w 7984"/>
              <a:gd name="T33" fmla="*/ 1427 h 7426"/>
              <a:gd name="T34" fmla="*/ 4414 w 7984"/>
              <a:gd name="T35" fmla="*/ 1350 h 7426"/>
              <a:gd name="T36" fmla="*/ 4260 w 7984"/>
              <a:gd name="T37" fmla="*/ 384 h 7426"/>
              <a:gd name="T38" fmla="*/ 1480 w 7984"/>
              <a:gd name="T39" fmla="*/ 308 h 7426"/>
              <a:gd name="T40" fmla="*/ 1421 w 7984"/>
              <a:gd name="T41" fmla="*/ 5363 h 7426"/>
              <a:gd name="T42" fmla="*/ 1114 w 7984"/>
              <a:gd name="T43" fmla="*/ 5698 h 7426"/>
              <a:gd name="T44" fmla="*/ 5024 w 7984"/>
              <a:gd name="T45" fmla="*/ 1043 h 7426"/>
              <a:gd name="T46" fmla="*/ 4568 w 7984"/>
              <a:gd name="T47" fmla="*/ 1043 h 7426"/>
              <a:gd name="T48" fmla="*/ 1904 w 7984"/>
              <a:gd name="T49" fmla="*/ 1663 h 7426"/>
              <a:gd name="T50" fmla="*/ 1904 w 7984"/>
              <a:gd name="T51" fmla="*/ 2041 h 7426"/>
              <a:gd name="T52" fmla="*/ 4923 w 7984"/>
              <a:gd name="T53" fmla="*/ 1852 h 7426"/>
              <a:gd name="T54" fmla="*/ 4923 w 7984"/>
              <a:gd name="T55" fmla="*/ 2953 h 7426"/>
              <a:gd name="T56" fmla="*/ 1904 w 7984"/>
              <a:gd name="T57" fmla="*/ 2764 h 7426"/>
              <a:gd name="T58" fmla="*/ 1904 w 7984"/>
              <a:gd name="T59" fmla="*/ 3142 h 7426"/>
              <a:gd name="T60" fmla="*/ 4923 w 7984"/>
              <a:gd name="T61" fmla="*/ 2953 h 7426"/>
              <a:gd name="T62" fmla="*/ 1904 w 7984"/>
              <a:gd name="T63" fmla="*/ 4249 h 7426"/>
              <a:gd name="T64" fmla="*/ 2387 w 7984"/>
              <a:gd name="T65" fmla="*/ 3872 h 7426"/>
              <a:gd name="T66" fmla="*/ 1715 w 7984"/>
              <a:gd name="T67" fmla="*/ 4061 h 7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84" h="7426">
                <a:moveTo>
                  <a:pt x="7856" y="4511"/>
                </a:moveTo>
                <a:lnTo>
                  <a:pt x="6459" y="7154"/>
                </a:lnTo>
                <a:cubicBezTo>
                  <a:pt x="6391" y="7286"/>
                  <a:pt x="6197" y="7425"/>
                  <a:pt x="6047" y="7425"/>
                </a:cubicBezTo>
                <a:lnTo>
                  <a:pt x="446" y="7426"/>
                </a:lnTo>
                <a:cubicBezTo>
                  <a:pt x="328" y="7426"/>
                  <a:pt x="214" y="7379"/>
                  <a:pt x="131" y="7295"/>
                </a:cubicBezTo>
                <a:cubicBezTo>
                  <a:pt x="47" y="7211"/>
                  <a:pt x="0" y="7098"/>
                  <a:pt x="0" y="6980"/>
                </a:cubicBezTo>
                <a:lnTo>
                  <a:pt x="1" y="2630"/>
                </a:lnTo>
                <a:cubicBezTo>
                  <a:pt x="1" y="2384"/>
                  <a:pt x="200" y="2185"/>
                  <a:pt x="446" y="2184"/>
                </a:cubicBezTo>
                <a:lnTo>
                  <a:pt x="856" y="2184"/>
                </a:lnTo>
                <a:lnTo>
                  <a:pt x="856" y="2564"/>
                </a:lnTo>
                <a:lnTo>
                  <a:pt x="582" y="2564"/>
                </a:lnTo>
                <a:cubicBezTo>
                  <a:pt x="528" y="2564"/>
                  <a:pt x="477" y="2585"/>
                  <a:pt x="439" y="2623"/>
                </a:cubicBezTo>
                <a:cubicBezTo>
                  <a:pt x="401" y="2661"/>
                  <a:pt x="380" y="2713"/>
                  <a:pt x="380" y="2766"/>
                </a:cubicBezTo>
                <a:lnTo>
                  <a:pt x="380" y="6844"/>
                </a:lnTo>
                <a:cubicBezTo>
                  <a:pt x="380" y="6955"/>
                  <a:pt x="471" y="7046"/>
                  <a:pt x="582" y="7046"/>
                </a:cubicBezTo>
                <a:lnTo>
                  <a:pt x="863" y="7046"/>
                </a:lnTo>
                <a:lnTo>
                  <a:pt x="2187" y="4368"/>
                </a:lnTo>
                <a:cubicBezTo>
                  <a:pt x="2261" y="4219"/>
                  <a:pt x="2403" y="4098"/>
                  <a:pt x="2552" y="4098"/>
                </a:cubicBezTo>
                <a:lnTo>
                  <a:pt x="5794" y="4098"/>
                </a:lnTo>
                <a:lnTo>
                  <a:pt x="5795" y="3020"/>
                </a:lnTo>
                <a:cubicBezTo>
                  <a:pt x="6007" y="3040"/>
                  <a:pt x="6174" y="3215"/>
                  <a:pt x="6174" y="3432"/>
                </a:cubicBezTo>
                <a:lnTo>
                  <a:pt x="6174" y="4098"/>
                </a:lnTo>
                <a:lnTo>
                  <a:pt x="7661" y="4098"/>
                </a:lnTo>
                <a:cubicBezTo>
                  <a:pt x="7836" y="4099"/>
                  <a:pt x="7984" y="4273"/>
                  <a:pt x="7856" y="4511"/>
                </a:cubicBezTo>
                <a:close/>
                <a:moveTo>
                  <a:pt x="1114" y="5698"/>
                </a:moveTo>
                <a:cubicBezTo>
                  <a:pt x="1102" y="4365"/>
                  <a:pt x="1114" y="366"/>
                  <a:pt x="1114" y="366"/>
                </a:cubicBezTo>
                <a:cubicBezTo>
                  <a:pt x="1114" y="164"/>
                  <a:pt x="1278" y="0"/>
                  <a:pt x="1480" y="0"/>
                </a:cubicBezTo>
                <a:lnTo>
                  <a:pt x="4408" y="0"/>
                </a:lnTo>
                <a:cubicBezTo>
                  <a:pt x="4455" y="0"/>
                  <a:pt x="4500" y="20"/>
                  <a:pt x="4531" y="55"/>
                </a:cubicBezTo>
                <a:lnTo>
                  <a:pt x="5478" y="1083"/>
                </a:lnTo>
                <a:cubicBezTo>
                  <a:pt x="5506" y="1114"/>
                  <a:pt x="5522" y="1155"/>
                  <a:pt x="5522" y="1197"/>
                </a:cubicBezTo>
                <a:lnTo>
                  <a:pt x="5522" y="3861"/>
                </a:lnTo>
                <a:lnTo>
                  <a:pt x="5215" y="3861"/>
                </a:lnTo>
                <a:lnTo>
                  <a:pt x="5215" y="1427"/>
                </a:lnTo>
                <a:cubicBezTo>
                  <a:pt x="5215" y="1385"/>
                  <a:pt x="5181" y="1350"/>
                  <a:pt x="5139" y="1350"/>
                </a:cubicBezTo>
                <a:lnTo>
                  <a:pt x="4414" y="1350"/>
                </a:lnTo>
                <a:cubicBezTo>
                  <a:pt x="4329" y="1350"/>
                  <a:pt x="4260" y="1282"/>
                  <a:pt x="4260" y="1197"/>
                </a:cubicBezTo>
                <a:lnTo>
                  <a:pt x="4260" y="384"/>
                </a:lnTo>
                <a:cubicBezTo>
                  <a:pt x="4260" y="342"/>
                  <a:pt x="4226" y="308"/>
                  <a:pt x="4184" y="308"/>
                </a:cubicBezTo>
                <a:lnTo>
                  <a:pt x="1480" y="308"/>
                </a:lnTo>
                <a:cubicBezTo>
                  <a:pt x="1448" y="308"/>
                  <a:pt x="1421" y="334"/>
                  <a:pt x="1421" y="366"/>
                </a:cubicBezTo>
                <a:lnTo>
                  <a:pt x="1421" y="5363"/>
                </a:lnTo>
                <a:lnTo>
                  <a:pt x="1186" y="5838"/>
                </a:lnTo>
                <a:cubicBezTo>
                  <a:pt x="1186" y="5838"/>
                  <a:pt x="1115" y="5833"/>
                  <a:pt x="1114" y="5698"/>
                </a:cubicBezTo>
                <a:close/>
                <a:moveTo>
                  <a:pt x="4568" y="1043"/>
                </a:moveTo>
                <a:lnTo>
                  <a:pt x="5024" y="1043"/>
                </a:lnTo>
                <a:lnTo>
                  <a:pt x="4568" y="548"/>
                </a:lnTo>
                <a:lnTo>
                  <a:pt x="4568" y="1043"/>
                </a:lnTo>
                <a:close/>
                <a:moveTo>
                  <a:pt x="4734" y="1663"/>
                </a:moveTo>
                <a:lnTo>
                  <a:pt x="1904" y="1663"/>
                </a:lnTo>
                <a:cubicBezTo>
                  <a:pt x="1800" y="1663"/>
                  <a:pt x="1715" y="1748"/>
                  <a:pt x="1715" y="1852"/>
                </a:cubicBezTo>
                <a:cubicBezTo>
                  <a:pt x="1715" y="1956"/>
                  <a:pt x="1800" y="2041"/>
                  <a:pt x="1904" y="2041"/>
                </a:cubicBezTo>
                <a:lnTo>
                  <a:pt x="4734" y="2041"/>
                </a:lnTo>
                <a:cubicBezTo>
                  <a:pt x="4839" y="2041"/>
                  <a:pt x="4923" y="1956"/>
                  <a:pt x="4923" y="1852"/>
                </a:cubicBezTo>
                <a:cubicBezTo>
                  <a:pt x="4923" y="1748"/>
                  <a:pt x="4838" y="1663"/>
                  <a:pt x="4734" y="1663"/>
                </a:cubicBezTo>
                <a:close/>
                <a:moveTo>
                  <a:pt x="4923" y="2953"/>
                </a:moveTo>
                <a:cubicBezTo>
                  <a:pt x="4923" y="2848"/>
                  <a:pt x="4838" y="2764"/>
                  <a:pt x="4734" y="2764"/>
                </a:cubicBezTo>
                <a:lnTo>
                  <a:pt x="1904" y="2764"/>
                </a:lnTo>
                <a:cubicBezTo>
                  <a:pt x="1800" y="2764"/>
                  <a:pt x="1715" y="2849"/>
                  <a:pt x="1715" y="2953"/>
                </a:cubicBezTo>
                <a:cubicBezTo>
                  <a:pt x="1715" y="3057"/>
                  <a:pt x="1800" y="3142"/>
                  <a:pt x="1904" y="3142"/>
                </a:cubicBezTo>
                <a:lnTo>
                  <a:pt x="4734" y="3142"/>
                </a:lnTo>
                <a:cubicBezTo>
                  <a:pt x="4838" y="3142"/>
                  <a:pt x="4923" y="3057"/>
                  <a:pt x="4923" y="2953"/>
                </a:cubicBezTo>
                <a:close/>
                <a:moveTo>
                  <a:pt x="1715" y="4061"/>
                </a:moveTo>
                <a:cubicBezTo>
                  <a:pt x="1715" y="4165"/>
                  <a:pt x="1800" y="4249"/>
                  <a:pt x="1904" y="4249"/>
                </a:cubicBezTo>
                <a:lnTo>
                  <a:pt x="1972" y="4249"/>
                </a:lnTo>
                <a:cubicBezTo>
                  <a:pt x="2091" y="3917"/>
                  <a:pt x="2387" y="3872"/>
                  <a:pt x="2387" y="3872"/>
                </a:cubicBezTo>
                <a:lnTo>
                  <a:pt x="1904" y="3872"/>
                </a:lnTo>
                <a:cubicBezTo>
                  <a:pt x="1800" y="3872"/>
                  <a:pt x="1715" y="3956"/>
                  <a:pt x="1715" y="406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9" name="PA-open-folder-with-document_32743">
            <a:extLst>
              <a:ext uri="{FF2B5EF4-FFF2-40B4-BE49-F238E27FC236}">
                <a16:creationId xmlns:a16="http://schemas.microsoft.com/office/drawing/2014/main" id="{BF54A416-C587-1462-829A-3222F48FFAD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71588" y="4588608"/>
            <a:ext cx="401132" cy="372515"/>
          </a:xfrm>
          <a:custGeom>
            <a:avLst/>
            <a:gdLst>
              <a:gd name="T0" fmla="*/ 6459 w 7984"/>
              <a:gd name="T1" fmla="*/ 7154 h 7426"/>
              <a:gd name="T2" fmla="*/ 446 w 7984"/>
              <a:gd name="T3" fmla="*/ 7426 h 7426"/>
              <a:gd name="T4" fmla="*/ 0 w 7984"/>
              <a:gd name="T5" fmla="*/ 6980 h 7426"/>
              <a:gd name="T6" fmla="*/ 446 w 7984"/>
              <a:gd name="T7" fmla="*/ 2184 h 7426"/>
              <a:gd name="T8" fmla="*/ 856 w 7984"/>
              <a:gd name="T9" fmla="*/ 2564 h 7426"/>
              <a:gd name="T10" fmla="*/ 439 w 7984"/>
              <a:gd name="T11" fmla="*/ 2623 h 7426"/>
              <a:gd name="T12" fmla="*/ 380 w 7984"/>
              <a:gd name="T13" fmla="*/ 6844 h 7426"/>
              <a:gd name="T14" fmla="*/ 863 w 7984"/>
              <a:gd name="T15" fmla="*/ 7046 h 7426"/>
              <a:gd name="T16" fmla="*/ 2552 w 7984"/>
              <a:gd name="T17" fmla="*/ 4098 h 7426"/>
              <a:gd name="T18" fmla="*/ 5795 w 7984"/>
              <a:gd name="T19" fmla="*/ 3020 h 7426"/>
              <a:gd name="T20" fmla="*/ 6174 w 7984"/>
              <a:gd name="T21" fmla="*/ 4098 h 7426"/>
              <a:gd name="T22" fmla="*/ 7856 w 7984"/>
              <a:gd name="T23" fmla="*/ 4511 h 7426"/>
              <a:gd name="T24" fmla="*/ 1114 w 7984"/>
              <a:gd name="T25" fmla="*/ 366 h 7426"/>
              <a:gd name="T26" fmla="*/ 4408 w 7984"/>
              <a:gd name="T27" fmla="*/ 0 h 7426"/>
              <a:gd name="T28" fmla="*/ 5478 w 7984"/>
              <a:gd name="T29" fmla="*/ 1083 h 7426"/>
              <a:gd name="T30" fmla="*/ 5522 w 7984"/>
              <a:gd name="T31" fmla="*/ 3861 h 7426"/>
              <a:gd name="T32" fmla="*/ 5215 w 7984"/>
              <a:gd name="T33" fmla="*/ 1427 h 7426"/>
              <a:gd name="T34" fmla="*/ 4414 w 7984"/>
              <a:gd name="T35" fmla="*/ 1350 h 7426"/>
              <a:gd name="T36" fmla="*/ 4260 w 7984"/>
              <a:gd name="T37" fmla="*/ 384 h 7426"/>
              <a:gd name="T38" fmla="*/ 1480 w 7984"/>
              <a:gd name="T39" fmla="*/ 308 h 7426"/>
              <a:gd name="T40" fmla="*/ 1421 w 7984"/>
              <a:gd name="T41" fmla="*/ 5363 h 7426"/>
              <a:gd name="T42" fmla="*/ 1114 w 7984"/>
              <a:gd name="T43" fmla="*/ 5698 h 7426"/>
              <a:gd name="T44" fmla="*/ 5024 w 7984"/>
              <a:gd name="T45" fmla="*/ 1043 h 7426"/>
              <a:gd name="T46" fmla="*/ 4568 w 7984"/>
              <a:gd name="T47" fmla="*/ 1043 h 7426"/>
              <a:gd name="T48" fmla="*/ 1904 w 7984"/>
              <a:gd name="T49" fmla="*/ 1663 h 7426"/>
              <a:gd name="T50" fmla="*/ 1904 w 7984"/>
              <a:gd name="T51" fmla="*/ 2041 h 7426"/>
              <a:gd name="T52" fmla="*/ 4923 w 7984"/>
              <a:gd name="T53" fmla="*/ 1852 h 7426"/>
              <a:gd name="T54" fmla="*/ 4923 w 7984"/>
              <a:gd name="T55" fmla="*/ 2953 h 7426"/>
              <a:gd name="T56" fmla="*/ 1904 w 7984"/>
              <a:gd name="T57" fmla="*/ 2764 h 7426"/>
              <a:gd name="T58" fmla="*/ 1904 w 7984"/>
              <a:gd name="T59" fmla="*/ 3142 h 7426"/>
              <a:gd name="T60" fmla="*/ 4923 w 7984"/>
              <a:gd name="T61" fmla="*/ 2953 h 7426"/>
              <a:gd name="T62" fmla="*/ 1904 w 7984"/>
              <a:gd name="T63" fmla="*/ 4249 h 7426"/>
              <a:gd name="T64" fmla="*/ 2387 w 7984"/>
              <a:gd name="T65" fmla="*/ 3872 h 7426"/>
              <a:gd name="T66" fmla="*/ 1715 w 7984"/>
              <a:gd name="T67" fmla="*/ 4061 h 7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84" h="7426">
                <a:moveTo>
                  <a:pt x="7856" y="4511"/>
                </a:moveTo>
                <a:lnTo>
                  <a:pt x="6459" y="7154"/>
                </a:lnTo>
                <a:cubicBezTo>
                  <a:pt x="6391" y="7286"/>
                  <a:pt x="6197" y="7425"/>
                  <a:pt x="6047" y="7425"/>
                </a:cubicBezTo>
                <a:lnTo>
                  <a:pt x="446" y="7426"/>
                </a:lnTo>
                <a:cubicBezTo>
                  <a:pt x="328" y="7426"/>
                  <a:pt x="214" y="7379"/>
                  <a:pt x="131" y="7295"/>
                </a:cubicBezTo>
                <a:cubicBezTo>
                  <a:pt x="47" y="7211"/>
                  <a:pt x="0" y="7098"/>
                  <a:pt x="0" y="6980"/>
                </a:cubicBezTo>
                <a:lnTo>
                  <a:pt x="1" y="2630"/>
                </a:lnTo>
                <a:cubicBezTo>
                  <a:pt x="1" y="2384"/>
                  <a:pt x="200" y="2185"/>
                  <a:pt x="446" y="2184"/>
                </a:cubicBezTo>
                <a:lnTo>
                  <a:pt x="856" y="2184"/>
                </a:lnTo>
                <a:lnTo>
                  <a:pt x="856" y="2564"/>
                </a:lnTo>
                <a:lnTo>
                  <a:pt x="582" y="2564"/>
                </a:lnTo>
                <a:cubicBezTo>
                  <a:pt x="528" y="2564"/>
                  <a:pt x="477" y="2585"/>
                  <a:pt x="439" y="2623"/>
                </a:cubicBezTo>
                <a:cubicBezTo>
                  <a:pt x="401" y="2661"/>
                  <a:pt x="380" y="2713"/>
                  <a:pt x="380" y="2766"/>
                </a:cubicBezTo>
                <a:lnTo>
                  <a:pt x="380" y="6844"/>
                </a:lnTo>
                <a:cubicBezTo>
                  <a:pt x="380" y="6955"/>
                  <a:pt x="471" y="7046"/>
                  <a:pt x="582" y="7046"/>
                </a:cubicBezTo>
                <a:lnTo>
                  <a:pt x="863" y="7046"/>
                </a:lnTo>
                <a:lnTo>
                  <a:pt x="2187" y="4368"/>
                </a:lnTo>
                <a:cubicBezTo>
                  <a:pt x="2261" y="4219"/>
                  <a:pt x="2403" y="4098"/>
                  <a:pt x="2552" y="4098"/>
                </a:cubicBezTo>
                <a:lnTo>
                  <a:pt x="5794" y="4098"/>
                </a:lnTo>
                <a:lnTo>
                  <a:pt x="5795" y="3020"/>
                </a:lnTo>
                <a:cubicBezTo>
                  <a:pt x="6007" y="3040"/>
                  <a:pt x="6174" y="3215"/>
                  <a:pt x="6174" y="3432"/>
                </a:cubicBezTo>
                <a:lnTo>
                  <a:pt x="6174" y="4098"/>
                </a:lnTo>
                <a:lnTo>
                  <a:pt x="7661" y="4098"/>
                </a:lnTo>
                <a:cubicBezTo>
                  <a:pt x="7836" y="4099"/>
                  <a:pt x="7984" y="4273"/>
                  <a:pt x="7856" y="4511"/>
                </a:cubicBezTo>
                <a:close/>
                <a:moveTo>
                  <a:pt x="1114" y="5698"/>
                </a:moveTo>
                <a:cubicBezTo>
                  <a:pt x="1102" y="4365"/>
                  <a:pt x="1114" y="366"/>
                  <a:pt x="1114" y="366"/>
                </a:cubicBezTo>
                <a:cubicBezTo>
                  <a:pt x="1114" y="164"/>
                  <a:pt x="1278" y="0"/>
                  <a:pt x="1480" y="0"/>
                </a:cubicBezTo>
                <a:lnTo>
                  <a:pt x="4408" y="0"/>
                </a:lnTo>
                <a:cubicBezTo>
                  <a:pt x="4455" y="0"/>
                  <a:pt x="4500" y="20"/>
                  <a:pt x="4531" y="55"/>
                </a:cubicBezTo>
                <a:lnTo>
                  <a:pt x="5478" y="1083"/>
                </a:lnTo>
                <a:cubicBezTo>
                  <a:pt x="5506" y="1114"/>
                  <a:pt x="5522" y="1155"/>
                  <a:pt x="5522" y="1197"/>
                </a:cubicBezTo>
                <a:lnTo>
                  <a:pt x="5522" y="3861"/>
                </a:lnTo>
                <a:lnTo>
                  <a:pt x="5215" y="3861"/>
                </a:lnTo>
                <a:lnTo>
                  <a:pt x="5215" y="1427"/>
                </a:lnTo>
                <a:cubicBezTo>
                  <a:pt x="5215" y="1385"/>
                  <a:pt x="5181" y="1350"/>
                  <a:pt x="5139" y="1350"/>
                </a:cubicBezTo>
                <a:lnTo>
                  <a:pt x="4414" y="1350"/>
                </a:lnTo>
                <a:cubicBezTo>
                  <a:pt x="4329" y="1350"/>
                  <a:pt x="4260" y="1282"/>
                  <a:pt x="4260" y="1197"/>
                </a:cubicBezTo>
                <a:lnTo>
                  <a:pt x="4260" y="384"/>
                </a:lnTo>
                <a:cubicBezTo>
                  <a:pt x="4260" y="342"/>
                  <a:pt x="4226" y="308"/>
                  <a:pt x="4184" y="308"/>
                </a:cubicBezTo>
                <a:lnTo>
                  <a:pt x="1480" y="308"/>
                </a:lnTo>
                <a:cubicBezTo>
                  <a:pt x="1448" y="308"/>
                  <a:pt x="1421" y="334"/>
                  <a:pt x="1421" y="366"/>
                </a:cubicBezTo>
                <a:lnTo>
                  <a:pt x="1421" y="5363"/>
                </a:lnTo>
                <a:lnTo>
                  <a:pt x="1186" y="5838"/>
                </a:lnTo>
                <a:cubicBezTo>
                  <a:pt x="1186" y="5838"/>
                  <a:pt x="1115" y="5833"/>
                  <a:pt x="1114" y="5698"/>
                </a:cubicBezTo>
                <a:close/>
                <a:moveTo>
                  <a:pt x="4568" y="1043"/>
                </a:moveTo>
                <a:lnTo>
                  <a:pt x="5024" y="1043"/>
                </a:lnTo>
                <a:lnTo>
                  <a:pt x="4568" y="548"/>
                </a:lnTo>
                <a:lnTo>
                  <a:pt x="4568" y="1043"/>
                </a:lnTo>
                <a:close/>
                <a:moveTo>
                  <a:pt x="4734" y="1663"/>
                </a:moveTo>
                <a:lnTo>
                  <a:pt x="1904" y="1663"/>
                </a:lnTo>
                <a:cubicBezTo>
                  <a:pt x="1800" y="1663"/>
                  <a:pt x="1715" y="1748"/>
                  <a:pt x="1715" y="1852"/>
                </a:cubicBezTo>
                <a:cubicBezTo>
                  <a:pt x="1715" y="1956"/>
                  <a:pt x="1800" y="2041"/>
                  <a:pt x="1904" y="2041"/>
                </a:cubicBezTo>
                <a:lnTo>
                  <a:pt x="4734" y="2041"/>
                </a:lnTo>
                <a:cubicBezTo>
                  <a:pt x="4839" y="2041"/>
                  <a:pt x="4923" y="1956"/>
                  <a:pt x="4923" y="1852"/>
                </a:cubicBezTo>
                <a:cubicBezTo>
                  <a:pt x="4923" y="1748"/>
                  <a:pt x="4838" y="1663"/>
                  <a:pt x="4734" y="1663"/>
                </a:cubicBezTo>
                <a:close/>
                <a:moveTo>
                  <a:pt x="4923" y="2953"/>
                </a:moveTo>
                <a:cubicBezTo>
                  <a:pt x="4923" y="2848"/>
                  <a:pt x="4838" y="2764"/>
                  <a:pt x="4734" y="2764"/>
                </a:cubicBezTo>
                <a:lnTo>
                  <a:pt x="1904" y="2764"/>
                </a:lnTo>
                <a:cubicBezTo>
                  <a:pt x="1800" y="2764"/>
                  <a:pt x="1715" y="2849"/>
                  <a:pt x="1715" y="2953"/>
                </a:cubicBezTo>
                <a:cubicBezTo>
                  <a:pt x="1715" y="3057"/>
                  <a:pt x="1800" y="3142"/>
                  <a:pt x="1904" y="3142"/>
                </a:cubicBezTo>
                <a:lnTo>
                  <a:pt x="4734" y="3142"/>
                </a:lnTo>
                <a:cubicBezTo>
                  <a:pt x="4838" y="3142"/>
                  <a:pt x="4923" y="3057"/>
                  <a:pt x="4923" y="2953"/>
                </a:cubicBezTo>
                <a:close/>
                <a:moveTo>
                  <a:pt x="1715" y="4061"/>
                </a:moveTo>
                <a:cubicBezTo>
                  <a:pt x="1715" y="4165"/>
                  <a:pt x="1800" y="4249"/>
                  <a:pt x="1904" y="4249"/>
                </a:cubicBezTo>
                <a:lnTo>
                  <a:pt x="1972" y="4249"/>
                </a:lnTo>
                <a:cubicBezTo>
                  <a:pt x="2091" y="3917"/>
                  <a:pt x="2387" y="3872"/>
                  <a:pt x="2387" y="3872"/>
                </a:cubicBezTo>
                <a:lnTo>
                  <a:pt x="1904" y="3872"/>
                </a:lnTo>
                <a:cubicBezTo>
                  <a:pt x="1800" y="3872"/>
                  <a:pt x="1715" y="3956"/>
                  <a:pt x="1715" y="406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PA-open-folder-with-document_32743">
            <a:extLst>
              <a:ext uri="{FF2B5EF4-FFF2-40B4-BE49-F238E27FC236}">
                <a16:creationId xmlns:a16="http://schemas.microsoft.com/office/drawing/2014/main" id="{DC2DEACE-11E7-DB6F-4B2B-4B92709D0C8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658092" y="4588608"/>
            <a:ext cx="401132" cy="372515"/>
          </a:xfrm>
          <a:custGeom>
            <a:avLst/>
            <a:gdLst>
              <a:gd name="T0" fmla="*/ 6459 w 7984"/>
              <a:gd name="T1" fmla="*/ 7154 h 7426"/>
              <a:gd name="T2" fmla="*/ 446 w 7984"/>
              <a:gd name="T3" fmla="*/ 7426 h 7426"/>
              <a:gd name="T4" fmla="*/ 0 w 7984"/>
              <a:gd name="T5" fmla="*/ 6980 h 7426"/>
              <a:gd name="T6" fmla="*/ 446 w 7984"/>
              <a:gd name="T7" fmla="*/ 2184 h 7426"/>
              <a:gd name="T8" fmla="*/ 856 w 7984"/>
              <a:gd name="T9" fmla="*/ 2564 h 7426"/>
              <a:gd name="T10" fmla="*/ 439 w 7984"/>
              <a:gd name="T11" fmla="*/ 2623 h 7426"/>
              <a:gd name="T12" fmla="*/ 380 w 7984"/>
              <a:gd name="T13" fmla="*/ 6844 h 7426"/>
              <a:gd name="T14" fmla="*/ 863 w 7984"/>
              <a:gd name="T15" fmla="*/ 7046 h 7426"/>
              <a:gd name="T16" fmla="*/ 2552 w 7984"/>
              <a:gd name="T17" fmla="*/ 4098 h 7426"/>
              <a:gd name="T18" fmla="*/ 5795 w 7984"/>
              <a:gd name="T19" fmla="*/ 3020 h 7426"/>
              <a:gd name="T20" fmla="*/ 6174 w 7984"/>
              <a:gd name="T21" fmla="*/ 4098 h 7426"/>
              <a:gd name="T22" fmla="*/ 7856 w 7984"/>
              <a:gd name="T23" fmla="*/ 4511 h 7426"/>
              <a:gd name="T24" fmla="*/ 1114 w 7984"/>
              <a:gd name="T25" fmla="*/ 366 h 7426"/>
              <a:gd name="T26" fmla="*/ 4408 w 7984"/>
              <a:gd name="T27" fmla="*/ 0 h 7426"/>
              <a:gd name="T28" fmla="*/ 5478 w 7984"/>
              <a:gd name="T29" fmla="*/ 1083 h 7426"/>
              <a:gd name="T30" fmla="*/ 5522 w 7984"/>
              <a:gd name="T31" fmla="*/ 3861 h 7426"/>
              <a:gd name="T32" fmla="*/ 5215 w 7984"/>
              <a:gd name="T33" fmla="*/ 1427 h 7426"/>
              <a:gd name="T34" fmla="*/ 4414 w 7984"/>
              <a:gd name="T35" fmla="*/ 1350 h 7426"/>
              <a:gd name="T36" fmla="*/ 4260 w 7984"/>
              <a:gd name="T37" fmla="*/ 384 h 7426"/>
              <a:gd name="T38" fmla="*/ 1480 w 7984"/>
              <a:gd name="T39" fmla="*/ 308 h 7426"/>
              <a:gd name="T40" fmla="*/ 1421 w 7984"/>
              <a:gd name="T41" fmla="*/ 5363 h 7426"/>
              <a:gd name="T42" fmla="*/ 1114 w 7984"/>
              <a:gd name="T43" fmla="*/ 5698 h 7426"/>
              <a:gd name="T44" fmla="*/ 5024 w 7984"/>
              <a:gd name="T45" fmla="*/ 1043 h 7426"/>
              <a:gd name="T46" fmla="*/ 4568 w 7984"/>
              <a:gd name="T47" fmla="*/ 1043 h 7426"/>
              <a:gd name="T48" fmla="*/ 1904 w 7984"/>
              <a:gd name="T49" fmla="*/ 1663 h 7426"/>
              <a:gd name="T50" fmla="*/ 1904 w 7984"/>
              <a:gd name="T51" fmla="*/ 2041 h 7426"/>
              <a:gd name="T52" fmla="*/ 4923 w 7984"/>
              <a:gd name="T53" fmla="*/ 1852 h 7426"/>
              <a:gd name="T54" fmla="*/ 4923 w 7984"/>
              <a:gd name="T55" fmla="*/ 2953 h 7426"/>
              <a:gd name="T56" fmla="*/ 1904 w 7984"/>
              <a:gd name="T57" fmla="*/ 2764 h 7426"/>
              <a:gd name="T58" fmla="*/ 1904 w 7984"/>
              <a:gd name="T59" fmla="*/ 3142 h 7426"/>
              <a:gd name="T60" fmla="*/ 4923 w 7984"/>
              <a:gd name="T61" fmla="*/ 2953 h 7426"/>
              <a:gd name="T62" fmla="*/ 1904 w 7984"/>
              <a:gd name="T63" fmla="*/ 4249 h 7426"/>
              <a:gd name="T64" fmla="*/ 2387 w 7984"/>
              <a:gd name="T65" fmla="*/ 3872 h 7426"/>
              <a:gd name="T66" fmla="*/ 1715 w 7984"/>
              <a:gd name="T67" fmla="*/ 4061 h 7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84" h="7426">
                <a:moveTo>
                  <a:pt x="7856" y="4511"/>
                </a:moveTo>
                <a:lnTo>
                  <a:pt x="6459" y="7154"/>
                </a:lnTo>
                <a:cubicBezTo>
                  <a:pt x="6391" y="7286"/>
                  <a:pt x="6197" y="7425"/>
                  <a:pt x="6047" y="7425"/>
                </a:cubicBezTo>
                <a:lnTo>
                  <a:pt x="446" y="7426"/>
                </a:lnTo>
                <a:cubicBezTo>
                  <a:pt x="328" y="7426"/>
                  <a:pt x="214" y="7379"/>
                  <a:pt x="131" y="7295"/>
                </a:cubicBezTo>
                <a:cubicBezTo>
                  <a:pt x="47" y="7211"/>
                  <a:pt x="0" y="7098"/>
                  <a:pt x="0" y="6980"/>
                </a:cubicBezTo>
                <a:lnTo>
                  <a:pt x="1" y="2630"/>
                </a:lnTo>
                <a:cubicBezTo>
                  <a:pt x="1" y="2384"/>
                  <a:pt x="200" y="2185"/>
                  <a:pt x="446" y="2184"/>
                </a:cubicBezTo>
                <a:lnTo>
                  <a:pt x="856" y="2184"/>
                </a:lnTo>
                <a:lnTo>
                  <a:pt x="856" y="2564"/>
                </a:lnTo>
                <a:lnTo>
                  <a:pt x="582" y="2564"/>
                </a:lnTo>
                <a:cubicBezTo>
                  <a:pt x="528" y="2564"/>
                  <a:pt x="477" y="2585"/>
                  <a:pt x="439" y="2623"/>
                </a:cubicBezTo>
                <a:cubicBezTo>
                  <a:pt x="401" y="2661"/>
                  <a:pt x="380" y="2713"/>
                  <a:pt x="380" y="2766"/>
                </a:cubicBezTo>
                <a:lnTo>
                  <a:pt x="380" y="6844"/>
                </a:lnTo>
                <a:cubicBezTo>
                  <a:pt x="380" y="6955"/>
                  <a:pt x="471" y="7046"/>
                  <a:pt x="582" y="7046"/>
                </a:cubicBezTo>
                <a:lnTo>
                  <a:pt x="863" y="7046"/>
                </a:lnTo>
                <a:lnTo>
                  <a:pt x="2187" y="4368"/>
                </a:lnTo>
                <a:cubicBezTo>
                  <a:pt x="2261" y="4219"/>
                  <a:pt x="2403" y="4098"/>
                  <a:pt x="2552" y="4098"/>
                </a:cubicBezTo>
                <a:lnTo>
                  <a:pt x="5794" y="4098"/>
                </a:lnTo>
                <a:lnTo>
                  <a:pt x="5795" y="3020"/>
                </a:lnTo>
                <a:cubicBezTo>
                  <a:pt x="6007" y="3040"/>
                  <a:pt x="6174" y="3215"/>
                  <a:pt x="6174" y="3432"/>
                </a:cubicBezTo>
                <a:lnTo>
                  <a:pt x="6174" y="4098"/>
                </a:lnTo>
                <a:lnTo>
                  <a:pt x="7661" y="4098"/>
                </a:lnTo>
                <a:cubicBezTo>
                  <a:pt x="7836" y="4099"/>
                  <a:pt x="7984" y="4273"/>
                  <a:pt x="7856" y="4511"/>
                </a:cubicBezTo>
                <a:close/>
                <a:moveTo>
                  <a:pt x="1114" y="5698"/>
                </a:moveTo>
                <a:cubicBezTo>
                  <a:pt x="1102" y="4365"/>
                  <a:pt x="1114" y="366"/>
                  <a:pt x="1114" y="366"/>
                </a:cubicBezTo>
                <a:cubicBezTo>
                  <a:pt x="1114" y="164"/>
                  <a:pt x="1278" y="0"/>
                  <a:pt x="1480" y="0"/>
                </a:cubicBezTo>
                <a:lnTo>
                  <a:pt x="4408" y="0"/>
                </a:lnTo>
                <a:cubicBezTo>
                  <a:pt x="4455" y="0"/>
                  <a:pt x="4500" y="20"/>
                  <a:pt x="4531" y="55"/>
                </a:cubicBezTo>
                <a:lnTo>
                  <a:pt x="5478" y="1083"/>
                </a:lnTo>
                <a:cubicBezTo>
                  <a:pt x="5506" y="1114"/>
                  <a:pt x="5522" y="1155"/>
                  <a:pt x="5522" y="1197"/>
                </a:cubicBezTo>
                <a:lnTo>
                  <a:pt x="5522" y="3861"/>
                </a:lnTo>
                <a:lnTo>
                  <a:pt x="5215" y="3861"/>
                </a:lnTo>
                <a:lnTo>
                  <a:pt x="5215" y="1427"/>
                </a:lnTo>
                <a:cubicBezTo>
                  <a:pt x="5215" y="1385"/>
                  <a:pt x="5181" y="1350"/>
                  <a:pt x="5139" y="1350"/>
                </a:cubicBezTo>
                <a:lnTo>
                  <a:pt x="4414" y="1350"/>
                </a:lnTo>
                <a:cubicBezTo>
                  <a:pt x="4329" y="1350"/>
                  <a:pt x="4260" y="1282"/>
                  <a:pt x="4260" y="1197"/>
                </a:cubicBezTo>
                <a:lnTo>
                  <a:pt x="4260" y="384"/>
                </a:lnTo>
                <a:cubicBezTo>
                  <a:pt x="4260" y="342"/>
                  <a:pt x="4226" y="308"/>
                  <a:pt x="4184" y="308"/>
                </a:cubicBezTo>
                <a:lnTo>
                  <a:pt x="1480" y="308"/>
                </a:lnTo>
                <a:cubicBezTo>
                  <a:pt x="1448" y="308"/>
                  <a:pt x="1421" y="334"/>
                  <a:pt x="1421" y="366"/>
                </a:cubicBezTo>
                <a:lnTo>
                  <a:pt x="1421" y="5363"/>
                </a:lnTo>
                <a:lnTo>
                  <a:pt x="1186" y="5838"/>
                </a:lnTo>
                <a:cubicBezTo>
                  <a:pt x="1186" y="5838"/>
                  <a:pt x="1115" y="5833"/>
                  <a:pt x="1114" y="5698"/>
                </a:cubicBezTo>
                <a:close/>
                <a:moveTo>
                  <a:pt x="4568" y="1043"/>
                </a:moveTo>
                <a:lnTo>
                  <a:pt x="5024" y="1043"/>
                </a:lnTo>
                <a:lnTo>
                  <a:pt x="4568" y="548"/>
                </a:lnTo>
                <a:lnTo>
                  <a:pt x="4568" y="1043"/>
                </a:lnTo>
                <a:close/>
                <a:moveTo>
                  <a:pt x="4734" y="1663"/>
                </a:moveTo>
                <a:lnTo>
                  <a:pt x="1904" y="1663"/>
                </a:lnTo>
                <a:cubicBezTo>
                  <a:pt x="1800" y="1663"/>
                  <a:pt x="1715" y="1748"/>
                  <a:pt x="1715" y="1852"/>
                </a:cubicBezTo>
                <a:cubicBezTo>
                  <a:pt x="1715" y="1956"/>
                  <a:pt x="1800" y="2041"/>
                  <a:pt x="1904" y="2041"/>
                </a:cubicBezTo>
                <a:lnTo>
                  <a:pt x="4734" y="2041"/>
                </a:lnTo>
                <a:cubicBezTo>
                  <a:pt x="4839" y="2041"/>
                  <a:pt x="4923" y="1956"/>
                  <a:pt x="4923" y="1852"/>
                </a:cubicBezTo>
                <a:cubicBezTo>
                  <a:pt x="4923" y="1748"/>
                  <a:pt x="4838" y="1663"/>
                  <a:pt x="4734" y="1663"/>
                </a:cubicBezTo>
                <a:close/>
                <a:moveTo>
                  <a:pt x="4923" y="2953"/>
                </a:moveTo>
                <a:cubicBezTo>
                  <a:pt x="4923" y="2848"/>
                  <a:pt x="4838" y="2764"/>
                  <a:pt x="4734" y="2764"/>
                </a:cubicBezTo>
                <a:lnTo>
                  <a:pt x="1904" y="2764"/>
                </a:lnTo>
                <a:cubicBezTo>
                  <a:pt x="1800" y="2764"/>
                  <a:pt x="1715" y="2849"/>
                  <a:pt x="1715" y="2953"/>
                </a:cubicBezTo>
                <a:cubicBezTo>
                  <a:pt x="1715" y="3057"/>
                  <a:pt x="1800" y="3142"/>
                  <a:pt x="1904" y="3142"/>
                </a:cubicBezTo>
                <a:lnTo>
                  <a:pt x="4734" y="3142"/>
                </a:lnTo>
                <a:cubicBezTo>
                  <a:pt x="4838" y="3142"/>
                  <a:pt x="4923" y="3057"/>
                  <a:pt x="4923" y="2953"/>
                </a:cubicBezTo>
                <a:close/>
                <a:moveTo>
                  <a:pt x="1715" y="4061"/>
                </a:moveTo>
                <a:cubicBezTo>
                  <a:pt x="1715" y="4165"/>
                  <a:pt x="1800" y="4249"/>
                  <a:pt x="1904" y="4249"/>
                </a:cubicBezTo>
                <a:lnTo>
                  <a:pt x="1972" y="4249"/>
                </a:lnTo>
                <a:cubicBezTo>
                  <a:pt x="2091" y="3917"/>
                  <a:pt x="2387" y="3872"/>
                  <a:pt x="2387" y="3872"/>
                </a:cubicBezTo>
                <a:lnTo>
                  <a:pt x="1904" y="3872"/>
                </a:lnTo>
                <a:cubicBezTo>
                  <a:pt x="1800" y="3872"/>
                  <a:pt x="1715" y="3956"/>
                  <a:pt x="1715" y="406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PA-open-folder-with-document_32743">
            <a:extLst>
              <a:ext uri="{FF2B5EF4-FFF2-40B4-BE49-F238E27FC236}">
                <a16:creationId xmlns:a16="http://schemas.microsoft.com/office/drawing/2014/main" id="{8B1D9600-F258-471E-554F-37715F68000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44596" y="4588608"/>
            <a:ext cx="401132" cy="372515"/>
          </a:xfrm>
          <a:custGeom>
            <a:avLst/>
            <a:gdLst>
              <a:gd name="T0" fmla="*/ 6459 w 7984"/>
              <a:gd name="T1" fmla="*/ 7154 h 7426"/>
              <a:gd name="T2" fmla="*/ 446 w 7984"/>
              <a:gd name="T3" fmla="*/ 7426 h 7426"/>
              <a:gd name="T4" fmla="*/ 0 w 7984"/>
              <a:gd name="T5" fmla="*/ 6980 h 7426"/>
              <a:gd name="T6" fmla="*/ 446 w 7984"/>
              <a:gd name="T7" fmla="*/ 2184 h 7426"/>
              <a:gd name="T8" fmla="*/ 856 w 7984"/>
              <a:gd name="T9" fmla="*/ 2564 h 7426"/>
              <a:gd name="T10" fmla="*/ 439 w 7984"/>
              <a:gd name="T11" fmla="*/ 2623 h 7426"/>
              <a:gd name="T12" fmla="*/ 380 w 7984"/>
              <a:gd name="T13" fmla="*/ 6844 h 7426"/>
              <a:gd name="T14" fmla="*/ 863 w 7984"/>
              <a:gd name="T15" fmla="*/ 7046 h 7426"/>
              <a:gd name="T16" fmla="*/ 2552 w 7984"/>
              <a:gd name="T17" fmla="*/ 4098 h 7426"/>
              <a:gd name="T18" fmla="*/ 5795 w 7984"/>
              <a:gd name="T19" fmla="*/ 3020 h 7426"/>
              <a:gd name="T20" fmla="*/ 6174 w 7984"/>
              <a:gd name="T21" fmla="*/ 4098 h 7426"/>
              <a:gd name="T22" fmla="*/ 7856 w 7984"/>
              <a:gd name="T23" fmla="*/ 4511 h 7426"/>
              <a:gd name="T24" fmla="*/ 1114 w 7984"/>
              <a:gd name="T25" fmla="*/ 366 h 7426"/>
              <a:gd name="T26" fmla="*/ 4408 w 7984"/>
              <a:gd name="T27" fmla="*/ 0 h 7426"/>
              <a:gd name="T28" fmla="*/ 5478 w 7984"/>
              <a:gd name="T29" fmla="*/ 1083 h 7426"/>
              <a:gd name="T30" fmla="*/ 5522 w 7984"/>
              <a:gd name="T31" fmla="*/ 3861 h 7426"/>
              <a:gd name="T32" fmla="*/ 5215 w 7984"/>
              <a:gd name="T33" fmla="*/ 1427 h 7426"/>
              <a:gd name="T34" fmla="*/ 4414 w 7984"/>
              <a:gd name="T35" fmla="*/ 1350 h 7426"/>
              <a:gd name="T36" fmla="*/ 4260 w 7984"/>
              <a:gd name="T37" fmla="*/ 384 h 7426"/>
              <a:gd name="T38" fmla="*/ 1480 w 7984"/>
              <a:gd name="T39" fmla="*/ 308 h 7426"/>
              <a:gd name="T40" fmla="*/ 1421 w 7984"/>
              <a:gd name="T41" fmla="*/ 5363 h 7426"/>
              <a:gd name="T42" fmla="*/ 1114 w 7984"/>
              <a:gd name="T43" fmla="*/ 5698 h 7426"/>
              <a:gd name="T44" fmla="*/ 5024 w 7984"/>
              <a:gd name="T45" fmla="*/ 1043 h 7426"/>
              <a:gd name="T46" fmla="*/ 4568 w 7984"/>
              <a:gd name="T47" fmla="*/ 1043 h 7426"/>
              <a:gd name="T48" fmla="*/ 1904 w 7984"/>
              <a:gd name="T49" fmla="*/ 1663 h 7426"/>
              <a:gd name="T50" fmla="*/ 1904 w 7984"/>
              <a:gd name="T51" fmla="*/ 2041 h 7426"/>
              <a:gd name="T52" fmla="*/ 4923 w 7984"/>
              <a:gd name="T53" fmla="*/ 1852 h 7426"/>
              <a:gd name="T54" fmla="*/ 4923 w 7984"/>
              <a:gd name="T55" fmla="*/ 2953 h 7426"/>
              <a:gd name="T56" fmla="*/ 1904 w 7984"/>
              <a:gd name="T57" fmla="*/ 2764 h 7426"/>
              <a:gd name="T58" fmla="*/ 1904 w 7984"/>
              <a:gd name="T59" fmla="*/ 3142 h 7426"/>
              <a:gd name="T60" fmla="*/ 4923 w 7984"/>
              <a:gd name="T61" fmla="*/ 2953 h 7426"/>
              <a:gd name="T62" fmla="*/ 1904 w 7984"/>
              <a:gd name="T63" fmla="*/ 4249 h 7426"/>
              <a:gd name="T64" fmla="*/ 2387 w 7984"/>
              <a:gd name="T65" fmla="*/ 3872 h 7426"/>
              <a:gd name="T66" fmla="*/ 1715 w 7984"/>
              <a:gd name="T67" fmla="*/ 4061 h 7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84" h="7426">
                <a:moveTo>
                  <a:pt x="7856" y="4511"/>
                </a:moveTo>
                <a:lnTo>
                  <a:pt x="6459" y="7154"/>
                </a:lnTo>
                <a:cubicBezTo>
                  <a:pt x="6391" y="7286"/>
                  <a:pt x="6197" y="7425"/>
                  <a:pt x="6047" y="7425"/>
                </a:cubicBezTo>
                <a:lnTo>
                  <a:pt x="446" y="7426"/>
                </a:lnTo>
                <a:cubicBezTo>
                  <a:pt x="328" y="7426"/>
                  <a:pt x="214" y="7379"/>
                  <a:pt x="131" y="7295"/>
                </a:cubicBezTo>
                <a:cubicBezTo>
                  <a:pt x="47" y="7211"/>
                  <a:pt x="0" y="7098"/>
                  <a:pt x="0" y="6980"/>
                </a:cubicBezTo>
                <a:lnTo>
                  <a:pt x="1" y="2630"/>
                </a:lnTo>
                <a:cubicBezTo>
                  <a:pt x="1" y="2384"/>
                  <a:pt x="200" y="2185"/>
                  <a:pt x="446" y="2184"/>
                </a:cubicBezTo>
                <a:lnTo>
                  <a:pt x="856" y="2184"/>
                </a:lnTo>
                <a:lnTo>
                  <a:pt x="856" y="2564"/>
                </a:lnTo>
                <a:lnTo>
                  <a:pt x="582" y="2564"/>
                </a:lnTo>
                <a:cubicBezTo>
                  <a:pt x="528" y="2564"/>
                  <a:pt x="477" y="2585"/>
                  <a:pt x="439" y="2623"/>
                </a:cubicBezTo>
                <a:cubicBezTo>
                  <a:pt x="401" y="2661"/>
                  <a:pt x="380" y="2713"/>
                  <a:pt x="380" y="2766"/>
                </a:cubicBezTo>
                <a:lnTo>
                  <a:pt x="380" y="6844"/>
                </a:lnTo>
                <a:cubicBezTo>
                  <a:pt x="380" y="6955"/>
                  <a:pt x="471" y="7046"/>
                  <a:pt x="582" y="7046"/>
                </a:cubicBezTo>
                <a:lnTo>
                  <a:pt x="863" y="7046"/>
                </a:lnTo>
                <a:lnTo>
                  <a:pt x="2187" y="4368"/>
                </a:lnTo>
                <a:cubicBezTo>
                  <a:pt x="2261" y="4219"/>
                  <a:pt x="2403" y="4098"/>
                  <a:pt x="2552" y="4098"/>
                </a:cubicBezTo>
                <a:lnTo>
                  <a:pt x="5794" y="4098"/>
                </a:lnTo>
                <a:lnTo>
                  <a:pt x="5795" y="3020"/>
                </a:lnTo>
                <a:cubicBezTo>
                  <a:pt x="6007" y="3040"/>
                  <a:pt x="6174" y="3215"/>
                  <a:pt x="6174" y="3432"/>
                </a:cubicBezTo>
                <a:lnTo>
                  <a:pt x="6174" y="4098"/>
                </a:lnTo>
                <a:lnTo>
                  <a:pt x="7661" y="4098"/>
                </a:lnTo>
                <a:cubicBezTo>
                  <a:pt x="7836" y="4099"/>
                  <a:pt x="7984" y="4273"/>
                  <a:pt x="7856" y="4511"/>
                </a:cubicBezTo>
                <a:close/>
                <a:moveTo>
                  <a:pt x="1114" y="5698"/>
                </a:moveTo>
                <a:cubicBezTo>
                  <a:pt x="1102" y="4365"/>
                  <a:pt x="1114" y="366"/>
                  <a:pt x="1114" y="366"/>
                </a:cubicBezTo>
                <a:cubicBezTo>
                  <a:pt x="1114" y="164"/>
                  <a:pt x="1278" y="0"/>
                  <a:pt x="1480" y="0"/>
                </a:cubicBezTo>
                <a:lnTo>
                  <a:pt x="4408" y="0"/>
                </a:lnTo>
                <a:cubicBezTo>
                  <a:pt x="4455" y="0"/>
                  <a:pt x="4500" y="20"/>
                  <a:pt x="4531" y="55"/>
                </a:cubicBezTo>
                <a:lnTo>
                  <a:pt x="5478" y="1083"/>
                </a:lnTo>
                <a:cubicBezTo>
                  <a:pt x="5506" y="1114"/>
                  <a:pt x="5522" y="1155"/>
                  <a:pt x="5522" y="1197"/>
                </a:cubicBezTo>
                <a:lnTo>
                  <a:pt x="5522" y="3861"/>
                </a:lnTo>
                <a:lnTo>
                  <a:pt x="5215" y="3861"/>
                </a:lnTo>
                <a:lnTo>
                  <a:pt x="5215" y="1427"/>
                </a:lnTo>
                <a:cubicBezTo>
                  <a:pt x="5215" y="1385"/>
                  <a:pt x="5181" y="1350"/>
                  <a:pt x="5139" y="1350"/>
                </a:cubicBezTo>
                <a:lnTo>
                  <a:pt x="4414" y="1350"/>
                </a:lnTo>
                <a:cubicBezTo>
                  <a:pt x="4329" y="1350"/>
                  <a:pt x="4260" y="1282"/>
                  <a:pt x="4260" y="1197"/>
                </a:cubicBezTo>
                <a:lnTo>
                  <a:pt x="4260" y="384"/>
                </a:lnTo>
                <a:cubicBezTo>
                  <a:pt x="4260" y="342"/>
                  <a:pt x="4226" y="308"/>
                  <a:pt x="4184" y="308"/>
                </a:cubicBezTo>
                <a:lnTo>
                  <a:pt x="1480" y="308"/>
                </a:lnTo>
                <a:cubicBezTo>
                  <a:pt x="1448" y="308"/>
                  <a:pt x="1421" y="334"/>
                  <a:pt x="1421" y="366"/>
                </a:cubicBezTo>
                <a:lnTo>
                  <a:pt x="1421" y="5363"/>
                </a:lnTo>
                <a:lnTo>
                  <a:pt x="1186" y="5838"/>
                </a:lnTo>
                <a:cubicBezTo>
                  <a:pt x="1186" y="5838"/>
                  <a:pt x="1115" y="5833"/>
                  <a:pt x="1114" y="5698"/>
                </a:cubicBezTo>
                <a:close/>
                <a:moveTo>
                  <a:pt x="4568" y="1043"/>
                </a:moveTo>
                <a:lnTo>
                  <a:pt x="5024" y="1043"/>
                </a:lnTo>
                <a:lnTo>
                  <a:pt x="4568" y="548"/>
                </a:lnTo>
                <a:lnTo>
                  <a:pt x="4568" y="1043"/>
                </a:lnTo>
                <a:close/>
                <a:moveTo>
                  <a:pt x="4734" y="1663"/>
                </a:moveTo>
                <a:lnTo>
                  <a:pt x="1904" y="1663"/>
                </a:lnTo>
                <a:cubicBezTo>
                  <a:pt x="1800" y="1663"/>
                  <a:pt x="1715" y="1748"/>
                  <a:pt x="1715" y="1852"/>
                </a:cubicBezTo>
                <a:cubicBezTo>
                  <a:pt x="1715" y="1956"/>
                  <a:pt x="1800" y="2041"/>
                  <a:pt x="1904" y="2041"/>
                </a:cubicBezTo>
                <a:lnTo>
                  <a:pt x="4734" y="2041"/>
                </a:lnTo>
                <a:cubicBezTo>
                  <a:pt x="4839" y="2041"/>
                  <a:pt x="4923" y="1956"/>
                  <a:pt x="4923" y="1852"/>
                </a:cubicBezTo>
                <a:cubicBezTo>
                  <a:pt x="4923" y="1748"/>
                  <a:pt x="4838" y="1663"/>
                  <a:pt x="4734" y="1663"/>
                </a:cubicBezTo>
                <a:close/>
                <a:moveTo>
                  <a:pt x="4923" y="2953"/>
                </a:moveTo>
                <a:cubicBezTo>
                  <a:pt x="4923" y="2848"/>
                  <a:pt x="4838" y="2764"/>
                  <a:pt x="4734" y="2764"/>
                </a:cubicBezTo>
                <a:lnTo>
                  <a:pt x="1904" y="2764"/>
                </a:lnTo>
                <a:cubicBezTo>
                  <a:pt x="1800" y="2764"/>
                  <a:pt x="1715" y="2849"/>
                  <a:pt x="1715" y="2953"/>
                </a:cubicBezTo>
                <a:cubicBezTo>
                  <a:pt x="1715" y="3057"/>
                  <a:pt x="1800" y="3142"/>
                  <a:pt x="1904" y="3142"/>
                </a:cubicBezTo>
                <a:lnTo>
                  <a:pt x="4734" y="3142"/>
                </a:lnTo>
                <a:cubicBezTo>
                  <a:pt x="4838" y="3142"/>
                  <a:pt x="4923" y="3057"/>
                  <a:pt x="4923" y="2953"/>
                </a:cubicBezTo>
                <a:close/>
                <a:moveTo>
                  <a:pt x="1715" y="4061"/>
                </a:moveTo>
                <a:cubicBezTo>
                  <a:pt x="1715" y="4165"/>
                  <a:pt x="1800" y="4249"/>
                  <a:pt x="1904" y="4249"/>
                </a:cubicBezTo>
                <a:lnTo>
                  <a:pt x="1972" y="4249"/>
                </a:lnTo>
                <a:cubicBezTo>
                  <a:pt x="2091" y="3917"/>
                  <a:pt x="2387" y="3872"/>
                  <a:pt x="2387" y="3872"/>
                </a:cubicBezTo>
                <a:lnTo>
                  <a:pt x="1904" y="3872"/>
                </a:lnTo>
                <a:cubicBezTo>
                  <a:pt x="1800" y="3872"/>
                  <a:pt x="1715" y="3956"/>
                  <a:pt x="1715" y="406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9A427D4-4E38-5498-14AA-EFA89D373CF5}"/>
              </a:ext>
            </a:extLst>
          </p:cNvPr>
          <p:cNvCxnSpPr>
            <a:cxnSpLocks/>
          </p:cNvCxnSpPr>
          <p:nvPr/>
        </p:nvCxnSpPr>
        <p:spPr>
          <a:xfrm flipV="1">
            <a:off x="6242873" y="2568437"/>
            <a:ext cx="6290" cy="139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BD571D0-4FB9-E691-BBD6-B0608642C28E}"/>
              </a:ext>
            </a:extLst>
          </p:cNvPr>
          <p:cNvSpPr txBox="1"/>
          <p:nvPr/>
        </p:nvSpPr>
        <p:spPr>
          <a:xfrm>
            <a:off x="5615915" y="3236398"/>
            <a:ext cx="126649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push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4" name="连接符: 肘形 23">
            <a:extLst>
              <a:ext uri="{FF2B5EF4-FFF2-40B4-BE49-F238E27FC236}">
                <a16:creationId xmlns:a16="http://schemas.microsoft.com/office/drawing/2014/main" id="{4710B608-7F59-C2FC-7B3D-99E7208182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49320" y="4834956"/>
            <a:ext cx="10000" cy="725678"/>
          </a:xfrm>
          <a:prstGeom prst="curvedConnector3">
            <a:avLst>
              <a:gd name="adj1" fmla="val 38011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连接符: 肘形 23">
            <a:extLst>
              <a:ext uri="{FF2B5EF4-FFF2-40B4-BE49-F238E27FC236}">
                <a16:creationId xmlns:a16="http://schemas.microsoft.com/office/drawing/2014/main" id="{035AAD65-CAE0-45BA-0218-A9B893B055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6359" y="4844956"/>
            <a:ext cx="10000" cy="725678"/>
          </a:xfrm>
          <a:prstGeom prst="curvedConnector3">
            <a:avLst>
              <a:gd name="adj1" fmla="val 38011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389119B-0A66-D53E-6318-45F868F53162}"/>
              </a:ext>
            </a:extLst>
          </p:cNvPr>
          <p:cNvSpPr txBox="1"/>
          <p:nvPr/>
        </p:nvSpPr>
        <p:spPr>
          <a:xfrm>
            <a:off x="3819018" y="5624759"/>
            <a:ext cx="14706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images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768BA4-7273-CE86-20E0-55DEECEC5401}"/>
              </a:ext>
            </a:extLst>
          </p:cNvPr>
          <p:cNvSpPr txBox="1"/>
          <p:nvPr/>
        </p:nvSpPr>
        <p:spPr>
          <a:xfrm>
            <a:off x="5411809" y="5624759"/>
            <a:ext cx="14706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rmi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839D018-C72D-561B-2E02-D08352519817}"/>
              </a:ext>
            </a:extLst>
          </p:cNvPr>
          <p:cNvSpPr/>
          <p:nvPr/>
        </p:nvSpPr>
        <p:spPr>
          <a:xfrm>
            <a:off x="8324767" y="4003834"/>
            <a:ext cx="2844778" cy="1208962"/>
          </a:xfrm>
          <a:prstGeom prst="roundRect">
            <a:avLst>
              <a:gd name="adj" fmla="val 112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容器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77782C9-79E1-1B28-37A7-E2DACB4F1914}"/>
              </a:ext>
            </a:extLst>
          </p:cNvPr>
          <p:cNvSpPr/>
          <p:nvPr/>
        </p:nvSpPr>
        <p:spPr>
          <a:xfrm>
            <a:off x="8569521" y="4266373"/>
            <a:ext cx="673484" cy="6734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运行中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F739B7D-C11F-0858-7238-208119000258}"/>
              </a:ext>
            </a:extLst>
          </p:cNvPr>
          <p:cNvSpPr/>
          <p:nvPr/>
        </p:nvSpPr>
        <p:spPr>
          <a:xfrm>
            <a:off x="10282066" y="4266373"/>
            <a:ext cx="673484" cy="673484"/>
          </a:xfrm>
          <a:prstGeom prst="ellipse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已停止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4DBCF3A-3FCF-CF08-B8FC-C28F14B07CB5}"/>
              </a:ext>
            </a:extLst>
          </p:cNvPr>
          <p:cNvCxnSpPr>
            <a:cxnSpLocks/>
            <a:stCxn id="5" idx="3"/>
            <a:endCxn id="19" idx="2"/>
          </p:cNvCxnSpPr>
          <p:nvPr/>
        </p:nvCxnSpPr>
        <p:spPr>
          <a:xfrm flipV="1">
            <a:off x="7045694" y="4603115"/>
            <a:ext cx="1523827" cy="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2D1BDA5-5CB4-91F9-43BC-262DB487480E}"/>
              </a:ext>
            </a:extLst>
          </p:cNvPr>
          <p:cNvSpPr txBox="1"/>
          <p:nvPr/>
        </p:nvSpPr>
        <p:spPr>
          <a:xfrm>
            <a:off x="7117582" y="4326116"/>
            <a:ext cx="113529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run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0B27C61-662B-DE4A-6A05-C63ABAC27F23}"/>
              </a:ext>
            </a:extLst>
          </p:cNvPr>
          <p:cNvCxnSpPr>
            <a:stCxn id="19" idx="7"/>
            <a:endCxn id="20" idx="1"/>
          </p:cNvCxnSpPr>
          <p:nvPr/>
        </p:nvCxnSpPr>
        <p:spPr>
          <a:xfrm>
            <a:off x="9144376" y="4365002"/>
            <a:ext cx="1236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D785CC0-4C38-732D-4CB0-12031E211ADB}"/>
              </a:ext>
            </a:extLst>
          </p:cNvPr>
          <p:cNvCxnSpPr>
            <a:cxnSpLocks/>
            <a:stCxn id="20" idx="3"/>
            <a:endCxn id="19" idx="5"/>
          </p:cNvCxnSpPr>
          <p:nvPr/>
        </p:nvCxnSpPr>
        <p:spPr>
          <a:xfrm flipH="1">
            <a:off x="9144376" y="4841228"/>
            <a:ext cx="1236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E281F3E-3A41-DEBD-A807-6F469CB006DE}"/>
              </a:ext>
            </a:extLst>
          </p:cNvPr>
          <p:cNvSpPr txBox="1"/>
          <p:nvPr/>
        </p:nvSpPr>
        <p:spPr>
          <a:xfrm>
            <a:off x="9334346" y="4386001"/>
            <a:ext cx="881652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stop</a:t>
            </a:r>
            <a:endParaRPr lang="zh-CN" altLang="en-US" sz="105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5A84CD3-0F93-96AF-D4BB-33960367F3FD}"/>
              </a:ext>
            </a:extLst>
          </p:cNvPr>
          <p:cNvSpPr txBox="1"/>
          <p:nvPr/>
        </p:nvSpPr>
        <p:spPr>
          <a:xfrm>
            <a:off x="9309073" y="4880063"/>
            <a:ext cx="961802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start</a:t>
            </a:r>
            <a:endParaRPr lang="zh-CN" altLang="en-US" sz="105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27" name="连接符: 肘形 23">
            <a:extLst>
              <a:ext uri="{FF2B5EF4-FFF2-40B4-BE49-F238E27FC236}">
                <a16:creationId xmlns:a16="http://schemas.microsoft.com/office/drawing/2014/main" id="{F6415A5C-C577-13E5-7904-3BC1030D98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90601" y="4834956"/>
            <a:ext cx="10000" cy="725678"/>
          </a:xfrm>
          <a:prstGeom prst="curvedConnector3">
            <a:avLst>
              <a:gd name="adj1" fmla="val 38011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肘形 23">
            <a:extLst>
              <a:ext uri="{FF2B5EF4-FFF2-40B4-BE49-F238E27FC236}">
                <a16:creationId xmlns:a16="http://schemas.microsoft.com/office/drawing/2014/main" id="{13C79E22-A85F-122C-07F6-767A526025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37640" y="4844956"/>
            <a:ext cx="10000" cy="725678"/>
          </a:xfrm>
          <a:prstGeom prst="curvedConnector3">
            <a:avLst>
              <a:gd name="adj1" fmla="val 380114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D8ED92A-C617-19D8-A853-486425013F8A}"/>
              </a:ext>
            </a:extLst>
          </p:cNvPr>
          <p:cNvSpPr txBox="1"/>
          <p:nvPr/>
        </p:nvSpPr>
        <p:spPr>
          <a:xfrm>
            <a:off x="8260299" y="5624759"/>
            <a:ext cx="14706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ps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B8342CA-EF84-6565-7206-D6C9FFD4A3FC}"/>
              </a:ext>
            </a:extLst>
          </p:cNvPr>
          <p:cNvSpPr txBox="1"/>
          <p:nvPr/>
        </p:nvSpPr>
        <p:spPr>
          <a:xfrm>
            <a:off x="9853090" y="5624759"/>
            <a:ext cx="14706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rm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1" name="连接符: 肘形 67">
            <a:extLst>
              <a:ext uri="{FF2B5EF4-FFF2-40B4-BE49-F238E27FC236}">
                <a16:creationId xmlns:a16="http://schemas.microsoft.com/office/drawing/2014/main" id="{DDDD5EC0-67FF-54A3-07A7-8C523691ACAC}"/>
              </a:ext>
            </a:extLst>
          </p:cNvPr>
          <p:cNvCxnSpPr/>
          <p:nvPr/>
        </p:nvCxnSpPr>
        <p:spPr>
          <a:xfrm rot="5400000" flipH="1" flipV="1">
            <a:off x="8981799" y="3654797"/>
            <a:ext cx="4054" cy="702127"/>
          </a:xfrm>
          <a:prstGeom prst="curvedConnector3">
            <a:avLst>
              <a:gd name="adj1" fmla="val 86238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67">
            <a:extLst>
              <a:ext uri="{FF2B5EF4-FFF2-40B4-BE49-F238E27FC236}">
                <a16:creationId xmlns:a16="http://schemas.microsoft.com/office/drawing/2014/main" id="{4238B68C-C8CB-4CEA-DD76-82E9A8CA9A27}"/>
              </a:ext>
            </a:extLst>
          </p:cNvPr>
          <p:cNvCxnSpPr/>
          <p:nvPr/>
        </p:nvCxnSpPr>
        <p:spPr>
          <a:xfrm rot="5400000" flipH="1" flipV="1">
            <a:off x="10556443" y="3658851"/>
            <a:ext cx="4054" cy="702127"/>
          </a:xfrm>
          <a:prstGeom prst="curvedConnector3">
            <a:avLst>
              <a:gd name="adj1" fmla="val 86238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5834739-2666-D017-E430-2E4ECCA446B7}"/>
              </a:ext>
            </a:extLst>
          </p:cNvPr>
          <p:cNvSpPr txBox="1"/>
          <p:nvPr/>
        </p:nvSpPr>
        <p:spPr>
          <a:xfrm>
            <a:off x="8170858" y="3341813"/>
            <a:ext cx="14706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logs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A190F5E-A400-D661-0890-B08D342177FA}"/>
              </a:ext>
            </a:extLst>
          </p:cNvPr>
          <p:cNvSpPr txBox="1"/>
          <p:nvPr/>
        </p:nvSpPr>
        <p:spPr>
          <a:xfrm>
            <a:off x="9903047" y="3322002"/>
            <a:ext cx="12664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exec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B1EB7D0-8545-28C2-AD4C-3E73F04CFD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30" y="2891737"/>
            <a:ext cx="992912" cy="99291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91A5318-312E-AB3C-8058-4D5BFC7186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12" y="5342884"/>
            <a:ext cx="840747" cy="840747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E273371-62C1-00A9-509D-AFEE3D959493}"/>
              </a:ext>
            </a:extLst>
          </p:cNvPr>
          <p:cNvCxnSpPr>
            <a:stCxn id="35" idx="3"/>
            <a:endCxn id="5" idx="1"/>
          </p:cNvCxnSpPr>
          <p:nvPr/>
        </p:nvCxnSpPr>
        <p:spPr>
          <a:xfrm>
            <a:off x="2366142" y="3388193"/>
            <a:ext cx="1511809" cy="121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33B9788-30C1-06B7-DF77-0AC9E4FB1BCA}"/>
              </a:ext>
            </a:extLst>
          </p:cNvPr>
          <p:cNvSpPr txBox="1"/>
          <p:nvPr/>
        </p:nvSpPr>
        <p:spPr>
          <a:xfrm>
            <a:off x="2468153" y="3962950"/>
            <a:ext cx="137385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build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B3809D5-7E15-A725-4664-0F60AE567CDE}"/>
              </a:ext>
            </a:extLst>
          </p:cNvPr>
          <p:cNvCxnSpPr>
            <a:stCxn id="5" idx="1"/>
          </p:cNvCxnSpPr>
          <p:nvPr/>
        </p:nvCxnSpPr>
        <p:spPr>
          <a:xfrm flipH="1">
            <a:off x="2366142" y="4603318"/>
            <a:ext cx="1511809" cy="910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239FAEA-2B68-1182-12FD-999FB5108B2A}"/>
              </a:ext>
            </a:extLst>
          </p:cNvPr>
          <p:cNvCxnSpPr>
            <a:cxnSpLocks/>
          </p:cNvCxnSpPr>
          <p:nvPr/>
        </p:nvCxnSpPr>
        <p:spPr>
          <a:xfrm flipV="1">
            <a:off x="2290059" y="5178075"/>
            <a:ext cx="1528959" cy="935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2915C1B-4210-DCC2-3AAE-D9B00331C1C9}"/>
              </a:ext>
            </a:extLst>
          </p:cNvPr>
          <p:cNvSpPr txBox="1"/>
          <p:nvPr/>
        </p:nvSpPr>
        <p:spPr>
          <a:xfrm>
            <a:off x="2380376" y="4903146"/>
            <a:ext cx="137385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save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3061B0-485B-E701-F986-1E5087CBE927}"/>
              </a:ext>
            </a:extLst>
          </p:cNvPr>
          <p:cNvSpPr txBox="1"/>
          <p:nvPr/>
        </p:nvSpPr>
        <p:spPr>
          <a:xfrm>
            <a:off x="2474631" y="5513656"/>
            <a:ext cx="137385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docker load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357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27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28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0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34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35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41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42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1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48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49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73" dur="1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74" dur="2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96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3" grpId="0" animBg="1"/>
      <p:bldP spid="34" grpId="0" animBg="1"/>
      <p:bldP spid="38" grpId="0" animBg="1"/>
      <p:bldP spid="41" grpId="0" animBg="1"/>
      <p:bldP spid="4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F63DAC7-56E9-9ECC-F014-92A28A9A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查看</a:t>
            </a:r>
            <a:r>
              <a:rPr lang="en-US" altLang="zh-CN"/>
              <a:t>DockerHub</a:t>
            </a:r>
            <a:r>
              <a:rPr lang="zh-CN" altLang="en-US"/>
              <a:t>，拉取</a:t>
            </a:r>
            <a:r>
              <a:rPr lang="en-US" altLang="zh-CN"/>
              <a:t>Nginx</a:t>
            </a:r>
            <a:r>
              <a:rPr lang="zh-CN" altLang="en-US"/>
              <a:t>镜像，创建并运行</a:t>
            </a:r>
            <a:r>
              <a:rPr lang="en-US" altLang="zh-CN"/>
              <a:t>Nginx</a:t>
            </a:r>
            <a:r>
              <a:rPr lang="zh-CN" altLang="en-US"/>
              <a:t>容器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75F574-69B1-35CD-26B9-51DAB5000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96349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DockerHub</a:t>
            </a:r>
            <a:r>
              <a:rPr lang="zh-CN" altLang="en-US"/>
              <a:t>中搜索</a:t>
            </a:r>
            <a:r>
              <a:rPr lang="en-US" altLang="zh-CN"/>
              <a:t>Nginx</a:t>
            </a:r>
            <a:r>
              <a:rPr lang="zh-CN" altLang="en-US"/>
              <a:t>镜像，查看镜像的名称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拉取</a:t>
            </a:r>
            <a:r>
              <a:rPr lang="en-US" altLang="zh-CN"/>
              <a:t>Nginx</a:t>
            </a:r>
            <a:r>
              <a:rPr lang="zh-CN" altLang="en-US"/>
              <a:t>镜像</a:t>
            </a:r>
            <a:r>
              <a:rPr lang="en-US" altLang="zh-CN"/>
              <a:t>(</a:t>
            </a:r>
            <a:r>
              <a:rPr lang="zh-CN" altLang="en-US"/>
              <a:t>比较耗时</a:t>
            </a:r>
            <a:r>
              <a:rPr lang="en-US" altLang="zh-CN"/>
              <a:t>)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查看本地镜像列表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创建并运行</a:t>
            </a:r>
            <a:r>
              <a:rPr lang="en-US" altLang="zh-CN"/>
              <a:t>Nginx</a:t>
            </a:r>
            <a:r>
              <a:rPr lang="zh-CN" altLang="en-US"/>
              <a:t>容器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查看容器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停止容器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再次启动容器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进入</a:t>
            </a:r>
            <a:r>
              <a:rPr lang="en-US" altLang="zh-CN"/>
              <a:t>Nginx</a:t>
            </a:r>
            <a:r>
              <a:rPr lang="zh-CN" altLang="en-US"/>
              <a:t>容器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删除容器</a:t>
            </a:r>
          </a:p>
        </p:txBody>
      </p:sp>
    </p:spTree>
    <p:extLst>
      <p:ext uri="{BB962C8B-B14F-4D97-AF65-F5344CB8AC3E}">
        <p14:creationId xmlns:p14="http://schemas.microsoft.com/office/powerpoint/2010/main" val="2308006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ACF9A-CB85-A989-E0AB-6A294F968D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核心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89A8B-DE06-9306-9564-EB864A892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常见命令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数据卷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自定义镜像</a:t>
            </a:r>
            <a:endParaRPr lang="en-US" altLang="zh-CN"/>
          </a:p>
          <a:p>
            <a:r>
              <a:rPr lang="zh-CN" altLang="en-US"/>
              <a:t>网络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80E98A-363A-8564-4D00-478DB3B2C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640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6FB1D8-B38A-6C78-3AF6-96D28DE5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Nginx</a:t>
            </a:r>
            <a:r>
              <a:rPr lang="zh-CN" altLang="en-US"/>
              <a:t>容器部署静态资源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9FF0A8-597D-0228-80D0-10D6B7748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24932"/>
            <a:ext cx="10714039" cy="163758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创建</a:t>
            </a:r>
            <a:r>
              <a:rPr lang="en-US" altLang="zh-CN"/>
              <a:t>Nginx</a:t>
            </a:r>
            <a:r>
              <a:rPr lang="zh-CN" altLang="en-US"/>
              <a:t>容器，修改</a:t>
            </a:r>
            <a:r>
              <a:rPr lang="en-US" altLang="zh-CN"/>
              <a:t>nginx</a:t>
            </a:r>
            <a:r>
              <a:rPr lang="zh-CN" altLang="en-US"/>
              <a:t>容器内的</a:t>
            </a:r>
            <a:r>
              <a:rPr lang="en-US" altLang="zh-CN"/>
              <a:t>html</a:t>
            </a:r>
            <a:r>
              <a:rPr lang="zh-CN" altLang="en-US"/>
              <a:t>目录下的</a:t>
            </a:r>
            <a:r>
              <a:rPr lang="en-US" altLang="zh-CN"/>
              <a:t>index.html</a:t>
            </a:r>
            <a:r>
              <a:rPr lang="zh-CN" altLang="en-US"/>
              <a:t>文件，查看变化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将静态资源部署到</a:t>
            </a:r>
            <a:r>
              <a:rPr lang="en-US" altLang="zh-CN"/>
              <a:t>nginx</a:t>
            </a:r>
            <a:r>
              <a:rPr lang="zh-CN" altLang="en-US"/>
              <a:t>的</a:t>
            </a:r>
            <a:r>
              <a:rPr lang="en-US" altLang="zh-CN"/>
              <a:t>html</a:t>
            </a:r>
            <a:r>
              <a:rPr lang="zh-CN" altLang="en-US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253667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数据卷</a:t>
            </a:r>
            <a:r>
              <a:rPr lang="en-US" altLang="zh-CN"/>
              <a:t>-</a:t>
            </a:r>
            <a:r>
              <a:rPr lang="zh-CN" altLang="en-US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effectLst/>
              </a:rPr>
              <a:t>数据卷（</a:t>
            </a:r>
            <a:r>
              <a:rPr lang="en-US" altLang="zh-CN" b="1">
                <a:solidFill>
                  <a:srgbClr val="C00000"/>
                </a:solidFill>
                <a:effectLst/>
              </a:rPr>
              <a:t>volume</a:t>
            </a:r>
            <a:r>
              <a:rPr lang="zh-CN" altLang="en-US" b="1">
                <a:solidFill>
                  <a:srgbClr val="C00000"/>
                </a:solidFill>
                <a:effectLst/>
              </a:rPr>
              <a:t>）</a:t>
            </a:r>
            <a:r>
              <a:rPr lang="zh-CN" altLang="en-US">
                <a:solidFill>
                  <a:srgbClr val="333333"/>
                </a:solidFill>
                <a:effectLst/>
              </a:rPr>
              <a:t>是一个虚拟目录，是 </a:t>
            </a:r>
            <a:r>
              <a:rPr lang="zh-CN" altLang="en-US">
                <a:solidFill>
                  <a:srgbClr val="C00000"/>
                </a:solidFill>
                <a:effectLst/>
              </a:rPr>
              <a:t>容器内目录 </a:t>
            </a:r>
            <a:r>
              <a:rPr lang="zh-CN" altLang="en-US">
                <a:solidFill>
                  <a:srgbClr val="333333"/>
                </a:solidFill>
                <a:effectLst/>
              </a:rPr>
              <a:t>与 </a:t>
            </a:r>
            <a:r>
              <a:rPr lang="zh-CN" altLang="en-US">
                <a:solidFill>
                  <a:srgbClr val="C00000"/>
                </a:solidFill>
                <a:effectLst/>
              </a:rPr>
              <a:t>宿主机目录 </a:t>
            </a:r>
            <a:r>
              <a:rPr lang="zh-CN" altLang="en-US">
                <a:solidFill>
                  <a:srgbClr val="333333"/>
                </a:solidFill>
                <a:effectLst/>
              </a:rPr>
              <a:t>之间映射的桥梁。</a:t>
            </a:r>
            <a:endParaRPr lang="zh-CN" altLang="en-US">
              <a:effectLst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926F480-4673-A55C-553B-EE325F647DA1}"/>
              </a:ext>
            </a:extLst>
          </p:cNvPr>
          <p:cNvGrpSpPr/>
          <p:nvPr/>
        </p:nvGrpSpPr>
        <p:grpSpPr>
          <a:xfrm>
            <a:off x="7295102" y="2161409"/>
            <a:ext cx="3819562" cy="2744443"/>
            <a:chOff x="893618" y="3106879"/>
            <a:chExt cx="1979618" cy="2708605"/>
          </a:xfrm>
          <a:effectLst/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E5EBFE4-C368-F18A-3CEE-F87D96599FD0}"/>
                </a:ext>
              </a:extLst>
            </p:cNvPr>
            <p:cNvSpPr/>
            <p:nvPr/>
          </p:nvSpPr>
          <p:spPr>
            <a:xfrm>
              <a:off x="893618" y="3262743"/>
              <a:ext cx="1979618" cy="2552741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38F7BE9-AD12-3769-1AB7-47F77A05335C}"/>
                </a:ext>
              </a:extLst>
            </p:cNvPr>
            <p:cNvSpPr/>
            <p:nvPr/>
          </p:nvSpPr>
          <p:spPr>
            <a:xfrm>
              <a:off x="893619" y="3106879"/>
              <a:ext cx="683461" cy="303923"/>
            </a:xfrm>
            <a:prstGeom prst="round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Nginx</a:t>
              </a:r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容器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4856B5-DDB5-4FC5-0DB2-7BCE6216F8E6}"/>
              </a:ext>
            </a:extLst>
          </p:cNvPr>
          <p:cNvCxnSpPr/>
          <p:nvPr/>
        </p:nvCxnSpPr>
        <p:spPr>
          <a:xfrm>
            <a:off x="7525230" y="2469353"/>
            <a:ext cx="0" cy="1654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07E294-C201-D39F-7FDA-0AA8810C63EC}"/>
              </a:ext>
            </a:extLst>
          </p:cNvPr>
          <p:cNvCxnSpPr/>
          <p:nvPr/>
        </p:nvCxnSpPr>
        <p:spPr>
          <a:xfrm>
            <a:off x="7525230" y="2839467"/>
            <a:ext cx="4292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86F22FB2-CFF0-9B8C-DD25-A18EEAE0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454" y="2627279"/>
            <a:ext cx="429115" cy="3973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1F10BBA-D3FC-4E7F-079C-F74958ECCB8B}"/>
              </a:ext>
            </a:extLst>
          </p:cNvPr>
          <p:cNvSpPr txBox="1"/>
          <p:nvPr/>
        </p:nvSpPr>
        <p:spPr>
          <a:xfrm>
            <a:off x="8353361" y="2711723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/etc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39FF35E-9C30-8608-86C7-A692486E1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164" y="2947983"/>
            <a:ext cx="429115" cy="39732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5058B3B-E90F-6452-5962-B55C5CB245AE}"/>
              </a:ext>
            </a:extLst>
          </p:cNvPr>
          <p:cNvSpPr txBox="1"/>
          <p:nvPr/>
        </p:nvSpPr>
        <p:spPr>
          <a:xfrm>
            <a:off x="9057071" y="3032427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/nginx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2E69AC5-A666-71C2-5769-C67483A0F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874" y="3268687"/>
            <a:ext cx="429115" cy="39732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0B1C72D-5146-2030-180C-324DCBE46790}"/>
              </a:ext>
            </a:extLst>
          </p:cNvPr>
          <p:cNvSpPr txBox="1"/>
          <p:nvPr/>
        </p:nvSpPr>
        <p:spPr>
          <a:xfrm>
            <a:off x="9553948" y="3353131"/>
            <a:ext cx="847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/conf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933FBF-1FB9-A364-20E2-4E1314863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020" y="4171133"/>
            <a:ext cx="429115" cy="39732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50C838D-6651-049F-4840-24C654C3D03A}"/>
              </a:ext>
            </a:extLst>
          </p:cNvPr>
          <p:cNvSpPr txBox="1"/>
          <p:nvPr/>
        </p:nvSpPr>
        <p:spPr>
          <a:xfrm>
            <a:off x="10094197" y="4262931"/>
            <a:ext cx="847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/html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BE560FE5-6BCB-B16C-B458-AE95A31B3258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16200000" flipH="1">
            <a:off x="8352568" y="2841052"/>
            <a:ext cx="122040" cy="4891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7B932F0F-2735-1971-FA92-AC21A1702B3C}"/>
              </a:ext>
            </a:extLst>
          </p:cNvPr>
          <p:cNvCxnSpPr>
            <a:stCxn id="13" idx="1"/>
            <a:endCxn id="11" idx="2"/>
          </p:cNvCxnSpPr>
          <p:nvPr/>
        </p:nvCxnSpPr>
        <p:spPr>
          <a:xfrm rot="10800000">
            <a:off x="8872722" y="3345312"/>
            <a:ext cx="489152" cy="12204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CA93514E-893D-BD20-4C3F-CA3BDD6D5B1E}"/>
              </a:ext>
            </a:extLst>
          </p:cNvPr>
          <p:cNvCxnSpPr>
            <a:cxnSpLocks/>
            <a:stCxn id="65" idx="2"/>
            <a:endCxn id="15" idx="1"/>
          </p:cNvCxnSpPr>
          <p:nvPr/>
        </p:nvCxnSpPr>
        <p:spPr>
          <a:xfrm rot="16200000" flipH="1">
            <a:off x="9691974" y="4109752"/>
            <a:ext cx="132288" cy="3878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75FE5F9-1A39-306C-DC3D-6351CEC42788}"/>
              </a:ext>
            </a:extLst>
          </p:cNvPr>
          <p:cNvGrpSpPr/>
          <p:nvPr/>
        </p:nvGrpSpPr>
        <p:grpSpPr>
          <a:xfrm>
            <a:off x="802472" y="3424141"/>
            <a:ext cx="5559519" cy="2825070"/>
            <a:chOff x="893618" y="3106879"/>
            <a:chExt cx="2881410" cy="2788178"/>
          </a:xfrm>
          <a:effectLst/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E060F78-0FBD-59F0-3BC8-9F723474D303}"/>
                </a:ext>
              </a:extLst>
            </p:cNvPr>
            <p:cNvSpPr/>
            <p:nvPr/>
          </p:nvSpPr>
          <p:spPr>
            <a:xfrm>
              <a:off x="893618" y="3262744"/>
              <a:ext cx="2881410" cy="2632313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072C021B-9319-9A6B-A7CD-1C02FB4B223F}"/>
                </a:ext>
              </a:extLst>
            </p:cNvPr>
            <p:cNvSpPr/>
            <p:nvPr/>
          </p:nvSpPr>
          <p:spPr>
            <a:xfrm>
              <a:off x="893619" y="3106879"/>
              <a:ext cx="811251" cy="271694"/>
            </a:xfrm>
            <a:prstGeom prst="round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宿主机文件系统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3B6B6E-5550-578E-8C86-29F4C6E4AE9A}"/>
              </a:ext>
            </a:extLst>
          </p:cNvPr>
          <p:cNvGrpSpPr/>
          <p:nvPr/>
        </p:nvGrpSpPr>
        <p:grpSpPr>
          <a:xfrm>
            <a:off x="800137" y="2161408"/>
            <a:ext cx="5559519" cy="1144881"/>
            <a:chOff x="893617" y="3106879"/>
            <a:chExt cx="2881410" cy="1129931"/>
          </a:xfrm>
          <a:effectLst/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CBB3919-0308-7948-E73F-D336B2BFB994}"/>
                </a:ext>
              </a:extLst>
            </p:cNvPr>
            <p:cNvSpPr/>
            <p:nvPr/>
          </p:nvSpPr>
          <p:spPr>
            <a:xfrm>
              <a:off x="893617" y="3262744"/>
              <a:ext cx="2881410" cy="974066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6AD99F1-6009-B2B1-1104-BA59E0DBB212}"/>
                </a:ext>
              </a:extLst>
            </p:cNvPr>
            <p:cNvSpPr/>
            <p:nvPr/>
          </p:nvSpPr>
          <p:spPr>
            <a:xfrm>
              <a:off x="893619" y="3106879"/>
              <a:ext cx="683461" cy="303923"/>
            </a:xfrm>
            <a:prstGeom prst="roundRect">
              <a:avLst/>
            </a:prstGeom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数据卷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B6CDB14F-3F34-434C-656F-5F85AAEEB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73" y="2456568"/>
            <a:ext cx="522479" cy="48877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6E2C248-43CC-3B61-B888-CEE13F709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441" y="2462068"/>
            <a:ext cx="522479" cy="488771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622F2D7-E184-19FD-CE5A-613188AA6E58}"/>
              </a:ext>
            </a:extLst>
          </p:cNvPr>
          <p:cNvSpPr txBox="1"/>
          <p:nvPr/>
        </p:nvSpPr>
        <p:spPr>
          <a:xfrm>
            <a:off x="3702209" y="2942993"/>
            <a:ext cx="654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html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D5EB8DB-D59B-F3FA-116A-580742A94089}"/>
              </a:ext>
            </a:extLst>
          </p:cNvPr>
          <p:cNvSpPr txBox="1"/>
          <p:nvPr/>
        </p:nvSpPr>
        <p:spPr>
          <a:xfrm>
            <a:off x="5176403" y="2946383"/>
            <a:ext cx="736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conf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3EB7AC7-E3F6-6FAC-0A59-3817D7EA1165}"/>
              </a:ext>
            </a:extLst>
          </p:cNvPr>
          <p:cNvCxnSpPr/>
          <p:nvPr/>
        </p:nvCxnSpPr>
        <p:spPr>
          <a:xfrm>
            <a:off x="1132090" y="3722009"/>
            <a:ext cx="0" cy="1654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A7CA16-8958-0E6D-219C-6875BEB9090A}"/>
              </a:ext>
            </a:extLst>
          </p:cNvPr>
          <p:cNvCxnSpPr/>
          <p:nvPr/>
        </p:nvCxnSpPr>
        <p:spPr>
          <a:xfrm>
            <a:off x="1132090" y="3983263"/>
            <a:ext cx="4292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97D85753-3660-7A48-D578-0E9221BCC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14" y="3771075"/>
            <a:ext cx="429115" cy="397329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2A22A1F5-5D17-5CD4-B422-BC5064CEAD4C}"/>
              </a:ext>
            </a:extLst>
          </p:cNvPr>
          <p:cNvSpPr txBox="1"/>
          <p:nvPr/>
        </p:nvSpPr>
        <p:spPr>
          <a:xfrm>
            <a:off x="1960221" y="3855519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/var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6DFB8C0-50A7-410D-FE26-AF5994D99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024" y="4080893"/>
            <a:ext cx="429115" cy="39732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767C601A-ACFD-FA18-0018-C55FB41B96D9}"/>
              </a:ext>
            </a:extLst>
          </p:cNvPr>
          <p:cNvSpPr txBox="1"/>
          <p:nvPr/>
        </p:nvSpPr>
        <p:spPr>
          <a:xfrm>
            <a:off x="2663931" y="4165337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/lib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339570E-98E2-3D94-37B1-81A40EB92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5" y="5023061"/>
            <a:ext cx="429115" cy="397329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C99FAD9-53AE-AF39-6F2E-FDE482780A76}"/>
              </a:ext>
            </a:extLst>
          </p:cNvPr>
          <p:cNvSpPr txBox="1"/>
          <p:nvPr/>
        </p:nvSpPr>
        <p:spPr>
          <a:xfrm>
            <a:off x="4606632" y="5107505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/html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39097FE4-C7A0-F8CE-8B99-32552E01D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5" y="5546342"/>
            <a:ext cx="429115" cy="397329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8BC6087-9140-F29E-54A0-087471476000}"/>
              </a:ext>
            </a:extLst>
          </p:cNvPr>
          <p:cNvSpPr txBox="1"/>
          <p:nvPr/>
        </p:nvSpPr>
        <p:spPr>
          <a:xfrm>
            <a:off x="4606632" y="5630786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/conf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15BD97D-4243-6006-27FB-CDEDE5783E5B}"/>
              </a:ext>
            </a:extLst>
          </p:cNvPr>
          <p:cNvCxnSpPr>
            <a:stCxn id="32" idx="2"/>
            <a:endCxn id="34" idx="1"/>
          </p:cNvCxnSpPr>
          <p:nvPr/>
        </p:nvCxnSpPr>
        <p:spPr>
          <a:xfrm rot="16200000" flipH="1">
            <a:off x="1964871" y="3979405"/>
            <a:ext cx="111154" cy="4891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6161E29E-EDE7-85E5-5420-A9F776700538}"/>
              </a:ext>
            </a:extLst>
          </p:cNvPr>
          <p:cNvCxnSpPr>
            <a:cxnSpLocks/>
            <a:stCxn id="36" idx="1"/>
            <a:endCxn id="46" idx="2"/>
          </p:cNvCxnSpPr>
          <p:nvPr/>
        </p:nvCxnSpPr>
        <p:spPr>
          <a:xfrm rot="10800000">
            <a:off x="3752645" y="5104516"/>
            <a:ext cx="455081" cy="11721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2553AD13-EB6D-DD37-7D51-0AD65377CE6A}"/>
              </a:ext>
            </a:extLst>
          </p:cNvPr>
          <p:cNvCxnSpPr>
            <a:cxnSpLocks/>
            <a:stCxn id="46" idx="2"/>
            <a:endCxn id="38" idx="1"/>
          </p:cNvCxnSpPr>
          <p:nvPr/>
        </p:nvCxnSpPr>
        <p:spPr>
          <a:xfrm rot="16200000" flipH="1">
            <a:off x="3659939" y="5197220"/>
            <a:ext cx="640491" cy="45508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10CA6132-9C74-83C7-43C7-8429EB95C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094" y="4388596"/>
            <a:ext cx="429115" cy="397329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A4CD4C2F-AE43-3D25-A9E7-0997CC92B4A6}"/>
              </a:ext>
            </a:extLst>
          </p:cNvPr>
          <p:cNvSpPr txBox="1"/>
          <p:nvPr/>
        </p:nvSpPr>
        <p:spPr>
          <a:xfrm>
            <a:off x="3310001" y="4473040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/docker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06741489-0D9E-FC1A-88D5-CA136681DC79}"/>
              </a:ext>
            </a:extLst>
          </p:cNvPr>
          <p:cNvCxnSpPr>
            <a:cxnSpLocks/>
            <a:stCxn id="34" idx="2"/>
            <a:endCxn id="43" idx="1"/>
          </p:cNvCxnSpPr>
          <p:nvPr/>
        </p:nvCxnSpPr>
        <p:spPr>
          <a:xfrm rot="16200000" flipH="1">
            <a:off x="2640819" y="4316985"/>
            <a:ext cx="109039" cy="43151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图片 45">
            <a:extLst>
              <a:ext uri="{FF2B5EF4-FFF2-40B4-BE49-F238E27FC236}">
                <a16:creationId xmlns:a16="http://schemas.microsoft.com/office/drawing/2014/main" id="{8934ED46-2161-A527-E4D7-34A682336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086" y="4707187"/>
            <a:ext cx="429115" cy="397329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FC0B915B-A213-0B50-DA91-5EA82EC819C7}"/>
              </a:ext>
            </a:extLst>
          </p:cNvPr>
          <p:cNvSpPr txBox="1"/>
          <p:nvPr/>
        </p:nvSpPr>
        <p:spPr>
          <a:xfrm>
            <a:off x="3936993" y="4791631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/volumes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C6A0256-8CEB-1835-D4F8-EA62117873D0}"/>
              </a:ext>
            </a:extLst>
          </p:cNvPr>
          <p:cNvCxnSpPr>
            <a:cxnSpLocks/>
            <a:stCxn id="43" idx="2"/>
            <a:endCxn id="46" idx="1"/>
          </p:cNvCxnSpPr>
          <p:nvPr/>
        </p:nvCxnSpPr>
        <p:spPr>
          <a:xfrm rot="16200000" flipH="1">
            <a:off x="3271906" y="4639671"/>
            <a:ext cx="119927" cy="41243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54FA142B-FADA-4935-51A0-0591E2BE2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812" y="5307444"/>
            <a:ext cx="429115" cy="397329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D4AE4B58-8499-FA9D-76E0-3FE96A7C41DE}"/>
              </a:ext>
            </a:extLst>
          </p:cNvPr>
          <p:cNvSpPr txBox="1"/>
          <p:nvPr/>
        </p:nvSpPr>
        <p:spPr>
          <a:xfrm>
            <a:off x="5176403" y="5391888"/>
            <a:ext cx="803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/_data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A79A7411-DF15-5846-AD59-C857166BD38B}"/>
              </a:ext>
            </a:extLst>
          </p:cNvPr>
          <p:cNvCxnSpPr>
            <a:cxnSpLocks/>
            <a:stCxn id="49" idx="1"/>
            <a:endCxn id="36" idx="2"/>
          </p:cNvCxnSpPr>
          <p:nvPr/>
        </p:nvCxnSpPr>
        <p:spPr>
          <a:xfrm rot="10800000">
            <a:off x="4422284" y="5420391"/>
            <a:ext cx="420529" cy="8571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图片 51">
            <a:extLst>
              <a:ext uri="{FF2B5EF4-FFF2-40B4-BE49-F238E27FC236}">
                <a16:creationId xmlns:a16="http://schemas.microsoft.com/office/drawing/2014/main" id="{5757911E-D4D9-B331-52F1-0102E84A3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743" y="5851881"/>
            <a:ext cx="429115" cy="397329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A17B1C23-D30A-3B6C-97D9-C368A54145AB}"/>
              </a:ext>
            </a:extLst>
          </p:cNvPr>
          <p:cNvSpPr txBox="1"/>
          <p:nvPr/>
        </p:nvSpPr>
        <p:spPr>
          <a:xfrm>
            <a:off x="5647448" y="5936325"/>
            <a:ext cx="803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/_data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B85226F3-C4D0-1C20-2A4E-33509ED9B372}"/>
              </a:ext>
            </a:extLst>
          </p:cNvPr>
          <p:cNvCxnSpPr>
            <a:cxnSpLocks/>
            <a:stCxn id="52" idx="1"/>
            <a:endCxn id="38" idx="2"/>
          </p:cNvCxnSpPr>
          <p:nvPr/>
        </p:nvCxnSpPr>
        <p:spPr>
          <a:xfrm rot="10800000">
            <a:off x="4422283" y="5943672"/>
            <a:ext cx="902460" cy="10687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87B341A-A3D9-79EF-0AED-8135A7D4A3A8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967201" y="3241764"/>
            <a:ext cx="1610730" cy="2150124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23DFC94-8B79-B4D6-CABB-7402421BF321}"/>
              </a:ext>
            </a:extLst>
          </p:cNvPr>
          <p:cNvCxnSpPr>
            <a:cxnSpLocks/>
            <a:stCxn id="29" idx="2"/>
            <a:endCxn id="53" idx="0"/>
          </p:cNvCxnSpPr>
          <p:nvPr/>
        </p:nvCxnSpPr>
        <p:spPr>
          <a:xfrm>
            <a:off x="5544616" y="3223382"/>
            <a:ext cx="504360" cy="2712943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5347AC7A-094D-1124-0F0E-9873B4123E4C}"/>
              </a:ext>
            </a:extLst>
          </p:cNvPr>
          <p:cNvCxnSpPr>
            <a:cxnSpLocks/>
            <a:stCxn id="14" idx="3"/>
            <a:endCxn id="27" idx="0"/>
          </p:cNvCxnSpPr>
          <p:nvPr/>
        </p:nvCxnSpPr>
        <p:spPr>
          <a:xfrm flipH="1" flipV="1">
            <a:off x="5510681" y="2462068"/>
            <a:ext cx="4890487" cy="1029563"/>
          </a:xfrm>
          <a:prstGeom prst="bentConnector4">
            <a:avLst>
              <a:gd name="adj1" fmla="val -4674"/>
              <a:gd name="adj2" fmla="val 137006"/>
            </a:avLst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307AF0B-3259-6DBF-E14F-8DDC51D1B96F}"/>
              </a:ext>
            </a:extLst>
          </p:cNvPr>
          <p:cNvCxnSpPr>
            <a:stCxn id="16" idx="3"/>
            <a:endCxn id="26" idx="0"/>
          </p:cNvCxnSpPr>
          <p:nvPr/>
        </p:nvCxnSpPr>
        <p:spPr>
          <a:xfrm flipH="1" flipV="1">
            <a:off x="3979813" y="2456568"/>
            <a:ext cx="6961604" cy="1944863"/>
          </a:xfrm>
          <a:prstGeom prst="bentConnector4">
            <a:avLst>
              <a:gd name="adj1" fmla="val -4968"/>
              <a:gd name="adj2" fmla="val 130440"/>
            </a:avLst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D2B9A5B-8908-C7F4-FAEE-7506C4372ED7}"/>
              </a:ext>
            </a:extLst>
          </p:cNvPr>
          <p:cNvCxnSpPr/>
          <p:nvPr/>
        </p:nvCxnSpPr>
        <p:spPr>
          <a:xfrm>
            <a:off x="7526102" y="3449485"/>
            <a:ext cx="4292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C89F73F8-3DAA-454B-01D6-E39BEDB94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326" y="3237297"/>
            <a:ext cx="429115" cy="397329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34420B29-11FD-EDE9-D8CA-071E4ACE164E}"/>
              </a:ext>
            </a:extLst>
          </p:cNvPr>
          <p:cNvSpPr txBox="1"/>
          <p:nvPr/>
        </p:nvSpPr>
        <p:spPr>
          <a:xfrm>
            <a:off x="8354233" y="3321741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usr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446CFE76-7A8A-E463-C6EA-BC42A7FB6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036" y="3558001"/>
            <a:ext cx="429115" cy="397329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3841D96F-3A52-76DA-F952-7D99669D3464}"/>
              </a:ext>
            </a:extLst>
          </p:cNvPr>
          <p:cNvSpPr txBox="1"/>
          <p:nvPr/>
        </p:nvSpPr>
        <p:spPr>
          <a:xfrm>
            <a:off x="9057943" y="3642445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/share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01452C0E-12AA-6AAB-478A-2BF023B26AE8}"/>
              </a:ext>
            </a:extLst>
          </p:cNvPr>
          <p:cNvCxnSpPr>
            <a:stCxn id="60" idx="2"/>
            <a:endCxn id="62" idx="1"/>
          </p:cNvCxnSpPr>
          <p:nvPr/>
        </p:nvCxnSpPr>
        <p:spPr>
          <a:xfrm rot="16200000" flipH="1">
            <a:off x="8353440" y="3451070"/>
            <a:ext cx="122040" cy="4891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A2A58E96-3650-6CC2-B614-2D3299875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659" y="3840181"/>
            <a:ext cx="429115" cy="397329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F12B3BEC-38E7-EEA0-FA74-D79284CF879C}"/>
              </a:ext>
            </a:extLst>
          </p:cNvPr>
          <p:cNvSpPr txBox="1"/>
          <p:nvPr/>
        </p:nvSpPr>
        <p:spPr>
          <a:xfrm>
            <a:off x="9748566" y="3924625"/>
            <a:ext cx="1077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/nginx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703B97F6-867A-D0D1-869F-C95F1CE66731}"/>
              </a:ext>
            </a:extLst>
          </p:cNvPr>
          <p:cNvCxnSpPr>
            <a:endCxn id="65" idx="1"/>
          </p:cNvCxnSpPr>
          <p:nvPr/>
        </p:nvCxnSpPr>
        <p:spPr>
          <a:xfrm rot="16200000" flipH="1">
            <a:off x="9044063" y="3733250"/>
            <a:ext cx="122040" cy="4891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2094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8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9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1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11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86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87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88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89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95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96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97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98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28" grpId="0"/>
      <p:bldP spid="29" grpId="0"/>
      <p:bldP spid="33" grpId="0"/>
      <p:bldP spid="35" grpId="0"/>
      <p:bldP spid="37" grpId="0"/>
      <p:bldP spid="39" grpId="0"/>
      <p:bldP spid="44" grpId="0"/>
      <p:bldP spid="47" grpId="0"/>
      <p:bldP spid="50" grpId="0"/>
      <p:bldP spid="53" grpId="0"/>
      <p:bldP spid="61" grpId="0"/>
      <p:bldP spid="63" grpId="0"/>
      <p:bldP spid="6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数据卷</a:t>
            </a:r>
            <a:r>
              <a:rPr lang="en-US" altLang="zh-CN"/>
              <a:t>-</a:t>
            </a:r>
            <a:r>
              <a:rPr lang="zh-CN" altLang="en-US"/>
              <a:t>操作命令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0D3BEF-5990-E3D2-1AAD-8F3DC8209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70012"/>
              </p:ext>
            </p:extLst>
          </p:nvPr>
        </p:nvGraphicFramePr>
        <p:xfrm>
          <a:off x="712695" y="1249937"/>
          <a:ext cx="10747497" cy="3655197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3582499">
                  <a:extLst>
                    <a:ext uri="{9D8B030D-6E8A-4147-A177-3AD203B41FA5}">
                      <a16:colId xmlns:a16="http://schemas.microsoft.com/office/drawing/2014/main" val="3778901182"/>
                    </a:ext>
                  </a:extLst>
                </a:gridCol>
                <a:gridCol w="3582499">
                  <a:extLst>
                    <a:ext uri="{9D8B030D-6E8A-4147-A177-3AD203B41FA5}">
                      <a16:colId xmlns:a16="http://schemas.microsoft.com/office/drawing/2014/main" val="3057283304"/>
                    </a:ext>
                  </a:extLst>
                </a:gridCol>
                <a:gridCol w="3582499">
                  <a:extLst>
                    <a:ext uri="{9D8B030D-6E8A-4147-A177-3AD203B41FA5}">
                      <a16:colId xmlns:a16="http://schemas.microsoft.com/office/drawing/2014/main" val="2271719072"/>
                    </a:ext>
                  </a:extLst>
                </a:gridCol>
              </a:tblGrid>
              <a:tr h="7046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endParaRPr lang="zh-CN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rgbClr val="B600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>
                          <a:solidFill>
                            <a:srgbClr val="FFFFFF"/>
                          </a:solidFill>
                          <a:effectLst/>
                        </a:rPr>
                        <a:t>说明</a:t>
                      </a:r>
                      <a:endParaRPr lang="zh-CN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rgbClr val="B600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>
                          <a:solidFill>
                            <a:srgbClr val="FFFFFF"/>
                          </a:solidFill>
                          <a:effectLst/>
                        </a:rPr>
                        <a:t>文档地址</a:t>
                      </a:r>
                      <a:endParaRPr lang="zh-CN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rgbClr val="B60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869281"/>
                  </a:ext>
                </a:extLst>
              </a:tr>
              <a:tr h="604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volume create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创建数据卷</a:t>
                      </a:r>
                      <a:endParaRPr lang="zh-CN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effectLst/>
                          <a:hlinkClick r:id="rId2"/>
                        </a:rPr>
                        <a:t>docker volume create</a:t>
                      </a:r>
                      <a:endParaRPr lang="en-US" sz="1400" u="none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2878859604"/>
                  </a:ext>
                </a:extLst>
              </a:tr>
              <a:tr h="5314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volume ls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查看所有数据卷</a:t>
                      </a:r>
                      <a:endParaRPr lang="zh-CN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effectLst/>
                          <a:hlinkClick r:id="rId3"/>
                        </a:rPr>
                        <a:t>docker volume ls</a:t>
                      </a:r>
                      <a:endParaRPr lang="en-US" sz="1400" u="none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204666"/>
                  </a:ext>
                </a:extLst>
              </a:tr>
              <a:tr h="604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volume rm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删除指定数据卷</a:t>
                      </a:r>
                      <a:endParaRPr lang="zh-CN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effectLst/>
                          <a:hlinkClick r:id="rId4"/>
                        </a:rPr>
                        <a:t>docker volume rm</a:t>
                      </a:r>
                      <a:endParaRPr lang="en-US" sz="1400" u="none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1689251694"/>
                  </a:ext>
                </a:extLst>
              </a:tr>
              <a:tr h="604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volume inspect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查看某个数据卷的详情</a:t>
                      </a:r>
                      <a:endParaRPr lang="zh-CN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effectLst/>
                          <a:hlinkClick r:id="rId5"/>
                        </a:rPr>
                        <a:t>docker volume inspect</a:t>
                      </a:r>
                      <a:endParaRPr lang="en-US" sz="1400" u="none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94767"/>
                  </a:ext>
                </a:extLst>
              </a:tr>
              <a:tr h="604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volume prune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清除所有未使用的数据卷</a:t>
                      </a:r>
                      <a:endParaRPr lang="zh-CN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effectLst/>
                          <a:hlinkClick r:id="rId4"/>
                        </a:rPr>
                        <a:t>docker volume prune</a:t>
                      </a:r>
                      <a:endParaRPr lang="en-US" sz="1400" u="none">
                        <a:effectLst/>
                        <a:latin typeface="+mn-ea"/>
                        <a:ea typeface="+mn-ea"/>
                      </a:endParaRP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166285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651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5C07004-B69C-2C59-2F7D-8CF6428D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Nginx</a:t>
            </a:r>
            <a:r>
              <a:rPr lang="zh-CN" altLang="en-US"/>
              <a:t>容器部署静态资源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5E29F4-5773-3434-8DDD-3EFDABA7B0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499" y="1024932"/>
            <a:ext cx="10786140" cy="15031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创建</a:t>
            </a:r>
            <a:r>
              <a:rPr lang="en-US" altLang="zh-CN"/>
              <a:t>Nginx</a:t>
            </a:r>
            <a:r>
              <a:rPr lang="zh-CN" altLang="en-US"/>
              <a:t>容器，修改</a:t>
            </a:r>
            <a:r>
              <a:rPr lang="en-US" altLang="zh-CN"/>
              <a:t>nginx</a:t>
            </a:r>
            <a:r>
              <a:rPr lang="zh-CN" altLang="en-US"/>
              <a:t>容器内的</a:t>
            </a:r>
            <a:r>
              <a:rPr lang="en-US" altLang="zh-CN"/>
              <a:t>html</a:t>
            </a:r>
            <a:r>
              <a:rPr lang="zh-CN" altLang="en-US"/>
              <a:t>目录下的</a:t>
            </a:r>
            <a:r>
              <a:rPr lang="en-US" altLang="zh-CN"/>
              <a:t>index.html</a:t>
            </a:r>
            <a:r>
              <a:rPr lang="zh-CN" altLang="en-US"/>
              <a:t>文件内容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将静态资源部署到</a:t>
            </a:r>
            <a:r>
              <a:rPr lang="en-US" altLang="zh-CN"/>
              <a:t>nginx</a:t>
            </a:r>
            <a:r>
              <a:rPr lang="zh-CN" altLang="en-US"/>
              <a:t>的</a:t>
            </a:r>
            <a:r>
              <a:rPr lang="en-US" altLang="zh-CN"/>
              <a:t>html</a:t>
            </a:r>
            <a:r>
              <a:rPr lang="zh-CN" altLang="en-US"/>
              <a:t>目录</a:t>
            </a:r>
            <a:endParaRPr lang="en-US" altLang="zh-CN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54CB698-5AEE-995F-FEC6-6C933822FBEF}"/>
              </a:ext>
            </a:extLst>
          </p:cNvPr>
          <p:cNvGrpSpPr/>
          <p:nvPr/>
        </p:nvGrpSpPr>
        <p:grpSpPr>
          <a:xfrm>
            <a:off x="859012" y="6066774"/>
            <a:ext cx="10786141" cy="448408"/>
            <a:chOff x="710879" y="5978768"/>
            <a:chExt cx="10701134" cy="44840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1F5EDC1-2A1E-10D6-5561-929FE218FC15}"/>
                </a:ext>
              </a:extLst>
            </p:cNvPr>
            <p:cNvSpPr/>
            <p:nvPr/>
          </p:nvSpPr>
          <p:spPr>
            <a:xfrm>
              <a:off x="710880" y="5978769"/>
              <a:ext cx="10701133" cy="44840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在执行</a:t>
              </a:r>
              <a:r>
                <a:rPr lang="en-US" altLang="zh-CN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docker run</a:t>
              </a: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命令时，使用 </a:t>
              </a:r>
              <a:r>
                <a:rPr lang="en-US" altLang="zh-CN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-v </a:t>
              </a: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数据卷</a:t>
              </a:r>
              <a:r>
                <a:rPr lang="en-US" altLang="zh-CN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:</a:t>
              </a:r>
              <a:r>
                <a:rPr lang="zh-CN" altLang="en-US" sz="1400">
                  <a:solidFill>
                    <a:srgbClr val="C00000"/>
                  </a:solidFill>
                  <a:cs typeface="阿里巴巴普惠体" panose="00020600040101010101" pitchFamily="18" charset="-122"/>
                </a:rPr>
                <a:t>容器内目录 形式可以完成数据卷挂载（数据卷不存在，会自动创建）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99F2BB19-53C0-8D36-AD98-F98F51F2C0D7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Shape 2468">
              <a:extLst>
                <a:ext uri="{FF2B5EF4-FFF2-40B4-BE49-F238E27FC236}">
                  <a16:creationId xmlns:a16="http://schemas.microsoft.com/office/drawing/2014/main" id="{8A94DABB-CA1C-BC53-9658-8B301A1BF23F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392868C-C1D7-999E-7C00-6ACF464729B9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596069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E2A53D-01BD-7002-0276-7F4F23568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69718" y="1034502"/>
            <a:ext cx="7170081" cy="478899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什么是数据卷？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</a:pPr>
            <a:r>
              <a:rPr lang="zh-CN" altLang="en-US" sz="1400"/>
              <a:t>数据卷是一个虚拟目录，它将宿主机目录映射到容器内目录，方便我们操作容器内文件，或者方便迁移容器产生的数据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如何挂载数据卷？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</a:pPr>
            <a:r>
              <a:rPr lang="zh-CN" altLang="en-US" sz="1400"/>
              <a:t>在创建容器时，利用 </a:t>
            </a:r>
            <a:r>
              <a:rPr lang="en-US" altLang="zh-CN" sz="1400"/>
              <a:t>-v </a:t>
            </a:r>
            <a:r>
              <a:rPr lang="zh-CN" altLang="en-US" sz="1400"/>
              <a:t>数据卷名：容器内目录完成挂载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</a:pPr>
            <a:r>
              <a:rPr lang="zh-CN" altLang="en-US" sz="1400"/>
              <a:t>容器创建时，如果发现挂载的数据卷不存在时，会自动创建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数据卷的常见命令有哪些？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</a:pPr>
            <a:r>
              <a:rPr lang="en-US" altLang="zh-CN" sz="1400"/>
              <a:t>docker volume ls: </a:t>
            </a:r>
            <a:r>
              <a:rPr lang="zh-CN" altLang="en-US" sz="1400"/>
              <a:t>查看数据卷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</a:pPr>
            <a:r>
              <a:rPr lang="en-US" altLang="zh-CN" sz="1400"/>
              <a:t>docker volume rm: </a:t>
            </a:r>
            <a:r>
              <a:rPr lang="zh-CN" altLang="en-US" sz="1400"/>
              <a:t>删除数据卷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</a:pPr>
            <a:r>
              <a:rPr lang="en-US" altLang="zh-CN" sz="1400"/>
              <a:t>docker volume inspect: </a:t>
            </a:r>
            <a:r>
              <a:rPr lang="zh-CN" altLang="en-US" sz="1400"/>
              <a:t>查看数据卷详情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</a:pPr>
            <a:r>
              <a:rPr lang="en-US" altLang="zh-CN" sz="1400"/>
              <a:t>docker volume prune: </a:t>
            </a:r>
            <a:r>
              <a:rPr lang="zh-CN" altLang="en-US" sz="1400"/>
              <a:t> 删除未使用的数据卷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916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51436E-2984-1495-4E2C-D7F0E1BF3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938488"/>
          </a:xfrm>
        </p:spPr>
        <p:txBody>
          <a:bodyPr/>
          <a:lstStyle/>
          <a:p>
            <a:r>
              <a:rPr lang="zh-CN" altLang="en-US" b="1"/>
              <a:t>命令：</a:t>
            </a:r>
            <a:endParaRPr lang="en-US" altLang="zh-CN" b="1"/>
          </a:p>
          <a:p>
            <a:r>
              <a:rPr lang="en-US" altLang="zh-CN">
                <a:solidFill>
                  <a:srgbClr val="0000FF"/>
                </a:solidFill>
              </a:rPr>
              <a:t>docker run -d</a:t>
            </a:r>
            <a:r>
              <a:rPr lang="en-US" altLang="zh-CN"/>
              <a:t> </a:t>
            </a:r>
            <a:r>
              <a:rPr lang="en-US" altLang="zh-CN">
                <a:solidFill>
                  <a:srgbClr val="0000FF"/>
                </a:solidFill>
              </a:rPr>
              <a:t>--name </a:t>
            </a:r>
            <a:r>
              <a:rPr lang="zh-CN" altLang="en-US"/>
              <a:t>容器名 </a:t>
            </a:r>
            <a:r>
              <a:rPr lang="en-US" altLang="zh-CN">
                <a:solidFill>
                  <a:srgbClr val="0000FF"/>
                </a:solidFill>
              </a:rPr>
              <a:t>-p</a:t>
            </a:r>
            <a:r>
              <a:rPr lang="en-US" altLang="zh-CN"/>
              <a:t> </a:t>
            </a:r>
            <a:r>
              <a:rPr lang="zh-CN" altLang="en-US"/>
              <a:t>宿主机端口</a:t>
            </a:r>
            <a:r>
              <a:rPr lang="en-US" altLang="zh-CN"/>
              <a:t>:</a:t>
            </a:r>
            <a:r>
              <a:rPr lang="zh-CN" altLang="en-US"/>
              <a:t>容器端口 </a:t>
            </a:r>
            <a:r>
              <a:rPr lang="en-US" altLang="zh-CN">
                <a:solidFill>
                  <a:srgbClr val="0000FF"/>
                </a:solidFill>
              </a:rPr>
              <a:t>-v</a:t>
            </a:r>
            <a:r>
              <a:rPr lang="en-US" altLang="zh-CN"/>
              <a:t> </a:t>
            </a:r>
            <a:r>
              <a:rPr lang="zh-CN" altLang="en-US">
                <a:solidFill>
                  <a:srgbClr val="C00000"/>
                </a:solidFill>
              </a:rPr>
              <a:t>宿主机目录或文件</a:t>
            </a:r>
            <a:r>
              <a:rPr lang="en-US" altLang="zh-CN"/>
              <a:t>:</a:t>
            </a:r>
            <a:r>
              <a:rPr lang="zh-CN" altLang="en-US">
                <a:solidFill>
                  <a:srgbClr val="C00000"/>
                </a:solidFill>
              </a:rPr>
              <a:t>容器内目录或文件</a:t>
            </a:r>
            <a:r>
              <a:rPr lang="zh-CN" altLang="en-US"/>
              <a:t> 镜像名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b="1">
                <a:solidFill>
                  <a:srgbClr val="C00000"/>
                </a:solidFill>
              </a:rPr>
              <a:t>注意</a:t>
            </a:r>
            <a:r>
              <a:rPr lang="en-US" altLang="zh-CN" b="1">
                <a:solidFill>
                  <a:srgbClr val="C0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C00000"/>
                </a:solidFill>
              </a:rPr>
              <a:t>本地目录必须以 </a:t>
            </a:r>
            <a:r>
              <a:rPr lang="en-US" altLang="zh-CN" sz="1400">
                <a:solidFill>
                  <a:srgbClr val="C00000"/>
                </a:solidFill>
              </a:rPr>
              <a:t>/ </a:t>
            </a:r>
            <a:r>
              <a:rPr lang="zh-CN" altLang="en-US" sz="1400">
                <a:solidFill>
                  <a:srgbClr val="C00000"/>
                </a:solidFill>
              </a:rPr>
              <a:t>或 </a:t>
            </a:r>
            <a:r>
              <a:rPr lang="en-US" altLang="zh-CN" sz="1400">
                <a:solidFill>
                  <a:srgbClr val="C00000"/>
                </a:solidFill>
              </a:rPr>
              <a:t>./</a:t>
            </a:r>
            <a:r>
              <a:rPr lang="zh-CN" altLang="en-US" sz="1400">
                <a:solidFill>
                  <a:srgbClr val="C00000"/>
                </a:solidFill>
              </a:rPr>
              <a:t>开头，如果直接以名称开头，会被识别为数据卷而非本地目录</a:t>
            </a:r>
            <a:endParaRPr lang="en-US" altLang="zh-CN" sz="140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rgbClr val="C00000"/>
                </a:solidFill>
              </a:rPr>
              <a:t>-v mysql:/var/lib/mysql </a:t>
            </a:r>
            <a:r>
              <a:rPr lang="zh-CN" altLang="en-US" sz="1400">
                <a:solidFill>
                  <a:srgbClr val="C00000"/>
                </a:solidFill>
              </a:rPr>
              <a:t>会被识别为一个数据卷，数据卷叫</a:t>
            </a:r>
            <a:r>
              <a:rPr lang="en-US" altLang="zh-CN" sz="1400">
                <a:solidFill>
                  <a:srgbClr val="C00000"/>
                </a:solidFill>
              </a:rPr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rgbClr val="C00000"/>
                </a:solidFill>
              </a:rPr>
              <a:t>-v ./mysql:/var/lib/mysql </a:t>
            </a:r>
            <a:r>
              <a:rPr lang="zh-CN" altLang="en-US" sz="1400">
                <a:solidFill>
                  <a:srgbClr val="C00000"/>
                </a:solidFill>
              </a:rPr>
              <a:t>会被识别为当前目录下的</a:t>
            </a:r>
            <a:r>
              <a:rPr lang="en-US" altLang="zh-CN" sz="1400">
                <a:solidFill>
                  <a:srgbClr val="C00000"/>
                </a:solidFill>
              </a:rPr>
              <a:t>mysql</a:t>
            </a:r>
            <a:r>
              <a:rPr lang="zh-CN" altLang="en-US" sz="1400">
                <a:solidFill>
                  <a:srgbClr val="C00000"/>
                </a:solidFill>
              </a:rPr>
              <a:t>目录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DAA821-3F00-D371-9D2E-847E377E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本地目录挂载</a:t>
            </a:r>
          </a:p>
        </p:txBody>
      </p:sp>
    </p:spTree>
    <p:extLst>
      <p:ext uri="{BB962C8B-B14F-4D97-AF65-F5344CB8AC3E}">
        <p14:creationId xmlns:p14="http://schemas.microsoft.com/office/powerpoint/2010/main" val="254923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D5E9-B72F-0191-1D75-C4C38E83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E009D77-822B-75A8-38E8-3B2A71E6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</a:t>
            </a:r>
            <a:r>
              <a:rPr lang="en-US" altLang="zh-CN"/>
              <a:t>MySQL</a:t>
            </a:r>
            <a:r>
              <a:rPr lang="zh-CN" altLang="en-US"/>
              <a:t>容器并实现本地目录挂载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772FA1-220F-13B3-892B-7DF7203DCA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499" y="1024932"/>
            <a:ext cx="10786140" cy="30360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创建</a:t>
            </a:r>
            <a:r>
              <a:rPr lang="en-US" altLang="zh-CN"/>
              <a:t>MySQL</a:t>
            </a:r>
            <a:r>
              <a:rPr lang="zh-CN" altLang="en-US"/>
              <a:t>容器，并基于本地目录挂载实现</a:t>
            </a:r>
            <a:r>
              <a:rPr lang="en-US" altLang="zh-CN"/>
              <a:t>MySQL</a:t>
            </a:r>
            <a:r>
              <a:rPr lang="zh-CN" altLang="en-US"/>
              <a:t>容器数据目录、配置文件、初始化脚本的目录挂载。</a:t>
            </a:r>
            <a:r>
              <a:rPr lang="en-US" altLang="zh-CN"/>
              <a:t>(</a:t>
            </a:r>
            <a:r>
              <a:rPr lang="zh-CN" altLang="en-US"/>
              <a:t>官方文档</a:t>
            </a:r>
            <a:r>
              <a:rPr lang="en-US" altLang="zh-CN"/>
              <a:t>)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669150" indent="-342900">
              <a:buFont typeface="+mj-ea"/>
              <a:buAutoNum type="circleNumDbPlain"/>
            </a:pPr>
            <a:r>
              <a:rPr lang="zh-CN" altLang="en-US" sz="1400"/>
              <a:t>挂载 </a:t>
            </a:r>
            <a:r>
              <a:rPr lang="en-US" altLang="zh-CN" sz="1400"/>
              <a:t>/root/mysql/data </a:t>
            </a:r>
            <a:r>
              <a:rPr lang="zh-CN" altLang="en-US" sz="1400"/>
              <a:t>到容器内的 </a:t>
            </a:r>
            <a:r>
              <a:rPr lang="en-US" altLang="zh-CN" sz="1400"/>
              <a:t>/var/lib/mysql </a:t>
            </a:r>
            <a:r>
              <a:rPr lang="zh-CN" altLang="en-US" sz="1400"/>
              <a:t>目录</a:t>
            </a:r>
            <a:endParaRPr lang="en-US" altLang="zh-CN" sz="1400"/>
          </a:p>
          <a:p>
            <a:pPr marL="669150" indent="-342900">
              <a:buFont typeface="+mj-ea"/>
              <a:buAutoNum type="circleNumDbPlain"/>
            </a:pPr>
            <a:r>
              <a:rPr lang="zh-CN" altLang="en-US" sz="1400"/>
              <a:t>挂载 </a:t>
            </a:r>
            <a:r>
              <a:rPr lang="en-US" altLang="zh-CN" sz="1400"/>
              <a:t>/root/mysql/init </a:t>
            </a:r>
            <a:r>
              <a:rPr lang="zh-CN" altLang="en-US" sz="1400"/>
              <a:t>到容器内的 </a:t>
            </a:r>
            <a:r>
              <a:rPr lang="en-US" altLang="zh-CN" sz="1400"/>
              <a:t>/docker-entrypoint-initdb.d </a:t>
            </a:r>
            <a:r>
              <a:rPr lang="zh-CN" altLang="en-US" sz="1400"/>
              <a:t>目录</a:t>
            </a:r>
            <a:r>
              <a:rPr lang="en-US" altLang="zh-CN" sz="1400"/>
              <a:t> (</a:t>
            </a:r>
            <a:r>
              <a:rPr lang="zh-CN" altLang="en-US" sz="1400"/>
              <a:t>资料中的</a:t>
            </a:r>
            <a:r>
              <a:rPr lang="en-US" altLang="zh-CN" sz="1400"/>
              <a:t>sql</a:t>
            </a:r>
            <a:r>
              <a:rPr lang="zh-CN" altLang="en-US" sz="1400"/>
              <a:t>脚本</a:t>
            </a:r>
            <a:r>
              <a:rPr lang="en-US" altLang="zh-CN" sz="1400"/>
              <a:t>)</a:t>
            </a:r>
          </a:p>
          <a:p>
            <a:pPr marL="669150" indent="-342900">
              <a:buFont typeface="+mj-ea"/>
              <a:buAutoNum type="circleNumDbPlain"/>
            </a:pPr>
            <a:r>
              <a:rPr lang="zh-CN" altLang="en-US" sz="1400"/>
              <a:t>挂载 </a:t>
            </a:r>
            <a:r>
              <a:rPr lang="en-US" altLang="zh-CN" sz="1400"/>
              <a:t>/root/mysql/conf </a:t>
            </a:r>
            <a:r>
              <a:rPr lang="zh-CN" altLang="en-US" sz="1400"/>
              <a:t>到容器内的 </a:t>
            </a:r>
            <a:r>
              <a:rPr lang="en-US" altLang="zh-CN" sz="1400"/>
              <a:t>/etc/mysql/conf.d </a:t>
            </a:r>
            <a:r>
              <a:rPr lang="zh-CN" altLang="en-US" sz="1400"/>
              <a:t>目录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854209075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CBF23D-6C64-EF1B-A913-D46D4830F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1" y="1738963"/>
            <a:ext cx="7488894" cy="338007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数据卷挂载</a:t>
            </a:r>
            <a:endParaRPr lang="en-US" altLang="zh-CN"/>
          </a:p>
          <a:p>
            <a:pPr marL="396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/>
              <a:t>-v </a:t>
            </a:r>
            <a:r>
              <a:rPr lang="zh-CN" altLang="en-US" sz="1600"/>
              <a:t>数据卷</a:t>
            </a:r>
            <a:r>
              <a:rPr lang="en-US" altLang="zh-CN" sz="1600"/>
              <a:t>:</a:t>
            </a:r>
            <a:r>
              <a:rPr lang="zh-CN" altLang="en-US" sz="1600"/>
              <a:t>容器内目录或文件</a:t>
            </a:r>
            <a:endParaRPr lang="en-US" altLang="zh-CN" sz="1600"/>
          </a:p>
          <a:p>
            <a:pPr marL="396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/>
              <a:t>数据卷名字不能以 </a:t>
            </a:r>
            <a:r>
              <a:rPr lang="en-US" altLang="zh-CN" sz="1600"/>
              <a:t>/ </a:t>
            </a:r>
            <a:r>
              <a:rPr lang="zh-CN" altLang="en-US" sz="1600"/>
              <a:t>或 </a:t>
            </a:r>
            <a:r>
              <a:rPr lang="en-US" altLang="zh-CN" sz="1600"/>
              <a:t>./ </a:t>
            </a:r>
            <a:r>
              <a:rPr lang="zh-CN" altLang="en-US" sz="1600"/>
              <a:t>开头 </a:t>
            </a:r>
            <a:r>
              <a:rPr lang="en-US" altLang="zh-CN" sz="1600"/>
              <a:t>, </a:t>
            </a:r>
            <a:r>
              <a:rPr lang="zh-CN" altLang="en-US" sz="1600"/>
              <a:t>如</a:t>
            </a:r>
            <a:r>
              <a:rPr lang="en-US" altLang="zh-CN" sz="1600"/>
              <a:t>: html  conf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本地目录挂载</a:t>
            </a:r>
            <a:endParaRPr lang="en-US" altLang="zh-CN"/>
          </a:p>
          <a:p>
            <a:pPr marL="396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/>
              <a:t>-v </a:t>
            </a:r>
            <a:r>
              <a:rPr lang="zh-CN" altLang="en-US" sz="1600"/>
              <a:t>宿主机目录或文件</a:t>
            </a:r>
            <a:r>
              <a:rPr lang="en-US" altLang="zh-CN" sz="1600"/>
              <a:t>:</a:t>
            </a:r>
            <a:r>
              <a:rPr lang="zh-CN" altLang="en-US" sz="1600"/>
              <a:t>容器内目录或文件</a:t>
            </a:r>
            <a:endParaRPr lang="en-US" altLang="zh-CN" sz="1600"/>
          </a:p>
          <a:p>
            <a:pPr marL="396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/>
              <a:t>宿主机目录或文件必须以 </a:t>
            </a:r>
            <a:r>
              <a:rPr lang="en-US" altLang="zh-CN" sz="1600"/>
              <a:t>/ </a:t>
            </a:r>
            <a:r>
              <a:rPr lang="zh-CN" altLang="en-US" sz="1600"/>
              <a:t>或 </a:t>
            </a:r>
            <a:r>
              <a:rPr lang="en-US" altLang="zh-CN" sz="1600"/>
              <a:t>./ </a:t>
            </a:r>
            <a:r>
              <a:rPr lang="zh-CN" altLang="en-US" sz="1600"/>
              <a:t>开头，如</a:t>
            </a:r>
            <a:r>
              <a:rPr lang="en-US" altLang="zh-CN" sz="1600"/>
              <a:t>: /root/mysql/data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2F9FED-FE72-089A-A36B-B10B92E34796}"/>
              </a:ext>
            </a:extLst>
          </p:cNvPr>
          <p:cNvSpPr txBox="1"/>
          <p:nvPr/>
        </p:nvSpPr>
        <p:spPr>
          <a:xfrm>
            <a:off x="5270241" y="3570907"/>
            <a:ext cx="1427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(</a:t>
            </a:r>
            <a:r>
              <a:rPr lang="zh-CN" altLang="en-US" sz="1600">
                <a:solidFill>
                  <a:srgbClr val="C00000"/>
                </a:solidFill>
              </a:rPr>
              <a:t>任意指定</a:t>
            </a:r>
            <a:r>
              <a:rPr lang="en-US" altLang="zh-CN" sz="1600">
                <a:solidFill>
                  <a:srgbClr val="C00000"/>
                </a:solidFill>
              </a:rPr>
              <a:t>)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5C758E-10BF-3012-74F9-453A95F6E132}"/>
              </a:ext>
            </a:extLst>
          </p:cNvPr>
          <p:cNvSpPr txBox="1"/>
          <p:nvPr/>
        </p:nvSpPr>
        <p:spPr>
          <a:xfrm>
            <a:off x="5075854" y="2050771"/>
            <a:ext cx="60706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(</a:t>
            </a:r>
            <a:r>
              <a:rPr lang="zh-CN" altLang="en-US" sz="1600">
                <a:solidFill>
                  <a:srgbClr val="C00000"/>
                </a:solidFill>
              </a:rPr>
              <a:t>宿主机目录固定 </a:t>
            </a:r>
            <a:r>
              <a:rPr lang="en-US" altLang="zh-CN" sz="1600">
                <a:solidFill>
                  <a:srgbClr val="C00000"/>
                </a:solidFill>
              </a:rPr>
              <a:t>/var/lib/docker/volumes/xxx/_data)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241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ACF9A-CB85-A989-E0AB-6A294F968D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核心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89A8B-DE06-9306-9564-EB864A892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常见命令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数据卷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自定义镜像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网络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80E98A-363A-8564-4D00-478DB3B2C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62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!!组合 7">
            <a:extLst>
              <a:ext uri="{FF2B5EF4-FFF2-40B4-BE49-F238E27FC236}">
                <a16:creationId xmlns:a16="http://schemas.microsoft.com/office/drawing/2014/main" id="{B64F67A0-80BF-1E99-2110-9E8053472974}"/>
              </a:ext>
            </a:extLst>
          </p:cNvPr>
          <p:cNvGrpSpPr/>
          <p:nvPr/>
        </p:nvGrpSpPr>
        <p:grpSpPr>
          <a:xfrm>
            <a:off x="6597244" y="3093911"/>
            <a:ext cx="3082563" cy="2450969"/>
            <a:chOff x="6540683" y="3093912"/>
            <a:chExt cx="3082563" cy="245096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F669BA-EB1B-6F1E-2A76-F841B2F9F7E4}"/>
                </a:ext>
              </a:extLst>
            </p:cNvPr>
            <p:cNvSpPr/>
            <p:nvPr/>
          </p:nvSpPr>
          <p:spPr>
            <a:xfrm>
              <a:off x="6540683" y="3093912"/>
              <a:ext cx="2978869" cy="24509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占位符 2">
              <a:extLst>
                <a:ext uri="{FF2B5EF4-FFF2-40B4-BE49-F238E27FC236}">
                  <a16:creationId xmlns:a16="http://schemas.microsoft.com/office/drawing/2014/main" id="{FFE9763E-E69D-B455-3C4C-414F2E900B74}"/>
                </a:ext>
              </a:extLst>
            </p:cNvPr>
            <p:cNvSpPr txBox="1">
              <a:spLocks/>
            </p:cNvSpPr>
            <p:nvPr/>
          </p:nvSpPr>
          <p:spPr>
            <a:xfrm>
              <a:off x="6540683" y="3162394"/>
              <a:ext cx="3082563" cy="2382487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>
                  <a:solidFill>
                    <a:srgbClr val="AD2B26"/>
                  </a:solidFill>
                  <a:latin typeface="+mn-lt"/>
                </a:rPr>
                <a:t>构建一个</a:t>
              </a:r>
              <a:r>
                <a:rPr lang="en-US" altLang="zh-CN" sz="1800">
                  <a:solidFill>
                    <a:srgbClr val="AD2B26"/>
                  </a:solidFill>
                  <a:latin typeface="+mn-lt"/>
                </a:rPr>
                <a:t>Java</a:t>
              </a:r>
              <a:r>
                <a:rPr lang="zh-CN" altLang="en-US" sz="1800">
                  <a:solidFill>
                    <a:srgbClr val="AD2B26"/>
                  </a:solidFill>
                  <a:latin typeface="+mn-lt"/>
                </a:rPr>
                <a:t>镜像的步骤：</a:t>
              </a:r>
              <a:endParaRPr lang="en-US" altLang="zh-CN" sz="1800">
                <a:solidFill>
                  <a:srgbClr val="AD2B26"/>
                </a:solidFill>
                <a:latin typeface="+mn-lt"/>
              </a:endParaRPr>
            </a:p>
            <a:p>
              <a:pPr>
                <a:lnSpc>
                  <a:spcPct val="100000"/>
                </a:lnSpc>
              </a:pPr>
              <a:endParaRPr lang="en-US" altLang="zh-CN" sz="1800"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安装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JDK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并配置环境变量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拷贝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编写运行脚本，运行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DE9E27A-D7ED-D4EB-3099-3E6BA246C543}"/>
                </a:ext>
              </a:extLst>
            </p:cNvPr>
            <p:cNvCxnSpPr/>
            <p:nvPr/>
          </p:nvCxnSpPr>
          <p:spPr>
            <a:xfrm>
              <a:off x="6540683" y="3754227"/>
              <a:ext cx="2978869" cy="0"/>
            </a:xfrm>
            <a:prstGeom prst="line">
              <a:avLst/>
            </a:prstGeom>
            <a:ln>
              <a:solidFill>
                <a:srgbClr val="AD2B2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453"/>
          </a:xfrm>
        </p:spPr>
        <p:txBody>
          <a:bodyPr/>
          <a:lstStyle/>
          <a:p>
            <a:r>
              <a:rPr lang="zh-CN" altLang="en-US"/>
              <a:t>镜像就是包含了应用程序、程序运行的系统函数库、运行配置等文件的文件包。构建镜像的过程其实就是把上述文件打包的过程。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8B1A94-960B-B3FF-BBE4-C2C8E3F66AA6}"/>
              </a:ext>
            </a:extLst>
          </p:cNvPr>
          <p:cNvGrpSpPr/>
          <p:nvPr/>
        </p:nvGrpSpPr>
        <p:grpSpPr>
          <a:xfrm>
            <a:off x="1712588" y="3093912"/>
            <a:ext cx="3082563" cy="2450969"/>
            <a:chOff x="1712588" y="3093912"/>
            <a:chExt cx="3082563" cy="245096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1C1348B-462D-D334-8F20-2848A3D053BD}"/>
                </a:ext>
              </a:extLst>
            </p:cNvPr>
            <p:cNvSpPr/>
            <p:nvPr/>
          </p:nvSpPr>
          <p:spPr>
            <a:xfrm>
              <a:off x="1712588" y="3093912"/>
              <a:ext cx="2978869" cy="24509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占位符 2">
              <a:extLst>
                <a:ext uri="{FF2B5EF4-FFF2-40B4-BE49-F238E27FC236}">
                  <a16:creationId xmlns:a16="http://schemas.microsoft.com/office/drawing/2014/main" id="{84CC2E48-D537-D2DA-A9B5-BB96B8FF885F}"/>
                </a:ext>
              </a:extLst>
            </p:cNvPr>
            <p:cNvSpPr txBox="1">
              <a:spLocks/>
            </p:cNvSpPr>
            <p:nvPr/>
          </p:nvSpPr>
          <p:spPr>
            <a:xfrm>
              <a:off x="1712588" y="3162394"/>
              <a:ext cx="3082563" cy="2382487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>
                  <a:solidFill>
                    <a:srgbClr val="0070C0"/>
                  </a:solidFill>
                  <a:latin typeface="+mn-lt"/>
                </a:rPr>
                <a:t>部署一个</a:t>
              </a:r>
              <a:r>
                <a:rPr lang="en-US" altLang="zh-CN" sz="1800">
                  <a:solidFill>
                    <a:srgbClr val="0070C0"/>
                  </a:solidFill>
                  <a:latin typeface="+mn-lt"/>
                </a:rPr>
                <a:t>Java</a:t>
              </a:r>
              <a:r>
                <a:rPr lang="zh-CN" altLang="en-US" sz="1800">
                  <a:solidFill>
                    <a:srgbClr val="0070C0"/>
                  </a:solidFill>
                  <a:latin typeface="+mn-lt"/>
                </a:rPr>
                <a:t>应用的步骤：</a:t>
              </a:r>
              <a:endParaRPr lang="en-US" altLang="zh-CN" sz="1800">
                <a:solidFill>
                  <a:srgbClr val="0070C0"/>
                </a:solidFill>
                <a:latin typeface="+mn-lt"/>
              </a:endParaRPr>
            </a:p>
            <a:p>
              <a:pPr>
                <a:lnSpc>
                  <a:spcPct val="100000"/>
                </a:lnSpc>
              </a:pPr>
              <a:endParaRPr lang="en-US" altLang="zh-CN" sz="1800"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准备一个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Linux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服务器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安装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JDK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并配置环境变量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拷贝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运行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B652ACA-E32D-5D2C-BC2E-CF8DD103C258}"/>
                </a:ext>
              </a:extLst>
            </p:cNvPr>
            <p:cNvCxnSpPr/>
            <p:nvPr/>
          </p:nvCxnSpPr>
          <p:spPr>
            <a:xfrm>
              <a:off x="1712588" y="3754227"/>
              <a:ext cx="297886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!!组合 7">
            <a:extLst>
              <a:ext uri="{FF2B5EF4-FFF2-40B4-BE49-F238E27FC236}">
                <a16:creationId xmlns:a16="http://schemas.microsoft.com/office/drawing/2014/main" id="{35E516A3-8C84-2FD3-5AC6-D5D0BCFCD0ED}"/>
              </a:ext>
            </a:extLst>
          </p:cNvPr>
          <p:cNvGrpSpPr/>
          <p:nvPr/>
        </p:nvGrpSpPr>
        <p:grpSpPr>
          <a:xfrm>
            <a:off x="6597244" y="3093911"/>
            <a:ext cx="3082563" cy="2450969"/>
            <a:chOff x="6540683" y="3093912"/>
            <a:chExt cx="3082563" cy="245096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3044BFD-FE92-0EB8-80DD-54393A865C1E}"/>
                </a:ext>
              </a:extLst>
            </p:cNvPr>
            <p:cNvSpPr/>
            <p:nvPr/>
          </p:nvSpPr>
          <p:spPr>
            <a:xfrm>
              <a:off x="6540683" y="3093912"/>
              <a:ext cx="2978869" cy="24509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占位符 2">
              <a:extLst>
                <a:ext uri="{FF2B5EF4-FFF2-40B4-BE49-F238E27FC236}">
                  <a16:creationId xmlns:a16="http://schemas.microsoft.com/office/drawing/2014/main" id="{1F493C48-98BE-06D0-6DE1-D416DF67C1EC}"/>
                </a:ext>
              </a:extLst>
            </p:cNvPr>
            <p:cNvSpPr txBox="1">
              <a:spLocks/>
            </p:cNvSpPr>
            <p:nvPr/>
          </p:nvSpPr>
          <p:spPr>
            <a:xfrm>
              <a:off x="6540683" y="3162394"/>
              <a:ext cx="3082563" cy="2382487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>
                  <a:solidFill>
                    <a:srgbClr val="AD2B26"/>
                  </a:solidFill>
                  <a:latin typeface="+mn-lt"/>
                </a:rPr>
                <a:t>构建一个</a:t>
              </a:r>
              <a:r>
                <a:rPr lang="en-US" altLang="zh-CN" sz="1800">
                  <a:solidFill>
                    <a:srgbClr val="AD2B26"/>
                  </a:solidFill>
                  <a:latin typeface="+mn-lt"/>
                </a:rPr>
                <a:t>Java</a:t>
              </a:r>
              <a:r>
                <a:rPr lang="zh-CN" altLang="en-US" sz="1800">
                  <a:solidFill>
                    <a:srgbClr val="AD2B26"/>
                  </a:solidFill>
                  <a:latin typeface="+mn-lt"/>
                </a:rPr>
                <a:t>镜像的步骤：</a:t>
              </a:r>
              <a:endParaRPr lang="en-US" altLang="zh-CN" sz="1800">
                <a:solidFill>
                  <a:srgbClr val="AD2B26"/>
                </a:solidFill>
                <a:latin typeface="+mn-lt"/>
              </a:endParaRPr>
            </a:p>
            <a:p>
              <a:pPr>
                <a:lnSpc>
                  <a:spcPct val="100000"/>
                </a:lnSpc>
              </a:pPr>
              <a:endParaRPr lang="en-US" altLang="zh-CN" sz="1800"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准备一个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Linux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运行环境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安装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JDK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并配置环境变量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拷贝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  <a:endParaRPr lang="en-US" altLang="zh-CN" sz="1400">
                <a:solidFill>
                  <a:schemeClr val="tx1"/>
                </a:solidFill>
                <a:latin typeface="+mn-lt"/>
              </a:endParaRPr>
            </a:p>
            <a:p>
              <a:pPr marL="342900" indent="-342900">
                <a:buFont typeface="+mj-ea"/>
                <a:buAutoNum type="circleNumDbPlain"/>
              </a:pP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编写运行脚本，运行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</a:rPr>
                <a:t>Jar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</a:rPr>
                <a:t>包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CADA219-DC9E-FD96-B279-01EF01E4DE82}"/>
                </a:ext>
              </a:extLst>
            </p:cNvPr>
            <p:cNvCxnSpPr/>
            <p:nvPr/>
          </p:nvCxnSpPr>
          <p:spPr>
            <a:xfrm>
              <a:off x="6540683" y="3754227"/>
              <a:ext cx="2978869" cy="0"/>
            </a:xfrm>
            <a:prstGeom prst="line">
              <a:avLst/>
            </a:prstGeom>
            <a:ln>
              <a:solidFill>
                <a:srgbClr val="AD2B2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787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63594"/>
          </a:xfrm>
        </p:spPr>
        <p:txBody>
          <a:bodyPr/>
          <a:lstStyle/>
          <a:p>
            <a:r>
              <a:rPr lang="zh-CN" altLang="en-US"/>
              <a:t>镜像就是包含了应用程序、程序运行的系统函数库、运行配置等文件的文件包。构建镜像的过程其实就是把上述文件打包的过程。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EF9F08-D915-832A-7F64-24FFE79DDC83}"/>
              </a:ext>
            </a:extLst>
          </p:cNvPr>
          <p:cNvSpPr/>
          <p:nvPr/>
        </p:nvSpPr>
        <p:spPr>
          <a:xfrm>
            <a:off x="4812297" y="210675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  <a:scene3d>
            <a:camera prst="perspectiveFront"/>
            <a:lightRig rig="threePt" dir="t"/>
          </a:scene3d>
        </p:spPr>
        <p:txBody>
          <a:bodyPr l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/etc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/lib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/proc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/bin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...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kern="0" noProof="0">
                <a:solidFill>
                  <a:prstClr val="white"/>
                </a:solidFill>
                <a:latin typeface="Source Code Pro"/>
                <a:ea typeface="阿里巴巴普惠体"/>
              </a:rPr>
              <a:t>CentOS 7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BaseImage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17A407-17B9-ADC2-EFDB-B605D9E4BC85}"/>
              </a:ext>
            </a:extLst>
          </p:cNvPr>
          <p:cNvSpPr/>
          <p:nvPr/>
        </p:nvSpPr>
        <p:spPr>
          <a:xfrm>
            <a:off x="4812297" y="210675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D4779"/>
          </a:solidFill>
          <a:ln w="25400" cap="flat" cmpd="sng" algn="ctr">
            <a:noFill/>
            <a:prstDash val="solid"/>
          </a:ln>
          <a:effectLst/>
          <a:scene3d>
            <a:camera prst="perspectiveFront"/>
            <a:lightRig rig="threePt" dir="t"/>
          </a:scene3d>
        </p:spPr>
        <p:txBody>
          <a:bodyPr lIns="0" tIns="45720" rIns="7200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安装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</a:t>
            </a:r>
            <a:r>
              <a:rPr lang="en-US" altLang="zh-CN" sz="3200" kern="0">
                <a:solidFill>
                  <a:prstClr val="white"/>
                </a:solidFill>
                <a:latin typeface="Source Code Pro"/>
                <a:ea typeface="阿里巴巴普惠体"/>
              </a:rPr>
              <a:t>DK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配置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JDK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环境变量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F027B50-A071-C7A9-865C-7100AAEF308F}"/>
              </a:ext>
            </a:extLst>
          </p:cNvPr>
          <p:cNvSpPr/>
          <p:nvPr/>
        </p:nvSpPr>
        <p:spPr>
          <a:xfrm>
            <a:off x="4812297" y="210675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2963A9"/>
          </a:solidFill>
          <a:ln w="25400" cap="flat" cmpd="sng" algn="ctr">
            <a:noFill/>
            <a:prstDash val="solid"/>
          </a:ln>
          <a:effectLst/>
          <a:scene3d>
            <a:camera prst="perspectiveFront"/>
            <a:lightRig rig="threePt" dir="t"/>
          </a:scene3d>
        </p:spPr>
        <p:txBody>
          <a:bodyPr l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拷贝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Jar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包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737F280-BE92-0901-AB07-4AF15402E0F9}"/>
              </a:ext>
            </a:extLst>
          </p:cNvPr>
          <p:cNvSpPr/>
          <p:nvPr/>
        </p:nvSpPr>
        <p:spPr>
          <a:xfrm>
            <a:off x="4812297" y="210675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3C7FD0"/>
          </a:solidFill>
          <a:ln w="25400" cap="flat" cmpd="sng" algn="ctr">
            <a:noFill/>
            <a:prstDash val="solid"/>
          </a:ln>
          <a:effectLst/>
          <a:scene3d>
            <a:camera prst="perspectiveFront"/>
            <a:lightRig rig="threePt" dir="t"/>
          </a:scene3d>
        </p:spPr>
        <p:txBody>
          <a:bodyPr l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设置启动脚本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java -jar xx.jar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31C48AF-E290-ED26-CED3-EB60AF7344C1}"/>
              </a:ext>
            </a:extLst>
          </p:cNvPr>
          <p:cNvSpPr/>
          <p:nvPr/>
        </p:nvSpPr>
        <p:spPr>
          <a:xfrm>
            <a:off x="4812297" y="210675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  <a:scene3d>
            <a:camera prst="perspectiveFront"/>
            <a:lightRig rig="threePt" dir="t"/>
          </a:scene3d>
        </p:spPr>
        <p:txBody>
          <a:bodyPr l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0" i="0" u="none" strike="noStrike" kern="0" cap="none" spc="0" normalizeH="0" baseline="0" noProof="0">
              <a:ln>
                <a:noFill/>
              </a:ln>
              <a:solidFill>
                <a:srgbClr val="3B7BC8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3B7BC8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Java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B7BC8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应用</a:t>
            </a:r>
            <a:endParaRPr kumimoji="0" lang="en-US" altLang="zh-CN" sz="3600" b="0" i="0" u="none" strike="noStrike" kern="0" cap="none" spc="0" normalizeH="0" baseline="0" noProof="0">
              <a:ln>
                <a:noFill/>
              </a:ln>
              <a:solidFill>
                <a:srgbClr val="3B7BC8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EAD3933-DF9F-0AD7-A949-E37281AE0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005" y="2333356"/>
            <a:ext cx="1099984" cy="1099984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  <p:grpSp>
        <p:nvGrpSpPr>
          <p:cNvPr id="20" name="!!组合 7">
            <a:extLst>
              <a:ext uri="{FF2B5EF4-FFF2-40B4-BE49-F238E27FC236}">
                <a16:creationId xmlns:a16="http://schemas.microsoft.com/office/drawing/2014/main" id="{7A9277F5-B30D-50B2-5C88-0239365CA786}"/>
              </a:ext>
            </a:extLst>
          </p:cNvPr>
          <p:cNvGrpSpPr/>
          <p:nvPr/>
        </p:nvGrpSpPr>
        <p:grpSpPr>
          <a:xfrm>
            <a:off x="1033332" y="2470849"/>
            <a:ext cx="3082563" cy="2450969"/>
            <a:chOff x="6540683" y="3093912"/>
            <a:chExt cx="3082563" cy="245096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E646FA9-99D1-D0EE-C26B-8C8D28D47DA7}"/>
                </a:ext>
              </a:extLst>
            </p:cNvPr>
            <p:cNvSpPr/>
            <p:nvPr/>
          </p:nvSpPr>
          <p:spPr>
            <a:xfrm>
              <a:off x="6540683" y="3093912"/>
              <a:ext cx="2978869" cy="245096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AD2B26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endParaRPr>
            </a:p>
          </p:txBody>
        </p:sp>
        <p:sp>
          <p:nvSpPr>
            <p:cNvPr id="22" name="文本占位符 2">
              <a:extLst>
                <a:ext uri="{FF2B5EF4-FFF2-40B4-BE49-F238E27FC236}">
                  <a16:creationId xmlns:a16="http://schemas.microsoft.com/office/drawing/2014/main" id="{7526FA26-3333-EF8C-8148-EAAD6BBF3E63}"/>
                </a:ext>
              </a:extLst>
            </p:cNvPr>
            <p:cNvSpPr txBox="1">
              <a:spLocks/>
            </p:cNvSpPr>
            <p:nvPr/>
          </p:nvSpPr>
          <p:spPr>
            <a:xfrm>
              <a:off x="6644377" y="3162394"/>
              <a:ext cx="2978869" cy="2382487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构建一个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Java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镜像的步骤：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准备一个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Linux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运行环境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安装</a:t>
              </a:r>
              <a:r>
                <a:rPr lang="en-US" altLang="zh-CN" sz="140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JDK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并配置环境变量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拷贝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Jar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包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编写运行脚本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2F8B1E0-279C-6C8F-A081-B13787648A24}"/>
                </a:ext>
              </a:extLst>
            </p:cNvPr>
            <p:cNvCxnSpPr/>
            <p:nvPr/>
          </p:nvCxnSpPr>
          <p:spPr>
            <a:xfrm>
              <a:off x="6540683" y="3754227"/>
              <a:ext cx="2978869" cy="0"/>
            </a:xfrm>
            <a:prstGeom prst="line">
              <a:avLst/>
            </a:prstGeom>
            <a:noFill/>
            <a:ln w="9525" cap="flat" cmpd="sng" algn="ctr">
              <a:solidFill>
                <a:srgbClr val="AD2B26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3161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30000" decel="7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accel="30000" decel="7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accel="30000" decel="7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accel="30000" decel="7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3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accel="30000" decel="7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3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accel="30000" decel="7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4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镜像结构</a:t>
            </a:r>
          </a:p>
        </p:txBody>
      </p:sp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B0339DD9-3929-1276-3619-BBDBE2CF2720}"/>
              </a:ext>
            </a:extLst>
          </p:cNvPr>
          <p:cNvSpPr txBox="1">
            <a:spLocks/>
          </p:cNvSpPr>
          <p:nvPr/>
        </p:nvSpPr>
        <p:spPr>
          <a:xfrm>
            <a:off x="853239" y="1990469"/>
            <a:ext cx="2642435" cy="138376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入口（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Entrypoint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镜像运行入口，一般是程序启动的脚本和参数</a:t>
            </a:r>
          </a:p>
        </p:txBody>
      </p:sp>
      <p:sp>
        <p:nvSpPr>
          <p:cNvPr id="20" name="文本占位符 9">
            <a:extLst>
              <a:ext uri="{FF2B5EF4-FFF2-40B4-BE49-F238E27FC236}">
                <a16:creationId xmlns:a16="http://schemas.microsoft.com/office/drawing/2014/main" id="{CFC87747-0A91-74AA-5C3E-69871543104E}"/>
              </a:ext>
            </a:extLst>
          </p:cNvPr>
          <p:cNvSpPr txBox="1">
            <a:spLocks/>
          </p:cNvSpPr>
          <p:nvPr/>
        </p:nvSpPr>
        <p:spPr>
          <a:xfrm>
            <a:off x="853239" y="3631158"/>
            <a:ext cx="2642435" cy="1537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层（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Layer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添加安装包、依赖、配置等，每次操作都形成新的一层。</a:t>
            </a:r>
          </a:p>
        </p:txBody>
      </p:sp>
      <p:sp>
        <p:nvSpPr>
          <p:cNvPr id="21" name="文本占位符 9">
            <a:extLst>
              <a:ext uri="{FF2B5EF4-FFF2-40B4-BE49-F238E27FC236}">
                <a16:creationId xmlns:a16="http://schemas.microsoft.com/office/drawing/2014/main" id="{004D3D40-C2F3-E209-524B-454E5BDFDC2D}"/>
              </a:ext>
            </a:extLst>
          </p:cNvPr>
          <p:cNvSpPr txBox="1">
            <a:spLocks/>
          </p:cNvSpPr>
          <p:nvPr/>
        </p:nvSpPr>
        <p:spPr>
          <a:xfrm>
            <a:off x="853240" y="5425660"/>
            <a:ext cx="2642435" cy="10663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基础镜像（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BaseImage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应用依赖的系统函数库、环境、配置、文件等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B7DEEFC-A240-BBD9-37BE-DD29EE7EF7A8}"/>
              </a:ext>
            </a:extLst>
          </p:cNvPr>
          <p:cNvSpPr/>
          <p:nvPr/>
        </p:nvSpPr>
        <p:spPr>
          <a:xfrm>
            <a:off x="5846549" y="4213758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114300" dist="1524000" dir="7080000" algn="tr" rotWithShape="0">
              <a:sysClr val="windowText" lastClr="000000">
                <a:alpha val="22000"/>
              </a:sysClr>
            </a:outerShdw>
          </a:effectLst>
          <a:scene3d>
            <a:camera prst="isometricOffAxis1Top"/>
            <a:lightRig rig="threePt" dir="t"/>
          </a:scene3d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/etc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/lib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/proc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/bin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...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kern="0">
                <a:solidFill>
                  <a:prstClr val="white"/>
                </a:solidFill>
                <a:latin typeface="Source Code Pro"/>
                <a:ea typeface="阿里巴巴普惠体"/>
              </a:rPr>
              <a:t>CentOS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 7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BaseImage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B3002E-3971-3D39-5BEC-8080D9BF66A2}"/>
              </a:ext>
            </a:extLst>
          </p:cNvPr>
          <p:cNvSpPr/>
          <p:nvPr/>
        </p:nvSpPr>
        <p:spPr>
          <a:xfrm>
            <a:off x="5846549" y="3123974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D4779"/>
          </a:solidFill>
          <a:ln w="25400" cap="flat" cmpd="sng" algn="ctr">
            <a:noFill/>
            <a:prstDash val="solid"/>
          </a:ln>
          <a:effectLst>
            <a:outerShdw blurRad="114300" dist="1524000" dir="7080000" algn="tr" rotWithShape="0">
              <a:sysClr val="windowText" lastClr="000000">
                <a:alpha val="22000"/>
              </a:sysClr>
            </a:outerShdw>
          </a:effectLst>
          <a:scene3d>
            <a:camera prst="isometricOffAxis1Top"/>
            <a:lightRig rig="threePt" dir="t"/>
          </a:scene3d>
        </p:spPr>
        <p:txBody>
          <a:bodyPr lIns="72000" tIns="45720" rIns="7200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安装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JDK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配置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JDK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环境变量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FEA2F13-0419-C519-FD73-36B36F775426}"/>
              </a:ext>
            </a:extLst>
          </p:cNvPr>
          <p:cNvSpPr/>
          <p:nvPr/>
        </p:nvSpPr>
        <p:spPr>
          <a:xfrm>
            <a:off x="5846549" y="204032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2963A9"/>
          </a:solidFill>
          <a:ln w="25400" cap="flat" cmpd="sng" algn="ctr">
            <a:noFill/>
            <a:prstDash val="solid"/>
          </a:ln>
          <a:effectLst>
            <a:outerShdw blurRad="114300" dist="1524000" dir="7080000" algn="tr" rotWithShape="0">
              <a:sysClr val="windowText" lastClr="000000">
                <a:alpha val="22000"/>
              </a:sysClr>
            </a:outerShdw>
          </a:effectLst>
          <a:scene3d>
            <a:camera prst="isometricOffAxis1Top"/>
            <a:lightRig rig="threePt" dir="t"/>
          </a:scene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拷贝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Jar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包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F0B59AA-88A6-E95B-9FAA-0FDE31542CB3}"/>
              </a:ext>
            </a:extLst>
          </p:cNvPr>
          <p:cNvSpPr/>
          <p:nvPr/>
        </p:nvSpPr>
        <p:spPr>
          <a:xfrm>
            <a:off x="5846549" y="956676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3C7FD0"/>
          </a:solidFill>
          <a:ln w="25400" cap="flat" cmpd="sng" algn="ctr">
            <a:noFill/>
            <a:prstDash val="solid"/>
          </a:ln>
          <a:effectLst>
            <a:outerShdw blurRad="114300" dist="1524000" dir="7080000" algn="tr" rotWithShape="0">
              <a:sysClr val="windowText" lastClr="000000">
                <a:alpha val="22000"/>
              </a:sysClr>
            </a:outerShdw>
          </a:effectLst>
          <a:scene3d>
            <a:camera prst="isometricOffAxis1Top"/>
            <a:lightRig rig="threePt" dir="t"/>
          </a:scene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设置启动脚本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java -jar xx.jar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8C7076B-0875-1736-FBEA-F46DACC9B428}"/>
              </a:ext>
            </a:extLst>
          </p:cNvPr>
          <p:cNvSpPr/>
          <p:nvPr/>
        </p:nvSpPr>
        <p:spPr>
          <a:xfrm>
            <a:off x="5846548" y="-133108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>
            <a:outerShdw blurRad="114300" dist="1524000" dir="7080000" algn="tr" rotWithShape="0">
              <a:sysClr val="windowText" lastClr="000000">
                <a:alpha val="22000"/>
              </a:sysClr>
            </a:outerShdw>
          </a:effectLst>
          <a:scene3d>
            <a:camera prst="isometricOffAxis1Top"/>
            <a:lightRig rig="threePt" dir="t"/>
          </a:scene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0" i="0" u="none" strike="noStrike" kern="0" cap="none" spc="0" normalizeH="0" baseline="0" noProof="0">
              <a:ln>
                <a:noFill/>
              </a:ln>
              <a:solidFill>
                <a:srgbClr val="3B7BC8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3B7BC8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Java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B7BC8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应用</a:t>
            </a:r>
            <a:endParaRPr kumimoji="0" lang="en-US" altLang="zh-CN" sz="3600" b="0" i="0" u="none" strike="noStrike" kern="0" cap="none" spc="0" normalizeH="0" baseline="0" noProof="0">
              <a:ln>
                <a:noFill/>
              </a:ln>
              <a:solidFill>
                <a:srgbClr val="3B7BC8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320AE1C-8281-6FDD-CC52-3B7C803D3AD4}"/>
              </a:ext>
            </a:extLst>
          </p:cNvPr>
          <p:cNvCxnSpPr>
            <a:stCxn id="21" idx="3"/>
          </p:cNvCxnSpPr>
          <p:nvPr/>
        </p:nvCxnSpPr>
        <p:spPr>
          <a:xfrm>
            <a:off x="3495675" y="5958858"/>
            <a:ext cx="18288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23F0691-2520-EC78-C8FF-17F8F05B42A7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495674" y="3824117"/>
            <a:ext cx="1828801" cy="575829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9EC72EA-5F30-C392-3703-A2CD9EC1D1D7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95674" y="4399946"/>
            <a:ext cx="1693650" cy="3884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1019C96-30C1-33DB-2607-93B9154D5DC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495674" y="2682350"/>
            <a:ext cx="169365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8F8999B-BDE5-5B9B-97FC-EF060145C90E}"/>
              </a:ext>
            </a:extLst>
          </p:cNvPr>
          <p:cNvCxnSpPr>
            <a:stCxn id="20" idx="3"/>
          </p:cNvCxnSpPr>
          <p:nvPr/>
        </p:nvCxnSpPr>
        <p:spPr>
          <a:xfrm>
            <a:off x="3495674" y="4399946"/>
            <a:ext cx="1693650" cy="1233599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CD2E075-CD58-8646-2475-2EC794C4F43B}"/>
              </a:ext>
            </a:extLst>
          </p:cNvPr>
          <p:cNvCxnSpPr>
            <a:stCxn id="20" idx="3"/>
          </p:cNvCxnSpPr>
          <p:nvPr/>
        </p:nvCxnSpPr>
        <p:spPr>
          <a:xfrm flipV="1">
            <a:off x="3495674" y="2885894"/>
            <a:ext cx="1693650" cy="1514052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ACBF7D53-EE26-C77A-C4FF-C51A98AC7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838" y="758135"/>
            <a:ext cx="1099984" cy="1099984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1516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accel="25000" decel="2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AE6728-70D1-D637-92FF-66435D2E1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1738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Dockerfile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就是一个文本文件，其中包含一个个的指令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(Instruction)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，用指令来说明要执行什么操作来构建镜像。将来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Docker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可以根据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Dockerfile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帮我们构建镜像。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Dockerfile</a:t>
            </a:r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06FEA4F-D966-E057-2E7E-E52D0347E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58817"/>
              </p:ext>
            </p:extLst>
          </p:nvPr>
        </p:nvGraphicFramePr>
        <p:xfrm>
          <a:off x="720441" y="2553830"/>
          <a:ext cx="10751117" cy="33282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1814">
                  <a:extLst>
                    <a:ext uri="{9D8B030D-6E8A-4147-A177-3AD203B41FA5}">
                      <a16:colId xmlns:a16="http://schemas.microsoft.com/office/drawing/2014/main" val="1497312946"/>
                    </a:ext>
                  </a:extLst>
                </a:gridCol>
                <a:gridCol w="4991307">
                  <a:extLst>
                    <a:ext uri="{9D8B030D-6E8A-4147-A177-3AD203B41FA5}">
                      <a16:colId xmlns:a16="http://schemas.microsoft.com/office/drawing/2014/main" val="1050070159"/>
                    </a:ext>
                  </a:extLst>
                </a:gridCol>
                <a:gridCol w="4107996">
                  <a:extLst>
                    <a:ext uri="{9D8B030D-6E8A-4147-A177-3AD203B41FA5}">
                      <a16:colId xmlns:a16="http://schemas.microsoft.com/office/drawing/2014/main" val="2883977573"/>
                    </a:ext>
                  </a:extLst>
                </a:gridCol>
              </a:tblGrid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指令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说明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示例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2973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FROM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指定基础镜像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FROM centos:7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9747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ENV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设置环境变量，可在后面指令使用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ENV key=value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24031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COPY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拷贝本地文件到镜像的指定目录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COPY ./jdk17.tar.gz /tmp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112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RUN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执行</a:t>
                      </a:r>
                      <a:r>
                        <a:rPr lang="en-US" altLang="zh-CN" sz="1300">
                          <a:latin typeface="+mn-lt"/>
                        </a:rPr>
                        <a:t>Linux</a:t>
                      </a:r>
                      <a:r>
                        <a:rPr lang="zh-CN" altLang="en-US" sz="1300">
                          <a:latin typeface="+mn-lt"/>
                        </a:rPr>
                        <a:t>的</a:t>
                      </a:r>
                      <a:r>
                        <a:rPr lang="en-US" altLang="zh-CN" sz="1300">
                          <a:latin typeface="+mn-lt"/>
                        </a:rPr>
                        <a:t>shell</a:t>
                      </a:r>
                      <a:r>
                        <a:rPr lang="zh-CN" altLang="en-US" sz="1300">
                          <a:latin typeface="+mn-lt"/>
                        </a:rPr>
                        <a:t>命令，一般是安装过程的命令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RUN tar -zxvf /tmp/jdk17.tar.gz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3272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EXPOSE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指定容器运行时监听的端口，是给镜像使用者看的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EXPOSE 8080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1947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ENTRYPOINT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latin typeface="+mn-lt"/>
                        </a:rPr>
                        <a:t>镜像中应用的启动命令，容器运行时调用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latin typeface="+mn-lt"/>
                        </a:rPr>
                        <a:t>ENTRYPOINT java -jar xx.jar</a:t>
                      </a:r>
                      <a:endParaRPr lang="zh-CN" altLang="en-US" sz="13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87390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F8DD0BC-64B9-1D02-94CB-5FF63BEB1CE2}"/>
              </a:ext>
            </a:extLst>
          </p:cNvPr>
          <p:cNvSpPr txBox="1"/>
          <p:nvPr/>
        </p:nvSpPr>
        <p:spPr>
          <a:xfrm>
            <a:off x="576196" y="209106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常见指令如下：</a:t>
            </a:r>
          </a:p>
        </p:txBody>
      </p:sp>
    </p:spTree>
    <p:extLst>
      <p:ext uri="{BB962C8B-B14F-4D97-AF65-F5344CB8AC3E}">
        <p14:creationId xmlns:p14="http://schemas.microsoft.com/office/powerpoint/2010/main" val="122383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3083E1-B62A-E484-B12F-6215961DE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1"/>
            <a:ext cx="6219050" cy="474415"/>
          </a:xfrm>
        </p:spPr>
        <p:txBody>
          <a:bodyPr/>
          <a:lstStyle/>
          <a:p>
            <a:r>
              <a:rPr lang="zh-CN" altLang="en-US"/>
              <a:t>我们可以基于</a:t>
            </a:r>
            <a:r>
              <a:rPr lang="en-US" altLang="zh-CN"/>
              <a:t>CentOS7</a:t>
            </a:r>
            <a:r>
              <a:rPr lang="zh-CN" altLang="en-US"/>
              <a:t>基础镜像，利用</a:t>
            </a:r>
            <a:r>
              <a:rPr lang="en-US" altLang="zh-CN"/>
              <a:t>Dockerfile</a:t>
            </a:r>
            <a:r>
              <a:rPr lang="zh-CN" altLang="en-US"/>
              <a:t>描述镜像结构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Dockerfile</a:t>
            </a:r>
            <a:endParaRPr lang="zh-CN" altLang="en-US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47CAFF39-72F1-D4EA-F64E-89AD885E33CC}"/>
              </a:ext>
            </a:extLst>
          </p:cNvPr>
          <p:cNvGrpSpPr/>
          <p:nvPr/>
        </p:nvGrpSpPr>
        <p:grpSpPr>
          <a:xfrm>
            <a:off x="672553" y="1513328"/>
            <a:ext cx="10049235" cy="5165378"/>
            <a:chOff x="2297721" y="3660322"/>
            <a:chExt cx="11174207" cy="467709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743EAB4-2DF3-F91A-A968-80A1F7714D29}"/>
                </a:ext>
              </a:extLst>
            </p:cNvPr>
            <p:cNvSpPr/>
            <p:nvPr/>
          </p:nvSpPr>
          <p:spPr>
            <a:xfrm>
              <a:off x="2297722" y="3660322"/>
              <a:ext cx="11174206" cy="4677092"/>
            </a:xfrm>
            <a:prstGeom prst="roundRect">
              <a:avLst>
                <a:gd name="adj" fmla="val 1909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使用 </a:t>
              </a: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CentOS 7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作为基础镜像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FROM centos:7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添加 </a:t>
              </a: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JDK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到镜像中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COPY jdk17.tar.gz /usr/local/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RUN tar -xzf /usr/local/jdk17.tar.gz -C /usr/local/ &amp;&amp;  rm /usr/local/jdk17.tar.gz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设置环境变量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ENV JAVA_HOME=/usr/local/jdk-17.0.10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ENV PATH=$JAVA_HOME/bin:$PATH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创建应用目录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RUN mkdir -p /app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WORKDIR /app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复制应用 </a:t>
              </a: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JAR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文件到容器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COPY app.jar app.jar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暴露端口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EXPOSE 8080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# </a:t>
              </a:r>
              <a:r>
                <a:rPr lang="zh-CN" altLang="en-US" sz="1200" b="0">
                  <a:solidFill>
                    <a:srgbClr val="92D050"/>
                  </a:solidFill>
                  <a:effectLst/>
                  <a:latin typeface="Source code pro" panose="020B0509030403020204" pitchFamily="49" charset="0"/>
                </a:rPr>
                <a:t>运行命令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ENTRYPOINT ["java", "-jar", "/app/app.jar"]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A1A13FC3-A60B-36C6-977C-9D6360EA22DA}"/>
                </a:ext>
              </a:extLst>
            </p:cNvPr>
            <p:cNvSpPr/>
            <p:nvPr/>
          </p:nvSpPr>
          <p:spPr>
            <a:xfrm>
              <a:off x="2297721" y="3660322"/>
              <a:ext cx="11174206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3AB31DE-D5CD-0E0D-0DA1-21E532EE8141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0F42CDE-DAC8-BA7A-0FD1-29B2EDF04F40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EFC48D9-39FE-E00C-7C33-77CA18B86C8A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272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3083E1-B62A-E484-B12F-6215961DE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7772417" cy="474415"/>
          </a:xfrm>
        </p:spPr>
        <p:txBody>
          <a:bodyPr/>
          <a:lstStyle/>
          <a:p>
            <a:r>
              <a:rPr lang="zh-CN" altLang="en-US"/>
              <a:t>编写好了</a:t>
            </a:r>
            <a:r>
              <a:rPr lang="en-US" altLang="zh-CN"/>
              <a:t>Dockerfile</a:t>
            </a:r>
            <a:r>
              <a:rPr lang="zh-CN" altLang="en-US"/>
              <a:t>之后，可以利用下面命令来构建镜像：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Dockerfile</a:t>
            </a:r>
            <a:endParaRPr lang="zh-CN" altLang="en-US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47CAFF39-72F1-D4EA-F64E-89AD885E33CC}"/>
              </a:ext>
            </a:extLst>
          </p:cNvPr>
          <p:cNvGrpSpPr/>
          <p:nvPr/>
        </p:nvGrpSpPr>
        <p:grpSpPr>
          <a:xfrm>
            <a:off x="681518" y="1576081"/>
            <a:ext cx="7667098" cy="853354"/>
            <a:chOff x="2297721" y="3660322"/>
            <a:chExt cx="8525399" cy="77268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743EAB4-2DF3-F91A-A968-80A1F7714D29}"/>
                </a:ext>
              </a:extLst>
            </p:cNvPr>
            <p:cNvSpPr/>
            <p:nvPr/>
          </p:nvSpPr>
          <p:spPr>
            <a:xfrm>
              <a:off x="2297722" y="3660322"/>
              <a:ext cx="8525398" cy="772686"/>
            </a:xfrm>
            <a:prstGeom prst="roundRect">
              <a:avLst>
                <a:gd name="adj" fmla="val 12414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4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docker build -t myImage:1.0 .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A1A13FC3-A60B-36C6-977C-9D6360EA22DA}"/>
                </a:ext>
              </a:extLst>
            </p:cNvPr>
            <p:cNvSpPr/>
            <p:nvPr/>
          </p:nvSpPr>
          <p:spPr>
            <a:xfrm>
              <a:off x="2297721" y="3660322"/>
              <a:ext cx="8525398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3AB31DE-D5CD-0E0D-0DA1-21E532EE8141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0F42CDE-DAC8-BA7A-0FD1-29B2EDF04F40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EFC48D9-39FE-E00C-7C33-77CA18B86C8A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CF960EA8-175D-9C08-8565-3D85D63A8A6E}"/>
              </a:ext>
            </a:extLst>
          </p:cNvPr>
          <p:cNvSpPr txBox="1">
            <a:spLocks/>
          </p:cNvSpPr>
          <p:nvPr/>
        </p:nvSpPr>
        <p:spPr>
          <a:xfrm>
            <a:off x="576196" y="3002322"/>
            <a:ext cx="10020086" cy="8533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rgbClr val="2C3E50"/>
                </a:solidFill>
              </a:rPr>
              <a:t>-t </a:t>
            </a:r>
            <a:r>
              <a:rPr lang="zh-CN" altLang="en-US" sz="1400">
                <a:solidFill>
                  <a:srgbClr val="2C3E50"/>
                </a:solidFill>
              </a:rPr>
              <a:t>：是给镜像起名，格式依然是</a:t>
            </a:r>
            <a:r>
              <a:rPr lang="en-US" altLang="zh-CN" sz="1400">
                <a:solidFill>
                  <a:srgbClr val="2C3E50"/>
                </a:solidFill>
              </a:rPr>
              <a:t>repository:tag</a:t>
            </a:r>
            <a:r>
              <a:rPr lang="zh-CN" altLang="en-US" sz="1400">
                <a:solidFill>
                  <a:srgbClr val="2C3E50"/>
                </a:solidFill>
              </a:rPr>
              <a:t>的格式，不指定</a:t>
            </a:r>
            <a:r>
              <a:rPr lang="en-US" altLang="zh-CN" sz="1400">
                <a:solidFill>
                  <a:srgbClr val="2C3E50"/>
                </a:solidFill>
              </a:rPr>
              <a:t>tag</a:t>
            </a:r>
            <a:r>
              <a:rPr lang="zh-CN" altLang="en-US" sz="1400">
                <a:solidFill>
                  <a:srgbClr val="2C3E50"/>
                </a:solidFill>
              </a:rPr>
              <a:t>时，默认为</a:t>
            </a:r>
            <a:r>
              <a:rPr lang="en-US" altLang="zh-CN" sz="1400">
                <a:solidFill>
                  <a:srgbClr val="2C3E50"/>
                </a:solidFill>
              </a:rPr>
              <a:t>latest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rgbClr val="2C3E50"/>
                </a:solidFill>
              </a:rPr>
              <a:t> .</a:t>
            </a:r>
            <a:r>
              <a:rPr lang="zh-CN" altLang="en-US" sz="1400">
                <a:solidFill>
                  <a:srgbClr val="2C3E50"/>
                </a:solidFill>
              </a:rPr>
              <a:t>  ：是指定</a:t>
            </a:r>
            <a:r>
              <a:rPr lang="en-US" altLang="zh-CN" sz="1400">
                <a:solidFill>
                  <a:srgbClr val="2C3E50"/>
                </a:solidFill>
              </a:rPr>
              <a:t>Dockerfile</a:t>
            </a:r>
            <a:r>
              <a:rPr lang="zh-CN" altLang="en-US" sz="1400">
                <a:solidFill>
                  <a:srgbClr val="2C3E50"/>
                </a:solidFill>
              </a:rPr>
              <a:t>所在目录，如果就在当前目录，则指定为</a:t>
            </a:r>
            <a:r>
              <a:rPr lang="en-US" altLang="zh-CN" sz="1400">
                <a:solidFill>
                  <a:srgbClr val="2C3E50"/>
                </a:solidFill>
              </a:rPr>
              <a:t>"."</a:t>
            </a:r>
          </a:p>
        </p:txBody>
      </p:sp>
    </p:spTree>
    <p:extLst>
      <p:ext uri="{BB962C8B-B14F-4D97-AF65-F5344CB8AC3E}">
        <p14:creationId xmlns:p14="http://schemas.microsoft.com/office/powerpoint/2010/main" val="157796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E1592F-8B95-A302-C0F5-BE1F553B8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镜像的结构是怎样的？</a:t>
            </a:r>
            <a:endParaRPr lang="en-US" altLang="zh-CN" sz="18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镜像中包含了应用程序所需要的运行环境、函数库、配置、以及应用本身等各种文件，这些文件分层打包而成。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Dockerfile</a:t>
            </a:r>
            <a:r>
              <a:rPr lang="zh-CN" altLang="en-US" sz="1800"/>
              <a:t>是做什么的？</a:t>
            </a:r>
            <a:endParaRPr lang="en-US" altLang="zh-CN" sz="18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Dockerfile</a:t>
            </a:r>
            <a:r>
              <a:rPr lang="zh-CN" altLang="en-US" sz="1600"/>
              <a:t>就是利用固定的指令来描述镜像的结构和构建过程，这样</a:t>
            </a:r>
            <a:r>
              <a:rPr lang="en-US" altLang="zh-CN" sz="1600"/>
              <a:t>Docker</a:t>
            </a:r>
            <a:r>
              <a:rPr lang="zh-CN" altLang="en-US" sz="1600"/>
              <a:t>才可以依次来构建镜像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构建镜像的命令是什么？</a:t>
            </a:r>
            <a:endParaRPr lang="en-US" altLang="zh-CN" sz="18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docker build -t </a:t>
            </a:r>
            <a:r>
              <a:rPr lang="zh-CN" altLang="en-US" sz="1600"/>
              <a:t>镜像名 </a:t>
            </a:r>
            <a:r>
              <a:rPr lang="en-US" altLang="zh-CN" sz="1600"/>
              <a:t>Dockerfile</a:t>
            </a:r>
            <a:r>
              <a:rPr lang="zh-CN" altLang="en-US" sz="160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03520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ACF9A-CB85-A989-E0AB-6A294F968D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核心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89A8B-DE06-9306-9564-EB864A892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常见命令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数据卷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自定义镜像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网络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80E98A-363A-8564-4D00-478DB3B2C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39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r>
              <a:rPr lang="zh-CN" altLang="en-US"/>
              <a:t>默认情况下，所有容器都是以</a:t>
            </a:r>
            <a:r>
              <a:rPr lang="en-US" altLang="zh-CN"/>
              <a:t>bridge</a:t>
            </a:r>
            <a:r>
              <a:rPr lang="zh-CN" altLang="en-US"/>
              <a:t>方式连接到</a:t>
            </a:r>
            <a:r>
              <a:rPr lang="en-US" altLang="zh-CN"/>
              <a:t>Docker</a:t>
            </a:r>
            <a:r>
              <a:rPr lang="zh-CN" altLang="en-US"/>
              <a:t>的一个虚拟网桥上：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0B17866-4834-F106-FB33-4A2BA4272ED4}"/>
              </a:ext>
            </a:extLst>
          </p:cNvPr>
          <p:cNvSpPr/>
          <p:nvPr/>
        </p:nvSpPr>
        <p:spPr>
          <a:xfrm>
            <a:off x="1052889" y="1739662"/>
            <a:ext cx="9532883" cy="4162096"/>
          </a:xfrm>
          <a:prstGeom prst="roundRect">
            <a:avLst>
              <a:gd name="adj" fmla="val 378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宿主机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CF78E7B-FF88-8850-33D9-161611D54865}"/>
              </a:ext>
            </a:extLst>
          </p:cNvPr>
          <p:cNvSpPr/>
          <p:nvPr/>
        </p:nvSpPr>
        <p:spPr>
          <a:xfrm>
            <a:off x="1641468" y="4671692"/>
            <a:ext cx="8418786" cy="820163"/>
          </a:xfrm>
          <a:prstGeom prst="roundRect">
            <a:avLst>
              <a:gd name="adj" fmla="val 1026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zh-CN" sz="1600"/>
              <a:t>docker0</a:t>
            </a:r>
          </a:p>
          <a:p>
            <a:pPr algn="ctr"/>
            <a:r>
              <a:rPr lang="en-US" altLang="zh-CN" sz="1600"/>
              <a:t>172.17.0.1/16</a:t>
            </a:r>
            <a:endParaRPr lang="zh-CN" altLang="en-US" sz="16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245273-C745-0E55-9F8C-669B4B3D7120}"/>
              </a:ext>
            </a:extLst>
          </p:cNvPr>
          <p:cNvSpPr/>
          <p:nvPr/>
        </p:nvSpPr>
        <p:spPr>
          <a:xfrm>
            <a:off x="1641468" y="2435269"/>
            <a:ext cx="2070538" cy="1364419"/>
          </a:xfrm>
          <a:prstGeom prst="roundRect">
            <a:avLst>
              <a:gd name="adj" fmla="val 1184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容器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54455-4521-FA42-907D-910C4639EB68}"/>
              </a:ext>
            </a:extLst>
          </p:cNvPr>
          <p:cNvSpPr txBox="1"/>
          <p:nvPr/>
        </p:nvSpPr>
        <p:spPr>
          <a:xfrm>
            <a:off x="2082902" y="3232130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172.17.0.2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48FC1F-9025-35C2-28A7-88115E38A20A}"/>
              </a:ext>
            </a:extLst>
          </p:cNvPr>
          <p:cNvSpPr/>
          <p:nvPr/>
        </p:nvSpPr>
        <p:spPr>
          <a:xfrm>
            <a:off x="2402185" y="3502045"/>
            <a:ext cx="620111" cy="36944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eth0</a:t>
            </a:r>
            <a:endParaRPr lang="zh-CN" altLang="en-US" sz="1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21DD19-CC38-D0E0-E4EB-506A63F8EDAD}"/>
              </a:ext>
            </a:extLst>
          </p:cNvPr>
          <p:cNvSpPr/>
          <p:nvPr/>
        </p:nvSpPr>
        <p:spPr>
          <a:xfrm>
            <a:off x="2402185" y="4549056"/>
            <a:ext cx="620111" cy="36944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/>
              <a:t>vethX</a:t>
            </a:r>
            <a:endParaRPr lang="zh-CN" altLang="en-US" sz="140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34198BF-CFD2-3DB2-2A44-DFB9D5AF2F1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712241" y="3871494"/>
            <a:ext cx="0" cy="6775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lg" len="med"/>
            <a:tailEnd type="triangle" w="lg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2B727A5-EA4E-B53E-D25E-35B08A6F5ACC}"/>
              </a:ext>
            </a:extLst>
          </p:cNvPr>
          <p:cNvGrpSpPr/>
          <p:nvPr/>
        </p:nvGrpSpPr>
        <p:grpSpPr>
          <a:xfrm>
            <a:off x="4699338" y="2435269"/>
            <a:ext cx="2070538" cy="2483236"/>
            <a:chOff x="4771056" y="2997373"/>
            <a:chExt cx="2070538" cy="248323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0FC30DB-53D4-C815-D27A-85196DE29430}"/>
                </a:ext>
              </a:extLst>
            </p:cNvPr>
            <p:cNvSpPr/>
            <p:nvPr/>
          </p:nvSpPr>
          <p:spPr>
            <a:xfrm>
              <a:off x="4771056" y="2997373"/>
              <a:ext cx="2070538" cy="1364419"/>
            </a:xfrm>
            <a:prstGeom prst="roundRect">
              <a:avLst>
                <a:gd name="adj" fmla="val 11845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容器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53FAE92-71E5-4FE5-C8BA-8712F42DA57B}"/>
                </a:ext>
              </a:extLst>
            </p:cNvPr>
            <p:cNvSpPr txBox="1"/>
            <p:nvPr/>
          </p:nvSpPr>
          <p:spPr>
            <a:xfrm>
              <a:off x="5212490" y="3794234"/>
              <a:ext cx="12586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172.17.0.3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CF49C13-8203-F78B-9F5D-0BEE0614E851}"/>
                </a:ext>
              </a:extLst>
            </p:cNvPr>
            <p:cNvSpPr/>
            <p:nvPr/>
          </p:nvSpPr>
          <p:spPr>
            <a:xfrm>
              <a:off x="5531773" y="4064149"/>
              <a:ext cx="620111" cy="369449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eth0</a:t>
              </a:r>
              <a:endParaRPr lang="zh-CN" altLang="en-US" sz="140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678BA9C-FB17-713A-450A-A9DC458678B8}"/>
                </a:ext>
              </a:extLst>
            </p:cNvPr>
            <p:cNvSpPr/>
            <p:nvPr/>
          </p:nvSpPr>
          <p:spPr>
            <a:xfrm>
              <a:off x="5531773" y="5111160"/>
              <a:ext cx="620111" cy="369449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/>
                <a:t>vethY</a:t>
              </a:r>
              <a:endParaRPr lang="zh-CN" altLang="en-US" sz="1400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B38B453-D2D2-3A55-FB99-CADD562FC951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5841829" y="4433598"/>
              <a:ext cx="0" cy="677562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lg" len="med"/>
              <a:tailEnd type="triangle" w="lg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7C9880-3045-F423-8AF2-650D64BFD34C}"/>
              </a:ext>
            </a:extLst>
          </p:cNvPr>
          <p:cNvGrpSpPr/>
          <p:nvPr/>
        </p:nvGrpSpPr>
        <p:grpSpPr>
          <a:xfrm>
            <a:off x="7892880" y="2434914"/>
            <a:ext cx="2070538" cy="2483236"/>
            <a:chOff x="4771056" y="2997373"/>
            <a:chExt cx="2070538" cy="248323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2FF4956-6255-34A5-D401-CD6B47FAA748}"/>
                </a:ext>
              </a:extLst>
            </p:cNvPr>
            <p:cNvSpPr/>
            <p:nvPr/>
          </p:nvSpPr>
          <p:spPr>
            <a:xfrm>
              <a:off x="4771056" y="2997373"/>
              <a:ext cx="2070538" cy="1364419"/>
            </a:xfrm>
            <a:prstGeom prst="roundRect">
              <a:avLst>
                <a:gd name="adj" fmla="val 11845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容器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30F4BA3-AF43-2733-21A8-7B8726294BAF}"/>
                </a:ext>
              </a:extLst>
            </p:cNvPr>
            <p:cNvSpPr txBox="1"/>
            <p:nvPr/>
          </p:nvSpPr>
          <p:spPr>
            <a:xfrm>
              <a:off x="5212490" y="3794234"/>
              <a:ext cx="12586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172.17.0.4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ED62951-BFEC-FBA6-7799-ADF19F1687E8}"/>
                </a:ext>
              </a:extLst>
            </p:cNvPr>
            <p:cNvSpPr/>
            <p:nvPr/>
          </p:nvSpPr>
          <p:spPr>
            <a:xfrm>
              <a:off x="5531773" y="4064149"/>
              <a:ext cx="620111" cy="369449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eth0</a:t>
              </a:r>
              <a:endParaRPr lang="zh-CN" altLang="en-US" sz="140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A2AF745-F5A2-6D4F-13FF-0A953C5A1614}"/>
                </a:ext>
              </a:extLst>
            </p:cNvPr>
            <p:cNvSpPr/>
            <p:nvPr/>
          </p:nvSpPr>
          <p:spPr>
            <a:xfrm>
              <a:off x="5531773" y="5111160"/>
              <a:ext cx="620111" cy="369449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/>
                <a:t>vethZ</a:t>
              </a:r>
              <a:endParaRPr lang="zh-CN" altLang="en-US" sz="1400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826DB33-F587-2158-0262-AC1134DB3785}"/>
                </a:ext>
              </a:extLst>
            </p:cNvPr>
            <p:cNvCxnSpPr>
              <a:stCxn id="20" idx="2"/>
              <a:endCxn id="21" idx="0"/>
            </p:cNvCxnSpPr>
            <p:nvPr/>
          </p:nvCxnSpPr>
          <p:spPr>
            <a:xfrm>
              <a:off x="5841829" y="4433598"/>
              <a:ext cx="0" cy="677562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lg" len="med"/>
              <a:tailEnd type="triangle" w="lg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2BFFCA6-60E4-52B9-EA6A-3124BDFCE8FB}"/>
              </a:ext>
            </a:extLst>
          </p:cNvPr>
          <p:cNvSpPr/>
          <p:nvPr/>
        </p:nvSpPr>
        <p:spPr>
          <a:xfrm>
            <a:off x="2228146" y="2570842"/>
            <a:ext cx="968188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mysql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6812801-3006-3BEB-C220-93FE354F2DEB}"/>
              </a:ext>
            </a:extLst>
          </p:cNvPr>
          <p:cNvSpPr/>
          <p:nvPr/>
        </p:nvSpPr>
        <p:spPr>
          <a:xfrm>
            <a:off x="8479558" y="2570842"/>
            <a:ext cx="968188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java</a:t>
            </a:r>
            <a:r>
              <a:rPr lang="zh-CN" altLang="en-US" sz="1400">
                <a:solidFill>
                  <a:schemeClr val="tx1"/>
                </a:solidFill>
              </a:rPr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154740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20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21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22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23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" presetClass="pat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9" dur="500" accel="50000" de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0000" y="90000"/>
                                    </p:animScale>
                                    <p:animScale>
                                      <p:cBhvr>
                                        <p:cTn id="40" dur="250" accel="10000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37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7" dur="75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((ceil(rand(-2)+1))+(rand(2)-1))*0.12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zh-CN" altLang="en-US"/>
              <a:t>加入自定义网络的容器才可以通过容器名互相访问，</a:t>
            </a:r>
            <a:r>
              <a:rPr lang="en-US" altLang="zh-CN"/>
              <a:t>Docker</a:t>
            </a:r>
            <a:r>
              <a:rPr lang="zh-CN" altLang="en-US"/>
              <a:t>的网络操作命令如下：</a:t>
            </a:r>
          </a:p>
        </p:txBody>
      </p:sp>
      <p:graphicFrame>
        <p:nvGraphicFramePr>
          <p:cNvPr id="4" name="表格 23">
            <a:extLst>
              <a:ext uri="{FF2B5EF4-FFF2-40B4-BE49-F238E27FC236}">
                <a16:creationId xmlns:a16="http://schemas.microsoft.com/office/drawing/2014/main" id="{23A6CF91-A227-8A6B-C50B-095A204F3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828101"/>
              </p:ext>
            </p:extLst>
          </p:nvPr>
        </p:nvGraphicFramePr>
        <p:xfrm>
          <a:off x="712025" y="1576083"/>
          <a:ext cx="10350422" cy="3946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4209599">
                  <a:extLst>
                    <a:ext uri="{9D8B030D-6E8A-4147-A177-3AD203B41FA5}">
                      <a16:colId xmlns:a16="http://schemas.microsoft.com/office/drawing/2014/main" val="3874990904"/>
                    </a:ext>
                  </a:extLst>
                </a:gridCol>
                <a:gridCol w="6140823">
                  <a:extLst>
                    <a:ext uri="{9D8B030D-6E8A-4147-A177-3AD203B41FA5}">
                      <a16:colId xmlns:a16="http://schemas.microsoft.com/office/drawing/2014/main" val="2412540663"/>
                    </a:ext>
                  </a:extLst>
                </a:gridCol>
              </a:tblGrid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endParaRPr lang="zh-CN" altLang="en-US" sz="2000">
                        <a:effectLst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>
                          <a:solidFill>
                            <a:srgbClr val="FFFFFF"/>
                          </a:solidFill>
                          <a:effectLst/>
                        </a:rPr>
                        <a:t>说明</a:t>
                      </a:r>
                      <a:endParaRPr lang="zh-CN" altLang="en-US" sz="2000">
                        <a:effectLst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45483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create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创建一个网络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6254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查看所有网络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397053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rm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删除指定网络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964146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prune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清除未使用的网络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9578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connect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使指定容器连接加入某网络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224048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disconnect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使指定容器连接离开某网络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311582"/>
                  </a:ext>
                </a:extLst>
              </a:tr>
              <a:tr h="493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docker network inspect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查看网络详细信息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50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944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D508A4-917E-96C4-3290-648499AB4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en-US" altLang="zh-CN"/>
              <a:t>Docker</a:t>
            </a:r>
            <a:r>
              <a:rPr lang="zh-CN" altLang="en-US"/>
              <a:t>核心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1788249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D04E83-00CD-CA74-FCDA-3DD51C4EC6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0FBCFF2-EC6E-9CCB-8A63-DA082CA89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服务端部署</a:t>
            </a:r>
            <a:endParaRPr lang="en-US" altLang="zh-CN"/>
          </a:p>
          <a:p>
            <a:r>
              <a:rPr lang="zh-CN" altLang="en-US"/>
              <a:t>前端部署</a:t>
            </a:r>
            <a:endParaRPr lang="en-US" altLang="zh-CN"/>
          </a:p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91E9D07-CC61-9208-44E9-008519CFA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03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部署服务端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8839C2-E28F-D182-7886-2946DF62F2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24932"/>
            <a:ext cx="10714039" cy="411184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需求：将我们开发的 </a:t>
            </a:r>
            <a:r>
              <a:rPr lang="en-US" altLang="zh-CN"/>
              <a:t>tlias-web-management </a:t>
            </a:r>
            <a:r>
              <a:rPr lang="zh-CN" altLang="en-US"/>
              <a:t>项目打包为镜像，并部署。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720000" indent="-342900">
              <a:buFont typeface="+mj-lt"/>
              <a:buAutoNum type="arabicPeriod"/>
            </a:pPr>
            <a:r>
              <a:rPr lang="zh-CN" altLang="en-US"/>
              <a:t>准备</a:t>
            </a:r>
            <a:r>
              <a:rPr lang="en-US" altLang="zh-CN"/>
              <a:t>MySQL</a:t>
            </a:r>
            <a:r>
              <a:rPr lang="zh-CN" altLang="en-US"/>
              <a:t>容器，并创建</a:t>
            </a:r>
            <a:r>
              <a:rPr lang="en-US" altLang="zh-CN"/>
              <a:t>tlias</a:t>
            </a:r>
            <a:r>
              <a:rPr lang="zh-CN" altLang="en-US"/>
              <a:t>数据库及表结构。（已完成）</a:t>
            </a:r>
            <a:endParaRPr lang="en-US" altLang="zh-CN"/>
          </a:p>
          <a:p>
            <a:pPr marL="720000" indent="-342900">
              <a:buFont typeface="+mj-lt"/>
              <a:buAutoNum type="arabicPeriod"/>
            </a:pPr>
            <a:r>
              <a:rPr lang="zh-CN" altLang="en-US"/>
              <a:t>准备</a:t>
            </a:r>
            <a:r>
              <a:rPr lang="en-US" altLang="zh-CN"/>
              <a:t>java</a:t>
            </a:r>
            <a:r>
              <a:rPr lang="zh-CN" altLang="en-US"/>
              <a:t>应用（</a:t>
            </a:r>
            <a:r>
              <a:rPr lang="en-US" altLang="zh-CN"/>
              <a:t>tlias</a:t>
            </a:r>
            <a:r>
              <a:rPr lang="zh-CN" altLang="en-US"/>
              <a:t>项目）镜像，部署</a:t>
            </a:r>
            <a:r>
              <a:rPr lang="en-US" altLang="zh-CN"/>
              <a:t>Docker</a:t>
            </a:r>
            <a:r>
              <a:rPr lang="zh-CN" altLang="en-US"/>
              <a:t>容器，运行测试。</a:t>
            </a:r>
            <a:endParaRPr lang="en-US" altLang="zh-CN"/>
          </a:p>
          <a:p>
            <a:pPr marL="1008000" lvl="1" indent="-3429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/>
              <a:t>修改</a:t>
            </a:r>
            <a:r>
              <a:rPr lang="en-US" altLang="zh-CN"/>
              <a:t>tlias</a:t>
            </a:r>
            <a:r>
              <a:rPr lang="zh-CN" altLang="en-US"/>
              <a:t>项目的配置文件，修改数据库服务地址及</a:t>
            </a:r>
            <a:r>
              <a:rPr lang="en-US" altLang="zh-CN"/>
              <a:t>logback</a:t>
            </a:r>
            <a:r>
              <a:rPr lang="zh-CN" altLang="en-US"/>
              <a:t>日志文件存放地址，打</a:t>
            </a:r>
            <a:r>
              <a:rPr lang="en-US" altLang="zh-CN"/>
              <a:t>jar</a:t>
            </a:r>
            <a:r>
              <a:rPr lang="zh-CN" altLang="en-US"/>
              <a:t>包。</a:t>
            </a:r>
            <a:r>
              <a:rPr lang="en-US" altLang="zh-CN"/>
              <a:t> </a:t>
            </a:r>
          </a:p>
          <a:p>
            <a:pPr marL="10080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编写</a:t>
            </a:r>
            <a:r>
              <a:rPr lang="en-US" altLang="zh-CN"/>
              <a:t>Dockerfile</a:t>
            </a:r>
            <a:r>
              <a:rPr lang="zh-CN" altLang="en-US"/>
              <a:t>文件。</a:t>
            </a:r>
            <a:endParaRPr lang="en-US" altLang="zh-CN"/>
          </a:p>
          <a:p>
            <a:pPr marL="10080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构建</a:t>
            </a:r>
            <a:r>
              <a:rPr lang="en-US" altLang="zh-CN"/>
              <a:t>Docker</a:t>
            </a:r>
            <a:r>
              <a:rPr lang="zh-CN" altLang="en-US"/>
              <a:t>镜像。</a:t>
            </a:r>
            <a:endParaRPr lang="en-US" altLang="zh-CN"/>
          </a:p>
          <a:p>
            <a:pPr marL="10080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部署</a:t>
            </a:r>
            <a:r>
              <a:rPr lang="en-US" altLang="zh-CN"/>
              <a:t>Docker</a:t>
            </a:r>
            <a:r>
              <a:rPr lang="zh-CN" altLang="en-US"/>
              <a:t>容器。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749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826B-C81F-3265-6C8C-DD9443DC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19E6C7-E7CE-EE55-B723-E6905B053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16CD40-88D3-809C-A16C-87867B96C2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服务端部署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前端部署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27B0DE3-07B9-9B31-DB3F-B8C7F3C42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597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AEF6CD-C6EE-3D97-30A6-AC172022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部署前端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27BD13-ABCA-273C-4213-9B807246EF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776" y="1024932"/>
            <a:ext cx="10758863" cy="275817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需求：创建一个新的</a:t>
            </a:r>
            <a:r>
              <a:rPr lang="en-US" altLang="zh-CN"/>
              <a:t>nginx</a:t>
            </a:r>
            <a:r>
              <a:rPr lang="zh-CN" altLang="en-US"/>
              <a:t>容器，将资料中提供的前端项目的静态资源部署到</a:t>
            </a:r>
            <a:r>
              <a:rPr lang="en-US" altLang="zh-CN"/>
              <a:t>nginx</a:t>
            </a:r>
            <a:r>
              <a:rPr lang="zh-CN" altLang="en-US"/>
              <a:t>中。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720000" indent="-342900">
              <a:buFont typeface="+mj-lt"/>
              <a:buAutoNum type="arabicPeriod"/>
            </a:pPr>
            <a:r>
              <a:rPr lang="zh-CN" altLang="en-US"/>
              <a:t>部署</a:t>
            </a:r>
            <a:r>
              <a:rPr lang="en-US" altLang="zh-CN"/>
              <a:t>nginx</a:t>
            </a:r>
            <a:r>
              <a:rPr lang="zh-CN" altLang="en-US"/>
              <a:t>容器（设置目录映射）。</a:t>
            </a:r>
            <a:endParaRPr lang="en-US" altLang="zh-CN"/>
          </a:p>
          <a:p>
            <a:pPr marL="72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/>
              <a:t>-v /root/tlias-nginx/html:/usr/share/nginx/html </a:t>
            </a:r>
          </a:p>
          <a:p>
            <a:pPr marL="72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/>
              <a:t>-v /root/tlias-nginx/conf/nginx.conf:/etc/nginx/nginx.conf</a:t>
            </a:r>
          </a:p>
          <a:p>
            <a:pPr marL="720000" indent="-342900">
              <a:buFont typeface="+mj-lt"/>
              <a:buAutoNum type="arabicPeriod"/>
            </a:pPr>
            <a:r>
              <a:rPr lang="zh-CN" altLang="en-US"/>
              <a:t>将部署的前端资源文件及配置文件上传至服务器，执行命令创建</a:t>
            </a:r>
            <a:r>
              <a:rPr lang="en-US" altLang="zh-CN"/>
              <a:t>nginx</a:t>
            </a:r>
            <a:r>
              <a:rPr lang="zh-CN" altLang="en-US"/>
              <a:t>容器。</a:t>
            </a:r>
          </a:p>
        </p:txBody>
      </p:sp>
    </p:spTree>
    <p:extLst>
      <p:ext uri="{BB962C8B-B14F-4D97-AF65-F5344CB8AC3E}">
        <p14:creationId xmlns:p14="http://schemas.microsoft.com/office/powerpoint/2010/main" val="1816899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6152FAD-94A0-5729-E09B-5AB0A973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6" name="立方体 5">
            <a:extLst>
              <a:ext uri="{FF2B5EF4-FFF2-40B4-BE49-F238E27FC236}">
                <a16:creationId xmlns:a16="http://schemas.microsoft.com/office/drawing/2014/main" id="{5BFD6488-A87E-5E6A-8597-2177D70F6487}"/>
              </a:ext>
            </a:extLst>
          </p:cNvPr>
          <p:cNvSpPr/>
          <p:nvPr/>
        </p:nvSpPr>
        <p:spPr>
          <a:xfrm>
            <a:off x="762004" y="1647949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13606334-DE3C-EABA-C911-E2DA92A6D5D8}"/>
              </a:ext>
            </a:extLst>
          </p:cNvPr>
          <p:cNvSpPr/>
          <p:nvPr/>
        </p:nvSpPr>
        <p:spPr>
          <a:xfrm>
            <a:off x="1030945" y="4450180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nginx</a:t>
            </a:r>
            <a:endParaRPr lang="zh-CN" altLang="en-US"/>
          </a:p>
        </p:txBody>
      </p:sp>
      <p:sp>
        <p:nvSpPr>
          <p:cNvPr id="8" name="立方体 7">
            <a:extLst>
              <a:ext uri="{FF2B5EF4-FFF2-40B4-BE49-F238E27FC236}">
                <a16:creationId xmlns:a16="http://schemas.microsoft.com/office/drawing/2014/main" id="{A203EE51-9F70-9A1F-2972-E19A20924900}"/>
              </a:ext>
            </a:extLst>
          </p:cNvPr>
          <p:cNvSpPr/>
          <p:nvPr/>
        </p:nvSpPr>
        <p:spPr>
          <a:xfrm>
            <a:off x="2942683" y="2843114"/>
            <a:ext cx="2196353" cy="1261419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tlias-server</a:t>
            </a:r>
            <a:endParaRPr lang="zh-CN" altLang="en-US"/>
          </a:p>
        </p:txBody>
      </p:sp>
      <p:sp>
        <p:nvSpPr>
          <p:cNvPr id="9" name="立方体 8">
            <a:extLst>
              <a:ext uri="{FF2B5EF4-FFF2-40B4-BE49-F238E27FC236}">
                <a16:creationId xmlns:a16="http://schemas.microsoft.com/office/drawing/2014/main" id="{73D065C4-2EB8-C2DD-FA68-E50A1A474CB7}"/>
              </a:ext>
            </a:extLst>
          </p:cNvPr>
          <p:cNvSpPr/>
          <p:nvPr/>
        </p:nvSpPr>
        <p:spPr>
          <a:xfrm>
            <a:off x="3865650" y="4786086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</a:t>
            </a:r>
            <a:endParaRPr lang="zh-CN" altLang="en-US"/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1CA90533-7010-A559-EF78-E7DFDAA90352}"/>
              </a:ext>
            </a:extLst>
          </p:cNvPr>
          <p:cNvSpPr/>
          <p:nvPr/>
        </p:nvSpPr>
        <p:spPr>
          <a:xfrm>
            <a:off x="4666045" y="1299984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mq</a:t>
            </a:r>
            <a:endParaRPr lang="zh-CN" altLang="en-US"/>
          </a:p>
        </p:txBody>
      </p:sp>
      <p:sp>
        <p:nvSpPr>
          <p:cNvPr id="11" name="立方体 10">
            <a:extLst>
              <a:ext uri="{FF2B5EF4-FFF2-40B4-BE49-F238E27FC236}">
                <a16:creationId xmlns:a16="http://schemas.microsoft.com/office/drawing/2014/main" id="{DBBC6246-C1B8-67ED-D0BF-C5EAF2F285D5}"/>
              </a:ext>
            </a:extLst>
          </p:cNvPr>
          <p:cNvSpPr/>
          <p:nvPr/>
        </p:nvSpPr>
        <p:spPr>
          <a:xfrm>
            <a:off x="5901021" y="3147660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order-server</a:t>
            </a:r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D50108D2-FD12-9C3B-B041-F16F76768B55}"/>
              </a:ext>
            </a:extLst>
          </p:cNvPr>
          <p:cNvSpPr/>
          <p:nvPr/>
        </p:nvSpPr>
        <p:spPr>
          <a:xfrm>
            <a:off x="6799726" y="4786086"/>
            <a:ext cx="2196351" cy="1261418"/>
          </a:xfrm>
          <a:prstGeom prst="cub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admin-server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BC93B8-95F6-9165-DDF8-37312DE2B3CF}"/>
              </a:ext>
            </a:extLst>
          </p:cNvPr>
          <p:cNvSpPr txBox="1"/>
          <p:nvPr/>
        </p:nvSpPr>
        <p:spPr>
          <a:xfrm>
            <a:off x="2259106" y="198766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DE5482-CAAD-BCF7-9EA9-C586CA67931B}"/>
              </a:ext>
            </a:extLst>
          </p:cNvPr>
          <p:cNvSpPr txBox="1"/>
          <p:nvPr/>
        </p:nvSpPr>
        <p:spPr>
          <a:xfrm>
            <a:off x="6158671" y="164639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B3FDF0-C38B-E965-E6E1-E3292CA41AA4}"/>
              </a:ext>
            </a:extLst>
          </p:cNvPr>
          <p:cNvSpPr txBox="1"/>
          <p:nvPr/>
        </p:nvSpPr>
        <p:spPr>
          <a:xfrm>
            <a:off x="5351929" y="512155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FBA712-F2C9-A3F6-A213-6F708457E972}"/>
              </a:ext>
            </a:extLst>
          </p:cNvPr>
          <p:cNvSpPr txBox="1"/>
          <p:nvPr/>
        </p:nvSpPr>
        <p:spPr>
          <a:xfrm>
            <a:off x="4437544" y="3172616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7297171-B4E8-12CE-0682-0B5E81874349}"/>
              </a:ext>
            </a:extLst>
          </p:cNvPr>
          <p:cNvSpPr txBox="1"/>
          <p:nvPr/>
        </p:nvSpPr>
        <p:spPr>
          <a:xfrm>
            <a:off x="7398208" y="344855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A3F139-B0AE-6898-F4EA-A17C63478FC4}"/>
              </a:ext>
            </a:extLst>
          </p:cNvPr>
          <p:cNvSpPr txBox="1"/>
          <p:nvPr/>
        </p:nvSpPr>
        <p:spPr>
          <a:xfrm>
            <a:off x="8292392" y="510511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701F45-2120-667A-D6B5-EF411147A0DC}"/>
              </a:ext>
            </a:extLst>
          </p:cNvPr>
          <p:cNvSpPr txBox="1"/>
          <p:nvPr/>
        </p:nvSpPr>
        <p:spPr>
          <a:xfrm>
            <a:off x="2530391" y="477270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⑦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1A8E0F-D644-F9D6-0C60-33F48939F35A}"/>
              </a:ext>
            </a:extLst>
          </p:cNvPr>
          <p:cNvSpPr/>
          <p:nvPr/>
        </p:nvSpPr>
        <p:spPr>
          <a:xfrm>
            <a:off x="582605" y="1057835"/>
            <a:ext cx="8534461" cy="5334000"/>
          </a:xfrm>
          <a:prstGeom prst="roundRect">
            <a:avLst>
              <a:gd name="adj" fmla="val 2543"/>
            </a:avLst>
          </a:prstGeom>
          <a:noFill/>
          <a:ln>
            <a:solidFill>
              <a:schemeClr val="tx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086246-56EF-3FBA-29B5-C07CE301412F}"/>
              </a:ext>
            </a:extLst>
          </p:cNvPr>
          <p:cNvSpPr txBox="1"/>
          <p:nvPr/>
        </p:nvSpPr>
        <p:spPr>
          <a:xfrm>
            <a:off x="9117066" y="2064611"/>
            <a:ext cx="2845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手动部署</a:t>
            </a:r>
            <a:r>
              <a:rPr lang="en-US" altLang="zh-CN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-</a:t>
            </a:r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F0632A-B905-33D5-C660-BD116192F190}"/>
              </a:ext>
            </a:extLst>
          </p:cNvPr>
          <p:cNvSpPr txBox="1"/>
          <p:nvPr/>
        </p:nvSpPr>
        <p:spPr>
          <a:xfrm>
            <a:off x="9117066" y="291146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不便于统一管理</a:t>
            </a:r>
          </a:p>
        </p:txBody>
      </p:sp>
    </p:spTree>
    <p:extLst>
      <p:ext uri="{BB962C8B-B14F-4D97-AF65-F5344CB8AC3E}">
        <p14:creationId xmlns:p14="http://schemas.microsoft.com/office/powerpoint/2010/main" val="417716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 animBg="1"/>
      <p:bldP spid="23" grpId="0"/>
      <p:bldP spid="2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97F4-BA04-AD01-5481-455DA812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88C5F5-114B-E02F-0017-995435E12F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C7AAE31-E8E4-2312-C076-E342A5785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服务端部署</a:t>
            </a:r>
            <a:endParaRPr lang="en-US" altLang="zh-CN"/>
          </a:p>
          <a:p>
            <a:r>
              <a:rPr lang="zh-CN" altLang="en-US"/>
              <a:t>前端部署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DockerCompose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ACD60FC-7D0F-E251-F7FB-C308418BE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886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90488"/>
          </a:xfrm>
        </p:spPr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Docker Compose</a:t>
            </a:r>
            <a:r>
              <a:rPr lang="zh-CN" altLang="en-US"/>
              <a:t>通过一个单独的</a:t>
            </a:r>
            <a:r>
              <a:rPr lang="en-US" altLang="zh-CN">
                <a:solidFill>
                  <a:srgbClr val="C00000"/>
                </a:solidFill>
              </a:rPr>
              <a:t>docker-compose.yml</a:t>
            </a:r>
            <a:r>
              <a:rPr lang="en-US" altLang="zh-CN"/>
              <a:t> </a:t>
            </a:r>
            <a:r>
              <a:rPr lang="zh-CN" altLang="en-US"/>
              <a:t>模板文件（</a:t>
            </a:r>
            <a:r>
              <a:rPr lang="en-US" altLang="zh-CN"/>
              <a:t>YAML </a:t>
            </a:r>
            <a:r>
              <a:rPr lang="zh-CN" altLang="en-US"/>
              <a:t>格式）来定义一组相关联的应用容器，帮助我们实现</a:t>
            </a:r>
            <a:r>
              <a:rPr lang="zh-CN" altLang="en-US">
                <a:solidFill>
                  <a:srgbClr val="C00000"/>
                </a:solidFill>
              </a:rPr>
              <a:t>多个相互关联的</a:t>
            </a:r>
            <a:r>
              <a:rPr lang="en-US" altLang="zh-CN">
                <a:solidFill>
                  <a:srgbClr val="C00000"/>
                </a:solidFill>
              </a:rPr>
              <a:t>Docker</a:t>
            </a:r>
            <a:r>
              <a:rPr lang="zh-CN" altLang="en-US">
                <a:solidFill>
                  <a:srgbClr val="C00000"/>
                </a:solidFill>
              </a:rPr>
              <a:t>容器的快速部署</a:t>
            </a:r>
            <a:r>
              <a:rPr lang="zh-CN" altLang="en-US"/>
              <a:t>。</a:t>
            </a:r>
            <a:endParaRPr lang="en-US" altLang="zh-CN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E78B8F5-6B1D-D7E8-9089-C912E4A61C9F}"/>
              </a:ext>
            </a:extLst>
          </p:cNvPr>
          <p:cNvGrpSpPr/>
          <p:nvPr/>
        </p:nvGrpSpPr>
        <p:grpSpPr>
          <a:xfrm>
            <a:off x="3404674" y="2491214"/>
            <a:ext cx="2859319" cy="3677477"/>
            <a:chOff x="4313330" y="3230219"/>
            <a:chExt cx="2582658" cy="33360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07D26A-1FAE-B72E-8FF7-536E36523301}"/>
                </a:ext>
              </a:extLst>
            </p:cNvPr>
            <p:cNvGrpSpPr/>
            <p:nvPr/>
          </p:nvGrpSpPr>
          <p:grpSpPr>
            <a:xfrm>
              <a:off x="4313330" y="3230219"/>
              <a:ext cx="2582658" cy="3336000"/>
              <a:chOff x="2883348" y="3111062"/>
              <a:chExt cx="2855300" cy="3510455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5CEE7EE7-7172-7DBB-662C-03961F53EC3E}"/>
                  </a:ext>
                </a:extLst>
              </p:cNvPr>
              <p:cNvSpPr/>
              <p:nvPr/>
            </p:nvSpPr>
            <p:spPr>
              <a:xfrm>
                <a:off x="2883348" y="3111062"/>
                <a:ext cx="2855300" cy="3510455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C946C893-A009-CA29-C39E-E6EFA924D1DF}"/>
                  </a:ext>
                </a:extLst>
              </p:cNvPr>
              <p:cNvSpPr/>
              <p:nvPr/>
            </p:nvSpPr>
            <p:spPr>
              <a:xfrm rot="13411872">
                <a:off x="4634675" y="3400424"/>
                <a:ext cx="1062195" cy="541091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9CBEE94-BBF7-AB1C-C475-0BE35E764972}"/>
                </a:ext>
              </a:extLst>
            </p:cNvPr>
            <p:cNvSpPr txBox="1"/>
            <p:nvPr/>
          </p:nvSpPr>
          <p:spPr>
            <a:xfrm>
              <a:off x="4532118" y="3486871"/>
              <a:ext cx="2175151" cy="2931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rgbClr val="AD2B26"/>
                  </a:solidFill>
                  <a:latin typeface="+mn-lt"/>
                  <a:ea typeface="+mn-ea"/>
                </a:rPr>
                <a:t>services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: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  </a:t>
              </a:r>
              <a:r>
                <a:rPr lang="en-US" altLang="zh-CN" sz="1200">
                  <a:solidFill>
                    <a:srgbClr val="AD2B26"/>
                  </a:solidFill>
                  <a:latin typeface="+mn-lt"/>
                  <a:ea typeface="+mn-ea"/>
                </a:rPr>
                <a:t>containerA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image: 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container_name: 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ports: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  - "11:11"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  </a:t>
              </a:r>
              <a:r>
                <a:rPr lang="en-US" altLang="zh-CN" sz="1200">
                  <a:solidFill>
                    <a:srgbClr val="AD2B26"/>
                  </a:solidFill>
                  <a:latin typeface="+mn-lt"/>
                  <a:ea typeface="+mn-ea"/>
                </a:rPr>
                <a:t>containerB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image: B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container_name: B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ports: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  - "22:22"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  </a:t>
              </a:r>
              <a:r>
                <a:rPr lang="en-US" altLang="zh-CN" sz="1200">
                  <a:solidFill>
                    <a:srgbClr val="AD2B26"/>
                  </a:solidFill>
                  <a:latin typeface="+mn-lt"/>
                  <a:ea typeface="+mn-ea"/>
                </a:rPr>
                <a:t>containerC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image: C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container_name: C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ports: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</a:rPr>
                <a:t>      - "33:33"</a:t>
              </a:r>
              <a:endParaRPr lang="zh-CN" altLang="en-US" sz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F365E7E-061D-D28C-CB88-E4FB8213E81B}"/>
              </a:ext>
            </a:extLst>
          </p:cNvPr>
          <p:cNvSpPr txBox="1"/>
          <p:nvPr/>
        </p:nvSpPr>
        <p:spPr>
          <a:xfrm>
            <a:off x="809465" y="2505975"/>
            <a:ext cx="1682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75000"/>
                  </a:schemeClr>
                </a:solidFill>
              </a:rPr>
              <a:t>项目（</a:t>
            </a:r>
            <a:r>
              <a:rPr lang="en-US" altLang="zh-CN" sz="1400" b="1">
                <a:solidFill>
                  <a:schemeClr val="tx1">
                    <a:lumMod val="75000"/>
                  </a:schemeClr>
                </a:solidFill>
              </a:rPr>
              <a:t>Project</a:t>
            </a:r>
            <a:r>
              <a:rPr lang="zh-CN" altLang="en-US" sz="1400" b="1">
                <a:solidFill>
                  <a:schemeClr val="tx1">
                    <a:lumMod val="75000"/>
                  </a:schemeClr>
                </a:solidFill>
              </a:rPr>
              <a:t>）</a:t>
            </a:r>
            <a:endParaRPr lang="zh-CN" altLang="en-US" sz="1400" b="1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86300D9-8CE7-C573-2F6C-73E46FDDB4F3}"/>
              </a:ext>
            </a:extLst>
          </p:cNvPr>
          <p:cNvCxnSpPr>
            <a:stCxn id="9" idx="3"/>
          </p:cNvCxnSpPr>
          <p:nvPr/>
        </p:nvCxnSpPr>
        <p:spPr>
          <a:xfrm flipV="1">
            <a:off x="2492152" y="2659863"/>
            <a:ext cx="846422" cy="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600DECC-77F1-70ED-EED6-9E461EA66DB7}"/>
              </a:ext>
            </a:extLst>
          </p:cNvPr>
          <p:cNvSpPr txBox="1"/>
          <p:nvPr/>
        </p:nvSpPr>
        <p:spPr>
          <a:xfrm>
            <a:off x="791285" y="4240011"/>
            <a:ext cx="1682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>
                    <a:lumMod val="75000"/>
                  </a:schemeClr>
                </a:solidFill>
              </a:rPr>
              <a:t>服务（</a:t>
            </a:r>
            <a:r>
              <a:rPr lang="en-US" altLang="zh-CN" sz="1400" b="1">
                <a:solidFill>
                  <a:schemeClr val="tx1">
                    <a:lumMod val="75000"/>
                  </a:schemeClr>
                </a:solidFill>
              </a:rPr>
              <a:t>Service</a:t>
            </a:r>
            <a:r>
              <a:rPr lang="zh-CN" altLang="en-US" sz="1400" b="1">
                <a:solidFill>
                  <a:schemeClr val="tx1">
                    <a:lumMod val="75000"/>
                  </a:schemeClr>
                </a:solidFill>
              </a:rPr>
              <a:t>）</a:t>
            </a:r>
            <a:endParaRPr lang="zh-CN" altLang="en-US" sz="1400" b="1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BFAE469-08E1-0BA3-B0A2-3A3F0DBB35B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473972" y="3290047"/>
            <a:ext cx="1416710" cy="1103853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33D7317-E29F-5048-EE5F-788C2054F78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473972" y="4240011"/>
            <a:ext cx="1416710" cy="15388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21B9A90-4784-E990-D3D9-29432C41903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473972" y="4393900"/>
            <a:ext cx="1416710" cy="73391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图片 17" descr="形状&#10;&#10;描述已自动生成">
            <a:extLst>
              <a:ext uri="{FF2B5EF4-FFF2-40B4-BE49-F238E27FC236}">
                <a16:creationId xmlns:a16="http://schemas.microsoft.com/office/drawing/2014/main" id="{EF30BE23-1EA0-FCA6-E3A9-F5BA71B35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178" y="1759101"/>
            <a:ext cx="43243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4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90488"/>
          </a:xfrm>
        </p:spPr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Docker Compose</a:t>
            </a:r>
            <a:r>
              <a:rPr lang="zh-CN" altLang="en-US"/>
              <a:t>通过一个单独的</a:t>
            </a:r>
            <a:r>
              <a:rPr lang="en-US" altLang="zh-CN">
                <a:solidFill>
                  <a:srgbClr val="C00000"/>
                </a:solidFill>
              </a:rPr>
              <a:t>docker-compose.yml</a:t>
            </a:r>
            <a:r>
              <a:rPr lang="en-US" altLang="zh-CN"/>
              <a:t> </a:t>
            </a:r>
            <a:r>
              <a:rPr lang="zh-CN" altLang="en-US"/>
              <a:t>模板文件（</a:t>
            </a:r>
            <a:r>
              <a:rPr lang="en-US" altLang="zh-CN"/>
              <a:t>YAML </a:t>
            </a:r>
            <a:r>
              <a:rPr lang="zh-CN" altLang="en-US"/>
              <a:t>格式）来定义一组相关联的应用容器，帮助我们实现</a:t>
            </a:r>
            <a:r>
              <a:rPr lang="zh-CN" altLang="en-US">
                <a:solidFill>
                  <a:srgbClr val="C00000"/>
                </a:solidFill>
              </a:rPr>
              <a:t>多个相互关联的</a:t>
            </a:r>
            <a:r>
              <a:rPr lang="en-US" altLang="zh-CN">
                <a:solidFill>
                  <a:srgbClr val="C00000"/>
                </a:solidFill>
              </a:rPr>
              <a:t>Docker</a:t>
            </a:r>
            <a:r>
              <a:rPr lang="zh-CN" altLang="en-US">
                <a:solidFill>
                  <a:srgbClr val="C00000"/>
                </a:solidFill>
              </a:rPr>
              <a:t>容器的快速部署</a:t>
            </a:r>
            <a:r>
              <a:rPr lang="zh-CN" altLang="en-US"/>
              <a:t>。</a:t>
            </a:r>
            <a:endParaRPr lang="en-US" altLang="zh-CN"/>
          </a:p>
        </p:txBody>
      </p:sp>
      <p:grpSp>
        <p:nvGrpSpPr>
          <p:cNvPr id="15" name="组合 2">
            <a:extLst>
              <a:ext uri="{FF2B5EF4-FFF2-40B4-BE49-F238E27FC236}">
                <a16:creationId xmlns:a16="http://schemas.microsoft.com/office/drawing/2014/main" id="{712FFA45-C993-0944-968C-ED81BAD5A7B3}"/>
              </a:ext>
            </a:extLst>
          </p:cNvPr>
          <p:cNvGrpSpPr/>
          <p:nvPr/>
        </p:nvGrpSpPr>
        <p:grpSpPr>
          <a:xfrm>
            <a:off x="690482" y="2060176"/>
            <a:ext cx="5486200" cy="3255896"/>
            <a:chOff x="2297721" y="3660322"/>
            <a:chExt cx="6100358" cy="294811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E4E870D-7344-5F42-190A-FBD4A7A044AC}"/>
                </a:ext>
              </a:extLst>
            </p:cNvPr>
            <p:cNvSpPr/>
            <p:nvPr/>
          </p:nvSpPr>
          <p:spPr>
            <a:xfrm>
              <a:off x="2297722" y="3660322"/>
              <a:ext cx="6100357" cy="2948114"/>
            </a:xfrm>
            <a:prstGeom prst="roundRect">
              <a:avLst>
                <a:gd name="adj" fmla="val 1909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docker run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-d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--name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nginx-tlias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-v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/usr/local/app/html:/usr/share/nginx/html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bg1"/>
                  </a:solidFill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-v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/usr/local/app/conf/nginx.conf:/etc/nginx/nginx.conf \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bg1"/>
                  </a:solidFill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--network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itheima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-p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80:80 \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bg1"/>
                  </a:solidFill>
                  <a:latin typeface="Source code pro" panose="020B0509030403020204" pitchFamily="49" charset="0"/>
                </a:rPr>
                <a:t> 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nginx:1.20.2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147BC60D-3D67-A6A2-4EF1-2A12F6884B71}"/>
                </a:ext>
              </a:extLst>
            </p:cNvPr>
            <p:cNvSpPr/>
            <p:nvPr/>
          </p:nvSpPr>
          <p:spPr>
            <a:xfrm>
              <a:off x="2297721" y="3660322"/>
              <a:ext cx="6100357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138B273-94FD-52A0-BB83-A5A87C96E142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236EA33-AFFE-0FBA-4E1A-78368841F48F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40B12AB-2A1C-2126-3BD2-C8F93A9F2C07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">
            <a:extLst>
              <a:ext uri="{FF2B5EF4-FFF2-40B4-BE49-F238E27FC236}">
                <a16:creationId xmlns:a16="http://schemas.microsoft.com/office/drawing/2014/main" id="{E1073463-BF5F-E140-4161-2D8923A15051}"/>
              </a:ext>
            </a:extLst>
          </p:cNvPr>
          <p:cNvGrpSpPr/>
          <p:nvPr/>
        </p:nvGrpSpPr>
        <p:grpSpPr>
          <a:xfrm>
            <a:off x="6291050" y="1522293"/>
            <a:ext cx="5838197" cy="4519919"/>
            <a:chOff x="2297721" y="3660321"/>
            <a:chExt cx="6491760" cy="409264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A15328B9-20A6-E8AB-0135-2E43EB4E3F5A}"/>
                </a:ext>
              </a:extLst>
            </p:cNvPr>
            <p:cNvSpPr/>
            <p:nvPr/>
          </p:nvSpPr>
          <p:spPr>
            <a:xfrm>
              <a:off x="2297722" y="3660321"/>
              <a:ext cx="6491759" cy="4092648"/>
            </a:xfrm>
            <a:prstGeom prst="roundRect">
              <a:avLst>
                <a:gd name="adj" fmla="val 1909"/>
              </a:avLst>
            </a:prstGeom>
            <a:solidFill>
              <a:srgbClr val="28407C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96000" rIns="36000" bIns="0" rtlCol="0" anchor="ctr"/>
            <a:lstStyle/>
            <a:p>
              <a:pPr>
                <a:lnSpc>
                  <a:spcPct val="150000"/>
                </a:lnSpc>
              </a:pPr>
              <a:endParaRPr lang="en-US" altLang="zh-CN" sz="1200" b="0">
                <a:solidFill>
                  <a:srgbClr val="FFFF00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services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nginx-tlias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image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 </a:t>
              </a:r>
              <a:r>
                <a:rPr lang="en-US" altLang="zh-CN" sz="1200">
                  <a:solidFill>
                    <a:srgbClr val="00FF00"/>
                  </a:solidFill>
                  <a:latin typeface="Source code pro" panose="020B0509030403020204" pitchFamily="49" charset="0"/>
                </a:rPr>
                <a:t>"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nginx:1.20.2"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container_name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 nginx-tlias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volumes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  - </a:t>
              </a:r>
              <a:r>
                <a:rPr lang="en-US" altLang="zh-CN" sz="1200">
                  <a:solidFill>
                    <a:srgbClr val="00FF00"/>
                  </a:solidFill>
                  <a:latin typeface="Source code pro" panose="020B0509030403020204" pitchFamily="49" charset="0"/>
                </a:rPr>
                <a:t>"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/usr/local/app/html:/usr/share/nginx/html"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  - </a:t>
              </a:r>
              <a:r>
                <a:rPr lang="en-US" altLang="zh-CN" sz="1200">
                  <a:solidFill>
                    <a:srgbClr val="00FF00"/>
                  </a:solidFill>
                  <a:latin typeface="Source code pro" panose="020B0509030403020204" pitchFamily="49" charset="0"/>
                </a:rPr>
                <a:t>"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/usr/local/app/conf/nginx.conf:/etc/nginx/nginx.conf</a:t>
              </a:r>
              <a:r>
                <a:rPr lang="en-US" altLang="zh-CN" sz="1200">
                  <a:solidFill>
                    <a:srgbClr val="00FF00"/>
                  </a:solidFill>
                  <a:latin typeface="Source code pro" panose="020B0509030403020204" pitchFamily="49" charset="0"/>
                </a:rPr>
                <a:t>"</a:t>
              </a:r>
              <a:endParaRPr lang="en-US" altLang="zh-CN" sz="1200" b="0">
                <a:solidFill>
                  <a:srgbClr val="00FF00"/>
                </a:solidFill>
                <a:effectLst/>
                <a:latin typeface="Source code pro" panose="020B05090304030202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networks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  - itheima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ports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  - </a:t>
              </a:r>
              <a:r>
                <a:rPr lang="en-US" altLang="zh-CN" sz="1200">
                  <a:solidFill>
                    <a:srgbClr val="00FF00"/>
                  </a:solidFill>
                  <a:latin typeface="Source code pro" panose="020B0509030403020204" pitchFamily="49" charset="0"/>
                </a:rPr>
                <a:t>"</a:t>
              </a:r>
              <a:r>
                <a:rPr lang="en-US" altLang="zh-CN" sz="1200" b="0">
                  <a:solidFill>
                    <a:srgbClr val="00FF00"/>
                  </a:solidFill>
                  <a:effectLst/>
                  <a:latin typeface="Source code pro" panose="020B0509030403020204" pitchFamily="49" charset="0"/>
                </a:rPr>
                <a:t>80:80"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networks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itheima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    </a:t>
              </a:r>
              <a:r>
                <a:rPr lang="en-US" altLang="zh-CN" sz="1200" b="0">
                  <a:solidFill>
                    <a:srgbClr val="FFFF00"/>
                  </a:solidFill>
                  <a:effectLst/>
                  <a:latin typeface="Source code pro" panose="020B0509030403020204" pitchFamily="49" charset="0"/>
                </a:rPr>
                <a:t>name</a:t>
              </a:r>
              <a:r>
                <a:rPr lang="en-US" altLang="zh-CN" sz="1200" b="0">
                  <a:solidFill>
                    <a:schemeClr val="bg1"/>
                  </a:solidFill>
                  <a:effectLst/>
                  <a:latin typeface="Source code pro" panose="020B0509030403020204" pitchFamily="49" charset="0"/>
                </a:rPr>
                <a:t>: itheima</a:t>
              </a:r>
            </a:p>
          </p:txBody>
        </p:sp>
        <p:sp>
          <p:nvSpPr>
            <p:cNvPr id="30" name="矩形: 圆顶角 29">
              <a:extLst>
                <a:ext uri="{FF2B5EF4-FFF2-40B4-BE49-F238E27FC236}">
                  <a16:creationId xmlns:a16="http://schemas.microsoft.com/office/drawing/2014/main" id="{002679F1-0186-1C8D-E6C2-68C77756A591}"/>
                </a:ext>
              </a:extLst>
            </p:cNvPr>
            <p:cNvSpPr/>
            <p:nvPr/>
          </p:nvSpPr>
          <p:spPr>
            <a:xfrm>
              <a:off x="2297721" y="3660322"/>
              <a:ext cx="6491759" cy="331913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3C3D3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C60D95D-293E-FC3D-7A92-39257328BD08}"/>
                </a:ext>
              </a:extLst>
            </p:cNvPr>
            <p:cNvSpPr>
              <a:spLocks/>
            </p:cNvSpPr>
            <p:nvPr/>
          </p:nvSpPr>
          <p:spPr>
            <a:xfrm>
              <a:off x="2424894" y="3765581"/>
              <a:ext cx="138889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DF8A05CC-AA69-45AA-728F-60D091C4C0F4}"/>
                </a:ext>
              </a:extLst>
            </p:cNvPr>
            <p:cNvSpPr>
              <a:spLocks/>
            </p:cNvSpPr>
            <p:nvPr/>
          </p:nvSpPr>
          <p:spPr>
            <a:xfrm>
              <a:off x="2866855" y="3765581"/>
              <a:ext cx="138889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AF471A2-0B7A-D51A-0402-947376ACC0DE}"/>
                </a:ext>
              </a:extLst>
            </p:cNvPr>
            <p:cNvSpPr/>
            <p:nvPr/>
          </p:nvSpPr>
          <p:spPr>
            <a:xfrm>
              <a:off x="2645875" y="3765581"/>
              <a:ext cx="138889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2556CF0D-C838-5499-D851-7DDDC29D513D}"/>
              </a:ext>
            </a:extLst>
          </p:cNvPr>
          <p:cNvSpPr/>
          <p:nvPr/>
        </p:nvSpPr>
        <p:spPr>
          <a:xfrm>
            <a:off x="690482" y="2958353"/>
            <a:ext cx="5486199" cy="273668"/>
          </a:xfrm>
          <a:prstGeom prst="rect">
            <a:avLst/>
          </a:prstGeom>
          <a:solidFill>
            <a:srgbClr val="00B050">
              <a:alpha val="30196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B9E3EA-B4F9-EF7E-C362-2392D202DC83}"/>
              </a:ext>
            </a:extLst>
          </p:cNvPr>
          <p:cNvSpPr/>
          <p:nvPr/>
        </p:nvSpPr>
        <p:spPr>
          <a:xfrm>
            <a:off x="6291050" y="3056337"/>
            <a:ext cx="5838196" cy="261799"/>
          </a:xfrm>
          <a:prstGeom prst="rect">
            <a:avLst/>
          </a:prstGeom>
          <a:solidFill>
            <a:srgbClr val="00B050">
              <a:alpha val="30196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F03C88-BF3D-52F9-0A9D-F6DA7ED060D8}"/>
              </a:ext>
            </a:extLst>
          </p:cNvPr>
          <p:cNvSpPr/>
          <p:nvPr/>
        </p:nvSpPr>
        <p:spPr>
          <a:xfrm>
            <a:off x="690481" y="3321204"/>
            <a:ext cx="5486199" cy="638148"/>
          </a:xfrm>
          <a:prstGeom prst="rect">
            <a:avLst/>
          </a:prstGeom>
          <a:solidFill>
            <a:schemeClr val="bg2">
              <a:lumMod val="50000"/>
              <a:alpha val="30196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5F3F319-F745-A001-3B83-8A3DA6E0FEC6}"/>
              </a:ext>
            </a:extLst>
          </p:cNvPr>
          <p:cNvSpPr/>
          <p:nvPr/>
        </p:nvSpPr>
        <p:spPr>
          <a:xfrm>
            <a:off x="6291049" y="3379322"/>
            <a:ext cx="5838196" cy="745258"/>
          </a:xfrm>
          <a:prstGeom prst="rect">
            <a:avLst/>
          </a:prstGeom>
          <a:solidFill>
            <a:schemeClr val="bg2">
              <a:lumMod val="50000"/>
              <a:alpha val="30196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7F3461-160D-1BBD-9D89-A855757DBE71}"/>
              </a:ext>
            </a:extLst>
          </p:cNvPr>
          <p:cNvSpPr/>
          <p:nvPr/>
        </p:nvSpPr>
        <p:spPr>
          <a:xfrm>
            <a:off x="690480" y="4043580"/>
            <a:ext cx="5486199" cy="273668"/>
          </a:xfrm>
          <a:prstGeom prst="rect">
            <a:avLst/>
          </a:prstGeom>
          <a:solidFill>
            <a:schemeClr val="accent1">
              <a:lumMod val="60000"/>
              <a:lumOff val="40000"/>
              <a:alpha val="30196"/>
            </a:schemeClr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630063-DFCA-E2D0-5B33-ADAB32EE06B6}"/>
              </a:ext>
            </a:extLst>
          </p:cNvPr>
          <p:cNvSpPr/>
          <p:nvPr/>
        </p:nvSpPr>
        <p:spPr>
          <a:xfrm>
            <a:off x="6291048" y="4187330"/>
            <a:ext cx="5838196" cy="505942"/>
          </a:xfrm>
          <a:prstGeom prst="rect">
            <a:avLst/>
          </a:prstGeom>
          <a:solidFill>
            <a:schemeClr val="accent1">
              <a:lumMod val="60000"/>
              <a:lumOff val="40000"/>
              <a:alpha val="30196"/>
            </a:schemeClr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0A4428B-1E56-1C9A-AF51-5853C8DEFCC6}"/>
              </a:ext>
            </a:extLst>
          </p:cNvPr>
          <p:cNvSpPr/>
          <p:nvPr/>
        </p:nvSpPr>
        <p:spPr>
          <a:xfrm>
            <a:off x="690480" y="4395796"/>
            <a:ext cx="5486199" cy="273668"/>
          </a:xfrm>
          <a:prstGeom prst="rect">
            <a:avLst/>
          </a:prstGeom>
          <a:solidFill>
            <a:srgbClr val="00FF00">
              <a:alpha val="30196"/>
            </a:srgbClr>
          </a:solidFill>
          <a:ln w="63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57A2275-FD02-D49F-2941-EC5CF1511724}"/>
              </a:ext>
            </a:extLst>
          </p:cNvPr>
          <p:cNvSpPr/>
          <p:nvPr/>
        </p:nvSpPr>
        <p:spPr>
          <a:xfrm>
            <a:off x="6291048" y="4758004"/>
            <a:ext cx="5838196" cy="460782"/>
          </a:xfrm>
          <a:prstGeom prst="rect">
            <a:avLst/>
          </a:prstGeom>
          <a:solidFill>
            <a:srgbClr val="00FF00">
              <a:alpha val="30196"/>
            </a:srgbClr>
          </a:solidFill>
          <a:ln w="63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D185C9-3041-DD80-347B-7E3474F1C594}"/>
              </a:ext>
            </a:extLst>
          </p:cNvPr>
          <p:cNvSpPr/>
          <p:nvPr/>
        </p:nvSpPr>
        <p:spPr>
          <a:xfrm>
            <a:off x="690479" y="4748012"/>
            <a:ext cx="5486199" cy="273668"/>
          </a:xfrm>
          <a:prstGeom prst="rect">
            <a:avLst/>
          </a:prstGeom>
          <a:solidFill>
            <a:schemeClr val="bg1">
              <a:alpha val="30196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294AAD-5BFE-BF71-1087-720F871DDB54}"/>
              </a:ext>
            </a:extLst>
          </p:cNvPr>
          <p:cNvSpPr/>
          <p:nvPr/>
        </p:nvSpPr>
        <p:spPr>
          <a:xfrm>
            <a:off x="6291048" y="2748740"/>
            <a:ext cx="5838196" cy="273668"/>
          </a:xfrm>
          <a:prstGeom prst="rect">
            <a:avLst/>
          </a:prstGeom>
          <a:solidFill>
            <a:schemeClr val="bg1">
              <a:alpha val="30196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5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8DBCB09-7853-1F92-2188-0ECD86BF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DockerCompose</a:t>
            </a:r>
            <a:r>
              <a:rPr lang="zh-CN" altLang="en-US"/>
              <a:t>快速部署</a:t>
            </a:r>
            <a:r>
              <a:rPr lang="en-US" altLang="zh-CN"/>
              <a:t>tlias</a:t>
            </a:r>
            <a:r>
              <a:rPr lang="zh-CN" altLang="en-US"/>
              <a:t>系统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D6869B-E980-0048-E7E4-23E5A67890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8480" y="1024932"/>
            <a:ext cx="10785159" cy="24040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涉及到的服务：</a:t>
            </a:r>
            <a:r>
              <a:rPr lang="en-US" altLang="zh-CN"/>
              <a:t>MySQL</a:t>
            </a:r>
            <a:r>
              <a:rPr lang="zh-CN" altLang="en-US"/>
              <a:t>数据库、服务端、前端</a:t>
            </a:r>
            <a:r>
              <a:rPr lang="en-US" altLang="zh-CN"/>
              <a:t>nginx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61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/>
              <a:t>准备资源（</a:t>
            </a:r>
            <a:r>
              <a:rPr lang="en-US" altLang="zh-CN"/>
              <a:t>tlias.sql</a:t>
            </a:r>
            <a:r>
              <a:rPr lang="zh-CN" altLang="en-US"/>
              <a:t>，服务端的</a:t>
            </a:r>
            <a:r>
              <a:rPr lang="en-US" altLang="zh-CN"/>
              <a:t>jdk17</a:t>
            </a:r>
            <a:r>
              <a:rPr lang="zh-CN" altLang="en-US"/>
              <a:t>、</a:t>
            </a:r>
            <a:r>
              <a:rPr lang="en-US" altLang="zh-CN"/>
              <a:t>jar</a:t>
            </a:r>
            <a:r>
              <a:rPr lang="zh-CN" altLang="en-US"/>
              <a:t>包、</a:t>
            </a:r>
            <a:r>
              <a:rPr lang="en-US" altLang="zh-CN"/>
              <a:t>Dockerfile</a:t>
            </a:r>
            <a:r>
              <a:rPr lang="zh-CN" altLang="en-US"/>
              <a:t>，前端项目打包文件、</a:t>
            </a:r>
            <a:r>
              <a:rPr lang="en-US" altLang="zh-CN"/>
              <a:t>nginx.conf</a:t>
            </a:r>
            <a:r>
              <a:rPr lang="zh-CN" altLang="en-US"/>
              <a:t>）</a:t>
            </a:r>
            <a:endParaRPr lang="en-US" altLang="zh-CN"/>
          </a:p>
          <a:p>
            <a:pPr marL="61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/>
              <a:t>准备</a:t>
            </a:r>
            <a:r>
              <a:rPr lang="en-US" altLang="zh-CN"/>
              <a:t>docker-compose.yml</a:t>
            </a:r>
            <a:r>
              <a:rPr lang="zh-CN" altLang="en-US"/>
              <a:t>配置文件</a:t>
            </a:r>
            <a:endParaRPr lang="en-US" altLang="zh-CN"/>
          </a:p>
          <a:p>
            <a:pPr marL="61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/>
              <a:t>基于</a:t>
            </a:r>
            <a:r>
              <a:rPr lang="en-US" altLang="zh-CN"/>
              <a:t>DockerCompose</a:t>
            </a:r>
            <a:r>
              <a:rPr lang="zh-CN" altLang="en-US"/>
              <a:t>快速构建项目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973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846-E555-751A-9D90-4559472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r>
              <a:rPr lang="zh-CN" altLang="en-US"/>
              <a:t>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AE18D-E2C6-AA9B-97B1-2C6F9CC0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249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Docker Compose</a:t>
            </a:r>
            <a:r>
              <a:rPr lang="zh-CN" altLang="en-US"/>
              <a:t>的命令格式：</a:t>
            </a:r>
            <a:r>
              <a:rPr lang="en-US" altLang="zh-CN">
                <a:solidFill>
                  <a:srgbClr val="C00000"/>
                </a:solidFill>
              </a:rPr>
              <a:t>docker compose </a:t>
            </a:r>
            <a:r>
              <a:rPr lang="en-US" altLang="zh-CN"/>
              <a:t>[</a:t>
            </a:r>
            <a:r>
              <a:rPr lang="en-US" altLang="zh-CN">
                <a:solidFill>
                  <a:srgbClr val="0000FF"/>
                </a:solidFill>
              </a:rPr>
              <a:t>OPTIONS</a:t>
            </a:r>
            <a:r>
              <a:rPr lang="en-US" altLang="zh-CN"/>
              <a:t>] [</a:t>
            </a:r>
            <a:r>
              <a:rPr lang="en-US" altLang="zh-CN">
                <a:solidFill>
                  <a:srgbClr val="0000FF"/>
                </a:solidFill>
              </a:rPr>
              <a:t>COMMAND</a:t>
            </a:r>
            <a:r>
              <a:rPr lang="en-US" altLang="zh-CN"/>
              <a:t>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选项参数说明：</a:t>
            </a:r>
            <a:endParaRPr lang="en-US" altLang="zh-CN"/>
          </a:p>
        </p:txBody>
      </p:sp>
      <p:graphicFrame>
        <p:nvGraphicFramePr>
          <p:cNvPr id="7" name="表格 41">
            <a:extLst>
              <a:ext uri="{FF2B5EF4-FFF2-40B4-BE49-F238E27FC236}">
                <a16:creationId xmlns:a16="http://schemas.microsoft.com/office/drawing/2014/main" id="{A94698B9-5581-326F-73ED-26FCAFE41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854716"/>
              </p:ext>
            </p:extLst>
          </p:nvPr>
        </p:nvGraphicFramePr>
        <p:xfrm>
          <a:off x="967775" y="1981200"/>
          <a:ext cx="10277323" cy="4077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730031">
                  <a:extLst>
                    <a:ext uri="{9D8B030D-6E8A-4147-A177-3AD203B41FA5}">
                      <a16:colId xmlns:a16="http://schemas.microsoft.com/office/drawing/2014/main" val="579797746"/>
                    </a:ext>
                  </a:extLst>
                </a:gridCol>
                <a:gridCol w="1667396">
                  <a:extLst>
                    <a:ext uri="{9D8B030D-6E8A-4147-A177-3AD203B41FA5}">
                      <a16:colId xmlns:a16="http://schemas.microsoft.com/office/drawing/2014/main" val="820085320"/>
                    </a:ext>
                  </a:extLst>
                </a:gridCol>
                <a:gridCol w="6879896">
                  <a:extLst>
                    <a:ext uri="{9D8B030D-6E8A-4147-A177-3AD203B41FA5}">
                      <a16:colId xmlns:a16="http://schemas.microsoft.com/office/drawing/2014/main" val="4188692670"/>
                    </a:ext>
                  </a:extLst>
                </a:gridCol>
              </a:tblGrid>
              <a:tr h="4771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类型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参数或指令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说明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446750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-f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指定</a:t>
                      </a:r>
                      <a:r>
                        <a:rPr lang="en-US" sz="1400">
                          <a:effectLst/>
                          <a:latin typeface="+mn-lt"/>
                        </a:rPr>
                        <a:t>compose</a:t>
                      </a:r>
                      <a:r>
                        <a:rPr lang="zh-CN" altLang="en-US" sz="1400">
                          <a:effectLst/>
                          <a:latin typeface="+mn-lt"/>
                        </a:rPr>
                        <a:t>文件的路径和名称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13002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-p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指定</a:t>
                      </a:r>
                      <a:r>
                        <a:rPr lang="en-US" sz="1400">
                          <a:effectLst/>
                          <a:latin typeface="+mn-lt"/>
                        </a:rPr>
                        <a:t>project</a:t>
                      </a:r>
                      <a:r>
                        <a:rPr lang="zh-CN" altLang="en-US" sz="1400">
                          <a:effectLst/>
                          <a:latin typeface="+mn-lt"/>
                        </a:rPr>
                        <a:t>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988622"/>
                  </a:ext>
                </a:extLst>
              </a:tr>
              <a:tr h="360000">
                <a:tc row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创建并启动所有</a:t>
                      </a:r>
                      <a:r>
                        <a:rPr lang="en-US" altLang="zh-CN" sz="1400">
                          <a:effectLst/>
                          <a:latin typeface="+mn-lt"/>
                        </a:rPr>
                        <a:t>service</a:t>
                      </a:r>
                      <a:r>
                        <a:rPr lang="zh-CN" altLang="en-US" sz="1400">
                          <a:effectLst/>
                          <a:latin typeface="+mn-lt"/>
                        </a:rPr>
                        <a:t>容器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4249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停止并移除所有容器、网络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44614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列出所有启动的容器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54203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查看指定容器的日志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28601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停止容器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64248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启动容器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53228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restart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重启容器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25957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  <a:latin typeface="+mn-lt"/>
                        </a:rPr>
                        <a:t>查看运行的进程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616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2740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29754</TotalTime>
  <Words>4582</Words>
  <Application>Microsoft Office PowerPoint</Application>
  <PresentationFormat>宽屏</PresentationFormat>
  <Paragraphs>669</Paragraphs>
  <Slides>56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56</vt:i4>
      </vt:variant>
    </vt:vector>
  </HeadingPairs>
  <TitlesOfParts>
    <vt:vector size="75" baseType="lpstr">
      <vt:lpstr>Alibaba PuHuiTi B</vt:lpstr>
      <vt:lpstr>-apple-system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Fira Code</vt:lpstr>
      <vt:lpstr>Source Code Pro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什么是Docker</vt:lpstr>
      <vt:lpstr>Linux中安装MySQL回顾</vt:lpstr>
      <vt:lpstr>Linux中安装MySQL回顾</vt:lpstr>
      <vt:lpstr>Linux中安装MySQL回顾</vt:lpstr>
      <vt:lpstr>Linux中安装MySQL回顾</vt:lpstr>
      <vt:lpstr>Linux中安装MySQL回顾</vt:lpstr>
      <vt:lpstr>Linux中安装MySQL回顾</vt:lpstr>
      <vt:lpstr>如何解决？</vt:lpstr>
      <vt:lpstr>如何解决？</vt:lpstr>
      <vt:lpstr>Docker</vt:lpstr>
      <vt:lpstr>PowerPoint 演示文稿</vt:lpstr>
      <vt:lpstr>PowerPoint 演示文稿</vt:lpstr>
      <vt:lpstr>安装MySQL</vt:lpstr>
      <vt:lpstr>镜像和容器</vt:lpstr>
      <vt:lpstr>镜像和容器</vt:lpstr>
      <vt:lpstr>PowerPoint 演示文稿</vt:lpstr>
      <vt:lpstr>命令解读</vt:lpstr>
      <vt:lpstr>镜像命名规范</vt:lpstr>
      <vt:lpstr>PowerPoint 演示文稿</vt:lpstr>
      <vt:lpstr>PowerPoint 演示文稿</vt:lpstr>
      <vt:lpstr>PowerPoint 演示文稿</vt:lpstr>
      <vt:lpstr>常见命令</vt:lpstr>
      <vt:lpstr>查看DockerHub，拉取Nginx镜像，创建并运行Nginx容器</vt:lpstr>
      <vt:lpstr>PowerPoint 演示文稿</vt:lpstr>
      <vt:lpstr>利用Nginx容器部署静态资源</vt:lpstr>
      <vt:lpstr>数据卷-介绍</vt:lpstr>
      <vt:lpstr>数据卷-操作命令</vt:lpstr>
      <vt:lpstr>利用Nginx容器部署静态资源</vt:lpstr>
      <vt:lpstr>PowerPoint 演示文稿</vt:lpstr>
      <vt:lpstr>本地目录挂载</vt:lpstr>
      <vt:lpstr>创建MySQL容器并实现本地目录挂载</vt:lpstr>
      <vt:lpstr>PowerPoint 演示文稿</vt:lpstr>
      <vt:lpstr>PowerPoint 演示文稿</vt:lpstr>
      <vt:lpstr>自定义镜像</vt:lpstr>
      <vt:lpstr>自定义镜像</vt:lpstr>
      <vt:lpstr>镜像结构</vt:lpstr>
      <vt:lpstr>Dockerfile</vt:lpstr>
      <vt:lpstr>Dockerfile</vt:lpstr>
      <vt:lpstr>Dockerfile</vt:lpstr>
      <vt:lpstr>PowerPoint 演示文稿</vt:lpstr>
      <vt:lpstr>PowerPoint 演示文稿</vt:lpstr>
      <vt:lpstr>网络</vt:lpstr>
      <vt:lpstr>网络</vt:lpstr>
      <vt:lpstr>PowerPoint 演示文稿</vt:lpstr>
      <vt:lpstr>PowerPoint 演示文稿</vt:lpstr>
      <vt:lpstr>部署服务端</vt:lpstr>
      <vt:lpstr>PowerPoint 演示文稿</vt:lpstr>
      <vt:lpstr>部署前端</vt:lpstr>
      <vt:lpstr>项目部署</vt:lpstr>
      <vt:lpstr>PowerPoint 演示文稿</vt:lpstr>
      <vt:lpstr>DockerCompose</vt:lpstr>
      <vt:lpstr>DockerCompose</vt:lpstr>
      <vt:lpstr>基于DockerCompose快速部署tlias系统</vt:lpstr>
      <vt:lpstr>DockerCompose命令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2785</cp:revision>
  <cp:lastPrinted>2022-05-29T16:00:00Z</cp:lastPrinted>
  <dcterms:created xsi:type="dcterms:W3CDTF">2022-05-29T16:00:00Z</dcterms:created>
  <dcterms:modified xsi:type="dcterms:W3CDTF">2025-02-14T06:07:04Z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