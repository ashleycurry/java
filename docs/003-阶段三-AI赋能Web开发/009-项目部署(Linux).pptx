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76"/>
  </p:notesMasterIdLst>
  <p:handoutMasterIdLst>
    <p:handoutMasterId r:id="rId77"/>
  </p:handoutMasterIdLst>
  <p:sldIdLst>
    <p:sldId id="280" r:id="rId6"/>
    <p:sldId id="1045" r:id="rId7"/>
    <p:sldId id="981" r:id="rId8"/>
    <p:sldId id="1048" r:id="rId9"/>
    <p:sldId id="915" r:id="rId10"/>
    <p:sldId id="925" r:id="rId11"/>
    <p:sldId id="912" r:id="rId12"/>
    <p:sldId id="911" r:id="rId13"/>
    <p:sldId id="916" r:id="rId14"/>
    <p:sldId id="980" r:id="rId15"/>
    <p:sldId id="917" r:id="rId16"/>
    <p:sldId id="1047" r:id="rId17"/>
    <p:sldId id="1046" r:id="rId18"/>
    <p:sldId id="926" r:id="rId19"/>
    <p:sldId id="919" r:id="rId20"/>
    <p:sldId id="920" r:id="rId21"/>
    <p:sldId id="921" r:id="rId22"/>
    <p:sldId id="927" r:id="rId23"/>
    <p:sldId id="922" r:id="rId24"/>
    <p:sldId id="923" r:id="rId25"/>
    <p:sldId id="1049" r:id="rId26"/>
    <p:sldId id="943" r:id="rId27"/>
    <p:sldId id="924" r:id="rId28"/>
    <p:sldId id="928" r:id="rId29"/>
    <p:sldId id="929" r:id="rId30"/>
    <p:sldId id="930" r:id="rId31"/>
    <p:sldId id="931" r:id="rId32"/>
    <p:sldId id="932" r:id="rId33"/>
    <p:sldId id="933" r:id="rId34"/>
    <p:sldId id="944" r:id="rId35"/>
    <p:sldId id="934" r:id="rId36"/>
    <p:sldId id="935" r:id="rId37"/>
    <p:sldId id="936" r:id="rId38"/>
    <p:sldId id="937" r:id="rId39"/>
    <p:sldId id="938" r:id="rId40"/>
    <p:sldId id="961" r:id="rId41"/>
    <p:sldId id="939" r:id="rId42"/>
    <p:sldId id="940" r:id="rId43"/>
    <p:sldId id="941" r:id="rId44"/>
    <p:sldId id="962" r:id="rId45"/>
    <p:sldId id="942" r:id="rId46"/>
    <p:sldId id="945" r:id="rId47"/>
    <p:sldId id="946" r:id="rId48"/>
    <p:sldId id="963" r:id="rId49"/>
    <p:sldId id="947" r:id="rId50"/>
    <p:sldId id="948" r:id="rId51"/>
    <p:sldId id="949" r:id="rId52"/>
    <p:sldId id="964" r:id="rId53"/>
    <p:sldId id="950" r:id="rId54"/>
    <p:sldId id="951" r:id="rId55"/>
    <p:sldId id="952" r:id="rId56"/>
    <p:sldId id="965" r:id="rId57"/>
    <p:sldId id="953" r:id="rId58"/>
    <p:sldId id="954" r:id="rId59"/>
    <p:sldId id="955" r:id="rId60"/>
    <p:sldId id="956" r:id="rId61"/>
    <p:sldId id="976" r:id="rId62"/>
    <p:sldId id="957" r:id="rId63"/>
    <p:sldId id="958" r:id="rId64"/>
    <p:sldId id="959" r:id="rId65"/>
    <p:sldId id="977" r:id="rId66"/>
    <p:sldId id="960" r:id="rId67"/>
    <p:sldId id="978" r:id="rId68"/>
    <p:sldId id="966" r:id="rId69"/>
    <p:sldId id="967" r:id="rId70"/>
    <p:sldId id="968" r:id="rId71"/>
    <p:sldId id="1050" r:id="rId72"/>
    <p:sldId id="969" r:id="rId73"/>
    <p:sldId id="979" r:id="rId74"/>
    <p:sldId id="288" r:id="rId75"/>
  </p:sldIdLst>
  <p:sldSz cx="12192000" cy="6858000"/>
  <p:notesSz cx="6858000" cy="9144000"/>
  <p:custDataLst>
    <p:tags r:id="rId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E1D"/>
    <a:srgbClr val="C00000"/>
    <a:srgbClr val="0000FF"/>
    <a:srgbClr val="3561FF"/>
    <a:srgbClr val="00FFFF"/>
    <a:srgbClr val="00FFCC"/>
    <a:srgbClr val="001FEE"/>
    <a:srgbClr val="00B050"/>
    <a:srgbClr val="282D2C"/>
    <a:srgbClr val="36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3" autoAdjust="0"/>
    <p:restoredTop sz="94275" autoAdjust="0"/>
  </p:normalViewPr>
  <p:slideViewPr>
    <p:cSldViewPr snapToGrid="0" showGuide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82" Type="http://schemas.openxmlformats.org/officeDocument/2006/relationships/tableStyles" Target="tableStyle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tags" Target="tags/tag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2025/2/7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68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7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标题 2">
            <a:extLst>
              <a:ext uri="{FF2B5EF4-FFF2-40B4-BE49-F238E27FC236}">
                <a16:creationId xmlns:a16="http://schemas.microsoft.com/office/drawing/2014/main" id="{0D7550A7-EB65-1CE1-5A9A-BA9EDFA3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7" y="336399"/>
            <a:ext cx="1351216" cy="474415"/>
          </a:xfrm>
        </p:spPr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</a:p>
        </p:txBody>
      </p: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59F1473A-64A8-E522-0DAE-A5ECD3CD20B7}"/>
              </a:ext>
            </a:extLst>
          </p:cNvPr>
          <p:cNvCxnSpPr>
            <a:cxnSpLocks/>
          </p:cNvCxnSpPr>
          <p:nvPr/>
        </p:nvCxnSpPr>
        <p:spPr>
          <a:xfrm rot="5400000">
            <a:off x="1624293" y="4381355"/>
            <a:ext cx="2538932" cy="18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83">
            <a:extLst>
              <a:ext uri="{FF2B5EF4-FFF2-40B4-BE49-F238E27FC236}">
                <a16:creationId xmlns:a16="http://schemas.microsoft.com/office/drawing/2014/main" id="{D9F887E5-078B-CE24-4C74-0E9998F8266A}"/>
              </a:ext>
            </a:extLst>
          </p:cNvPr>
          <p:cNvSpPr>
            <a:spLocks noEditPoints="1"/>
          </p:cNvSpPr>
          <p:nvPr/>
        </p:nvSpPr>
        <p:spPr bwMode="auto">
          <a:xfrm>
            <a:off x="1481899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5214D90A-89B0-B2FF-C844-3B52A6B891D1}"/>
              </a:ext>
            </a:extLst>
          </p:cNvPr>
          <p:cNvCxnSpPr>
            <a:cxnSpLocks/>
          </p:cNvCxnSpPr>
          <p:nvPr/>
        </p:nvCxnSpPr>
        <p:spPr>
          <a:xfrm rot="5400000">
            <a:off x="3711811" y="4381355"/>
            <a:ext cx="2538932" cy="186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E7936C02-4A5B-2215-2D56-6A840AD4F2CC}"/>
              </a:ext>
            </a:extLst>
          </p:cNvPr>
          <p:cNvCxnSpPr>
            <a:cxnSpLocks/>
          </p:cNvCxnSpPr>
          <p:nvPr/>
        </p:nvCxnSpPr>
        <p:spPr>
          <a:xfrm rot="5400000">
            <a:off x="5799329" y="4381355"/>
            <a:ext cx="2538932" cy="186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2B3053A-4D61-A11A-A5EB-D76E2D123F54}"/>
              </a:ext>
            </a:extLst>
          </p:cNvPr>
          <p:cNvGrpSpPr/>
          <p:nvPr/>
        </p:nvGrpSpPr>
        <p:grpSpPr>
          <a:xfrm>
            <a:off x="809043" y="2089191"/>
            <a:ext cx="2147451" cy="613931"/>
            <a:chOff x="1069135" y="2116795"/>
            <a:chExt cx="2147451" cy="613931"/>
          </a:xfrm>
        </p:grpSpPr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0A4942E2-588F-FB39-B7AC-084F25D4CA7F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2700000" scaled="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1C491C4-559F-D614-09BA-74819AB6F35F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603A6BF-57E2-6316-B10F-36D09DE59BCC}"/>
              </a:ext>
            </a:extLst>
          </p:cNvPr>
          <p:cNvGrpSpPr/>
          <p:nvPr/>
        </p:nvGrpSpPr>
        <p:grpSpPr>
          <a:xfrm>
            <a:off x="2895627" y="2089191"/>
            <a:ext cx="2147451" cy="613931"/>
            <a:chOff x="2895627" y="2089191"/>
            <a:chExt cx="2147451" cy="613931"/>
          </a:xfrm>
        </p:grpSpPr>
        <p:sp>
          <p:nvSpPr>
            <p:cNvPr id="38" name="Chevron 17">
              <a:extLst>
                <a:ext uri="{FF2B5EF4-FFF2-40B4-BE49-F238E27FC236}">
                  <a16:creationId xmlns:a16="http://schemas.microsoft.com/office/drawing/2014/main" id="{F8DF52A8-DEB8-B9ED-B057-A541078EA0B1}"/>
                </a:ext>
              </a:extLst>
            </p:cNvPr>
            <p:cNvSpPr/>
            <p:nvPr/>
          </p:nvSpPr>
          <p:spPr>
            <a:xfrm>
              <a:off x="2895627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E7127ED8-E109-8171-ADC2-F59F413BCE88}"/>
                </a:ext>
              </a:extLst>
            </p:cNvPr>
            <p:cNvSpPr/>
            <p:nvPr/>
          </p:nvSpPr>
          <p:spPr>
            <a:xfrm>
              <a:off x="3164232" y="2185906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后端基础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CC88723-D5A7-3D2E-E63B-4BAE71D822EF}"/>
              </a:ext>
            </a:extLst>
          </p:cNvPr>
          <p:cNvGrpSpPr/>
          <p:nvPr/>
        </p:nvGrpSpPr>
        <p:grpSpPr>
          <a:xfrm>
            <a:off x="4982211" y="2089191"/>
            <a:ext cx="2147451" cy="613931"/>
            <a:chOff x="4982211" y="2089191"/>
            <a:chExt cx="2147451" cy="613931"/>
          </a:xfrm>
        </p:grpSpPr>
        <p:sp>
          <p:nvSpPr>
            <p:cNvPr id="41" name="Chevron 17">
              <a:extLst>
                <a:ext uri="{FF2B5EF4-FFF2-40B4-BE49-F238E27FC236}">
                  <a16:creationId xmlns:a16="http://schemas.microsoft.com/office/drawing/2014/main" id="{121AB0CA-014E-3017-F545-9F968FC88816}"/>
                </a:ext>
              </a:extLst>
            </p:cNvPr>
            <p:cNvSpPr/>
            <p:nvPr/>
          </p:nvSpPr>
          <p:spPr>
            <a:xfrm>
              <a:off x="4982211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061DC84-A4B7-D464-254C-AC0DA646B94C}"/>
                </a:ext>
              </a:extLst>
            </p:cNvPr>
            <p:cNvSpPr/>
            <p:nvPr/>
          </p:nvSpPr>
          <p:spPr>
            <a:xfrm>
              <a:off x="5250816" y="2185906"/>
              <a:ext cx="1593599" cy="40549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后端实战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F258A92-BCD4-C73D-1726-AC39D2AF9E3A}"/>
              </a:ext>
            </a:extLst>
          </p:cNvPr>
          <p:cNvGrpSpPr/>
          <p:nvPr/>
        </p:nvGrpSpPr>
        <p:grpSpPr>
          <a:xfrm>
            <a:off x="7068795" y="2089191"/>
            <a:ext cx="2147451" cy="613931"/>
            <a:chOff x="7068795" y="2089191"/>
            <a:chExt cx="2147451" cy="613931"/>
          </a:xfrm>
        </p:grpSpPr>
        <p:sp>
          <p:nvSpPr>
            <p:cNvPr id="44" name="Chevron 17">
              <a:extLst>
                <a:ext uri="{FF2B5EF4-FFF2-40B4-BE49-F238E27FC236}">
                  <a16:creationId xmlns:a16="http://schemas.microsoft.com/office/drawing/2014/main" id="{362B39C7-E9FA-4E49-D42C-535FA8AE147A}"/>
                </a:ext>
              </a:extLst>
            </p:cNvPr>
            <p:cNvSpPr/>
            <p:nvPr/>
          </p:nvSpPr>
          <p:spPr>
            <a:xfrm>
              <a:off x="7068795" y="2089191"/>
              <a:ext cx="2147451" cy="613931"/>
            </a:xfrm>
            <a:prstGeom prst="chevron">
              <a:avLst/>
            </a:prstGeom>
            <a:solidFill>
              <a:srgbClr val="C0000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0A90EA3-F634-2D51-5F04-36D6DE93B3ED}"/>
                </a:ext>
              </a:extLst>
            </p:cNvPr>
            <p:cNvSpPr/>
            <p:nvPr/>
          </p:nvSpPr>
          <p:spPr>
            <a:xfrm>
              <a:off x="7449590" y="2193408"/>
              <a:ext cx="1593599" cy="405496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前端实战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Chevron 17">
            <a:extLst>
              <a:ext uri="{FF2B5EF4-FFF2-40B4-BE49-F238E27FC236}">
                <a16:creationId xmlns:a16="http://schemas.microsoft.com/office/drawing/2014/main" id="{639BC92B-1F18-17EA-D565-3D2BA2781364}"/>
              </a:ext>
            </a:extLst>
          </p:cNvPr>
          <p:cNvSpPr/>
          <p:nvPr/>
        </p:nvSpPr>
        <p:spPr>
          <a:xfrm>
            <a:off x="9155379" y="2089191"/>
            <a:ext cx="2147451" cy="613931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E8B3751-6069-8238-1182-80CA48C8D024}"/>
              </a:ext>
            </a:extLst>
          </p:cNvPr>
          <p:cNvSpPr/>
          <p:nvPr/>
        </p:nvSpPr>
        <p:spPr>
          <a:xfrm>
            <a:off x="9423984" y="2185906"/>
            <a:ext cx="1593599" cy="4054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项目部署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50" name="Straight Connector 21">
            <a:extLst>
              <a:ext uri="{FF2B5EF4-FFF2-40B4-BE49-F238E27FC236}">
                <a16:creationId xmlns:a16="http://schemas.microsoft.com/office/drawing/2014/main" id="{A98EF234-3FC7-E867-2084-4CED8360ADCE}"/>
              </a:ext>
            </a:extLst>
          </p:cNvPr>
          <p:cNvCxnSpPr>
            <a:cxnSpLocks/>
          </p:cNvCxnSpPr>
          <p:nvPr/>
        </p:nvCxnSpPr>
        <p:spPr>
          <a:xfrm rot="5400000">
            <a:off x="7886846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83">
            <a:extLst>
              <a:ext uri="{FF2B5EF4-FFF2-40B4-BE49-F238E27FC236}">
                <a16:creationId xmlns:a16="http://schemas.microsoft.com/office/drawing/2014/main" id="{F49C1183-41E3-F0CD-8058-128B00D53636}"/>
              </a:ext>
            </a:extLst>
          </p:cNvPr>
          <p:cNvSpPr>
            <a:spLocks noEditPoints="1"/>
          </p:cNvSpPr>
          <p:nvPr/>
        </p:nvSpPr>
        <p:spPr bwMode="auto">
          <a:xfrm>
            <a:off x="3596452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7" name="Freeform 83">
            <a:extLst>
              <a:ext uri="{FF2B5EF4-FFF2-40B4-BE49-F238E27FC236}">
                <a16:creationId xmlns:a16="http://schemas.microsoft.com/office/drawing/2014/main" id="{797717AC-4DDD-E71F-B0BD-50F0D9942AEF}"/>
              </a:ext>
            </a:extLst>
          </p:cNvPr>
          <p:cNvSpPr>
            <a:spLocks noEditPoints="1"/>
          </p:cNvSpPr>
          <p:nvPr/>
        </p:nvSpPr>
        <p:spPr bwMode="auto">
          <a:xfrm>
            <a:off x="5758310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9" name="Freeform 83">
            <a:extLst>
              <a:ext uri="{FF2B5EF4-FFF2-40B4-BE49-F238E27FC236}">
                <a16:creationId xmlns:a16="http://schemas.microsoft.com/office/drawing/2014/main" id="{203401C1-3518-611E-5F02-5F354DD660C1}"/>
              </a:ext>
            </a:extLst>
          </p:cNvPr>
          <p:cNvSpPr>
            <a:spLocks noEditPoints="1"/>
          </p:cNvSpPr>
          <p:nvPr/>
        </p:nvSpPr>
        <p:spPr bwMode="auto">
          <a:xfrm>
            <a:off x="7841091" y="3013249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1" name="Freeform 83">
            <a:extLst>
              <a:ext uri="{FF2B5EF4-FFF2-40B4-BE49-F238E27FC236}">
                <a16:creationId xmlns:a16="http://schemas.microsoft.com/office/drawing/2014/main" id="{1C98404D-0397-3830-914C-B79517CC847F}"/>
              </a:ext>
            </a:extLst>
          </p:cNvPr>
          <p:cNvSpPr>
            <a:spLocks noEditPoints="1"/>
          </p:cNvSpPr>
          <p:nvPr/>
        </p:nvSpPr>
        <p:spPr bwMode="auto">
          <a:xfrm>
            <a:off x="9955644" y="3013248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99C1B04-165E-8748-2FF6-D68B3F1FA828}"/>
              </a:ext>
            </a:extLst>
          </p:cNvPr>
          <p:cNvSpPr/>
          <p:nvPr/>
        </p:nvSpPr>
        <p:spPr>
          <a:xfrm>
            <a:off x="1167466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HTML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CCD0E28-2EA8-FAA7-11EC-6A907C4539EE}"/>
              </a:ext>
            </a:extLst>
          </p:cNvPr>
          <p:cNvSpPr/>
          <p:nvPr/>
        </p:nvSpPr>
        <p:spPr>
          <a:xfrm>
            <a:off x="1167466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CSS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3C6ABCE-43CB-6DEC-772D-71BDCCE2F793}"/>
              </a:ext>
            </a:extLst>
          </p:cNvPr>
          <p:cNvSpPr/>
          <p:nvPr/>
        </p:nvSpPr>
        <p:spPr>
          <a:xfrm>
            <a:off x="1167466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JavaScript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4A9F8193-5B22-191A-4481-01F2750414C4}"/>
              </a:ext>
            </a:extLst>
          </p:cNvPr>
          <p:cNvSpPr/>
          <p:nvPr/>
        </p:nvSpPr>
        <p:spPr>
          <a:xfrm>
            <a:off x="1167466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Vue3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227435B-B3A9-CADB-00D7-944C84FB3A34}"/>
              </a:ext>
            </a:extLst>
          </p:cNvPr>
          <p:cNvSpPr/>
          <p:nvPr/>
        </p:nvSpPr>
        <p:spPr>
          <a:xfrm>
            <a:off x="1167466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Ajax/Axios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E9E1D98-2E8D-835C-E3D6-061E3DCD5DFD}"/>
              </a:ext>
            </a:extLst>
          </p:cNvPr>
          <p:cNvSpPr/>
          <p:nvPr/>
        </p:nvSpPr>
        <p:spPr>
          <a:xfrm>
            <a:off x="3321882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Maven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81F69E0-90CA-3D35-F751-08D2386981E9}"/>
              </a:ext>
            </a:extLst>
          </p:cNvPr>
          <p:cNvSpPr/>
          <p:nvPr/>
        </p:nvSpPr>
        <p:spPr>
          <a:xfrm>
            <a:off x="3321882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Web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基础知识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9716E5D-B193-46D7-5379-0837D4FB51AD}"/>
              </a:ext>
            </a:extLst>
          </p:cNvPr>
          <p:cNvSpPr/>
          <p:nvPr/>
        </p:nvSpPr>
        <p:spPr>
          <a:xfrm>
            <a:off x="3321882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MySQL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1DA700E-363F-09E2-DBB1-35DB2725B04D}"/>
              </a:ext>
            </a:extLst>
          </p:cNvPr>
          <p:cNvSpPr/>
          <p:nvPr/>
        </p:nvSpPr>
        <p:spPr>
          <a:xfrm>
            <a:off x="3321882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JDBC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14E0CDB-753B-18D6-1D5E-0E8B298E8098}"/>
              </a:ext>
            </a:extLst>
          </p:cNvPr>
          <p:cNvSpPr/>
          <p:nvPr/>
        </p:nvSpPr>
        <p:spPr>
          <a:xfrm>
            <a:off x="3321882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Mybatis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!!矩形: 圆角 3">
            <a:extLst>
              <a:ext uri="{FF2B5EF4-FFF2-40B4-BE49-F238E27FC236}">
                <a16:creationId xmlns:a16="http://schemas.microsoft.com/office/drawing/2014/main" id="{4A8E1FEC-BE6E-02B0-FB10-518B14D497D5}"/>
              </a:ext>
            </a:extLst>
          </p:cNvPr>
          <p:cNvSpPr/>
          <p:nvPr/>
        </p:nvSpPr>
        <p:spPr>
          <a:xfrm>
            <a:off x="5431980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案例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33DA097-11C0-77E4-E7D2-6EC87470A7F5}"/>
              </a:ext>
            </a:extLst>
          </p:cNvPr>
          <p:cNvSpPr/>
          <p:nvPr/>
        </p:nvSpPr>
        <p:spPr>
          <a:xfrm>
            <a:off x="7521075" y="4547733"/>
            <a:ext cx="1231270" cy="856540"/>
          </a:xfrm>
          <a:prstGeom prst="roundRect">
            <a:avLst>
              <a:gd name="adj" fmla="val 829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案例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4419490-C1E9-53D1-B232-10AEE4D2F184}"/>
              </a:ext>
            </a:extLst>
          </p:cNvPr>
          <p:cNvSpPr/>
          <p:nvPr/>
        </p:nvSpPr>
        <p:spPr>
          <a:xfrm>
            <a:off x="9604113" y="3653439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Linux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CCD52AB6-2C7B-F4C8-CEB8-86ACAE1F2240}"/>
              </a:ext>
            </a:extLst>
          </p:cNvPr>
          <p:cNvSpPr/>
          <p:nvPr/>
        </p:nvSpPr>
        <p:spPr>
          <a:xfrm>
            <a:off x="9604113" y="4336685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Docker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1BE12F2-D3BF-A8C1-F6A8-33B6447A6C02}"/>
              </a:ext>
            </a:extLst>
          </p:cNvPr>
          <p:cNvSpPr/>
          <p:nvPr/>
        </p:nvSpPr>
        <p:spPr>
          <a:xfrm>
            <a:off x="7510193" y="3691193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Vue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工程化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5EBD38-07BA-91B3-7F7B-C2A5808FD303}"/>
              </a:ext>
            </a:extLst>
          </p:cNvPr>
          <p:cNvSpPr/>
          <p:nvPr/>
        </p:nvSpPr>
        <p:spPr>
          <a:xfrm>
            <a:off x="7510193" y="4119463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ElementPlus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B53798-53E3-532C-10B4-9108BD917A86}"/>
              </a:ext>
            </a:extLst>
          </p:cNvPr>
          <p:cNvSpPr/>
          <p:nvPr/>
        </p:nvSpPr>
        <p:spPr>
          <a:xfrm>
            <a:off x="0" y="-7795"/>
            <a:ext cx="12192000" cy="6858000"/>
          </a:xfrm>
          <a:prstGeom prst="rect">
            <a:avLst/>
          </a:prstGeom>
          <a:solidFill>
            <a:srgbClr val="1B1E1D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形用户界面, 应用程序&#10;&#10;描述已自动生成">
            <a:extLst>
              <a:ext uri="{FF2B5EF4-FFF2-40B4-BE49-F238E27FC236}">
                <a16:creationId xmlns:a16="http://schemas.microsoft.com/office/drawing/2014/main" id="{DA741BAA-15FB-FDEC-3D9F-A5078959F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4"/>
          <a:stretch/>
        </p:blipFill>
        <p:spPr>
          <a:xfrm>
            <a:off x="595604" y="869368"/>
            <a:ext cx="11000792" cy="5103674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428008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9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6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1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1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63C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1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63C3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C10F-1974-1A2D-208F-5533B4D9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6B1021-F385-3580-EB85-E3555D48E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584" y="2202026"/>
            <a:ext cx="3538374" cy="869023"/>
          </a:xfrm>
        </p:spPr>
        <p:txBody>
          <a:bodyPr/>
          <a:lstStyle/>
          <a:p>
            <a:r>
              <a:rPr lang="en-US" altLang="zh-CN"/>
              <a:t>     (AI)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4C2A68-9507-DA6F-87A7-73489CE3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  <a:r>
              <a:rPr lang="en-US" altLang="zh-CN"/>
              <a:t>(     )</a:t>
            </a:r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21CB4B8-9924-C67E-71DD-245EBC879BCC}"/>
              </a:ext>
            </a:extLst>
          </p:cNvPr>
          <p:cNvSpPr/>
          <p:nvPr/>
        </p:nvSpPr>
        <p:spPr>
          <a:xfrm>
            <a:off x="1990332" y="3605556"/>
            <a:ext cx="1210067" cy="35038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400">
                <a:solidFill>
                  <a:schemeClr val="tx1"/>
                </a:solidFill>
              </a:rPr>
              <a:t>Linux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!!标题 2">
            <a:extLst>
              <a:ext uri="{FF2B5EF4-FFF2-40B4-BE49-F238E27FC236}">
                <a16:creationId xmlns:a16="http://schemas.microsoft.com/office/drawing/2014/main" id="{E2CE2BC3-D321-415D-3177-7F78124D9474}"/>
              </a:ext>
            </a:extLst>
          </p:cNvPr>
          <p:cNvSpPr txBox="1">
            <a:spLocks/>
          </p:cNvSpPr>
          <p:nvPr/>
        </p:nvSpPr>
        <p:spPr>
          <a:xfrm>
            <a:off x="677308" y="2334880"/>
            <a:ext cx="2681709" cy="77349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8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9200"/>
              <a:t>Web</a:t>
            </a:r>
            <a:r>
              <a:rPr lang="zh-CN" altLang="en-US" sz="19200"/>
              <a:t>开发</a:t>
            </a:r>
            <a:endParaRPr lang="zh-CN" altLang="en-US" sz="19200" dirty="0"/>
          </a:p>
        </p:txBody>
      </p:sp>
    </p:spTree>
    <p:extLst>
      <p:ext uri="{BB962C8B-B14F-4D97-AF65-F5344CB8AC3E}">
        <p14:creationId xmlns:p14="http://schemas.microsoft.com/office/powerpoint/2010/main" val="2349542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9650A-263D-00B8-9965-79BF68AAD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78003-1745-F07D-DC7F-6DC15435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671F5-1247-5636-D6BD-ADD9CD45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/>
              <a:t>Linux</a:t>
            </a:r>
            <a:r>
              <a:rPr lang="zh-CN" altLang="en-US" sz="1600"/>
              <a:t>是一套免费使用和自由传播的</a:t>
            </a:r>
            <a:r>
              <a:rPr lang="zh-CN" altLang="en-US" sz="1600">
                <a:solidFill>
                  <a:srgbClr val="C00000"/>
                </a:solidFill>
              </a:rPr>
              <a:t>操作系统</a:t>
            </a:r>
            <a:endParaRPr lang="en-US" altLang="zh-CN" sz="1600">
              <a:solidFill>
                <a:srgbClr val="C00000"/>
              </a:solidFill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39E0AED-896F-F184-FDD1-42100131A3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22" t="18927" r="11928" b="19534"/>
          <a:stretch>
            <a:fillRect/>
          </a:stretch>
        </p:blipFill>
        <p:spPr bwMode="auto">
          <a:xfrm>
            <a:off x="6518813" y="573606"/>
            <a:ext cx="1960077" cy="82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1EEB2A6-FE34-1AB1-63F4-64318BBE0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840840"/>
              </p:ext>
            </p:extLst>
          </p:nvPr>
        </p:nvGraphicFramePr>
        <p:xfrm>
          <a:off x="651803" y="1520162"/>
          <a:ext cx="10596282" cy="47712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16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2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7458">
                  <a:extLst>
                    <a:ext uri="{9D8B030D-6E8A-4147-A177-3AD203B41FA5}">
                      <a16:colId xmlns:a16="http://schemas.microsoft.com/office/drawing/2014/main" val="1879712481"/>
                    </a:ext>
                  </a:extLst>
                </a:gridCol>
              </a:tblGrid>
              <a:tr h="5592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分类</a:t>
                      </a:r>
                      <a:endParaRPr lang="zh-CN" altLang="en-US" sz="1600" dirty="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系统</a:t>
                      </a:r>
                      <a:endParaRPr lang="zh-CN" altLang="en-US" sz="1600" dirty="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特点</a:t>
                      </a:r>
                      <a:endParaRPr lang="zh-CN" altLang="en-US" sz="1600" dirty="0"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8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桌面操作系统</a:t>
                      </a: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Windows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用户数量最多</a:t>
                      </a:r>
                      <a:endParaRPr lang="en-US" altLang="zh-CN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42B883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Mac OS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操作体验好，办公人士首选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47632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42B883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Linux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用户数量少</a:t>
                      </a: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5771539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移动设备操作系统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Android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基于</a:t>
                      </a: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Linux</a:t>
                      </a: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、开源，主要用智能手机、平板、智能电视</a:t>
                      </a: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IOS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苹果公司开发、不开源，用于苹果公司的产品</a:t>
                      </a: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/>
                      <a:endParaRPr lang="zh-CN" altLang="en-US" sz="16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HarmonyOS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华为公司开发、开源，目前用于华为公司的产品</a:t>
                      </a: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8000">
                <a:tc rowSpan="3">
                  <a:txBody>
                    <a:bodyPr/>
                    <a:lstStyle/>
                    <a:p>
                      <a:pPr algn="ctr"/>
                      <a:r>
                        <a:rPr lang="zh-CN" altLang="en-US" sz="16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服务器操作系统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Unix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安全、稳定、付费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746186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solidFill>
                          <a:srgbClr val="42B883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Linux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安全、稳定、免费、占有率高</a:t>
                      </a:r>
                      <a:endParaRPr lang="zh-CN" altLang="en-US" sz="1200" dirty="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8128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>
                        <a:solidFill>
                          <a:srgbClr val="42B883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Windows Server</a:t>
                      </a:r>
                      <a:endParaRPr lang="zh-CN" altLang="en-US" sz="1200">
                        <a:solidFill>
                          <a:schemeClr val="tx1"/>
                        </a:solidFill>
                        <a:latin typeface="Fira Code" panose="020B0809050000020004" pitchFamily="49" charset="0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latin typeface="Fira Code" panose="020B0809050000020004" pitchFamily="49" charset="0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付费、占有率低</a:t>
                      </a:r>
                    </a:p>
                  </a:txBody>
                  <a:tcPr marT="45721" marB="45721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7E2B8">
                        <a:alpha val="2117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929685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BB4445A-61AF-38B5-9CD7-6B480AAF4A9D}"/>
              </a:ext>
            </a:extLst>
          </p:cNvPr>
          <p:cNvSpPr/>
          <p:nvPr/>
        </p:nvSpPr>
        <p:spPr>
          <a:xfrm>
            <a:off x="3361765" y="5369856"/>
            <a:ext cx="7886320" cy="448237"/>
          </a:xfrm>
          <a:prstGeom prst="rect">
            <a:avLst/>
          </a:prstGeom>
          <a:solidFill>
            <a:srgbClr val="FF00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6C17A5-7482-78CD-D4C0-10FE189E098C}"/>
              </a:ext>
            </a:extLst>
          </p:cNvPr>
          <p:cNvSpPr txBox="1"/>
          <p:nvPr/>
        </p:nvSpPr>
        <p:spPr>
          <a:xfrm>
            <a:off x="8693244" y="5110528"/>
            <a:ext cx="2943434" cy="888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软件环境</a:t>
            </a:r>
            <a:r>
              <a:rPr lang="en-US" altLang="zh-CN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(mysql</a:t>
            </a: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、</a:t>
            </a:r>
            <a:r>
              <a:rPr lang="en-US" altLang="zh-CN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redis</a:t>
            </a: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、</a:t>
            </a:r>
            <a:r>
              <a:rPr lang="en-US" altLang="zh-CN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MQ)</a:t>
            </a:r>
          </a:p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16974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099FF4-3388-ED6E-8E5E-73902493F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概述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常用命令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软件安装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1878104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68E07C-6256-8AEE-9756-6B99C67FB6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概述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F9200C-F0EC-0179-92EE-57CE0D297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系统安装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远程连接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目录介绍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6A1BB2-8DED-FAB6-1B86-9805D2660D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78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系统版本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71CD66E0-B329-0DE3-F13D-FEBD2D530951}"/>
              </a:ext>
            </a:extLst>
          </p:cNvPr>
          <p:cNvSpPr>
            <a:spLocks noGrp="1"/>
          </p:cNvSpPr>
          <p:nvPr/>
        </p:nvSpPr>
        <p:spPr>
          <a:xfrm>
            <a:off x="674708" y="1017793"/>
            <a:ext cx="4614544" cy="3607995"/>
          </a:xfrm>
          <a:prstGeom prst="rect">
            <a:avLst/>
          </a:prstGeom>
        </p:spPr>
        <p:txBody>
          <a:bodyPr anchor="t" anchorCtr="0"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系统分为</a:t>
            </a:r>
            <a:r>
              <a:rPr kumimoji="1" lang="zh-CN" altLang="en-US" b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内核版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kumimoji="1" lang="zh-CN" altLang="en-US" b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发行版</a:t>
            </a:r>
            <a:endParaRPr kumimoji="1" lang="zh-CN" altLang="en-US">
              <a:solidFill>
                <a:schemeClr val="tx1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内核版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 sz="1400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</a:t>
            </a:r>
            <a:r>
              <a:rPr kumimoji="1" lang="en-US" altLang="zh-CN" sz="1400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 sz="1400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</a:t>
            </a: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团队开发、维护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免费、开源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负责控制硬件</a:t>
            </a:r>
          </a:p>
          <a:p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发行版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基于</a:t>
            </a:r>
            <a:r>
              <a:rPr kumimoji="1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Linux</a:t>
            </a: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内核版进行扩展</a:t>
            </a:r>
            <a:endParaRPr kumimoji="1" lang="zh-CN" altLang="en-US"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由各个</a:t>
            </a:r>
            <a:r>
              <a:rPr kumimoji="1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厂商开发、维护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有收费版本和免费版本</a:t>
            </a:r>
          </a:p>
          <a:p>
            <a:pPr lvl="1"/>
            <a:endParaRPr kumimoji="1" lang="zh-CN" altLang="en-US"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769DAABE-E0E5-10FD-99D1-3312C09F650E}"/>
              </a:ext>
            </a:extLst>
          </p:cNvPr>
          <p:cNvSpPr>
            <a:spLocks noGrp="1"/>
          </p:cNvSpPr>
          <p:nvPr/>
        </p:nvSpPr>
        <p:spPr>
          <a:xfrm>
            <a:off x="5602308" y="1017793"/>
            <a:ext cx="5253952" cy="2720489"/>
          </a:xfrm>
          <a:prstGeom prst="rect">
            <a:avLst/>
          </a:prstGeom>
        </p:spPr>
        <p:txBody>
          <a:bodyPr anchor="t" anchorCtr="0"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系统发行版：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Ubuntu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：以桌面应用为主</a:t>
            </a: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，免费</a:t>
            </a:r>
            <a:endParaRPr kumimoji="1">
              <a:solidFill>
                <a:schemeClr val="tx1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RedHat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kumimoji="1" lang="zh-CN" altLang="en-US"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面向企业用户，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收费</a:t>
            </a:r>
            <a:endParaRPr kumimoji="1">
              <a:solidFill>
                <a:schemeClr val="tx1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CentOS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kumimoji="1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RedHat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的社区版，免费</a:t>
            </a:r>
            <a:endParaRPr kumimoji="1">
              <a:solidFill>
                <a:schemeClr val="tx1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Fedora</a:t>
            </a:r>
            <a:r>
              <a:rPr kumimoji="1" lang="zh-CN" altLang="en-US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：功能完备、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快速</a:t>
            </a:r>
            <a:r>
              <a:rPr kumimoji="1" lang="zh-CN" altLang="en-US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更新，免费</a:t>
            </a:r>
            <a:endParaRPr kumimoji="1" lang="zh-CN" altLang="en-US" dirty="0">
              <a:solidFill>
                <a:schemeClr val="tx1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openSUSE</a:t>
            </a:r>
            <a:r>
              <a:rPr kumimoji="1" lang="zh-CN" altLang="en-US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：对个人完全免费、图形界面华丽</a:t>
            </a:r>
            <a:endParaRPr kumimoji="1" dirty="0">
              <a:solidFill>
                <a:schemeClr val="tx1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红旗</a:t>
            </a:r>
            <a:r>
              <a:rPr kumimoji="1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 dirty="0">
                <a:solidFill>
                  <a:schemeClr val="tx1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：北京中科红旗软件技术有限公司开发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0A24F3-91BC-272B-935A-0B25C7F838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32718" y="5131702"/>
            <a:ext cx="753745" cy="6584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2465385-FB6E-C100-9DBC-A76C19FD952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875059" y="5168637"/>
            <a:ext cx="826770" cy="654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FB4C84F-A51E-0CC9-0FF4-C293062DD1A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602307" y="5110592"/>
            <a:ext cx="753110" cy="7296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E971C88-F1B3-C90A-3B3D-5EB78C637A6F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98375" y="5131702"/>
            <a:ext cx="645795" cy="67945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03E1932-3E21-082D-1153-57B6366486B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861314" y="5070018"/>
            <a:ext cx="769620" cy="743585"/>
          </a:xfrm>
          <a:prstGeom prst="rect">
            <a:avLst/>
          </a:prstGeom>
        </p:spPr>
      </p:pic>
      <p:pic>
        <p:nvPicPr>
          <p:cNvPr id="11" name="Picture 7" descr="https://gimg2.baidu.com/image_search/src=http%3A%2F%2Fs2.51cto.com%2Fwyfs02%2FM00%2F7A%2F02%2FwKioL1agmn6RUTfpAADialEOKfk586.jpg-s_3229302021.jpg&amp;refer=http%3A%2F%2Fs2.51cto.com&amp;app=2002&amp;size=f9999,10000&amp;q=a80&amp;n=0&amp;g=0n&amp;fmt=jpeg?sec=1616043370&amp;t=cdbe0211c26dcae5a364823ca93659f4">
            <a:extLst>
              <a:ext uri="{FF2B5EF4-FFF2-40B4-BE49-F238E27FC236}">
                <a16:creationId xmlns:a16="http://schemas.microsoft.com/office/drawing/2014/main" id="{50F22DA2-BEBD-D83C-DC86-7A8553862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998" y="5064497"/>
            <a:ext cx="777875" cy="758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83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安装方式</a:t>
            </a:r>
          </a:p>
        </p:txBody>
      </p:sp>
      <p:sp>
        <p:nvSpPr>
          <p:cNvPr id="4" name="文本占位符 1">
            <a:extLst>
              <a:ext uri="{FF2B5EF4-FFF2-40B4-BE49-F238E27FC236}">
                <a16:creationId xmlns:a16="http://schemas.microsoft.com/office/drawing/2014/main" id="{9F934AF6-B27A-C9D6-C8F8-544F23EFE28A}"/>
              </a:ext>
            </a:extLst>
          </p:cNvPr>
          <p:cNvSpPr>
            <a:spLocks noGrp="1"/>
          </p:cNvSpPr>
          <p:nvPr/>
        </p:nvSpPr>
        <p:spPr>
          <a:xfrm>
            <a:off x="647812" y="980440"/>
            <a:ext cx="5801995" cy="4183231"/>
          </a:xfrm>
          <a:prstGeom prst="rect">
            <a:avLst/>
          </a:prstGeom>
        </p:spPr>
        <p:txBody>
          <a:bodyPr anchor="t" anchorCtr="0"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系统的安装方式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物理机安装：直接将操作系统安装到服务器硬件上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虚拟机安装：通过虚拟机软件安装</a:t>
            </a:r>
          </a:p>
          <a:p>
            <a:endParaRPr kumimoji="1" lang="en-US" altLang="zh-CN">
              <a:solidFill>
                <a:schemeClr val="tx1">
                  <a:lumMod val="50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kumimoji="1" lang="zh-CN" altLang="en-US">
              <a:solidFill>
                <a:schemeClr val="tx1">
                  <a:lumMod val="50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kumimoji="1" lang="zh-CN" altLang="en-US" b="1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虚拟机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（</a:t>
            </a:r>
            <a:r>
              <a:rPr kumimoji="1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Virtual Machine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）指通过</a:t>
            </a:r>
            <a:r>
              <a:rPr kumimoji="1" lang="zh-CN" altLang="en-US" b="1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软件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模拟的具有完整硬件系统功能、运行在完全隔离环境中的完整计算机系统。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1">
                <a:solidFill>
                  <a:srgbClr val="C0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VMWare </a:t>
            </a:r>
            <a:r>
              <a:rPr kumimoji="1" lang="en-US" altLang="zh-CN" dirty="0">
                <a:solidFill>
                  <a:srgbClr val="C0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WorkStation</a:t>
            </a:r>
            <a:endParaRPr kumimoji="1" lang="en-US" altLang="zh-CN" dirty="0">
              <a:solidFill>
                <a:srgbClr val="C00000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dirty="0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VirtualBox</a:t>
            </a:r>
            <a:endParaRPr kumimoji="1" lang="en-US" altLang="zh-CN" dirty="0">
              <a:solidFill>
                <a:schemeClr val="tx1">
                  <a:lumMod val="50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kumimoji="1" err="1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VMLite</a:t>
            </a:r>
            <a:r>
              <a:rPr kumimoji="1">
                <a:solidFill>
                  <a:schemeClr val="tx1">
                    <a:lumMod val="50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WorkStation</a:t>
            </a:r>
            <a:endParaRPr kumimoji="1" dirty="0">
              <a:solidFill>
                <a:srgbClr val="595959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kumimoji="1" lang="zh-CN" altLang="en-US" dirty="0">
              <a:solidFill>
                <a:srgbClr val="595959"/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Picture 6" descr="https://gimg2.baidu.com/image_search/src=http%3A%2F%2Fec4.images-amazon.com%2Fimages%2FI%2F41y4f-S4vpL.jpg&amp;refer=http%3A%2F%2Fec4.images-amazon.com&amp;app=2002&amp;size=f9999,10000&amp;q=a80&amp;n=0&amp;g=0n&amp;fmt=jpeg?sec=1616044945&amp;t=c6162f198bb2d4e92a3c9566e5cb2512">
            <a:extLst>
              <a:ext uri="{FF2B5EF4-FFF2-40B4-BE49-F238E27FC236}">
                <a16:creationId xmlns:a16="http://schemas.microsoft.com/office/drawing/2014/main" id="{DFA85564-9F0B-4051-C336-3370F2A0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7385" y="2283459"/>
            <a:ext cx="1967230" cy="1424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ss0.bdstatic.com/70cFvHSh_Q1YnxGkpoWK1HF6hhy/it/u=1096181863,402817655&amp;fm=26&amp;gp=0.jpg">
            <a:extLst>
              <a:ext uri="{FF2B5EF4-FFF2-40B4-BE49-F238E27FC236}">
                <a16:creationId xmlns:a16="http://schemas.microsoft.com/office/drawing/2014/main" id="{51AC9877-9F31-6205-BB5E-74C98596E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" t="7968" r="7197" b="2661"/>
          <a:stretch>
            <a:fillRect/>
          </a:stretch>
        </p:blipFill>
        <p:spPr bwMode="auto">
          <a:xfrm flipH="1">
            <a:off x="6695328" y="2469514"/>
            <a:ext cx="1470025" cy="98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BA9712C-5C0E-4A36-911D-8319AE29410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672718" y="1141729"/>
            <a:ext cx="857250" cy="828040"/>
          </a:xfrm>
          <a:prstGeom prst="rect">
            <a:avLst/>
          </a:prstGeom>
        </p:spPr>
      </p:pic>
      <p:sp>
        <p:nvSpPr>
          <p:cNvPr id="8" name="任意多边形 40">
            <a:extLst>
              <a:ext uri="{FF2B5EF4-FFF2-40B4-BE49-F238E27FC236}">
                <a16:creationId xmlns:a16="http://schemas.microsoft.com/office/drawing/2014/main" id="{F84F0E03-344D-42A2-F78A-F487E85AE046}"/>
              </a:ext>
            </a:extLst>
          </p:cNvPr>
          <p:cNvSpPr/>
          <p:nvPr/>
        </p:nvSpPr>
        <p:spPr>
          <a:xfrm rot="10800000">
            <a:off x="7172213" y="1497964"/>
            <a:ext cx="1157605" cy="777875"/>
          </a:xfrm>
          <a:custGeom>
            <a:avLst/>
            <a:gdLst>
              <a:gd name="connsiteX0" fmla="*/ 83208 w 1007388"/>
              <a:gd name="connsiteY0" fmla="*/ 645504 h 645504"/>
              <a:gd name="connsiteX1" fmla="*/ 83207 w 1007388"/>
              <a:gd name="connsiteY1" fmla="*/ 645504 h 645504"/>
              <a:gd name="connsiteX2" fmla="*/ 0 w 1007388"/>
              <a:gd name="connsiteY2" fmla="*/ 645504 h 645504"/>
              <a:gd name="connsiteX3" fmla="*/ 0 w 1007388"/>
              <a:gd name="connsiteY3" fmla="*/ 639289 h 645504"/>
              <a:gd name="connsiteX4" fmla="*/ 18591 w 1007388"/>
              <a:gd name="connsiteY4" fmla="*/ 640677 h 645504"/>
              <a:gd name="connsiteX5" fmla="*/ 136557 w 1007388"/>
              <a:gd name="connsiteY5" fmla="*/ 625618 h 645504"/>
              <a:gd name="connsiteX6" fmla="*/ 136587 w 1007388"/>
              <a:gd name="connsiteY6" fmla="*/ 625611 h 645504"/>
              <a:gd name="connsiteX7" fmla="*/ 255882 w 1007388"/>
              <a:gd name="connsiteY7" fmla="*/ 595758 h 645504"/>
              <a:gd name="connsiteX8" fmla="*/ 292673 w 1007388"/>
              <a:gd name="connsiteY8" fmla="*/ 582584 h 645504"/>
              <a:gd name="connsiteX9" fmla="*/ 367139 w 1007388"/>
              <a:gd name="connsiteY9" fmla="*/ 553951 h 645504"/>
              <a:gd name="connsiteX10" fmla="*/ 407082 w 1007388"/>
              <a:gd name="connsiteY10" fmla="*/ 534438 h 645504"/>
              <a:gd name="connsiteX11" fmla="*/ 468941 w 1007388"/>
              <a:gd name="connsiteY11" fmla="*/ 501015 h 645504"/>
              <a:gd name="connsiteX12" fmla="*/ 506675 w 1007388"/>
              <a:gd name="connsiteY12" fmla="*/ 476745 h 645504"/>
              <a:gd name="connsiteX13" fmla="*/ 559951 w 1007388"/>
              <a:gd name="connsiteY13" fmla="*/ 437629 h 645504"/>
              <a:gd name="connsiteX14" fmla="*/ 593134 w 1007388"/>
              <a:gd name="connsiteY14" fmla="*/ 409815 h 645504"/>
              <a:gd name="connsiteX15" fmla="*/ 638972 w 1007388"/>
              <a:gd name="connsiteY15" fmla="*/ 364063 h 645504"/>
              <a:gd name="connsiteX16" fmla="*/ 665855 w 1007388"/>
              <a:gd name="connsiteY16" fmla="*/ 334380 h 645504"/>
              <a:gd name="connsiteX17" fmla="*/ 683508 w 1007388"/>
              <a:gd name="connsiteY17" fmla="*/ 309596 h 645504"/>
              <a:gd name="connsiteX18" fmla="*/ 765324 w 1007388"/>
              <a:gd name="connsiteY18" fmla="*/ 161376 h 645504"/>
              <a:gd name="connsiteX19" fmla="*/ 684636 w 1007388"/>
              <a:gd name="connsiteY19" fmla="*/ 161376 h 645504"/>
              <a:gd name="connsiteX20" fmla="*/ 873675 w 1007388"/>
              <a:gd name="connsiteY20" fmla="*/ 0 h 645504"/>
              <a:gd name="connsiteX21" fmla="*/ 1007388 w 1007388"/>
              <a:gd name="connsiteY21" fmla="*/ 161376 h 645504"/>
              <a:gd name="connsiteX22" fmla="*/ 926700 w 1007388"/>
              <a:gd name="connsiteY22" fmla="*/ 161376 h 645504"/>
              <a:gd name="connsiteX23" fmla="*/ 881737 w 1007388"/>
              <a:gd name="connsiteY23" fmla="*/ 258172 h 645504"/>
              <a:gd name="connsiteX24" fmla="*/ 879555 w 1007388"/>
              <a:gd name="connsiteY24" fmla="*/ 261213 h 645504"/>
              <a:gd name="connsiteX25" fmla="*/ 878236 w 1007388"/>
              <a:gd name="connsiteY25" fmla="*/ 264005 h 645504"/>
              <a:gd name="connsiteX26" fmla="*/ 858840 w 1007388"/>
              <a:gd name="connsiteY26" fmla="*/ 290080 h 645504"/>
              <a:gd name="connsiteX27" fmla="*/ 818309 w 1007388"/>
              <a:gd name="connsiteY27" fmla="*/ 346562 h 645504"/>
              <a:gd name="connsiteX28" fmla="*/ 812711 w 1007388"/>
              <a:gd name="connsiteY28" fmla="*/ 352093 h 645504"/>
              <a:gd name="connsiteX29" fmla="*/ 808870 w 1007388"/>
              <a:gd name="connsiteY29" fmla="*/ 357256 h 645504"/>
              <a:gd name="connsiteX30" fmla="*/ 781178 w 1007388"/>
              <a:gd name="connsiteY30" fmla="*/ 383245 h 645504"/>
              <a:gd name="connsiteX31" fmla="*/ 738382 w 1007388"/>
              <a:gd name="connsiteY31" fmla="*/ 425524 h 645504"/>
              <a:gd name="connsiteX32" fmla="*/ 728460 w 1007388"/>
              <a:gd name="connsiteY32" fmla="*/ 432720 h 645504"/>
              <a:gd name="connsiteX33" fmla="*/ 720914 w 1007388"/>
              <a:gd name="connsiteY33" fmla="*/ 439802 h 645504"/>
              <a:gd name="connsiteX34" fmla="*/ 687925 w 1007388"/>
              <a:gd name="connsiteY34" fmla="*/ 462119 h 645504"/>
              <a:gd name="connsiteX35" fmla="*/ 643922 w 1007388"/>
              <a:gd name="connsiteY35" fmla="*/ 494033 h 645504"/>
              <a:gd name="connsiteX36" fmla="*/ 628978 w 1007388"/>
              <a:gd name="connsiteY36" fmla="*/ 501996 h 645504"/>
              <a:gd name="connsiteX37" fmla="*/ 616679 w 1007388"/>
              <a:gd name="connsiteY37" fmla="*/ 510316 h 645504"/>
              <a:gd name="connsiteX38" fmla="*/ 580876 w 1007388"/>
              <a:gd name="connsiteY38" fmla="*/ 527628 h 645504"/>
              <a:gd name="connsiteX39" fmla="*/ 536895 w 1007388"/>
              <a:gd name="connsiteY39" fmla="*/ 551064 h 645504"/>
              <a:gd name="connsiteX40" fmla="*/ 516224 w 1007388"/>
              <a:gd name="connsiteY40" fmla="*/ 558889 h 645504"/>
              <a:gd name="connsiteX41" fmla="*/ 498479 w 1007388"/>
              <a:gd name="connsiteY41" fmla="*/ 567470 h 645504"/>
              <a:gd name="connsiteX42" fmla="*/ 462330 w 1007388"/>
              <a:gd name="connsiteY42" fmla="*/ 579292 h 645504"/>
              <a:gd name="connsiteX43" fmla="*/ 419268 w 1007388"/>
              <a:gd name="connsiteY43" fmla="*/ 595594 h 645504"/>
              <a:gd name="connsiteX44" fmla="*/ 392037 w 1007388"/>
              <a:gd name="connsiteY44" fmla="*/ 602281 h 645504"/>
              <a:gd name="connsiteX45" fmla="*/ 368625 w 1007388"/>
              <a:gd name="connsiteY45" fmla="*/ 609938 h 645504"/>
              <a:gd name="connsiteX46" fmla="*/ 334260 w 1007388"/>
              <a:gd name="connsiteY46" fmla="*/ 616469 h 645504"/>
              <a:gd name="connsiteX47" fmla="*/ 293007 w 1007388"/>
              <a:gd name="connsiteY47" fmla="*/ 626599 h 645504"/>
              <a:gd name="connsiteX48" fmla="*/ 258448 w 1007388"/>
              <a:gd name="connsiteY48" fmla="*/ 630876 h 645504"/>
              <a:gd name="connsiteX49" fmla="*/ 229430 w 1007388"/>
              <a:gd name="connsiteY49" fmla="*/ 636391 h 645504"/>
              <a:gd name="connsiteX50" fmla="*/ 198148 w 1007388"/>
              <a:gd name="connsiteY50" fmla="*/ 638341 h 645504"/>
              <a:gd name="connsiteX51" fmla="*/ 160079 w 1007388"/>
              <a:gd name="connsiteY51" fmla="*/ 643053 h 645504"/>
              <a:gd name="connsiteX52" fmla="*/ 123732 w 1007388"/>
              <a:gd name="connsiteY52" fmla="*/ 642979 h 64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07388" h="645504">
                <a:moveTo>
                  <a:pt x="83208" y="645504"/>
                </a:moveTo>
                <a:lnTo>
                  <a:pt x="83207" y="645504"/>
                </a:lnTo>
                <a:lnTo>
                  <a:pt x="0" y="645504"/>
                </a:lnTo>
                <a:lnTo>
                  <a:pt x="0" y="639289"/>
                </a:lnTo>
                <a:lnTo>
                  <a:pt x="18591" y="640677"/>
                </a:lnTo>
                <a:lnTo>
                  <a:pt x="136557" y="625618"/>
                </a:lnTo>
                <a:lnTo>
                  <a:pt x="136587" y="625611"/>
                </a:lnTo>
                <a:lnTo>
                  <a:pt x="255882" y="595758"/>
                </a:lnTo>
                <a:lnTo>
                  <a:pt x="292673" y="582584"/>
                </a:lnTo>
                <a:lnTo>
                  <a:pt x="367139" y="553951"/>
                </a:lnTo>
                <a:lnTo>
                  <a:pt x="407082" y="534438"/>
                </a:lnTo>
                <a:lnTo>
                  <a:pt x="468941" y="501015"/>
                </a:lnTo>
                <a:lnTo>
                  <a:pt x="506675" y="476745"/>
                </a:lnTo>
                <a:lnTo>
                  <a:pt x="559951" y="437629"/>
                </a:lnTo>
                <a:lnTo>
                  <a:pt x="593134" y="409815"/>
                </a:lnTo>
                <a:lnTo>
                  <a:pt x="638972" y="364063"/>
                </a:lnTo>
                <a:lnTo>
                  <a:pt x="665855" y="334380"/>
                </a:lnTo>
                <a:lnTo>
                  <a:pt x="683508" y="309596"/>
                </a:lnTo>
                <a:lnTo>
                  <a:pt x="765324" y="161376"/>
                </a:lnTo>
                <a:lnTo>
                  <a:pt x="684636" y="161376"/>
                </a:lnTo>
                <a:lnTo>
                  <a:pt x="873675" y="0"/>
                </a:lnTo>
                <a:lnTo>
                  <a:pt x="1007388" y="161376"/>
                </a:lnTo>
                <a:lnTo>
                  <a:pt x="926700" y="161376"/>
                </a:lnTo>
                <a:cubicBezTo>
                  <a:pt x="915009" y="194928"/>
                  <a:pt x="899912" y="227250"/>
                  <a:pt x="881737" y="258172"/>
                </a:cubicBezTo>
                <a:lnTo>
                  <a:pt x="879555" y="261213"/>
                </a:lnTo>
                <a:lnTo>
                  <a:pt x="878236" y="264005"/>
                </a:lnTo>
                <a:lnTo>
                  <a:pt x="858840" y="290080"/>
                </a:lnTo>
                <a:lnTo>
                  <a:pt x="818309" y="346562"/>
                </a:lnTo>
                <a:lnTo>
                  <a:pt x="812711" y="352093"/>
                </a:lnTo>
                <a:lnTo>
                  <a:pt x="808870" y="357256"/>
                </a:lnTo>
                <a:lnTo>
                  <a:pt x="781178" y="383245"/>
                </a:lnTo>
                <a:lnTo>
                  <a:pt x="738382" y="425524"/>
                </a:lnTo>
                <a:lnTo>
                  <a:pt x="728460" y="432720"/>
                </a:lnTo>
                <a:lnTo>
                  <a:pt x="720914" y="439802"/>
                </a:lnTo>
                <a:lnTo>
                  <a:pt x="687925" y="462119"/>
                </a:lnTo>
                <a:lnTo>
                  <a:pt x="643922" y="494033"/>
                </a:lnTo>
                <a:lnTo>
                  <a:pt x="628978" y="501996"/>
                </a:lnTo>
                <a:lnTo>
                  <a:pt x="616679" y="510316"/>
                </a:lnTo>
                <a:lnTo>
                  <a:pt x="580876" y="527628"/>
                </a:lnTo>
                <a:lnTo>
                  <a:pt x="536895" y="551064"/>
                </a:lnTo>
                <a:lnTo>
                  <a:pt x="516224" y="558889"/>
                </a:lnTo>
                <a:lnTo>
                  <a:pt x="498479" y="567470"/>
                </a:lnTo>
                <a:lnTo>
                  <a:pt x="462330" y="579292"/>
                </a:lnTo>
                <a:lnTo>
                  <a:pt x="419268" y="595594"/>
                </a:lnTo>
                <a:lnTo>
                  <a:pt x="392037" y="602281"/>
                </a:lnTo>
                <a:lnTo>
                  <a:pt x="368625" y="609938"/>
                </a:lnTo>
                <a:lnTo>
                  <a:pt x="334260" y="616469"/>
                </a:lnTo>
                <a:lnTo>
                  <a:pt x="293007" y="626599"/>
                </a:lnTo>
                <a:lnTo>
                  <a:pt x="258448" y="630876"/>
                </a:lnTo>
                <a:lnTo>
                  <a:pt x="229430" y="636391"/>
                </a:lnTo>
                <a:lnTo>
                  <a:pt x="198148" y="638341"/>
                </a:lnTo>
                <a:lnTo>
                  <a:pt x="160079" y="643053"/>
                </a:lnTo>
                <a:lnTo>
                  <a:pt x="123732" y="64297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任意多边形 41">
            <a:extLst>
              <a:ext uri="{FF2B5EF4-FFF2-40B4-BE49-F238E27FC236}">
                <a16:creationId xmlns:a16="http://schemas.microsoft.com/office/drawing/2014/main" id="{979F4747-CF63-7D3D-57DC-C43118FDA1BB}"/>
              </a:ext>
            </a:extLst>
          </p:cNvPr>
          <p:cNvSpPr/>
          <p:nvPr/>
        </p:nvSpPr>
        <p:spPr>
          <a:xfrm rot="10800000" flipH="1">
            <a:off x="9762378" y="1497964"/>
            <a:ext cx="1167765" cy="785495"/>
          </a:xfrm>
          <a:custGeom>
            <a:avLst/>
            <a:gdLst>
              <a:gd name="connsiteX0" fmla="*/ 83208 w 1007388"/>
              <a:gd name="connsiteY0" fmla="*/ 645504 h 645504"/>
              <a:gd name="connsiteX1" fmla="*/ 83207 w 1007388"/>
              <a:gd name="connsiteY1" fmla="*/ 645504 h 645504"/>
              <a:gd name="connsiteX2" fmla="*/ 0 w 1007388"/>
              <a:gd name="connsiteY2" fmla="*/ 645504 h 645504"/>
              <a:gd name="connsiteX3" fmla="*/ 0 w 1007388"/>
              <a:gd name="connsiteY3" fmla="*/ 639289 h 645504"/>
              <a:gd name="connsiteX4" fmla="*/ 18591 w 1007388"/>
              <a:gd name="connsiteY4" fmla="*/ 640677 h 645504"/>
              <a:gd name="connsiteX5" fmla="*/ 136557 w 1007388"/>
              <a:gd name="connsiteY5" fmla="*/ 625618 h 645504"/>
              <a:gd name="connsiteX6" fmla="*/ 136587 w 1007388"/>
              <a:gd name="connsiteY6" fmla="*/ 625611 h 645504"/>
              <a:gd name="connsiteX7" fmla="*/ 255882 w 1007388"/>
              <a:gd name="connsiteY7" fmla="*/ 595758 h 645504"/>
              <a:gd name="connsiteX8" fmla="*/ 292673 w 1007388"/>
              <a:gd name="connsiteY8" fmla="*/ 582584 h 645504"/>
              <a:gd name="connsiteX9" fmla="*/ 367139 w 1007388"/>
              <a:gd name="connsiteY9" fmla="*/ 553951 h 645504"/>
              <a:gd name="connsiteX10" fmla="*/ 407082 w 1007388"/>
              <a:gd name="connsiteY10" fmla="*/ 534438 h 645504"/>
              <a:gd name="connsiteX11" fmla="*/ 468941 w 1007388"/>
              <a:gd name="connsiteY11" fmla="*/ 501015 h 645504"/>
              <a:gd name="connsiteX12" fmla="*/ 506675 w 1007388"/>
              <a:gd name="connsiteY12" fmla="*/ 476745 h 645504"/>
              <a:gd name="connsiteX13" fmla="*/ 559951 w 1007388"/>
              <a:gd name="connsiteY13" fmla="*/ 437629 h 645504"/>
              <a:gd name="connsiteX14" fmla="*/ 593134 w 1007388"/>
              <a:gd name="connsiteY14" fmla="*/ 409815 h 645504"/>
              <a:gd name="connsiteX15" fmla="*/ 638972 w 1007388"/>
              <a:gd name="connsiteY15" fmla="*/ 364063 h 645504"/>
              <a:gd name="connsiteX16" fmla="*/ 665855 w 1007388"/>
              <a:gd name="connsiteY16" fmla="*/ 334380 h 645504"/>
              <a:gd name="connsiteX17" fmla="*/ 683508 w 1007388"/>
              <a:gd name="connsiteY17" fmla="*/ 309596 h 645504"/>
              <a:gd name="connsiteX18" fmla="*/ 765324 w 1007388"/>
              <a:gd name="connsiteY18" fmla="*/ 161376 h 645504"/>
              <a:gd name="connsiteX19" fmla="*/ 684636 w 1007388"/>
              <a:gd name="connsiteY19" fmla="*/ 161376 h 645504"/>
              <a:gd name="connsiteX20" fmla="*/ 873675 w 1007388"/>
              <a:gd name="connsiteY20" fmla="*/ 0 h 645504"/>
              <a:gd name="connsiteX21" fmla="*/ 1007388 w 1007388"/>
              <a:gd name="connsiteY21" fmla="*/ 161376 h 645504"/>
              <a:gd name="connsiteX22" fmla="*/ 926700 w 1007388"/>
              <a:gd name="connsiteY22" fmla="*/ 161376 h 645504"/>
              <a:gd name="connsiteX23" fmla="*/ 881737 w 1007388"/>
              <a:gd name="connsiteY23" fmla="*/ 258172 h 645504"/>
              <a:gd name="connsiteX24" fmla="*/ 879555 w 1007388"/>
              <a:gd name="connsiteY24" fmla="*/ 261213 h 645504"/>
              <a:gd name="connsiteX25" fmla="*/ 878236 w 1007388"/>
              <a:gd name="connsiteY25" fmla="*/ 264005 h 645504"/>
              <a:gd name="connsiteX26" fmla="*/ 858840 w 1007388"/>
              <a:gd name="connsiteY26" fmla="*/ 290080 h 645504"/>
              <a:gd name="connsiteX27" fmla="*/ 818309 w 1007388"/>
              <a:gd name="connsiteY27" fmla="*/ 346562 h 645504"/>
              <a:gd name="connsiteX28" fmla="*/ 812711 w 1007388"/>
              <a:gd name="connsiteY28" fmla="*/ 352093 h 645504"/>
              <a:gd name="connsiteX29" fmla="*/ 808870 w 1007388"/>
              <a:gd name="connsiteY29" fmla="*/ 357256 h 645504"/>
              <a:gd name="connsiteX30" fmla="*/ 781178 w 1007388"/>
              <a:gd name="connsiteY30" fmla="*/ 383245 h 645504"/>
              <a:gd name="connsiteX31" fmla="*/ 738382 w 1007388"/>
              <a:gd name="connsiteY31" fmla="*/ 425524 h 645504"/>
              <a:gd name="connsiteX32" fmla="*/ 728460 w 1007388"/>
              <a:gd name="connsiteY32" fmla="*/ 432720 h 645504"/>
              <a:gd name="connsiteX33" fmla="*/ 720914 w 1007388"/>
              <a:gd name="connsiteY33" fmla="*/ 439802 h 645504"/>
              <a:gd name="connsiteX34" fmla="*/ 687925 w 1007388"/>
              <a:gd name="connsiteY34" fmla="*/ 462119 h 645504"/>
              <a:gd name="connsiteX35" fmla="*/ 643922 w 1007388"/>
              <a:gd name="connsiteY35" fmla="*/ 494033 h 645504"/>
              <a:gd name="connsiteX36" fmla="*/ 628978 w 1007388"/>
              <a:gd name="connsiteY36" fmla="*/ 501996 h 645504"/>
              <a:gd name="connsiteX37" fmla="*/ 616679 w 1007388"/>
              <a:gd name="connsiteY37" fmla="*/ 510316 h 645504"/>
              <a:gd name="connsiteX38" fmla="*/ 580876 w 1007388"/>
              <a:gd name="connsiteY38" fmla="*/ 527628 h 645504"/>
              <a:gd name="connsiteX39" fmla="*/ 536895 w 1007388"/>
              <a:gd name="connsiteY39" fmla="*/ 551064 h 645504"/>
              <a:gd name="connsiteX40" fmla="*/ 516224 w 1007388"/>
              <a:gd name="connsiteY40" fmla="*/ 558889 h 645504"/>
              <a:gd name="connsiteX41" fmla="*/ 498479 w 1007388"/>
              <a:gd name="connsiteY41" fmla="*/ 567470 h 645504"/>
              <a:gd name="connsiteX42" fmla="*/ 462330 w 1007388"/>
              <a:gd name="connsiteY42" fmla="*/ 579292 h 645504"/>
              <a:gd name="connsiteX43" fmla="*/ 419268 w 1007388"/>
              <a:gd name="connsiteY43" fmla="*/ 595594 h 645504"/>
              <a:gd name="connsiteX44" fmla="*/ 392037 w 1007388"/>
              <a:gd name="connsiteY44" fmla="*/ 602281 h 645504"/>
              <a:gd name="connsiteX45" fmla="*/ 368625 w 1007388"/>
              <a:gd name="connsiteY45" fmla="*/ 609938 h 645504"/>
              <a:gd name="connsiteX46" fmla="*/ 334260 w 1007388"/>
              <a:gd name="connsiteY46" fmla="*/ 616469 h 645504"/>
              <a:gd name="connsiteX47" fmla="*/ 293007 w 1007388"/>
              <a:gd name="connsiteY47" fmla="*/ 626599 h 645504"/>
              <a:gd name="connsiteX48" fmla="*/ 258448 w 1007388"/>
              <a:gd name="connsiteY48" fmla="*/ 630876 h 645504"/>
              <a:gd name="connsiteX49" fmla="*/ 229430 w 1007388"/>
              <a:gd name="connsiteY49" fmla="*/ 636391 h 645504"/>
              <a:gd name="connsiteX50" fmla="*/ 198148 w 1007388"/>
              <a:gd name="connsiteY50" fmla="*/ 638341 h 645504"/>
              <a:gd name="connsiteX51" fmla="*/ 160079 w 1007388"/>
              <a:gd name="connsiteY51" fmla="*/ 643053 h 645504"/>
              <a:gd name="connsiteX52" fmla="*/ 123732 w 1007388"/>
              <a:gd name="connsiteY52" fmla="*/ 642979 h 645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007388" h="645504">
                <a:moveTo>
                  <a:pt x="83208" y="645504"/>
                </a:moveTo>
                <a:lnTo>
                  <a:pt x="83207" y="645504"/>
                </a:lnTo>
                <a:lnTo>
                  <a:pt x="0" y="645504"/>
                </a:lnTo>
                <a:lnTo>
                  <a:pt x="0" y="639289"/>
                </a:lnTo>
                <a:lnTo>
                  <a:pt x="18591" y="640677"/>
                </a:lnTo>
                <a:lnTo>
                  <a:pt x="136557" y="625618"/>
                </a:lnTo>
                <a:lnTo>
                  <a:pt x="136587" y="625611"/>
                </a:lnTo>
                <a:lnTo>
                  <a:pt x="255882" y="595758"/>
                </a:lnTo>
                <a:lnTo>
                  <a:pt x="292673" y="582584"/>
                </a:lnTo>
                <a:lnTo>
                  <a:pt x="367139" y="553951"/>
                </a:lnTo>
                <a:lnTo>
                  <a:pt x="407082" y="534438"/>
                </a:lnTo>
                <a:lnTo>
                  <a:pt x="468941" y="501015"/>
                </a:lnTo>
                <a:lnTo>
                  <a:pt x="506675" y="476745"/>
                </a:lnTo>
                <a:lnTo>
                  <a:pt x="559951" y="437629"/>
                </a:lnTo>
                <a:lnTo>
                  <a:pt x="593134" y="409815"/>
                </a:lnTo>
                <a:lnTo>
                  <a:pt x="638972" y="364063"/>
                </a:lnTo>
                <a:lnTo>
                  <a:pt x="665855" y="334380"/>
                </a:lnTo>
                <a:lnTo>
                  <a:pt x="683508" y="309596"/>
                </a:lnTo>
                <a:lnTo>
                  <a:pt x="765324" y="161376"/>
                </a:lnTo>
                <a:lnTo>
                  <a:pt x="684636" y="161376"/>
                </a:lnTo>
                <a:lnTo>
                  <a:pt x="873675" y="0"/>
                </a:lnTo>
                <a:lnTo>
                  <a:pt x="1007388" y="161376"/>
                </a:lnTo>
                <a:lnTo>
                  <a:pt x="926700" y="161376"/>
                </a:lnTo>
                <a:cubicBezTo>
                  <a:pt x="915009" y="194928"/>
                  <a:pt x="899912" y="227250"/>
                  <a:pt x="881737" y="258172"/>
                </a:cubicBezTo>
                <a:lnTo>
                  <a:pt x="879555" y="261213"/>
                </a:lnTo>
                <a:lnTo>
                  <a:pt x="878236" y="264005"/>
                </a:lnTo>
                <a:lnTo>
                  <a:pt x="858840" y="290080"/>
                </a:lnTo>
                <a:lnTo>
                  <a:pt x="818309" y="346562"/>
                </a:lnTo>
                <a:lnTo>
                  <a:pt x="812711" y="352093"/>
                </a:lnTo>
                <a:lnTo>
                  <a:pt x="808870" y="357256"/>
                </a:lnTo>
                <a:lnTo>
                  <a:pt x="781178" y="383245"/>
                </a:lnTo>
                <a:lnTo>
                  <a:pt x="738382" y="425524"/>
                </a:lnTo>
                <a:lnTo>
                  <a:pt x="728460" y="432720"/>
                </a:lnTo>
                <a:lnTo>
                  <a:pt x="720914" y="439802"/>
                </a:lnTo>
                <a:lnTo>
                  <a:pt x="687925" y="462119"/>
                </a:lnTo>
                <a:lnTo>
                  <a:pt x="643922" y="494033"/>
                </a:lnTo>
                <a:lnTo>
                  <a:pt x="628978" y="501996"/>
                </a:lnTo>
                <a:lnTo>
                  <a:pt x="616679" y="510316"/>
                </a:lnTo>
                <a:lnTo>
                  <a:pt x="580876" y="527628"/>
                </a:lnTo>
                <a:lnTo>
                  <a:pt x="536895" y="551064"/>
                </a:lnTo>
                <a:lnTo>
                  <a:pt x="516224" y="558889"/>
                </a:lnTo>
                <a:lnTo>
                  <a:pt x="498479" y="567470"/>
                </a:lnTo>
                <a:lnTo>
                  <a:pt x="462330" y="579292"/>
                </a:lnTo>
                <a:lnTo>
                  <a:pt x="419268" y="595594"/>
                </a:lnTo>
                <a:lnTo>
                  <a:pt x="392037" y="602281"/>
                </a:lnTo>
                <a:lnTo>
                  <a:pt x="368625" y="609938"/>
                </a:lnTo>
                <a:lnTo>
                  <a:pt x="334260" y="616469"/>
                </a:lnTo>
                <a:lnTo>
                  <a:pt x="293007" y="626599"/>
                </a:lnTo>
                <a:lnTo>
                  <a:pt x="258448" y="630876"/>
                </a:lnTo>
                <a:lnTo>
                  <a:pt x="229430" y="636391"/>
                </a:lnTo>
                <a:lnTo>
                  <a:pt x="198148" y="638341"/>
                </a:lnTo>
                <a:lnTo>
                  <a:pt x="160079" y="643053"/>
                </a:lnTo>
                <a:lnTo>
                  <a:pt x="123732" y="64297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Picture 8" descr="https://gimg2.baidu.com/image_search/src=http%3A%2F%2Fwww.downun.com%2Fuploads%2Fimages%2Fallimg%2F160914%2F4-1609141AQ20-L.jpg&amp;refer=http%3A%2F%2Fwww.downun.com&amp;app=2002&amp;size=f9999,10000&amp;q=a80&amp;n=0&amp;g=0n&amp;fmt=jpeg?sec=1616045163&amp;t=55d8b33eade29977575e86dfb024d550">
            <a:extLst>
              <a:ext uri="{FF2B5EF4-FFF2-40B4-BE49-F238E27FC236}">
                <a16:creationId xmlns:a16="http://schemas.microsoft.com/office/drawing/2014/main" id="{0240EFA7-767B-473E-72E4-76D5027308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06" r="11248"/>
          <a:stretch>
            <a:fillRect/>
          </a:stretch>
        </p:blipFill>
        <p:spPr bwMode="auto">
          <a:xfrm>
            <a:off x="10388952" y="2469514"/>
            <a:ext cx="1130300" cy="59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FB5C6E9-B832-E216-DE66-7DB58ED595E8}"/>
              </a:ext>
            </a:extLst>
          </p:cNvPr>
          <p:cNvSpPr txBox="1"/>
          <p:nvPr/>
        </p:nvSpPr>
        <p:spPr>
          <a:xfrm>
            <a:off x="6469268" y="1243964"/>
            <a:ext cx="1633855" cy="3683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kumimoji="1" lang="zh-CN" altLang="en-US" sz="1600" dirty="0">
                <a:solidFill>
                  <a:srgbClr val="AD2B26"/>
                </a:solidFill>
              </a:rPr>
              <a:t>物理机安装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EEE1F5-C8C1-DAFD-47D7-6B9CE4574738}"/>
              </a:ext>
            </a:extLst>
          </p:cNvPr>
          <p:cNvSpPr txBox="1"/>
          <p:nvPr/>
        </p:nvSpPr>
        <p:spPr>
          <a:xfrm>
            <a:off x="10274188" y="1243964"/>
            <a:ext cx="1633855" cy="3683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kumimoji="1" lang="zh-CN" altLang="en-US" sz="1600" dirty="0">
                <a:solidFill>
                  <a:srgbClr val="AD2B26"/>
                </a:solidFill>
              </a:rPr>
              <a:t>虚拟机安装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246C133-52B6-AF2E-A504-681788281B64}"/>
              </a:ext>
            </a:extLst>
          </p:cNvPr>
          <p:cNvSpPr txBox="1"/>
          <p:nvPr/>
        </p:nvSpPr>
        <p:spPr>
          <a:xfrm>
            <a:off x="6727713" y="3491004"/>
            <a:ext cx="4876800" cy="596265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kumimoji="1" lang="zh-CN" altLang="en-US" sz="16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通过虚拟机软件来模拟计算机硬件</a:t>
            </a:r>
          </a:p>
        </p:txBody>
      </p:sp>
    </p:spTree>
    <p:extLst>
      <p:ext uri="{BB962C8B-B14F-4D97-AF65-F5344CB8AC3E}">
        <p14:creationId xmlns:p14="http://schemas.microsoft.com/office/powerpoint/2010/main" val="301938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虚拟机安装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直接双击运行资料中的</a:t>
            </a:r>
            <a:r>
              <a:rPr kumimoji="1" lang="en-US" altLang="zh-CN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VMWare</a:t>
            </a:r>
            <a:r>
              <a:rPr kumimoji="1" lang="zh-CN" altLang="en-US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安装程序，根据提示完成安装即可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3D014D-1861-E515-F4C1-AF64DA4F1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3" y="1693904"/>
            <a:ext cx="4486557" cy="3404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C6B7A6C-6AA7-59D2-528B-C90A6EEF6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400" y="1662097"/>
            <a:ext cx="6128925" cy="485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0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08DDAA-241F-A183-4D7F-C1F02F476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273" y="1576083"/>
            <a:ext cx="5611161" cy="517107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虚拟机网络配置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安装完毕之后，需要配置网络，才可以在</a:t>
            </a:r>
            <a:r>
              <a:rPr kumimoji="1" lang="en-US" altLang="zh-CN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windows</a:t>
            </a:r>
            <a:r>
              <a:rPr kumimoji="1"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系统上连接虚拟机上的</a:t>
            </a:r>
            <a:r>
              <a:rPr kumimoji="1" lang="en-US" altLang="zh-CN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0E2BA17-99CC-B097-951E-F9A09E726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09" y="1576083"/>
            <a:ext cx="4777848" cy="169581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FC5E0A-61C7-30C1-FA5D-A064012CEB5A}"/>
              </a:ext>
            </a:extLst>
          </p:cNvPr>
          <p:cNvSpPr/>
          <p:nvPr/>
        </p:nvSpPr>
        <p:spPr>
          <a:xfrm>
            <a:off x="1425387" y="2599765"/>
            <a:ext cx="2003613" cy="22471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7F12C9D-6268-EEB3-66C0-3D6C23418083}"/>
              </a:ext>
            </a:extLst>
          </p:cNvPr>
          <p:cNvSpPr/>
          <p:nvPr/>
        </p:nvSpPr>
        <p:spPr>
          <a:xfrm>
            <a:off x="6078070" y="2471277"/>
            <a:ext cx="5056756" cy="197223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BE84DEA-3D73-58AD-6223-9EA798EDF5C7}"/>
              </a:ext>
            </a:extLst>
          </p:cNvPr>
          <p:cNvSpPr/>
          <p:nvPr/>
        </p:nvSpPr>
        <p:spPr>
          <a:xfrm>
            <a:off x="6704273" y="5973477"/>
            <a:ext cx="1077091" cy="265960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0A81E73-9CEA-DB22-FBC7-390246496F46}"/>
              </a:ext>
            </a:extLst>
          </p:cNvPr>
          <p:cNvCxnSpPr>
            <a:cxnSpLocks/>
          </p:cNvCxnSpPr>
          <p:nvPr/>
        </p:nvCxnSpPr>
        <p:spPr>
          <a:xfrm>
            <a:off x="7297271" y="6284262"/>
            <a:ext cx="367553" cy="0"/>
          </a:xfrm>
          <a:prstGeom prst="line">
            <a:avLst/>
          </a:prstGeom>
          <a:ln w="190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38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挂载镜像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解压 </a:t>
            </a:r>
            <a:r>
              <a:rPr lang="en-US" altLang="zh-CN"/>
              <a:t>CentOS7 </a:t>
            </a:r>
            <a:r>
              <a:rPr lang="zh-CN" altLang="en-US"/>
              <a:t>的镜像压缩包到磁盘目录，然后双击 </a:t>
            </a:r>
            <a:r>
              <a:rPr lang="en-US" altLang="zh-CN"/>
              <a:t>.vmx </a:t>
            </a:r>
            <a:r>
              <a:rPr lang="zh-CN" altLang="en-US"/>
              <a:t>文件完成挂载。然后启动服务器 （</a:t>
            </a:r>
            <a:r>
              <a:rPr lang="en-US" altLang="zh-CN"/>
              <a:t>root/1234</a:t>
            </a:r>
            <a:r>
              <a:rPr lang="zh-CN" altLang="en-US"/>
              <a:t>）。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37D1CF-874F-5D34-9670-37C5E3CE70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21" b="9435"/>
          <a:stretch/>
        </p:blipFill>
        <p:spPr>
          <a:xfrm>
            <a:off x="987110" y="1772811"/>
            <a:ext cx="5108890" cy="410231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939FFFB-F5D4-07B7-019C-850167330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3504" y="2772450"/>
            <a:ext cx="2563013" cy="29458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E3255AD-BDCB-F862-3372-C4982F4E79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1566"/>
          <a:stretch/>
        </p:blipFill>
        <p:spPr>
          <a:xfrm>
            <a:off x="6888480" y="1576086"/>
            <a:ext cx="5012397" cy="449575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467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7B6313-7BCB-C55F-C5CB-0C69631BB1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69718" y="2180973"/>
            <a:ext cx="8041416" cy="224173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虚拟网络编辑器 </a:t>
            </a:r>
            <a:r>
              <a:rPr lang="en-US" altLang="zh-CN"/>
              <a:t>-&gt; NAT</a:t>
            </a:r>
            <a:r>
              <a:rPr lang="zh-CN" altLang="en-US"/>
              <a:t>模式 </a:t>
            </a:r>
            <a:r>
              <a:rPr lang="en-US" altLang="zh-CN"/>
              <a:t>-&gt; </a:t>
            </a:r>
            <a:r>
              <a:rPr lang="zh-CN" altLang="en-US"/>
              <a:t>子网</a:t>
            </a:r>
            <a:r>
              <a:rPr lang="en-US" altLang="zh-CN"/>
              <a:t>IP</a:t>
            </a:r>
            <a:r>
              <a:rPr lang="zh-CN" altLang="en-US"/>
              <a:t>：</a:t>
            </a:r>
            <a:r>
              <a:rPr lang="zh-CN" altLang="en-US">
                <a:solidFill>
                  <a:srgbClr val="C00000"/>
                </a:solidFill>
              </a:rPr>
              <a:t>设置为</a:t>
            </a:r>
            <a:r>
              <a:rPr lang="en-US" altLang="zh-CN">
                <a:solidFill>
                  <a:srgbClr val="C00000"/>
                </a:solidFill>
              </a:rPr>
              <a:t>192.168.100.0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查看</a:t>
            </a:r>
            <a:r>
              <a:rPr lang="en-US" altLang="zh-CN"/>
              <a:t>IP</a:t>
            </a:r>
            <a:r>
              <a:rPr lang="zh-CN" altLang="en-US"/>
              <a:t>地址的命令：</a:t>
            </a:r>
            <a:r>
              <a:rPr lang="en-US" altLang="zh-CN">
                <a:solidFill>
                  <a:srgbClr val="C00000"/>
                </a:solidFill>
              </a:rPr>
              <a:t>ip addr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如果没有</a:t>
            </a:r>
            <a:r>
              <a:rPr lang="en-US" altLang="zh-CN"/>
              <a:t>IP</a:t>
            </a:r>
            <a:r>
              <a:rPr lang="zh-CN" altLang="en-US"/>
              <a:t>地址：</a:t>
            </a:r>
            <a:r>
              <a:rPr lang="zh-CN" altLang="en-US">
                <a:solidFill>
                  <a:srgbClr val="C00000"/>
                </a:solidFill>
              </a:rPr>
              <a:t>执行 </a:t>
            </a:r>
            <a:r>
              <a:rPr lang="en-US" altLang="zh-CN">
                <a:solidFill>
                  <a:srgbClr val="C00000"/>
                </a:solidFill>
              </a:rPr>
              <a:t>start-ens33.sh </a:t>
            </a:r>
            <a:r>
              <a:rPr lang="zh-CN" altLang="en-US">
                <a:solidFill>
                  <a:srgbClr val="C00000"/>
                </a:solidFill>
              </a:rPr>
              <a:t>脚本，手动激活</a:t>
            </a:r>
            <a:r>
              <a:rPr lang="en-US" altLang="zh-CN">
                <a:solidFill>
                  <a:srgbClr val="C00000"/>
                </a:solidFill>
              </a:rPr>
              <a:t>ens33</a:t>
            </a:r>
            <a:r>
              <a:rPr lang="zh-CN" altLang="en-US">
                <a:solidFill>
                  <a:srgbClr val="C00000"/>
                </a:solidFill>
              </a:rPr>
              <a:t>网卡</a:t>
            </a:r>
            <a:endParaRPr lang="en-US" altLang="zh-CN">
              <a:solidFill>
                <a:srgbClr val="C0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启动</a:t>
            </a:r>
            <a:r>
              <a:rPr lang="en-US" altLang="zh-CN"/>
              <a:t>/</a:t>
            </a:r>
            <a:r>
              <a:rPr lang="zh-CN" altLang="en-US"/>
              <a:t>停止</a:t>
            </a:r>
            <a:r>
              <a:rPr lang="en-US" altLang="zh-CN"/>
              <a:t>/</a:t>
            </a:r>
            <a:r>
              <a:rPr lang="zh-CN" altLang="en-US"/>
              <a:t>重启 </a:t>
            </a:r>
            <a:r>
              <a:rPr lang="en-US" altLang="zh-CN"/>
              <a:t>Linux</a:t>
            </a:r>
            <a:r>
              <a:rPr lang="zh-CN" altLang="en-US"/>
              <a:t>系统：</a:t>
            </a:r>
            <a:r>
              <a:rPr lang="zh-CN" altLang="en-US">
                <a:solidFill>
                  <a:srgbClr val="C00000"/>
                </a:solidFill>
              </a:rPr>
              <a:t>图形化界面</a:t>
            </a:r>
            <a:r>
              <a:rPr lang="en-US" altLang="zh-CN">
                <a:solidFill>
                  <a:srgbClr val="C00000"/>
                </a:solidFill>
              </a:rPr>
              <a:t>/</a:t>
            </a:r>
            <a:r>
              <a:rPr lang="zh-CN" altLang="en-US">
                <a:solidFill>
                  <a:srgbClr val="C00000"/>
                </a:solidFill>
              </a:rPr>
              <a:t>命令</a:t>
            </a:r>
            <a:r>
              <a:rPr lang="en-US" altLang="zh-CN">
                <a:solidFill>
                  <a:srgbClr val="C00000"/>
                </a:solidFill>
              </a:rPr>
              <a:t>(init 0</a:t>
            </a:r>
            <a:r>
              <a:rPr lang="zh-CN" altLang="en-US">
                <a:solidFill>
                  <a:srgbClr val="C00000"/>
                </a:solidFill>
              </a:rPr>
              <a:t>：关闭，</a:t>
            </a:r>
            <a:r>
              <a:rPr lang="en-US" altLang="zh-CN">
                <a:solidFill>
                  <a:srgbClr val="C00000"/>
                </a:solidFill>
              </a:rPr>
              <a:t>init 6</a:t>
            </a:r>
            <a:r>
              <a:rPr lang="zh-CN" altLang="en-US">
                <a:solidFill>
                  <a:srgbClr val="C00000"/>
                </a:solidFill>
              </a:rPr>
              <a:t>：重启</a:t>
            </a:r>
            <a:r>
              <a:rPr lang="en-US" altLang="zh-CN">
                <a:solidFill>
                  <a:srgbClr val="C00000"/>
                </a:solidFill>
              </a:rPr>
              <a:t>)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18F643-3267-A635-5D80-1AD2CAA7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784" y="2429211"/>
            <a:ext cx="3090854" cy="3200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2B5594-24C8-52E0-2EEA-BA4109BB9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483" y="2921452"/>
            <a:ext cx="3090854" cy="3200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C19A26-47F6-59AA-C47E-C96C20023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425961"/>
            <a:ext cx="4988767" cy="3200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1EE8B8-2ED9-83B6-ED51-D1F18BB1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024" y="3898783"/>
            <a:ext cx="4689497" cy="32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29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6FE375-0F9D-8A53-DD9E-C01902F9F9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29318" y="1735811"/>
            <a:ext cx="8462682" cy="152504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/>
              <a:t>公司在北京，服务器可能在上海</a:t>
            </a:r>
            <a:r>
              <a:rPr lang="en-US" altLang="zh-CN" sz="1600"/>
              <a:t>/</a:t>
            </a:r>
            <a:r>
              <a:rPr lang="zh-CN" altLang="en-US" sz="1600"/>
              <a:t>天津</a:t>
            </a:r>
            <a:r>
              <a:rPr lang="en-US" altLang="zh-CN" sz="1600"/>
              <a:t>/</a:t>
            </a:r>
            <a:r>
              <a:rPr lang="zh-CN" altLang="en-US" sz="1600"/>
              <a:t>香港</a:t>
            </a:r>
            <a:r>
              <a:rPr lang="en-US" altLang="zh-CN" sz="1600"/>
              <a:t>/</a:t>
            </a:r>
            <a:r>
              <a:rPr lang="zh-CN" altLang="en-US" sz="1600"/>
              <a:t>海外，该如何进行软件安装</a:t>
            </a:r>
            <a:r>
              <a:rPr lang="en-US" altLang="zh-CN" sz="1600"/>
              <a:t>/</a:t>
            </a:r>
            <a:r>
              <a:rPr lang="zh-CN" altLang="en-US" sz="1600"/>
              <a:t>项目部署？</a:t>
            </a:r>
            <a:endParaRPr lang="en-US" altLang="zh-CN" sz="160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6F4D09-2825-6B3E-AA9F-45F7E2C68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918" y="2944248"/>
            <a:ext cx="3803932" cy="2335963"/>
          </a:xfrm>
          <a:prstGeom prst="roundRect">
            <a:avLst>
              <a:gd name="adj" fmla="val 2921"/>
            </a:avLst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08F3654-70FC-7EB0-30F3-EE3CCF88C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843" y="3331267"/>
            <a:ext cx="2556323" cy="1561923"/>
          </a:xfrm>
          <a:prstGeom prst="roundRect">
            <a:avLst>
              <a:gd name="adj" fmla="val 3466"/>
            </a:avLst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5228CA2-5378-881D-D8DF-700BDD14ED10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6663166" y="4112229"/>
            <a:ext cx="1485752" cy="1"/>
          </a:xfrm>
          <a:prstGeom prst="straightConnector1">
            <a:avLst/>
          </a:prstGeom>
          <a:ln w="25400">
            <a:solidFill>
              <a:srgbClr val="AD2B2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7DD33AD8-5831-B7AC-ABA0-FA2A537020EA}"/>
              </a:ext>
            </a:extLst>
          </p:cNvPr>
          <p:cNvSpPr txBox="1"/>
          <p:nvPr/>
        </p:nvSpPr>
        <p:spPr>
          <a:xfrm>
            <a:off x="6832954" y="3710116"/>
            <a:ext cx="1146175" cy="417185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远程连接</a:t>
            </a: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82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68E07C-6256-8AEE-9756-6B99C67FB6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概述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F9200C-F0EC-0179-92EE-57CE0D297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系统安装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远程连接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目录介绍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6A1BB2-8DED-FAB6-1B86-9805D2660D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005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远程连接工具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常用的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SSH(Secure Shell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，安全外壳协议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)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远程连接工具：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Putty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SecureCRT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Xshell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>
                <a:solidFill>
                  <a:srgbClr val="C00000"/>
                </a:solidFill>
                <a:ea typeface="Fira Code" panose="020B0809050000020004" pitchFamily="49" charset="0"/>
              </a:rPr>
              <a:t>FinalShell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等。</a:t>
            </a:r>
            <a:endParaRPr lang="zh-CN" altLang="en-US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8CC8257-9E8D-5B93-E3A1-0055EB0B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9913"/>
          <a:stretch/>
        </p:blipFill>
        <p:spPr>
          <a:xfrm>
            <a:off x="3186887" y="2090583"/>
            <a:ext cx="2677308" cy="979840"/>
          </a:xfrm>
          <a:prstGeom prst="roundRect">
            <a:avLst>
              <a:gd name="adj" fmla="val 8304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2A32FD9-4973-9225-2A28-D19DA0E0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931" y="2556638"/>
            <a:ext cx="2585304" cy="972689"/>
          </a:xfrm>
          <a:prstGeom prst="roundRect">
            <a:avLst>
              <a:gd name="adj" fmla="val 7018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3759649-BCDB-DB83-AAC2-90CFB4ED9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488" y="3529327"/>
            <a:ext cx="2808310" cy="917808"/>
          </a:xfrm>
          <a:prstGeom prst="roundRect">
            <a:avLst>
              <a:gd name="adj" fmla="val 9179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9" name="图片 18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48B24F8F-7076-2EE1-0CE4-8609ECB154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6098"/>
          <a:stretch/>
        </p:blipFill>
        <p:spPr>
          <a:xfrm>
            <a:off x="5491273" y="4447135"/>
            <a:ext cx="2808310" cy="907763"/>
          </a:xfrm>
          <a:prstGeom prst="roundRect">
            <a:avLst>
              <a:gd name="adj" fmla="val 9179"/>
            </a:avLst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4831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finalShell</a:t>
            </a:r>
            <a:r>
              <a:rPr lang="zh-CN" altLang="en-US"/>
              <a:t>安装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直接双击运行</a:t>
            </a:r>
            <a:r>
              <a:rPr kumimoji="1" lang="en-US" altLang="zh-CN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FinalShell</a:t>
            </a:r>
            <a:r>
              <a:rPr kumimoji="1" lang="zh-CN" altLang="en-US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的安装程序完成安装即可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DA2A55-8595-3B3F-79AA-EF0A7B6EC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219" y="1660701"/>
            <a:ext cx="2091690" cy="3067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9618FF-58AC-F0E8-9154-1AC5A5D44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124" y="1660701"/>
            <a:ext cx="5865178" cy="423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70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41ABC94-A1B0-3652-CAF7-6D986A17C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" y="971182"/>
            <a:ext cx="6037114" cy="3118226"/>
          </a:xfrm>
          <a:prstGeom prst="rect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0C9FD3-8DE0-9EE2-F2F5-4C8A0ABDB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181" y="1698135"/>
            <a:ext cx="5564512" cy="510328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finalShell</a:t>
            </a:r>
            <a:r>
              <a:rPr lang="zh-CN" altLang="en-US"/>
              <a:t>连接</a:t>
            </a:r>
            <a:r>
              <a:rPr lang="en-US" altLang="zh-CN"/>
              <a:t>Linux</a:t>
            </a:r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45024D-8696-1C78-8DB1-E1A6EE12F8B5}"/>
              </a:ext>
            </a:extLst>
          </p:cNvPr>
          <p:cNvSpPr/>
          <p:nvPr/>
        </p:nvSpPr>
        <p:spPr>
          <a:xfrm>
            <a:off x="735105" y="1981200"/>
            <a:ext cx="1730189" cy="259976"/>
          </a:xfrm>
          <a:prstGeom prst="round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4CE1E2B-D510-A5B1-F347-C20DD8B47EB7}"/>
              </a:ext>
            </a:extLst>
          </p:cNvPr>
          <p:cNvCxnSpPr>
            <a:cxnSpLocks/>
          </p:cNvCxnSpPr>
          <p:nvPr/>
        </p:nvCxnSpPr>
        <p:spPr>
          <a:xfrm>
            <a:off x="8211671" y="2904565"/>
            <a:ext cx="995082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DC3334C-222B-84B8-8121-76FF1530B87D}"/>
              </a:ext>
            </a:extLst>
          </p:cNvPr>
          <p:cNvCxnSpPr>
            <a:cxnSpLocks/>
          </p:cNvCxnSpPr>
          <p:nvPr/>
        </p:nvCxnSpPr>
        <p:spPr>
          <a:xfrm>
            <a:off x="8211671" y="4374776"/>
            <a:ext cx="735105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C2E1496C-9F25-AF07-8E65-9510ECB18445}"/>
              </a:ext>
            </a:extLst>
          </p:cNvPr>
          <p:cNvCxnSpPr>
            <a:cxnSpLocks/>
          </p:cNvCxnSpPr>
          <p:nvPr/>
        </p:nvCxnSpPr>
        <p:spPr>
          <a:xfrm>
            <a:off x="8211671" y="4643717"/>
            <a:ext cx="735105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626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68E07C-6256-8AEE-9756-6B99C67FB6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概述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F9200C-F0EC-0179-92EE-57CE0D2974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系统安装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远程连接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目录介绍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46A1BB2-8DED-FAB6-1B86-9805D2660D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576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目录 </a:t>
            </a:r>
            <a:r>
              <a:rPr lang="en-US" altLang="zh-CN"/>
              <a:t>VS Windows</a:t>
            </a:r>
            <a:r>
              <a:rPr lang="zh-CN" altLang="en-US"/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40147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Linux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系统中的目录特点：</a:t>
            </a:r>
            <a:endParaRPr kumimoji="1" lang="en-US" altLang="zh-CN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indent="-342900">
              <a:buFont typeface="+mj-lt"/>
              <a:buAutoNum type="arabicPeriod"/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是所有目录的顶点</a:t>
            </a:r>
          </a:p>
          <a:p>
            <a:pPr marL="612000" indent="-342900">
              <a:buFont typeface="+mj-lt"/>
              <a:buAutoNum type="arabicPeriod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目录结构像一颗倒挂的树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38845D-284B-6430-EF7E-B963EBC3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588" y="2503145"/>
            <a:ext cx="4955522" cy="3210501"/>
          </a:xfrm>
          <a:prstGeom prst="roundRect">
            <a:avLst>
              <a:gd name="adj" fmla="val 2147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F4727F-4639-5F9C-9784-3FA757F132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651"/>
          <a:stretch/>
        </p:blipFill>
        <p:spPr>
          <a:xfrm>
            <a:off x="974339" y="2503145"/>
            <a:ext cx="5121661" cy="3223159"/>
          </a:xfrm>
          <a:prstGeom prst="roundRect">
            <a:avLst>
              <a:gd name="adj" fmla="val 1110"/>
            </a:avLst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107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目录结构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8" y="956241"/>
            <a:ext cx="5788744" cy="5331825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bin 存放二进制可执行文件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boot 存放系统引导时使用的各种文件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dev 存放设备文件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 b="1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etc 存放系统配置文件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home 存放系统用户的文件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lib 存放程序运行所需的共享库和内核模块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opt 额外安装的可选应用程序包所放置的位置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 b="1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root 超级用户目录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sbin 存放二进制可执行文件，只有root用户才能访问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tmp 存放临时文件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 b="1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usr 存放系统应用程序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var 存放运行时需要改变数据的文件，例如日志文件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4E163CE-EEF0-79A5-CACB-ACCEC8A27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403" y="956241"/>
            <a:ext cx="5692455" cy="312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045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23595B-6EAB-6C2D-D59C-596F12A424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/>
              <a:t>Linux</a:t>
            </a:r>
            <a:r>
              <a:rPr lang="zh-CN" altLang="en-US"/>
              <a:t>系统中的路径 </a:t>
            </a:r>
            <a:r>
              <a:rPr lang="en-US" altLang="zh-CN"/>
              <a:t>/itheima </a:t>
            </a:r>
            <a:r>
              <a:rPr lang="zh-CN" altLang="en-US"/>
              <a:t>与 </a:t>
            </a:r>
            <a:r>
              <a:rPr lang="en-US" altLang="zh-CN"/>
              <a:t>itheima </a:t>
            </a:r>
            <a:r>
              <a:rPr lang="zh-CN" altLang="en-US"/>
              <a:t>有区别吗？</a:t>
            </a:r>
            <a:endParaRPr lang="en-US" altLang="zh-CN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>
                <a:solidFill>
                  <a:srgbClr val="C00000"/>
                </a:solidFill>
              </a:rPr>
              <a:t>有</a:t>
            </a:r>
            <a:endParaRPr lang="en-US" altLang="zh-CN" sz="1600">
              <a:solidFill>
                <a:srgbClr val="C00000"/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solidFill>
                  <a:srgbClr val="C00000"/>
                </a:solidFill>
              </a:rPr>
              <a:t>/itheima </a:t>
            </a:r>
            <a:r>
              <a:rPr lang="zh-CN" altLang="en-US" sz="1600">
                <a:solidFill>
                  <a:srgbClr val="C00000"/>
                </a:solidFill>
              </a:rPr>
              <a:t>是绝对路径，是指根目录 </a:t>
            </a:r>
            <a:r>
              <a:rPr lang="en-US" altLang="zh-CN" sz="1600">
                <a:solidFill>
                  <a:srgbClr val="C00000"/>
                </a:solidFill>
              </a:rPr>
              <a:t>/ </a:t>
            </a:r>
            <a:r>
              <a:rPr lang="zh-CN" altLang="en-US" sz="1600">
                <a:solidFill>
                  <a:srgbClr val="C00000"/>
                </a:solidFill>
              </a:rPr>
              <a:t>下的</a:t>
            </a:r>
            <a:r>
              <a:rPr lang="en-US" altLang="zh-CN" sz="1600">
                <a:solidFill>
                  <a:srgbClr val="C00000"/>
                </a:solidFill>
              </a:rPr>
              <a:t>itheima</a:t>
            </a:r>
            <a:r>
              <a:rPr lang="zh-CN" altLang="en-US" sz="1600">
                <a:solidFill>
                  <a:srgbClr val="C00000"/>
                </a:solidFill>
              </a:rPr>
              <a:t>目录</a:t>
            </a:r>
            <a:endParaRPr lang="en-US" altLang="zh-CN" sz="1600">
              <a:solidFill>
                <a:srgbClr val="C00000"/>
              </a:solidFill>
            </a:endParaRP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zh-CN" sz="1600">
                <a:solidFill>
                  <a:srgbClr val="C00000"/>
                </a:solidFill>
              </a:rPr>
              <a:t>itheima </a:t>
            </a:r>
            <a:r>
              <a:rPr lang="zh-CN" altLang="en-US" sz="1600">
                <a:solidFill>
                  <a:srgbClr val="C00000"/>
                </a:solidFill>
              </a:rPr>
              <a:t>是相对路径，是指当前目录下的</a:t>
            </a:r>
            <a:r>
              <a:rPr lang="en-US" altLang="zh-CN" sz="1600">
                <a:solidFill>
                  <a:srgbClr val="C00000"/>
                </a:solidFill>
              </a:rPr>
              <a:t>itheima</a:t>
            </a:r>
            <a:r>
              <a:rPr lang="zh-CN" altLang="en-US" sz="1600">
                <a:solidFill>
                  <a:srgbClr val="C0000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45347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099FF4-3388-ED6E-8E5E-73902493F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概述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Linux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常用命令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软件安装</a:t>
            </a:r>
            <a:endParaRPr lang="en-US" altLang="zh-CN">
              <a:latin typeface="+mn-lt"/>
            </a:endParaRPr>
          </a:p>
          <a:p>
            <a:r>
              <a:rPr lang="zh-CN" altLang="en-US">
                <a:latin typeface="+mn-lt"/>
              </a:rPr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3071772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319F8-7803-B20D-5366-9704E48FB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常用命令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8C8673-7CF9-8B50-E03D-9816904B2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60820"/>
          </a:xfrm>
        </p:spPr>
        <p:txBody>
          <a:bodyPr/>
          <a:lstStyle/>
          <a:p>
            <a:r>
              <a:rPr lang="zh-CN" altLang="en-US"/>
              <a:t>目录操作命令</a:t>
            </a:r>
            <a:endParaRPr lang="en-US" altLang="zh-CN"/>
          </a:p>
          <a:p>
            <a:r>
              <a:rPr lang="zh-CN" altLang="en-US"/>
              <a:t>文件操作命令</a:t>
            </a:r>
            <a:endParaRPr lang="en-US" altLang="zh-CN"/>
          </a:p>
          <a:p>
            <a:r>
              <a:rPr lang="zh-CN" altLang="en-US"/>
              <a:t>拷贝移动命令</a:t>
            </a:r>
            <a:endParaRPr lang="en-US" altLang="zh-CN"/>
          </a:p>
          <a:p>
            <a:r>
              <a:rPr lang="zh-CN" altLang="en-US"/>
              <a:t>打包压缩命令</a:t>
            </a:r>
            <a:endParaRPr lang="en-US" altLang="zh-CN"/>
          </a:p>
          <a:p>
            <a:r>
              <a:rPr lang="zh-CN" altLang="en-US"/>
              <a:t>文本编辑命令</a:t>
            </a:r>
            <a:endParaRPr lang="en-US" altLang="zh-CN"/>
          </a:p>
          <a:p>
            <a:r>
              <a:rPr lang="zh-CN" altLang="en-US"/>
              <a:t>查找命令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681DFF-7D52-98C1-FA78-EE866FA3E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08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命令初识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20830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/>
              <a:t>Linux</a:t>
            </a:r>
            <a:r>
              <a:rPr lang="zh-CN" altLang="en-US"/>
              <a:t>命令格式：</a:t>
            </a:r>
            <a:r>
              <a:rPr lang="en-US" altLang="zh-CN">
                <a:solidFill>
                  <a:srgbClr val="C00000"/>
                </a:solidFill>
              </a:rPr>
              <a:t>command [-options] [parameter]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说明：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command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：命令名</a:t>
            </a: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[-options]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：选项，可用来对命令进行控制，也可以省略 （可选）</a:t>
            </a: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75000"/>
                  </a:schemeClr>
                </a:solidFill>
              </a:rPr>
              <a:t>[parameter]</a:t>
            </a:r>
            <a:r>
              <a:rPr lang="zh-CN" altLang="en-US" sz="1400">
                <a:solidFill>
                  <a:schemeClr val="tx1">
                    <a:lumMod val="75000"/>
                  </a:schemeClr>
                </a:solidFill>
              </a:rPr>
              <a:t>：参数，可以是零个、一个或多个（可选）</a:t>
            </a: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5CD194F-D5BE-86C3-01A6-CA8B936BFD02}"/>
              </a:ext>
            </a:extLst>
          </p:cNvPr>
          <p:cNvSpPr txBox="1">
            <a:spLocks/>
          </p:cNvSpPr>
          <p:nvPr/>
        </p:nvSpPr>
        <p:spPr>
          <a:xfrm>
            <a:off x="565759" y="3307977"/>
            <a:ext cx="11060481" cy="209774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140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3DD8D72-0591-FC07-8369-FC92B87E2AEC}"/>
              </a:ext>
            </a:extLst>
          </p:cNvPr>
          <p:cNvGrpSpPr/>
          <p:nvPr/>
        </p:nvGrpSpPr>
        <p:grpSpPr>
          <a:xfrm>
            <a:off x="914399" y="4356847"/>
            <a:ext cx="11018666" cy="2154790"/>
            <a:chOff x="914399" y="4356847"/>
            <a:chExt cx="11018666" cy="2154790"/>
          </a:xfrm>
        </p:grpSpPr>
        <p:sp>
          <p:nvSpPr>
            <p:cNvPr id="6" name="矩形: 对角圆角 5">
              <a:extLst>
                <a:ext uri="{FF2B5EF4-FFF2-40B4-BE49-F238E27FC236}">
                  <a16:creationId xmlns:a16="http://schemas.microsoft.com/office/drawing/2014/main" id="{F2AB46C8-4700-B479-CC1F-E90E1B73F0BD}"/>
                </a:ext>
              </a:extLst>
            </p:cNvPr>
            <p:cNvSpPr/>
            <p:nvPr/>
          </p:nvSpPr>
          <p:spPr>
            <a:xfrm>
              <a:off x="914399" y="4652683"/>
              <a:ext cx="10797309" cy="1858954"/>
            </a:xfrm>
            <a:prstGeom prst="round2DiagRect">
              <a:avLst>
                <a:gd name="adj1" fmla="val 12173"/>
                <a:gd name="adj2" fmla="val 0"/>
              </a:avLst>
            </a:prstGeom>
            <a:solidFill>
              <a:srgbClr val="8C61FF">
                <a:alpha val="34902"/>
              </a:srgb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1600">
                  <a:solidFill>
                    <a:schemeClr val="tx1">
                      <a:lumMod val="75000"/>
                    </a:schemeClr>
                  </a:solidFill>
                </a:rPr>
                <a:t>使用技巧：</a:t>
              </a:r>
              <a:endParaRPr lang="en-US" altLang="zh-CN" sz="1600">
                <a:solidFill>
                  <a:schemeClr val="tx1">
                    <a:lumMod val="75000"/>
                  </a:schemeClr>
                </a:solidFill>
              </a:endParaRPr>
            </a:p>
            <a:p>
              <a:pPr marL="612000" lvl="1" indent="-342900">
                <a:lnSpc>
                  <a:spcPct val="15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Tab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键自动补全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 marL="612000" lvl="1" indent="-342900">
                <a:lnSpc>
                  <a:spcPct val="15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连续两次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Tab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键，给出操作提示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 marL="612000" lvl="1" indent="-342900">
                <a:lnSpc>
                  <a:spcPct val="15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使用上下箭头快速调出曾经使用过的命令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  <a:p>
              <a:pPr marL="612000" lvl="1" indent="-342900">
                <a:lnSpc>
                  <a:spcPct val="15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使用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clear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命令或</a:t>
              </a:r>
              <a:r>
                <a:rPr lang="en-US" altLang="zh-CN" sz="1200">
                  <a:solidFill>
                    <a:schemeClr val="tx1">
                      <a:lumMod val="75000"/>
                    </a:schemeClr>
                  </a:solidFill>
                </a:rPr>
                <a:t>Ctrl+l</a:t>
              </a:r>
              <a:r>
                <a:rPr lang="zh-CN" altLang="en-US" sz="1200">
                  <a:solidFill>
                    <a:schemeClr val="tx1">
                      <a:lumMod val="75000"/>
                    </a:schemeClr>
                  </a:solidFill>
                </a:rPr>
                <a:t>快捷键实现清屏</a:t>
              </a:r>
              <a:endParaRPr lang="en-US" altLang="zh-CN" sz="120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181EB32-F5DF-BC77-9A7C-C12988C71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7601" y="4356847"/>
              <a:ext cx="655464" cy="655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7309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629640"/>
          </a:xfrm>
        </p:spPr>
        <p:txBody>
          <a:bodyPr/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作用：显示指定目录下的内容</a:t>
            </a:r>
          </a:p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r>
              <a:rPr kumimoji="1" lang="zh-CN" altLang="en-US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ls</a:t>
            </a:r>
            <a:r>
              <a:rPr kumimoji="1" lang="zh-CN" altLang="en-US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[</a:t>
            </a:r>
            <a:r>
              <a:rPr kumimoji="1" lang="zh-CN" altLang="en-US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-al</a:t>
            </a:r>
            <a:r>
              <a:rPr kumimoji="1" lang="zh-CN" altLang="en-US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[</a:t>
            </a:r>
            <a:r>
              <a:rPr kumimoji="1" lang="en-US" altLang="zh-CN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dir</a:t>
            </a:r>
            <a:r>
              <a:rPr kumimoji="1" lang="zh-CN" altLang="en-US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</a:t>
            </a:r>
          </a:p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选项：</a:t>
            </a:r>
          </a:p>
          <a:p>
            <a:pPr marL="540000" algn="l" fontAlgn="auto">
              <a:lnSpc>
                <a:spcPct val="150000"/>
              </a:lnSpc>
            </a:pPr>
            <a:r>
              <a:rPr kumimoji="1" lang="zh-CN" altLang="en-US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-a</a:t>
            </a:r>
            <a:r>
              <a:rPr kumimoji="1" lang="en-US" altLang="zh-CN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kumimoji="1" lang="zh-CN" altLang="en-US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显示所有文件及目录 (. 开头的隐藏文件也会列出)</a:t>
            </a:r>
          </a:p>
          <a:p>
            <a:pPr marL="540000" algn="l" fontAlgn="auto">
              <a:lnSpc>
                <a:spcPct val="150000"/>
              </a:lnSpc>
            </a:pPr>
            <a:r>
              <a:rPr kumimoji="1" lang="zh-CN" altLang="en-US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-l</a:t>
            </a:r>
            <a:r>
              <a:rPr kumimoji="1" lang="en-US" altLang="zh-CN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r>
              <a:rPr kumimoji="1" lang="zh-CN" altLang="en-US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除文件名称外，同时将文件类型</a:t>
            </a:r>
            <a:r>
              <a:rPr kumimoji="1" lang="en-US" altLang="zh-CN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(d</a:t>
            </a:r>
            <a:r>
              <a:rPr kumimoji="1" lang="zh-CN" altLang="zh-CN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表示目录，</a:t>
            </a:r>
            <a:r>
              <a:rPr kumimoji="1" lang="en-US" altLang="zh-CN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kumimoji="1" lang="zh-CN" altLang="en-US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表示文件</a:t>
            </a:r>
            <a:r>
              <a:rPr kumimoji="1" lang="en-US" altLang="zh-CN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kumimoji="1" lang="zh-CN" altLang="en-US" sz="1400">
                <a:solidFill>
                  <a:schemeClr val="tx1">
                    <a:lumMod val="75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、权限、拥有者、文件大小等信息详细列出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2E90639D-D97F-1929-4F3C-11E56C96E6B4}"/>
              </a:ext>
            </a:extLst>
          </p:cNvPr>
          <p:cNvGrpSpPr/>
          <p:nvPr/>
        </p:nvGrpSpPr>
        <p:grpSpPr>
          <a:xfrm>
            <a:off x="782513" y="6062835"/>
            <a:ext cx="10698799" cy="448408"/>
            <a:chOff x="710880" y="5745685"/>
            <a:chExt cx="10317054" cy="448408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D3EC05B-D479-42E6-745A-1C0A2A1FA5C5}"/>
                </a:ext>
              </a:extLst>
            </p:cNvPr>
            <p:cNvSpPr/>
            <p:nvPr/>
          </p:nvSpPr>
          <p:spPr>
            <a:xfrm>
              <a:off x="710880" y="5745686"/>
              <a:ext cx="10317054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由于我们使用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ls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命令时经常需要加入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-l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选项，所以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Linux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为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ls -l</a:t>
              </a:r>
              <a:r>
                <a:rPr lang="zh-CN" altLang="en-US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命令提供了一种简写方式，即</a:t>
              </a:r>
              <a:r>
                <a:rPr lang="en-US" altLang="zh-CN" sz="14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ll</a:t>
              </a: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247C393-667F-4DD6-062B-36BC25604FFF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形 6" descr="发送 纯色填充">
              <a:extLst>
                <a:ext uri="{FF2B5EF4-FFF2-40B4-BE49-F238E27FC236}">
                  <a16:creationId xmlns:a16="http://schemas.microsoft.com/office/drawing/2014/main" id="{46F8CB0A-BD54-58BD-E8AA-1C466D012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4D28F1F-42DB-4942-784F-A8F27CF9D3BD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891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cd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673594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作用：用于切换当前工作目录，即进入指定目录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语法：</a:t>
            </a:r>
            <a:r>
              <a:rPr lang="zh-CN" altLang="en-US">
                <a:solidFill>
                  <a:srgbClr val="C00000"/>
                </a:solidFill>
              </a:rPr>
              <a:t>cd</a:t>
            </a:r>
            <a:r>
              <a:rPr lang="zh-CN" altLang="en-US"/>
              <a:t> [</a:t>
            </a:r>
            <a:r>
              <a:rPr lang="zh-CN" altLang="en-US">
                <a:solidFill>
                  <a:srgbClr val="001FEE"/>
                </a:solidFill>
              </a:rPr>
              <a:t>dirName</a:t>
            </a:r>
            <a:r>
              <a:rPr lang="zh-CN" altLang="en-US"/>
              <a:t>]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/>
              <a:t>说明：</a:t>
            </a:r>
          </a:p>
          <a:p>
            <a:pPr marL="360000">
              <a:spcBef>
                <a:spcPts val="600"/>
              </a:spcBef>
            </a:pPr>
            <a:r>
              <a:rPr lang="zh-CN" altLang="en-US" sz="1400">
                <a:solidFill>
                  <a:srgbClr val="001FEE"/>
                </a:solidFill>
              </a:rPr>
              <a:t>.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  表示目前所在的目录</a:t>
            </a:r>
          </a:p>
          <a:p>
            <a:pPr marL="360000">
              <a:spcBef>
                <a:spcPts val="600"/>
              </a:spcBef>
            </a:pPr>
            <a:r>
              <a:rPr lang="zh-CN" altLang="en-US" sz="1400">
                <a:solidFill>
                  <a:srgbClr val="001FEE"/>
                </a:solidFill>
              </a:rPr>
              <a:t>.. 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表示目前目录位置的上级目录</a:t>
            </a:r>
          </a:p>
          <a:p>
            <a:pPr marL="360000">
              <a:spcBef>
                <a:spcPts val="600"/>
              </a:spcBef>
            </a:pPr>
            <a:r>
              <a:rPr lang="zh-CN" altLang="en-US" sz="1400">
                <a:solidFill>
                  <a:srgbClr val="001FEE"/>
                </a:solidFill>
              </a:rPr>
              <a:t>~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  表示用户的home目录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sym typeface="+mn-ea"/>
              </a:rPr>
              <a:t>举例：</a:t>
            </a:r>
          </a:p>
          <a:p>
            <a:pPr marL="360000"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cd ..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切换到当前目录的上级目录</a:t>
            </a:r>
          </a:p>
          <a:p>
            <a:pPr marL="360000"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cd ~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切换到用户的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home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目录</a:t>
            </a:r>
          </a:p>
          <a:p>
            <a:pPr marL="360000"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cd /usr/local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切换到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/usr/local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目录</a:t>
            </a:r>
            <a:endParaRPr lang="en-US" altLang="zh-CN" sz="1400">
              <a:solidFill>
                <a:schemeClr val="tx1">
                  <a:lumMod val="50000"/>
                </a:schemeClr>
              </a:solidFill>
              <a:sym typeface="+mn-ea"/>
            </a:endParaRPr>
          </a:p>
          <a:p>
            <a:pPr marL="360000">
              <a:spcBef>
                <a:spcPts val="6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cd -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切换到上一次所在目录</a:t>
            </a:r>
          </a:p>
        </p:txBody>
      </p:sp>
    </p:spTree>
    <p:extLst>
      <p:ext uri="{BB962C8B-B14F-4D97-AF65-F5344CB8AC3E}">
        <p14:creationId xmlns:p14="http://schemas.microsoft.com/office/powerpoint/2010/main" val="352040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mkdir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3427500"/>
          </a:xfrm>
        </p:spPr>
        <p:txBody>
          <a:bodyPr/>
          <a:lstStyle/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作用：创建目录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r>
              <a:rPr kumimoji="1" lang="zh-CN" altLang="en-US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mkdir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[</a:t>
            </a:r>
            <a:r>
              <a:rPr kumimoji="1" lang="zh-CN" altLang="en-US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-p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</a:t>
            </a:r>
            <a:r>
              <a:rPr kumimoji="1" lang="zh-CN" altLang="en-US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dirName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说明：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-p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：确保目录名称存在，不存在的就创建一个。通过此选项，可以实现多层目录同时创建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mkdir itcast 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在当前目录下，建立一个名为itcast的子目录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mkdir -p itcast/test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在itcast目录中创建test子目录，若itcast目录不存在，则建立一个</a:t>
            </a:r>
          </a:p>
        </p:txBody>
      </p:sp>
    </p:spTree>
    <p:extLst>
      <p:ext uri="{BB962C8B-B14F-4D97-AF65-F5344CB8AC3E}">
        <p14:creationId xmlns:p14="http://schemas.microsoft.com/office/powerpoint/2010/main" val="3180936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rm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848841"/>
          </a:xfrm>
        </p:spPr>
        <p:txBody>
          <a:bodyPr/>
          <a:lstStyle/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作用：删除文件或者目录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语法：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rm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[</a:t>
            </a:r>
            <a:r>
              <a:rPr kumimoji="1" lang="zh-CN" altLang="en-US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rf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</a:t>
            </a:r>
            <a:r>
              <a:rPr kumimoji="1" lang="zh-CN" altLang="en-US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ame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说明：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</a:t>
            </a: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将目录及目录中所有文件（目录）逐一删除，即递归删除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-f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：无需确认，直接删除</a:t>
            </a: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rm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-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 itcast/   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删除名为itcast的目录和目录中所有文件，删除前需确认</a:t>
            </a: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rm -rf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itcast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无需确认，直接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删除名为itcast的目录和目录中所有文件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rm -f hello.txt  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无需确认，直接删除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hello.txt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</a:t>
            </a:r>
          </a:p>
        </p:txBody>
      </p:sp>
    </p:spTree>
    <p:extLst>
      <p:ext uri="{BB962C8B-B14F-4D97-AF65-F5344CB8AC3E}">
        <p14:creationId xmlns:p14="http://schemas.microsoft.com/office/powerpoint/2010/main" val="27296690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64BA2A4E-7168-1593-E4B4-B163877F0B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0204" y="1657444"/>
            <a:ext cx="7521289" cy="375559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查看目录命令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切换目录命令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创建目录命令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删除目录命令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D072A6-A381-A02B-188E-DCB7043B4108}"/>
              </a:ext>
            </a:extLst>
          </p:cNvPr>
          <p:cNvSpPr txBox="1"/>
          <p:nvPr/>
        </p:nvSpPr>
        <p:spPr>
          <a:xfrm>
            <a:off x="6226812" y="2333046"/>
            <a:ext cx="1210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ls  </a:t>
            </a:r>
            <a:r>
              <a:rPr lang="en-US" altLang="zh-CN" sz="16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[-al]</a:t>
            </a:r>
            <a:endParaRPr lang="zh-CN" altLang="en-US" sz="1600" dirty="0">
              <a:solidFill>
                <a:srgbClr val="3333FF"/>
              </a:solidFill>
              <a:latin typeface="Fira Code" panose="020B080905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6FA352-951F-854E-B17A-DB9B11D7AEAA}"/>
              </a:ext>
            </a:extLst>
          </p:cNvPr>
          <p:cNvSpPr txBox="1"/>
          <p:nvPr/>
        </p:nvSpPr>
        <p:spPr>
          <a:xfrm>
            <a:off x="6226812" y="2911268"/>
            <a:ext cx="1210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cd</a:t>
            </a:r>
            <a:endParaRPr lang="zh-CN" altLang="en-US" sz="1600" dirty="0">
              <a:solidFill>
                <a:srgbClr val="3333FF"/>
              </a:solidFill>
              <a:latin typeface="Fira Code" panose="020B08090500000200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5DA5DA9-FB97-80E9-327D-6BD6A4B44277}"/>
              </a:ext>
            </a:extLst>
          </p:cNvPr>
          <p:cNvSpPr txBox="1"/>
          <p:nvPr/>
        </p:nvSpPr>
        <p:spPr>
          <a:xfrm>
            <a:off x="6226811" y="3446336"/>
            <a:ext cx="1497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mkdir </a:t>
            </a:r>
            <a:r>
              <a:rPr lang="en-US" altLang="zh-CN" sz="16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[-p]</a:t>
            </a:r>
            <a:endParaRPr lang="zh-CN" altLang="en-US" sz="1600" dirty="0">
              <a:solidFill>
                <a:srgbClr val="3333FF"/>
              </a:solidFill>
              <a:latin typeface="Fira Code" panose="020B08090500000200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104195-650D-736E-A6EC-E8FBD13246AA}"/>
              </a:ext>
            </a:extLst>
          </p:cNvPr>
          <p:cNvSpPr txBox="1"/>
          <p:nvPr/>
        </p:nvSpPr>
        <p:spPr>
          <a:xfrm>
            <a:off x="6226810" y="4067713"/>
            <a:ext cx="1497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rm </a:t>
            </a:r>
            <a:r>
              <a:rPr lang="en-US" altLang="zh-CN" sz="16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[-rf]</a:t>
            </a:r>
            <a:endParaRPr lang="zh-CN" altLang="en-US" sz="1600" dirty="0">
              <a:solidFill>
                <a:srgbClr val="3333FF"/>
              </a:solidFill>
              <a:latin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2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319F8-7803-B20D-5366-9704E48FB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常用命令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8C8673-7CF9-8B50-E03D-9816904B2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60820"/>
          </a:xfrm>
        </p:spPr>
        <p:txBody>
          <a:bodyPr/>
          <a:lstStyle/>
          <a:p>
            <a:r>
              <a:rPr lang="zh-CN" altLang="en-US"/>
              <a:t>目录操作命令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文件操作命令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拷贝移动命令</a:t>
            </a:r>
            <a:endParaRPr lang="en-US" altLang="zh-CN"/>
          </a:p>
          <a:p>
            <a:r>
              <a:rPr lang="zh-CN" altLang="en-US"/>
              <a:t>打包压缩命令</a:t>
            </a:r>
            <a:endParaRPr lang="en-US" altLang="zh-CN"/>
          </a:p>
          <a:p>
            <a:r>
              <a:rPr lang="zh-CN" altLang="en-US"/>
              <a:t>文本编辑命令</a:t>
            </a:r>
            <a:endParaRPr lang="en-US" altLang="zh-CN"/>
          </a:p>
          <a:p>
            <a:r>
              <a:rPr lang="zh-CN" altLang="en-US"/>
              <a:t>查找命令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681DFF-7D52-98C1-FA78-EE866FA3E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417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cat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050983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作用：用于显示文件的所有内容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语法：cat [</a:t>
            </a:r>
            <a:r>
              <a:rPr lang="zh-CN" altLang="en-US">
                <a:solidFill>
                  <a:srgbClr val="001FEE"/>
                </a:solidFill>
              </a:rPr>
              <a:t>-n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] </a:t>
            </a:r>
            <a:r>
              <a:rPr lang="zh-CN" altLang="en-US">
                <a:solidFill>
                  <a:srgbClr val="001FEE"/>
                </a:solidFill>
              </a:rPr>
              <a:t>fileName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说明:</a:t>
            </a:r>
          </a:p>
          <a:p>
            <a:pPr marL="360000">
              <a:spcBef>
                <a:spcPts val="1200"/>
              </a:spcBef>
            </a:pPr>
            <a:r>
              <a:rPr lang="zh-CN" altLang="en-US" sz="1400">
                <a:solidFill>
                  <a:srgbClr val="001FEE"/>
                </a:solidFill>
              </a:rPr>
              <a:t>-n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 ：由1开始对所有输出的行数编号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举例：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cat /etc/profile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查看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/etc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目录下的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profile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文件内容</a:t>
            </a:r>
          </a:p>
        </p:txBody>
      </p:sp>
    </p:spTree>
    <p:extLst>
      <p:ext uri="{BB962C8B-B14F-4D97-AF65-F5344CB8AC3E}">
        <p14:creationId xmlns:p14="http://schemas.microsoft.com/office/powerpoint/2010/main" val="2859448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more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18417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作用：以分页的形式显示文件内容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语法： </a:t>
            </a:r>
            <a:r>
              <a:rPr lang="en-US" altLang="zh-CN">
                <a:solidFill>
                  <a:srgbClr val="C00000"/>
                </a:solidFill>
              </a:rPr>
              <a:t>more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rgbClr val="001FEE"/>
                </a:solidFill>
              </a:rPr>
              <a:t>fileName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操作说明:</a:t>
            </a:r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回车键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向下滚动一行</a:t>
            </a:r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空格键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向下滚动一屏</a:t>
            </a:r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	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返回上一屏</a:t>
            </a:r>
          </a:p>
          <a:p>
            <a:pPr marL="61200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q或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Ctrl+C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退出more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举例：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more /etc/profile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以分页方式显示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/etc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目录下的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profile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文件内容</a:t>
            </a:r>
          </a:p>
        </p:txBody>
      </p:sp>
    </p:spTree>
    <p:extLst>
      <p:ext uri="{BB962C8B-B14F-4D97-AF65-F5344CB8AC3E}">
        <p14:creationId xmlns:p14="http://schemas.microsoft.com/office/powerpoint/2010/main" val="1847602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head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3768158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作用：查看文件开头的内容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语法：</a:t>
            </a:r>
            <a:r>
              <a:rPr lang="en-US" altLang="zh-CN">
                <a:solidFill>
                  <a:srgbClr val="C00000"/>
                </a:solidFill>
              </a:rPr>
              <a:t>head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[</a:t>
            </a:r>
            <a:r>
              <a:rPr lang="en-US" altLang="zh-CN">
                <a:solidFill>
                  <a:srgbClr val="001FEE"/>
                </a:solidFill>
              </a:rPr>
              <a:t>-n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] </a:t>
            </a:r>
            <a:r>
              <a:rPr lang="zh-CN" altLang="en-US">
                <a:solidFill>
                  <a:srgbClr val="001FEE"/>
                </a:solidFill>
              </a:rPr>
              <a:t>fileName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说明: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rgbClr val="001FEE"/>
                </a:solidFill>
              </a:rPr>
              <a:t>-n</a:t>
            </a:r>
            <a:r>
              <a:rPr lang="zh-CN" altLang="en-US" sz="1400">
                <a:solidFill>
                  <a:srgbClr val="001FEE"/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：输出文件开头的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n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行内容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举例：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head 1.log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默认显示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1.log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文件开头的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10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行内容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head -20 1.log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显示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1.log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文件开头的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20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行内容</a:t>
            </a:r>
            <a:endParaRPr lang="zh-CN" altLang="en-US" sz="1400">
              <a:solidFill>
                <a:schemeClr val="tx1">
                  <a:lumMod val="50000"/>
                </a:schemeClr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2805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tail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601877"/>
          </a:xfrm>
        </p:spPr>
        <p:txBody>
          <a:bodyPr/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作用：查看文件末尾的内容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语法：</a:t>
            </a:r>
            <a:r>
              <a:rPr lang="en-US" altLang="zh-CN">
                <a:solidFill>
                  <a:srgbClr val="C00000"/>
                </a:solidFill>
              </a:rPr>
              <a:t>tail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[</a:t>
            </a:r>
            <a:r>
              <a:rPr lang="en-US" altLang="zh-CN">
                <a:solidFill>
                  <a:srgbClr val="001FEE"/>
                </a:solidFill>
              </a:rPr>
              <a:t>-nf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] </a:t>
            </a:r>
            <a:r>
              <a:rPr lang="zh-CN" altLang="en-US">
                <a:solidFill>
                  <a:srgbClr val="001FEE"/>
                </a:solidFill>
              </a:rPr>
              <a:t>fileName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说明: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rgbClr val="001FEE"/>
                </a:solidFill>
              </a:rPr>
              <a:t>-n</a:t>
            </a:r>
            <a:r>
              <a:rPr lang="zh-CN" altLang="en-US" sz="1400">
                <a:solidFill>
                  <a:srgbClr val="001FEE"/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：输出文件末尾的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n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行内容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rgbClr val="001FEE"/>
                </a:solidFill>
              </a:rPr>
              <a:t>-f</a:t>
            </a:r>
            <a:r>
              <a:rPr lang="zh-CN" altLang="en-US" sz="1400">
                <a:solidFill>
                  <a:srgbClr val="001FEE"/>
                </a:solidFill>
              </a:rPr>
              <a:t>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：动态读取文件末尾内容并显示，通常用于日志文件的内容输出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举例：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tail 1.log	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默认显示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1.log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文件末尾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10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行的内容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tail -20 1.log 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显示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1.log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末尾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20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行的内容</a:t>
            </a:r>
          </a:p>
          <a:p>
            <a:pPr marL="360000">
              <a:spcBef>
                <a:spcPts val="1200"/>
              </a:spcBef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tail -f 1.log 	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动态读取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1.log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文件末尾内容并显示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(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sym typeface="+mn-ea"/>
              </a:rPr>
              <a:t>实时刷新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sym typeface="+mn-ea"/>
              </a:rPr>
              <a:t>)</a:t>
            </a:r>
            <a:endParaRPr lang="en-US" altLang="zh-CN" sz="14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3489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5B9C58AB-8DF1-A041-E5B9-3DE6CBC467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84303" y="1858095"/>
            <a:ext cx="7915736" cy="314180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cat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、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more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、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head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、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tail 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都可以查看文件的内容，之间有什么区别？</a:t>
            </a:r>
            <a:endParaRPr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7200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cat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：查看文件内容，一次性查看所有内容。 适用于查看小文件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200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more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：分页查看文件内容。适用于查看大文件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200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head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：查看文件开头部分的内容。</a:t>
            </a:r>
            <a:endParaRPr lang="en-US" altLang="zh-CN" sz="1600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720000" lvl="1" indent="-342900">
              <a:lnSpc>
                <a:spcPct val="150000"/>
              </a:lnSpc>
              <a:spcBef>
                <a:spcPts val="600"/>
              </a:spcBef>
              <a:buFont typeface="+mj-ea"/>
              <a:buAutoNum type="circleNumDbPlain"/>
            </a:pP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tail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：查看文件结尾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部分</a:t>
            </a:r>
            <a:r>
              <a:rPr lang="zh-CN" altLang="en-US" sz="16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的内容。</a:t>
            </a:r>
            <a:endParaRPr lang="zh-CN" altLang="en-US" b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772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319F8-7803-B20D-5366-9704E48FB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常用命令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8C8673-7CF9-8B50-E03D-9816904B2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60820"/>
          </a:xfrm>
        </p:spPr>
        <p:txBody>
          <a:bodyPr/>
          <a:lstStyle/>
          <a:p>
            <a:r>
              <a:rPr lang="zh-CN" altLang="en-US"/>
              <a:t>目录操作命令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文件操作命令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拷贝移动命令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打包压缩命令</a:t>
            </a:r>
            <a:endParaRPr lang="en-US" altLang="zh-CN"/>
          </a:p>
          <a:p>
            <a:r>
              <a:rPr lang="zh-CN" altLang="en-US"/>
              <a:t>文本编辑命令</a:t>
            </a:r>
            <a:endParaRPr lang="en-US" altLang="zh-CN"/>
          </a:p>
          <a:p>
            <a:r>
              <a:rPr lang="zh-CN" altLang="en-US"/>
              <a:t>查找命令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681DFF-7D52-98C1-FA78-EE866FA3E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426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cp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404653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作用：用于复制文件或目录</a:t>
            </a:r>
            <a:endParaRPr kumimoji="1" lang="en-US" altLang="zh-CN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cp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[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-r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 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source dest</a:t>
            </a:r>
            <a:endParaRPr lang="en-US" altLang="zh-CN" sz="1600">
              <a:solidFill>
                <a:srgbClr val="001FEE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 latinLnBrk="1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选项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</a:t>
            </a:r>
          </a:p>
          <a:p>
            <a:pPr marL="360000" fontAlgn="auto" latinLnBrk="1">
              <a:lnSpc>
                <a:spcPct val="150000"/>
              </a:lnSpc>
              <a:spcBef>
                <a:spcPts val="1200"/>
              </a:spcBef>
            </a:pPr>
            <a:r>
              <a:rPr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-r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：如果复制的是目录需要使用此选项，此时将复制该目录下所有的子目录和文件</a:t>
            </a:r>
            <a:endParaRPr lang="en-US" altLang="zh-CN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  <a:p>
            <a:pPr marL="360000" algn="l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 hello.txt itcast/           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hello.txt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itcast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目录中</a:t>
            </a:r>
          </a:p>
          <a:p>
            <a:pPr marL="360000" algn="l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 hello.txt ./hi.txt          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hello.txt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复制到当前目录，并改名为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hi.txt</a:t>
            </a:r>
          </a:p>
          <a:p>
            <a:pPr marL="360000" algn="l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cp -r itcast/ ./itheima/        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itcast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目录和目录下所有文件复制到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目录下</a:t>
            </a:r>
          </a:p>
          <a:p>
            <a:pPr marL="360000" algn="l" fontAlgn="auto">
              <a:lnSpc>
                <a:spcPct val="150000"/>
              </a:lnSpc>
              <a:spcBef>
                <a:spcPts val="12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cp -r itcast/* ./itheima/       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目录下所有文件复制到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目录下</a:t>
            </a: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6938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mv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3633687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作用：为文件或目录</a:t>
            </a:r>
            <a:r>
              <a:rPr kumimoji="1" lang="zh-CN" altLang="en-US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重命名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、或将文件或目录</a:t>
            </a:r>
            <a:r>
              <a:rPr kumimoji="1" lang="zh-CN" altLang="en-US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移动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到其它位置 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zh-CN" altLang="en-US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第二个参数是已存在的目录执行移动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kumimoji="1" lang="zh-CN" altLang="en-US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mv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source dest</a:t>
            </a:r>
            <a:endParaRPr lang="en-US" altLang="zh-CN" sz="1600">
              <a:solidFill>
                <a:srgbClr val="001FEE"/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mv hello.txt hi.txt	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hello.txt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改名为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hi.txt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mv hi.txt itheima/		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将文件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hi.txt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移动到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目录中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mv hi.txt itheima/hello.txt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hi.txt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移动到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目录中，并改名为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hello.txt</a:t>
            </a: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mv itcast/ itheima/		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如果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目录不存在，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目录改名为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60000" algn="l" fontAlgn="auto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mv itcast/ itheima/	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如果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目录存在，将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目录移动到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itheima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目录中</a:t>
            </a: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93326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A371DBA4-2B05-7908-6EB6-B0C2D38AA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940" y="1564137"/>
            <a:ext cx="5760538" cy="2805334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拷贝与移动的命令是什么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mv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命令什么时候执行移动，什么时候执行重命名？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D2C57C-B8EB-92B5-7F05-11CF17C9FDD1}"/>
              </a:ext>
            </a:extLst>
          </p:cNvPr>
          <p:cNvSpPr txBox="1"/>
          <p:nvPr/>
        </p:nvSpPr>
        <p:spPr>
          <a:xfrm>
            <a:off x="7356731" y="2562936"/>
            <a:ext cx="1210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cp </a:t>
            </a:r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、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mv</a:t>
            </a:r>
            <a:endParaRPr lang="zh-CN" altLang="en-US" sz="1600" dirty="0">
              <a:solidFill>
                <a:srgbClr val="3333FF"/>
              </a:solidFill>
              <a:latin typeface="Fira Code" panose="020B08090500000200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C5F742-6469-8EC9-4493-7BAEDE72979B}"/>
              </a:ext>
            </a:extLst>
          </p:cNvPr>
          <p:cNvSpPr txBox="1"/>
          <p:nvPr/>
        </p:nvSpPr>
        <p:spPr>
          <a:xfrm>
            <a:off x="4295283" y="3493269"/>
            <a:ext cx="8543365" cy="876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mv</a:t>
            </a:r>
            <a:r>
              <a:rPr lang="en-US" altLang="zh-CN" sz="16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 source dest</a:t>
            </a:r>
            <a:r>
              <a:rPr lang="zh-CN" altLang="en-US" sz="1600">
                <a:solidFill>
                  <a:srgbClr val="3333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如果第二个参数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dest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是已存在的目录，就执行移动；</a:t>
            </a:r>
            <a:endParaRPr lang="en-US" altLang="zh-CN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 </a:t>
            </a:r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否则就是重命名。</a:t>
            </a:r>
            <a:endParaRPr lang="zh-CN" altLang="en-US" sz="1600" dirty="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783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319F8-7803-B20D-5366-9704E48FB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常用命令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8C8673-7CF9-8B50-E03D-9816904B2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60820"/>
          </a:xfrm>
        </p:spPr>
        <p:txBody>
          <a:bodyPr/>
          <a:lstStyle/>
          <a:p>
            <a:r>
              <a:rPr lang="zh-CN" altLang="en-US"/>
              <a:t>目录操作命令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文件操作命令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拷贝移动命令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打包压缩命令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文本编辑命令</a:t>
            </a:r>
            <a:endParaRPr lang="en-US" altLang="zh-CN"/>
          </a:p>
          <a:p>
            <a:r>
              <a:rPr lang="zh-CN" altLang="en-US"/>
              <a:t>查找命令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681DFF-7D52-98C1-FA78-EE866FA3E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8224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tar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15167" cy="5363877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作用：对文件进行打包、解包、压缩、解压</a:t>
            </a:r>
          </a:p>
          <a:p>
            <a:pPr marL="285750" indent="-28575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tar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[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-zcxvf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 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fileName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[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files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</a:t>
            </a:r>
          </a:p>
          <a:p>
            <a:pPr marL="285750" indent="-28575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说明：</a:t>
            </a:r>
            <a:endParaRPr kumimoji="1" lang="en-US" altLang="zh-CN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包文件后缀为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.tar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表示只是完成了打包，并没有压缩</a:t>
            </a: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包文件后缀为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.tar.gz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表示打包的同时还进行了压缩</a:t>
            </a:r>
          </a:p>
          <a:p>
            <a:pPr marL="285750" indent="-285750" fontAlgn="auto">
              <a:lnSpc>
                <a:spcPct val="15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选项：</a:t>
            </a: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-z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：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z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代表的是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gzip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，通过gzip命令处理文件，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gzip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可以对文件压缩或者解压</a:t>
            </a: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-c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：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c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代表的是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create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，即创建新的包文件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：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代表的是extract，实现从包文件中还原文件</a:t>
            </a: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-v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：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代表的是verbose，显示命令的执行过程</a:t>
            </a:r>
          </a:p>
          <a:p>
            <a:pPr marL="540000" indent="-285750" fontAlgn="auto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-f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：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代表的是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file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，用于指定包文件的名称</a:t>
            </a: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96785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tar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436509" cy="3391641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打包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kumimoji="1" lang="zh-CN" altLang="en-US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indent="-28575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tar -cvf hello.tar hello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将当前目录下所有文件打包，打包后的文件名为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hello.tar</a:t>
            </a:r>
          </a:p>
          <a:p>
            <a:pPr marL="612000" indent="-28575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tar -zcvf hello.tar.gz hello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将当前目录下所有文件打包并压缩，打包后的文件名为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hello.tar.gz</a:t>
            </a:r>
          </a:p>
          <a:p>
            <a:pPr indent="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None/>
            </a:pPr>
            <a:endParaRPr kumimoji="1" lang="en-US" altLang="zh-CN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解包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endParaRPr kumimoji="1" lang="zh-CN" altLang="en-US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indent="-28575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tar -xvf hello.tar	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hello.tar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文件进行解包，并将解包后的文件放在当前目录</a:t>
            </a:r>
          </a:p>
          <a:p>
            <a:pPr marL="612000" indent="-28575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tar -zxvf hello.tar.gz    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hello.tar.gz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文件进行解压，并将解压后的文件放在当前目录</a:t>
            </a: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612000" indent="-285750" algn="l" fontAlgn="auto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en-US" altLang="zh-CN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tar -zxvf hello.tar.gz -C /usr/local  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hello.tar.gz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文件进行解压，解压到指定的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/usr/local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目录中</a:t>
            </a:r>
          </a:p>
        </p:txBody>
      </p:sp>
    </p:spTree>
    <p:extLst>
      <p:ext uri="{BB962C8B-B14F-4D97-AF65-F5344CB8AC3E}">
        <p14:creationId xmlns:p14="http://schemas.microsoft.com/office/powerpoint/2010/main" val="4277177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BB0FE77B-56FE-82CD-102E-418194570C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2163" y="1470830"/>
            <a:ext cx="7399908" cy="371076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如何将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itheima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目录下的所有内容，打成一个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tar.gz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的压缩包？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612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</a:rPr>
              <a:t>tar </a:t>
            </a:r>
            <a:r>
              <a:rPr lang="en-US" altLang="zh-CN" sz="1600" b="0">
                <a:solidFill>
                  <a:srgbClr val="3333FF"/>
                </a:solidFill>
                <a:ea typeface="Fira Code" panose="020B0809050000020004" pitchFamily="49" charset="0"/>
              </a:rPr>
              <a:t>-zcvf</a:t>
            </a: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itheima.tar.gz itheima</a:t>
            </a:r>
            <a:endParaRPr lang="en-US" altLang="zh-CN" b="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如果将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tomcat.tar.gz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压缩包中的内容解压出来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?</a:t>
            </a:r>
          </a:p>
          <a:p>
            <a:pPr marL="612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</a:rPr>
              <a:t>tar </a:t>
            </a:r>
            <a:r>
              <a:rPr lang="en-US" altLang="zh-CN" sz="1600" b="0">
                <a:solidFill>
                  <a:srgbClr val="3333FF"/>
                </a:solidFill>
                <a:ea typeface="Fira Code" panose="020B0809050000020004" pitchFamily="49" charset="0"/>
              </a:rPr>
              <a:t>-zxvf</a:t>
            </a: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tomcat.tar.gz</a:t>
            </a:r>
          </a:p>
          <a:p>
            <a:pPr marL="612000"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</a:rPr>
              <a:t>tar </a:t>
            </a:r>
            <a:r>
              <a:rPr lang="en-US" altLang="zh-CN" sz="1600" b="0">
                <a:solidFill>
                  <a:srgbClr val="3333FF"/>
                </a:solidFill>
                <a:ea typeface="Fira Code" panose="020B0809050000020004" pitchFamily="49" charset="0"/>
              </a:rPr>
              <a:t>-zxvf</a:t>
            </a: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</a:rPr>
              <a:t> 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tomcat.tar.gz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600" b="0">
                <a:solidFill>
                  <a:srgbClr val="3333FF"/>
                </a:solidFill>
                <a:ea typeface="Fira Code" panose="020B0809050000020004" pitchFamily="49" charset="0"/>
              </a:rPr>
              <a:t>-C</a:t>
            </a:r>
            <a:r>
              <a:rPr lang="en-US" altLang="zh-CN" sz="1600" b="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</a:rPr>
              <a:t> </a:t>
            </a:r>
            <a:r>
              <a:rPr lang="en-US" altLang="zh-CN" sz="1600" b="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/usr/local</a:t>
            </a:r>
          </a:p>
        </p:txBody>
      </p:sp>
    </p:spTree>
    <p:extLst>
      <p:ext uri="{BB962C8B-B14F-4D97-AF65-F5344CB8AC3E}">
        <p14:creationId xmlns:p14="http://schemas.microsoft.com/office/powerpoint/2010/main" val="671308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319F8-7803-B20D-5366-9704E48FB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常用命令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8C8673-7CF9-8B50-E03D-9816904B2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60820"/>
          </a:xfrm>
        </p:spPr>
        <p:txBody>
          <a:bodyPr/>
          <a:lstStyle/>
          <a:p>
            <a:r>
              <a:rPr lang="zh-CN" altLang="en-US"/>
              <a:t>目录操作命令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文件操作命令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拷贝移动命令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打包压缩命令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文本编辑命令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查找命令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681DFF-7D52-98C1-FA78-EE866FA3E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109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vi/vim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2378630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作用：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vi</a:t>
            </a:r>
            <a:r>
              <a:rPr kumimoji="1" lang="zh-CN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命令是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Linux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系统提供的一个文本编辑工具，可以对文件内容进行编辑，类似于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Windows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中的记事本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vi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r>
              <a:rPr kumimoji="1" lang="en-US" altLang="zh-CN" sz="1600">
                <a:solidFill>
                  <a:srgbClr val="001FEE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fileName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说明：</a:t>
            </a:r>
          </a:p>
          <a:p>
            <a:pPr marL="360000" indent="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vim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是从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发展来的一个功能更加强大的文本编辑工具，在编辑文件时可以对文本内容进行着色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更常用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</a:p>
          <a:p>
            <a:pPr marL="360000">
              <a:lnSpc>
                <a:spcPct val="150000"/>
              </a:lnSpc>
              <a:spcBef>
                <a:spcPts val="600"/>
              </a:spcBef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kumimoji="1" lang="zh-CN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要使用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vim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命令，需要我们自己完成安装。可以使用下面的命令来完成安装：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yum install vim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AF02F3F-0780-8673-B68C-59413AC1E3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66" b="4532"/>
          <a:stretch/>
        </p:blipFill>
        <p:spPr>
          <a:xfrm>
            <a:off x="1399737" y="3545734"/>
            <a:ext cx="4077053" cy="2356024"/>
          </a:xfrm>
          <a:prstGeom prst="roundRect">
            <a:avLst>
              <a:gd name="adj" fmla="val 2221"/>
            </a:avLst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5DA91FC-DBA7-7C2A-6D6F-6880CB5F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83" y="3545734"/>
            <a:ext cx="4257245" cy="2356024"/>
          </a:xfrm>
          <a:prstGeom prst="roundRect">
            <a:avLst>
              <a:gd name="adj" fmla="val 2221"/>
            </a:avLst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BF4230-59BF-B030-4DAD-15FA14DEF70F}"/>
              </a:ext>
            </a:extLst>
          </p:cNvPr>
          <p:cNvSpPr txBox="1"/>
          <p:nvPr/>
        </p:nvSpPr>
        <p:spPr>
          <a:xfrm>
            <a:off x="3065930" y="5931517"/>
            <a:ext cx="8691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vi </a:t>
            </a:r>
            <a:r>
              <a:rPr lang="zh-CN" altLang="en-US" sz="1400">
                <a:solidFill>
                  <a:srgbClr val="3333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效果</a:t>
            </a:r>
            <a:endParaRPr lang="zh-CN" altLang="en-US" sz="1400" dirty="0">
              <a:solidFill>
                <a:srgbClr val="3333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0A0E5A-0BC8-3ADB-469C-C5EF1B822FBF}"/>
              </a:ext>
            </a:extLst>
          </p:cNvPr>
          <p:cNvSpPr txBox="1"/>
          <p:nvPr/>
        </p:nvSpPr>
        <p:spPr>
          <a:xfrm>
            <a:off x="8298130" y="5931516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vim </a:t>
            </a:r>
            <a:r>
              <a:rPr lang="zh-CN" altLang="en-US" sz="1400">
                <a:solidFill>
                  <a:srgbClr val="3333FF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效果</a:t>
            </a:r>
            <a:endParaRPr lang="zh-CN" altLang="en-US" sz="1400" dirty="0">
              <a:solidFill>
                <a:srgbClr val="3333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898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vim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93857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sym typeface="+mn-ea"/>
              </a:rPr>
              <a:t>作用：对文件内容进行编辑，</a:t>
            </a:r>
            <a:r>
              <a:rPr kumimoji="1"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sym typeface="+mn-ea"/>
              </a:rPr>
              <a:t>vim</a:t>
            </a:r>
            <a:r>
              <a:rPr kumimoji="1"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sym typeface="+mn-ea"/>
              </a:rPr>
              <a:t>其实就是一个文本编辑器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sym typeface="+mn-ea"/>
              </a:rPr>
              <a:t>vim</a:t>
            </a:r>
            <a:r>
              <a:rPr kumimoji="1"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sym typeface="+mn-ea"/>
              </a:rPr>
              <a:t> fileName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FA51E9-3A99-1B8B-4B0C-31A5F1BDD2CA}"/>
              </a:ext>
            </a:extLst>
          </p:cNvPr>
          <p:cNvGrpSpPr/>
          <p:nvPr/>
        </p:nvGrpSpPr>
        <p:grpSpPr>
          <a:xfrm>
            <a:off x="800878" y="2303178"/>
            <a:ext cx="5032310" cy="3598581"/>
            <a:chOff x="800878" y="2303178"/>
            <a:chExt cx="5032310" cy="3598581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AE7A729B-951E-81F5-5D69-0BCFA1CB8A86}"/>
                </a:ext>
              </a:extLst>
            </p:cNvPr>
            <p:cNvSpPr/>
            <p:nvPr/>
          </p:nvSpPr>
          <p:spPr>
            <a:xfrm>
              <a:off x="2327987" y="2303178"/>
              <a:ext cx="2006081" cy="57849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vim filename</a:t>
              </a:r>
              <a:endParaRPr lang="zh-CN" altLang="en-US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998B7255-E65C-224B-3C9D-A71C511D923D}"/>
                </a:ext>
              </a:extLst>
            </p:cNvPr>
            <p:cNvSpPr/>
            <p:nvPr/>
          </p:nvSpPr>
          <p:spPr>
            <a:xfrm>
              <a:off x="2327988" y="3576736"/>
              <a:ext cx="2006081" cy="57849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</a:rPr>
                <a:t>命令模式</a:t>
              </a: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74D4816A-FA80-560E-BBD7-D4E80090FCBB}"/>
                </a:ext>
              </a:extLst>
            </p:cNvPr>
            <p:cNvSpPr/>
            <p:nvPr/>
          </p:nvSpPr>
          <p:spPr>
            <a:xfrm>
              <a:off x="800878" y="5323261"/>
              <a:ext cx="2006081" cy="578498"/>
            </a:xfrm>
            <a:prstGeom prst="roundRect">
              <a:avLst>
                <a:gd name="adj" fmla="val 1129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</a:rPr>
                <a:t>插入模式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387A858B-49C4-B19F-D9AA-C93CA40A1277}"/>
                </a:ext>
              </a:extLst>
            </p:cNvPr>
            <p:cNvSpPr/>
            <p:nvPr/>
          </p:nvSpPr>
          <p:spPr>
            <a:xfrm>
              <a:off x="3827107" y="5323261"/>
              <a:ext cx="2006081" cy="578498"/>
            </a:xfrm>
            <a:prstGeom prst="roundRect">
              <a:avLst>
                <a:gd name="adj" fmla="val 1129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</a:rPr>
                <a:t>底行模式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0B9544F5-989B-29CB-2385-80E2DCE14958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>
              <a:off x="3331028" y="2881676"/>
              <a:ext cx="1" cy="695060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9C09967D-8B25-2E24-0194-390E88C7403D}"/>
                </a:ext>
              </a:extLst>
            </p:cNvPr>
            <p:cNvCxnSpPr/>
            <p:nvPr/>
          </p:nvCxnSpPr>
          <p:spPr>
            <a:xfrm flipH="1">
              <a:off x="1936101" y="4155234"/>
              <a:ext cx="783772" cy="1168027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5AE7C64-0EC8-F219-A3B3-9D8AFE8CB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0220" y="4088364"/>
              <a:ext cx="881743" cy="1234897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957919DA-0C70-B6AD-BB13-6B993AB9C925}"/>
                </a:ext>
              </a:extLst>
            </p:cNvPr>
            <p:cNvCxnSpPr>
              <a:cxnSpLocks/>
            </p:cNvCxnSpPr>
            <p:nvPr/>
          </p:nvCxnSpPr>
          <p:spPr>
            <a:xfrm>
              <a:off x="3946849" y="4155234"/>
              <a:ext cx="634482" cy="1168027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0E8CD822-F964-3B84-F92E-3769A11750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4090" y="4088364"/>
              <a:ext cx="662474" cy="1223942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DE53592-DD36-E2DF-E8F7-70CF124DD19E}"/>
                </a:ext>
              </a:extLst>
            </p:cNvPr>
            <p:cNvSpPr txBox="1"/>
            <p:nvPr/>
          </p:nvSpPr>
          <p:spPr>
            <a:xfrm>
              <a:off x="2337790" y="4695506"/>
              <a:ext cx="690794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i,a,o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1791A036-0A1F-A8B4-080B-DD629176A422}"/>
                </a:ext>
              </a:extLst>
            </p:cNvPr>
            <p:cNvSpPr txBox="1"/>
            <p:nvPr/>
          </p:nvSpPr>
          <p:spPr>
            <a:xfrm>
              <a:off x="1554817" y="4376120"/>
              <a:ext cx="498201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ESC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DBA14FB-E246-3E75-E4B3-0F63AD37EB46}"/>
                </a:ext>
              </a:extLst>
            </p:cNvPr>
            <p:cNvSpPr txBox="1"/>
            <p:nvPr/>
          </p:nvSpPr>
          <p:spPr>
            <a:xfrm>
              <a:off x="4028462" y="4744357"/>
              <a:ext cx="305606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: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3A342CE8-E7C5-BF55-9E38-11FED284B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5955" y="2182378"/>
            <a:ext cx="3217940" cy="2067987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284AC42A-8C60-8905-8415-F58B0FCD3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39" y="4593929"/>
            <a:ext cx="3557154" cy="19809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E8264A7-8C31-9C48-14A8-32E35C178982}"/>
              </a:ext>
            </a:extLst>
          </p:cNvPr>
          <p:cNvSpPr txBox="1"/>
          <p:nvPr/>
        </p:nvSpPr>
        <p:spPr>
          <a:xfrm>
            <a:off x="4610375" y="4648313"/>
            <a:ext cx="439544" cy="276999"/>
          </a:xfrm>
          <a:prstGeom prst="rect">
            <a:avLst/>
          </a:prstGeom>
        </p:spPr>
        <p:txBody>
          <a:bodyPr wrap="none" rtlCol="0" anchor="ctr" anchorCtr="0">
            <a:spAutoFit/>
          </a:bodyPr>
          <a:lstStyle/>
          <a:p>
            <a:pPr algn="ctr"/>
            <a:r>
              <a:rPr kumimoji="1" lang="en-US" altLang="zh-CN" sz="1200">
                <a:solidFill>
                  <a:srgbClr val="AD2B26"/>
                </a:solidFill>
                <a:latin typeface="Consolas" panose="020B0609020204030204" pitchFamily="49" charset="0"/>
              </a:rPr>
              <a:t>ESC</a:t>
            </a:r>
            <a:endParaRPr kumimoji="1" lang="zh-CN" altLang="en-US" sz="1200" dirty="0">
              <a:solidFill>
                <a:srgbClr val="AD2B26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13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8556BF-9132-F982-906C-1A1DF5C75B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9"/>
            <a:ext cx="7170081" cy="319180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vi/vim</a:t>
            </a:r>
            <a:r>
              <a:rPr lang="zh-CN" altLang="en-US" sz="1800"/>
              <a:t>编辑器三种模式的切换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C3F1627-F0D9-180B-513F-64C7D11A663D}"/>
              </a:ext>
            </a:extLst>
          </p:cNvPr>
          <p:cNvGrpSpPr/>
          <p:nvPr/>
        </p:nvGrpSpPr>
        <p:grpSpPr>
          <a:xfrm>
            <a:off x="4397518" y="3217579"/>
            <a:ext cx="4756642" cy="3477862"/>
            <a:chOff x="800878" y="2303178"/>
            <a:chExt cx="5032310" cy="359858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E46D776-6286-B7A2-FB38-9FED3C430822}"/>
                </a:ext>
              </a:extLst>
            </p:cNvPr>
            <p:cNvSpPr/>
            <p:nvPr/>
          </p:nvSpPr>
          <p:spPr>
            <a:xfrm>
              <a:off x="2327987" y="2303178"/>
              <a:ext cx="2006081" cy="57849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solidFill>
                    <a:schemeClr val="tx1">
                      <a:lumMod val="50000"/>
                    </a:schemeClr>
                  </a:solidFill>
                </a:rPr>
                <a:t>vim filename</a:t>
              </a:r>
              <a:endParaRPr lang="zh-CN" altLang="en-US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9AF2EA80-98E8-2735-6614-41D961687668}"/>
                </a:ext>
              </a:extLst>
            </p:cNvPr>
            <p:cNvSpPr/>
            <p:nvPr/>
          </p:nvSpPr>
          <p:spPr>
            <a:xfrm>
              <a:off x="2327988" y="3576736"/>
              <a:ext cx="2006081" cy="57849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</a:rPr>
                <a:t>命令模式</a:t>
              </a:r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45A9668-BDCC-7F83-3858-C0216172E2AA}"/>
                </a:ext>
              </a:extLst>
            </p:cNvPr>
            <p:cNvSpPr/>
            <p:nvPr/>
          </p:nvSpPr>
          <p:spPr>
            <a:xfrm>
              <a:off x="800878" y="5323261"/>
              <a:ext cx="2006081" cy="578498"/>
            </a:xfrm>
            <a:prstGeom prst="roundRect">
              <a:avLst>
                <a:gd name="adj" fmla="val 1129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</a:rPr>
                <a:t>插入模式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ADBE567B-8D9A-0730-96DA-D94576B015D7}"/>
                </a:ext>
              </a:extLst>
            </p:cNvPr>
            <p:cNvSpPr/>
            <p:nvPr/>
          </p:nvSpPr>
          <p:spPr>
            <a:xfrm>
              <a:off x="3827107" y="5323261"/>
              <a:ext cx="2006081" cy="578498"/>
            </a:xfrm>
            <a:prstGeom prst="roundRect">
              <a:avLst>
                <a:gd name="adj" fmla="val 11290"/>
              </a:avLst>
            </a:prstGeom>
            <a:solidFill>
              <a:schemeClr val="tx1">
                <a:lumMod val="20000"/>
                <a:lumOff val="80000"/>
              </a:schemeClr>
            </a:solidFill>
            <a:ln w="6350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>
                  <a:solidFill>
                    <a:schemeClr val="tx1">
                      <a:lumMod val="50000"/>
                    </a:schemeClr>
                  </a:solidFill>
                </a:rPr>
                <a:t>底行模式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1B7C0CB7-0B39-603B-511D-1B4BB954C525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3331028" y="2881676"/>
              <a:ext cx="1" cy="695060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3A32E1F-C828-DFEC-90A1-F39DE21C7B08}"/>
                </a:ext>
              </a:extLst>
            </p:cNvPr>
            <p:cNvCxnSpPr/>
            <p:nvPr/>
          </p:nvCxnSpPr>
          <p:spPr>
            <a:xfrm flipH="1">
              <a:off x="1936101" y="4155234"/>
              <a:ext cx="783772" cy="1168027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1B877706-C6CC-D936-B9AA-55C28EE2F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0220" y="4088364"/>
              <a:ext cx="881743" cy="1234897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6A2A253D-B323-A0D8-95F4-D8A052FFF661}"/>
                </a:ext>
              </a:extLst>
            </p:cNvPr>
            <p:cNvCxnSpPr>
              <a:cxnSpLocks/>
            </p:cNvCxnSpPr>
            <p:nvPr/>
          </p:nvCxnSpPr>
          <p:spPr>
            <a:xfrm>
              <a:off x="3946849" y="4155234"/>
              <a:ext cx="634482" cy="1168027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53AB545A-1C32-342D-0AB5-5C9147E96C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64090" y="4088364"/>
              <a:ext cx="662474" cy="1223942"/>
            </a:xfrm>
            <a:prstGeom prst="straightConnector1">
              <a:avLst/>
            </a:prstGeom>
            <a:ln w="12700">
              <a:solidFill>
                <a:schemeClr val="tx1">
                  <a:lumMod val="60000"/>
                  <a:lumOff val="4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073490B-3770-883D-1448-70D7EBD7D263}"/>
                </a:ext>
              </a:extLst>
            </p:cNvPr>
            <p:cNvSpPr txBox="1"/>
            <p:nvPr/>
          </p:nvSpPr>
          <p:spPr>
            <a:xfrm>
              <a:off x="2337790" y="4695506"/>
              <a:ext cx="690794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i,a,o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D1E5B6-0A65-AF6B-48F7-BD414097078E}"/>
                </a:ext>
              </a:extLst>
            </p:cNvPr>
            <p:cNvSpPr txBox="1"/>
            <p:nvPr/>
          </p:nvSpPr>
          <p:spPr>
            <a:xfrm>
              <a:off x="1554817" y="4376120"/>
              <a:ext cx="498201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ESC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6EE4733-E23A-CFFB-32FB-E3B14CCD9891}"/>
                </a:ext>
              </a:extLst>
            </p:cNvPr>
            <p:cNvSpPr txBox="1"/>
            <p:nvPr/>
          </p:nvSpPr>
          <p:spPr>
            <a:xfrm>
              <a:off x="4028462" y="4744357"/>
              <a:ext cx="305606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: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CAD9E35-46B7-AC74-9A9C-AB1AAC0976E3}"/>
                </a:ext>
              </a:extLst>
            </p:cNvPr>
            <p:cNvSpPr txBox="1"/>
            <p:nvPr/>
          </p:nvSpPr>
          <p:spPr>
            <a:xfrm>
              <a:off x="4581331" y="4412366"/>
              <a:ext cx="498201" cy="363127"/>
            </a:xfrm>
            <a:prstGeom prst="rect">
              <a:avLst/>
            </a:prstGeom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kumimoji="1" lang="en-US" altLang="zh-CN" sz="1200">
                  <a:solidFill>
                    <a:srgbClr val="AD2B26"/>
                  </a:solidFill>
                  <a:latin typeface="Consolas" panose="020B0609020204030204" pitchFamily="49" charset="0"/>
                </a:rPr>
                <a:t>ESC</a:t>
              </a:r>
              <a:endParaRPr kumimoji="1" lang="zh-CN" altLang="en-US" sz="1200" dirty="0">
                <a:solidFill>
                  <a:srgbClr val="AD2B26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571E6D7-C02D-2F05-71BA-9BCF05BB068D}"/>
              </a:ext>
            </a:extLst>
          </p:cNvPr>
          <p:cNvSpPr txBox="1"/>
          <p:nvPr/>
        </p:nvSpPr>
        <p:spPr>
          <a:xfrm>
            <a:off x="9222958" y="6024136"/>
            <a:ext cx="1681871" cy="619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C00000"/>
                </a:solidFill>
              </a:rPr>
              <a:t>:wq --&gt; </a:t>
            </a:r>
            <a:r>
              <a:rPr lang="zh-CN" altLang="en-US" sz="1200">
                <a:solidFill>
                  <a:srgbClr val="C00000"/>
                </a:solidFill>
              </a:rPr>
              <a:t>保存并退出</a:t>
            </a:r>
            <a:endParaRPr lang="en-US" altLang="zh-CN" sz="120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rgbClr val="C00000"/>
                </a:solidFill>
              </a:rPr>
              <a:t>:q! --&gt; </a:t>
            </a:r>
            <a:r>
              <a:rPr lang="zh-CN" altLang="en-US" sz="1200">
                <a:solidFill>
                  <a:srgbClr val="C00000"/>
                </a:solidFill>
              </a:rPr>
              <a:t>退出</a:t>
            </a:r>
          </a:p>
        </p:txBody>
      </p:sp>
    </p:spTree>
    <p:extLst>
      <p:ext uri="{BB962C8B-B14F-4D97-AF65-F5344CB8AC3E}">
        <p14:creationId xmlns:p14="http://schemas.microsoft.com/office/powerpoint/2010/main" val="26584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86319F8-7803-B20D-5366-9704E48FB5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常用命令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8C8673-7CF9-8B50-E03D-9816904B2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260820"/>
          </a:xfrm>
        </p:spPr>
        <p:txBody>
          <a:bodyPr/>
          <a:lstStyle/>
          <a:p>
            <a:r>
              <a:rPr lang="zh-CN" altLang="en-US"/>
              <a:t>目录操作命令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文件操作命令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拷贝移动命令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打包压缩命令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文本编辑命令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查找命令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4A681DFF-7D52-98C1-FA78-EE866FA3E5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2541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find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2472759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作用：在指定目录下查找文件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find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dirName </a:t>
            </a:r>
            <a:r>
              <a:rPr kumimoji="1" lang="en-US" altLang="zh-CN" sz="16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-option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fileName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举例：</a:t>
            </a:r>
          </a:p>
          <a:p>
            <a:pPr marL="54000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find . –name "*.log"		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在当前目录及其子目录下查找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log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结尾文件</a:t>
            </a:r>
          </a:p>
          <a:p>
            <a:pPr marL="54000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find /itcast -name "*. log"	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在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/itcast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目录及其子目录下查找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.log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结尾的文件</a:t>
            </a:r>
          </a:p>
        </p:txBody>
      </p:sp>
    </p:spTree>
    <p:extLst>
      <p:ext uri="{BB962C8B-B14F-4D97-AF65-F5344CB8AC3E}">
        <p14:creationId xmlns:p14="http://schemas.microsoft.com/office/powerpoint/2010/main" val="22861603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grep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09453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作用：从指定文件中查找指定的文本内容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语法：</a:t>
            </a:r>
            <a:r>
              <a:rPr kumimoji="1" lang="en-US" altLang="zh-CN" sz="16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grep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[</a:t>
            </a:r>
            <a:r>
              <a:rPr kumimoji="1" lang="en-US" altLang="zh-CN" sz="16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-inAB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] word fileName</a:t>
            </a: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选项</a:t>
            </a: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</a:t>
            </a:r>
          </a:p>
          <a:p>
            <a:pPr marL="360000" indent="0" fontAlgn="auto">
              <a:lnSpc>
                <a:spcPct val="150000"/>
              </a:lnSpc>
              <a:buNone/>
            </a:pP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-i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检索的关键字忽略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gnore)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大小写</a:t>
            </a:r>
          </a:p>
          <a:p>
            <a:pPr marL="360000" indent="0" fontAlgn="auto">
              <a:lnSpc>
                <a:spcPct val="150000"/>
              </a:lnSpc>
              <a:buNone/>
            </a:pP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-n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显示关键字所在的这一行的行号</a:t>
            </a:r>
          </a:p>
          <a:p>
            <a:pPr marL="360000" indent="0" fontAlgn="auto">
              <a:lnSpc>
                <a:spcPct val="150000"/>
              </a:lnSpc>
              <a:buNone/>
            </a:pP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-A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输出关键字所在行及之后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fter)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的几行记录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如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:-A5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表示输出关键字所在行之后的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5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行记录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</a:p>
          <a:p>
            <a:pPr marL="360000">
              <a:lnSpc>
                <a:spcPct val="150000"/>
              </a:lnSpc>
            </a:pP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-B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输出关键字所在行及之前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en-US" altLang="zh-CN" sz="1400">
                <a:solidFill>
                  <a:srgbClr val="3561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B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efore)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的几行记录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如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:-B5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表示输出关键字所在行之前的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5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行记录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举例：</a:t>
            </a:r>
          </a:p>
          <a:p>
            <a:pPr marL="360000" fontAlgn="auto">
              <a:lnSpc>
                <a:spcPct val="150000"/>
              </a:lnSpc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grep Hello HelloWorld.java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查找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HelloWorld.java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文件中出现的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字符串的位置</a:t>
            </a:r>
          </a:p>
          <a:p>
            <a:pPr marL="360000" fontAlgn="auto">
              <a:lnSpc>
                <a:spcPct val="150000"/>
              </a:lnSpc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grep hello *.java	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查找当前目录中所有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.java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结尾的文件中包含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字符串的位置</a:t>
            </a:r>
          </a:p>
        </p:txBody>
      </p:sp>
    </p:spTree>
    <p:extLst>
      <p:ext uri="{BB962C8B-B14F-4D97-AF65-F5344CB8AC3E}">
        <p14:creationId xmlns:p14="http://schemas.microsoft.com/office/powerpoint/2010/main" val="35968762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DF7C68-EEED-9751-FC19-0D22DE29D5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find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与 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</a:rPr>
              <a:t>grep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</a:rPr>
              <a:t> 都是查找命令，两者之间的区别是什么？</a:t>
            </a:r>
            <a:endParaRPr lang="en-US" altLang="zh-CN" sz="1800">
              <a:solidFill>
                <a:schemeClr val="tx1">
                  <a:lumMod val="50000"/>
                </a:schemeClr>
              </a:solidFill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find</a:t>
            </a:r>
            <a:r>
              <a:rPr lang="en-US" altLang="zh-CN" sz="1600" b="0"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命令是根据文件的属性</a:t>
            </a:r>
            <a:r>
              <a:rPr lang="en-US" altLang="zh-CN" sz="1600" b="0">
                <a:ea typeface="Fira Code" panose="020B0809050000020004" pitchFamily="49" charset="0"/>
                <a:cs typeface="阿里巴巴普惠体" panose="00020600040101010101" pitchFamily="18" charset="-122"/>
              </a:rPr>
              <a:t>(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</a:t>
            </a:r>
            <a:r>
              <a:rPr lang="en-US" altLang="zh-CN" sz="1600" b="0">
                <a:ea typeface="Fira Code" panose="020B0809050000020004" pitchFamily="49" charset="0"/>
                <a:cs typeface="阿里巴巴普惠体" panose="00020600040101010101" pitchFamily="18" charset="-122"/>
              </a:rPr>
              <a:t>: 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文件名</a:t>
            </a:r>
            <a:r>
              <a:rPr lang="en-US" altLang="zh-CN" sz="1600" b="0">
                <a:ea typeface="Fira Code" panose="020B0809050000020004" pitchFamily="49" charset="0"/>
                <a:cs typeface="阿里巴巴普惠体" panose="00020600040101010101" pitchFamily="18" charset="-122"/>
              </a:rPr>
              <a:t>)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来查找文件的</a:t>
            </a:r>
            <a:endParaRPr lang="en-US" altLang="zh-CN" sz="1600" b="0"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b="0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grep</a:t>
            </a:r>
            <a:r>
              <a:rPr lang="en-US" altLang="zh-CN" sz="1600" b="0">
                <a:ea typeface="Fira Code" panose="020B0809050000020004" pitchFamily="49" charset="0"/>
                <a:cs typeface="阿里巴巴普惠体" panose="00020600040101010101" pitchFamily="18" charset="-122"/>
              </a:rPr>
              <a:t> </a:t>
            </a:r>
            <a:r>
              <a:rPr lang="zh-CN" altLang="en-US" sz="1600" b="0"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命令是根据指定的关键字，来查找文件内容的</a:t>
            </a:r>
            <a:endParaRPr lang="zh-CN" altLang="en-US" b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4705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099FF4-3388-ED6E-8E5E-73902493F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概述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Linux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常用命令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Linux</a:t>
            </a:r>
            <a:r>
              <a:rPr lang="zh-CN" altLang="en-US">
                <a:solidFill>
                  <a:srgbClr val="C00000"/>
                </a:solidFill>
                <a:latin typeface="+mn-lt"/>
              </a:rPr>
              <a:t>软件安装</a:t>
            </a:r>
            <a:endParaRPr lang="en-US" altLang="zh-CN">
              <a:solidFill>
                <a:srgbClr val="C00000"/>
              </a:solidFill>
              <a:latin typeface="+mn-lt"/>
            </a:endParaRPr>
          </a:p>
          <a:p>
            <a:r>
              <a:rPr lang="zh-CN" altLang="en-US">
                <a:latin typeface="+mn-lt"/>
              </a:rPr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2230701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FA6853-12E7-1EE8-2C1C-0556EE75EC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软件安装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07298E-A4D0-424B-A0DC-53EE7D7AE4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3222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DB427FF-97B7-EB83-B9DF-F35A8377A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669547"/>
          </a:xfrm>
        </p:spPr>
        <p:txBody>
          <a:bodyPr/>
          <a:lstStyle/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二进制发布包安装</a:t>
            </a:r>
          </a:p>
          <a:p>
            <a:pPr indent="0" defTabSz="54000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软件已经针对具体平台编译打包发布，只要解压，修改配置即可</a:t>
            </a: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rpm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</a:t>
            </a:r>
          </a:p>
          <a:p>
            <a:pPr marL="0" lvl="2" indent="0" defTabSz="540000">
              <a:lnSpc>
                <a:spcPct val="150000"/>
              </a:lnSpc>
              <a:spcBef>
                <a:spcPts val="600"/>
              </a:spcBef>
              <a:buNone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软件已经按照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redhat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的包管理规范进行打包，使用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rpm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命令进行安装，不能自行解决库依赖问题</a:t>
            </a:r>
          </a:p>
          <a:p>
            <a:pPr marL="28575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yum</a:t>
            </a: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</a:t>
            </a:r>
          </a:p>
          <a:p>
            <a:pPr marL="0" lvl="2" indent="0" defTabSz="54000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None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一种在线软件安装方式，本质上还是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rpm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安装，自动下载安装包并安装，安装过程中自动解决库依赖问题</a:t>
            </a:r>
            <a:endParaRPr kumimoji="1" lang="zh-CN" altLang="en-US" sz="160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lvl="0" indent="-285750" fontAlgn="auto">
              <a:lnSpc>
                <a:spcPct val="150000"/>
              </a:lnSpc>
              <a:spcBef>
                <a:spcPts val="600"/>
              </a:spcBef>
              <a:buFont typeface="Wingdings" panose="05000000000000000000" charset="0"/>
              <a:buChar char="l"/>
            </a:pPr>
            <a:r>
              <a:rPr kumimoji="1" lang="zh-CN" altLang="en-US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源码编译安装</a:t>
            </a:r>
          </a:p>
          <a:p>
            <a:pPr marL="0" lvl="2" indent="0" defTabSz="540000">
              <a:lnSpc>
                <a:spcPct val="150000"/>
              </a:lnSpc>
              <a:spcBef>
                <a:spcPts val="600"/>
              </a:spcBef>
              <a:buNone/>
            </a:pPr>
            <a:r>
              <a:rPr kumimoji="1" lang="en-US" altLang="zh-CN" sz="160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软件以源码工程的形式发布，需要自己编译打包</a:t>
            </a:r>
            <a:endParaRPr kumimoji="1" lang="zh-CN" altLang="en-US" sz="160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562C980-6CF5-4D77-2DD9-445638A09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安装方式介绍</a:t>
            </a:r>
          </a:p>
        </p:txBody>
      </p:sp>
    </p:spTree>
    <p:extLst>
      <p:ext uri="{BB962C8B-B14F-4D97-AF65-F5344CB8AC3E}">
        <p14:creationId xmlns:p14="http://schemas.microsoft.com/office/powerpoint/2010/main" val="5030876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9E861A-3C12-930F-3F5A-BF579B21C2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软件安装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B972BB-C89A-1623-1466-E6B237DD3D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JDK</a:t>
            </a:r>
          </a:p>
          <a:p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MySQL</a:t>
            </a:r>
          </a:p>
          <a:p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Nginx</a:t>
            </a:r>
            <a:endParaRPr lang="zh-CN" altLang="en-US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4B89112-36B5-EC1D-AAC2-CA15B61F4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70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JDK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090888"/>
          </a:xfrm>
        </p:spPr>
        <p:txBody>
          <a:bodyPr/>
          <a:lstStyle/>
          <a:p>
            <a:pPr indent="0" fontAlgn="auto">
              <a:buFont typeface="Wingdings" panose="05000000000000000000" charset="0"/>
              <a:buNone/>
            </a:pP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操作步骤：</a:t>
            </a: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1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、使用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FinalShell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自带的上传工具将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jdk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的二进制发布包上传到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Linux</a:t>
            </a: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2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、解压安装包，命令为 </a:t>
            </a:r>
            <a:r>
              <a:rPr kumimoji="1" lang="en-US" altLang="zh-CN">
                <a:solidFill>
                  <a:srgbClr val="3561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tar -zxvf jdk-17.0.10_linux-x64_bin.tar.gz -C /usr/local</a:t>
            </a: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3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、配置环境变量，使用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vim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命令修改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/etc/profile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文件，在文件末尾加入如下配置</a:t>
            </a:r>
            <a:endParaRPr kumimoji="1" lang="en-US" altLang="zh-CN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export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nsolas" panose="020B0609020204030204" pitchFamily="49" charset="0"/>
                <a:sym typeface="+mn-ea"/>
              </a:rPr>
              <a:t>JAVA_HOME=/usr/local</a:t>
            </a:r>
            <a:r>
              <a:rPr kumimoji="1" lang="pt-BR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nsolas" panose="020B0609020204030204" pitchFamily="49" charset="0"/>
                <a:sym typeface="+mn-ea"/>
              </a:rPr>
              <a:t>/jdk-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nsolas" panose="020B0609020204030204" pitchFamily="49" charset="0"/>
                <a:sym typeface="+mn-ea"/>
              </a:rPr>
              <a:t>17.0.10   </a:t>
            </a: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sym typeface="+mn-ea"/>
              </a:rPr>
              <a:t>  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export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Consolas" panose="020B0609020204030204" pitchFamily="49" charset="0"/>
                <a:sym typeface="+mn-ea"/>
              </a:rPr>
              <a:t>PATH=$JAVA_HOME/bin:$PATH</a:t>
            </a: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4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、重新加载</a:t>
            </a: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profile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文件，使更改的配置立即生效，命令为 </a:t>
            </a:r>
            <a:r>
              <a:rPr kumimoji="1" lang="en-US" altLang="zh-CN">
                <a:solidFill>
                  <a:srgbClr val="3561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source /etc/profile</a:t>
            </a:r>
          </a:p>
          <a:p>
            <a:pPr indent="0" fontAlgn="auto">
              <a:buFont typeface="Wingdings" panose="05000000000000000000" charset="0"/>
              <a:buNone/>
            </a:pPr>
            <a:r>
              <a:rPr kumimoji="1"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5</a:t>
            </a:r>
            <a:r>
              <a:rPr kumimoji="1"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、检查安装是否成功，命令为 </a:t>
            </a:r>
            <a:r>
              <a:rPr kumimoji="1" lang="en-US" altLang="zh-CN">
                <a:solidFill>
                  <a:srgbClr val="3561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java -version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4820E1-EA1D-CB13-8F12-00B1B12E0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665" y="1497986"/>
            <a:ext cx="2846178" cy="4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8233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9E861A-3C12-930F-3F5A-BF579B21C2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软件安装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B972BB-C89A-1623-1466-E6B237DD3D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JDK</a:t>
            </a:r>
          </a:p>
          <a:p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MySQL</a:t>
            </a:r>
          </a:p>
          <a:p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Nginx</a:t>
            </a:r>
            <a:endParaRPr lang="zh-CN" altLang="en-US" sz="1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4B89112-36B5-EC1D-AAC2-CA15B61F4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787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MySQL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825994"/>
          </a:xfrm>
        </p:spPr>
        <p:txBody>
          <a:bodyPr/>
          <a:lstStyle/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准备工作：卸载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Linux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系统中自带的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mysql/mariadb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安装包，否则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将安装失败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rpm –qa | grep mariadb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rpm –e –nodeps mariadb-libs-5.5.60-1.el7_5.x86_64</a:t>
            </a:r>
          </a:p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下载并上传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安装包  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解压安装包到当前目录，并将解压后的文件夹移动到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/usr/local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目录下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,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改名为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tar -xvf mysql-8.0.30-linux-glibc2.12-x86_64.tar.xz</a:t>
            </a:r>
          </a:p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配置环境变量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(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编辑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/etc/profile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，追加内容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)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export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MYSQL_HOME=/usr/local/mysql 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export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PATH=$MYSQL_HOME/bin:$PATH</a:t>
            </a:r>
          </a:p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注册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为系统服务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cp /usr/local/mysql/support-files/mysql.server /etc/init.d/mysql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85000"/>
                    <a:lumOff val="1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chkconfig --add mysql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3130D1B-3F68-83A0-B958-644B345A3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182" y="2217040"/>
            <a:ext cx="3491017" cy="29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574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MySQL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初始化数据库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groupadd mysql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useradd -r -g mysql -s /bin/false mysql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mysqld --initialize --user=mysql --basedir=/usr/local/mysql --datadir=/usr/local/mysql/data 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初始化完毕后，日志中会输出</a:t>
            </a:r>
            <a:r>
              <a:rPr kumimoji="1" lang="en-US" altLang="zh-CN" sz="1400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  <a:r>
              <a:rPr kumimoji="1"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</a:t>
            </a:r>
            <a:r>
              <a:rPr kumimoji="1" lang="en-US" altLang="zh-CN" sz="1400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root</a:t>
            </a:r>
            <a:r>
              <a:rPr kumimoji="1" lang="zh-CN" altLang="en-US" sz="1400">
                <a:solidFill>
                  <a:srgbClr val="C00000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用户的临时密码，记得复制记录下来。</a:t>
            </a:r>
            <a:endParaRPr kumimoji="1" lang="en-US" altLang="zh-CN" sz="1400">
              <a:solidFill>
                <a:srgbClr val="C00000"/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启动服务登录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systemctl start mysql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 -uroot -pxxxxx</a:t>
            </a:r>
          </a:p>
          <a:p>
            <a:pPr marL="285750" indent="-285750" fontAlgn="auto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配置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MySQL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root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用户的密码，授权远程访问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  <a:cs typeface="阿里巴巴普惠体" panose="00020600040101010101" pitchFamily="18" charset="-122"/>
              <a:sym typeface="+mn-ea"/>
            </a:endParaRP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</a:t>
            </a: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ALTER USER 'root'@'localhost' IDENTIFIED WITH mysql_native_password BY '1234’;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CREATE USER 'root'@'%' IDENTIFIED BY '1234’;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GRANT ALL PRIVILEGES ON *.* TO 'root'@'%’;</a:t>
            </a:r>
          </a:p>
          <a:p>
            <a:pPr fontAlgn="auto">
              <a:spcBef>
                <a:spcPts val="600"/>
              </a:spcBef>
            </a:pPr>
            <a:r>
              <a:rPr kumimoji="1" lang="en-US" altLang="zh-CN" sz="1400">
                <a:solidFill>
                  <a:srgbClr val="3333FF"/>
                </a:solidFill>
                <a:ea typeface="Fira Code" panose="020B0809050000020004" pitchFamily="49" charset="0"/>
                <a:cs typeface="阿里巴巴普惠体" panose="00020600040101010101" pitchFamily="18" charset="-122"/>
                <a:sym typeface="+mn-ea"/>
              </a:rPr>
              <a:t>   FLUSH PRIVILEGES;</a:t>
            </a:r>
            <a:endParaRPr kumimoji="1" lang="zh-CN" altLang="en-US" sz="1400">
              <a:solidFill>
                <a:srgbClr val="3333FF"/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422638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防火墙操作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5274230"/>
          </a:xfrm>
        </p:spPr>
        <p:txBody>
          <a:bodyPr/>
          <a:lstStyle/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1600" b="1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防火墙操作：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查看防火墙状态(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systemctl status firewalld、firewall-cmd --state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关闭防火墙(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systemctl stop firewalld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开启防火墙(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systemctl start firewalld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永久关闭防火墙(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systemctl disable firewalld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kumimoji="1" lang="zh-CN" altLang="en-US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开放指定端口(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firewall-cmd --zone=public --add-port=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8080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/tcp --permanent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关闭指定端口(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firewall-cmd --zone=public --remove-port=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8080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/tcp --permanent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立即生效(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firewall-cmd --reload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查看开放的端口(</a:t>
            </a:r>
            <a:r>
              <a:rPr kumimoji="1" lang="zh-CN" altLang="en-US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firewall-cmd --zone=public --list-ports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)</a:t>
            </a:r>
            <a:endParaRPr kumimoji="1" lang="zh-CN" altLang="en-US" sz="16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1400" b="1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注意：</a:t>
            </a:r>
          </a:p>
          <a:p>
            <a:pPr marL="540000" lvl="1">
              <a:lnSpc>
                <a:spcPct val="150000"/>
              </a:lnSpc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</a:t>
            </a:r>
            <a:r>
              <a:rPr kumimoji="1" lang="zh-CN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systemctl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是管理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Linux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中服务的命令，可以对服务进行启动、停止、重启、查看状态等操作</a:t>
            </a:r>
          </a:p>
          <a:p>
            <a:pPr marL="540000" lvl="1">
              <a:lnSpc>
                <a:spcPct val="150000"/>
              </a:lnSpc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、firewall-cmd是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Linux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中专门用于控制防火墙的命令</a:t>
            </a:r>
          </a:p>
          <a:p>
            <a:pPr marL="540000" lvl="1">
              <a:lnSpc>
                <a:spcPct val="150000"/>
              </a:lnSpc>
            </a:pP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3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、为了保证系统安全，生产服务器的防火墙不建议关闭</a:t>
            </a:r>
          </a:p>
        </p:txBody>
      </p:sp>
    </p:spTree>
    <p:extLst>
      <p:ext uri="{BB962C8B-B14F-4D97-AF65-F5344CB8AC3E}">
        <p14:creationId xmlns:p14="http://schemas.microsoft.com/office/powerpoint/2010/main" val="42594500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9E861A-3C12-930F-3F5A-BF579B21C2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软件安装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B972BB-C89A-1623-1466-E6B237DD3D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JDK</a:t>
            </a:r>
          </a:p>
          <a:p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MySQL</a:t>
            </a:r>
          </a:p>
          <a:p>
            <a:r>
              <a:rPr lang="zh-CN" altLang="en-US" sz="1600">
                <a:solidFill>
                  <a:srgbClr val="C00000"/>
                </a:solidFill>
                <a:latin typeface="Fira Code" panose="020B0809050000020004" pitchFamily="49" charset="0"/>
              </a:rPr>
              <a:t>安装</a:t>
            </a:r>
            <a:r>
              <a:rPr lang="en-US" altLang="zh-CN" sz="16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Nginx</a:t>
            </a:r>
            <a:endParaRPr lang="zh-CN" altLang="en-US" sz="1600">
              <a:solidFill>
                <a:srgbClr val="C00000"/>
              </a:solidFill>
              <a:latin typeface="Fira Code" panose="020B0809050000020004" pitchFamily="49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4B89112-36B5-EC1D-AAC2-CA15B61F4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7046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安装</a:t>
            </a:r>
            <a:r>
              <a:rPr lang="en-US" altLang="zh-CN"/>
              <a:t>Nginx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965383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运行时需要的依赖：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yum install -y pcre pcre-devel zlib zlib-devel openssl openssl-devel</a:t>
            </a: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上传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的源码包</a:t>
            </a:r>
            <a:endParaRPr kumimoji="1" lang="en-US" altLang="zh-CN" sz="140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解压源码包到当前目录：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tar -zxvf nginx-1.20.2.tar.gz</a:t>
            </a: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进入到解压目录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(cd nginx-1.20.2)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后，执行指令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./configure --prefix=/usr/local/nginx</a:t>
            </a: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执行编译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的指令：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make</a:t>
            </a: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执行安装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的指令，安装到上述指定的 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/usr/local/nginx 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目录：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make install</a:t>
            </a:r>
          </a:p>
          <a:p>
            <a:pPr marL="285750" indent="-285750" fontAlgn="auto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进入到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安装目录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/usr/local/nginx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，启动</a:t>
            </a:r>
            <a:r>
              <a:rPr kumimoji="1"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nginx</a:t>
            </a:r>
            <a:r>
              <a:rPr kumimoji="1"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服务：</a:t>
            </a:r>
            <a:r>
              <a:rPr kumimoji="1" lang="en-US" altLang="zh-CN" sz="1400">
                <a:solidFill>
                  <a:srgbClr val="0000FF"/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sbin/nginx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9D70BF-3286-07B0-7D3F-7970CBD2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098" y="1593909"/>
            <a:ext cx="2996823" cy="4199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7D72E8-9D3B-8D6B-B60F-7A432E72A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78" y="884524"/>
            <a:ext cx="10297992" cy="573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7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099FF4-3388-ED6E-8E5E-73902493F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Linux</a:t>
            </a:r>
            <a:r>
              <a:rPr lang="zh-CN" altLang="en-US">
                <a:latin typeface="+mn-lt"/>
              </a:rPr>
              <a:t>概述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Linux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常用命令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  <a:latin typeface="+mn-lt"/>
              </a:rPr>
              <a:t>Linux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  <a:latin typeface="+mn-lt"/>
              </a:rPr>
              <a:t>软件安装</a:t>
            </a:r>
            <a:endParaRPr lang="en-US" altLang="zh-CN">
              <a:solidFill>
                <a:schemeClr val="tx1">
                  <a:lumMod val="75000"/>
                </a:schemeClr>
              </a:solidFill>
              <a:latin typeface="+mn-lt"/>
            </a:endParaRPr>
          </a:p>
          <a:p>
            <a:r>
              <a:rPr lang="zh-CN" altLang="en-US">
                <a:solidFill>
                  <a:srgbClr val="C00000"/>
                </a:solidFill>
                <a:latin typeface="+mn-lt"/>
              </a:rPr>
              <a:t>项目部署</a:t>
            </a:r>
          </a:p>
        </p:txBody>
      </p:sp>
    </p:spTree>
    <p:extLst>
      <p:ext uri="{BB962C8B-B14F-4D97-AF65-F5344CB8AC3E}">
        <p14:creationId xmlns:p14="http://schemas.microsoft.com/office/powerpoint/2010/main" val="9782393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975CC3-49CF-593C-7D38-7113DF2F54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FE5850-93E0-DF8B-7EEC-424673428F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前端项目部署</a:t>
            </a:r>
            <a:endParaRPr lang="en-US" altLang="zh-CN"/>
          </a:p>
          <a:p>
            <a:r>
              <a:rPr lang="zh-CN" altLang="en-US"/>
              <a:t>后端项目部署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A5B1E1C-AA3D-2FF2-E736-73683FEADA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04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前端项目部署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953241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将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"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资料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\06.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项目部署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\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前端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\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页面资源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"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文件夹下的打包好的静态资源，上传到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nginx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html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目录中 。</a:t>
            </a:r>
            <a:endParaRPr lang="en-US" altLang="zh-CN" sz="1400">
              <a:solidFill>
                <a:schemeClr val="tx1">
                  <a:lumMod val="50000"/>
                </a:schemeClr>
              </a:solidFill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配置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nginx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的配置文件，在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conf/nginx.conf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</a:rPr>
              <a:t>中配置反向代理服务器及路径重写规则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。</a:t>
            </a:r>
          </a:p>
        </p:txBody>
      </p:sp>
      <p:grpSp>
        <p:nvGrpSpPr>
          <p:cNvPr id="4" name="!!组合 2">
            <a:extLst>
              <a:ext uri="{FF2B5EF4-FFF2-40B4-BE49-F238E27FC236}">
                <a16:creationId xmlns:a16="http://schemas.microsoft.com/office/drawing/2014/main" id="{C2762C74-BE51-C37F-D498-EFB97F11B286}"/>
              </a:ext>
            </a:extLst>
          </p:cNvPr>
          <p:cNvGrpSpPr/>
          <p:nvPr/>
        </p:nvGrpSpPr>
        <p:grpSpPr>
          <a:xfrm>
            <a:off x="985973" y="1909482"/>
            <a:ext cx="4596648" cy="3942479"/>
            <a:chOff x="2297722" y="3660322"/>
            <a:chExt cx="5064652" cy="368666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F21A77F5-1DC1-374E-4CA3-92EA0D249B1E}"/>
                </a:ext>
              </a:extLst>
            </p:cNvPr>
            <p:cNvSpPr/>
            <p:nvPr/>
          </p:nvSpPr>
          <p:spPr>
            <a:xfrm>
              <a:off x="2297728" y="3660323"/>
              <a:ext cx="5064646" cy="3686659"/>
            </a:xfrm>
            <a:prstGeom prst="roundRect">
              <a:avLst>
                <a:gd name="adj" fmla="val 222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28800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server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listen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80;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server_name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localhost;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client_max_body_size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10m;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location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/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root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html;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index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index.html index.htm;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    </a:t>
              </a:r>
              <a:r>
                <a:rPr lang="en-US" altLang="zh-CN" sz="1100">
                  <a:solidFill>
                    <a:srgbClr val="0000FF"/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try_files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a typeface="Fira Code" panose="020B0809050000020004" pitchFamily="49" charset="0"/>
                  <a:cs typeface="阿里巴巴普惠体" panose="00020600040101010101" pitchFamily="18" charset="-122"/>
                </a:rPr>
                <a:t> $uri $uri/ /index.html;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effectLst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location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^~ /api/ {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	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rewrite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^/api/(.*)$ /$1 break;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	</a:t>
              </a:r>
              <a:r>
                <a:rPr lang="en-US" altLang="zh-CN" sz="1100">
                  <a:solidFill>
                    <a:srgbClr val="0000FF"/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proxy_pass</a:t>
              </a: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http://localhost:8080;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        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>
                  <a:solidFill>
                    <a:schemeClr val="tx1">
                      <a:lumMod val="50000"/>
                    </a:schemeClr>
                  </a:solidFill>
                  <a:effectLst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  <a:endParaRPr lang="en-US" altLang="zh-CN" sz="1100">
                <a:solidFill>
                  <a:schemeClr val="tx1">
                    <a:lumMod val="50000"/>
                  </a:schemeClr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9FCFF782-FD84-469F-750A-7079CD32A408}"/>
                </a:ext>
              </a:extLst>
            </p:cNvPr>
            <p:cNvSpPr/>
            <p:nvPr/>
          </p:nvSpPr>
          <p:spPr>
            <a:xfrm>
              <a:off x="2297722" y="3660322"/>
              <a:ext cx="506464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 b="1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conf/nginx.conf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6ED88C3-683C-57A1-F9AF-E583CC1E82E5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5E5BD69-0D90-1560-CA37-07150B8D79CF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5AE28B4A-DDE3-68CA-6D33-5A37CA72143F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占位符 4">
            <a:extLst>
              <a:ext uri="{FF2B5EF4-FFF2-40B4-BE49-F238E27FC236}">
                <a16:creationId xmlns:a16="http://schemas.microsoft.com/office/drawing/2014/main" id="{0D3164D4-2BB2-C72D-A115-D95FCC7500DC}"/>
              </a:ext>
            </a:extLst>
          </p:cNvPr>
          <p:cNvSpPr txBox="1">
            <a:spLocks/>
          </p:cNvSpPr>
          <p:nvPr/>
        </p:nvSpPr>
        <p:spPr>
          <a:xfrm>
            <a:off x="710879" y="6067582"/>
            <a:ext cx="11543873" cy="45402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3.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在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nginx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的安装目录中，执行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sbin 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目录下的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nginx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命令启动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nginx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latin typeface="+mn-lt"/>
              </a:rPr>
              <a:t>服务：</a:t>
            </a:r>
            <a:r>
              <a:rPr lang="en-US" altLang="zh-CN" sz="1400">
                <a:solidFill>
                  <a:srgbClr val="3333FF"/>
                </a:solidFill>
                <a:latin typeface="+mn-lt"/>
              </a:rPr>
              <a:t>sbin/nginx  </a:t>
            </a:r>
            <a:r>
              <a:rPr lang="zh-CN" altLang="en-US" sz="1400">
                <a:solidFill>
                  <a:schemeClr val="tx1"/>
                </a:solidFill>
                <a:latin typeface="+mn-lt"/>
              </a:rPr>
              <a:t>或</a:t>
            </a:r>
            <a:r>
              <a:rPr lang="zh-CN" altLang="en-US" sz="1400">
                <a:solidFill>
                  <a:srgbClr val="3333FF"/>
                </a:solidFill>
                <a:latin typeface="+mn-lt"/>
              </a:rPr>
              <a:t>  </a:t>
            </a:r>
            <a:r>
              <a:rPr lang="en-US" altLang="zh-CN" sz="1400">
                <a:solidFill>
                  <a:srgbClr val="3333FF"/>
                </a:solidFill>
                <a:latin typeface="+mn-lt"/>
              </a:rPr>
              <a:t>sbin/nginx -s reload</a:t>
            </a:r>
            <a:endParaRPr lang="zh-CN" altLang="en-US" sz="1400">
              <a:solidFill>
                <a:srgbClr val="3333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35679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C2F110F-E9AC-88EC-02C1-DC3681960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>
                <a:latin typeface="Fira Code" panose="020B0809050000020004" pitchFamily="49" charset="0"/>
                <a:ea typeface="Fira Code" panose="020B0809050000020004" pitchFamily="49" charset="0"/>
              </a:rPr>
              <a:t>nginx </a:t>
            </a:r>
            <a:r>
              <a:rPr lang="zh-CN" altLang="en-US" sz="1800">
                <a:latin typeface="Fira Code" panose="020B0809050000020004" pitchFamily="49" charset="0"/>
              </a:rPr>
              <a:t>启动、停止、重新加载操作 ？</a:t>
            </a:r>
            <a:endParaRPr lang="en-US" altLang="zh-CN" sz="1800">
              <a:latin typeface="Fira Code" panose="020B0809050000020004" pitchFamily="49" charset="0"/>
            </a:endParaRP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启动：</a:t>
            </a:r>
            <a:r>
              <a:rPr lang="en-US" altLang="zh-CN" sz="1600" b="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sbin/nginx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停止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: </a:t>
            </a:r>
            <a:r>
              <a:rPr lang="en-US" altLang="zh-CN" sz="1600" b="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sbin/nginx -s quit</a:t>
            </a:r>
          </a:p>
          <a:p>
            <a:pPr marL="540000" lvl="1" indent="-28575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重新加载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: </a:t>
            </a:r>
            <a:r>
              <a:rPr lang="en-US" altLang="zh-CN" sz="1600" b="0">
                <a:solidFill>
                  <a:srgbClr val="3333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sbin/nginx -s reload</a:t>
            </a:r>
            <a:endParaRPr lang="zh-CN" altLang="en-US" b="0">
              <a:solidFill>
                <a:srgbClr val="3333FF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79994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1E41-CFD5-EAF3-8422-193ABF31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6D1E1D-8DBB-0CE0-D445-E66D369EF3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/>
              <a:t>项目部署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FECEDA-D8A3-0593-DDF4-7809120371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1060909"/>
          </a:xfrm>
        </p:spPr>
        <p:txBody>
          <a:bodyPr/>
          <a:lstStyle/>
          <a:p>
            <a:r>
              <a:rPr lang="zh-CN" altLang="en-US"/>
              <a:t>前端项目部署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后端项目部署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97C55BA-582C-1D67-B66D-497FDE0757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09812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143E48-5FA2-940A-BA2B-C9FC41C00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后端项目部署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2534E2-FF4D-A7BF-AC0B-1A8635EBF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52611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执行</a:t>
            </a:r>
            <a:r>
              <a:rPr lang="en-US" altLang="zh-CN" sz="1400"/>
              <a:t>maven</a:t>
            </a:r>
            <a:r>
              <a:rPr lang="zh-CN" altLang="en-US" sz="1400"/>
              <a:t>的父工程中的</a:t>
            </a:r>
            <a:r>
              <a:rPr lang="en-US" altLang="zh-CN" sz="1400"/>
              <a:t>package</a:t>
            </a:r>
            <a:r>
              <a:rPr lang="zh-CN" altLang="en-US" sz="1400"/>
              <a:t>生命周期，对项目进行打包 </a:t>
            </a:r>
            <a:r>
              <a:rPr lang="en-US" altLang="zh-CN" sz="1400"/>
              <a:t>【</a:t>
            </a:r>
            <a:r>
              <a:rPr lang="zh-CN" altLang="en-US" sz="1400"/>
              <a:t>打包之前，先连接上服务器数据库，先测试通过</a:t>
            </a:r>
            <a:r>
              <a:rPr lang="en-US" altLang="zh-CN" sz="1400"/>
              <a:t>】</a:t>
            </a:r>
            <a:r>
              <a:rPr lang="zh-CN" altLang="en-US" sz="1400"/>
              <a:t>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在</a:t>
            </a:r>
            <a:r>
              <a:rPr lang="en-US" altLang="zh-CN" sz="1400"/>
              <a:t>linux</a:t>
            </a:r>
            <a:r>
              <a:rPr lang="zh-CN" altLang="en-US" sz="1400"/>
              <a:t>服务器的</a:t>
            </a:r>
            <a:r>
              <a:rPr lang="en-US" altLang="zh-CN" sz="1400"/>
              <a:t>/usr/local</a:t>
            </a:r>
            <a:r>
              <a:rPr lang="zh-CN" altLang="en-US" sz="1400"/>
              <a:t>目录下，创建一个目录</a:t>
            </a:r>
            <a:r>
              <a:rPr lang="en-US" altLang="zh-CN" sz="1400"/>
              <a:t>tlias-app</a:t>
            </a:r>
            <a:r>
              <a:rPr lang="zh-CN" altLang="en-US" sz="1400"/>
              <a:t>，将</a:t>
            </a:r>
            <a:r>
              <a:rPr lang="en-US" altLang="zh-CN" sz="1400"/>
              <a:t>jar</a:t>
            </a:r>
            <a:r>
              <a:rPr lang="zh-CN" altLang="en-US" sz="1400"/>
              <a:t>包上传到服务器的 </a:t>
            </a:r>
            <a:r>
              <a:rPr lang="en-US" altLang="zh-CN" sz="1400"/>
              <a:t>/usr/local/tlias-app </a:t>
            </a:r>
            <a:r>
              <a:rPr lang="zh-CN" altLang="en-US" sz="1400"/>
              <a:t>目录中。</a:t>
            </a:r>
            <a:endParaRPr lang="en-US" altLang="zh-CN" sz="1400"/>
          </a:p>
          <a:p>
            <a:pPr marL="342900" indent="-342900">
              <a:buFont typeface="+mj-lt"/>
              <a:buAutoNum type="arabicPeriod"/>
            </a:pPr>
            <a:r>
              <a:rPr lang="zh-CN" altLang="en-US" sz="1400"/>
              <a:t>然后在命令行执行命令，运行</a:t>
            </a:r>
            <a:r>
              <a:rPr lang="en-US" altLang="zh-CN" sz="1400"/>
              <a:t>jar</a:t>
            </a:r>
            <a:r>
              <a:rPr lang="zh-CN" altLang="en-US" sz="1400"/>
              <a:t>包 ：</a:t>
            </a:r>
            <a:r>
              <a:rPr lang="en-US" altLang="zh-CN" sz="1400">
                <a:solidFill>
                  <a:srgbClr val="3333FF"/>
                </a:solidFill>
              </a:rPr>
              <a:t>java -jar </a:t>
            </a:r>
            <a:r>
              <a:rPr lang="en-US" altLang="zh-CN" sz="1400"/>
              <a:t>xxxxxx.jar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/>
              <a:t>上述执行运行</a:t>
            </a:r>
            <a:r>
              <a:rPr lang="en-US" altLang="zh-CN" sz="1400"/>
              <a:t>jar</a:t>
            </a:r>
            <a:r>
              <a:rPr lang="zh-CN" altLang="en-US" sz="1400"/>
              <a:t>包之后</a:t>
            </a:r>
            <a:r>
              <a:rPr lang="en-US" altLang="zh-CN" sz="1400"/>
              <a:t>,</a:t>
            </a:r>
            <a:r>
              <a:rPr lang="zh-CN" altLang="en-US" sz="1400"/>
              <a:t>会占用前台窗口</a:t>
            </a:r>
            <a:r>
              <a:rPr lang="en-US" altLang="zh-CN" sz="1400"/>
              <a:t>,</a:t>
            </a:r>
            <a:r>
              <a:rPr lang="zh-CN" altLang="en-US" sz="1400"/>
              <a:t>窗口关闭服务也就停了。可以使用 </a:t>
            </a:r>
            <a:r>
              <a:rPr lang="en-US" altLang="zh-CN" sz="1400"/>
              <a:t>nohup </a:t>
            </a:r>
            <a:r>
              <a:rPr lang="zh-CN" altLang="en-US" sz="1400"/>
              <a:t>指令，后台运行服务，执行指令：</a:t>
            </a:r>
            <a:endParaRPr lang="en-US" altLang="zh-CN" sz="1400"/>
          </a:p>
          <a:p>
            <a:r>
              <a:rPr lang="en-US" altLang="zh-CN" sz="1400"/>
              <a:t>   </a:t>
            </a:r>
            <a:r>
              <a:rPr lang="en-US" altLang="zh-CN" sz="1400">
                <a:solidFill>
                  <a:srgbClr val="C00000"/>
                </a:solidFill>
              </a:rPr>
              <a:t>nohup</a:t>
            </a:r>
            <a:r>
              <a:rPr lang="en-US" altLang="zh-CN" sz="1400">
                <a:solidFill>
                  <a:srgbClr val="3333FF"/>
                </a:solidFill>
              </a:rPr>
              <a:t> java -jar xxxxxx.jar &amp;&gt; tlias.log </a:t>
            </a:r>
            <a:r>
              <a:rPr lang="en-US" altLang="zh-CN" sz="1400">
                <a:solidFill>
                  <a:srgbClr val="C00000"/>
                </a:solidFill>
              </a:rPr>
              <a:t>&amp;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/>
              <a:t>查看进程：</a:t>
            </a:r>
            <a:r>
              <a:rPr lang="en-US" altLang="zh-CN" sz="1400">
                <a:solidFill>
                  <a:srgbClr val="3333FF"/>
                </a:solidFill>
              </a:rPr>
              <a:t>ps -ef | grep </a:t>
            </a:r>
            <a:r>
              <a:rPr lang="en-US" altLang="zh-CN" sz="1400"/>
              <a:t>xxxx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EB0EACF-176E-6CCE-FF73-16EB5869A33B}"/>
              </a:ext>
            </a:extLst>
          </p:cNvPr>
          <p:cNvGrpSpPr/>
          <p:nvPr/>
        </p:nvGrpSpPr>
        <p:grpSpPr>
          <a:xfrm>
            <a:off x="914399" y="4982233"/>
            <a:ext cx="11091794" cy="1529403"/>
            <a:chOff x="914399" y="4982233"/>
            <a:chExt cx="11091794" cy="1529403"/>
          </a:xfrm>
        </p:grpSpPr>
        <p:sp>
          <p:nvSpPr>
            <p:cNvPr id="5" name="矩形: 对角圆角 4">
              <a:extLst>
                <a:ext uri="{FF2B5EF4-FFF2-40B4-BE49-F238E27FC236}">
                  <a16:creationId xmlns:a16="http://schemas.microsoft.com/office/drawing/2014/main" id="{28BC55F6-34F7-80C0-804E-2E7433E6135A}"/>
                </a:ext>
              </a:extLst>
            </p:cNvPr>
            <p:cNvSpPr/>
            <p:nvPr/>
          </p:nvSpPr>
          <p:spPr>
            <a:xfrm>
              <a:off x="914399" y="5309965"/>
              <a:ext cx="10797309" cy="1201671"/>
            </a:xfrm>
            <a:prstGeom prst="round2DiagRect">
              <a:avLst>
                <a:gd name="adj1" fmla="val 12173"/>
                <a:gd name="adj2" fmla="val 0"/>
              </a:avLst>
            </a:prstGeom>
            <a:solidFill>
              <a:srgbClr val="8C61FF">
                <a:alpha val="34902"/>
              </a:srgb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Linux </a:t>
              </a:r>
              <a:r>
                <a:rPr lang="zh-CN" altLang="en-US" sz="1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中的特殊符号：</a:t>
              </a:r>
              <a:endParaRPr lang="en-US" altLang="zh-CN" sz="1200" b="1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 marL="171450" indent="-171450">
                <a:lnSpc>
                  <a:spcPct val="15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|: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管道符。将前面命令的输出，作为后面命令的输入。如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: ps -ef | grep java</a:t>
              </a:r>
            </a:p>
            <a:p>
              <a:pPr marL="171450" indent="-171450">
                <a:lnSpc>
                  <a:spcPct val="1500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&gt;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与 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&gt;&gt; :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重定向符号。将前面的文本内容，输出到后面的文件中（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&gt; :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覆盖重定向，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&gt;&gt; : </a:t>
              </a: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追加重定向）。 如</a:t>
              </a:r>
              <a:r>
                <a:rPr lang="en-US" altLang="zh-CN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: echo 'Hello Linux' &gt; 1.log</a:t>
              </a:r>
              <a:endPara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5E9BF0F-20D0-E553-3557-B62839C15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0729" y="4982233"/>
              <a:ext cx="655464" cy="6554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3185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B0DF3C-48AE-8F5A-AECF-2432013F4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如何让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linux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中的命令在后台运行，不占用前台窗口 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zh-CN" sz="1600">
                <a:solidFill>
                  <a:srgbClr val="C00000"/>
                </a:solidFill>
                <a:ea typeface="Fira Code" panose="020B0809050000020004" pitchFamily="49" charset="0"/>
              </a:rPr>
              <a:t>nohup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....</a:t>
            </a:r>
            <a:r>
              <a:rPr lang="en-US" altLang="zh-CN" sz="1600">
                <a:solidFill>
                  <a:srgbClr val="C00000"/>
                </a:solidFill>
                <a:ea typeface="Fira Code" panose="020B0809050000020004" pitchFamily="49" charset="0"/>
              </a:rPr>
              <a:t> 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  <a:ea typeface="Fira Code" panose="020B0809050000020004" pitchFamily="49" charset="0"/>
              </a:rPr>
              <a:t>&amp;&gt;xxx.log</a:t>
            </a:r>
            <a:r>
              <a:rPr lang="en-US" altLang="zh-CN" sz="1600">
                <a:solidFill>
                  <a:srgbClr val="C00000"/>
                </a:solidFill>
                <a:ea typeface="Fira Code" panose="020B0809050000020004" pitchFamily="49" charset="0"/>
              </a:rPr>
              <a:t> &amp;</a:t>
            </a:r>
            <a:endParaRPr lang="en-US" altLang="zh-CN" sz="2600">
              <a:solidFill>
                <a:schemeClr val="tx1">
                  <a:lumMod val="50000"/>
                </a:schemeClr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查看系统进程的命令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 </a:t>
            </a:r>
            <a:r>
              <a:rPr lang="zh-CN" altLang="en-US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杀死系统进程的命令</a:t>
            </a:r>
            <a:r>
              <a:rPr lang="en-US" altLang="zh-CN" sz="180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?</a:t>
            </a:r>
          </a:p>
          <a:p>
            <a:pPr marL="360000"/>
            <a:r>
              <a:rPr lang="en-US" altLang="zh-CN" sz="1600">
                <a:solidFill>
                  <a:srgbClr val="C00000"/>
                </a:solidFill>
                <a:ea typeface="Fira Code" panose="020B0809050000020004" pitchFamily="49" charset="0"/>
              </a:rPr>
              <a:t>ps -ef</a:t>
            </a:r>
          </a:p>
          <a:p>
            <a:pPr marL="360000"/>
            <a:r>
              <a:rPr lang="en-US" altLang="zh-CN" sz="1600">
                <a:solidFill>
                  <a:srgbClr val="C00000"/>
                </a:solidFill>
                <a:ea typeface="Fira Code" panose="020B0809050000020004" pitchFamily="49" charset="0"/>
              </a:rPr>
              <a:t>ps -ef | grep java</a:t>
            </a:r>
          </a:p>
          <a:p>
            <a:pPr marL="360000"/>
            <a:r>
              <a:rPr lang="en-US" altLang="zh-CN" sz="1600">
                <a:solidFill>
                  <a:srgbClr val="C00000"/>
                </a:solidFill>
                <a:ea typeface="Fira Code" panose="020B0809050000020004" pitchFamily="49" charset="0"/>
              </a:rPr>
              <a:t>kill -9 xxxx</a:t>
            </a:r>
          </a:p>
        </p:txBody>
      </p:sp>
    </p:spTree>
    <p:extLst>
      <p:ext uri="{BB962C8B-B14F-4D97-AF65-F5344CB8AC3E}">
        <p14:creationId xmlns:p14="http://schemas.microsoft.com/office/powerpoint/2010/main" val="2323627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26838</TotalTime>
  <Words>4123</Words>
  <Application>Microsoft Office PowerPoint</Application>
  <PresentationFormat>宽屏</PresentationFormat>
  <Paragraphs>532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70</vt:i4>
      </vt:variant>
    </vt:vector>
  </HeadingPairs>
  <TitlesOfParts>
    <vt:vector size="88" baseType="lpstr">
      <vt:lpstr>Alibaba PuHuiTi B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Arial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Web开发</vt:lpstr>
      <vt:lpstr>     (AI)</vt:lpstr>
      <vt:lpstr>Linux</vt:lpstr>
      <vt:lpstr>PowerPoint 演示文稿</vt:lpstr>
      <vt:lpstr>PowerPoint 演示文稿</vt:lpstr>
      <vt:lpstr>Linux系统版本</vt:lpstr>
      <vt:lpstr>安装方式</vt:lpstr>
      <vt:lpstr>虚拟机安装</vt:lpstr>
      <vt:lpstr>虚拟机网络配置</vt:lpstr>
      <vt:lpstr>挂载镜像</vt:lpstr>
      <vt:lpstr>PowerPoint 演示文稿</vt:lpstr>
      <vt:lpstr>PowerPoint 演示文稿</vt:lpstr>
      <vt:lpstr>PowerPoint 演示文稿</vt:lpstr>
      <vt:lpstr>远程连接工具</vt:lpstr>
      <vt:lpstr>finalShell安装</vt:lpstr>
      <vt:lpstr>finalShell连接Linux</vt:lpstr>
      <vt:lpstr>PowerPoint 演示文稿</vt:lpstr>
      <vt:lpstr>Linux目录 VS Windows目录</vt:lpstr>
      <vt:lpstr>Linux目录结构</vt:lpstr>
      <vt:lpstr>PowerPoint 演示文稿</vt:lpstr>
      <vt:lpstr>PowerPoint 演示文稿</vt:lpstr>
      <vt:lpstr>PowerPoint 演示文稿</vt:lpstr>
      <vt:lpstr>Linux命令初识</vt:lpstr>
      <vt:lpstr>ls</vt:lpstr>
      <vt:lpstr>cd</vt:lpstr>
      <vt:lpstr>mkdir</vt:lpstr>
      <vt:lpstr>rm</vt:lpstr>
      <vt:lpstr>PowerPoint 演示文稿</vt:lpstr>
      <vt:lpstr>PowerPoint 演示文稿</vt:lpstr>
      <vt:lpstr>cat</vt:lpstr>
      <vt:lpstr>more</vt:lpstr>
      <vt:lpstr>head</vt:lpstr>
      <vt:lpstr>tail</vt:lpstr>
      <vt:lpstr>PowerPoint 演示文稿</vt:lpstr>
      <vt:lpstr>PowerPoint 演示文稿</vt:lpstr>
      <vt:lpstr>cp</vt:lpstr>
      <vt:lpstr>mv</vt:lpstr>
      <vt:lpstr>PowerPoint 演示文稿</vt:lpstr>
      <vt:lpstr>PowerPoint 演示文稿</vt:lpstr>
      <vt:lpstr>tar</vt:lpstr>
      <vt:lpstr>tar</vt:lpstr>
      <vt:lpstr>PowerPoint 演示文稿</vt:lpstr>
      <vt:lpstr>PowerPoint 演示文稿</vt:lpstr>
      <vt:lpstr>vi/vim</vt:lpstr>
      <vt:lpstr>vim</vt:lpstr>
      <vt:lpstr>PowerPoint 演示文稿</vt:lpstr>
      <vt:lpstr>PowerPoint 演示文稿</vt:lpstr>
      <vt:lpstr>find</vt:lpstr>
      <vt:lpstr>grep</vt:lpstr>
      <vt:lpstr>PowerPoint 演示文稿</vt:lpstr>
      <vt:lpstr>PowerPoint 演示文稿</vt:lpstr>
      <vt:lpstr>PowerPoint 演示文稿</vt:lpstr>
      <vt:lpstr>安装方式介绍</vt:lpstr>
      <vt:lpstr>PowerPoint 演示文稿</vt:lpstr>
      <vt:lpstr>安装JDK</vt:lpstr>
      <vt:lpstr>PowerPoint 演示文稿</vt:lpstr>
      <vt:lpstr>安装MySQL</vt:lpstr>
      <vt:lpstr>安装MySQL</vt:lpstr>
      <vt:lpstr>防火墙操作</vt:lpstr>
      <vt:lpstr>PowerPoint 演示文稿</vt:lpstr>
      <vt:lpstr>安装Nginx</vt:lpstr>
      <vt:lpstr>PowerPoint 演示文稿</vt:lpstr>
      <vt:lpstr>PowerPoint 演示文稿</vt:lpstr>
      <vt:lpstr>前端项目部署</vt:lpstr>
      <vt:lpstr>PowerPoint 演示文稿</vt:lpstr>
      <vt:lpstr>PowerPoint 演示文稿</vt:lpstr>
      <vt:lpstr>后端项目部署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2534</cp:revision>
  <cp:lastPrinted>2022-05-29T16:00:00Z</cp:lastPrinted>
  <dcterms:created xsi:type="dcterms:W3CDTF">2022-05-29T16:00:00Z</dcterms:created>
  <dcterms:modified xsi:type="dcterms:W3CDTF">2025-02-08T14:27:53Z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