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62" r:id="rId4"/>
    <p:sldMasterId id="2147483672" r:id="rId5"/>
  </p:sldMasterIdLst>
  <p:notesMasterIdLst>
    <p:notesMasterId r:id="rId57"/>
  </p:notesMasterIdLst>
  <p:handoutMasterIdLst>
    <p:handoutMasterId r:id="rId58"/>
  </p:handoutMasterIdLst>
  <p:sldIdLst>
    <p:sldId id="440" r:id="rId6"/>
    <p:sldId id="1045" r:id="rId7"/>
    <p:sldId id="280" r:id="rId8"/>
    <p:sldId id="765" r:id="rId9"/>
    <p:sldId id="818" r:id="rId10"/>
    <p:sldId id="767" r:id="rId11"/>
    <p:sldId id="766" r:id="rId12"/>
    <p:sldId id="768" r:id="rId13"/>
    <p:sldId id="769" r:id="rId14"/>
    <p:sldId id="770" r:id="rId15"/>
    <p:sldId id="771" r:id="rId16"/>
    <p:sldId id="772" r:id="rId17"/>
    <p:sldId id="773" r:id="rId18"/>
    <p:sldId id="774" r:id="rId19"/>
    <p:sldId id="789" r:id="rId20"/>
    <p:sldId id="775" r:id="rId21"/>
    <p:sldId id="776" r:id="rId22"/>
    <p:sldId id="777" r:id="rId23"/>
    <p:sldId id="778" r:id="rId24"/>
    <p:sldId id="779" r:id="rId25"/>
    <p:sldId id="790" r:id="rId26"/>
    <p:sldId id="780" r:id="rId27"/>
    <p:sldId id="781" r:id="rId28"/>
    <p:sldId id="782" r:id="rId29"/>
    <p:sldId id="791" r:id="rId30"/>
    <p:sldId id="784" r:id="rId31"/>
    <p:sldId id="785" r:id="rId32"/>
    <p:sldId id="792" r:id="rId33"/>
    <p:sldId id="787" r:id="rId34"/>
    <p:sldId id="788" r:id="rId35"/>
    <p:sldId id="800" r:id="rId36"/>
    <p:sldId id="793" r:id="rId37"/>
    <p:sldId id="794" r:id="rId38"/>
    <p:sldId id="795" r:id="rId39"/>
    <p:sldId id="796" r:id="rId40"/>
    <p:sldId id="797" r:id="rId41"/>
    <p:sldId id="801" r:id="rId42"/>
    <p:sldId id="805" r:id="rId43"/>
    <p:sldId id="798" r:id="rId44"/>
    <p:sldId id="802" r:id="rId45"/>
    <p:sldId id="807" r:id="rId46"/>
    <p:sldId id="803" r:id="rId47"/>
    <p:sldId id="806" r:id="rId48"/>
    <p:sldId id="808" r:id="rId49"/>
    <p:sldId id="809" r:id="rId50"/>
    <p:sldId id="816" r:id="rId51"/>
    <p:sldId id="810" r:id="rId52"/>
    <p:sldId id="811" r:id="rId53"/>
    <p:sldId id="817" r:id="rId54"/>
    <p:sldId id="812" r:id="rId55"/>
    <p:sldId id="288" r:id="rId56"/>
  </p:sldIdLst>
  <p:sldSz cx="12192000" cy="6858000"/>
  <p:notesSz cx="6858000" cy="9144000"/>
  <p:custDataLst>
    <p:tags r:id="rId5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1FEE"/>
    <a:srgbClr val="282D2C"/>
    <a:srgbClr val="3561FF"/>
    <a:srgbClr val="363C3B"/>
    <a:srgbClr val="C78FFC"/>
    <a:srgbClr val="871094"/>
    <a:srgbClr val="00B050"/>
    <a:srgbClr val="FFC0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47" autoAdjust="0"/>
    <p:restoredTop sz="95165" autoAdjust="0"/>
  </p:normalViewPr>
  <p:slideViewPr>
    <p:cSldViewPr snapToGrid="0" showGuides="1">
      <p:cViewPr varScale="1">
        <p:scale>
          <a:sx n="85" d="100"/>
          <a:sy n="85" d="100"/>
        </p:scale>
        <p:origin x="7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61" Type="http://schemas.openxmlformats.org/officeDocument/2006/relationships/viewProps" Target="viewProps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gs" Target="tags/tag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3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grpSp>
        <p:nvGrpSpPr>
          <p:cNvPr id="6" name="íS1iďê">
            <a:extLst>
              <a:ext uri="{FF2B5EF4-FFF2-40B4-BE49-F238E27FC236}">
                <a16:creationId xmlns:a16="http://schemas.microsoft.com/office/drawing/2014/main" id="{4883F772-DFB6-F082-E942-F47544710FF8}"/>
              </a:ext>
            </a:extLst>
          </p:cNvPr>
          <p:cNvGrpSpPr/>
          <p:nvPr userDrawn="1"/>
        </p:nvGrpSpPr>
        <p:grpSpPr>
          <a:xfrm>
            <a:off x="7262969" y="2396723"/>
            <a:ext cx="435738" cy="435738"/>
            <a:chOff x="7101141" y="4197557"/>
            <a:chExt cx="435738" cy="435738"/>
          </a:xfrm>
        </p:grpSpPr>
        <p:sp>
          <p:nvSpPr>
            <p:cNvPr id="11" name="iS1íḓê">
              <a:extLst>
                <a:ext uri="{FF2B5EF4-FFF2-40B4-BE49-F238E27FC236}">
                  <a16:creationId xmlns:a16="http://schemas.microsoft.com/office/drawing/2014/main" id="{6F73DB22-8BD9-67FD-6EBE-B56D6BF83FC2}"/>
                </a:ext>
              </a:extLst>
            </p:cNvPr>
            <p:cNvSpPr/>
            <p:nvPr/>
          </p:nvSpPr>
          <p:spPr>
            <a:xfrm>
              <a:off x="7101141" y="4197557"/>
              <a:ext cx="435738" cy="435738"/>
            </a:xfrm>
            <a:prstGeom prst="ellipse">
              <a:avLst/>
            </a:prstGeom>
            <a:solidFill>
              <a:schemeClr val="accent1">
                <a:alpha val="3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î$ľiḓe">
              <a:extLst>
                <a:ext uri="{FF2B5EF4-FFF2-40B4-BE49-F238E27FC236}">
                  <a16:creationId xmlns:a16="http://schemas.microsoft.com/office/drawing/2014/main" id="{82339D60-0D0F-E0A8-9FEF-57B1B018D0C7}"/>
                </a:ext>
              </a:extLst>
            </p:cNvPr>
            <p:cNvSpPr/>
            <p:nvPr userDrawn="1"/>
          </p:nvSpPr>
          <p:spPr>
            <a:xfrm>
              <a:off x="7252642" y="4348192"/>
              <a:ext cx="132735" cy="13273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14165" y="2469081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5250" y="2203927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1439" y="2924827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26BF0C3-E78F-A831-4B61-1EB569AD1BF9}"/>
              </a:ext>
            </a:extLst>
          </p:cNvPr>
          <p:cNvSpPr/>
          <p:nvPr userDrawn="1"/>
        </p:nvSpPr>
        <p:spPr>
          <a:xfrm>
            <a:off x="5164772" y="3294162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iS1íḓê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 userDrawn="1"/>
        </p:nvSpPr>
        <p:spPr>
          <a:xfrm>
            <a:off x="4465022" y="2360164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6">
            <a:extLst>
              <a:ext uri="{FF2B5EF4-FFF2-40B4-BE49-F238E27FC236}">
                <a16:creationId xmlns:a16="http://schemas.microsoft.com/office/drawing/2014/main" id="{4CDC7559-85E2-2FE2-201F-FE73D47864C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82323" y="2679425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4058865" y="2285292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0600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íşľíďe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497713" y="2654820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542133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025447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8170299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3226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0402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757361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240675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79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六边形 63">
            <a:extLst>
              <a:ext uri="{FF2B5EF4-FFF2-40B4-BE49-F238E27FC236}">
                <a16:creationId xmlns:a16="http://schemas.microsoft.com/office/drawing/2014/main" id="{64701D48-3612-F015-7A0D-8329972945A7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2097602" y="1569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699534" y="161763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7E174D6B-A975-223E-7D47-56F22CD52ED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 rot="16200000">
            <a:off x="9714885" y="3956140"/>
            <a:ext cx="3017782" cy="2517866"/>
          </a:xfrm>
          <a:prstGeom prst="rect">
            <a:avLst/>
          </a:prstGeom>
        </p:spPr>
      </p:pic>
      <p:sp>
        <p:nvSpPr>
          <p:cNvPr id="71" name="矩形 70">
            <a:extLst>
              <a:ext uri="{FF2B5EF4-FFF2-40B4-BE49-F238E27FC236}">
                <a16:creationId xmlns:a16="http://schemas.microsoft.com/office/drawing/2014/main" id="{105A365F-E05A-6A26-7E77-E6094786D794}"/>
              </a:ext>
            </a:extLst>
          </p:cNvPr>
          <p:cNvSpPr/>
          <p:nvPr userDrawn="1"/>
        </p:nvSpPr>
        <p:spPr>
          <a:xfrm>
            <a:off x="9005828" y="3429000"/>
            <a:ext cx="3359650" cy="3563035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>
            <a:off x="0" y="226026"/>
            <a:ext cx="4021016" cy="5727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六边形 15">
            <a:extLst>
              <a:ext uri="{FF2B5EF4-FFF2-40B4-BE49-F238E27FC236}">
                <a16:creationId xmlns:a16="http://schemas.microsoft.com/office/drawing/2014/main" id="{1B81F0E8-945B-4099-5F07-E0BF1C3FBB59}"/>
              </a:ext>
            </a:extLst>
          </p:cNvPr>
          <p:cNvSpPr/>
          <p:nvPr userDrawn="1"/>
        </p:nvSpPr>
        <p:spPr>
          <a:xfrm>
            <a:off x="555427" y="466809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六边形 16">
            <a:extLst>
              <a:ext uri="{FF2B5EF4-FFF2-40B4-BE49-F238E27FC236}">
                <a16:creationId xmlns:a16="http://schemas.microsoft.com/office/drawing/2014/main" id="{D22DB145-C6D6-05B9-DD0F-B45A661DEDD2}"/>
              </a:ext>
            </a:extLst>
          </p:cNvPr>
          <p:cNvSpPr/>
          <p:nvPr userDrawn="1"/>
        </p:nvSpPr>
        <p:spPr>
          <a:xfrm>
            <a:off x="232092" y="484693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六边形 17">
            <a:extLst>
              <a:ext uri="{FF2B5EF4-FFF2-40B4-BE49-F238E27FC236}">
                <a16:creationId xmlns:a16="http://schemas.microsoft.com/office/drawing/2014/main" id="{78E05FA1-1830-1163-CFA5-036858DC6EA2}"/>
              </a:ext>
            </a:extLst>
          </p:cNvPr>
          <p:cNvSpPr/>
          <p:nvPr userDrawn="1"/>
        </p:nvSpPr>
        <p:spPr>
          <a:xfrm>
            <a:off x="1955455" y="5706649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六边形 18">
            <a:extLst>
              <a:ext uri="{FF2B5EF4-FFF2-40B4-BE49-F238E27FC236}">
                <a16:creationId xmlns:a16="http://schemas.microsoft.com/office/drawing/2014/main" id="{1D0E7228-5407-1A86-2892-01555374856E}"/>
              </a:ext>
            </a:extLst>
          </p:cNvPr>
          <p:cNvSpPr/>
          <p:nvPr userDrawn="1"/>
        </p:nvSpPr>
        <p:spPr>
          <a:xfrm>
            <a:off x="1627448" y="58816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六边形 19">
            <a:extLst>
              <a:ext uri="{FF2B5EF4-FFF2-40B4-BE49-F238E27FC236}">
                <a16:creationId xmlns:a16="http://schemas.microsoft.com/office/drawing/2014/main" id="{0CF68392-9E49-E170-4987-E8A7BD1B9171}"/>
              </a:ext>
            </a:extLst>
          </p:cNvPr>
          <p:cNvSpPr/>
          <p:nvPr userDrawn="1"/>
        </p:nvSpPr>
        <p:spPr>
          <a:xfrm>
            <a:off x="1299441" y="60566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六边形 20">
            <a:extLst>
              <a:ext uri="{FF2B5EF4-FFF2-40B4-BE49-F238E27FC236}">
                <a16:creationId xmlns:a16="http://schemas.microsoft.com/office/drawing/2014/main" id="{BA5C53E6-3097-0BFC-AE3F-DCCC9ABFCC41}"/>
              </a:ext>
            </a:extLst>
          </p:cNvPr>
          <p:cNvSpPr/>
          <p:nvPr userDrawn="1"/>
        </p:nvSpPr>
        <p:spPr>
          <a:xfrm>
            <a:off x="1627447" y="62354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六边形 21">
            <a:extLst>
              <a:ext uri="{FF2B5EF4-FFF2-40B4-BE49-F238E27FC236}">
                <a16:creationId xmlns:a16="http://schemas.microsoft.com/office/drawing/2014/main" id="{7BB9746F-3D38-1E94-5F40-1229155F902F}"/>
              </a:ext>
            </a:extLst>
          </p:cNvPr>
          <p:cNvSpPr/>
          <p:nvPr userDrawn="1"/>
        </p:nvSpPr>
        <p:spPr>
          <a:xfrm>
            <a:off x="1955453" y="6414297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1B13494D-DE3A-78AB-5BF5-FE26BED9B467}"/>
              </a:ext>
            </a:extLst>
          </p:cNvPr>
          <p:cNvSpPr/>
          <p:nvPr userDrawn="1"/>
        </p:nvSpPr>
        <p:spPr>
          <a:xfrm>
            <a:off x="1955452" y="6771964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>
            <a:extLst>
              <a:ext uri="{FF2B5EF4-FFF2-40B4-BE49-F238E27FC236}">
                <a16:creationId xmlns:a16="http://schemas.microsoft.com/office/drawing/2014/main" id="{7E64BE27-8CD5-64C8-DA45-C4F450978755}"/>
              </a:ext>
            </a:extLst>
          </p:cNvPr>
          <p:cNvSpPr/>
          <p:nvPr userDrawn="1"/>
        </p:nvSpPr>
        <p:spPr>
          <a:xfrm>
            <a:off x="2339455" y="6414297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9F1A4A4-9140-E9B3-2465-B6C6B116EA24}"/>
              </a:ext>
            </a:extLst>
          </p:cNvPr>
          <p:cNvCxnSpPr>
            <a:cxnSpLocks/>
            <a:stCxn id="17" idx="1"/>
          </p:cNvCxnSpPr>
          <p:nvPr userDrawn="1"/>
        </p:nvCxnSpPr>
        <p:spPr>
          <a:xfrm>
            <a:off x="557568" y="5204599"/>
            <a:ext cx="143106" cy="178833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D3816BB5-C9D9-3736-DBE3-5C9D49D12413}"/>
              </a:ext>
            </a:extLst>
          </p:cNvPr>
          <p:cNvCxnSpPr>
            <a:cxnSpLocks/>
          </p:cNvCxnSpPr>
          <p:nvPr userDrawn="1"/>
        </p:nvCxnSpPr>
        <p:spPr>
          <a:xfrm>
            <a:off x="700674" y="5383432"/>
            <a:ext cx="241121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4DA4CB6C-9F6A-DE38-1CF8-7B044D099826}"/>
              </a:ext>
            </a:extLst>
          </p:cNvPr>
          <p:cNvCxnSpPr>
            <a:cxnSpLocks/>
          </p:cNvCxnSpPr>
          <p:nvPr userDrawn="1"/>
        </p:nvCxnSpPr>
        <p:spPr>
          <a:xfrm>
            <a:off x="941795" y="5383432"/>
            <a:ext cx="340356" cy="0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7748247-1ADA-2E10-4A56-8C9F5AFFC19E}"/>
              </a:ext>
            </a:extLst>
          </p:cNvPr>
          <p:cNvCxnSpPr>
            <a:cxnSpLocks/>
          </p:cNvCxnSpPr>
          <p:nvPr userDrawn="1"/>
        </p:nvCxnSpPr>
        <p:spPr>
          <a:xfrm>
            <a:off x="1282151" y="5383432"/>
            <a:ext cx="186338" cy="23514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EBDE2CE-D91D-FCC4-65D8-FFE3C343960A}"/>
              </a:ext>
            </a:extLst>
          </p:cNvPr>
          <p:cNvCxnSpPr>
            <a:cxnSpLocks/>
          </p:cNvCxnSpPr>
          <p:nvPr userDrawn="1"/>
        </p:nvCxnSpPr>
        <p:spPr>
          <a:xfrm flipH="1">
            <a:off x="789395" y="5385849"/>
            <a:ext cx="152400" cy="23273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CEEE2-A968-7044-8F7E-49924BC5D637}"/>
              </a:ext>
            </a:extLst>
          </p:cNvPr>
          <p:cNvCxnSpPr>
            <a:cxnSpLocks/>
          </p:cNvCxnSpPr>
          <p:nvPr userDrawn="1"/>
        </p:nvCxnSpPr>
        <p:spPr>
          <a:xfrm flipH="1">
            <a:off x="1299441" y="5618580"/>
            <a:ext cx="166612" cy="2689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E0E0D50F-A487-0666-EDEC-7D96E6C96427}"/>
              </a:ext>
            </a:extLst>
          </p:cNvPr>
          <p:cNvCxnSpPr>
            <a:cxnSpLocks/>
            <a:endCxn id="20" idx="4"/>
          </p:cNvCxnSpPr>
          <p:nvPr userDrawn="1"/>
        </p:nvCxnSpPr>
        <p:spPr>
          <a:xfrm>
            <a:off x="1298551" y="5885364"/>
            <a:ext cx="90307" cy="171267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A11F5436-5727-F27B-A3D5-C50E7C74359F}"/>
              </a:ext>
            </a:extLst>
          </p:cNvPr>
          <p:cNvCxnSpPr>
            <a:cxnSpLocks/>
          </p:cNvCxnSpPr>
          <p:nvPr userDrawn="1"/>
        </p:nvCxnSpPr>
        <p:spPr>
          <a:xfrm>
            <a:off x="1666204" y="5794086"/>
            <a:ext cx="48130" cy="9127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4418B16-5C08-2DCA-1E88-267BD85D21A1}"/>
              </a:ext>
            </a:extLst>
          </p:cNvPr>
          <p:cNvCxnSpPr>
            <a:cxnSpLocks/>
          </p:cNvCxnSpPr>
          <p:nvPr userDrawn="1"/>
        </p:nvCxnSpPr>
        <p:spPr>
          <a:xfrm flipH="1">
            <a:off x="1666204" y="6593130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3632BA59-A547-A328-DF46-1D52B8D1655E}"/>
              </a:ext>
            </a:extLst>
          </p:cNvPr>
          <p:cNvCxnSpPr>
            <a:cxnSpLocks/>
          </p:cNvCxnSpPr>
          <p:nvPr userDrawn="1"/>
        </p:nvCxnSpPr>
        <p:spPr>
          <a:xfrm flipH="1">
            <a:off x="1343704" y="6414297"/>
            <a:ext cx="49118" cy="84228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六边形 49">
            <a:extLst>
              <a:ext uri="{FF2B5EF4-FFF2-40B4-BE49-F238E27FC236}">
                <a16:creationId xmlns:a16="http://schemas.microsoft.com/office/drawing/2014/main" id="{04BF8CAF-E445-183A-C65E-1829BB22BC8B}"/>
              </a:ext>
            </a:extLst>
          </p:cNvPr>
          <p:cNvSpPr/>
          <p:nvPr userDrawn="1"/>
        </p:nvSpPr>
        <p:spPr>
          <a:xfrm>
            <a:off x="974992" y="382040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六边形 50">
            <a:extLst>
              <a:ext uri="{FF2B5EF4-FFF2-40B4-BE49-F238E27FC236}">
                <a16:creationId xmlns:a16="http://schemas.microsoft.com/office/drawing/2014/main" id="{F306C9B1-841C-DF4D-BC43-C866751AD001}"/>
              </a:ext>
            </a:extLst>
          </p:cNvPr>
          <p:cNvSpPr/>
          <p:nvPr userDrawn="1"/>
        </p:nvSpPr>
        <p:spPr>
          <a:xfrm>
            <a:off x="646985" y="557031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六边形 51">
            <a:extLst>
              <a:ext uri="{FF2B5EF4-FFF2-40B4-BE49-F238E27FC236}">
                <a16:creationId xmlns:a16="http://schemas.microsoft.com/office/drawing/2014/main" id="{B44FB676-9474-6E0D-E798-28692E8DD457}"/>
              </a:ext>
            </a:extLst>
          </p:cNvPr>
          <p:cNvSpPr/>
          <p:nvPr userDrawn="1"/>
        </p:nvSpPr>
        <p:spPr>
          <a:xfrm>
            <a:off x="318978" y="732022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六边形 52">
            <a:extLst>
              <a:ext uri="{FF2B5EF4-FFF2-40B4-BE49-F238E27FC236}">
                <a16:creationId xmlns:a16="http://schemas.microsoft.com/office/drawing/2014/main" id="{234CC26C-FACC-3DED-3F34-5D2FBCA21311}"/>
              </a:ext>
            </a:extLst>
          </p:cNvPr>
          <p:cNvSpPr/>
          <p:nvPr userDrawn="1"/>
        </p:nvSpPr>
        <p:spPr>
          <a:xfrm>
            <a:off x="320061" y="1085846"/>
            <a:ext cx="414893" cy="35766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六边形 53">
            <a:extLst>
              <a:ext uri="{FF2B5EF4-FFF2-40B4-BE49-F238E27FC236}">
                <a16:creationId xmlns:a16="http://schemas.microsoft.com/office/drawing/2014/main" id="{27BFDA2D-5453-0AAC-FA6D-80640A23E4CE}"/>
              </a:ext>
            </a:extLst>
          </p:cNvPr>
          <p:cNvSpPr/>
          <p:nvPr userDrawn="1"/>
        </p:nvSpPr>
        <p:spPr>
          <a:xfrm>
            <a:off x="1193162" y="902636"/>
            <a:ext cx="877187" cy="756197"/>
          </a:xfrm>
          <a:prstGeom prst="hexagon">
            <a:avLst/>
          </a:pr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D6E4D0E4-FCF3-BB9C-5A85-F8866579A681}"/>
              </a:ext>
            </a:extLst>
          </p:cNvPr>
          <p:cNvCxnSpPr>
            <a:cxnSpLocks/>
            <a:endCxn id="54" idx="4"/>
          </p:cNvCxnSpPr>
          <p:nvPr userDrawn="1"/>
        </p:nvCxnSpPr>
        <p:spPr>
          <a:xfrm>
            <a:off x="1286822" y="73759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35447903-F4ED-0ED7-ACFA-0D1874C73166}"/>
              </a:ext>
            </a:extLst>
          </p:cNvPr>
          <p:cNvCxnSpPr>
            <a:cxnSpLocks/>
          </p:cNvCxnSpPr>
          <p:nvPr userDrawn="1"/>
        </p:nvCxnSpPr>
        <p:spPr>
          <a:xfrm>
            <a:off x="974992" y="900435"/>
            <a:ext cx="95389" cy="165041"/>
          </a:xfrm>
          <a:prstGeom prst="line">
            <a:avLst/>
          </a:prstGeom>
          <a:ln w="19050" cap="rnd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4B5F0C7E-934E-B416-B2C1-0ED3E1158D1B}"/>
              </a:ext>
            </a:extLst>
          </p:cNvPr>
          <p:cNvCxnSpPr>
            <a:cxnSpLocks/>
            <a:endCxn id="54" idx="5"/>
          </p:cNvCxnSpPr>
          <p:nvPr userDrawn="1"/>
        </p:nvCxnSpPr>
        <p:spPr>
          <a:xfrm flipH="1">
            <a:off x="1881300" y="902636"/>
            <a:ext cx="800116" cy="0"/>
          </a:xfrm>
          <a:prstGeom prst="line">
            <a:avLst/>
          </a:prstGeom>
          <a:ln w="19050" cap="rnd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六边形 61">
            <a:extLst>
              <a:ext uri="{FF2B5EF4-FFF2-40B4-BE49-F238E27FC236}">
                <a16:creationId xmlns:a16="http://schemas.microsoft.com/office/drawing/2014/main" id="{E92D5E4E-5463-D659-E88A-9B0E73E8F50A}"/>
              </a:ext>
            </a:extLst>
          </p:cNvPr>
          <p:cNvSpPr/>
          <p:nvPr userDrawn="1"/>
        </p:nvSpPr>
        <p:spPr>
          <a:xfrm>
            <a:off x="111531" y="3970983"/>
            <a:ext cx="414893" cy="357667"/>
          </a:xfrm>
          <a:prstGeom prst="hexagon">
            <a:avLst/>
          </a:prstGeom>
          <a:noFill/>
          <a:ln w="12700">
            <a:gradFill>
              <a:gsLst>
                <a:gs pos="0">
                  <a:schemeClr val="bg1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F6DAED8-09BD-99BA-55B5-30C06550058A}"/>
              </a:ext>
            </a:extLst>
          </p:cNvPr>
          <p:cNvSpPr/>
          <p:nvPr userDrawn="1"/>
        </p:nvSpPr>
        <p:spPr>
          <a:xfrm>
            <a:off x="-13621" y="0"/>
            <a:ext cx="3359650" cy="6858000"/>
          </a:xfrm>
          <a:prstGeom prst="rect">
            <a:avLst/>
          </a:prstGeom>
          <a:gradFill flip="none" rotWithShape="1">
            <a:gsLst>
              <a:gs pos="57000">
                <a:schemeClr val="bg1">
                  <a:alpha val="77000"/>
                </a:schemeClr>
              </a:gs>
              <a:gs pos="100000">
                <a:schemeClr val="bg1">
                  <a:alpha val="200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iṩ1iḍé">
            <a:extLst>
              <a:ext uri="{FF2B5EF4-FFF2-40B4-BE49-F238E27FC236}">
                <a16:creationId xmlns:a16="http://schemas.microsoft.com/office/drawing/2014/main" id="{CC34B1B4-6FB3-BEC2-20A8-5483C6F96776}"/>
              </a:ext>
            </a:extLst>
          </p:cNvPr>
          <p:cNvSpPr/>
          <p:nvPr userDrawn="1"/>
        </p:nvSpPr>
        <p:spPr>
          <a:xfrm>
            <a:off x="0" y="2689964"/>
            <a:ext cx="3798317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BB2F55FB-496C-E74E-1C82-4652339E01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80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A538EF61-0CF6-2735-4654-C2F60C1B5FB3}"/>
              </a:ext>
            </a:extLst>
          </p:cNvPr>
          <p:cNvSpPr/>
          <p:nvPr userDrawn="1"/>
        </p:nvSpPr>
        <p:spPr>
          <a:xfrm>
            <a:off x="-2775487" y="-1213758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598458E-0E6D-4FB0-21B2-2EA0673032D8}"/>
              </a:ext>
            </a:extLst>
          </p:cNvPr>
          <p:cNvSpPr/>
          <p:nvPr userDrawn="1"/>
        </p:nvSpPr>
        <p:spPr>
          <a:xfrm>
            <a:off x="-1044975" y="516754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22B59B6-AE89-188C-D588-A8407EC0DAF4}"/>
              </a:ext>
            </a:extLst>
          </p:cNvPr>
          <p:cNvSpPr/>
          <p:nvPr userDrawn="1"/>
        </p:nvSpPr>
        <p:spPr>
          <a:xfrm>
            <a:off x="556957" y="2118686"/>
            <a:ext cx="2620620" cy="262062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cn.vuejs.org/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cn.vuejs.org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1.wdp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cn.vuejs.org/guide/scaling-up/sfc.html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hyperlink" Target="https://element-plus.org/zh-CN/#/zh-CN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17A4C1B-657F-7BA4-BF40-8A8DE9B685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  <a:r>
              <a:rPr lang="en-US" altLang="zh-CN"/>
              <a:t>(AI)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975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D7550A7-EB65-1CE1-5A9A-BA9EDFA30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开发</a:t>
            </a:r>
          </a:p>
        </p:txBody>
      </p:sp>
      <p:cxnSp>
        <p:nvCxnSpPr>
          <p:cNvPr id="5" name="Straight Connector 21">
            <a:extLst>
              <a:ext uri="{FF2B5EF4-FFF2-40B4-BE49-F238E27FC236}">
                <a16:creationId xmlns:a16="http://schemas.microsoft.com/office/drawing/2014/main" id="{59F1473A-64A8-E522-0DAE-A5ECD3CD20B7}"/>
              </a:ext>
            </a:extLst>
          </p:cNvPr>
          <p:cNvCxnSpPr>
            <a:cxnSpLocks/>
          </p:cNvCxnSpPr>
          <p:nvPr/>
        </p:nvCxnSpPr>
        <p:spPr>
          <a:xfrm rot="5400000">
            <a:off x="1624293" y="4381355"/>
            <a:ext cx="2538932" cy="186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83">
            <a:extLst>
              <a:ext uri="{FF2B5EF4-FFF2-40B4-BE49-F238E27FC236}">
                <a16:creationId xmlns:a16="http://schemas.microsoft.com/office/drawing/2014/main" id="{D9F887E5-078B-CE24-4C74-0E9998F8266A}"/>
              </a:ext>
            </a:extLst>
          </p:cNvPr>
          <p:cNvSpPr>
            <a:spLocks noEditPoints="1"/>
          </p:cNvSpPr>
          <p:nvPr/>
        </p:nvSpPr>
        <p:spPr bwMode="auto">
          <a:xfrm>
            <a:off x="1481899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cxnSp>
        <p:nvCxnSpPr>
          <p:cNvPr id="13" name="Straight Connector 21">
            <a:extLst>
              <a:ext uri="{FF2B5EF4-FFF2-40B4-BE49-F238E27FC236}">
                <a16:creationId xmlns:a16="http://schemas.microsoft.com/office/drawing/2014/main" id="{5214D90A-89B0-B2FF-C844-3B52A6B891D1}"/>
              </a:ext>
            </a:extLst>
          </p:cNvPr>
          <p:cNvCxnSpPr>
            <a:cxnSpLocks/>
          </p:cNvCxnSpPr>
          <p:nvPr/>
        </p:nvCxnSpPr>
        <p:spPr>
          <a:xfrm rot="5400000">
            <a:off x="3711811" y="4381355"/>
            <a:ext cx="2538932" cy="186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21">
            <a:extLst>
              <a:ext uri="{FF2B5EF4-FFF2-40B4-BE49-F238E27FC236}">
                <a16:creationId xmlns:a16="http://schemas.microsoft.com/office/drawing/2014/main" id="{E7936C02-4A5B-2215-2D56-6A840AD4F2CC}"/>
              </a:ext>
            </a:extLst>
          </p:cNvPr>
          <p:cNvCxnSpPr>
            <a:cxnSpLocks/>
          </p:cNvCxnSpPr>
          <p:nvPr/>
        </p:nvCxnSpPr>
        <p:spPr>
          <a:xfrm rot="5400000">
            <a:off x="5799329" y="4381355"/>
            <a:ext cx="2538932" cy="18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2B3053A-4D61-A11A-A5EB-D76E2D123F54}"/>
              </a:ext>
            </a:extLst>
          </p:cNvPr>
          <p:cNvGrpSpPr/>
          <p:nvPr/>
        </p:nvGrpSpPr>
        <p:grpSpPr>
          <a:xfrm>
            <a:off x="809043" y="2089191"/>
            <a:ext cx="2147451" cy="613931"/>
            <a:chOff x="1069135" y="2116795"/>
            <a:chExt cx="2147451" cy="613931"/>
          </a:xfrm>
        </p:grpSpPr>
        <p:sp>
          <p:nvSpPr>
            <p:cNvPr id="9" name="Chevron 17">
              <a:extLst>
                <a:ext uri="{FF2B5EF4-FFF2-40B4-BE49-F238E27FC236}">
                  <a16:creationId xmlns:a16="http://schemas.microsoft.com/office/drawing/2014/main" id="{0A4942E2-588F-FB39-B7AC-084F25D4CA7F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adFill>
              <a:gsLst>
                <a:gs pos="0">
                  <a:srgbClr val="C00000"/>
                </a:gs>
                <a:gs pos="100000">
                  <a:srgbClr val="C00000"/>
                </a:gs>
              </a:gsLst>
              <a:lin ang="2700000" scaled="0"/>
            </a:gra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41C491C4-559F-D614-09BA-74819AB6F35F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前端基础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8" name="Chevron 17">
            <a:extLst>
              <a:ext uri="{FF2B5EF4-FFF2-40B4-BE49-F238E27FC236}">
                <a16:creationId xmlns:a16="http://schemas.microsoft.com/office/drawing/2014/main" id="{F8DF52A8-DEB8-B9ED-B057-A541078EA0B1}"/>
              </a:ext>
            </a:extLst>
          </p:cNvPr>
          <p:cNvSpPr/>
          <p:nvPr/>
        </p:nvSpPr>
        <p:spPr>
          <a:xfrm>
            <a:off x="2895627" y="2089191"/>
            <a:ext cx="2147451" cy="613931"/>
          </a:xfrm>
          <a:prstGeom prst="chevron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7127ED8-E109-8171-ADC2-F59F413BCE88}"/>
              </a:ext>
            </a:extLst>
          </p:cNvPr>
          <p:cNvSpPr/>
          <p:nvPr/>
        </p:nvSpPr>
        <p:spPr>
          <a:xfrm>
            <a:off x="3164232" y="2185906"/>
            <a:ext cx="1593599" cy="40549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>
                <a:solidFill>
                  <a:schemeClr val="bg1"/>
                </a:solidFill>
              </a:rPr>
              <a:t>Web</a:t>
            </a:r>
            <a:r>
              <a:rPr lang="zh-CN" altLang="en-US" b="1">
                <a:solidFill>
                  <a:schemeClr val="bg1"/>
                </a:solidFill>
              </a:rPr>
              <a:t>后端基础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1" name="Chevron 17">
            <a:extLst>
              <a:ext uri="{FF2B5EF4-FFF2-40B4-BE49-F238E27FC236}">
                <a16:creationId xmlns:a16="http://schemas.microsoft.com/office/drawing/2014/main" id="{121AB0CA-014E-3017-F545-9F968FC88816}"/>
              </a:ext>
            </a:extLst>
          </p:cNvPr>
          <p:cNvSpPr/>
          <p:nvPr/>
        </p:nvSpPr>
        <p:spPr>
          <a:xfrm>
            <a:off x="4982211" y="2089191"/>
            <a:ext cx="2147451" cy="613931"/>
          </a:xfrm>
          <a:prstGeom prst="chevron">
            <a:avLst/>
          </a:prstGeom>
          <a:solidFill>
            <a:srgbClr val="C00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061DC84-A4B7-D464-254C-AC0DA646B94C}"/>
              </a:ext>
            </a:extLst>
          </p:cNvPr>
          <p:cNvSpPr/>
          <p:nvPr/>
        </p:nvSpPr>
        <p:spPr>
          <a:xfrm>
            <a:off x="5250816" y="2185906"/>
            <a:ext cx="1593599" cy="4054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>
                <a:solidFill>
                  <a:schemeClr val="bg1"/>
                </a:solidFill>
              </a:rPr>
              <a:t>Web</a:t>
            </a:r>
            <a:r>
              <a:rPr lang="zh-CN" altLang="en-US" b="1">
                <a:solidFill>
                  <a:schemeClr val="bg1"/>
                </a:solidFill>
              </a:rPr>
              <a:t>后端实战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4" name="Chevron 17">
            <a:extLst>
              <a:ext uri="{FF2B5EF4-FFF2-40B4-BE49-F238E27FC236}">
                <a16:creationId xmlns:a16="http://schemas.microsoft.com/office/drawing/2014/main" id="{362B39C7-E9FA-4E49-D42C-535FA8AE147A}"/>
              </a:ext>
            </a:extLst>
          </p:cNvPr>
          <p:cNvSpPr/>
          <p:nvPr/>
        </p:nvSpPr>
        <p:spPr>
          <a:xfrm>
            <a:off x="7068795" y="2089191"/>
            <a:ext cx="2147451" cy="613931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rgbClr r="0" g="0" b="0"/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0A90EA3-F634-2D51-5F04-36D6DE93B3ED}"/>
              </a:ext>
            </a:extLst>
          </p:cNvPr>
          <p:cNvSpPr/>
          <p:nvPr/>
        </p:nvSpPr>
        <p:spPr>
          <a:xfrm>
            <a:off x="7449590" y="2193408"/>
            <a:ext cx="1593599" cy="405496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>
                <a:solidFill>
                  <a:schemeClr val="bg1"/>
                </a:solidFill>
              </a:rPr>
              <a:t>Web</a:t>
            </a:r>
            <a:r>
              <a:rPr lang="zh-CN" altLang="en-US" b="1">
                <a:solidFill>
                  <a:schemeClr val="bg1"/>
                </a:solidFill>
              </a:rPr>
              <a:t>前端实战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0757EBE7-6351-5A18-B539-3B8EADA13E2B}"/>
              </a:ext>
            </a:extLst>
          </p:cNvPr>
          <p:cNvGrpSpPr/>
          <p:nvPr/>
        </p:nvGrpSpPr>
        <p:grpSpPr>
          <a:xfrm>
            <a:off x="9155379" y="2089191"/>
            <a:ext cx="2147451" cy="613931"/>
            <a:chOff x="1069135" y="2116795"/>
            <a:chExt cx="2147451" cy="613931"/>
          </a:xfrm>
          <a:solidFill>
            <a:schemeClr val="bg1">
              <a:lumMod val="75000"/>
            </a:schemeClr>
          </a:solidFill>
        </p:grpSpPr>
        <p:sp>
          <p:nvSpPr>
            <p:cNvPr id="47" name="Chevron 17">
              <a:extLst>
                <a:ext uri="{FF2B5EF4-FFF2-40B4-BE49-F238E27FC236}">
                  <a16:creationId xmlns:a16="http://schemas.microsoft.com/office/drawing/2014/main" id="{639BC92B-1F18-17EA-D565-3D2BA2781364}"/>
                </a:ext>
              </a:extLst>
            </p:cNvPr>
            <p:cNvSpPr/>
            <p:nvPr/>
          </p:nvSpPr>
          <p:spPr>
            <a:xfrm>
              <a:off x="1069135" y="2116795"/>
              <a:ext cx="2147451" cy="613931"/>
            </a:xfrm>
            <a:prstGeom prst="chevron">
              <a:avLst/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rgbClr r="0" g="0" b="0"/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3E8B3751-6069-8238-1182-80CA48C8D024}"/>
                </a:ext>
              </a:extLst>
            </p:cNvPr>
            <p:cNvSpPr/>
            <p:nvPr/>
          </p:nvSpPr>
          <p:spPr>
            <a:xfrm>
              <a:off x="1337740" y="2213510"/>
              <a:ext cx="1593599" cy="405496"/>
            </a:xfrm>
            <a:prstGeom prst="rect">
              <a:avLst/>
            </a:prstGeom>
            <a:grpFill/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>
                  <a:solidFill>
                    <a:schemeClr val="bg1"/>
                  </a:solidFill>
                </a:rPr>
                <a:t>Web</a:t>
              </a:r>
              <a:r>
                <a:rPr lang="zh-CN" altLang="en-US" b="1">
                  <a:solidFill>
                    <a:schemeClr val="bg1"/>
                  </a:solidFill>
                </a:rPr>
                <a:t>项目部署</a:t>
              </a:r>
              <a:endParaRPr lang="zh-CN" alt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0" name="Straight Connector 21">
            <a:extLst>
              <a:ext uri="{FF2B5EF4-FFF2-40B4-BE49-F238E27FC236}">
                <a16:creationId xmlns:a16="http://schemas.microsoft.com/office/drawing/2014/main" id="{A98EF234-3FC7-E867-2084-4CED8360ADCE}"/>
              </a:ext>
            </a:extLst>
          </p:cNvPr>
          <p:cNvCxnSpPr>
            <a:cxnSpLocks/>
          </p:cNvCxnSpPr>
          <p:nvPr/>
        </p:nvCxnSpPr>
        <p:spPr>
          <a:xfrm rot="5400000">
            <a:off x="7886846" y="4381355"/>
            <a:ext cx="2538932" cy="186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Freeform 83">
            <a:extLst>
              <a:ext uri="{FF2B5EF4-FFF2-40B4-BE49-F238E27FC236}">
                <a16:creationId xmlns:a16="http://schemas.microsoft.com/office/drawing/2014/main" id="{F49C1183-41E3-F0CD-8058-128B00D53636}"/>
              </a:ext>
            </a:extLst>
          </p:cNvPr>
          <p:cNvSpPr>
            <a:spLocks noEditPoints="1"/>
          </p:cNvSpPr>
          <p:nvPr/>
        </p:nvSpPr>
        <p:spPr bwMode="auto">
          <a:xfrm>
            <a:off x="3596452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7" name="Freeform 83">
            <a:extLst>
              <a:ext uri="{FF2B5EF4-FFF2-40B4-BE49-F238E27FC236}">
                <a16:creationId xmlns:a16="http://schemas.microsoft.com/office/drawing/2014/main" id="{797717AC-4DDD-E71F-B0BD-50F0D9942AEF}"/>
              </a:ext>
            </a:extLst>
          </p:cNvPr>
          <p:cNvSpPr>
            <a:spLocks noEditPoints="1"/>
          </p:cNvSpPr>
          <p:nvPr/>
        </p:nvSpPr>
        <p:spPr bwMode="auto">
          <a:xfrm>
            <a:off x="5758310" y="3013250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rgbClr val="C00000"/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59" name="Freeform 83">
            <a:extLst>
              <a:ext uri="{FF2B5EF4-FFF2-40B4-BE49-F238E27FC236}">
                <a16:creationId xmlns:a16="http://schemas.microsoft.com/office/drawing/2014/main" id="{203401C1-3518-611E-5F02-5F354DD660C1}"/>
              </a:ext>
            </a:extLst>
          </p:cNvPr>
          <p:cNvSpPr>
            <a:spLocks noEditPoints="1"/>
          </p:cNvSpPr>
          <p:nvPr/>
        </p:nvSpPr>
        <p:spPr bwMode="auto">
          <a:xfrm>
            <a:off x="7841091" y="3013249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1" name="Freeform 83">
            <a:extLst>
              <a:ext uri="{FF2B5EF4-FFF2-40B4-BE49-F238E27FC236}">
                <a16:creationId xmlns:a16="http://schemas.microsoft.com/office/drawing/2014/main" id="{1C98404D-0397-3830-914C-B79517CC847F}"/>
              </a:ext>
            </a:extLst>
          </p:cNvPr>
          <p:cNvSpPr>
            <a:spLocks noEditPoints="1"/>
          </p:cNvSpPr>
          <p:nvPr/>
        </p:nvSpPr>
        <p:spPr bwMode="auto">
          <a:xfrm>
            <a:off x="9955644" y="3013248"/>
            <a:ext cx="528209" cy="528209"/>
          </a:xfrm>
          <a:custGeom>
            <a:avLst/>
            <a:gdLst/>
            <a:ahLst/>
            <a:cxnLst>
              <a:cxn ang="0">
                <a:pos x="64" y="128"/>
              </a:cxn>
              <a:cxn ang="0">
                <a:pos x="128" y="66"/>
              </a:cxn>
              <a:cxn ang="0">
                <a:pos x="128" y="64"/>
              </a:cxn>
              <a:cxn ang="0">
                <a:pos x="0" y="64"/>
              </a:cxn>
              <a:cxn ang="0">
                <a:pos x="0" y="66"/>
              </a:cxn>
              <a:cxn ang="0">
                <a:pos x="100" y="91"/>
              </a:cxn>
              <a:cxn ang="0">
                <a:pos x="84" y="68"/>
              </a:cxn>
              <a:cxn ang="0">
                <a:pos x="100" y="91"/>
              </a:cxn>
              <a:cxn ang="0">
                <a:pos x="124" y="68"/>
              </a:cxn>
              <a:cxn ang="0">
                <a:pos x="103" y="93"/>
              </a:cxn>
              <a:cxn ang="0">
                <a:pos x="50" y="89"/>
              </a:cxn>
              <a:cxn ang="0">
                <a:pos x="78" y="89"/>
              </a:cxn>
              <a:cxn ang="0">
                <a:pos x="50" y="89"/>
              </a:cxn>
              <a:cxn ang="0">
                <a:pos x="30" y="95"/>
              </a:cxn>
              <a:cxn ang="0">
                <a:pos x="56" y="123"/>
              </a:cxn>
              <a:cxn ang="0">
                <a:pos x="64" y="44"/>
              </a:cxn>
              <a:cxn ang="0">
                <a:pos x="80" y="64"/>
              </a:cxn>
              <a:cxn ang="0">
                <a:pos x="49" y="43"/>
              </a:cxn>
              <a:cxn ang="0">
                <a:pos x="79" y="85"/>
              </a:cxn>
              <a:cxn ang="0">
                <a:pos x="49" y="85"/>
              </a:cxn>
              <a:cxn ang="0">
                <a:pos x="80" y="68"/>
              </a:cxn>
              <a:cxn ang="0">
                <a:pos x="98" y="95"/>
              </a:cxn>
              <a:cxn ang="0">
                <a:pos x="82" y="90"/>
              </a:cxn>
              <a:cxn ang="0">
                <a:pos x="83" y="42"/>
              </a:cxn>
              <a:cxn ang="0">
                <a:pos x="104" y="64"/>
              </a:cxn>
              <a:cxn ang="0">
                <a:pos x="82" y="38"/>
              </a:cxn>
              <a:cxn ang="0">
                <a:pos x="98" y="33"/>
              </a:cxn>
              <a:cxn ang="0">
                <a:pos x="78" y="39"/>
              </a:cxn>
              <a:cxn ang="0">
                <a:pos x="50" y="39"/>
              </a:cxn>
              <a:cxn ang="0">
                <a:pos x="78" y="39"/>
              </a:cxn>
              <a:cxn ang="0">
                <a:pos x="30" y="33"/>
              </a:cxn>
              <a:cxn ang="0">
                <a:pos x="46" y="38"/>
              </a:cxn>
              <a:cxn ang="0">
                <a:pos x="44" y="64"/>
              </a:cxn>
              <a:cxn ang="0">
                <a:pos x="28" y="37"/>
              </a:cxn>
              <a:cxn ang="0">
                <a:pos x="44" y="68"/>
              </a:cxn>
              <a:cxn ang="0">
                <a:pos x="28" y="91"/>
              </a:cxn>
              <a:cxn ang="0">
                <a:pos x="44" y="68"/>
              </a:cxn>
              <a:cxn ang="0">
                <a:pos x="15" y="98"/>
              </a:cxn>
              <a:cxn ang="0">
                <a:pos x="20" y="68"/>
              </a:cxn>
              <a:cxn ang="0">
                <a:pos x="17" y="102"/>
              </a:cxn>
              <a:cxn ang="0">
                <a:pos x="43" y="120"/>
              </a:cxn>
              <a:cxn ang="0">
                <a:pos x="85" y="120"/>
              </a:cxn>
              <a:cxn ang="0">
                <a:pos x="111" y="102"/>
              </a:cxn>
              <a:cxn ang="0">
                <a:pos x="108" y="64"/>
              </a:cxn>
              <a:cxn ang="0">
                <a:pos x="113" y="30"/>
              </a:cxn>
              <a:cxn ang="0">
                <a:pos x="108" y="64"/>
              </a:cxn>
              <a:cxn ang="0">
                <a:pos x="102" y="32"/>
              </a:cxn>
              <a:cxn ang="0">
                <a:pos x="111" y="26"/>
              </a:cxn>
              <a:cxn ang="0">
                <a:pos x="26" y="32"/>
              </a:cxn>
              <a:cxn ang="0">
                <a:pos x="43" y="8"/>
              </a:cxn>
              <a:cxn ang="0">
                <a:pos x="25" y="35"/>
              </a:cxn>
              <a:cxn ang="0">
                <a:pos x="4" y="64"/>
              </a:cxn>
            </a:cxnLst>
            <a:rect l="0" t="0" r="r" b="b"/>
            <a:pathLst>
              <a:path w="128" h="128">
                <a:moveTo>
                  <a:pt x="0" y="67"/>
                </a:moveTo>
                <a:cubicBezTo>
                  <a:pt x="2" y="101"/>
                  <a:pt x="30" y="128"/>
                  <a:pt x="64" y="128"/>
                </a:cubicBezTo>
                <a:cubicBezTo>
                  <a:pt x="98" y="128"/>
                  <a:pt x="126" y="101"/>
                  <a:pt x="128" y="67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6"/>
                  <a:pt x="128" y="66"/>
                  <a:pt x="128" y="66"/>
                </a:cubicBezTo>
                <a:cubicBezTo>
                  <a:pt x="128" y="65"/>
                  <a:pt x="128" y="65"/>
                  <a:pt x="128" y="64"/>
                </a:cubicBezTo>
                <a:cubicBezTo>
                  <a:pt x="128" y="29"/>
                  <a:pt x="99" y="0"/>
                  <a:pt x="64" y="0"/>
                </a:cubicBezTo>
                <a:cubicBezTo>
                  <a:pt x="29" y="0"/>
                  <a:pt x="0" y="29"/>
                  <a:pt x="0" y="64"/>
                </a:cubicBezTo>
                <a:cubicBezTo>
                  <a:pt x="0" y="65"/>
                  <a:pt x="0" y="65"/>
                  <a:pt x="0" y="66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6"/>
                  <a:pt x="0" y="66"/>
                  <a:pt x="0" y="67"/>
                </a:cubicBezTo>
                <a:close/>
                <a:moveTo>
                  <a:pt x="100" y="91"/>
                </a:moveTo>
                <a:cubicBezTo>
                  <a:pt x="94" y="89"/>
                  <a:pt x="89" y="87"/>
                  <a:pt x="83" y="86"/>
                </a:cubicBezTo>
                <a:cubicBezTo>
                  <a:pt x="83" y="80"/>
                  <a:pt x="84" y="74"/>
                  <a:pt x="84" y="68"/>
                </a:cubicBezTo>
                <a:cubicBezTo>
                  <a:pt x="104" y="68"/>
                  <a:pt x="104" y="68"/>
                  <a:pt x="104" y="68"/>
                </a:cubicBezTo>
                <a:cubicBezTo>
                  <a:pt x="104" y="76"/>
                  <a:pt x="102" y="84"/>
                  <a:pt x="100" y="91"/>
                </a:cubicBezTo>
                <a:close/>
                <a:moveTo>
                  <a:pt x="108" y="68"/>
                </a:moveTo>
                <a:cubicBezTo>
                  <a:pt x="124" y="68"/>
                  <a:pt x="124" y="68"/>
                  <a:pt x="124" y="68"/>
                </a:cubicBezTo>
                <a:cubicBezTo>
                  <a:pt x="123" y="79"/>
                  <a:pt x="119" y="90"/>
                  <a:pt x="113" y="98"/>
                </a:cubicBezTo>
                <a:cubicBezTo>
                  <a:pt x="110" y="96"/>
                  <a:pt x="107" y="94"/>
                  <a:pt x="103" y="93"/>
                </a:cubicBezTo>
                <a:cubicBezTo>
                  <a:pt x="106" y="85"/>
                  <a:pt x="107" y="77"/>
                  <a:pt x="108" y="68"/>
                </a:cubicBezTo>
                <a:close/>
                <a:moveTo>
                  <a:pt x="50" y="89"/>
                </a:moveTo>
                <a:cubicBezTo>
                  <a:pt x="54" y="88"/>
                  <a:pt x="59" y="88"/>
                  <a:pt x="64" y="88"/>
                </a:cubicBezTo>
                <a:cubicBezTo>
                  <a:pt x="69" y="88"/>
                  <a:pt x="74" y="88"/>
                  <a:pt x="78" y="89"/>
                </a:cubicBezTo>
                <a:cubicBezTo>
                  <a:pt x="76" y="110"/>
                  <a:pt x="70" y="124"/>
                  <a:pt x="64" y="124"/>
                </a:cubicBezTo>
                <a:cubicBezTo>
                  <a:pt x="58" y="124"/>
                  <a:pt x="52" y="110"/>
                  <a:pt x="50" y="89"/>
                </a:cubicBezTo>
                <a:close/>
                <a:moveTo>
                  <a:pt x="56" y="123"/>
                </a:moveTo>
                <a:cubicBezTo>
                  <a:pt x="45" y="119"/>
                  <a:pt x="35" y="109"/>
                  <a:pt x="30" y="95"/>
                </a:cubicBezTo>
                <a:cubicBezTo>
                  <a:pt x="35" y="93"/>
                  <a:pt x="40" y="91"/>
                  <a:pt x="46" y="90"/>
                </a:cubicBezTo>
                <a:cubicBezTo>
                  <a:pt x="48" y="104"/>
                  <a:pt x="51" y="116"/>
                  <a:pt x="56" y="123"/>
                </a:cubicBezTo>
                <a:close/>
                <a:moveTo>
                  <a:pt x="49" y="43"/>
                </a:moveTo>
                <a:cubicBezTo>
                  <a:pt x="54" y="44"/>
                  <a:pt x="59" y="44"/>
                  <a:pt x="64" y="44"/>
                </a:cubicBezTo>
                <a:cubicBezTo>
                  <a:pt x="69" y="44"/>
                  <a:pt x="74" y="44"/>
                  <a:pt x="79" y="43"/>
                </a:cubicBezTo>
                <a:cubicBezTo>
                  <a:pt x="80" y="49"/>
                  <a:pt x="80" y="56"/>
                  <a:pt x="80" y="64"/>
                </a:cubicBezTo>
                <a:cubicBezTo>
                  <a:pt x="48" y="64"/>
                  <a:pt x="48" y="64"/>
                  <a:pt x="48" y="64"/>
                </a:cubicBezTo>
                <a:cubicBezTo>
                  <a:pt x="48" y="56"/>
                  <a:pt x="48" y="49"/>
                  <a:pt x="49" y="43"/>
                </a:cubicBezTo>
                <a:close/>
                <a:moveTo>
                  <a:pt x="80" y="68"/>
                </a:moveTo>
                <a:cubicBezTo>
                  <a:pt x="80" y="74"/>
                  <a:pt x="79" y="80"/>
                  <a:pt x="79" y="85"/>
                </a:cubicBezTo>
                <a:cubicBezTo>
                  <a:pt x="74" y="84"/>
                  <a:pt x="69" y="84"/>
                  <a:pt x="64" y="84"/>
                </a:cubicBezTo>
                <a:cubicBezTo>
                  <a:pt x="59" y="84"/>
                  <a:pt x="54" y="84"/>
                  <a:pt x="49" y="85"/>
                </a:cubicBezTo>
                <a:cubicBezTo>
                  <a:pt x="49" y="80"/>
                  <a:pt x="48" y="74"/>
                  <a:pt x="48" y="68"/>
                </a:cubicBezTo>
                <a:lnTo>
                  <a:pt x="80" y="68"/>
                </a:lnTo>
                <a:close/>
                <a:moveTo>
                  <a:pt x="82" y="90"/>
                </a:moveTo>
                <a:cubicBezTo>
                  <a:pt x="88" y="91"/>
                  <a:pt x="93" y="93"/>
                  <a:pt x="98" y="95"/>
                </a:cubicBezTo>
                <a:cubicBezTo>
                  <a:pt x="93" y="109"/>
                  <a:pt x="83" y="119"/>
                  <a:pt x="72" y="123"/>
                </a:cubicBezTo>
                <a:cubicBezTo>
                  <a:pt x="77" y="116"/>
                  <a:pt x="80" y="104"/>
                  <a:pt x="82" y="90"/>
                </a:cubicBezTo>
                <a:close/>
                <a:moveTo>
                  <a:pt x="84" y="64"/>
                </a:moveTo>
                <a:cubicBezTo>
                  <a:pt x="84" y="57"/>
                  <a:pt x="84" y="49"/>
                  <a:pt x="83" y="42"/>
                </a:cubicBezTo>
                <a:cubicBezTo>
                  <a:pt x="89" y="41"/>
                  <a:pt x="94" y="39"/>
                  <a:pt x="100" y="37"/>
                </a:cubicBezTo>
                <a:cubicBezTo>
                  <a:pt x="102" y="45"/>
                  <a:pt x="104" y="54"/>
                  <a:pt x="104" y="64"/>
                </a:cubicBezTo>
                <a:lnTo>
                  <a:pt x="84" y="64"/>
                </a:lnTo>
                <a:close/>
                <a:moveTo>
                  <a:pt x="82" y="38"/>
                </a:moveTo>
                <a:cubicBezTo>
                  <a:pt x="80" y="24"/>
                  <a:pt x="77" y="12"/>
                  <a:pt x="72" y="5"/>
                </a:cubicBezTo>
                <a:cubicBezTo>
                  <a:pt x="83" y="9"/>
                  <a:pt x="93" y="19"/>
                  <a:pt x="98" y="33"/>
                </a:cubicBezTo>
                <a:cubicBezTo>
                  <a:pt x="93" y="35"/>
                  <a:pt x="88" y="37"/>
                  <a:pt x="82" y="38"/>
                </a:cubicBezTo>
                <a:close/>
                <a:moveTo>
                  <a:pt x="78" y="39"/>
                </a:moveTo>
                <a:cubicBezTo>
                  <a:pt x="74" y="40"/>
                  <a:pt x="69" y="40"/>
                  <a:pt x="64" y="40"/>
                </a:cubicBezTo>
                <a:cubicBezTo>
                  <a:pt x="59" y="40"/>
                  <a:pt x="54" y="40"/>
                  <a:pt x="50" y="39"/>
                </a:cubicBezTo>
                <a:cubicBezTo>
                  <a:pt x="52" y="18"/>
                  <a:pt x="58" y="4"/>
                  <a:pt x="64" y="4"/>
                </a:cubicBezTo>
                <a:cubicBezTo>
                  <a:pt x="70" y="4"/>
                  <a:pt x="76" y="18"/>
                  <a:pt x="78" y="39"/>
                </a:cubicBezTo>
                <a:close/>
                <a:moveTo>
                  <a:pt x="46" y="38"/>
                </a:moveTo>
                <a:cubicBezTo>
                  <a:pt x="40" y="37"/>
                  <a:pt x="35" y="35"/>
                  <a:pt x="30" y="33"/>
                </a:cubicBezTo>
                <a:cubicBezTo>
                  <a:pt x="35" y="19"/>
                  <a:pt x="45" y="9"/>
                  <a:pt x="56" y="5"/>
                </a:cubicBezTo>
                <a:cubicBezTo>
                  <a:pt x="51" y="12"/>
                  <a:pt x="48" y="24"/>
                  <a:pt x="46" y="38"/>
                </a:cubicBezTo>
                <a:close/>
                <a:moveTo>
                  <a:pt x="45" y="42"/>
                </a:moveTo>
                <a:cubicBezTo>
                  <a:pt x="44" y="49"/>
                  <a:pt x="44" y="57"/>
                  <a:pt x="44" y="64"/>
                </a:cubicBezTo>
                <a:cubicBezTo>
                  <a:pt x="24" y="64"/>
                  <a:pt x="24" y="64"/>
                  <a:pt x="24" y="64"/>
                </a:cubicBezTo>
                <a:cubicBezTo>
                  <a:pt x="24" y="54"/>
                  <a:pt x="26" y="45"/>
                  <a:pt x="28" y="37"/>
                </a:cubicBezTo>
                <a:cubicBezTo>
                  <a:pt x="34" y="39"/>
                  <a:pt x="39" y="41"/>
                  <a:pt x="45" y="42"/>
                </a:cubicBezTo>
                <a:close/>
                <a:moveTo>
                  <a:pt x="44" y="68"/>
                </a:moveTo>
                <a:cubicBezTo>
                  <a:pt x="44" y="74"/>
                  <a:pt x="45" y="80"/>
                  <a:pt x="45" y="86"/>
                </a:cubicBezTo>
                <a:cubicBezTo>
                  <a:pt x="39" y="87"/>
                  <a:pt x="34" y="89"/>
                  <a:pt x="28" y="91"/>
                </a:cubicBezTo>
                <a:cubicBezTo>
                  <a:pt x="26" y="84"/>
                  <a:pt x="25" y="76"/>
                  <a:pt x="24" y="68"/>
                </a:cubicBezTo>
                <a:lnTo>
                  <a:pt x="44" y="68"/>
                </a:lnTo>
                <a:close/>
                <a:moveTo>
                  <a:pt x="25" y="93"/>
                </a:moveTo>
                <a:cubicBezTo>
                  <a:pt x="21" y="94"/>
                  <a:pt x="18" y="96"/>
                  <a:pt x="15" y="98"/>
                </a:cubicBezTo>
                <a:cubicBezTo>
                  <a:pt x="9" y="90"/>
                  <a:pt x="5" y="79"/>
                  <a:pt x="4" y="68"/>
                </a:cubicBezTo>
                <a:cubicBezTo>
                  <a:pt x="20" y="68"/>
                  <a:pt x="20" y="68"/>
                  <a:pt x="20" y="68"/>
                </a:cubicBezTo>
                <a:cubicBezTo>
                  <a:pt x="21" y="77"/>
                  <a:pt x="22" y="85"/>
                  <a:pt x="25" y="93"/>
                </a:cubicBezTo>
                <a:close/>
                <a:moveTo>
                  <a:pt x="17" y="102"/>
                </a:moveTo>
                <a:cubicBezTo>
                  <a:pt x="20" y="100"/>
                  <a:pt x="23" y="98"/>
                  <a:pt x="26" y="96"/>
                </a:cubicBezTo>
                <a:cubicBezTo>
                  <a:pt x="30" y="106"/>
                  <a:pt x="36" y="114"/>
                  <a:pt x="43" y="120"/>
                </a:cubicBezTo>
                <a:cubicBezTo>
                  <a:pt x="33" y="116"/>
                  <a:pt x="24" y="110"/>
                  <a:pt x="17" y="102"/>
                </a:cubicBezTo>
                <a:close/>
                <a:moveTo>
                  <a:pt x="85" y="120"/>
                </a:moveTo>
                <a:cubicBezTo>
                  <a:pt x="92" y="114"/>
                  <a:pt x="98" y="106"/>
                  <a:pt x="102" y="96"/>
                </a:cubicBezTo>
                <a:cubicBezTo>
                  <a:pt x="105" y="98"/>
                  <a:pt x="108" y="100"/>
                  <a:pt x="111" y="102"/>
                </a:cubicBezTo>
                <a:cubicBezTo>
                  <a:pt x="104" y="110"/>
                  <a:pt x="95" y="116"/>
                  <a:pt x="85" y="120"/>
                </a:cubicBezTo>
                <a:close/>
                <a:moveTo>
                  <a:pt x="108" y="64"/>
                </a:moveTo>
                <a:cubicBezTo>
                  <a:pt x="108" y="54"/>
                  <a:pt x="106" y="44"/>
                  <a:pt x="103" y="35"/>
                </a:cubicBezTo>
                <a:cubicBezTo>
                  <a:pt x="107" y="34"/>
                  <a:pt x="110" y="32"/>
                  <a:pt x="113" y="30"/>
                </a:cubicBezTo>
                <a:cubicBezTo>
                  <a:pt x="120" y="39"/>
                  <a:pt x="124" y="51"/>
                  <a:pt x="124" y="64"/>
                </a:cubicBezTo>
                <a:lnTo>
                  <a:pt x="108" y="64"/>
                </a:lnTo>
                <a:close/>
                <a:moveTo>
                  <a:pt x="111" y="26"/>
                </a:moveTo>
                <a:cubicBezTo>
                  <a:pt x="108" y="28"/>
                  <a:pt x="105" y="30"/>
                  <a:pt x="102" y="32"/>
                </a:cubicBezTo>
                <a:cubicBezTo>
                  <a:pt x="98" y="22"/>
                  <a:pt x="92" y="14"/>
                  <a:pt x="85" y="8"/>
                </a:cubicBezTo>
                <a:cubicBezTo>
                  <a:pt x="95" y="12"/>
                  <a:pt x="104" y="18"/>
                  <a:pt x="111" y="26"/>
                </a:cubicBezTo>
                <a:close/>
                <a:moveTo>
                  <a:pt x="43" y="8"/>
                </a:moveTo>
                <a:cubicBezTo>
                  <a:pt x="36" y="14"/>
                  <a:pt x="30" y="22"/>
                  <a:pt x="26" y="32"/>
                </a:cubicBezTo>
                <a:cubicBezTo>
                  <a:pt x="23" y="30"/>
                  <a:pt x="20" y="28"/>
                  <a:pt x="17" y="26"/>
                </a:cubicBezTo>
                <a:cubicBezTo>
                  <a:pt x="24" y="18"/>
                  <a:pt x="33" y="12"/>
                  <a:pt x="43" y="8"/>
                </a:cubicBezTo>
                <a:close/>
                <a:moveTo>
                  <a:pt x="15" y="30"/>
                </a:moveTo>
                <a:cubicBezTo>
                  <a:pt x="18" y="32"/>
                  <a:pt x="21" y="34"/>
                  <a:pt x="25" y="35"/>
                </a:cubicBezTo>
                <a:cubicBezTo>
                  <a:pt x="22" y="44"/>
                  <a:pt x="20" y="54"/>
                  <a:pt x="20" y="64"/>
                </a:cubicBezTo>
                <a:cubicBezTo>
                  <a:pt x="4" y="64"/>
                  <a:pt x="4" y="64"/>
                  <a:pt x="4" y="64"/>
                </a:cubicBezTo>
                <a:cubicBezTo>
                  <a:pt x="4" y="51"/>
                  <a:pt x="8" y="39"/>
                  <a:pt x="15" y="3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12700">
            <a:noFill/>
            <a:round/>
            <a:headEnd/>
            <a:tailEnd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id-ID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99C1B04-165E-8748-2FF6-D68B3F1FA828}"/>
              </a:ext>
            </a:extLst>
          </p:cNvPr>
          <p:cNvSpPr/>
          <p:nvPr/>
        </p:nvSpPr>
        <p:spPr>
          <a:xfrm>
            <a:off x="1167466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HTML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CCD0E28-2EA8-FAA7-11EC-6A907C4539EE}"/>
              </a:ext>
            </a:extLst>
          </p:cNvPr>
          <p:cNvSpPr/>
          <p:nvPr/>
        </p:nvSpPr>
        <p:spPr>
          <a:xfrm>
            <a:off x="1167466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CSS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23C6ABCE-43CB-6DEC-772D-71BDCCE2F793}"/>
              </a:ext>
            </a:extLst>
          </p:cNvPr>
          <p:cNvSpPr/>
          <p:nvPr/>
        </p:nvSpPr>
        <p:spPr>
          <a:xfrm>
            <a:off x="1167466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JavaScript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4A9F8193-5B22-191A-4481-01F2750414C4}"/>
              </a:ext>
            </a:extLst>
          </p:cNvPr>
          <p:cNvSpPr/>
          <p:nvPr/>
        </p:nvSpPr>
        <p:spPr>
          <a:xfrm>
            <a:off x="1167466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Vue3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9227435B-B3A9-CADB-00D7-944C84FB3A34}"/>
              </a:ext>
            </a:extLst>
          </p:cNvPr>
          <p:cNvSpPr/>
          <p:nvPr/>
        </p:nvSpPr>
        <p:spPr>
          <a:xfrm>
            <a:off x="1167466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Ajax/Axios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FE9E1D98-2E8D-835C-E3D6-061E3DCD5DFD}"/>
              </a:ext>
            </a:extLst>
          </p:cNvPr>
          <p:cNvSpPr/>
          <p:nvPr/>
        </p:nvSpPr>
        <p:spPr>
          <a:xfrm>
            <a:off x="3321882" y="365344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Maven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081F69E0-90CA-3D35-F751-08D2386981E9}"/>
              </a:ext>
            </a:extLst>
          </p:cNvPr>
          <p:cNvSpPr/>
          <p:nvPr/>
        </p:nvSpPr>
        <p:spPr>
          <a:xfrm>
            <a:off x="3321882" y="408171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Web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基础知识</a:t>
            </a:r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29716E5D-B193-46D7-5379-0837D4FB51AD}"/>
              </a:ext>
            </a:extLst>
          </p:cNvPr>
          <p:cNvSpPr/>
          <p:nvPr/>
        </p:nvSpPr>
        <p:spPr>
          <a:xfrm>
            <a:off x="3321882" y="450998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MySQL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C1DA700E-363F-09E2-DBB1-35DB2725B04D}"/>
              </a:ext>
            </a:extLst>
          </p:cNvPr>
          <p:cNvSpPr/>
          <p:nvPr/>
        </p:nvSpPr>
        <p:spPr>
          <a:xfrm>
            <a:off x="3321882" y="493825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JDBC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214E0CDB-753B-18D6-1D5E-0E8B298E8098}"/>
              </a:ext>
            </a:extLst>
          </p:cNvPr>
          <p:cNvSpPr/>
          <p:nvPr/>
        </p:nvSpPr>
        <p:spPr>
          <a:xfrm>
            <a:off x="3321882" y="5366520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Mybatis</a:t>
            </a:r>
            <a:endParaRPr lang="zh-CN" altLang="en-US" sz="140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79" name="!!矩形: 圆角 3">
            <a:extLst>
              <a:ext uri="{FF2B5EF4-FFF2-40B4-BE49-F238E27FC236}">
                <a16:creationId xmlns:a16="http://schemas.microsoft.com/office/drawing/2014/main" id="{4A8E1FEC-BE6E-02B0-FB10-518B14D497D5}"/>
              </a:ext>
            </a:extLst>
          </p:cNvPr>
          <p:cNvSpPr/>
          <p:nvPr/>
        </p:nvSpPr>
        <p:spPr>
          <a:xfrm>
            <a:off x="5431980" y="3653440"/>
            <a:ext cx="1231270" cy="856540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tx1">
                    <a:lumMod val="5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</a:rPr>
              <a:t>案例</a:t>
            </a: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433DA097-11C0-77E4-E7D2-6EC87470A7F5}"/>
              </a:ext>
            </a:extLst>
          </p:cNvPr>
          <p:cNvSpPr/>
          <p:nvPr/>
        </p:nvSpPr>
        <p:spPr>
          <a:xfrm>
            <a:off x="7521075" y="4547733"/>
            <a:ext cx="1231270" cy="856540"/>
          </a:xfrm>
          <a:prstGeom prst="roundRect">
            <a:avLst>
              <a:gd name="adj" fmla="val 8294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Tlias</a:t>
            </a:r>
            <a:r>
              <a:rPr lang="zh-CN" altLang="en-US" sz="1400">
                <a:solidFill>
                  <a:schemeClr val="bg1">
                    <a:lumMod val="50000"/>
                    <a:alpha val="70000"/>
                  </a:schemeClr>
                </a:solidFill>
              </a:rPr>
              <a:t>案例</a:t>
            </a: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A4419490-C1E9-53D1-B232-10AEE4D2F184}"/>
              </a:ext>
            </a:extLst>
          </p:cNvPr>
          <p:cNvSpPr/>
          <p:nvPr/>
        </p:nvSpPr>
        <p:spPr>
          <a:xfrm>
            <a:off x="9604113" y="3653439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Linux</a:t>
            </a:r>
            <a:endParaRPr lang="zh-CN" altLang="en-US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CCD52AB6-2C7B-F4C8-CEB8-86ACAE1F2240}"/>
              </a:ext>
            </a:extLst>
          </p:cNvPr>
          <p:cNvSpPr/>
          <p:nvPr/>
        </p:nvSpPr>
        <p:spPr>
          <a:xfrm>
            <a:off x="9604113" y="4336685"/>
            <a:ext cx="1231270" cy="528209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Docker</a:t>
            </a:r>
            <a:endParaRPr lang="zh-CN" altLang="en-US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1BE12F2-D3BF-A8C1-F6A8-33B6447A6C02}"/>
              </a:ext>
            </a:extLst>
          </p:cNvPr>
          <p:cNvSpPr/>
          <p:nvPr/>
        </p:nvSpPr>
        <p:spPr>
          <a:xfrm>
            <a:off x="7510193" y="3691193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Vue</a:t>
            </a:r>
            <a:r>
              <a:rPr lang="zh-CN" altLang="en-US" sz="1400">
                <a:solidFill>
                  <a:schemeClr val="bg1">
                    <a:lumMod val="50000"/>
                    <a:alpha val="70000"/>
                  </a:schemeClr>
                </a:solidFill>
              </a:rPr>
              <a:t>工程化</a:t>
            </a:r>
            <a:endParaRPr lang="en-US" altLang="zh-CN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5EBD38-07BA-91B3-7F7B-C2A5808FD303}"/>
              </a:ext>
            </a:extLst>
          </p:cNvPr>
          <p:cNvSpPr/>
          <p:nvPr/>
        </p:nvSpPr>
        <p:spPr>
          <a:xfrm>
            <a:off x="7510193" y="4119463"/>
            <a:ext cx="1231270" cy="35491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400">
                <a:solidFill>
                  <a:schemeClr val="bg1">
                    <a:lumMod val="50000"/>
                    <a:alpha val="70000"/>
                  </a:schemeClr>
                </a:solidFill>
              </a:rPr>
              <a:t>ElementPlus</a:t>
            </a:r>
            <a:endParaRPr lang="zh-CN" altLang="en-US" sz="1400">
              <a:solidFill>
                <a:schemeClr val="bg1">
                  <a:lumMod val="50000"/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280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8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9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animClr clrSpc="rgb" dir="cw">
                                      <p:cBhvr>
                                        <p:cTn id="12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3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2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3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1A1E1D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9" grpId="0" animBg="1"/>
      <p:bldP spid="80" grpId="0" animBg="1"/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Web</a:t>
            </a:r>
            <a:r>
              <a:rPr lang="zh-CN" altLang="en-US"/>
              <a:t>前端实战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2482C49-AEB0-8F5F-896B-AFE529F9C3F7}"/>
              </a:ext>
            </a:extLst>
          </p:cNvPr>
          <p:cNvSpPr/>
          <p:nvPr/>
        </p:nvSpPr>
        <p:spPr>
          <a:xfrm>
            <a:off x="611632" y="3691218"/>
            <a:ext cx="1781188" cy="35491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>
                <a:solidFill>
                  <a:schemeClr val="tx1">
                    <a:lumMod val="75000"/>
                  </a:schemeClr>
                </a:solidFill>
              </a:rPr>
              <a:t>Vue</a:t>
            </a:r>
            <a:r>
              <a:rPr lang="zh-CN" altLang="en-US" sz="2400">
                <a:solidFill>
                  <a:schemeClr val="tx1">
                    <a:lumMod val="75000"/>
                  </a:schemeClr>
                </a:solidFill>
              </a:rPr>
              <a:t>工程化</a:t>
            </a:r>
            <a:endParaRPr lang="en-US" altLang="zh-CN" sz="240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0B1C917-4FF6-1C4D-D8F7-E0EEE96AC219}"/>
              </a:ext>
            </a:extLst>
          </p:cNvPr>
          <p:cNvSpPr/>
          <p:nvPr/>
        </p:nvSpPr>
        <p:spPr>
          <a:xfrm>
            <a:off x="2492108" y="3691218"/>
            <a:ext cx="2274963" cy="35491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2400">
                <a:solidFill>
                  <a:schemeClr val="tx1">
                    <a:lumMod val="75000"/>
                  </a:schemeClr>
                </a:solidFill>
              </a:rPr>
              <a:t>ElementPlus</a:t>
            </a:r>
            <a:endParaRPr lang="zh-CN" altLang="en-US" sz="240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Vue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Vue </a:t>
            </a:r>
            <a:r>
              <a:rPr lang="zh-CN" altLang="en-US">
                <a:latin typeface="Fira Code" panose="020B0809050000020004" pitchFamily="49" charset="0"/>
              </a:rPr>
              <a:t>是一款用于</a:t>
            </a:r>
            <a:r>
              <a:rPr lang="zh-CN" altLang="en-US" b="1">
                <a:solidFill>
                  <a:srgbClr val="C00000"/>
                </a:solidFill>
                <a:latin typeface="Fira Code" panose="020B0809050000020004" pitchFamily="49" charset="0"/>
              </a:rPr>
              <a:t>构建用户界面</a:t>
            </a:r>
            <a:r>
              <a:rPr lang="zh-CN" altLang="en-US">
                <a:latin typeface="Fira Code" panose="020B0809050000020004" pitchFamily="49" charset="0"/>
              </a:rPr>
              <a:t>的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渐进式</a:t>
            </a:r>
            <a:r>
              <a:rPr lang="zh-CN" altLang="en-US">
                <a:latin typeface="Fira Code" panose="020B0809050000020004" pitchFamily="49" charset="0"/>
              </a:rPr>
              <a:t>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JavaScript</a:t>
            </a:r>
            <a:r>
              <a:rPr lang="zh-CN" altLang="en-US">
                <a:latin typeface="Fira Code" panose="020B0809050000020004" pitchFamily="49" charset="0"/>
              </a:rPr>
              <a:t>框架。 （官方：</a:t>
            </a:r>
            <a:r>
              <a:rPr lang="en-US" altLang="zh-CN">
                <a:latin typeface="Fira Code" panose="020B0809050000020004" pitchFamily="49" charset="0"/>
                <a:hlinkClick r:id="rId2"/>
              </a:rPr>
              <a:t>https://cn.vuejs.org/</a:t>
            </a:r>
            <a:r>
              <a:rPr lang="zh-CN" altLang="en-US">
                <a:latin typeface="Fira Code" panose="020B0809050000020004" pitchFamily="49" charset="0"/>
              </a:rPr>
              <a:t>）</a:t>
            </a:r>
          </a:p>
        </p:txBody>
      </p:sp>
      <p:grpSp>
        <p:nvGrpSpPr>
          <p:cNvPr id="38" name="!!组合 9">
            <a:extLst>
              <a:ext uri="{FF2B5EF4-FFF2-40B4-BE49-F238E27FC236}">
                <a16:creationId xmlns:a16="http://schemas.microsoft.com/office/drawing/2014/main" id="{2779664F-459E-064C-9F0B-AFD03BBF6FD3}"/>
              </a:ext>
            </a:extLst>
          </p:cNvPr>
          <p:cNvGrpSpPr/>
          <p:nvPr/>
        </p:nvGrpSpPr>
        <p:grpSpPr>
          <a:xfrm>
            <a:off x="926025" y="2004131"/>
            <a:ext cx="6631222" cy="1289503"/>
            <a:chOff x="2297721" y="3660321"/>
            <a:chExt cx="7373561" cy="1289503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D61586DB-54A8-2EFC-C74A-36BB2771FB3B}"/>
                </a:ext>
              </a:extLst>
            </p:cNvPr>
            <p:cNvSpPr/>
            <p:nvPr/>
          </p:nvSpPr>
          <p:spPr>
            <a:xfrm>
              <a:off x="2297722" y="3660321"/>
              <a:ext cx="7373560" cy="1289503"/>
            </a:xfrm>
            <a:prstGeom prst="roundRect">
              <a:avLst>
                <a:gd name="adj" fmla="val 621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[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{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"id"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"name"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谢逊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"image"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"1.jpg"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"gender"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"job"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},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   {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"id"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2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"name"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zh-CN" altLang="en-US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韦一笑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"image"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"2.jpg"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"gender"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,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"job"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1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}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]</a:t>
              </a:r>
            </a:p>
          </p:txBody>
        </p:sp>
        <p:sp>
          <p:nvSpPr>
            <p:cNvPr id="40" name="矩形: 圆顶角 39">
              <a:extLst>
                <a:ext uri="{FF2B5EF4-FFF2-40B4-BE49-F238E27FC236}">
                  <a16:creationId xmlns:a16="http://schemas.microsoft.com/office/drawing/2014/main" id="{164CE2A4-7D86-2A85-58D9-81E65A60BB22}"/>
                </a:ext>
              </a:extLst>
            </p:cNvPr>
            <p:cNvSpPr/>
            <p:nvPr/>
          </p:nvSpPr>
          <p:spPr>
            <a:xfrm>
              <a:off x="2297721" y="3660322"/>
              <a:ext cx="7373560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541CCB54-0CB9-A70A-569E-03C1345F97E6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EC6BEABF-E7F2-A7F3-7650-AFD6BD47E63F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18C94A15-CD44-57E0-957C-AFF30A313456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4" name="图片 43">
            <a:extLst>
              <a:ext uri="{FF2B5EF4-FFF2-40B4-BE49-F238E27FC236}">
                <a16:creationId xmlns:a16="http://schemas.microsoft.com/office/drawing/2014/main" id="{3460906B-341D-8DAC-1231-5264A60FF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066" y="1977236"/>
            <a:ext cx="3327214" cy="1256948"/>
          </a:xfrm>
          <a:prstGeom prst="rect">
            <a:avLst/>
          </a:prstGeom>
        </p:spPr>
      </p:pic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26CAF2E7-074C-0A99-4A93-51883C76417A}"/>
              </a:ext>
            </a:extLst>
          </p:cNvPr>
          <p:cNvSpPr/>
          <p:nvPr/>
        </p:nvSpPr>
        <p:spPr>
          <a:xfrm rot="2813526">
            <a:off x="7412960" y="2849613"/>
            <a:ext cx="714692" cy="620892"/>
          </a:xfrm>
          <a:custGeom>
            <a:avLst/>
            <a:gdLst>
              <a:gd name="connsiteX0" fmla="*/ 699465 w 865795"/>
              <a:gd name="connsiteY0" fmla="*/ 0 h 752163"/>
              <a:gd name="connsiteX1" fmla="*/ 865795 w 865795"/>
              <a:gd name="connsiteY1" fmla="*/ 188041 h 752163"/>
              <a:gd name="connsiteX2" fmla="*/ 771775 w 865795"/>
              <a:gd name="connsiteY2" fmla="*/ 188041 h 752163"/>
              <a:gd name="connsiteX3" fmla="*/ 735017 w 865795"/>
              <a:gd name="connsiteY3" fmla="*/ 304543 h 752163"/>
              <a:gd name="connsiteX4" fmla="*/ 734178 w 865795"/>
              <a:gd name="connsiteY4" fmla="*/ 306246 h 752163"/>
              <a:gd name="connsiteX5" fmla="*/ 733739 w 865795"/>
              <a:gd name="connsiteY5" fmla="*/ 307628 h 752163"/>
              <a:gd name="connsiteX6" fmla="*/ 719572 w 865795"/>
              <a:gd name="connsiteY6" fmla="*/ 335902 h 752163"/>
              <a:gd name="connsiteX7" fmla="*/ 682874 w 865795"/>
              <a:gd name="connsiteY7" fmla="*/ 410416 h 752163"/>
              <a:gd name="connsiteX8" fmla="*/ 680641 w 865795"/>
              <a:gd name="connsiteY8" fmla="*/ 413606 h 752163"/>
              <a:gd name="connsiteX9" fmla="*/ 679297 w 865795"/>
              <a:gd name="connsiteY9" fmla="*/ 416287 h 752163"/>
              <a:gd name="connsiteX10" fmla="*/ 657342 w 865795"/>
              <a:gd name="connsiteY10" fmla="*/ 446878 h 752163"/>
              <a:gd name="connsiteX11" fmla="*/ 617070 w 865795"/>
              <a:gd name="connsiteY11" fmla="*/ 504389 h 752163"/>
              <a:gd name="connsiteX12" fmla="*/ 613116 w 865795"/>
              <a:gd name="connsiteY12" fmla="*/ 508499 h 752163"/>
              <a:gd name="connsiteX13" fmla="*/ 610265 w 865795"/>
              <a:gd name="connsiteY13" fmla="*/ 512473 h 752163"/>
              <a:gd name="connsiteX14" fmla="*/ 581462 w 865795"/>
              <a:gd name="connsiteY14" fmla="*/ 541401 h 752163"/>
              <a:gd name="connsiteX15" fmla="*/ 539328 w 865795"/>
              <a:gd name="connsiteY15" fmla="*/ 585195 h 752163"/>
              <a:gd name="connsiteX16" fmla="*/ 533418 w 865795"/>
              <a:gd name="connsiteY16" fmla="*/ 589655 h 752163"/>
              <a:gd name="connsiteX17" fmla="*/ 528457 w 865795"/>
              <a:gd name="connsiteY17" fmla="*/ 594637 h 752163"/>
              <a:gd name="connsiteX18" fmla="*/ 494647 w 865795"/>
              <a:gd name="connsiteY18" fmla="*/ 618909 h 752163"/>
              <a:gd name="connsiteX19" fmla="*/ 451371 w 865795"/>
              <a:gd name="connsiteY19" fmla="*/ 651563 h 752163"/>
              <a:gd name="connsiteX20" fmla="*/ 443136 w 865795"/>
              <a:gd name="connsiteY20" fmla="*/ 655888 h 752163"/>
              <a:gd name="connsiteX21" fmla="*/ 435688 w 865795"/>
              <a:gd name="connsiteY21" fmla="*/ 661235 h 752163"/>
              <a:gd name="connsiteX22" fmla="*/ 399558 w 865795"/>
              <a:gd name="connsiteY22" fmla="*/ 678778 h 752163"/>
              <a:gd name="connsiteX23" fmla="*/ 354922 w 865795"/>
              <a:gd name="connsiteY23" fmla="*/ 702223 h 752163"/>
              <a:gd name="connsiteX24" fmla="*/ 343789 w 865795"/>
              <a:gd name="connsiteY24" fmla="*/ 705857 h 752163"/>
              <a:gd name="connsiteX25" fmla="*/ 333773 w 865795"/>
              <a:gd name="connsiteY25" fmla="*/ 710720 h 752163"/>
              <a:gd name="connsiteX26" fmla="*/ 297681 w 865795"/>
              <a:gd name="connsiteY26" fmla="*/ 720904 h 752163"/>
              <a:gd name="connsiteX27" fmla="*/ 251705 w 865795"/>
              <a:gd name="connsiteY27" fmla="*/ 735907 h 752163"/>
              <a:gd name="connsiteX28" fmla="*/ 237150 w 865795"/>
              <a:gd name="connsiteY28" fmla="*/ 737983 h 752163"/>
              <a:gd name="connsiteX29" fmla="*/ 224527 w 865795"/>
              <a:gd name="connsiteY29" fmla="*/ 741545 h 752163"/>
              <a:gd name="connsiteX30" fmla="*/ 189342 w 865795"/>
              <a:gd name="connsiteY30" fmla="*/ 744800 h 752163"/>
              <a:gd name="connsiteX31" fmla="*/ 143442 w 865795"/>
              <a:gd name="connsiteY31" fmla="*/ 751345 h 752163"/>
              <a:gd name="connsiteX32" fmla="*/ 127265 w 865795"/>
              <a:gd name="connsiteY32" fmla="*/ 750544 h 752163"/>
              <a:gd name="connsiteX33" fmla="*/ 109764 w 865795"/>
              <a:gd name="connsiteY33" fmla="*/ 752163 h 752163"/>
              <a:gd name="connsiteX34" fmla="*/ 109763 w 865795"/>
              <a:gd name="connsiteY34" fmla="*/ 752163 h 752163"/>
              <a:gd name="connsiteX35" fmla="*/ 24296 w 865795"/>
              <a:gd name="connsiteY35" fmla="*/ 745667 h 752163"/>
              <a:gd name="connsiteX36" fmla="*/ 22392 w 865795"/>
              <a:gd name="connsiteY36" fmla="*/ 745348 h 752163"/>
              <a:gd name="connsiteX37" fmla="*/ 24295 w 865795"/>
              <a:gd name="connsiteY37" fmla="*/ 745667 h 752163"/>
              <a:gd name="connsiteX38" fmla="*/ 24296 w 865795"/>
              <a:gd name="connsiteY38" fmla="*/ 745667 h 752163"/>
              <a:gd name="connsiteX39" fmla="*/ 39857 w 865795"/>
              <a:gd name="connsiteY39" fmla="*/ 748280 h 752163"/>
              <a:gd name="connsiteX40" fmla="*/ 109763 w 865795"/>
              <a:gd name="connsiteY40" fmla="*/ 752163 h 752163"/>
              <a:gd name="connsiteX41" fmla="*/ 0 w 865795"/>
              <a:gd name="connsiteY41" fmla="*/ 752163 h 752163"/>
              <a:gd name="connsiteX42" fmla="*/ 0 w 865795"/>
              <a:gd name="connsiteY42" fmla="*/ 741589 h 752163"/>
              <a:gd name="connsiteX43" fmla="*/ 17680 w 865795"/>
              <a:gd name="connsiteY43" fmla="*/ 744557 h 752163"/>
              <a:gd name="connsiteX44" fmla="*/ 116098 w 865795"/>
              <a:gd name="connsiteY44" fmla="*/ 721155 h 752163"/>
              <a:gd name="connsiteX45" fmla="*/ 205132 w 865795"/>
              <a:gd name="connsiteY45" fmla="*/ 684055 h 752163"/>
              <a:gd name="connsiteX46" fmla="*/ 232451 w 865795"/>
              <a:gd name="connsiteY46" fmla="*/ 668333 h 752163"/>
              <a:gd name="connsiteX47" fmla="*/ 287926 w 865795"/>
              <a:gd name="connsiteY47" fmla="*/ 634243 h 752163"/>
              <a:gd name="connsiteX48" fmla="*/ 317556 w 865795"/>
              <a:gd name="connsiteY48" fmla="*/ 611468 h 752163"/>
              <a:gd name="connsiteX49" fmla="*/ 363536 w 865795"/>
              <a:gd name="connsiteY49" fmla="*/ 572587 h 752163"/>
              <a:gd name="connsiteX50" fmla="*/ 391497 w 865795"/>
              <a:gd name="connsiteY50" fmla="*/ 544663 h 752163"/>
              <a:gd name="connsiteX51" fmla="*/ 431050 w 865795"/>
              <a:gd name="connsiteY51" fmla="*/ 499795 h 752163"/>
              <a:gd name="connsiteX52" fmla="*/ 455623 w 865795"/>
              <a:gd name="connsiteY52" fmla="*/ 468113 h 752163"/>
              <a:gd name="connsiteX53" fmla="*/ 489661 w 865795"/>
              <a:gd name="connsiteY53" fmla="*/ 416120 h 752163"/>
              <a:gd name="connsiteX54" fmla="*/ 509571 w 865795"/>
              <a:gd name="connsiteY54" fmla="*/ 382567 h 752163"/>
              <a:gd name="connsiteX55" fmla="*/ 522719 w 865795"/>
              <a:gd name="connsiteY55" fmla="*/ 354566 h 752163"/>
              <a:gd name="connsiteX56" fmla="*/ 583727 w 865795"/>
              <a:gd name="connsiteY56" fmla="*/ 188064 h 752163"/>
              <a:gd name="connsiteX57" fmla="*/ 583734 w 865795"/>
              <a:gd name="connsiteY57" fmla="*/ 188041 h 752163"/>
              <a:gd name="connsiteX58" fmla="*/ 489713 w 865795"/>
              <a:gd name="connsiteY58" fmla="*/ 188041 h 752163"/>
              <a:gd name="connsiteX59" fmla="*/ 699465 w 865795"/>
              <a:gd name="connsiteY59" fmla="*/ 0 h 752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865795" h="752163">
                <a:moveTo>
                  <a:pt x="699465" y="0"/>
                </a:moveTo>
                <a:lnTo>
                  <a:pt x="865795" y="188041"/>
                </a:lnTo>
                <a:lnTo>
                  <a:pt x="771775" y="188041"/>
                </a:lnTo>
                <a:cubicBezTo>
                  <a:pt x="762278" y="228506"/>
                  <a:pt x="749929" y="267410"/>
                  <a:pt x="735017" y="304543"/>
                </a:cubicBezTo>
                <a:lnTo>
                  <a:pt x="734178" y="306246"/>
                </a:lnTo>
                <a:lnTo>
                  <a:pt x="733739" y="307628"/>
                </a:lnTo>
                <a:lnTo>
                  <a:pt x="719572" y="335902"/>
                </a:lnTo>
                <a:lnTo>
                  <a:pt x="682874" y="410416"/>
                </a:lnTo>
                <a:lnTo>
                  <a:pt x="680641" y="413606"/>
                </a:lnTo>
                <a:lnTo>
                  <a:pt x="679297" y="416287"/>
                </a:lnTo>
                <a:lnTo>
                  <a:pt x="657342" y="446878"/>
                </a:lnTo>
                <a:lnTo>
                  <a:pt x="617070" y="504389"/>
                </a:lnTo>
                <a:lnTo>
                  <a:pt x="613116" y="508499"/>
                </a:lnTo>
                <a:lnTo>
                  <a:pt x="610265" y="512473"/>
                </a:lnTo>
                <a:lnTo>
                  <a:pt x="581462" y="541401"/>
                </a:lnTo>
                <a:lnTo>
                  <a:pt x="539328" y="585195"/>
                </a:lnTo>
                <a:lnTo>
                  <a:pt x="533418" y="589655"/>
                </a:lnTo>
                <a:lnTo>
                  <a:pt x="528457" y="594637"/>
                </a:lnTo>
                <a:lnTo>
                  <a:pt x="494647" y="618909"/>
                </a:lnTo>
                <a:lnTo>
                  <a:pt x="451371" y="651563"/>
                </a:lnTo>
                <a:lnTo>
                  <a:pt x="443136" y="655888"/>
                </a:lnTo>
                <a:lnTo>
                  <a:pt x="435688" y="661235"/>
                </a:lnTo>
                <a:lnTo>
                  <a:pt x="399558" y="678778"/>
                </a:lnTo>
                <a:lnTo>
                  <a:pt x="354922" y="702223"/>
                </a:lnTo>
                <a:lnTo>
                  <a:pt x="343789" y="705857"/>
                </a:lnTo>
                <a:lnTo>
                  <a:pt x="333773" y="710720"/>
                </a:lnTo>
                <a:lnTo>
                  <a:pt x="297681" y="720904"/>
                </a:lnTo>
                <a:lnTo>
                  <a:pt x="251705" y="735907"/>
                </a:lnTo>
                <a:lnTo>
                  <a:pt x="237150" y="737983"/>
                </a:lnTo>
                <a:lnTo>
                  <a:pt x="224527" y="741545"/>
                </a:lnTo>
                <a:lnTo>
                  <a:pt x="189342" y="744800"/>
                </a:lnTo>
                <a:lnTo>
                  <a:pt x="143442" y="751345"/>
                </a:lnTo>
                <a:lnTo>
                  <a:pt x="127265" y="750544"/>
                </a:lnTo>
                <a:lnTo>
                  <a:pt x="109764" y="752163"/>
                </a:lnTo>
                <a:lnTo>
                  <a:pt x="109763" y="752163"/>
                </a:lnTo>
                <a:lnTo>
                  <a:pt x="24296" y="745667"/>
                </a:lnTo>
                <a:lnTo>
                  <a:pt x="22392" y="745348"/>
                </a:lnTo>
                <a:lnTo>
                  <a:pt x="24295" y="745667"/>
                </a:lnTo>
                <a:lnTo>
                  <a:pt x="24296" y="745667"/>
                </a:lnTo>
                <a:lnTo>
                  <a:pt x="39857" y="748280"/>
                </a:lnTo>
                <a:cubicBezTo>
                  <a:pt x="62841" y="750848"/>
                  <a:pt x="86163" y="752163"/>
                  <a:pt x="109763" y="752163"/>
                </a:cubicBezTo>
                <a:lnTo>
                  <a:pt x="0" y="752163"/>
                </a:lnTo>
                <a:lnTo>
                  <a:pt x="0" y="741589"/>
                </a:lnTo>
                <a:lnTo>
                  <a:pt x="17680" y="744557"/>
                </a:lnTo>
                <a:lnTo>
                  <a:pt x="116098" y="721155"/>
                </a:lnTo>
                <a:lnTo>
                  <a:pt x="205132" y="684055"/>
                </a:lnTo>
                <a:lnTo>
                  <a:pt x="232451" y="668333"/>
                </a:lnTo>
                <a:lnTo>
                  <a:pt x="287926" y="634243"/>
                </a:lnTo>
                <a:lnTo>
                  <a:pt x="317556" y="611468"/>
                </a:lnTo>
                <a:lnTo>
                  <a:pt x="363536" y="572587"/>
                </a:lnTo>
                <a:lnTo>
                  <a:pt x="391497" y="544663"/>
                </a:lnTo>
                <a:lnTo>
                  <a:pt x="431050" y="499795"/>
                </a:lnTo>
                <a:lnTo>
                  <a:pt x="455623" y="468113"/>
                </a:lnTo>
                <a:lnTo>
                  <a:pt x="489661" y="416120"/>
                </a:lnTo>
                <a:lnTo>
                  <a:pt x="509571" y="382567"/>
                </a:lnTo>
                <a:lnTo>
                  <a:pt x="522719" y="354566"/>
                </a:lnTo>
                <a:lnTo>
                  <a:pt x="583727" y="188064"/>
                </a:lnTo>
                <a:lnTo>
                  <a:pt x="583734" y="188041"/>
                </a:lnTo>
                <a:lnTo>
                  <a:pt x="489713" y="188041"/>
                </a:lnTo>
                <a:lnTo>
                  <a:pt x="699465" y="0"/>
                </a:ln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D737D92-CED7-B5B8-50E9-96481D903E07}"/>
              </a:ext>
            </a:extLst>
          </p:cNvPr>
          <p:cNvSpPr txBox="1"/>
          <p:nvPr/>
        </p:nvSpPr>
        <p:spPr>
          <a:xfrm>
            <a:off x="5882609" y="3436290"/>
            <a:ext cx="439415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>
                <a:solidFill>
                  <a:srgbClr val="C0000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  <a:cs typeface="阿里巴巴普惠体" panose="00020600040101010101" pitchFamily="18" charset="-122"/>
              </a:rPr>
              <a:t>基于</a:t>
            </a:r>
            <a:r>
              <a:rPr lang="zh-CN" altLang="en-US" sz="4400" b="1">
                <a:solidFill>
                  <a:srgbClr val="C0000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  <a:cs typeface="阿里巴巴普惠体" panose="00020600040101010101" pitchFamily="18" charset="-122"/>
              </a:rPr>
              <a:t>数据</a:t>
            </a:r>
            <a:r>
              <a:rPr lang="zh-CN" altLang="en-US" sz="2000">
                <a:solidFill>
                  <a:srgbClr val="C0000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  <a:cs typeface="阿里巴巴普惠体" panose="00020600040101010101" pitchFamily="18" charset="-122"/>
              </a:rPr>
              <a:t>渲染出用户看到的界面</a:t>
            </a:r>
            <a:endParaRPr lang="zh-CN" altLang="en-US" sz="2000" dirty="0">
              <a:solidFill>
                <a:srgbClr val="C0000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894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7617-B7C3-2F55-8D34-1F89294F4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5FF3DA-BBBF-4DD9-220B-7D4BC6D4D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Vue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7C641D-CBCB-01B6-6477-A32F92C16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Vue </a:t>
            </a:r>
            <a:r>
              <a:rPr lang="zh-CN" altLang="en-US">
                <a:latin typeface="Fira Code" panose="020B0809050000020004" pitchFamily="49" charset="0"/>
              </a:rPr>
              <a:t>是一款用于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构建用户界面</a:t>
            </a:r>
            <a:r>
              <a:rPr lang="zh-CN" altLang="en-US">
                <a:latin typeface="Fira Code" panose="020B0809050000020004" pitchFamily="49" charset="0"/>
              </a:rPr>
              <a:t>的</a:t>
            </a:r>
            <a:r>
              <a:rPr lang="zh-CN" altLang="en-US" b="1">
                <a:solidFill>
                  <a:srgbClr val="C00000"/>
                </a:solidFill>
                <a:latin typeface="Fira Code" panose="020B0809050000020004" pitchFamily="49" charset="0"/>
              </a:rPr>
              <a:t>渐进式</a:t>
            </a:r>
            <a:r>
              <a:rPr lang="zh-CN" altLang="en-US">
                <a:latin typeface="Fira Code" panose="020B0809050000020004" pitchFamily="49" charset="0"/>
              </a:rPr>
              <a:t>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JavaScript</a:t>
            </a:r>
            <a:r>
              <a:rPr lang="zh-CN" altLang="en-US">
                <a:latin typeface="Fira Code" panose="020B0809050000020004" pitchFamily="49" charset="0"/>
              </a:rPr>
              <a:t>框架。 （官方：</a:t>
            </a:r>
            <a:r>
              <a:rPr lang="en-US" altLang="zh-CN">
                <a:latin typeface="Fira Code" panose="020B0809050000020004" pitchFamily="49" charset="0"/>
                <a:hlinkClick r:id="rId2"/>
              </a:rPr>
              <a:t>https://cn.vuejs.org/</a:t>
            </a:r>
            <a:r>
              <a:rPr lang="zh-CN" altLang="en-US">
                <a:latin typeface="Fira Code" panose="020B0809050000020004" pitchFamily="49" charset="0"/>
              </a:rPr>
              <a:t>）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589BA6D-AE05-8184-D4D0-7E1D7DBF9903}"/>
              </a:ext>
            </a:extLst>
          </p:cNvPr>
          <p:cNvGrpSpPr/>
          <p:nvPr/>
        </p:nvGrpSpPr>
        <p:grpSpPr>
          <a:xfrm>
            <a:off x="923738" y="2579930"/>
            <a:ext cx="8408893" cy="2698377"/>
            <a:chOff x="779929" y="2608729"/>
            <a:chExt cx="8408893" cy="2698377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80CA9485-1BAE-2223-2E5F-B1F5B4121CC1}"/>
                </a:ext>
              </a:extLst>
            </p:cNvPr>
            <p:cNvSpPr/>
            <p:nvPr/>
          </p:nvSpPr>
          <p:spPr>
            <a:xfrm>
              <a:off x="779929" y="2608729"/>
              <a:ext cx="8408893" cy="2698377"/>
            </a:xfrm>
            <a:prstGeom prst="ellipse">
              <a:avLst/>
            </a:prstGeom>
            <a:solidFill>
              <a:srgbClr val="5E4FA2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F99E92F-A11A-2545-694A-40559F6CDDA2}"/>
                </a:ext>
              </a:extLst>
            </p:cNvPr>
            <p:cNvSpPr txBox="1"/>
            <p:nvPr/>
          </p:nvSpPr>
          <p:spPr>
            <a:xfrm>
              <a:off x="8160462" y="3804148"/>
              <a:ext cx="9312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构建工具</a:t>
              </a:r>
              <a:endPara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CD0B3377-0206-6EC1-8868-4AAAE7F0A62F}"/>
              </a:ext>
            </a:extLst>
          </p:cNvPr>
          <p:cNvGrpSpPr/>
          <p:nvPr/>
        </p:nvGrpSpPr>
        <p:grpSpPr>
          <a:xfrm>
            <a:off x="1210609" y="2715196"/>
            <a:ext cx="6920754" cy="2427843"/>
            <a:chOff x="1066800" y="2743995"/>
            <a:chExt cx="6920754" cy="242784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E636C9E3-9BD0-AA21-F962-26B7A1E63FDD}"/>
                </a:ext>
              </a:extLst>
            </p:cNvPr>
            <p:cNvSpPr/>
            <p:nvPr/>
          </p:nvSpPr>
          <p:spPr>
            <a:xfrm>
              <a:off x="1066800" y="2743995"/>
              <a:ext cx="6920754" cy="2427843"/>
            </a:xfrm>
            <a:prstGeom prst="ellipse">
              <a:avLst/>
            </a:prstGeom>
            <a:solidFill>
              <a:srgbClr val="35978F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E1154DD-EAE0-256E-650A-00DB80BD1875}"/>
                </a:ext>
              </a:extLst>
            </p:cNvPr>
            <p:cNvSpPr txBox="1"/>
            <p:nvPr/>
          </p:nvSpPr>
          <p:spPr>
            <a:xfrm>
              <a:off x="6907867" y="3804024"/>
              <a:ext cx="9312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状态管理</a:t>
              </a:r>
              <a:endPara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8E1D84B-19AA-A2D8-46D6-6EF07FC72594}"/>
              </a:ext>
            </a:extLst>
          </p:cNvPr>
          <p:cNvGrpSpPr/>
          <p:nvPr/>
        </p:nvGrpSpPr>
        <p:grpSpPr>
          <a:xfrm>
            <a:off x="1470586" y="2866801"/>
            <a:ext cx="5432612" cy="2133600"/>
            <a:chOff x="1326777" y="2895600"/>
            <a:chExt cx="5432612" cy="2133600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264481F0-2707-6692-2CE6-40CC0063E6DC}"/>
                </a:ext>
              </a:extLst>
            </p:cNvPr>
            <p:cNvSpPr/>
            <p:nvPr/>
          </p:nvSpPr>
          <p:spPr>
            <a:xfrm>
              <a:off x="1326777" y="2895600"/>
              <a:ext cx="5432612" cy="2133600"/>
            </a:xfrm>
            <a:prstGeom prst="ellipse">
              <a:avLst/>
            </a:prstGeom>
            <a:solidFill>
              <a:srgbClr val="57C17F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40B17C2-3421-CC2A-2A90-2B0B6C3487AF}"/>
                </a:ext>
              </a:extLst>
            </p:cNvPr>
            <p:cNvSpPr txBox="1"/>
            <p:nvPr/>
          </p:nvSpPr>
          <p:spPr>
            <a:xfrm>
              <a:off x="5435973" y="3809990"/>
              <a:ext cx="10690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客户端路由</a:t>
              </a:r>
              <a:endPara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77EED55-1FD1-41F9-2F61-B5F7519661C2}"/>
              </a:ext>
            </a:extLst>
          </p:cNvPr>
          <p:cNvGrpSpPr/>
          <p:nvPr/>
        </p:nvGrpSpPr>
        <p:grpSpPr>
          <a:xfrm>
            <a:off x="1856069" y="2985581"/>
            <a:ext cx="3558988" cy="1887071"/>
            <a:chOff x="1712260" y="3014380"/>
            <a:chExt cx="3558988" cy="188707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2F92D71D-EA9D-F2C2-D0EE-5247AE7B3979}"/>
                </a:ext>
              </a:extLst>
            </p:cNvPr>
            <p:cNvSpPr/>
            <p:nvPr/>
          </p:nvSpPr>
          <p:spPr>
            <a:xfrm>
              <a:off x="1712260" y="3014380"/>
              <a:ext cx="3558988" cy="1887071"/>
            </a:xfrm>
            <a:prstGeom prst="ellipse">
              <a:avLst/>
            </a:prstGeom>
            <a:solidFill>
              <a:srgbClr val="A6D96A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F65A42A-B19A-BF12-6ED1-2F831603089A}"/>
                </a:ext>
              </a:extLst>
            </p:cNvPr>
            <p:cNvSpPr txBox="1"/>
            <p:nvPr/>
          </p:nvSpPr>
          <p:spPr>
            <a:xfrm>
              <a:off x="4272804" y="3804024"/>
              <a:ext cx="9222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组件系统</a:t>
              </a:r>
              <a:endPara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93F10D1-D4DE-FC95-3A8E-A4E95F84112F}"/>
              </a:ext>
            </a:extLst>
          </p:cNvPr>
          <p:cNvGrpSpPr/>
          <p:nvPr/>
        </p:nvGrpSpPr>
        <p:grpSpPr>
          <a:xfrm>
            <a:off x="2125009" y="3234214"/>
            <a:ext cx="2227731" cy="1389803"/>
            <a:chOff x="1981200" y="3263013"/>
            <a:chExt cx="2227731" cy="1389803"/>
          </a:xfrm>
        </p:grpSpPr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13FBE8E4-82D6-F33D-64DA-75E38BC3F213}"/>
                </a:ext>
              </a:extLst>
            </p:cNvPr>
            <p:cNvSpPr/>
            <p:nvPr/>
          </p:nvSpPr>
          <p:spPr>
            <a:xfrm>
              <a:off x="1981200" y="3263013"/>
              <a:ext cx="2227731" cy="1389803"/>
            </a:xfrm>
            <a:prstGeom prst="ellipse">
              <a:avLst/>
            </a:prstGeom>
            <a:solidFill>
              <a:srgbClr val="66BD63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792AE90-7AA0-2CFB-5A68-7A4BA5F55892}"/>
                </a:ext>
              </a:extLst>
            </p:cNvPr>
            <p:cNvSpPr txBox="1"/>
            <p:nvPr/>
          </p:nvSpPr>
          <p:spPr>
            <a:xfrm>
              <a:off x="2525806" y="3804025"/>
              <a:ext cx="10690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声明式渲染</a:t>
              </a:r>
              <a:endParaRPr lang="zh-CN" altLang="en-US" sz="140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81D3917E-9165-AF83-16E1-1AB8C8A6EABB}"/>
              </a:ext>
            </a:extLst>
          </p:cNvPr>
          <p:cNvSpPr txBox="1"/>
          <p:nvPr/>
        </p:nvSpPr>
        <p:spPr>
          <a:xfrm>
            <a:off x="5405002" y="4207741"/>
            <a:ext cx="11870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VueRouter</a:t>
            </a:r>
            <a:endParaRPr lang="zh-CN" altLang="en-US" sz="1400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466DF29-B0AD-ABDE-2EE7-DBE2CE339E42}"/>
              </a:ext>
            </a:extLst>
          </p:cNvPr>
          <p:cNvSpPr txBox="1"/>
          <p:nvPr/>
        </p:nvSpPr>
        <p:spPr>
          <a:xfrm>
            <a:off x="6945843" y="4205368"/>
            <a:ext cx="7686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</a:rPr>
              <a:t>Pinia</a:t>
            </a:r>
            <a:endParaRPr lang="zh-CN" altLang="en-US" sz="1400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22DB111-A150-52D3-C685-F964C0415555}"/>
              </a:ext>
            </a:extLst>
          </p:cNvPr>
          <p:cNvSpPr txBox="1"/>
          <p:nvPr/>
        </p:nvSpPr>
        <p:spPr>
          <a:xfrm>
            <a:off x="8122399" y="4205367"/>
            <a:ext cx="647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</a:rPr>
              <a:t>Vite</a:t>
            </a:r>
            <a:endParaRPr lang="zh-CN" altLang="en-US" sz="1400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A90865C-A3FE-650B-FEC2-E709EDC71D5C}"/>
              </a:ext>
            </a:extLst>
          </p:cNvPr>
          <p:cNvSpPr txBox="1"/>
          <p:nvPr/>
        </p:nvSpPr>
        <p:spPr>
          <a:xfrm>
            <a:off x="6945843" y="3353288"/>
            <a:ext cx="644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Vuex</a:t>
            </a:r>
            <a:endParaRPr lang="zh-CN" altLang="en-US" sz="1400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29B2F4D-BA03-5D99-2D56-EEE5AD7DB857}"/>
              </a:ext>
            </a:extLst>
          </p:cNvPr>
          <p:cNvSpPr txBox="1"/>
          <p:nvPr/>
        </p:nvSpPr>
        <p:spPr>
          <a:xfrm>
            <a:off x="8068339" y="3353288"/>
            <a:ext cx="10567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bg1"/>
                </a:solidFill>
                <a:latin typeface="Fira Code" panose="020B0809050000020004" pitchFamily="49" charset="0"/>
              </a:rPr>
              <a:t>Webpack</a:t>
            </a:r>
            <a:endParaRPr lang="zh-CN" altLang="en-US" sz="1400" dirty="0">
              <a:solidFill>
                <a:schemeClr val="bg1"/>
              </a:solidFill>
              <a:latin typeface="Fira Code" panose="020B0809050000020004" pitchFamily="49" charset="0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4FE41C8-9FB3-69DC-1C82-24283DDC91E0}"/>
              </a:ext>
            </a:extLst>
          </p:cNvPr>
          <p:cNvGrpSpPr/>
          <p:nvPr/>
        </p:nvGrpSpPr>
        <p:grpSpPr>
          <a:xfrm>
            <a:off x="9535015" y="1991378"/>
            <a:ext cx="2101663" cy="2101663"/>
            <a:chOff x="9702463" y="2188601"/>
            <a:chExt cx="2101663" cy="2101663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19FC3586-5550-32FC-C9F9-58789E203990}"/>
                </a:ext>
              </a:extLst>
            </p:cNvPr>
            <p:cNvGrpSpPr/>
            <p:nvPr/>
          </p:nvGrpSpPr>
          <p:grpSpPr>
            <a:xfrm>
              <a:off x="9702463" y="2188601"/>
              <a:ext cx="2101663" cy="2101663"/>
              <a:chOff x="1905562" y="4910522"/>
              <a:chExt cx="1639730" cy="1639730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C86BFE87-1E84-2AFD-D8BB-40FA0E374356}"/>
                  </a:ext>
                </a:extLst>
              </p:cNvPr>
              <p:cNvSpPr/>
              <p:nvPr/>
            </p:nvSpPr>
            <p:spPr>
              <a:xfrm flipH="1">
                <a:off x="2066591" y="5069986"/>
                <a:ext cx="1320800" cy="1320800"/>
              </a:xfrm>
              <a:prstGeom prst="ellipse">
                <a:avLst/>
              </a:prstGeom>
              <a:gradFill flip="none" rotWithShape="1">
                <a:gsLst>
                  <a:gs pos="35000">
                    <a:srgbClr val="037EF3">
                      <a:lumMod val="60000"/>
                      <a:lumOff val="40000"/>
                    </a:srgbClr>
                  </a:gs>
                  <a:gs pos="100000">
                    <a:srgbClr val="037EF3"/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368300" dist="127000" dir="4800000" sx="98000" sy="98000" algn="tl" rotWithShape="0">
                  <a:srgbClr val="037EF3">
                    <a:alpha val="4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D361548-831A-CEEF-0334-51DBAA79DC9A}"/>
                  </a:ext>
                </a:extLst>
              </p:cNvPr>
              <p:cNvSpPr txBox="1"/>
              <p:nvPr/>
            </p:nvSpPr>
            <p:spPr>
              <a:xfrm>
                <a:off x="2144269" y="5519248"/>
                <a:ext cx="1174180" cy="240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defRPr/>
                </a:pPr>
                <a:r>
                  <a:rPr lang="en-US" altLang="zh-CN" sz="1400" b="1">
                    <a:solidFill>
                      <a:prstClr val="white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Vue </a:t>
                </a:r>
                <a:r>
                  <a:rPr lang="zh-CN" altLang="en-US" sz="1400" b="1">
                    <a:solidFill>
                      <a:prstClr val="white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核心包开发</a:t>
                </a:r>
                <a:endParaRPr lang="en-US" altLang="zh-CN" sz="1400" b="1" dirty="0">
                  <a:solidFill>
                    <a:prstClr val="white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101D43B4-DA7B-446E-158C-08B20D814BB6}"/>
                  </a:ext>
                </a:extLst>
              </p:cNvPr>
              <p:cNvSpPr/>
              <p:nvPr/>
            </p:nvSpPr>
            <p:spPr>
              <a:xfrm>
                <a:off x="1905562" y="4910522"/>
                <a:ext cx="1639730" cy="1639730"/>
              </a:xfrm>
              <a:prstGeom prst="ellipse">
                <a:avLst/>
              </a:prstGeom>
              <a:noFill/>
              <a:ln w="12700" cap="flat" cmpd="sng" algn="ctr">
                <a:gradFill>
                  <a:gsLst>
                    <a:gs pos="10000">
                      <a:srgbClr val="037EF3">
                        <a:lumMod val="45000"/>
                        <a:lumOff val="55000"/>
                      </a:srgbClr>
                    </a:gs>
                    <a:gs pos="100000">
                      <a:srgbClr val="037EF3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4D471A4-5FF4-A320-CF7D-6DB18EF91F3B}"/>
                </a:ext>
              </a:extLst>
            </p:cNvPr>
            <p:cNvSpPr txBox="1"/>
            <p:nvPr/>
          </p:nvSpPr>
          <p:spPr>
            <a:xfrm>
              <a:off x="10061462" y="3452411"/>
              <a:ext cx="15049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1200">
                  <a:solidFill>
                    <a:prstClr val="white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局部 模块改造</a:t>
              </a:r>
              <a:endParaRPr lang="en-US" altLang="zh-CN" sz="1200" dirty="0">
                <a:solidFill>
                  <a:prstClr val="white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B746769-D10E-F375-C79C-2BA06EF44194}"/>
              </a:ext>
            </a:extLst>
          </p:cNvPr>
          <p:cNvGrpSpPr/>
          <p:nvPr/>
        </p:nvGrpSpPr>
        <p:grpSpPr>
          <a:xfrm>
            <a:off x="9535015" y="4155757"/>
            <a:ext cx="2101663" cy="2101663"/>
            <a:chOff x="9702463" y="4352980"/>
            <a:chExt cx="2101663" cy="2101663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8451F691-A967-7A12-089C-53071108403F}"/>
                </a:ext>
              </a:extLst>
            </p:cNvPr>
            <p:cNvGrpSpPr/>
            <p:nvPr/>
          </p:nvGrpSpPr>
          <p:grpSpPr>
            <a:xfrm>
              <a:off x="9702463" y="4352980"/>
              <a:ext cx="2101663" cy="2101663"/>
              <a:chOff x="1905562" y="4910522"/>
              <a:chExt cx="1639730" cy="1639730"/>
            </a:xfrm>
          </p:grpSpPr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26C08B8-4478-C258-C7FB-113874741ABB}"/>
                  </a:ext>
                </a:extLst>
              </p:cNvPr>
              <p:cNvSpPr/>
              <p:nvPr/>
            </p:nvSpPr>
            <p:spPr>
              <a:xfrm flipH="1">
                <a:off x="2066591" y="5069986"/>
                <a:ext cx="1320800" cy="1320800"/>
              </a:xfrm>
              <a:prstGeom prst="ellipse">
                <a:avLst/>
              </a:prstGeom>
              <a:gradFill flip="none" rotWithShape="1">
                <a:gsLst>
                  <a:gs pos="35000">
                    <a:srgbClr val="037EF3">
                      <a:lumMod val="60000"/>
                      <a:lumOff val="40000"/>
                    </a:srgbClr>
                  </a:gs>
                  <a:gs pos="100000">
                    <a:srgbClr val="037EF3"/>
                  </a:gs>
                </a:gsLst>
                <a:path path="circle">
                  <a:fillToRect r="100000" b="100000"/>
                </a:path>
                <a:tileRect l="-100000" t="-100000"/>
              </a:gradFill>
              <a:ln w="12700" cap="flat" cmpd="sng" algn="ctr">
                <a:noFill/>
                <a:prstDash val="solid"/>
                <a:miter lim="800000"/>
              </a:ln>
              <a:effectLst>
                <a:outerShdw blurRad="368300" dist="127000" dir="4800000" sx="98000" sy="98000" algn="tl" rotWithShape="0">
                  <a:srgbClr val="037EF3">
                    <a:alpha val="40000"/>
                  </a:srgb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95EED48-9B19-7FB4-572C-7381B83C360D}"/>
                  </a:ext>
                </a:extLst>
              </p:cNvPr>
              <p:cNvSpPr txBox="1"/>
              <p:nvPr/>
            </p:nvSpPr>
            <p:spPr>
              <a:xfrm>
                <a:off x="2021949" y="5252319"/>
                <a:ext cx="1406954" cy="552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  <a:defRPr/>
                </a:pPr>
                <a:r>
                  <a:rPr lang="en-US" altLang="zh-CN" sz="1400" b="1">
                    <a:solidFill>
                      <a:prstClr val="white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Vue </a:t>
                </a:r>
                <a:r>
                  <a:rPr lang="zh-CN" altLang="en-US" sz="1400" b="1">
                    <a:solidFill>
                      <a:prstClr val="white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核心包</a:t>
                </a:r>
                <a:endParaRPr lang="en-US" altLang="zh-CN" sz="1400" b="1">
                  <a:solidFill>
                    <a:prstClr val="white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  <a:p>
                <a:pPr algn="ctr">
                  <a:lnSpc>
                    <a:spcPct val="150000"/>
                  </a:lnSpc>
                  <a:defRPr/>
                </a:pPr>
                <a:r>
                  <a:rPr lang="en-US" altLang="zh-CN" sz="1400" b="1">
                    <a:solidFill>
                      <a:prstClr val="white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Vue</a:t>
                </a:r>
                <a:r>
                  <a:rPr lang="zh-CN" altLang="en-US" sz="1400" b="1">
                    <a:solidFill>
                      <a:prstClr val="white"/>
                    </a:solidFill>
                    <a:latin typeface="阿里巴巴普惠体" panose="00020600040101010101" pitchFamily="18" charset="-122"/>
                    <a:ea typeface="阿里巴巴普惠体" panose="00020600040101010101" pitchFamily="18" charset="-122"/>
                    <a:cs typeface="阿里巴巴普惠体" panose="00020600040101010101" pitchFamily="18" charset="-122"/>
                  </a:rPr>
                  <a:t>工程化开发</a:t>
                </a:r>
                <a:endParaRPr lang="en-US" altLang="zh-CN" sz="1400" b="1" dirty="0">
                  <a:solidFill>
                    <a:prstClr val="white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endParaRP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27A7CD70-7C7C-FBD1-FDF6-47653940B99A}"/>
                  </a:ext>
                </a:extLst>
              </p:cNvPr>
              <p:cNvSpPr/>
              <p:nvPr/>
            </p:nvSpPr>
            <p:spPr>
              <a:xfrm>
                <a:off x="1905562" y="4910522"/>
                <a:ext cx="1639730" cy="1639730"/>
              </a:xfrm>
              <a:prstGeom prst="ellipse">
                <a:avLst/>
              </a:prstGeom>
              <a:noFill/>
              <a:ln w="12700" cap="flat" cmpd="sng" algn="ctr">
                <a:gradFill>
                  <a:gsLst>
                    <a:gs pos="10000">
                      <a:srgbClr val="037EF3">
                        <a:lumMod val="45000"/>
                        <a:lumOff val="55000"/>
                      </a:srgbClr>
                    </a:gs>
                    <a:gs pos="100000">
                      <a:srgbClr val="037EF3">
                        <a:lumMod val="20000"/>
                        <a:lumOff val="80000"/>
                        <a:alpha val="0"/>
                      </a:srgbClr>
                    </a:gs>
                  </a:gsLst>
                  <a:lin ang="54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Roboto Regular"/>
                  <a:ea typeface="思源黑体 CN Regular"/>
                  <a:cs typeface="+mn-cs"/>
                </a:endParaRPr>
              </a:p>
            </p:txBody>
          </p:sp>
        </p:grp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F59B3CB-FF1C-D54A-037C-30290E425D5E}"/>
                </a:ext>
              </a:extLst>
            </p:cNvPr>
            <p:cNvSpPr txBox="1"/>
            <p:nvPr/>
          </p:nvSpPr>
          <p:spPr>
            <a:xfrm>
              <a:off x="10018125" y="5578769"/>
              <a:ext cx="150496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1200">
                  <a:solidFill>
                    <a:prstClr val="white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整站开发</a:t>
              </a:r>
              <a:endParaRPr lang="en-US" altLang="zh-CN" sz="1200" dirty="0">
                <a:solidFill>
                  <a:prstClr val="white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:a16="http://schemas.microsoft.com/office/drawing/2014/main" id="{A975EFE2-4965-7020-C600-1D42872BA943}"/>
              </a:ext>
            </a:extLst>
          </p:cNvPr>
          <p:cNvSpPr txBox="1"/>
          <p:nvPr/>
        </p:nvSpPr>
        <p:spPr>
          <a:xfrm>
            <a:off x="3538210" y="3391645"/>
            <a:ext cx="10583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Vue</a:t>
            </a:r>
            <a:r>
              <a:rPr lang="zh-CN" altLang="en-US" sz="1400" b="1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核心包</a:t>
            </a:r>
            <a:endParaRPr lang="zh-CN" altLang="en-US" sz="1400" b="1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D350C4E-605B-FD58-21FA-22E8FC21D4DE}"/>
              </a:ext>
            </a:extLst>
          </p:cNvPr>
          <p:cNvSpPr txBox="1"/>
          <p:nvPr/>
        </p:nvSpPr>
        <p:spPr>
          <a:xfrm>
            <a:off x="2833211" y="5603312"/>
            <a:ext cx="54931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>
                <a:solidFill>
                  <a:srgbClr val="C00000"/>
                </a:solidFill>
                <a:effectLst/>
                <a:latin typeface="沐瑶随心手写体" panose="02010600010101010101" pitchFamily="2" charset="-122"/>
                <a:ea typeface="沐瑶随心手写体" panose="02010600010101010101" pitchFamily="2" charset="-122"/>
                <a:cs typeface="阿里巴巴普惠体" panose="00020600040101010101" pitchFamily="18" charset="-122"/>
              </a:rPr>
              <a:t>Vue </a:t>
            </a:r>
            <a:r>
              <a:rPr lang="zh-CN" altLang="en-US" sz="2800" b="0" i="0">
                <a:solidFill>
                  <a:srgbClr val="C00000"/>
                </a:solidFill>
                <a:effectLst/>
                <a:latin typeface="沐瑶随心手写体" panose="02010600010101010101" pitchFamily="2" charset="-122"/>
                <a:ea typeface="沐瑶随心手写体" panose="02010600010101010101" pitchFamily="2" charset="-122"/>
                <a:cs typeface="阿里巴巴普惠体" panose="00020600040101010101" pitchFamily="18" charset="-122"/>
              </a:rPr>
              <a:t>是一个框架，也是一个生态。</a:t>
            </a:r>
            <a:endParaRPr lang="zh-CN" altLang="en-US" sz="2800">
              <a:solidFill>
                <a:srgbClr val="C0000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768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B0B3C6-682C-B9D6-C362-A341510388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Vue</a:t>
            </a:r>
            <a:r>
              <a:rPr lang="zh-CN" altLang="en-US">
                <a:latin typeface="+mn-lt"/>
              </a:rPr>
              <a:t>工程化</a:t>
            </a:r>
            <a:endParaRPr lang="en-US" altLang="zh-CN">
              <a:latin typeface="+mn-lt"/>
            </a:endParaRPr>
          </a:p>
          <a:p>
            <a:r>
              <a:rPr lang="en-US" altLang="zh-CN">
                <a:latin typeface="+mn-lt"/>
              </a:rPr>
              <a:t>ElementPlus</a:t>
            </a:r>
            <a:endParaRPr lang="zh-CN" alt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71042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A79657-6885-BEB3-2A5B-1C96782F1F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工程化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104DC6-7ADD-6D36-098D-8B1C05A8D40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462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小白眼中的前端开发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DD55C9-95D6-B2F7-B253-B24FACB95415}"/>
              </a:ext>
            </a:extLst>
          </p:cNvPr>
          <p:cNvSpPr txBox="1"/>
          <p:nvPr/>
        </p:nvSpPr>
        <p:spPr>
          <a:xfrm>
            <a:off x="9786678" y="2360422"/>
            <a:ext cx="1621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C0000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</a:rPr>
              <a:t>不规范</a:t>
            </a:r>
            <a:endParaRPr lang="en-US" altLang="zh-CN" sz="3600" b="1">
              <a:solidFill>
                <a:srgbClr val="C0000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3D8804-20E9-81DB-C297-BFDA63EB2116}"/>
              </a:ext>
            </a:extLst>
          </p:cNvPr>
          <p:cNvSpPr txBox="1"/>
          <p:nvPr/>
        </p:nvSpPr>
        <p:spPr>
          <a:xfrm>
            <a:off x="9786678" y="3761563"/>
            <a:ext cx="1621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C0000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</a:rPr>
              <a:t>难维护</a:t>
            </a:r>
            <a:endParaRPr lang="en-US" altLang="zh-CN" sz="3600" b="1">
              <a:solidFill>
                <a:srgbClr val="C0000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C5C9BD-EF71-D717-2404-32E0DE161B53}"/>
              </a:ext>
            </a:extLst>
          </p:cNvPr>
          <p:cNvSpPr txBox="1"/>
          <p:nvPr/>
        </p:nvSpPr>
        <p:spPr>
          <a:xfrm>
            <a:off x="9786678" y="5162704"/>
            <a:ext cx="1621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C0000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</a:rPr>
              <a:t>难复用</a:t>
            </a:r>
            <a:endParaRPr lang="en-US" altLang="zh-CN" sz="3600" b="1">
              <a:solidFill>
                <a:srgbClr val="C0000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</a:endParaRPr>
          </a:p>
        </p:txBody>
      </p:sp>
      <p:pic>
        <p:nvPicPr>
          <p:cNvPr id="7" name="图片 1">
            <a:extLst>
              <a:ext uri="{FF2B5EF4-FFF2-40B4-BE49-F238E27FC236}">
                <a16:creationId xmlns:a16="http://schemas.microsoft.com/office/drawing/2014/main" id="{C9AFA8DF-3B40-6BEF-6F8D-DB6283D63C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2099580" y="173733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D6137D9-2BE4-B213-AA86-6301450C8A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" r="5942"/>
          <a:stretch>
            <a:fillRect/>
          </a:stretch>
        </p:blipFill>
        <p:spPr>
          <a:xfrm>
            <a:off x="2548408" y="2124235"/>
            <a:ext cx="985758" cy="1118706"/>
          </a:xfrm>
          <a:prstGeom prst="rect">
            <a:avLst/>
          </a:prstGeom>
        </p:spPr>
      </p:pic>
      <p:pic>
        <p:nvPicPr>
          <p:cNvPr id="9" name="图片 3">
            <a:extLst>
              <a:ext uri="{FF2B5EF4-FFF2-40B4-BE49-F238E27FC236}">
                <a16:creationId xmlns:a16="http://schemas.microsoft.com/office/drawing/2014/main" id="{03BFA35B-0D29-C79B-F9A4-A1A1843713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7569054" y="173733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85C2661-B6DD-22EE-C733-7C8984453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3172" y="2124235"/>
            <a:ext cx="985758" cy="1118706"/>
          </a:xfrm>
          <a:prstGeom prst="rect">
            <a:avLst/>
          </a:prstGeom>
        </p:spPr>
      </p:pic>
      <p:pic>
        <p:nvPicPr>
          <p:cNvPr id="11" name="图片 5">
            <a:extLst>
              <a:ext uri="{FF2B5EF4-FFF2-40B4-BE49-F238E27FC236}">
                <a16:creationId xmlns:a16="http://schemas.microsoft.com/office/drawing/2014/main" id="{FB676AB7-C484-6B25-2CBE-98F349D25E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6341890" y="4292714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A129B2B-A561-248D-E9F0-DD306D9DC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344" y="4825601"/>
            <a:ext cx="1341489" cy="1155999"/>
          </a:xfrm>
          <a:prstGeom prst="rect">
            <a:avLst/>
          </a:prstGeom>
        </p:spPr>
      </p:pic>
      <p:pic>
        <p:nvPicPr>
          <p:cNvPr id="13" name="图片 4">
            <a:extLst>
              <a:ext uri="{FF2B5EF4-FFF2-40B4-BE49-F238E27FC236}">
                <a16:creationId xmlns:a16="http://schemas.microsoft.com/office/drawing/2014/main" id="{8A1857C8-2B2F-4255-0E45-5B66BE199F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3339826" y="4292714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2C27817-4906-8CD4-0E70-60AA00FA41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289" y="4996129"/>
            <a:ext cx="1675068" cy="441420"/>
          </a:xfrm>
          <a:prstGeom prst="rect">
            <a:avLst/>
          </a:prstGeom>
        </p:spPr>
      </p:pic>
      <p:pic>
        <p:nvPicPr>
          <p:cNvPr id="15" name="图片 2">
            <a:extLst>
              <a:ext uri="{FF2B5EF4-FFF2-40B4-BE49-F238E27FC236}">
                <a16:creationId xmlns:a16="http://schemas.microsoft.com/office/drawing/2014/main" id="{3C7293CC-CC3A-7586-A1AC-B2595E83C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4834317" y="173733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4E119A0-0666-5FE7-1D5E-EF521511CF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72731" y="2124235"/>
            <a:ext cx="985758" cy="111870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FF1E14B-33F9-EB3A-EAA8-22D543AC1B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4499" y="1635727"/>
            <a:ext cx="7687098" cy="4988577"/>
          </a:xfrm>
          <a:prstGeom prst="roundRect">
            <a:avLst>
              <a:gd name="adj" fmla="val 1438"/>
            </a:avLst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AFEC40F-B925-917D-AE2C-F2DCB31839F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48" y="3144746"/>
            <a:ext cx="1847462" cy="184746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7F22292E-AF73-E65E-7440-C811C0FF1E94}"/>
              </a:ext>
            </a:extLst>
          </p:cNvPr>
          <p:cNvSpPr/>
          <p:nvPr/>
        </p:nvSpPr>
        <p:spPr>
          <a:xfrm>
            <a:off x="0" y="-14290"/>
            <a:ext cx="12192000" cy="6872290"/>
          </a:xfrm>
          <a:prstGeom prst="rect">
            <a:avLst/>
          </a:prstGeom>
          <a:solidFill>
            <a:srgbClr val="000000">
              <a:alpha val="4313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5DD6DA0-4E8E-19BE-9451-2D41D9C53A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7858" y="1881422"/>
            <a:ext cx="8640379" cy="374416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12883AF-6847-C73C-0F4F-29A59DD2FAE5}"/>
              </a:ext>
            </a:extLst>
          </p:cNvPr>
          <p:cNvSpPr txBox="1"/>
          <p:nvPr/>
        </p:nvSpPr>
        <p:spPr>
          <a:xfrm>
            <a:off x="2673363" y="1680540"/>
            <a:ext cx="7140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image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E293AD0-C358-7361-1CFC-A0288A1C1AE7}"/>
              </a:ext>
            </a:extLst>
          </p:cNvPr>
          <p:cNvSpPr txBox="1"/>
          <p:nvPr/>
        </p:nvSpPr>
        <p:spPr>
          <a:xfrm>
            <a:off x="2673363" y="1902489"/>
            <a:ext cx="538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pic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A20DB08-263E-BDA4-BF63-25138829033A}"/>
              </a:ext>
            </a:extLst>
          </p:cNvPr>
          <p:cNvSpPr txBox="1"/>
          <p:nvPr/>
        </p:nvSpPr>
        <p:spPr>
          <a:xfrm>
            <a:off x="2673363" y="2132979"/>
            <a:ext cx="9123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rgbClr val="C00000"/>
                </a:solidFill>
              </a:rPr>
              <a:t>picture</a:t>
            </a:r>
            <a:endParaRPr lang="zh-CN" altLang="en-US" sz="120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85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6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7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9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1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3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  <p:bldP spid="19" grpId="0" animBg="1"/>
      <p:bldP spid="19" grpId="1" animBg="1"/>
      <p:bldP spid="3" grpId="0"/>
      <p:bldP spid="3" grpId="1"/>
      <p:bldP spid="21" grpId="0"/>
      <p:bldP spid="21" grpId="1"/>
      <p:bldP spid="22" grpId="0"/>
      <p:bldP spid="2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CF83633C-8A44-8D9B-8B43-E4E601F629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935711" y="241805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5" name="图片 2">
            <a:extLst>
              <a:ext uri="{FF2B5EF4-FFF2-40B4-BE49-F238E27FC236}">
                <a16:creationId xmlns:a16="http://schemas.microsoft.com/office/drawing/2014/main" id="{E1B5628B-0DA9-6C90-AF51-C6EF3E7E3E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3780511" y="241805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6" name="图片 3">
            <a:extLst>
              <a:ext uri="{FF2B5EF4-FFF2-40B4-BE49-F238E27FC236}">
                <a16:creationId xmlns:a16="http://schemas.microsoft.com/office/drawing/2014/main" id="{2A4C001C-D939-1DD4-C961-68409651D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6625311" y="241805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7" name="图片 4">
            <a:extLst>
              <a:ext uri="{FF2B5EF4-FFF2-40B4-BE49-F238E27FC236}">
                <a16:creationId xmlns:a16="http://schemas.microsoft.com/office/drawing/2014/main" id="{FB24AE7E-F68F-7F5F-0C08-FC5F128D9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9470111" y="241805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FD3611B-8F2F-8755-851C-9E6758A6DC62}"/>
              </a:ext>
            </a:extLst>
          </p:cNvPr>
          <p:cNvSpPr txBox="1"/>
          <p:nvPr/>
        </p:nvSpPr>
        <p:spPr>
          <a:xfrm>
            <a:off x="1321888" y="3080176"/>
            <a:ext cx="1075108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模块化</a:t>
            </a:r>
            <a:endParaRPr lang="zh-CN" altLang="en-US" sz="28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7B19F6-4421-CE4B-D139-81F5C595372B}"/>
              </a:ext>
            </a:extLst>
          </p:cNvPr>
          <p:cNvSpPr txBox="1"/>
          <p:nvPr/>
        </p:nvSpPr>
        <p:spPr>
          <a:xfrm>
            <a:off x="4166688" y="3080176"/>
            <a:ext cx="1075108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组件化</a:t>
            </a:r>
            <a:endParaRPr lang="zh-CN" altLang="en-US" sz="28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61E9B2-E7DA-BC75-F5D1-7A2EE108F3A9}"/>
              </a:ext>
            </a:extLst>
          </p:cNvPr>
          <p:cNvSpPr txBox="1"/>
          <p:nvPr/>
        </p:nvSpPr>
        <p:spPr>
          <a:xfrm>
            <a:off x="7011488" y="3080176"/>
            <a:ext cx="1075108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规范化</a:t>
            </a:r>
            <a:endParaRPr lang="zh-CN" altLang="en-US" sz="28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60423A5-A887-6DE7-DB5E-51E9A3AFD661}"/>
              </a:ext>
            </a:extLst>
          </p:cNvPr>
          <p:cNvSpPr txBox="1"/>
          <p:nvPr/>
        </p:nvSpPr>
        <p:spPr>
          <a:xfrm>
            <a:off x="9856288" y="3080176"/>
            <a:ext cx="1075108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自动化</a:t>
            </a:r>
            <a:endParaRPr lang="zh-CN" altLang="en-US" sz="28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D0A3C7-7C4D-9A42-382F-FA422AF10F46}"/>
              </a:ext>
            </a:extLst>
          </p:cNvPr>
          <p:cNvSpPr txBox="1"/>
          <p:nvPr/>
        </p:nvSpPr>
        <p:spPr>
          <a:xfrm>
            <a:off x="710880" y="4265517"/>
            <a:ext cx="2346960" cy="89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项目划分若干模块，单独开发、维护，提高效率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C1DD85-29DA-E340-C82E-B56E9A78E090}"/>
              </a:ext>
            </a:extLst>
          </p:cNvPr>
          <p:cNvSpPr txBox="1"/>
          <p:nvPr/>
        </p:nvSpPr>
        <p:spPr>
          <a:xfrm>
            <a:off x="3520441" y="4265517"/>
            <a:ext cx="2565238" cy="89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将页面的各个组成部分封装为一个一个的组件，提高复用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06DB74-0C0A-88A3-47B0-AA8C41B36882}"/>
              </a:ext>
            </a:extLst>
          </p:cNvPr>
          <p:cNvSpPr txBox="1"/>
          <p:nvPr/>
        </p:nvSpPr>
        <p:spPr>
          <a:xfrm>
            <a:off x="6266423" y="4265517"/>
            <a:ext cx="2565238" cy="89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提供标准统一的目录结构、编码规范、开发流程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CFE0F31-5648-7B8F-4AF4-36B2A2652EB0}"/>
              </a:ext>
            </a:extLst>
          </p:cNvPr>
          <p:cNvSpPr txBox="1"/>
          <p:nvPr/>
        </p:nvSpPr>
        <p:spPr>
          <a:xfrm>
            <a:off x="9190549" y="4265516"/>
            <a:ext cx="2565238" cy="89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项目的构建、开发、测试、打包、部署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3849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前端工程化</a:t>
            </a:r>
          </a:p>
        </p:txBody>
      </p:sp>
      <p:pic>
        <p:nvPicPr>
          <p:cNvPr id="4" name="图片 1">
            <a:extLst>
              <a:ext uri="{FF2B5EF4-FFF2-40B4-BE49-F238E27FC236}">
                <a16:creationId xmlns:a16="http://schemas.microsoft.com/office/drawing/2014/main" id="{5318E145-385C-5D7F-0227-067217E27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935711" y="241805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5" name="图片 2">
            <a:extLst>
              <a:ext uri="{FF2B5EF4-FFF2-40B4-BE49-F238E27FC236}">
                <a16:creationId xmlns:a16="http://schemas.microsoft.com/office/drawing/2014/main" id="{DE85E5A7-57C5-3E3A-DD1C-57D88E37F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935711" y="241805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6" name="图片 3">
            <a:extLst>
              <a:ext uri="{FF2B5EF4-FFF2-40B4-BE49-F238E27FC236}">
                <a16:creationId xmlns:a16="http://schemas.microsoft.com/office/drawing/2014/main" id="{E9365E1E-D7CE-F014-EE15-84C10403E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935711" y="241805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pic>
        <p:nvPicPr>
          <p:cNvPr id="7" name="图片 4">
            <a:extLst>
              <a:ext uri="{FF2B5EF4-FFF2-40B4-BE49-F238E27FC236}">
                <a16:creationId xmlns:a16="http://schemas.microsoft.com/office/drawing/2014/main" id="{09578FE0-8783-A0D0-F864-5CD840D00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1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3414" t="53479" r="58370" b="21794"/>
          <a:stretch>
            <a:fillRect/>
          </a:stretch>
        </p:blipFill>
        <p:spPr>
          <a:xfrm rot="5400000">
            <a:off x="935711" y="2418055"/>
            <a:ext cx="1847462" cy="1847462"/>
          </a:xfrm>
          <a:custGeom>
            <a:avLst/>
            <a:gdLst>
              <a:gd name="connsiteX0" fmla="*/ 0 w 2392966"/>
              <a:gd name="connsiteY0" fmla="*/ 1196483 h 2392966"/>
              <a:gd name="connsiteX1" fmla="*/ 1196483 w 2392966"/>
              <a:gd name="connsiteY1" fmla="*/ 0 h 2392966"/>
              <a:gd name="connsiteX2" fmla="*/ 2392966 w 2392966"/>
              <a:gd name="connsiteY2" fmla="*/ 1196483 h 2392966"/>
              <a:gd name="connsiteX3" fmla="*/ 1196482 w 2392966"/>
              <a:gd name="connsiteY3" fmla="*/ 2392966 h 2392966"/>
              <a:gd name="connsiteX4" fmla="*/ 0 w 2392966"/>
              <a:gd name="connsiteY4" fmla="*/ 1196483 h 239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92966" h="2392966">
                <a:moveTo>
                  <a:pt x="0" y="1196483"/>
                </a:moveTo>
                <a:cubicBezTo>
                  <a:pt x="0" y="535684"/>
                  <a:pt x="535684" y="0"/>
                  <a:pt x="1196483" y="0"/>
                </a:cubicBezTo>
                <a:cubicBezTo>
                  <a:pt x="1857282" y="0"/>
                  <a:pt x="2392966" y="535684"/>
                  <a:pt x="2392966" y="1196483"/>
                </a:cubicBezTo>
                <a:cubicBezTo>
                  <a:pt x="2392966" y="1857282"/>
                  <a:pt x="1857281" y="2392966"/>
                  <a:pt x="1196482" y="2392966"/>
                </a:cubicBezTo>
                <a:cubicBezTo>
                  <a:pt x="535683" y="2392966"/>
                  <a:pt x="0" y="1857282"/>
                  <a:pt x="0" y="1196483"/>
                </a:cubicBezTo>
                <a:close/>
              </a:path>
            </a:pathLst>
          </a:custGeom>
        </p:spPr>
      </p:pic>
      <p:sp>
        <p:nvSpPr>
          <p:cNvPr id="8" name="!!文本框 6">
            <a:extLst>
              <a:ext uri="{FF2B5EF4-FFF2-40B4-BE49-F238E27FC236}">
                <a16:creationId xmlns:a16="http://schemas.microsoft.com/office/drawing/2014/main" id="{3ECD68A1-9C59-A7FD-3E63-9E40BA8525D3}"/>
              </a:ext>
            </a:extLst>
          </p:cNvPr>
          <p:cNvSpPr txBox="1"/>
          <p:nvPr/>
        </p:nvSpPr>
        <p:spPr>
          <a:xfrm>
            <a:off x="1321888" y="3080176"/>
            <a:ext cx="1075108" cy="52322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800" b="1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工程化</a:t>
            </a:r>
            <a:endParaRPr lang="zh-CN" altLang="en-US" sz="2800" b="1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FE57E9-890D-478F-8548-0BAD8F05477F}"/>
              </a:ext>
            </a:extLst>
          </p:cNvPr>
          <p:cNvSpPr txBox="1"/>
          <p:nvPr/>
        </p:nvSpPr>
        <p:spPr>
          <a:xfrm>
            <a:off x="2875280" y="2629438"/>
            <a:ext cx="8727440" cy="1241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20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在企业级的前端项目开发中，把前端开发所需的工具、技术、流程、经验等进行规范化、 标准化。</a:t>
            </a:r>
            <a:endParaRPr lang="zh-CN" altLang="en-US" sz="2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BEC1DB-F63A-56DD-0979-46D77AC34CF9}"/>
              </a:ext>
            </a:extLst>
          </p:cNvPr>
          <p:cNvSpPr txBox="1"/>
          <p:nvPr/>
        </p:nvSpPr>
        <p:spPr>
          <a:xfrm>
            <a:off x="3098800" y="4396494"/>
            <a:ext cx="218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00B05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</a:rPr>
              <a:t>统一规范</a:t>
            </a:r>
            <a:endParaRPr lang="zh-CN" altLang="en-US" sz="3600" b="1" dirty="0">
              <a:solidFill>
                <a:srgbClr val="00B05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EF2C2C-4442-D057-75F2-D571DAF18F8B}"/>
              </a:ext>
            </a:extLst>
          </p:cNvPr>
          <p:cNvSpPr txBox="1"/>
          <p:nvPr/>
        </p:nvSpPr>
        <p:spPr>
          <a:xfrm>
            <a:off x="5816602" y="4396494"/>
            <a:ext cx="218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00B05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</a:rPr>
              <a:t>提高复用</a:t>
            </a:r>
            <a:endParaRPr lang="zh-CN" altLang="en-US" sz="3600" b="1" dirty="0">
              <a:solidFill>
                <a:srgbClr val="00B05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ADFBE4-CE9A-E9BE-C2D5-DCFB5F93C186}"/>
              </a:ext>
            </a:extLst>
          </p:cNvPr>
          <p:cNvSpPr txBox="1"/>
          <p:nvPr/>
        </p:nvSpPr>
        <p:spPr>
          <a:xfrm>
            <a:off x="8534404" y="4396494"/>
            <a:ext cx="218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00B05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</a:rPr>
              <a:t>便于维护</a:t>
            </a:r>
            <a:endParaRPr lang="zh-CN" altLang="en-US" sz="3600" b="1" dirty="0">
              <a:solidFill>
                <a:srgbClr val="00B05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8E8D1EB-2908-6A5F-C5C7-88E3B9631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0936" y="3658724"/>
            <a:ext cx="616371" cy="53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639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67D98-7AA0-387F-AB99-A058185DE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工程化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AA8624-B90F-2614-E946-A457FC293B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58797"/>
          </a:xfrm>
        </p:spPr>
        <p:txBody>
          <a:bodyPr/>
          <a:lstStyle/>
          <a:p>
            <a:r>
              <a:rPr lang="zh-CN" altLang="en-US"/>
              <a:t>环境准备</a:t>
            </a:r>
            <a:endParaRPr lang="en-US" altLang="zh-CN"/>
          </a:p>
          <a:p>
            <a:r>
              <a:rPr lang="en-US" altLang="zh-CN"/>
              <a:t>Vue</a:t>
            </a:r>
            <a:r>
              <a:rPr lang="zh-CN" altLang="en-US"/>
              <a:t>项目简介</a:t>
            </a:r>
            <a:endParaRPr lang="en-US" altLang="zh-CN"/>
          </a:p>
          <a:p>
            <a:r>
              <a:rPr lang="en-US" altLang="zh-CN"/>
              <a:t>Vue</a:t>
            </a:r>
            <a:r>
              <a:rPr lang="zh-CN" altLang="en-US"/>
              <a:t>项目开发流程</a:t>
            </a:r>
            <a:endParaRPr lang="en-US" altLang="zh-CN"/>
          </a:p>
          <a:p>
            <a:r>
              <a:rPr lang="en-US" altLang="zh-CN"/>
              <a:t>API</a:t>
            </a:r>
            <a:r>
              <a:rPr lang="zh-CN" altLang="en-US"/>
              <a:t>风格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07C7CA3-873B-8400-CA67-52C77D51D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100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环境准备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3310959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介绍：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create-vue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是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Vue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官方提供的最新的脚手架工具，用于快速生成一个工程化的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Vue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项目。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create-vue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提供了如下功能：</a:t>
            </a: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统一的目录结构</a:t>
            </a: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本地调试</a:t>
            </a: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热部署</a:t>
            </a: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单元测试</a:t>
            </a:r>
          </a:p>
          <a:p>
            <a:pPr marL="540000" lvl="1" indent="-285750" defTabSz="54000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b="0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集成打包上线</a:t>
            </a:r>
          </a:p>
          <a:p>
            <a:pPr marL="285750" indent="-285750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</a:rPr>
              <a:t>依赖环境：</a:t>
            </a:r>
            <a:r>
              <a:rPr lang="en-US" altLang="zh-CN">
                <a:solidFill>
                  <a:schemeClr val="tx1">
                    <a:lumMod val="50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NodeJS </a:t>
            </a:r>
          </a:p>
        </p:txBody>
      </p:sp>
    </p:spTree>
    <p:extLst>
      <p:ext uri="{BB962C8B-B14F-4D97-AF65-F5344CB8AC3E}">
        <p14:creationId xmlns:p14="http://schemas.microsoft.com/office/powerpoint/2010/main" val="1709489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环境准备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安装</a:t>
            </a:r>
            <a:r>
              <a:rPr lang="en-US" altLang="zh-CN"/>
              <a:t>NodeJS</a:t>
            </a: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FAD219-9063-D660-A4CE-A52F158F0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223" y="1576083"/>
            <a:ext cx="10611871" cy="45398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9128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环境准备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npm</a:t>
            </a:r>
            <a:r>
              <a:rPr lang="zh-CN" altLang="en-US">
                <a:latin typeface="Fira Code" panose="020B0809050000020004" pitchFamily="49" charset="0"/>
              </a:rPr>
              <a:t>：</a:t>
            </a:r>
            <a:r>
              <a:rPr lang="en-US" altLang="zh-CN" b="1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N</a:t>
            </a:r>
            <a:r>
              <a:rPr lang="en-US" altLang="zh-CN" b="0" i="0">
                <a:solidFill>
                  <a:srgbClr val="33333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ode </a:t>
            </a:r>
            <a:r>
              <a:rPr lang="en-US" altLang="zh-CN" b="1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P</a:t>
            </a:r>
            <a:r>
              <a:rPr lang="en-US" altLang="zh-CN" b="0" i="0">
                <a:solidFill>
                  <a:srgbClr val="33333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ackage </a:t>
            </a:r>
            <a:r>
              <a:rPr lang="en-US" altLang="zh-CN" b="1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M</a:t>
            </a:r>
            <a:r>
              <a:rPr lang="en-US" altLang="zh-CN" b="0" i="0">
                <a:solidFill>
                  <a:srgbClr val="33333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anager</a:t>
            </a:r>
            <a:r>
              <a:rPr lang="zh-CN" altLang="en-US" b="0" i="0">
                <a:solidFill>
                  <a:srgbClr val="333333"/>
                </a:solidFill>
                <a:effectLst/>
                <a:latin typeface="Fira Code" panose="020B0809050000020004" pitchFamily="49" charset="0"/>
              </a:rPr>
              <a:t>，是</a:t>
            </a:r>
            <a:r>
              <a:rPr lang="en-US" altLang="zh-CN" b="0" i="0">
                <a:solidFill>
                  <a:srgbClr val="333333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NodeJS</a:t>
            </a:r>
            <a:r>
              <a:rPr lang="zh-CN" altLang="en-US" b="0" i="0">
                <a:solidFill>
                  <a:srgbClr val="333333"/>
                </a:solidFill>
                <a:effectLst/>
                <a:latin typeface="Fira Code" panose="020B0809050000020004" pitchFamily="49" charset="0"/>
              </a:rPr>
              <a:t>的软件包管理器。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086281-EFAA-FDDE-C629-69591B4DB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385" y="4055280"/>
            <a:ext cx="358139" cy="3581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E65D049-51A2-0491-DEC7-6F7DF9A0F2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325" y="4055280"/>
            <a:ext cx="358139" cy="35813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D57C718-9808-760E-A2E3-54E416DDD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265" y="4055280"/>
            <a:ext cx="358139" cy="35813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0B0EF09-FB2F-7C62-A260-6C2AE15D92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205" y="4055280"/>
            <a:ext cx="358139" cy="3581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51C85BC-2204-9B52-697E-FD7FAFE14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45" y="4055280"/>
            <a:ext cx="358139" cy="35813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62512CB-6534-3E81-60E4-E346BECF0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085" y="4055280"/>
            <a:ext cx="358139" cy="35813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77A3FF68-73D8-3078-80FE-397729D4A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025" y="4055280"/>
            <a:ext cx="358139" cy="35813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AC010CC-D6EC-7F44-FA31-35116BC44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965" y="4055280"/>
            <a:ext cx="358139" cy="3581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B35A689-12AA-5A82-97EA-6C6D86250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903" y="4055280"/>
            <a:ext cx="358139" cy="35813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A904AB5-5E80-08B0-B400-FDF29B895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464" y="4422708"/>
            <a:ext cx="358139" cy="35813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66F5533-8D7E-E80B-B016-516248DAD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04" y="4422708"/>
            <a:ext cx="358139" cy="35813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005FE7B-2E49-DBF0-65B6-52AC60D19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344" y="4422708"/>
            <a:ext cx="358139" cy="35813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E5768FB-A9C2-BBED-A817-A2646AE924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284" y="4422708"/>
            <a:ext cx="358139" cy="35813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A333AE1-B187-0240-2958-1CA035C33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224" y="4422708"/>
            <a:ext cx="358139" cy="358139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F7D3A72-BABA-7CF0-9D4A-C93496076841}"/>
              </a:ext>
            </a:extLst>
          </p:cNvPr>
          <p:cNvSpPr txBox="1"/>
          <p:nvPr/>
        </p:nvSpPr>
        <p:spPr>
          <a:xfrm>
            <a:off x="9532453" y="4474819"/>
            <a:ext cx="38985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b="1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 . .</a:t>
            </a:r>
            <a:endParaRPr lang="zh-CN" altLang="en-US" sz="1050" b="1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BFAA99D-B225-CCD8-14A2-772E37930A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464" y="2495655"/>
            <a:ext cx="358139" cy="35813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1C0081C-4877-B102-6793-F2E4D6BB9C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404" y="2495655"/>
            <a:ext cx="358139" cy="35813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6B4E154-D364-BD80-7070-75CE7E0D0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344" y="2495655"/>
            <a:ext cx="358139" cy="35813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07839C33-EE1F-6556-6C4F-721786FC1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8284" y="2495655"/>
            <a:ext cx="358139" cy="35813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8C6F865B-2C81-0226-47EA-E6109DE6E2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224" y="2495655"/>
            <a:ext cx="358139" cy="358139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1959A86A-56F7-0868-99DF-39228BB57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164" y="2495655"/>
            <a:ext cx="358139" cy="35813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499A0E56-02AA-8FFA-2992-CBA4E0367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104" y="2495655"/>
            <a:ext cx="358139" cy="358139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B6CCB25-1554-832F-2EF9-4B436D3E7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044" y="2495655"/>
            <a:ext cx="358139" cy="358139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A4B8C60-9C26-54E2-F0C9-60365F915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2982" y="2495655"/>
            <a:ext cx="358139" cy="35813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7A6A0B3A-3DD2-4FC8-7840-28151FAA41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385" y="2887656"/>
            <a:ext cx="358139" cy="358139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83A8DE29-D550-A13E-2045-E25D2EBAE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325" y="2887656"/>
            <a:ext cx="358139" cy="358139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D92A7BE-59BF-B3F9-DEE1-EE689E662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265" y="2887656"/>
            <a:ext cx="358139" cy="35813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A4EDEEA3-E377-CB32-E568-8F8FAEA285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205" y="2887656"/>
            <a:ext cx="358139" cy="358139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3DEB531-605D-EADF-BD3D-66E5A1F2B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45" y="2887656"/>
            <a:ext cx="358139" cy="358139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2B8C8E95-26DD-49ED-9AB7-9D4D410B0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085" y="2887656"/>
            <a:ext cx="358139" cy="358139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8B3AD2E-9E33-1A33-F23E-526B76AAED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025" y="2887656"/>
            <a:ext cx="358139" cy="35813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CB3B8C79-60E1-AB29-9250-C87DA0DCD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965" y="2887656"/>
            <a:ext cx="358139" cy="358139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7AD75798-E758-011B-DC7C-FA7AD4B09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903" y="2887656"/>
            <a:ext cx="358139" cy="358139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26C52E42-7CD9-5F28-EF89-AC130DEE2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385" y="3284813"/>
            <a:ext cx="358139" cy="358139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31B2C957-54D7-EAB3-AF0A-8D3859E46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325" y="3284813"/>
            <a:ext cx="358139" cy="358139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5D0DC29B-DB7F-7C63-F214-EE6BD5651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265" y="3284813"/>
            <a:ext cx="358139" cy="358139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20CA9121-AB56-A10B-6F0E-034245EC0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205" y="3284813"/>
            <a:ext cx="358139" cy="358139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D3FA62FB-6224-764A-50DD-EBC8BE50E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45" y="3284813"/>
            <a:ext cx="358139" cy="358139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F44C3163-C79D-96A9-9A70-3C8A935A3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085" y="3284813"/>
            <a:ext cx="358139" cy="358139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81E34A5-55E8-0907-08BF-E595DB008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025" y="3284813"/>
            <a:ext cx="358139" cy="358139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75660618-B25F-E7C2-01F2-89DFAABDB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965" y="3284813"/>
            <a:ext cx="358139" cy="358139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BC4860D6-CE61-4285-7991-09F833653E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903" y="3284813"/>
            <a:ext cx="358139" cy="358139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1103FBCB-A38E-FB80-CE2A-35661FE78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385" y="3687852"/>
            <a:ext cx="358139" cy="358139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8647A782-7692-A255-E5C7-CFAB9899CB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325" y="3687852"/>
            <a:ext cx="358139" cy="358139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4008B0E2-06DB-A613-B0FB-356A3279E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5265" y="3687852"/>
            <a:ext cx="358139" cy="358139"/>
          </a:xfrm>
          <a:prstGeom prst="rect">
            <a:avLst/>
          </a:prstGeom>
        </p:spPr>
      </p:pic>
      <p:pic>
        <p:nvPicPr>
          <p:cNvPr id="49" name="图片 48">
            <a:extLst>
              <a:ext uri="{FF2B5EF4-FFF2-40B4-BE49-F238E27FC236}">
                <a16:creationId xmlns:a16="http://schemas.microsoft.com/office/drawing/2014/main" id="{076E74EE-10EB-7BE5-24E5-30142CA6E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8205" y="3687852"/>
            <a:ext cx="358139" cy="358139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C45EE766-442F-B37C-97EE-161788BE93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1145" y="3687852"/>
            <a:ext cx="358139" cy="358139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5B62D81-81C8-35E1-3DEF-49DD6E3546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4085" y="3687852"/>
            <a:ext cx="358139" cy="358139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05D2F71F-4692-B286-C77F-1A79EE5D8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025" y="3687852"/>
            <a:ext cx="358139" cy="358139"/>
          </a:xfrm>
          <a:prstGeom prst="rect">
            <a:avLst/>
          </a:prstGeom>
        </p:spPr>
      </p:pic>
      <p:pic>
        <p:nvPicPr>
          <p:cNvPr id="53" name="图片 52">
            <a:extLst>
              <a:ext uri="{FF2B5EF4-FFF2-40B4-BE49-F238E27FC236}">
                <a16:creationId xmlns:a16="http://schemas.microsoft.com/office/drawing/2014/main" id="{B8BFAF8F-1BCF-6D8A-3D36-54D993DEE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9965" y="3687852"/>
            <a:ext cx="358139" cy="358139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065F5B0D-61D5-E79D-1FF8-1E7D3B16C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2903" y="3687852"/>
            <a:ext cx="358139" cy="358139"/>
          </a:xfrm>
          <a:prstGeom prst="rect">
            <a:avLst/>
          </a:prstGeom>
        </p:spPr>
      </p:pic>
      <p:sp>
        <p:nvSpPr>
          <p:cNvPr id="55" name="流程图: 文档 54">
            <a:extLst>
              <a:ext uri="{FF2B5EF4-FFF2-40B4-BE49-F238E27FC236}">
                <a16:creationId xmlns:a16="http://schemas.microsoft.com/office/drawing/2014/main" id="{013C72F7-A1BF-A6B7-5DE8-7CFF3A24AED5}"/>
              </a:ext>
            </a:extLst>
          </p:cNvPr>
          <p:cNvSpPr/>
          <p:nvPr/>
        </p:nvSpPr>
        <p:spPr>
          <a:xfrm>
            <a:off x="7914641" y="2409131"/>
            <a:ext cx="2997200" cy="2723118"/>
          </a:xfrm>
          <a:prstGeom prst="flowChartDocument">
            <a:avLst/>
          </a:prstGeom>
          <a:noFill/>
          <a:ln w="3175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6" name="图片 55">
            <a:extLst>
              <a:ext uri="{FF2B5EF4-FFF2-40B4-BE49-F238E27FC236}">
                <a16:creationId xmlns:a16="http://schemas.microsoft.com/office/drawing/2014/main" id="{A709FD48-3CCD-7658-8410-C1C86D772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9841" y="4040111"/>
            <a:ext cx="779246" cy="119350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80100EC0-4F7C-E9AE-12EA-1C1C191A44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921" y="4192783"/>
            <a:ext cx="1280479" cy="952500"/>
          </a:xfrm>
          <a:prstGeom prst="rect">
            <a:avLst/>
          </a:prstGeom>
        </p:spPr>
      </p:pic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744BD6E5-D19B-E5CB-F5FD-49B5083B26A7}"/>
              </a:ext>
            </a:extLst>
          </p:cNvPr>
          <p:cNvCxnSpPr>
            <a:stCxn id="57" idx="3"/>
          </p:cNvCxnSpPr>
          <p:nvPr/>
        </p:nvCxnSpPr>
        <p:spPr>
          <a:xfrm>
            <a:off x="2438400" y="4669033"/>
            <a:ext cx="5008880" cy="0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B9314E35-4E26-586A-3D96-77F135E546A6}"/>
              </a:ext>
            </a:extLst>
          </p:cNvPr>
          <p:cNvSpPr txBox="1"/>
          <p:nvPr/>
        </p:nvSpPr>
        <p:spPr>
          <a:xfrm>
            <a:off x="3809890" y="4332793"/>
            <a:ext cx="2009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npm install xxxx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60" name="图片 59">
            <a:extLst>
              <a:ext uri="{FF2B5EF4-FFF2-40B4-BE49-F238E27FC236}">
                <a16:creationId xmlns:a16="http://schemas.microsoft.com/office/drawing/2014/main" id="{6B0C3151-97C6-2FD3-17ED-319A6E489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464" y="2492287"/>
            <a:ext cx="358139" cy="358139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4B6E0A2F-6CA3-E9EF-99EC-A3DD6B639492}"/>
              </a:ext>
            </a:extLst>
          </p:cNvPr>
          <p:cNvSpPr txBox="1"/>
          <p:nvPr/>
        </p:nvSpPr>
        <p:spPr>
          <a:xfrm>
            <a:off x="10842600" y="3348173"/>
            <a:ext cx="1206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rgbClr val="C00000"/>
                </a:solidFill>
                <a:latin typeface="沐瑶随心手写体" panose="02010600010101010101" pitchFamily="2" charset="-122"/>
                <a:ea typeface="沐瑶随心手写体" panose="02010600010101010101" pitchFamily="2" charset="-122"/>
                <a:cs typeface="阿里巴巴普惠体" panose="00020600040101010101" pitchFamily="18" charset="-122"/>
              </a:rPr>
              <a:t>远程仓库</a:t>
            </a:r>
            <a:endParaRPr lang="zh-CN" altLang="en-US" sz="2000" b="1" dirty="0">
              <a:solidFill>
                <a:srgbClr val="C00000"/>
              </a:solidFill>
              <a:latin typeface="沐瑶随心手写体" panose="02010600010101010101" pitchFamily="2" charset="-122"/>
              <a:ea typeface="沐瑶随心手写体" panose="02010600010101010101" pitchFamily="2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994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000"/>
                            </p:stCondLst>
                            <p:childTnLst>
                              <p:par>
                                <p:cTn id="2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33333E-6 L -0.51901 0.27547 " pathEditMode="relative" rAng="0" ptsTypes="AA">
                                      <p:cBhvr>
                                        <p:cTn id="29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951" y="137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55" grpId="0" animBg="1"/>
      <p:bldP spid="59" grpId="0"/>
      <p:bldP spid="6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67D98-7AA0-387F-AB99-A058185DE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工程化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AA8624-B90F-2614-E946-A457FC293B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58797"/>
          </a:xfrm>
        </p:spPr>
        <p:txBody>
          <a:bodyPr/>
          <a:lstStyle/>
          <a:p>
            <a:r>
              <a:rPr lang="zh-CN" altLang="en-US"/>
              <a:t>环境准备</a:t>
            </a:r>
            <a:endParaRPr lang="en-US" altLang="zh-CN"/>
          </a:p>
          <a:p>
            <a:r>
              <a:rPr lang="en-US" altLang="zh-CN">
                <a:solidFill>
                  <a:srgbClr val="C00000"/>
                </a:solidFill>
              </a:rPr>
              <a:t>Vue</a:t>
            </a:r>
            <a:r>
              <a:rPr lang="zh-CN" altLang="en-US">
                <a:solidFill>
                  <a:srgbClr val="C00000"/>
                </a:solidFill>
              </a:rPr>
              <a:t>项目简介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en-US" altLang="zh-CN"/>
              <a:t>Vue</a:t>
            </a:r>
            <a:r>
              <a:rPr lang="zh-CN" altLang="en-US"/>
              <a:t>项目开发流程</a:t>
            </a:r>
            <a:endParaRPr lang="en-US" altLang="zh-CN"/>
          </a:p>
          <a:p>
            <a:r>
              <a:rPr lang="en-US" altLang="zh-CN"/>
              <a:t>API</a:t>
            </a:r>
            <a:r>
              <a:rPr lang="zh-CN" altLang="en-US"/>
              <a:t>风格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07C7CA3-873B-8400-CA67-52C77D51D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348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项目</a:t>
            </a:r>
            <a:r>
              <a:rPr lang="en-US" altLang="zh-CN"/>
              <a:t>-</a:t>
            </a:r>
            <a:r>
              <a:rPr lang="zh-CN" altLang="en-US"/>
              <a:t>创建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创建一个工程化的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Vue</a:t>
            </a:r>
            <a:r>
              <a:rPr lang="zh-CN" altLang="en-US">
                <a:latin typeface="Fira Code" panose="020B0809050000020004" pitchFamily="49" charset="0"/>
              </a:rPr>
              <a:t>项目，执行命令：</a:t>
            </a:r>
            <a:r>
              <a:rPr lang="en-US" altLang="zh-CN">
                <a:solidFill>
                  <a:srgbClr val="001FEE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npm create vue</a:t>
            </a:r>
            <a:r>
              <a:rPr lang="en-US" altLang="zh-CN">
                <a:solidFill>
                  <a:srgbClr val="001FEE"/>
                </a:solidFill>
                <a:latin typeface="Consolas" panose="020B0609020204030204" pitchFamily="49" charset="0"/>
                <a:ea typeface="Fira Code" panose="020B0809050000020004" pitchFamily="49" charset="0"/>
              </a:rPr>
              <a:t>@3.3.4</a:t>
            </a:r>
            <a:endParaRPr lang="zh-CN" altLang="en-US">
              <a:solidFill>
                <a:srgbClr val="001FEE"/>
              </a:solidFill>
              <a:latin typeface="Fira Code" panose="020B08090500000200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3C0645-9488-EC8F-EABA-C003FCF3B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942" y="1494670"/>
            <a:ext cx="7902727" cy="3812436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B7B7DEC4-849E-9E02-D084-AEA936CFF8C4}"/>
              </a:ext>
            </a:extLst>
          </p:cNvPr>
          <p:cNvSpPr/>
          <p:nvPr/>
        </p:nvSpPr>
        <p:spPr>
          <a:xfrm>
            <a:off x="5457585" y="2034989"/>
            <a:ext cx="6732802" cy="2788022"/>
          </a:xfrm>
          <a:prstGeom prst="roundRect">
            <a:avLst>
              <a:gd name="adj" fmla="val 2015"/>
            </a:avLst>
          </a:prstGeom>
          <a:solidFill>
            <a:srgbClr val="97E2B8"/>
          </a:solidFill>
          <a:ln w="3175"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solidFill>
                  <a:srgbClr val="000000"/>
                </a:solidFill>
              </a:rPr>
              <a:t>Project name</a:t>
            </a:r>
            <a:r>
              <a:rPr lang="zh-CN" altLang="en-US" sz="1000">
                <a:solidFill>
                  <a:srgbClr val="000000"/>
                </a:solidFill>
              </a:rPr>
              <a:t>：</a:t>
            </a:r>
            <a:r>
              <a:rPr lang="en-US" altLang="zh-CN" sz="1000">
                <a:solidFill>
                  <a:srgbClr val="000000"/>
                </a:solidFill>
              </a:rPr>
              <a:t>------------------》</a:t>
            </a:r>
            <a:r>
              <a:rPr lang="zh-CN" altLang="en-US" sz="1000">
                <a:solidFill>
                  <a:srgbClr val="000000"/>
                </a:solidFill>
              </a:rPr>
              <a:t>项目名称，默认值：</a:t>
            </a:r>
            <a:r>
              <a:rPr lang="en-US" altLang="zh-CN" sz="1000">
                <a:solidFill>
                  <a:srgbClr val="000000"/>
                </a:solidFill>
              </a:rPr>
              <a:t>vue-project</a:t>
            </a:r>
            <a:r>
              <a:rPr lang="zh-CN" altLang="en-US" sz="1000">
                <a:solidFill>
                  <a:srgbClr val="000000"/>
                </a:solidFill>
              </a:rPr>
              <a:t>，可输入想要的项目名称。</a:t>
            </a:r>
            <a:endParaRPr lang="en-US" altLang="zh-CN" sz="100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solidFill>
                  <a:srgbClr val="000000"/>
                </a:solidFill>
              </a:rPr>
              <a:t>Add TypeScript? ----------------》</a:t>
            </a:r>
            <a:r>
              <a:rPr lang="zh-CN" altLang="en-US" sz="1000">
                <a:solidFill>
                  <a:srgbClr val="000000"/>
                </a:solidFill>
              </a:rPr>
              <a:t>是否加入</a:t>
            </a:r>
            <a:r>
              <a:rPr lang="en-US" altLang="zh-CN" sz="1000">
                <a:solidFill>
                  <a:srgbClr val="000000"/>
                </a:solidFill>
              </a:rPr>
              <a:t>TypeScript</a:t>
            </a:r>
            <a:r>
              <a:rPr lang="zh-CN" altLang="en-US" sz="1000">
                <a:solidFill>
                  <a:srgbClr val="000000"/>
                </a:solidFill>
              </a:rPr>
              <a:t>组件？默认值：</a:t>
            </a:r>
            <a:r>
              <a:rPr lang="en-US" altLang="zh-CN" sz="1000">
                <a:solidFill>
                  <a:srgbClr val="000000"/>
                </a:solidFill>
              </a:rPr>
              <a:t>No</a:t>
            </a:r>
            <a:r>
              <a:rPr lang="zh-CN" altLang="en-US" sz="1000">
                <a:solidFill>
                  <a:srgbClr val="000000"/>
                </a:solidFill>
              </a:rPr>
              <a:t>。</a:t>
            </a:r>
            <a:endParaRPr lang="en-US" altLang="zh-CN" sz="100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solidFill>
                  <a:srgbClr val="000000"/>
                </a:solidFill>
              </a:rPr>
              <a:t>Add JSX Support? ---------------》</a:t>
            </a:r>
            <a:r>
              <a:rPr lang="zh-CN" altLang="en-US" sz="1000">
                <a:solidFill>
                  <a:srgbClr val="000000"/>
                </a:solidFill>
              </a:rPr>
              <a:t>是否加入</a:t>
            </a:r>
            <a:r>
              <a:rPr lang="en-US" altLang="zh-CN" sz="1000">
                <a:solidFill>
                  <a:srgbClr val="000000"/>
                </a:solidFill>
              </a:rPr>
              <a:t>JSX</a:t>
            </a:r>
            <a:r>
              <a:rPr lang="zh-CN" altLang="en-US" sz="1000">
                <a:solidFill>
                  <a:srgbClr val="000000"/>
                </a:solidFill>
              </a:rPr>
              <a:t>支持？默认值：</a:t>
            </a:r>
            <a:r>
              <a:rPr lang="en-US" altLang="zh-CN" sz="1000">
                <a:solidFill>
                  <a:srgbClr val="000000"/>
                </a:solidFill>
              </a:rPr>
              <a:t>No</a:t>
            </a:r>
            <a:r>
              <a:rPr lang="zh-CN" altLang="en-US" sz="1000">
                <a:solidFill>
                  <a:srgbClr val="000000"/>
                </a:solidFill>
              </a:rPr>
              <a:t>。</a:t>
            </a:r>
            <a:endParaRPr lang="en-US" altLang="zh-CN" sz="100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solidFill>
                  <a:srgbClr val="000000"/>
                </a:solidFill>
              </a:rPr>
              <a:t>Add Vue Router ...--------------》</a:t>
            </a:r>
            <a:r>
              <a:rPr lang="zh-CN" altLang="en-US" sz="1000">
                <a:solidFill>
                  <a:srgbClr val="000000"/>
                </a:solidFill>
              </a:rPr>
              <a:t>是否为单页应用程序开发添加</a:t>
            </a:r>
            <a:r>
              <a:rPr lang="en-US" altLang="zh-CN" sz="1000">
                <a:solidFill>
                  <a:srgbClr val="000000"/>
                </a:solidFill>
              </a:rPr>
              <a:t>Vue Router</a:t>
            </a:r>
            <a:r>
              <a:rPr lang="zh-CN" altLang="en-US" sz="1000">
                <a:solidFill>
                  <a:srgbClr val="000000"/>
                </a:solidFill>
              </a:rPr>
              <a:t>路由管理组件？默认值：</a:t>
            </a:r>
            <a:r>
              <a:rPr lang="en-US" altLang="zh-CN" sz="1000">
                <a:solidFill>
                  <a:srgbClr val="000000"/>
                </a:solidFill>
              </a:rPr>
              <a:t>No</a:t>
            </a:r>
            <a:r>
              <a:rPr lang="zh-CN" altLang="en-US" sz="1000">
                <a:solidFill>
                  <a:srgbClr val="000000"/>
                </a:solidFill>
              </a:rPr>
              <a:t>。</a:t>
            </a:r>
            <a:endParaRPr lang="en-US" altLang="zh-CN" sz="100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solidFill>
                  <a:srgbClr val="000000"/>
                </a:solidFill>
              </a:rPr>
              <a:t>Add Pinia ...-------------------》</a:t>
            </a:r>
            <a:r>
              <a:rPr lang="zh-CN" altLang="en-US" sz="1000">
                <a:solidFill>
                  <a:srgbClr val="000000"/>
                </a:solidFill>
              </a:rPr>
              <a:t>是否添加</a:t>
            </a:r>
            <a:r>
              <a:rPr lang="en-US" altLang="zh-CN" sz="1000">
                <a:solidFill>
                  <a:srgbClr val="000000"/>
                </a:solidFill>
              </a:rPr>
              <a:t>Pinia</a:t>
            </a:r>
            <a:r>
              <a:rPr lang="zh-CN" altLang="en-US" sz="1000">
                <a:solidFill>
                  <a:srgbClr val="000000"/>
                </a:solidFill>
              </a:rPr>
              <a:t>组件来进行状态管理？默认值：</a:t>
            </a:r>
            <a:r>
              <a:rPr lang="en-US" altLang="zh-CN" sz="1000">
                <a:solidFill>
                  <a:srgbClr val="000000"/>
                </a:solidFill>
              </a:rPr>
              <a:t>No</a:t>
            </a:r>
            <a:r>
              <a:rPr lang="zh-CN" altLang="en-US" sz="1000">
                <a:solidFill>
                  <a:srgbClr val="000000"/>
                </a:solidFill>
              </a:rPr>
              <a:t>。</a:t>
            </a:r>
            <a:endParaRPr lang="en-US" altLang="zh-CN" sz="100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solidFill>
                  <a:srgbClr val="000000"/>
                </a:solidFill>
              </a:rPr>
              <a:t>Add Vitest ...------------------》</a:t>
            </a:r>
            <a:r>
              <a:rPr lang="zh-CN" altLang="en-US" sz="1000">
                <a:solidFill>
                  <a:srgbClr val="000000"/>
                </a:solidFill>
              </a:rPr>
              <a:t>是否添加</a:t>
            </a:r>
            <a:r>
              <a:rPr lang="en-US" altLang="zh-CN" sz="1000">
                <a:solidFill>
                  <a:srgbClr val="000000"/>
                </a:solidFill>
              </a:rPr>
              <a:t>Vitest</a:t>
            </a:r>
            <a:r>
              <a:rPr lang="zh-CN" altLang="en-US" sz="1000">
                <a:solidFill>
                  <a:srgbClr val="000000"/>
                </a:solidFill>
              </a:rPr>
              <a:t>来进行单元测试？默认值：</a:t>
            </a:r>
            <a:r>
              <a:rPr lang="en-US" altLang="zh-CN" sz="1000">
                <a:solidFill>
                  <a:srgbClr val="000000"/>
                </a:solidFill>
              </a:rPr>
              <a:t>No</a:t>
            </a:r>
            <a:r>
              <a:rPr lang="zh-CN" altLang="en-US" sz="1000">
                <a:solidFill>
                  <a:srgbClr val="000000"/>
                </a:solidFill>
              </a:rPr>
              <a:t>。</a:t>
            </a:r>
            <a:endParaRPr lang="en-US" altLang="zh-CN" sz="100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solidFill>
                  <a:srgbClr val="000000"/>
                </a:solidFill>
              </a:rPr>
              <a:t>Add an End-to-End ...-----------》</a:t>
            </a:r>
            <a:r>
              <a:rPr lang="zh-CN" altLang="en-US" sz="1000">
                <a:solidFill>
                  <a:srgbClr val="000000"/>
                </a:solidFill>
              </a:rPr>
              <a:t>是否添加端到端测试？默认值</a:t>
            </a:r>
            <a:r>
              <a:rPr lang="en-US" altLang="zh-CN" sz="1000">
                <a:solidFill>
                  <a:srgbClr val="000000"/>
                </a:solidFill>
              </a:rPr>
              <a:t>No</a:t>
            </a:r>
            <a:r>
              <a:rPr lang="zh-CN" altLang="en-US" sz="1000">
                <a:solidFill>
                  <a:srgbClr val="000000"/>
                </a:solidFill>
              </a:rPr>
              <a:t>。</a:t>
            </a:r>
            <a:endParaRPr lang="en-US" altLang="zh-CN" sz="100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000">
                <a:solidFill>
                  <a:srgbClr val="000000"/>
                </a:solidFill>
              </a:rPr>
              <a:t>Add ESLint for code quality? ---》</a:t>
            </a:r>
            <a:r>
              <a:rPr lang="zh-CN" altLang="en-US" sz="1000">
                <a:solidFill>
                  <a:srgbClr val="000000"/>
                </a:solidFill>
              </a:rPr>
              <a:t>是否添加</a:t>
            </a:r>
            <a:r>
              <a:rPr lang="en-US" altLang="zh-CN" sz="1000">
                <a:solidFill>
                  <a:srgbClr val="000000"/>
                </a:solidFill>
              </a:rPr>
              <a:t>ESLint</a:t>
            </a:r>
            <a:r>
              <a:rPr lang="zh-CN" altLang="en-US" sz="1000">
                <a:solidFill>
                  <a:srgbClr val="000000"/>
                </a:solidFill>
              </a:rPr>
              <a:t>来进行代码质量检查？默认值：</a:t>
            </a:r>
            <a:r>
              <a:rPr lang="en-US" altLang="zh-CN" sz="1000">
                <a:solidFill>
                  <a:srgbClr val="000000"/>
                </a:solidFill>
              </a:rPr>
              <a:t>No</a:t>
            </a:r>
            <a:r>
              <a:rPr lang="zh-CN" altLang="en-US" sz="1000">
                <a:solidFill>
                  <a:srgbClr val="000000"/>
                </a:solidFill>
              </a:rPr>
              <a:t>。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9C2528B-9933-DF8F-15B1-8A90974C5A2A}"/>
              </a:ext>
            </a:extLst>
          </p:cNvPr>
          <p:cNvGrpSpPr/>
          <p:nvPr/>
        </p:nvGrpSpPr>
        <p:grpSpPr>
          <a:xfrm>
            <a:off x="916012" y="6297397"/>
            <a:ext cx="10770240" cy="448408"/>
            <a:chOff x="710880" y="5745685"/>
            <a:chExt cx="10385946" cy="448408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6617A0D2-E715-31B5-EB68-3B1077E67E45}"/>
                </a:ext>
              </a:extLst>
            </p:cNvPr>
            <p:cNvSpPr/>
            <p:nvPr/>
          </p:nvSpPr>
          <p:spPr>
            <a:xfrm>
              <a:off x="710880" y="5745686"/>
              <a:ext cx="10385946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r>
                <a:rPr lang="zh-CN" altLang="en-US" sz="1400">
                  <a:solidFill>
                    <a:schemeClr val="tx1"/>
                  </a:solidFill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执行上述指令，</a:t>
              </a:r>
              <a:r>
                <a:rPr lang="zh-CN" altLang="en-US" sz="1400" b="0" i="0">
                  <a:solidFill>
                    <a:schemeClr val="tx1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将会安装并执行 </a:t>
              </a:r>
              <a:r>
                <a:rPr lang="en-US" altLang="zh-CN" sz="1400" b="0" i="0">
                  <a:solidFill>
                    <a:schemeClr val="tx1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create-vue</a:t>
              </a:r>
              <a:r>
                <a:rPr lang="zh-CN" altLang="en-US" sz="1400" b="0" i="0">
                  <a:solidFill>
                    <a:schemeClr val="tx1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，它是 </a:t>
              </a:r>
              <a:r>
                <a:rPr lang="en-US" altLang="zh-CN" sz="1400" b="0" i="0">
                  <a:solidFill>
                    <a:schemeClr val="tx1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Vue </a:t>
              </a:r>
              <a:r>
                <a:rPr lang="zh-CN" altLang="en-US" sz="1400" b="0" i="0">
                  <a:solidFill>
                    <a:schemeClr val="tx1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官方的项目脚手架工具</a:t>
              </a:r>
              <a:endParaRPr lang="zh-CN" altLang="en-US" sz="1400" dirty="0">
                <a:solidFill>
                  <a:schemeClr val="tx1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9" name="矩形: 圆顶角 8">
              <a:extLst>
                <a:ext uri="{FF2B5EF4-FFF2-40B4-BE49-F238E27FC236}">
                  <a16:creationId xmlns:a16="http://schemas.microsoft.com/office/drawing/2014/main" id="{C26BFBCE-702D-7BD9-6485-9739A6C240F6}"/>
                </a:ext>
              </a:extLst>
            </p:cNvPr>
            <p:cNvSpPr/>
            <p:nvPr/>
          </p:nvSpPr>
          <p:spPr>
            <a:xfrm rot="16200000">
              <a:off x="1005297" y="5451268"/>
              <a:ext cx="448407" cy="1037241"/>
            </a:xfrm>
            <a:prstGeom prst="round2SameRect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形 9" descr="发送 纯色填充">
              <a:extLst>
                <a:ext uri="{FF2B5EF4-FFF2-40B4-BE49-F238E27FC236}">
                  <a16:creationId xmlns:a16="http://schemas.microsoft.com/office/drawing/2014/main" id="{44DF81F4-A6F2-D17B-7A1F-CBF89783A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73616" y="5793337"/>
              <a:ext cx="353103" cy="353103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AFCDF2F-60D6-7CEF-CED3-5CF5DF0677D1}"/>
                </a:ext>
              </a:extLst>
            </p:cNvPr>
            <p:cNvSpPr txBox="1"/>
            <p:nvPr/>
          </p:nvSpPr>
          <p:spPr>
            <a:xfrm>
              <a:off x="1099259" y="5809403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提示：</a:t>
              </a:r>
              <a:endParaRPr lang="zh-CN" altLang="en-US" sz="105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7452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项目</a:t>
            </a:r>
            <a:r>
              <a:rPr lang="en-US" altLang="zh-CN"/>
              <a:t>-</a:t>
            </a:r>
            <a:r>
              <a:rPr lang="zh-CN" altLang="en-US"/>
              <a:t>安装依赖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进入项目目录，执行命令安装当前项目的依赖：</a:t>
            </a:r>
            <a:r>
              <a:rPr lang="en-US" altLang="zh-CN">
                <a:solidFill>
                  <a:srgbClr val="001FEE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npm install</a:t>
            </a:r>
            <a:endParaRPr lang="zh-CN" altLang="en-US">
              <a:solidFill>
                <a:srgbClr val="001FEE"/>
              </a:solidFill>
              <a:latin typeface="Fira Code" panose="020B08090500000200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163BC2-7ED3-75C4-4A26-1862BF256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665" y="1513329"/>
            <a:ext cx="10663013" cy="1852917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233E3C38-9581-4797-F2F3-C69B7CDD56D5}"/>
              </a:ext>
            </a:extLst>
          </p:cNvPr>
          <p:cNvGrpSpPr/>
          <p:nvPr/>
        </p:nvGrpSpPr>
        <p:grpSpPr>
          <a:xfrm>
            <a:off x="973665" y="6073193"/>
            <a:ext cx="10341061" cy="448408"/>
            <a:chOff x="710879" y="5978768"/>
            <a:chExt cx="10035586" cy="448408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448400E4-7A9B-3279-77FD-F177947D3EE1}"/>
                </a:ext>
              </a:extLst>
            </p:cNvPr>
            <p:cNvSpPr/>
            <p:nvPr/>
          </p:nvSpPr>
          <p:spPr>
            <a:xfrm>
              <a:off x="710880" y="5978769"/>
              <a:ext cx="10035585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创建项目以及安装依赖的过程，都是需要联网的。</a:t>
              </a:r>
              <a:endPara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723B1953-0FEA-58A3-FD13-D65D5BB5B6E8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Shape 2468">
              <a:extLst>
                <a:ext uri="{FF2B5EF4-FFF2-40B4-BE49-F238E27FC236}">
                  <a16:creationId xmlns:a16="http://schemas.microsoft.com/office/drawing/2014/main" id="{0E2F6766-CC02-58BD-ABDA-AAA5765D9447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C39288C4-123D-B90B-E82B-F21921352C0B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942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项目</a:t>
            </a:r>
            <a:r>
              <a:rPr lang="en-US" altLang="zh-CN"/>
              <a:t>-</a:t>
            </a:r>
            <a:r>
              <a:rPr lang="zh-CN" altLang="en-US"/>
              <a:t>项目结构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使用</a:t>
            </a:r>
            <a:r>
              <a:rPr lang="en-US" altLang="zh-CN"/>
              <a:t>VS Code</a:t>
            </a:r>
            <a:r>
              <a:rPr lang="zh-CN" altLang="en-US"/>
              <a:t>打开</a:t>
            </a:r>
            <a:r>
              <a:rPr lang="en-US" altLang="zh-CN"/>
              <a:t>Vue</a:t>
            </a:r>
            <a:r>
              <a:rPr lang="zh-CN" altLang="en-US"/>
              <a:t>项目。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091F0A0-7216-1DDA-1AA0-C632B9AFC4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375"/>
          <a:stretch/>
        </p:blipFill>
        <p:spPr>
          <a:xfrm>
            <a:off x="963150" y="1576083"/>
            <a:ext cx="3097862" cy="3392834"/>
          </a:xfrm>
          <a:prstGeom prst="rect">
            <a:avLst/>
          </a:prstGeom>
          <a:ln w="6350">
            <a:solidFill>
              <a:schemeClr val="tx1">
                <a:lumMod val="60000"/>
                <a:lumOff val="40000"/>
              </a:schemeClr>
            </a:solidFill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27F647C-15E4-14EF-464B-9DF739FC8027}"/>
              </a:ext>
            </a:extLst>
          </p:cNvPr>
          <p:cNvSpPr/>
          <p:nvPr/>
        </p:nvSpPr>
        <p:spPr>
          <a:xfrm>
            <a:off x="963149" y="2178386"/>
            <a:ext cx="3097861" cy="345232"/>
          </a:xfrm>
          <a:prstGeom prst="rect">
            <a:avLst/>
          </a:prstGeom>
          <a:solidFill>
            <a:srgbClr val="42B883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570C6B-808D-26CD-275A-93DB3BD8997B}"/>
              </a:ext>
            </a:extLst>
          </p:cNvPr>
          <p:cNvSpPr/>
          <p:nvPr/>
        </p:nvSpPr>
        <p:spPr>
          <a:xfrm>
            <a:off x="963146" y="4532380"/>
            <a:ext cx="3097860" cy="345232"/>
          </a:xfrm>
          <a:prstGeom prst="rect">
            <a:avLst/>
          </a:prstGeom>
          <a:solidFill>
            <a:srgbClr val="42B883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BF5837-E91C-3424-F5A2-AD5F816A1E46}"/>
              </a:ext>
            </a:extLst>
          </p:cNvPr>
          <p:cNvSpPr/>
          <p:nvPr/>
        </p:nvSpPr>
        <p:spPr>
          <a:xfrm>
            <a:off x="963146" y="3930077"/>
            <a:ext cx="3097860" cy="345232"/>
          </a:xfrm>
          <a:prstGeom prst="rect">
            <a:avLst/>
          </a:prstGeom>
          <a:solidFill>
            <a:srgbClr val="42B883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00CF3F-F1E0-41BE-6B59-D5776EFFF16D}"/>
              </a:ext>
            </a:extLst>
          </p:cNvPr>
          <p:cNvSpPr/>
          <p:nvPr/>
        </p:nvSpPr>
        <p:spPr>
          <a:xfrm>
            <a:off x="963148" y="2767442"/>
            <a:ext cx="3097861" cy="345232"/>
          </a:xfrm>
          <a:prstGeom prst="rect">
            <a:avLst/>
          </a:prstGeom>
          <a:solidFill>
            <a:srgbClr val="FF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4F998CF-BAA8-367C-B89A-5D4613BC1D0B}"/>
              </a:ext>
            </a:extLst>
          </p:cNvPr>
          <p:cNvSpPr txBox="1"/>
          <p:nvPr/>
        </p:nvSpPr>
        <p:spPr>
          <a:xfrm>
            <a:off x="4060540" y="4566336"/>
            <a:ext cx="3263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Vue</a:t>
            </a: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项目的配置信息，如：端口号等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56E62D-88B2-1302-C7D3-DE3CD80C9BBB}"/>
              </a:ext>
            </a:extLst>
          </p:cNvPr>
          <p:cNvSpPr txBox="1"/>
          <p:nvPr/>
        </p:nvSpPr>
        <p:spPr>
          <a:xfrm>
            <a:off x="4061006" y="3966665"/>
            <a:ext cx="4941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项目配置文件，包括项目名、版本号、依赖包、版本等。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EC9346D-AAB4-3554-C484-C82DB8CB80AF}"/>
              </a:ext>
            </a:extLst>
          </p:cNvPr>
          <p:cNvSpPr txBox="1"/>
          <p:nvPr/>
        </p:nvSpPr>
        <p:spPr>
          <a:xfrm>
            <a:off x="4061009" y="2786169"/>
            <a:ext cx="32631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源代码存放目录（写代码的文件夹）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0F88819-5410-9B86-5073-EC1BDEE49AFC}"/>
              </a:ext>
            </a:extLst>
          </p:cNvPr>
          <p:cNvSpPr txBox="1"/>
          <p:nvPr/>
        </p:nvSpPr>
        <p:spPr>
          <a:xfrm>
            <a:off x="4061009" y="2216093"/>
            <a:ext cx="22591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下载的第三方包存放目录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30E9694-D173-AE7E-8BC1-7FB6C7ACA1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0175"/>
          <a:stretch/>
        </p:blipFill>
        <p:spPr>
          <a:xfrm>
            <a:off x="7010402" y="2055717"/>
            <a:ext cx="2686972" cy="1619054"/>
          </a:xfrm>
          <a:prstGeom prst="roundRect">
            <a:avLst>
              <a:gd name="adj" fmla="val 0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8C62248B-CD02-B5AD-2784-9385D8824207}"/>
              </a:ext>
            </a:extLst>
          </p:cNvPr>
          <p:cNvSpPr/>
          <p:nvPr/>
        </p:nvSpPr>
        <p:spPr>
          <a:xfrm>
            <a:off x="7010400" y="2342278"/>
            <a:ext cx="2686973" cy="307777"/>
          </a:xfrm>
          <a:prstGeom prst="rect">
            <a:avLst/>
          </a:prstGeom>
          <a:solidFill>
            <a:srgbClr val="FF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CB2C29-8A45-E457-19E2-762F7F8277F9}"/>
              </a:ext>
            </a:extLst>
          </p:cNvPr>
          <p:cNvSpPr/>
          <p:nvPr/>
        </p:nvSpPr>
        <p:spPr>
          <a:xfrm>
            <a:off x="7010399" y="2673585"/>
            <a:ext cx="2686973" cy="307777"/>
          </a:xfrm>
          <a:prstGeom prst="rect">
            <a:avLst/>
          </a:prstGeom>
          <a:solidFill>
            <a:srgbClr val="FF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BC5287-F323-F4CD-E262-1249D0A50EB2}"/>
              </a:ext>
            </a:extLst>
          </p:cNvPr>
          <p:cNvSpPr/>
          <p:nvPr/>
        </p:nvSpPr>
        <p:spPr>
          <a:xfrm>
            <a:off x="7010398" y="3004537"/>
            <a:ext cx="2686973" cy="307777"/>
          </a:xfrm>
          <a:prstGeom prst="rect">
            <a:avLst/>
          </a:prstGeom>
          <a:solidFill>
            <a:srgbClr val="FF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A31C1F-5945-53ED-27CA-2B4017705291}"/>
              </a:ext>
            </a:extLst>
          </p:cNvPr>
          <p:cNvSpPr/>
          <p:nvPr/>
        </p:nvSpPr>
        <p:spPr>
          <a:xfrm>
            <a:off x="7010397" y="3325840"/>
            <a:ext cx="2686973" cy="307777"/>
          </a:xfrm>
          <a:prstGeom prst="rect">
            <a:avLst/>
          </a:prstGeom>
          <a:solidFill>
            <a:srgbClr val="FF0000">
              <a:alpha val="2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FDC01C-8724-D36E-BBE9-83BA8B462451}"/>
              </a:ext>
            </a:extLst>
          </p:cNvPr>
          <p:cNvSpPr txBox="1"/>
          <p:nvPr/>
        </p:nvSpPr>
        <p:spPr>
          <a:xfrm>
            <a:off x="9697370" y="2328751"/>
            <a:ext cx="24275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静态资源目录，存放图片、字体</a:t>
            </a:r>
            <a:r>
              <a:rPr lang="en-US" altLang="zh-CN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…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441F16E-11F7-C604-A560-374B1A3F9DDF}"/>
              </a:ext>
            </a:extLst>
          </p:cNvPr>
          <p:cNvSpPr txBox="1"/>
          <p:nvPr/>
        </p:nvSpPr>
        <p:spPr>
          <a:xfrm>
            <a:off x="9697370" y="2688973"/>
            <a:ext cx="2258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组件目录，存放通用组件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E0251-323E-711C-ECE6-727C61F54BAD}"/>
              </a:ext>
            </a:extLst>
          </p:cNvPr>
          <p:cNvSpPr txBox="1"/>
          <p:nvPr/>
        </p:nvSpPr>
        <p:spPr>
          <a:xfrm>
            <a:off x="9697370" y="2983041"/>
            <a:ext cx="2258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根组件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D75FA02-5078-F651-F9F7-E87CFE4667B4}"/>
              </a:ext>
            </a:extLst>
          </p:cNvPr>
          <p:cNvSpPr txBox="1"/>
          <p:nvPr/>
        </p:nvSpPr>
        <p:spPr>
          <a:xfrm>
            <a:off x="9697368" y="3330449"/>
            <a:ext cx="2258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入口文件</a:t>
            </a:r>
            <a:endParaRPr lang="zh-CN" altLang="en-US" sz="12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6813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项目</a:t>
            </a:r>
            <a:r>
              <a:rPr lang="en-US" altLang="zh-CN"/>
              <a:t>-</a:t>
            </a:r>
            <a:r>
              <a:rPr lang="zh-CN" altLang="en-US"/>
              <a:t>启动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执行命令：</a:t>
            </a:r>
            <a:r>
              <a:rPr lang="en-US" altLang="zh-CN">
                <a:solidFill>
                  <a:srgbClr val="001FEE"/>
                </a:solidFill>
              </a:rPr>
              <a:t>npm run dev</a:t>
            </a:r>
            <a:r>
              <a:rPr lang="zh-CN" altLang="en-US"/>
              <a:t>，就可以启动</a:t>
            </a:r>
            <a:r>
              <a:rPr lang="en-US" altLang="zh-CN"/>
              <a:t>Vue</a:t>
            </a:r>
            <a:r>
              <a:rPr lang="zh-CN" altLang="en-US"/>
              <a:t>项目了。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6DBDA42D-1B00-FD20-0C5B-7EA34C8F6282}"/>
              </a:ext>
            </a:extLst>
          </p:cNvPr>
          <p:cNvSpPr txBox="1">
            <a:spLocks/>
          </p:cNvSpPr>
          <p:nvPr/>
        </p:nvSpPr>
        <p:spPr>
          <a:xfrm>
            <a:off x="576197" y="4630551"/>
            <a:ext cx="11060481" cy="47441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访问项目：打开浏览器，在浏览器地址栏访问 </a:t>
            </a:r>
            <a:r>
              <a:rPr lang="en-US" altLang="zh-CN">
                <a:solidFill>
                  <a:srgbClr val="001FEE"/>
                </a:solidFill>
              </a:rPr>
              <a:t>http://localhost:5173 </a:t>
            </a:r>
            <a:r>
              <a:rPr lang="zh-CN" altLang="en-US"/>
              <a:t>就可以访问到</a:t>
            </a:r>
            <a:r>
              <a:rPr lang="en-US" altLang="zh-CN"/>
              <a:t>Vue</a:t>
            </a:r>
            <a:r>
              <a:rPr lang="zh-CN" altLang="en-US"/>
              <a:t>项目。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F34174-1768-0BFA-E4FA-F3B045B22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98" y="1504368"/>
            <a:ext cx="8727949" cy="29414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99DBA75-3306-08DB-AD62-824263DFC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164" y="0"/>
            <a:ext cx="3288836" cy="4630551"/>
          </a:xfrm>
          <a:prstGeom prst="rect">
            <a:avLst/>
          </a:prstGeom>
          <a:ln>
            <a:solidFill>
              <a:schemeClr val="tx1">
                <a:lumMod val="60000"/>
                <a:lumOff val="40000"/>
              </a:schemeClr>
            </a:solidFill>
          </a:ln>
        </p:spPr>
      </p:pic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F827AC4-7B40-C3E3-2B1B-3AB8FFDBCD66}"/>
              </a:ext>
            </a:extLst>
          </p:cNvPr>
          <p:cNvCxnSpPr>
            <a:cxnSpLocks/>
          </p:cNvCxnSpPr>
          <p:nvPr/>
        </p:nvCxnSpPr>
        <p:spPr>
          <a:xfrm>
            <a:off x="2061882" y="3446930"/>
            <a:ext cx="1801906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F4761C2B-1356-03D4-6758-AAD68238AC8D}"/>
              </a:ext>
            </a:extLst>
          </p:cNvPr>
          <p:cNvSpPr/>
          <p:nvPr/>
        </p:nvSpPr>
        <p:spPr>
          <a:xfrm>
            <a:off x="11815972" y="3774139"/>
            <a:ext cx="304310" cy="313765"/>
          </a:xfrm>
          <a:prstGeom prst="ellipse">
            <a:avLst/>
          </a:prstGeom>
          <a:noFill/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BABC63-4CCA-F902-64B8-DC72FE428AA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D2C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4892C7B-226A-AFF2-0F45-A9EE055F4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83" y="406057"/>
            <a:ext cx="11144195" cy="604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81E160-BF93-AF7F-B310-EE064152FC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Vue</a:t>
            </a:r>
            <a:r>
              <a:rPr lang="zh-CN" altLang="en-US" sz="1800"/>
              <a:t>项目操作</a:t>
            </a:r>
            <a:endParaRPr lang="en-US" altLang="zh-CN" sz="18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/>
              <a:t>创建：</a:t>
            </a:r>
            <a:r>
              <a:rPr lang="en-US" altLang="zh-CN" sz="1600"/>
              <a:t>npm create vue@</a:t>
            </a:r>
            <a:r>
              <a:rPr lang="zh-CN" altLang="en-US" sz="1600"/>
              <a:t>版本号</a:t>
            </a:r>
            <a:endParaRPr lang="en-US" altLang="zh-CN" sz="16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/>
              <a:t>安装依赖：</a:t>
            </a:r>
            <a:r>
              <a:rPr lang="en-US" altLang="zh-CN" sz="1600"/>
              <a:t>npm install</a:t>
            </a:r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1600"/>
              <a:t>启动：</a:t>
            </a:r>
            <a:r>
              <a:rPr lang="en-US" altLang="zh-CN" sz="1600"/>
              <a:t>npm run dev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24348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67D98-7AA0-387F-AB99-A058185DE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工程化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AA8624-B90F-2614-E946-A457FC293B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58797"/>
          </a:xfrm>
        </p:spPr>
        <p:txBody>
          <a:bodyPr/>
          <a:lstStyle/>
          <a:p>
            <a:r>
              <a:rPr lang="zh-CN" altLang="en-US"/>
              <a:t>环境准备</a:t>
            </a:r>
            <a:endParaRPr lang="en-US" altLang="zh-CN"/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Vue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项目简介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rgbClr val="C00000"/>
                </a:solidFill>
              </a:rPr>
              <a:t>Vue</a:t>
            </a:r>
            <a:r>
              <a:rPr lang="zh-CN" altLang="en-US">
                <a:solidFill>
                  <a:srgbClr val="C00000"/>
                </a:solidFill>
              </a:rPr>
              <a:t>项目开发流程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en-US" altLang="zh-CN"/>
              <a:t>API</a:t>
            </a:r>
            <a:r>
              <a:rPr lang="zh-CN" altLang="en-US"/>
              <a:t>风格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07C7CA3-873B-8400-CA67-52C77D51D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370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项目开发流程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16B34B-0586-C4E7-6290-71DD2C0EC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240" y="1012643"/>
            <a:ext cx="10527431" cy="571128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5404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项目开发流程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0D1BB9-5354-6360-5FF3-E80F91ACD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52" y="1053145"/>
            <a:ext cx="5920291" cy="3240377"/>
          </a:xfrm>
          <a:prstGeom prst="roundRect">
            <a:avLst>
              <a:gd name="adj" fmla="val 2005"/>
            </a:avLst>
          </a:prstGeom>
          <a:ln>
            <a:solidFill>
              <a:schemeClr val="bg1">
                <a:lumMod val="75000"/>
              </a:schemeClr>
            </a:solidFill>
            <a:prstDash val="solid"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EEF23F5-0CA8-BC0D-4780-BC9416E5C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61" y="4541896"/>
            <a:ext cx="3699203" cy="2181171"/>
          </a:xfrm>
          <a:prstGeom prst="roundRect">
            <a:avLst>
              <a:gd name="adj" fmla="val 2878"/>
            </a:avLst>
          </a:prstGeom>
          <a:ln>
            <a:solidFill>
              <a:schemeClr val="bg1">
                <a:lumMod val="75000"/>
              </a:schemeClr>
            </a:solidFill>
            <a:prstDash val="solid"/>
          </a:ln>
        </p:spPr>
      </p:pic>
      <p:pic>
        <p:nvPicPr>
          <p:cNvPr id="6" name="!!图片 11">
            <a:extLst>
              <a:ext uri="{FF2B5EF4-FFF2-40B4-BE49-F238E27FC236}">
                <a16:creationId xmlns:a16="http://schemas.microsoft.com/office/drawing/2014/main" id="{E7D55013-289C-2490-51F9-1138CB08C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237" y="1057712"/>
            <a:ext cx="4503810" cy="3901778"/>
          </a:xfrm>
          <a:prstGeom prst="roundRect">
            <a:avLst>
              <a:gd name="adj" fmla="val 1503"/>
            </a:avLst>
          </a:prstGeom>
          <a:ln>
            <a:solidFill>
              <a:schemeClr val="bg1">
                <a:lumMod val="75000"/>
              </a:schemeClr>
            </a:solidFill>
            <a:prstDash val="solid"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606218A-6D54-2AE6-6409-60C775288B70}"/>
              </a:ext>
            </a:extLst>
          </p:cNvPr>
          <p:cNvSpPr txBox="1"/>
          <p:nvPr/>
        </p:nvSpPr>
        <p:spPr>
          <a:xfrm>
            <a:off x="5779756" y="1044180"/>
            <a:ext cx="8899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默认首页</a:t>
            </a:r>
            <a:endParaRPr lang="zh-CN" altLang="en-US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A1953D-AEA7-7C53-10DB-5E772CE767B7}"/>
              </a:ext>
            </a:extLst>
          </p:cNvPr>
          <p:cNvSpPr txBox="1"/>
          <p:nvPr/>
        </p:nvSpPr>
        <p:spPr>
          <a:xfrm>
            <a:off x="5786100" y="4569937"/>
            <a:ext cx="8899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入口文件</a:t>
            </a:r>
            <a:endParaRPr lang="zh-CN" altLang="en-US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ABC23C-92D8-D24F-C490-BF3ED6ACBF0B}"/>
              </a:ext>
            </a:extLst>
          </p:cNvPr>
          <p:cNvSpPr txBox="1"/>
          <p:nvPr/>
        </p:nvSpPr>
        <p:spPr>
          <a:xfrm>
            <a:off x="10966701" y="1084607"/>
            <a:ext cx="7136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根组件</a:t>
            </a:r>
            <a:endParaRPr lang="zh-CN" altLang="en-US" sz="14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E9C1800-D487-B1FE-9DCF-61A2B79ECC63}"/>
              </a:ext>
            </a:extLst>
          </p:cNvPr>
          <p:cNvSpPr/>
          <p:nvPr/>
        </p:nvSpPr>
        <p:spPr>
          <a:xfrm>
            <a:off x="5002306" y="6415290"/>
            <a:ext cx="1264024" cy="307777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0932270-83BA-DA0A-7BA8-0CF071CCE872}"/>
              </a:ext>
            </a:extLst>
          </p:cNvPr>
          <p:cNvSpPr/>
          <p:nvPr/>
        </p:nvSpPr>
        <p:spPr>
          <a:xfrm>
            <a:off x="1506071" y="3442447"/>
            <a:ext cx="1559859" cy="224119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1064C6E3-3111-B521-2B55-D6F848CEDED8}"/>
              </a:ext>
            </a:extLst>
          </p:cNvPr>
          <p:cNvCxnSpPr>
            <a:stCxn id="10" idx="2"/>
            <a:endCxn id="11" idx="2"/>
          </p:cNvCxnSpPr>
          <p:nvPr/>
        </p:nvCxnSpPr>
        <p:spPr>
          <a:xfrm rot="10800000">
            <a:off x="2286002" y="3666567"/>
            <a:ext cx="2716305" cy="2902613"/>
          </a:xfrm>
          <a:prstGeom prst="curvedConnector2">
            <a:avLst/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4683C2A1-F7AB-18FE-0AE2-A9FE5A17AC10}"/>
              </a:ext>
            </a:extLst>
          </p:cNvPr>
          <p:cNvSpPr/>
          <p:nvPr/>
        </p:nvSpPr>
        <p:spPr>
          <a:xfrm>
            <a:off x="7220316" y="1084606"/>
            <a:ext cx="867039" cy="307777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8E6705C-EB43-2CA2-90D5-79A7D5FA0B98}"/>
              </a:ext>
            </a:extLst>
          </p:cNvPr>
          <p:cNvSpPr/>
          <p:nvPr/>
        </p:nvSpPr>
        <p:spPr>
          <a:xfrm>
            <a:off x="5172097" y="5870901"/>
            <a:ext cx="968727" cy="307777"/>
          </a:xfrm>
          <a:prstGeom prst="ellipse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78578CCA-4DB9-F04F-476C-B83FC18AEC1A}"/>
              </a:ext>
            </a:extLst>
          </p:cNvPr>
          <p:cNvCxnSpPr>
            <a:cxnSpLocks/>
            <a:endCxn id="14" idx="6"/>
          </p:cNvCxnSpPr>
          <p:nvPr/>
        </p:nvCxnSpPr>
        <p:spPr>
          <a:xfrm rot="5400000">
            <a:off x="4589398" y="2960353"/>
            <a:ext cx="4615864" cy="1513011"/>
          </a:xfrm>
          <a:prstGeom prst="curvedConnector2">
            <a:avLst/>
          </a:prstGeom>
          <a:ln w="12700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774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250"/>
                            </p:stCondLst>
                            <p:childTnLst>
                              <p:par>
                                <p:cTn id="4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 animBg="1"/>
      <p:bldP spid="11" grpId="0" animBg="1"/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项目开发流程</a:t>
            </a:r>
          </a:p>
        </p:txBody>
      </p:sp>
      <p:sp>
        <p:nvSpPr>
          <p:cNvPr id="14" name="矩形: 对角圆角 13">
            <a:extLst>
              <a:ext uri="{FF2B5EF4-FFF2-40B4-BE49-F238E27FC236}">
                <a16:creationId xmlns:a16="http://schemas.microsoft.com/office/drawing/2014/main" id="{FB17C658-2664-E58F-995E-3F39E3D9B3A3}"/>
              </a:ext>
            </a:extLst>
          </p:cNvPr>
          <p:cNvSpPr/>
          <p:nvPr/>
        </p:nvSpPr>
        <p:spPr>
          <a:xfrm>
            <a:off x="710879" y="5861870"/>
            <a:ext cx="10907379" cy="672137"/>
          </a:xfrm>
          <a:prstGeom prst="round2DiagRect">
            <a:avLst>
              <a:gd name="adj1" fmla="val 14898"/>
              <a:gd name="adj2" fmla="val 0"/>
            </a:avLst>
          </a:prstGeom>
          <a:solidFill>
            <a:srgbClr val="0000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*.vue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是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Vue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项目中的组件文件，在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Vue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项目中也称为单文件组件（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  <a:hlinkClick r:id="rId2"/>
              </a:rPr>
              <a:t>SFC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，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Single-File Components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）。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Vue 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的单文件组件会将一个组件的逻辑 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(JS)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，模板 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(HTML) 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和样式 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(CSS) 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封装在同一个文件里（</a:t>
            </a:r>
            <a:r>
              <a:rPr lang="en-US" altLang="zh-CN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*.vue</a:t>
            </a:r>
            <a:r>
              <a:rPr lang="zh-CN" altLang="en-US" sz="1200">
                <a:solidFill>
                  <a:schemeClr val="tx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） 。</a:t>
            </a:r>
            <a:endParaRPr lang="zh-CN" altLang="en-US" sz="1200">
              <a:solidFill>
                <a:schemeClr val="tx1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6" name="!!图片 11">
            <a:extLst>
              <a:ext uri="{FF2B5EF4-FFF2-40B4-BE49-F238E27FC236}">
                <a16:creationId xmlns:a16="http://schemas.microsoft.com/office/drawing/2014/main" id="{A69E9F92-C1D9-50CE-0E9F-A0F2AC2EC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79" y="1081396"/>
            <a:ext cx="6043184" cy="3833192"/>
          </a:xfrm>
          <a:prstGeom prst="roundRect">
            <a:avLst>
              <a:gd name="adj" fmla="val 1503"/>
            </a:avLst>
          </a:prstGeom>
          <a:ln w="635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64849D3E-F508-5D26-5F6F-4B4A7E23D2D0}"/>
              </a:ext>
            </a:extLst>
          </p:cNvPr>
          <p:cNvGrpSpPr/>
          <p:nvPr/>
        </p:nvGrpSpPr>
        <p:grpSpPr>
          <a:xfrm>
            <a:off x="710878" y="2827062"/>
            <a:ext cx="6141794" cy="857635"/>
            <a:chOff x="863278" y="3693459"/>
            <a:chExt cx="6141794" cy="857635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E4DB5DC-188B-A4CE-B7E9-6F24C587E5A2}"/>
                </a:ext>
              </a:extLst>
            </p:cNvPr>
            <p:cNvSpPr/>
            <p:nvPr/>
          </p:nvSpPr>
          <p:spPr>
            <a:xfrm>
              <a:off x="863278" y="3693459"/>
              <a:ext cx="6043183" cy="857635"/>
            </a:xfrm>
            <a:prstGeom prst="rect">
              <a:avLst/>
            </a:prstGeom>
            <a:solidFill>
              <a:srgbClr val="001FEE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AE9D5BE-DEA9-A3AD-D9B1-A2CF8B99353A}"/>
                </a:ext>
              </a:extLst>
            </p:cNvPr>
            <p:cNvSpPr txBox="1"/>
            <p:nvPr/>
          </p:nvSpPr>
          <p:spPr>
            <a:xfrm>
              <a:off x="4808719" y="4242066"/>
              <a:ext cx="21963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模板部分</a:t>
              </a:r>
              <a:r>
                <a:rPr lang="en-US" altLang="zh-CN" sz="1400" b="1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,</a:t>
              </a:r>
              <a:r>
                <a:rPr lang="zh-CN" altLang="en-US" sz="1400" b="1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由它生成</a:t>
              </a:r>
              <a:r>
                <a:rPr lang="en-US" altLang="zh-CN" sz="1400" b="1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HTML</a:t>
              </a:r>
              <a:endPara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4DF650E7-71B3-A5C7-53CE-1B7A8C0849BE}"/>
              </a:ext>
            </a:extLst>
          </p:cNvPr>
          <p:cNvGrpSpPr/>
          <p:nvPr/>
        </p:nvGrpSpPr>
        <p:grpSpPr>
          <a:xfrm>
            <a:off x="710878" y="3870350"/>
            <a:ext cx="6157254" cy="857635"/>
            <a:chOff x="-54762" y="4784750"/>
            <a:chExt cx="6157254" cy="85763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A11C55A-CEF3-10CC-9D91-1ED4D5BE6395}"/>
                </a:ext>
              </a:extLst>
            </p:cNvPr>
            <p:cNvSpPr/>
            <p:nvPr/>
          </p:nvSpPr>
          <p:spPr>
            <a:xfrm>
              <a:off x="-54762" y="4784750"/>
              <a:ext cx="6043182" cy="857635"/>
            </a:xfrm>
            <a:prstGeom prst="rect">
              <a:avLst/>
            </a:prstGeom>
            <a:solidFill>
              <a:srgbClr val="FFFF00">
                <a:alpha val="1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B0F3E9D-70EF-A768-42D9-1287996A0CCE}"/>
                </a:ext>
              </a:extLst>
            </p:cNvPr>
            <p:cNvSpPr txBox="1"/>
            <p:nvPr/>
          </p:nvSpPr>
          <p:spPr>
            <a:xfrm>
              <a:off x="4266116" y="5328214"/>
              <a:ext cx="18363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当前组件的</a:t>
              </a:r>
              <a:r>
                <a:rPr lang="en-US" altLang="zh-CN" sz="1400" b="1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CSS</a:t>
              </a:r>
              <a:r>
                <a:rPr lang="zh-CN" altLang="en-US" sz="1400" b="1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样式</a:t>
              </a:r>
              <a:endPara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C2A1104-1AB9-72D3-52A0-2DBA0EE3F484}"/>
              </a:ext>
            </a:extLst>
          </p:cNvPr>
          <p:cNvGrpSpPr/>
          <p:nvPr/>
        </p:nvGrpSpPr>
        <p:grpSpPr>
          <a:xfrm>
            <a:off x="710879" y="1623440"/>
            <a:ext cx="6141793" cy="1017969"/>
            <a:chOff x="-54761" y="2537840"/>
            <a:chExt cx="6141793" cy="1017969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61CA438-CF54-36C8-6664-9E47A4BA16CF}"/>
                </a:ext>
              </a:extLst>
            </p:cNvPr>
            <p:cNvSpPr/>
            <p:nvPr/>
          </p:nvSpPr>
          <p:spPr>
            <a:xfrm>
              <a:off x="-54761" y="2537840"/>
              <a:ext cx="6043184" cy="1017969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7F8E93F-F371-A894-94B5-8B0839E14C98}"/>
                </a:ext>
              </a:extLst>
            </p:cNvPr>
            <p:cNvSpPr txBox="1"/>
            <p:nvPr/>
          </p:nvSpPr>
          <p:spPr>
            <a:xfrm>
              <a:off x="4114800" y="3234498"/>
              <a:ext cx="19722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1">
                  <a:solidFill>
                    <a:srgbClr val="C00000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控制模板的数据及行为</a:t>
              </a:r>
              <a:endParaRPr lang="zh-CN" altLang="en-US" sz="1400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4331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67D98-7AA0-387F-AB99-A058185DE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工程化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AA8624-B90F-2614-E946-A457FC293B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58797"/>
          </a:xfrm>
        </p:spPr>
        <p:txBody>
          <a:bodyPr/>
          <a:lstStyle/>
          <a:p>
            <a:r>
              <a:rPr lang="zh-CN" altLang="en-US"/>
              <a:t>环境准备</a:t>
            </a:r>
            <a:endParaRPr lang="en-US" altLang="zh-CN"/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Vue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项目简介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Vue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项目开发流程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rgbClr val="C00000"/>
                </a:solidFill>
              </a:rPr>
              <a:t>API</a:t>
            </a:r>
            <a:r>
              <a:rPr lang="zh-CN" altLang="en-US">
                <a:solidFill>
                  <a:srgbClr val="C00000"/>
                </a:solidFill>
              </a:rPr>
              <a:t>风格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07C7CA3-873B-8400-CA67-52C77D51D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426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API</a:t>
            </a:r>
            <a:r>
              <a:rPr lang="zh-CN" altLang="en-US"/>
              <a:t>风格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0" i="0">
                <a:solidFill>
                  <a:srgbClr val="213547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Vue</a:t>
            </a:r>
            <a:r>
              <a:rPr lang="zh-CN" altLang="en-US" b="0" i="0">
                <a:solidFill>
                  <a:srgbClr val="213547"/>
                </a:solidFill>
                <a:effectLst/>
                <a:latin typeface="Fira Code" panose="020B0809050000020004" pitchFamily="49" charset="0"/>
              </a:rPr>
              <a:t>的组件</a:t>
            </a:r>
            <a:r>
              <a:rPr lang="zh-CN" altLang="en-US">
                <a:solidFill>
                  <a:srgbClr val="213547"/>
                </a:solidFill>
                <a:latin typeface="Fira Code" panose="020B0809050000020004" pitchFamily="49" charset="0"/>
              </a:rPr>
              <a:t>有</a:t>
            </a:r>
            <a:r>
              <a:rPr lang="zh-CN" altLang="en-US" b="0" i="0">
                <a:solidFill>
                  <a:srgbClr val="213547"/>
                </a:solidFill>
                <a:effectLst/>
                <a:latin typeface="Fira Code" panose="020B0809050000020004" pitchFamily="49" charset="0"/>
              </a:rPr>
              <a:t>两种不同的风格：</a:t>
            </a:r>
            <a:r>
              <a:rPr lang="zh-CN" altLang="en-US" b="1" i="0">
                <a:solidFill>
                  <a:srgbClr val="213547"/>
                </a:solidFill>
                <a:effectLst/>
                <a:latin typeface="Fira Code" panose="020B0809050000020004" pitchFamily="49" charset="0"/>
              </a:rPr>
              <a:t>选项式</a:t>
            </a:r>
            <a:r>
              <a:rPr lang="en-US" altLang="zh-CN" b="1" i="0">
                <a:solidFill>
                  <a:srgbClr val="213547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</a:rPr>
              <a:t>API </a:t>
            </a:r>
            <a:r>
              <a:rPr lang="zh-CN" altLang="en-US">
                <a:solidFill>
                  <a:srgbClr val="213547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和 </a:t>
            </a:r>
            <a:r>
              <a:rPr lang="zh-CN" altLang="en-US" b="1">
                <a:solidFill>
                  <a:srgbClr val="213547"/>
                </a:solidFill>
                <a:latin typeface="Fira Code" panose="020B0809050000020004" pitchFamily="49" charset="0"/>
              </a:rPr>
              <a:t>组合式</a:t>
            </a:r>
            <a:r>
              <a:rPr lang="en-US" altLang="zh-CN" b="1">
                <a:solidFill>
                  <a:srgbClr val="213547"/>
                </a:solidFill>
                <a:latin typeface="Fira Code" panose="020B0809050000020004" pitchFamily="49" charset="0"/>
                <a:ea typeface="Fira Code" panose="020B0809050000020004" pitchFamily="49" charset="0"/>
              </a:rPr>
              <a:t>API</a:t>
            </a:r>
            <a:endParaRPr lang="zh-CN" altLang="en-US">
              <a:latin typeface="Fira Code" panose="020B0809050000020004" pitchFamily="49" charset="0"/>
            </a:endParaRPr>
          </a:p>
          <a:p>
            <a:endParaRPr lang="zh-CN" altLang="en-US"/>
          </a:p>
        </p:txBody>
      </p:sp>
      <p:grpSp>
        <p:nvGrpSpPr>
          <p:cNvPr id="4" name="!!组合 10">
            <a:extLst>
              <a:ext uri="{FF2B5EF4-FFF2-40B4-BE49-F238E27FC236}">
                <a16:creationId xmlns:a16="http://schemas.microsoft.com/office/drawing/2014/main" id="{11F3EC68-2DA2-309E-9585-E418DA1894E7}"/>
              </a:ext>
            </a:extLst>
          </p:cNvPr>
          <p:cNvGrpSpPr/>
          <p:nvPr/>
        </p:nvGrpSpPr>
        <p:grpSpPr>
          <a:xfrm>
            <a:off x="963410" y="1561946"/>
            <a:ext cx="5269784" cy="3624923"/>
            <a:chOff x="2297722" y="3660322"/>
            <a:chExt cx="4196459" cy="362492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719FCCA8-6643-1B79-9BD6-B001975DBC5D}"/>
                </a:ext>
              </a:extLst>
            </p:cNvPr>
            <p:cNvSpPr/>
            <p:nvPr/>
          </p:nvSpPr>
          <p:spPr>
            <a:xfrm>
              <a:off x="2297726" y="3660323"/>
              <a:ext cx="4196455" cy="3624922"/>
            </a:xfrm>
            <a:prstGeom prst="roundRect">
              <a:avLst>
                <a:gd name="adj" fmla="val 168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&lt;script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setup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import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ref</a:t>
              </a:r>
              <a:r>
                <a:rPr lang="en-US" altLang="zh-CN" sz="1100">
                  <a:solidFill>
                    <a:srgbClr val="000000"/>
                  </a:solidFill>
                  <a:ea typeface="Fira Code" panose="020B0809050000020004" pitchFamily="49" charset="0"/>
                </a:rPr>
                <a:t>,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onMounted }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from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'vue'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;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count = ref(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0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  </a:t>
              </a:r>
              <a:r>
                <a:rPr lang="en-US" altLang="zh-CN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声明响应式变量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function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increment(){  </a:t>
              </a:r>
              <a:r>
                <a:rPr lang="en-US" altLang="zh-CN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声明函数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count.value++;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onMounted(()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{ </a:t>
              </a:r>
              <a:r>
                <a:rPr lang="en-US" altLang="zh-CN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声明钩子函数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console.log(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'Vue Mounted ...'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&lt;/script&gt;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&lt;template&gt;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&lt;button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@click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="increment"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count:{{ count }}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&lt;/button&gt;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&lt;/template&gt;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16614C91-64F5-ADF6-09A5-B2ECFBCA630C}"/>
                </a:ext>
              </a:extLst>
            </p:cNvPr>
            <p:cNvSpPr/>
            <p:nvPr/>
          </p:nvSpPr>
          <p:spPr>
            <a:xfrm>
              <a:off x="2297722" y="3660322"/>
              <a:ext cx="4196455" cy="242455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b="1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组合式</a:t>
              </a:r>
              <a:r>
                <a:rPr lang="en-US" altLang="zh-CN" sz="1400" b="1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API</a:t>
              </a:r>
              <a:r>
                <a:rPr lang="zh-CN" altLang="en-US" sz="1400" b="1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写法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6C884B8-F527-87D9-97F2-77986126DF72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04077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90A6A0C0-A158-0137-BF0A-E66BD6792F13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04077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F37897A3-D0F4-5179-1795-80FBD878526B}"/>
                </a:ext>
              </a:extLst>
            </p:cNvPr>
            <p:cNvSpPr/>
            <p:nvPr/>
          </p:nvSpPr>
          <p:spPr>
            <a:xfrm>
              <a:off x="2590800" y="3713662"/>
              <a:ext cx="104077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EB41A70-86D3-A52C-8F3F-ABD0AD057146}"/>
              </a:ext>
            </a:extLst>
          </p:cNvPr>
          <p:cNvGrpSpPr/>
          <p:nvPr/>
        </p:nvGrpSpPr>
        <p:grpSpPr>
          <a:xfrm>
            <a:off x="6934168" y="217513"/>
            <a:ext cx="5047927" cy="4969356"/>
            <a:chOff x="2297723" y="3660322"/>
            <a:chExt cx="4019789" cy="4969356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70D2CFA-CAB7-9E77-6B78-E0BBA9A2CE14}"/>
                </a:ext>
              </a:extLst>
            </p:cNvPr>
            <p:cNvSpPr/>
            <p:nvPr/>
          </p:nvSpPr>
          <p:spPr>
            <a:xfrm>
              <a:off x="2297726" y="3660323"/>
              <a:ext cx="4019786" cy="4969355"/>
            </a:xfrm>
            <a:prstGeom prst="roundRect">
              <a:avLst>
                <a:gd name="adj" fmla="val 168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&lt;script&gt;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export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default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data(){ </a:t>
              </a:r>
              <a:r>
                <a:rPr lang="en-US" altLang="zh-CN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声明响应式对象</a:t>
              </a:r>
              <a:endParaRPr lang="en-US" altLang="zh-CN" sz="1100" b="0">
                <a:solidFill>
                  <a:srgbClr val="00B05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return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count: </a:t>
              </a:r>
              <a:r>
                <a:rPr lang="en-US" altLang="zh-CN" sz="11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0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}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},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methods: { </a:t>
              </a:r>
              <a:r>
                <a:rPr lang="en-US" altLang="zh-CN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声明方法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，可以通过组件实例访问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increment: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function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(){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  </a:t>
              </a:r>
              <a:r>
                <a:rPr lang="en-US" altLang="zh-CN" sz="11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this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.count++ ;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}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},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mounted(){ </a:t>
              </a:r>
              <a:r>
                <a:rPr lang="en-US" altLang="zh-CN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1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声明钩子函数</a:t>
              </a:r>
              <a:endParaRPr lang="en-US" altLang="zh-CN" sz="1100" b="0">
                <a:solidFill>
                  <a:srgbClr val="00B050"/>
                </a:solidFill>
                <a:effectLst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  console.log(</a:t>
              </a:r>
              <a:r>
                <a:rPr lang="en-US" altLang="zh-CN" sz="11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'Vue mounted ...'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}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</a:t>
              </a: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&lt;/script&gt;</a:t>
              </a:r>
              <a:b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&lt;template&gt;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&lt;button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1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@click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="increment"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r>
                <a:rPr lang="en-US" altLang="zh-CN" sz="11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count:{{ count }}</a:t>
              </a: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&lt;/button&gt;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11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&lt;/template&gt;</a:t>
              </a:r>
              <a:endParaRPr lang="en-US" altLang="zh-CN" sz="11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12" name="矩形: 圆顶角 11">
              <a:extLst>
                <a:ext uri="{FF2B5EF4-FFF2-40B4-BE49-F238E27FC236}">
                  <a16:creationId xmlns:a16="http://schemas.microsoft.com/office/drawing/2014/main" id="{E571EA75-479E-13AD-ABC1-A942A5BCE74A}"/>
                </a:ext>
              </a:extLst>
            </p:cNvPr>
            <p:cNvSpPr/>
            <p:nvPr/>
          </p:nvSpPr>
          <p:spPr>
            <a:xfrm>
              <a:off x="2297723" y="3660322"/>
              <a:ext cx="4019786" cy="242455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b="1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选项式</a:t>
              </a:r>
              <a:r>
                <a:rPr lang="en-US" altLang="zh-CN" sz="1400" b="1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API</a:t>
              </a:r>
              <a:r>
                <a:rPr lang="zh-CN" altLang="en-US" sz="1400" b="1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写法</a:t>
              </a: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27D37D5D-F7BB-DDD1-FCBA-92004B4593B0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04077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FB003C69-45A6-FB9F-3148-4C9A6079D3D4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04077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2BF5A4A-8E6A-53BF-7D47-A02270E8C36C}"/>
                </a:ext>
              </a:extLst>
            </p:cNvPr>
            <p:cNvSpPr/>
            <p:nvPr/>
          </p:nvSpPr>
          <p:spPr>
            <a:xfrm>
              <a:off x="2590800" y="3713662"/>
              <a:ext cx="104077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sp>
        <p:nvSpPr>
          <p:cNvPr id="17" name="矩形: 对角圆角 16">
            <a:extLst>
              <a:ext uri="{FF2B5EF4-FFF2-40B4-BE49-F238E27FC236}">
                <a16:creationId xmlns:a16="http://schemas.microsoft.com/office/drawing/2014/main" id="{7F90CECD-95F3-6F76-658B-103891BEBD6C}"/>
              </a:ext>
            </a:extLst>
          </p:cNvPr>
          <p:cNvSpPr/>
          <p:nvPr/>
        </p:nvSpPr>
        <p:spPr>
          <a:xfrm>
            <a:off x="953484" y="5607680"/>
            <a:ext cx="11018681" cy="672137"/>
          </a:xfrm>
          <a:prstGeom prst="round2DiagRect">
            <a:avLst>
              <a:gd name="adj1" fmla="val 14898"/>
              <a:gd name="adj2" fmla="val 0"/>
            </a:avLst>
          </a:prstGeom>
          <a:solidFill>
            <a:srgbClr val="0000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tx1">
                    <a:lumMod val="7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选项式</a:t>
            </a:r>
            <a:r>
              <a:rPr lang="en-US" altLang="zh-CN" sz="1200" b="1">
                <a:solidFill>
                  <a:schemeClr val="tx1">
                    <a:lumMod val="75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API</a:t>
            </a:r>
            <a:r>
              <a:rPr lang="zh-CN" altLang="en-US" sz="1200" b="1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：</a:t>
            </a:r>
            <a:r>
              <a:rPr lang="zh-CN" altLang="en-US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可以用包含多个选项的对象来描述组件的逻辑，如：</a:t>
            </a:r>
            <a:r>
              <a:rPr lang="en-US" altLang="zh-CN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data</a:t>
            </a:r>
            <a:r>
              <a:rPr lang="zh-CN" altLang="en-US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，</a:t>
            </a:r>
            <a:r>
              <a:rPr lang="en-US" altLang="zh-CN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methods</a:t>
            </a:r>
            <a:r>
              <a:rPr lang="zh-CN" altLang="en-US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，</a:t>
            </a:r>
            <a:r>
              <a:rPr lang="en-US" altLang="zh-CN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mounted</a:t>
            </a:r>
            <a:r>
              <a:rPr lang="zh-CN" altLang="en-US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等。选项定义的属性都会暴露在函数内部的</a:t>
            </a:r>
            <a:r>
              <a:rPr lang="en-US" altLang="zh-CN" sz="1200">
                <a:solidFill>
                  <a:srgbClr val="C00000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this</a:t>
            </a:r>
            <a:r>
              <a:rPr lang="zh-CN" altLang="en-US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上，它会指向当前的组件实例。</a:t>
            </a:r>
          </a:p>
        </p:txBody>
      </p:sp>
      <p:sp>
        <p:nvSpPr>
          <p:cNvPr id="18" name="矩形: 对角圆角 17">
            <a:extLst>
              <a:ext uri="{FF2B5EF4-FFF2-40B4-BE49-F238E27FC236}">
                <a16:creationId xmlns:a16="http://schemas.microsoft.com/office/drawing/2014/main" id="{32C9DC25-FC22-3F84-6464-85937AE8353C}"/>
              </a:ext>
            </a:extLst>
          </p:cNvPr>
          <p:cNvSpPr/>
          <p:nvPr/>
        </p:nvSpPr>
        <p:spPr>
          <a:xfrm>
            <a:off x="963410" y="6347012"/>
            <a:ext cx="11018681" cy="435244"/>
          </a:xfrm>
          <a:prstGeom prst="round2DiagRect">
            <a:avLst>
              <a:gd name="adj1" fmla="val 14898"/>
              <a:gd name="adj2" fmla="val 0"/>
            </a:avLst>
          </a:prstGeom>
          <a:solidFill>
            <a:srgbClr val="0000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组合式</a:t>
            </a:r>
            <a:r>
              <a:rPr lang="en-US" altLang="zh-CN" sz="1200" b="1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API</a:t>
            </a:r>
            <a:r>
              <a:rPr lang="zh-CN" altLang="en-US" sz="1200" b="1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：</a:t>
            </a:r>
            <a:r>
              <a:rPr lang="zh-CN" altLang="en-US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是</a:t>
            </a:r>
            <a:r>
              <a:rPr lang="en-US" altLang="zh-CN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Vue3</a:t>
            </a:r>
            <a:r>
              <a:rPr lang="zh-CN" altLang="en-US" sz="1200">
                <a:solidFill>
                  <a:schemeClr val="tx1"/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提供的一种基于函数的组件编写方式，通过使用函数来组织和复用组件的逻辑。它提供了一种更灵活、更可组合的方式来编写组件。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F5B084B-EC9B-F266-FE15-180B025FEA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E247C71-1415-B08C-1D26-75AD282B4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850" y="302281"/>
            <a:ext cx="6514188" cy="6284866"/>
          </a:xfrm>
          <a:prstGeom prst="roundRect">
            <a:avLst>
              <a:gd name="adj" fmla="val 782"/>
            </a:avLst>
          </a:prstGeom>
        </p:spPr>
      </p:pic>
    </p:spTree>
    <p:extLst>
      <p:ext uri="{BB962C8B-B14F-4D97-AF65-F5344CB8AC3E}">
        <p14:creationId xmlns:p14="http://schemas.microsoft.com/office/powerpoint/2010/main" val="29401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2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组合式</a:t>
            </a:r>
            <a:r>
              <a:rPr lang="en-US" altLang="zh-CN"/>
              <a:t>API</a:t>
            </a:r>
            <a:endParaRPr lang="zh-CN" altLang="en-US"/>
          </a:p>
        </p:txBody>
      </p:sp>
      <p:grpSp>
        <p:nvGrpSpPr>
          <p:cNvPr id="4" name="!!组合 10">
            <a:extLst>
              <a:ext uri="{FF2B5EF4-FFF2-40B4-BE49-F238E27FC236}">
                <a16:creationId xmlns:a16="http://schemas.microsoft.com/office/drawing/2014/main" id="{4DE4A68E-8B45-4136-D835-2555220B87D4}"/>
              </a:ext>
            </a:extLst>
          </p:cNvPr>
          <p:cNvGrpSpPr/>
          <p:nvPr/>
        </p:nvGrpSpPr>
        <p:grpSpPr>
          <a:xfrm>
            <a:off x="707003" y="1131746"/>
            <a:ext cx="5388997" cy="4594507"/>
            <a:chOff x="2294630" y="3660322"/>
            <a:chExt cx="4291392" cy="4594507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10EE9E7-7F8B-7925-DADA-8A75BBE3B4C2}"/>
                </a:ext>
              </a:extLst>
            </p:cNvPr>
            <p:cNvSpPr/>
            <p:nvPr/>
          </p:nvSpPr>
          <p:spPr>
            <a:xfrm>
              <a:off x="2297726" y="3660323"/>
              <a:ext cx="4288296" cy="4594506"/>
            </a:xfrm>
            <a:prstGeom prst="roundRect">
              <a:avLst>
                <a:gd name="adj" fmla="val 1684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&lt;script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2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setup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import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{ onMounted, ref }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from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'vue'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;</a:t>
              </a:r>
            </a:p>
            <a:p>
              <a:pPr>
                <a:lnSpc>
                  <a:spcPct val="150000"/>
                </a:lnSpc>
              </a:pPr>
              <a:b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const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count = ref(</a:t>
              </a:r>
              <a:r>
                <a:rPr lang="en-US" altLang="zh-CN" sz="1200" b="0">
                  <a:solidFill>
                    <a:srgbClr val="098658"/>
                  </a:solidFill>
                  <a:effectLst/>
                  <a:ea typeface="Fira Code" panose="020B0809050000020004" pitchFamily="49" charset="0"/>
                </a:rPr>
                <a:t>0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  </a:t>
              </a:r>
              <a:r>
                <a:rPr lang="en-US" altLang="zh-CN" sz="12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2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声明响应式变量</a:t>
              </a:r>
              <a:b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function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increment(){  </a:t>
              </a:r>
              <a:r>
                <a:rPr lang="en-US" altLang="zh-CN" sz="1200" b="0">
                  <a:solidFill>
                    <a:srgbClr val="00B050"/>
                  </a:solidFill>
                  <a:effectLst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声明函数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count.value++;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</a:t>
              </a:r>
              <a:b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onMounted(()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ea typeface="Fira Code" panose="020B0809050000020004" pitchFamily="49" charset="0"/>
                </a:rPr>
                <a:t>=&gt;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{ </a:t>
              </a:r>
              <a:r>
                <a:rPr lang="en-US" altLang="zh-CN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200">
                  <a:solidFill>
                    <a:srgbClr val="00B050"/>
                  </a:solidFill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声明钩子函数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console.log(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ea typeface="Fira Code" panose="020B0809050000020004" pitchFamily="49" charset="0"/>
                </a:rPr>
                <a:t>'Vue Mounted ...'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);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})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&lt;/script&gt;</a:t>
              </a:r>
              <a:b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</a:b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&lt;template&gt;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  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&lt;button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 </a:t>
              </a:r>
              <a:r>
                <a:rPr lang="en-US" altLang="zh-CN" sz="1200" b="0">
                  <a:solidFill>
                    <a:srgbClr val="E50000"/>
                  </a:solidFill>
                  <a:effectLst/>
                  <a:ea typeface="Fira Code" panose="020B0809050000020004" pitchFamily="49" charset="0"/>
                </a:rPr>
                <a:t>@click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="increment"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&gt;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ea typeface="Fira Code" panose="020B0809050000020004" pitchFamily="49" charset="0"/>
                </a:rPr>
                <a:t>count:{{ count }}</a:t>
              </a: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&lt;/button&gt;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800000"/>
                  </a:solidFill>
                  <a:effectLst/>
                  <a:ea typeface="Fira Code" panose="020B0809050000020004" pitchFamily="49" charset="0"/>
                </a:rPr>
                <a:t>&lt;/template&gt;</a:t>
              </a:r>
              <a:endParaRPr lang="en-US" altLang="zh-CN" sz="1200" b="0">
                <a:solidFill>
                  <a:srgbClr val="000000"/>
                </a:solidFill>
                <a:effectLst/>
                <a:ea typeface="Fira Code" panose="020B0809050000020004" pitchFamily="49" charset="0"/>
              </a:endParaRPr>
            </a:p>
          </p:txBody>
        </p:sp>
        <p:sp>
          <p:nvSpPr>
            <p:cNvPr id="6" name="矩形: 圆顶角 5">
              <a:extLst>
                <a:ext uri="{FF2B5EF4-FFF2-40B4-BE49-F238E27FC236}">
                  <a16:creationId xmlns:a16="http://schemas.microsoft.com/office/drawing/2014/main" id="{2ABACA88-6D4F-5233-06E8-A7412ECCDD5F}"/>
                </a:ext>
              </a:extLst>
            </p:cNvPr>
            <p:cNvSpPr/>
            <p:nvPr/>
          </p:nvSpPr>
          <p:spPr>
            <a:xfrm>
              <a:off x="2294630" y="3660322"/>
              <a:ext cx="4288296" cy="242455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zh-CN" altLang="en-US" sz="1400" b="1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组合式</a:t>
              </a:r>
              <a:r>
                <a:rPr lang="en-US" altLang="zh-CN" sz="1400" b="1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API</a:t>
              </a:r>
              <a:r>
                <a:rPr lang="zh-CN" altLang="en-US" sz="1400" b="1">
                  <a:solidFill>
                    <a:schemeClr val="tx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写法</a:t>
              </a:r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9578D6B0-59DA-803D-B067-FB9A4B29C9E2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04077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3D1D5A6B-E26D-AF77-0CD6-7C48139C2310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04077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1C066DF2-F92F-0E8A-A2EB-1B00B94DF253}"/>
                </a:ext>
              </a:extLst>
            </p:cNvPr>
            <p:cNvSpPr/>
            <p:nvPr/>
          </p:nvSpPr>
          <p:spPr>
            <a:xfrm>
              <a:off x="2590800" y="3713662"/>
              <a:ext cx="104077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0DFCF456-5922-9C33-0F2F-377EC44E8FBF}"/>
              </a:ext>
            </a:extLst>
          </p:cNvPr>
          <p:cNvSpPr txBox="1"/>
          <p:nvPr/>
        </p:nvSpPr>
        <p:spPr>
          <a:xfrm>
            <a:off x="6239433" y="2021155"/>
            <a:ext cx="5385109" cy="71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ref()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：接收一个内部值，返回一个响应式的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ref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对象，此对象只有一个指向内部值的属性 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value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94B64E-8E9E-D23A-829D-38C1C890D49A}"/>
              </a:ext>
            </a:extLst>
          </p:cNvPr>
          <p:cNvSpPr txBox="1"/>
          <p:nvPr/>
        </p:nvSpPr>
        <p:spPr>
          <a:xfrm>
            <a:off x="6239434" y="3712543"/>
            <a:ext cx="5385109" cy="71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onMounted()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：在组合式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中的钩子方法，注册一个回调函数，在组件挂载完成后执行。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40B1CA-88B3-DD91-9DB7-0706B005DFE1}"/>
              </a:ext>
            </a:extLst>
          </p:cNvPr>
          <p:cNvSpPr txBox="1"/>
          <p:nvPr/>
        </p:nvSpPr>
        <p:spPr>
          <a:xfrm>
            <a:off x="6239432" y="1307006"/>
            <a:ext cx="5385109" cy="710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</a:pP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Fira Code" panose="020B0809050000020004" pitchFamily="49" charset="0"/>
                <a:cs typeface="阿里巴巴普惠体" panose="00020600040101010101" pitchFamily="18" charset="-122"/>
              </a:rPr>
              <a:t>setup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：是一个标识，告诉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Vue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需要进行一些处理，让我们可以更简洁的使用组合式</a:t>
            </a:r>
            <a:r>
              <a:rPr lang="en-US" altLang="zh-CN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API</a:t>
            </a:r>
            <a:r>
              <a:rPr lang="zh-CN" altLang="en-US" sz="1400">
                <a:solidFill>
                  <a:schemeClr val="tx1">
                    <a:lumMod val="50000"/>
                  </a:schemeClr>
                </a:solidFill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。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5060689-70AC-D03B-01B6-EAD6B8665B0C}"/>
              </a:ext>
            </a:extLst>
          </p:cNvPr>
          <p:cNvGrpSpPr/>
          <p:nvPr/>
        </p:nvGrpSpPr>
        <p:grpSpPr>
          <a:xfrm>
            <a:off x="707003" y="6222445"/>
            <a:ext cx="10917538" cy="448408"/>
            <a:chOff x="710879" y="5978768"/>
            <a:chExt cx="10595034" cy="448408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2F34F8F9-36DD-DB27-A2D2-9D053BA9A70A}"/>
                </a:ext>
              </a:extLst>
            </p:cNvPr>
            <p:cNvSpPr/>
            <p:nvPr/>
          </p:nvSpPr>
          <p:spPr>
            <a:xfrm>
              <a:off x="710880" y="5978769"/>
              <a:ext cx="10595033" cy="448407"/>
            </a:xfrm>
            <a:prstGeom prst="round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88000" rtlCol="0" anchor="ctr"/>
            <a:lstStyle/>
            <a:p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在</a:t>
              </a:r>
              <a:r>
                <a:rPr lang="en-US" altLang="zh-CN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Vue</a:t>
              </a:r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中的组合式</a:t>
              </a:r>
              <a:r>
                <a:rPr lang="en-US" altLang="zh-CN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API</a:t>
              </a:r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使用时，是没有</a:t>
              </a:r>
              <a:r>
                <a:rPr lang="en-US" altLang="zh-CN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this</a:t>
              </a:r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对象的，</a:t>
              </a:r>
              <a:r>
                <a:rPr lang="en-US" altLang="zh-CN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this</a:t>
              </a:r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对象是</a:t>
              </a:r>
              <a:r>
                <a:rPr lang="en-US" altLang="zh-CN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undefined</a:t>
              </a:r>
              <a:r>
                <a:rPr lang="zh-CN" altLang="en-US" sz="1400">
                  <a:solidFill>
                    <a:srgbClr val="C00000"/>
                  </a:solidFill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。</a:t>
              </a:r>
              <a:endParaRPr lang="en-US" altLang="zh-CN" sz="140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5" name="矩形: 圆顶角 14">
              <a:extLst>
                <a:ext uri="{FF2B5EF4-FFF2-40B4-BE49-F238E27FC236}">
                  <a16:creationId xmlns:a16="http://schemas.microsoft.com/office/drawing/2014/main" id="{0A9A3513-E2B6-16B7-659D-BFF4C3AEEC7E}"/>
                </a:ext>
              </a:extLst>
            </p:cNvPr>
            <p:cNvSpPr/>
            <p:nvPr/>
          </p:nvSpPr>
          <p:spPr>
            <a:xfrm rot="16200000">
              <a:off x="1000720" y="5688927"/>
              <a:ext cx="448407" cy="1028089"/>
            </a:xfrm>
            <a:prstGeom prst="round2Same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Shape 2468">
              <a:extLst>
                <a:ext uri="{FF2B5EF4-FFF2-40B4-BE49-F238E27FC236}">
                  <a16:creationId xmlns:a16="http://schemas.microsoft.com/office/drawing/2014/main" id="{76B1E545-4030-9408-AAC2-E0578242E842}"/>
                </a:ext>
              </a:extLst>
            </p:cNvPr>
            <p:cNvSpPr/>
            <p:nvPr/>
          </p:nvSpPr>
          <p:spPr>
            <a:xfrm>
              <a:off x="810436" y="6084881"/>
              <a:ext cx="279459" cy="2281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636" y="20400"/>
                  </a:moveTo>
                  <a:lnTo>
                    <a:pt x="1964" y="20400"/>
                  </a:lnTo>
                  <a:cubicBezTo>
                    <a:pt x="1422" y="20400"/>
                    <a:pt x="982" y="19862"/>
                    <a:pt x="982" y="19200"/>
                  </a:cubicBezTo>
                  <a:cubicBezTo>
                    <a:pt x="982" y="18949"/>
                    <a:pt x="1025" y="18796"/>
                    <a:pt x="1048" y="18734"/>
                  </a:cubicBezTo>
                  <a:cubicBezTo>
                    <a:pt x="1065" y="18712"/>
                    <a:pt x="1048" y="18729"/>
                    <a:pt x="1078" y="18673"/>
                  </a:cubicBezTo>
                  <a:lnTo>
                    <a:pt x="9914" y="1873"/>
                  </a:lnTo>
                  <a:cubicBezTo>
                    <a:pt x="9930" y="1843"/>
                    <a:pt x="9944" y="1813"/>
                    <a:pt x="9957" y="1783"/>
                  </a:cubicBezTo>
                  <a:cubicBezTo>
                    <a:pt x="9960" y="1778"/>
                    <a:pt x="10234" y="1200"/>
                    <a:pt x="10800" y="1200"/>
                  </a:cubicBezTo>
                  <a:cubicBezTo>
                    <a:pt x="11366" y="1200"/>
                    <a:pt x="11588" y="1654"/>
                    <a:pt x="11617" y="1719"/>
                  </a:cubicBezTo>
                  <a:cubicBezTo>
                    <a:pt x="11641" y="1792"/>
                    <a:pt x="11650" y="1806"/>
                    <a:pt x="11686" y="1873"/>
                  </a:cubicBezTo>
                  <a:lnTo>
                    <a:pt x="20522" y="18673"/>
                  </a:lnTo>
                  <a:cubicBezTo>
                    <a:pt x="20535" y="18697"/>
                    <a:pt x="20548" y="18720"/>
                    <a:pt x="20562" y="18744"/>
                  </a:cubicBezTo>
                  <a:cubicBezTo>
                    <a:pt x="20576" y="18785"/>
                    <a:pt x="20618" y="18928"/>
                    <a:pt x="20618" y="19200"/>
                  </a:cubicBezTo>
                  <a:cubicBezTo>
                    <a:pt x="20618" y="19862"/>
                    <a:pt x="20177" y="20400"/>
                    <a:pt x="19636" y="20400"/>
                  </a:cubicBezTo>
                  <a:moveTo>
                    <a:pt x="21348" y="18023"/>
                  </a:moveTo>
                  <a:lnTo>
                    <a:pt x="12511" y="1223"/>
                  </a:lnTo>
                  <a:cubicBezTo>
                    <a:pt x="12511" y="1223"/>
                    <a:pt x="12058" y="0"/>
                    <a:pt x="10800" y="0"/>
                  </a:cubicBezTo>
                  <a:cubicBezTo>
                    <a:pt x="9616" y="0"/>
                    <a:pt x="9089" y="1223"/>
                    <a:pt x="9089" y="1223"/>
                  </a:cubicBezTo>
                  <a:lnTo>
                    <a:pt x="252" y="18023"/>
                  </a:lnTo>
                  <a:cubicBezTo>
                    <a:pt x="252" y="18023"/>
                    <a:pt x="0" y="18421"/>
                    <a:pt x="0" y="19200"/>
                  </a:cubicBezTo>
                  <a:cubicBezTo>
                    <a:pt x="0" y="20526"/>
                    <a:pt x="879" y="21600"/>
                    <a:pt x="1964" y="21600"/>
                  </a:cubicBezTo>
                  <a:lnTo>
                    <a:pt x="19636" y="21600"/>
                  </a:lnTo>
                  <a:cubicBezTo>
                    <a:pt x="20721" y="21600"/>
                    <a:pt x="21600" y="20526"/>
                    <a:pt x="21600" y="19200"/>
                  </a:cubicBezTo>
                  <a:cubicBezTo>
                    <a:pt x="21600" y="18362"/>
                    <a:pt x="21348" y="18023"/>
                    <a:pt x="21348" y="18023"/>
                  </a:cubicBezTo>
                  <a:moveTo>
                    <a:pt x="10800" y="15600"/>
                  </a:moveTo>
                  <a:cubicBezTo>
                    <a:pt x="10258" y="15600"/>
                    <a:pt x="9818" y="16138"/>
                    <a:pt x="9818" y="16800"/>
                  </a:cubicBezTo>
                  <a:cubicBezTo>
                    <a:pt x="9818" y="17462"/>
                    <a:pt x="10258" y="18000"/>
                    <a:pt x="10800" y="18000"/>
                  </a:cubicBezTo>
                  <a:cubicBezTo>
                    <a:pt x="11342" y="18000"/>
                    <a:pt x="11782" y="17462"/>
                    <a:pt x="11782" y="16800"/>
                  </a:cubicBezTo>
                  <a:cubicBezTo>
                    <a:pt x="11782" y="16138"/>
                    <a:pt x="11342" y="15600"/>
                    <a:pt x="10800" y="15600"/>
                  </a:cubicBezTo>
                  <a:moveTo>
                    <a:pt x="10800" y="6000"/>
                  </a:moveTo>
                  <a:cubicBezTo>
                    <a:pt x="10258" y="6000"/>
                    <a:pt x="9818" y="6538"/>
                    <a:pt x="9818" y="7200"/>
                  </a:cubicBezTo>
                  <a:lnTo>
                    <a:pt x="10309" y="13800"/>
                  </a:lnTo>
                  <a:cubicBezTo>
                    <a:pt x="10309" y="14132"/>
                    <a:pt x="10529" y="14400"/>
                    <a:pt x="10800" y="14400"/>
                  </a:cubicBezTo>
                  <a:cubicBezTo>
                    <a:pt x="11071" y="14400"/>
                    <a:pt x="11291" y="14132"/>
                    <a:pt x="11291" y="13800"/>
                  </a:cubicBezTo>
                  <a:lnTo>
                    <a:pt x="11782" y="7200"/>
                  </a:lnTo>
                  <a:cubicBezTo>
                    <a:pt x="11782" y="6538"/>
                    <a:pt x="11342" y="6000"/>
                    <a:pt x="10800" y="6000"/>
                  </a:cubicBezTo>
                </a:path>
              </a:pathLst>
            </a:custGeom>
            <a:solidFill>
              <a:schemeClr val="bg1"/>
            </a:solidFill>
            <a:ln w="12700">
              <a:noFill/>
              <a:miter lim="400000"/>
            </a:ln>
          </p:spPr>
          <p:txBody>
            <a:bodyPr lIns="19047" tIns="19047" rIns="19047" bIns="19047" anchor="ctr"/>
            <a:lstStyle/>
            <a:p>
              <a:pPr algn="ctr" defTabSz="228519"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62" b="1" noProof="1">
                <a:solidFill>
                  <a:srgbClr val="F4B246"/>
                </a:solidFill>
                <a:latin typeface="+mn-ea"/>
                <a:cs typeface="Arial" panose="020B0604020202020204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71C4BCA-505D-DB4C-22AD-023DA4CC7874}"/>
                </a:ext>
              </a:extLst>
            </p:cNvPr>
            <p:cNvSpPr txBox="1"/>
            <p:nvPr/>
          </p:nvSpPr>
          <p:spPr>
            <a:xfrm>
              <a:off x="1099258" y="6038494"/>
              <a:ext cx="63970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>
                  <a:solidFill>
                    <a:schemeClr val="bg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注意：</a:t>
              </a:r>
              <a:endParaRPr lang="zh-CN" altLang="en-US" sz="105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7295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CA67D98-7AA0-387F-AB99-A058185DE1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Vue</a:t>
            </a:r>
            <a:r>
              <a:rPr lang="zh-CN" altLang="en-US"/>
              <a:t>工程化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AA8624-B90F-2614-E946-A457FC293B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2758797"/>
          </a:xfrm>
        </p:spPr>
        <p:txBody>
          <a:bodyPr/>
          <a:lstStyle/>
          <a:p>
            <a:r>
              <a:rPr lang="zh-CN" altLang="en-US"/>
              <a:t>环境准备</a:t>
            </a:r>
            <a:endParaRPr lang="en-US" altLang="zh-CN"/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Vue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项目简介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Vue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项目开发流程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en-US" altLang="zh-CN">
                <a:solidFill>
                  <a:schemeClr val="tx1">
                    <a:lumMod val="50000"/>
                  </a:schemeClr>
                </a:solidFill>
              </a:rPr>
              <a:t>API</a:t>
            </a:r>
            <a:r>
              <a:rPr lang="zh-CN" altLang="en-US">
                <a:solidFill>
                  <a:schemeClr val="tx1">
                    <a:lumMod val="50000"/>
                  </a:schemeClr>
                </a:solidFill>
              </a:rPr>
              <a:t>风格</a:t>
            </a:r>
            <a:endParaRPr lang="en-US" altLang="zh-CN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07C7CA3-873B-8400-CA67-52C77D51DD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320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0584AD8-CB91-E109-EFAA-194E620D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Vue</a:t>
            </a:r>
            <a:r>
              <a:rPr lang="zh-CN" altLang="en-US"/>
              <a:t>项目中基于组合式</a:t>
            </a:r>
            <a:r>
              <a:rPr lang="en-US" altLang="zh-CN"/>
              <a:t>API</a:t>
            </a:r>
            <a:r>
              <a:rPr lang="zh-CN" altLang="en-US"/>
              <a:t>完成用户列表数据渲染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6AE431-DC29-064C-BE0E-4888C75FC5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0793" y="1036138"/>
            <a:ext cx="9570540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要求在页面加载完毕之后，发送异步请求，加载数据，渲染表格。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141717F-5DB4-16DE-5FB6-557E91659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9"/>
          <a:stretch/>
        </p:blipFill>
        <p:spPr>
          <a:xfrm>
            <a:off x="865749" y="1530163"/>
            <a:ext cx="9707467" cy="4291699"/>
          </a:xfrm>
          <a:prstGeom prst="rect">
            <a:avLst/>
          </a:prstGeom>
        </p:spPr>
      </p:pic>
      <p:sp>
        <p:nvSpPr>
          <p:cNvPr id="2" name="文本占位符 4">
            <a:extLst>
              <a:ext uri="{FF2B5EF4-FFF2-40B4-BE49-F238E27FC236}">
                <a16:creationId xmlns:a16="http://schemas.microsoft.com/office/drawing/2014/main" id="{64AD54B8-5AB4-B782-74AA-175872A564C1}"/>
              </a:ext>
            </a:extLst>
          </p:cNvPr>
          <p:cNvSpPr txBox="1">
            <a:spLocks/>
          </p:cNvSpPr>
          <p:nvPr/>
        </p:nvSpPr>
        <p:spPr>
          <a:xfrm>
            <a:off x="560793" y="5841472"/>
            <a:ext cx="9570540" cy="4744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/>
              <a:t>项目中用到</a:t>
            </a:r>
            <a:r>
              <a:rPr lang="en-US" altLang="zh-CN"/>
              <a:t>axios</a:t>
            </a:r>
            <a:r>
              <a:rPr lang="zh-CN" altLang="en-US"/>
              <a:t>，就需要安装</a:t>
            </a:r>
            <a:r>
              <a:rPr lang="en-US" altLang="zh-CN"/>
              <a:t>axios</a:t>
            </a:r>
            <a:r>
              <a:rPr lang="zh-CN" altLang="en-US"/>
              <a:t>的依赖：</a:t>
            </a:r>
            <a:r>
              <a:rPr lang="en-US" altLang="zh-CN">
                <a:solidFill>
                  <a:srgbClr val="001FEE"/>
                </a:solidFill>
              </a:rPr>
              <a:t>npm install axios</a:t>
            </a:r>
            <a:endParaRPr lang="zh-CN" altLang="en-US">
              <a:solidFill>
                <a:srgbClr val="001FE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799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051C1A3-464B-0D69-F7F6-AA870BE3E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在组合式</a:t>
            </a:r>
            <a:r>
              <a:rPr lang="en-US" altLang="zh-CN" sz="1800"/>
              <a:t>API</a:t>
            </a:r>
            <a:r>
              <a:rPr lang="zh-CN" altLang="en-US" sz="1800"/>
              <a:t>中有没有</a:t>
            </a:r>
            <a:r>
              <a:rPr lang="en-US" altLang="zh-CN" sz="1800"/>
              <a:t>this</a:t>
            </a:r>
            <a:r>
              <a:rPr lang="zh-CN" altLang="en-US" sz="1800"/>
              <a:t> </a:t>
            </a:r>
            <a:r>
              <a:rPr lang="en-US" altLang="zh-CN" sz="180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在组合式</a:t>
            </a:r>
            <a:r>
              <a:rPr lang="en-US" altLang="zh-CN" sz="1800"/>
              <a:t>API</a:t>
            </a:r>
            <a:r>
              <a:rPr lang="zh-CN" altLang="en-US" sz="1800"/>
              <a:t>中如何更新响应式数据内容 </a:t>
            </a:r>
            <a:r>
              <a:rPr lang="en-US" altLang="zh-CN" sz="1800"/>
              <a:t>?</a:t>
            </a:r>
            <a:endParaRPr lang="zh-CN" altLang="en-US" sz="18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4D531D-8AD8-140D-9766-86A3D31705BE}"/>
              </a:ext>
            </a:extLst>
          </p:cNvPr>
          <p:cNvSpPr txBox="1"/>
          <p:nvPr/>
        </p:nvSpPr>
        <p:spPr>
          <a:xfrm>
            <a:off x="8097520" y="2971745"/>
            <a:ext cx="1191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没有</a:t>
            </a:r>
            <a:r>
              <a:rPr lang="en-US" altLang="zh-CN">
                <a:solidFill>
                  <a:srgbClr val="C00000"/>
                </a:solidFill>
              </a:rPr>
              <a:t>this</a:t>
            </a:r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D0A08A4-1F1A-8182-F1B1-A877253688DC}"/>
              </a:ext>
            </a:extLst>
          </p:cNvPr>
          <p:cNvSpPr txBox="1"/>
          <p:nvPr/>
        </p:nvSpPr>
        <p:spPr>
          <a:xfrm>
            <a:off x="9103360" y="344932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C00000"/>
                </a:solidFill>
              </a:rPr>
              <a:t>xxx.value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183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B0B3C6-682C-B9D6-C362-A341510388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>
                <a:latin typeface="+mn-lt"/>
              </a:rPr>
              <a:t>Vue</a:t>
            </a:r>
            <a:r>
              <a:rPr lang="zh-CN" altLang="en-US">
                <a:latin typeface="+mn-lt"/>
              </a:rPr>
              <a:t>工程化</a:t>
            </a:r>
            <a:endParaRPr lang="en-US" altLang="zh-CN">
              <a:latin typeface="+mn-lt"/>
            </a:endParaRPr>
          </a:p>
          <a:p>
            <a:r>
              <a:rPr lang="en-US" altLang="zh-CN">
                <a:solidFill>
                  <a:srgbClr val="C00000"/>
                </a:solidFill>
                <a:latin typeface="+mn-lt"/>
              </a:rPr>
              <a:t>ElementPlus</a:t>
            </a:r>
            <a:endParaRPr lang="zh-CN" altLang="en-US">
              <a:solidFill>
                <a:srgbClr val="C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750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D3B7A04-56A6-00EE-6F2A-C6932A1D73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/>
              <a:t>Element Plus</a:t>
            </a:r>
            <a:endParaRPr lang="zh-CN" alt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203207-B90F-6AB1-A1B5-246F4E3F5A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3644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什么是</a:t>
            </a:r>
            <a:r>
              <a:rPr lang="en-US" altLang="zh-CN"/>
              <a:t>ElementPlus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1553279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Element</a:t>
            </a:r>
            <a:r>
              <a:rPr lang="zh-CN" altLang="en-US">
                <a:latin typeface="Fira Code" panose="020B0809050000020004" pitchFamily="49" charset="0"/>
              </a:rPr>
              <a:t>：是饿了么团队研发的，基于 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</a:rPr>
              <a:t>Vue3</a:t>
            </a:r>
            <a:r>
              <a:rPr lang="zh-CN" altLang="en-US">
                <a:latin typeface="Fira Code" panose="020B0809050000020004" pitchFamily="49" charset="0"/>
              </a:rPr>
              <a:t>，面向设计师和开发者的</a:t>
            </a:r>
            <a:r>
              <a:rPr lang="zh-CN" altLang="en-US">
                <a:solidFill>
                  <a:srgbClr val="C00000"/>
                </a:solidFill>
                <a:latin typeface="Fira Code" panose="020B0809050000020004" pitchFamily="49" charset="0"/>
              </a:rPr>
              <a:t>组件</a:t>
            </a:r>
            <a:r>
              <a:rPr lang="zh-CN" altLang="en-US">
                <a:latin typeface="Fira Code" panose="020B0809050000020004" pitchFamily="49" charset="0"/>
              </a:rPr>
              <a:t>库。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组件：组成网页的部件，例如 超链接、按钮、图片、表格、表单、分页条等等。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官网：</a:t>
            </a:r>
            <a:r>
              <a:rPr lang="en-US" altLang="zh-CN">
                <a:latin typeface="Fira Code" panose="020B0809050000020004" pitchFamily="49" charset="0"/>
                <a:ea typeface="Fira Code" panose="020B0809050000020004" pitchFamily="49" charset="0"/>
                <a:hlinkClick r:id="rId2"/>
              </a:rPr>
              <a:t>https://element-plus.org/zh-CN/#/zh-CN</a:t>
            </a:r>
            <a:endParaRPr lang="en-US" altLang="zh-CN">
              <a:latin typeface="Fira Code" panose="020B0809050000020004" pitchFamily="49" charset="0"/>
              <a:ea typeface="Fira Code" panose="020B08090500000200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E30D03-D153-FFF5-A06C-081554E28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83" y="3581082"/>
            <a:ext cx="4305673" cy="3657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EA72BAB-3610-58AE-2AD2-766061C84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448" y="4472025"/>
            <a:ext cx="3365621" cy="1716692"/>
          </a:xfrm>
          <a:prstGeom prst="roundRect">
            <a:avLst>
              <a:gd name="adj" fmla="val 5919"/>
            </a:avLst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F826BA-DAED-2F03-2FE9-BB525422D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7441" y="4543826"/>
            <a:ext cx="3752850" cy="1819275"/>
          </a:xfrm>
          <a:prstGeom prst="roundRect">
            <a:avLst>
              <a:gd name="adj" fmla="val 6518"/>
            </a:avLst>
          </a:prstGeom>
          <a:ln w="6350">
            <a:solidFill>
              <a:schemeClr val="tx1"/>
            </a:solidFill>
            <a:prstDash val="dash"/>
          </a:ln>
          <a:effectLst>
            <a:glow rad="63500">
              <a:schemeClr val="tx1">
                <a:lumMod val="50000"/>
                <a:lumOff val="50000"/>
                <a:alpha val="40000"/>
              </a:schemeClr>
            </a:glo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F134059-32E9-D950-A527-01EC75C50F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8754" y="4936881"/>
            <a:ext cx="990686" cy="723963"/>
          </a:xfrm>
          <a:prstGeom prst="rect">
            <a:avLst/>
          </a:prstGeom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77EACBBB-55C7-66AE-1864-BD4AED382027}"/>
              </a:ext>
            </a:extLst>
          </p:cNvPr>
          <p:cNvCxnSpPr>
            <a:cxnSpLocks/>
          </p:cNvCxnSpPr>
          <p:nvPr/>
        </p:nvCxnSpPr>
        <p:spPr>
          <a:xfrm>
            <a:off x="5840473" y="3314700"/>
            <a:ext cx="0" cy="3244362"/>
          </a:xfrm>
          <a:prstGeom prst="line">
            <a:avLst/>
          </a:prstGeom>
          <a:ln w="6350"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9872433F-7FA5-F011-9A83-8F905B6002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9173" y="3370892"/>
            <a:ext cx="4747844" cy="83961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040BC0-EFA8-2794-F661-31B6AD41A5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4241" y="4743309"/>
            <a:ext cx="2334520" cy="1174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26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5F0ABA-B979-F99C-EBFD-2EDFAB89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Element Plus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1590A6-AA82-C304-0057-6E1059909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zh-CN" altLang="en-US"/>
              <a:t>常见组件</a:t>
            </a:r>
            <a:endParaRPr lang="en-US" altLang="zh-CN"/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122B368-4BB6-1A15-30A1-96A451199F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3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51BF703-E0D9-5AF9-82C2-C79D7714D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Element Plus</a:t>
            </a:r>
            <a:r>
              <a:rPr lang="zh-CN" altLang="en-US"/>
              <a:t>快速入门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10C489F-17BE-05CF-63C9-6103D2A8B62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0560" y="1024932"/>
            <a:ext cx="10952480" cy="5010108"/>
          </a:xfrm>
        </p:spPr>
        <p:txBody>
          <a:bodyPr/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准备工作：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6120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</a:rPr>
              <a:t>创建</a:t>
            </a:r>
            <a:r>
              <a:rPr lang="en-US" altLang="zh-CN" sz="1400">
                <a:latin typeface="Fira Code" panose="020B0809050000020004" pitchFamily="49" charset="0"/>
              </a:rPr>
              <a:t>vue</a:t>
            </a:r>
            <a:r>
              <a:rPr lang="zh-CN" altLang="en-US" sz="1400">
                <a:latin typeface="Fira Code" panose="020B0809050000020004" pitchFamily="49" charset="0"/>
              </a:rPr>
              <a:t>项目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6120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400">
                <a:latin typeface="Fira Code" panose="020B0809050000020004" pitchFamily="49" charset="0"/>
              </a:rPr>
              <a:t>参照官方文档，安装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Element Plus</a:t>
            </a:r>
            <a:r>
              <a:rPr lang="zh-CN" altLang="en-US" sz="1400">
                <a:latin typeface="Fira Code" panose="020B0809050000020004" pitchFamily="49" charset="0"/>
              </a:rPr>
              <a:t>组件库（在当前工程的目录下）：</a:t>
            </a:r>
            <a:r>
              <a:rPr lang="en-US" altLang="zh-CN" sz="1400">
                <a:solidFill>
                  <a:srgbClr val="0000FF"/>
                </a:solidFill>
                <a:latin typeface="Fira Code" panose="020B0809050000020004" pitchFamily="49" charset="0"/>
              </a:rPr>
              <a:t>npm install element-plus@2.4.4 --save</a:t>
            </a:r>
            <a:endParaRPr lang="en-US" altLang="zh-CN" sz="1400">
              <a:solidFill>
                <a:srgbClr val="0000FF"/>
              </a:solidFill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6120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main.js</a:t>
            </a:r>
            <a:r>
              <a:rPr lang="zh-CN" altLang="en-US" sz="1400">
                <a:latin typeface="Fira Code" panose="020B0809050000020004" pitchFamily="49" charset="0"/>
              </a:rPr>
              <a:t>中引入</a:t>
            </a:r>
            <a:r>
              <a:rPr lang="en-US" altLang="zh-CN" sz="1400">
                <a:latin typeface="Fira Code" panose="020B0809050000020004" pitchFamily="49" charset="0"/>
                <a:ea typeface="Fira Code" panose="020B0809050000020004" pitchFamily="49" charset="0"/>
              </a:rPr>
              <a:t>Element Plus</a:t>
            </a:r>
            <a:r>
              <a:rPr lang="zh-CN" altLang="en-US" sz="1400">
                <a:latin typeface="Fira Code" panose="020B0809050000020004" pitchFamily="49" charset="0"/>
              </a:rPr>
              <a:t>组件库（参照官方文档）</a:t>
            </a:r>
            <a:endParaRPr lang="en-US" altLang="zh-CN" sz="1400">
              <a:latin typeface="Fira Code" panose="020B0809050000020004" pitchFamily="49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zh-CN" sz="1600">
              <a:latin typeface="Fira Code" panose="020B0809050000020004" pitchFamily="49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altLang="zh-CN" sz="1600">
              <a:latin typeface="Fira Code" panose="020B0809050000020004" pitchFamily="49" charset="0"/>
              <a:ea typeface="Fira Code" panose="020B08090500000200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altLang="zh-CN">
              <a:latin typeface="Fira Code" panose="020B08090500000200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>
                <a:latin typeface="Fira Code" panose="020B0809050000020004" pitchFamily="49" charset="0"/>
              </a:rPr>
              <a:t>制作组件：访问</a:t>
            </a:r>
            <a:r>
              <a:rPr lang="en-US" altLang="zh-CN">
                <a:latin typeface="Fira Code" panose="020B0809050000020004" pitchFamily="49" charset="0"/>
              </a:rPr>
              <a:t>Element</a:t>
            </a:r>
            <a:r>
              <a:rPr lang="zh-CN" altLang="en-US">
                <a:latin typeface="Fira Code" panose="020B0809050000020004" pitchFamily="49" charset="0"/>
              </a:rPr>
              <a:t>官方文档，复制组件代码，调整</a:t>
            </a:r>
            <a:endParaRPr lang="en-US" altLang="zh-CN" sz="1400">
              <a:latin typeface="Fira Code" panose="020B0809050000020004" pitchFamily="49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zh-CN" altLang="en-US"/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0C9CF442-7464-AB34-8D1C-8C8FA9979343}"/>
              </a:ext>
            </a:extLst>
          </p:cNvPr>
          <p:cNvGrpSpPr/>
          <p:nvPr/>
        </p:nvGrpSpPr>
        <p:grpSpPr>
          <a:xfrm>
            <a:off x="1075435" y="2968432"/>
            <a:ext cx="6986076" cy="1961046"/>
            <a:chOff x="2297721" y="3660322"/>
            <a:chExt cx="7768139" cy="1894322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5A968D4-3B51-4CE6-CECB-290A63B7FDAB}"/>
                </a:ext>
              </a:extLst>
            </p:cNvPr>
            <p:cNvSpPr/>
            <p:nvPr/>
          </p:nvSpPr>
          <p:spPr>
            <a:xfrm>
              <a:off x="2297723" y="3660322"/>
              <a:ext cx="7768137" cy="1894322"/>
            </a:xfrm>
            <a:prstGeom prst="roundRect">
              <a:avLst>
                <a:gd name="adj" fmla="val 3925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8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//</a:t>
              </a:r>
              <a:r>
                <a:rPr lang="zh-CN" altLang="en-US" sz="1200" b="0">
                  <a:solidFill>
                    <a:srgbClr val="008000"/>
                  </a:solidFill>
                  <a:effectLst/>
                  <a:latin typeface="Fira Code" panose="020B08090500000200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引入</a:t>
              </a:r>
              <a:r>
                <a:rPr lang="en-US" altLang="zh-CN" sz="1200" b="0">
                  <a:solidFill>
                    <a:srgbClr val="008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ElementPlus</a:t>
              </a:r>
              <a:endParaRPr lang="en-US" altLang="zh-CN" sz="12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import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ElementPlus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from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'element-plus'</a:t>
              </a:r>
              <a:endParaRPr lang="en-US" altLang="zh-CN" sz="12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import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'element-plus/dist/index.css'</a:t>
              </a:r>
              <a:endParaRPr lang="en-US" altLang="zh-CN" sz="1200" b="0">
                <a:solidFill>
                  <a:srgbClr val="0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</a:pPr>
              <a:b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</a:b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createApp(App).use(ElementPlus).mount(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'#app'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  <a:cs typeface="阿里巴巴普惠体" panose="00020600040101010101" pitchFamily="18" charset="-122"/>
                </a:rPr>
                <a:t>)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5D09E61C-23DA-D66D-E9A4-A8BC9D662336}"/>
                </a:ext>
              </a:extLst>
            </p:cNvPr>
            <p:cNvSpPr/>
            <p:nvPr/>
          </p:nvSpPr>
          <p:spPr>
            <a:xfrm>
              <a:off x="2297721" y="3660322"/>
              <a:ext cx="7768136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main.js</a:t>
              </a:r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3BEBF3BB-8F1D-C948-D3CB-3DCABE1247F8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D07FAA6-2195-91F2-C3A5-7649504D6451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474F31B2-1075-4FFA-E0E7-D59379C0026A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381FFE1-8407-35F6-D526-C72FE3794E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8458" b="3015"/>
          <a:stretch/>
        </p:blipFill>
        <p:spPr>
          <a:xfrm>
            <a:off x="974282" y="5617050"/>
            <a:ext cx="9091888" cy="43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35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7F0B94-72F1-5741-BB39-19A8092EC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/>
              <a:t>ElementPlus</a:t>
            </a:r>
            <a:r>
              <a:rPr lang="zh-CN" altLang="en-US"/>
              <a:t>的使用步骤</a:t>
            </a:r>
            <a:endParaRPr lang="en-US" altLang="zh-CN"/>
          </a:p>
          <a:p>
            <a:pPr marL="895335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cs typeface="阿里巴巴普惠体" panose="00020600040101010101" pitchFamily="18" charset="-122"/>
              </a:rPr>
              <a:t>安装：</a:t>
            </a:r>
            <a:r>
              <a:rPr lang="en-US" altLang="zh-CN" sz="1400" b="0">
                <a:cs typeface="阿里巴巴普惠体" panose="00020600040101010101" pitchFamily="18" charset="-122"/>
              </a:rPr>
              <a:t>npm install element-plus@2.4.4 –save</a:t>
            </a:r>
          </a:p>
          <a:p>
            <a:pPr marL="895335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cs typeface="阿里巴巴普惠体" panose="00020600040101010101" pitchFamily="18" charset="-122"/>
              </a:rPr>
              <a:t>引入：在</a:t>
            </a:r>
            <a:r>
              <a:rPr lang="en-US" altLang="zh-CN" sz="1400" b="0">
                <a:cs typeface="阿里巴巴普惠体" panose="00020600040101010101" pitchFamily="18" charset="-122"/>
              </a:rPr>
              <a:t>main.js</a:t>
            </a:r>
            <a:r>
              <a:rPr lang="zh-CN" altLang="en-US" sz="1400" b="0">
                <a:cs typeface="阿里巴巴普惠体" panose="00020600040101010101" pitchFamily="18" charset="-122"/>
              </a:rPr>
              <a:t>中引入</a:t>
            </a:r>
            <a:r>
              <a:rPr lang="en-US" altLang="zh-CN" sz="1400" b="0">
                <a:cs typeface="阿里巴巴普惠体" panose="00020600040101010101" pitchFamily="18" charset="-122"/>
              </a:rPr>
              <a:t>Element Plus</a:t>
            </a:r>
            <a:r>
              <a:rPr lang="zh-CN" altLang="en-US" sz="1400" b="0">
                <a:solidFill>
                  <a:srgbClr val="C00000"/>
                </a:solidFill>
                <a:cs typeface="阿里巴巴普惠体" panose="00020600040101010101" pitchFamily="18" charset="-122"/>
              </a:rPr>
              <a:t>（参照官方文档）</a:t>
            </a:r>
            <a:endParaRPr lang="en-US" altLang="zh-CN" sz="1400" b="0">
              <a:solidFill>
                <a:srgbClr val="C00000"/>
              </a:solidFill>
              <a:cs typeface="阿里巴巴普惠体" panose="00020600040101010101" pitchFamily="18" charset="-122"/>
            </a:endParaRPr>
          </a:p>
          <a:p>
            <a:pPr marL="895335" lvl="1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400" b="0">
                <a:solidFill>
                  <a:schemeClr val="tx1">
                    <a:lumMod val="85000"/>
                    <a:lumOff val="15000"/>
                  </a:schemeClr>
                </a:solidFill>
                <a:cs typeface="阿里巴巴普惠体" panose="00020600040101010101" pitchFamily="18" charset="-122"/>
              </a:rPr>
              <a:t>组件：访问官方文档中的组件，调整成我们需要的样子即可</a:t>
            </a:r>
          </a:p>
        </p:txBody>
      </p:sp>
    </p:spTree>
    <p:extLst>
      <p:ext uri="{BB962C8B-B14F-4D97-AF65-F5344CB8AC3E}">
        <p14:creationId xmlns:p14="http://schemas.microsoft.com/office/powerpoint/2010/main" val="315484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5F0ABA-B979-F99C-EBFD-2EDFAB89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Element Plus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1590A6-AA82-C304-0057-6E1059909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58044"/>
          </a:xfrm>
        </p:spPr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常见组件</a:t>
            </a:r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122B368-4BB6-1A15-30A1-96A451199F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5469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5F0ABA-B979-F99C-EBFD-2EDFAB89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Element Plus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1590A6-AA82-C304-0057-6E1059909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58044"/>
          </a:xfrm>
        </p:spPr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常见组件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  <a:latin typeface="+mn-ea"/>
              </a:rPr>
              <a:t>表格组件</a:t>
            </a:r>
            <a:endParaRPr lang="en-US" altLang="zh-CN" sz="160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分页条组件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对话框组件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表单组件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122B368-4BB6-1A15-30A1-96A451199F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582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表格组件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r>
              <a:rPr lang="zh-CN" altLang="en-US" b="0" i="0">
                <a:solidFill>
                  <a:srgbClr val="303133"/>
                </a:solidFill>
                <a:effectLst/>
                <a:latin typeface="Helvetica Neue"/>
              </a:rPr>
              <a:t>用于展示多条结构类似的数据， 可对数据进行排序、筛选、对比或其他自定义操作。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DB1C48-1076-C5BB-45CE-311447BE8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196" y="1576083"/>
            <a:ext cx="8603727" cy="247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197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9A6C96-B435-714C-C106-112CA7A04E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4253" y="1359878"/>
            <a:ext cx="8388220" cy="255897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表格组件使用的关键点</a:t>
            </a:r>
            <a:endParaRPr lang="en-US" altLang="zh-CN" sz="1800"/>
          </a:p>
          <a:p>
            <a:pPr marL="360000" lvl="1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zh-CN" altLang="en-US" sz="1600" b="0">
                <a:solidFill>
                  <a:srgbClr val="C00000"/>
                </a:solidFill>
                <a:latin typeface="Alibaba PuHuiTi R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表格组件使用时关键点在于清楚表格中绑定的数据 </a:t>
            </a:r>
            <a:r>
              <a:rPr lang="en-US" altLang="zh-CN" sz="1600" b="0">
                <a:solidFill>
                  <a:srgbClr val="C00000"/>
                </a:solidFill>
                <a:latin typeface="Alibaba PuHuiTi R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data</a:t>
            </a:r>
            <a:r>
              <a:rPr lang="zh-CN" altLang="en-US" sz="1600" b="0">
                <a:solidFill>
                  <a:srgbClr val="C00000"/>
                </a:solidFill>
                <a:latin typeface="Alibaba PuHuiTi R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，以及每一列要展示的属性信息。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A0DE30-AC45-D8E1-B08D-6BD5F11CC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676" y="3183752"/>
            <a:ext cx="5052733" cy="359245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03D937B-5703-75C7-BE48-D6AE13DC6B34}"/>
              </a:ext>
            </a:extLst>
          </p:cNvPr>
          <p:cNvSpPr txBox="1"/>
          <p:nvPr/>
        </p:nvSpPr>
        <p:spPr>
          <a:xfrm>
            <a:off x="7119255" y="4949315"/>
            <a:ext cx="4739952" cy="796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sz="16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项目开发中的数据应该是</a:t>
            </a:r>
            <a:r>
              <a:rPr lang="en-US" altLang="zh-CN" sz="1600">
                <a:solidFill>
                  <a:srgbClr val="00B0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Ajax</a:t>
            </a:r>
            <a:r>
              <a:rPr lang="zh-CN" altLang="en-US" sz="1600">
                <a:solidFill>
                  <a:srgbClr val="00B05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异步请求服务端，服务器端返回</a:t>
            </a:r>
            <a:endParaRPr lang="zh-CN" altLang="en-US" sz="1600" dirty="0">
              <a:solidFill>
                <a:srgbClr val="00B05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9294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5F0ABA-B979-F99C-EBFD-2EDFAB89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Element Plus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1590A6-AA82-C304-0057-6E1059909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58044"/>
          </a:xfrm>
        </p:spPr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常见组件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表格组件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  <a:latin typeface="+mn-ea"/>
              </a:rPr>
              <a:t>分页条组件</a:t>
            </a:r>
            <a:endParaRPr lang="en-US" altLang="zh-CN" sz="160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对话框组件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表单组件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122B368-4BB6-1A15-30A1-96A451199F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88998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0F1D5-BF1C-C224-BD8B-9D15405E6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分页条组件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3FA266-F9BC-62C1-18CF-DE610CAC1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47441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0" i="0">
                <a:solidFill>
                  <a:srgbClr val="303133"/>
                </a:solidFill>
                <a:effectLst/>
                <a:latin typeface="Helvetica Neue"/>
              </a:rPr>
              <a:t>当数据量过多时，使用分页</a:t>
            </a:r>
            <a:r>
              <a:rPr lang="zh-CN" altLang="en-US">
                <a:solidFill>
                  <a:srgbClr val="303133"/>
                </a:solidFill>
                <a:latin typeface="Helvetica Neue"/>
              </a:rPr>
              <a:t>操作</a:t>
            </a:r>
            <a:r>
              <a:rPr lang="zh-CN" altLang="en-US" b="0" i="0">
                <a:solidFill>
                  <a:srgbClr val="303133"/>
                </a:solidFill>
                <a:effectLst/>
                <a:latin typeface="Helvetica Neue"/>
              </a:rPr>
              <a:t>分解数据。</a:t>
            </a: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5835971-F4EB-0D97-8648-4FE921A8C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022" y="1576083"/>
            <a:ext cx="8757263" cy="623399"/>
          </a:xfrm>
          <a:prstGeom prst="rect">
            <a:avLst/>
          </a:prstGeom>
        </p:spPr>
      </p:pic>
      <p:sp>
        <p:nvSpPr>
          <p:cNvPr id="5" name="文本占位符 7">
            <a:extLst>
              <a:ext uri="{FF2B5EF4-FFF2-40B4-BE49-F238E27FC236}">
                <a16:creationId xmlns:a16="http://schemas.microsoft.com/office/drawing/2014/main" id="{A0A39E87-B677-9D81-0DEE-E4941CD3350C}"/>
              </a:ext>
            </a:extLst>
          </p:cNvPr>
          <p:cNvSpPr txBox="1">
            <a:spLocks/>
          </p:cNvSpPr>
          <p:nvPr/>
        </p:nvSpPr>
        <p:spPr>
          <a:xfrm>
            <a:off x="576196" y="2344909"/>
            <a:ext cx="10698800" cy="51719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默认</a:t>
            </a:r>
            <a:r>
              <a:rPr lang="en-US" altLang="zh-CN">
                <a:solidFill>
                  <a:schemeClr val="tx1">
                    <a:lumMod val="75000"/>
                  </a:schemeClr>
                </a:solidFill>
              </a:rPr>
              <a:t>Element Plus</a:t>
            </a:r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的组件是英文的，如果希望使用中文语言，可以做如下配置：</a:t>
            </a:r>
          </a:p>
        </p:txBody>
      </p:sp>
      <p:grpSp>
        <p:nvGrpSpPr>
          <p:cNvPr id="6" name="组合 2">
            <a:extLst>
              <a:ext uri="{FF2B5EF4-FFF2-40B4-BE49-F238E27FC236}">
                <a16:creationId xmlns:a16="http://schemas.microsoft.com/office/drawing/2014/main" id="{53C23391-60EF-5C45-BD37-D67722D8E600}"/>
              </a:ext>
            </a:extLst>
          </p:cNvPr>
          <p:cNvGrpSpPr/>
          <p:nvPr/>
        </p:nvGrpSpPr>
        <p:grpSpPr>
          <a:xfrm>
            <a:off x="938805" y="2910585"/>
            <a:ext cx="7667098" cy="1443926"/>
            <a:chOff x="2297721" y="3660322"/>
            <a:chExt cx="8525399" cy="1394797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C8BF1B0B-843C-BA32-083D-5CD8A0714318}"/>
                </a:ext>
              </a:extLst>
            </p:cNvPr>
            <p:cNvSpPr/>
            <p:nvPr/>
          </p:nvSpPr>
          <p:spPr>
            <a:xfrm>
              <a:off x="2297722" y="3660323"/>
              <a:ext cx="8525398" cy="1394796"/>
            </a:xfrm>
            <a:prstGeom prst="roundRect">
              <a:avLst>
                <a:gd name="adj" fmla="val 5788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0" rIns="36000" bIns="0" rtlCol="0" anchor="ctr"/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8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//</a:t>
              </a:r>
              <a:r>
                <a:rPr lang="zh-CN" altLang="en-US" sz="1200" b="0">
                  <a:solidFill>
                    <a:srgbClr val="008000"/>
                  </a:solidFill>
                  <a:effectLst/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引入中文语言</a:t>
              </a:r>
              <a:endParaRPr lang="zh-CN" altLang="en-US" sz="1200" b="0">
                <a:solidFill>
                  <a:srgbClr val="000000"/>
                </a:solidFill>
                <a:effectLst/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import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zhCn </a:t>
              </a:r>
              <a:r>
                <a:rPr lang="en-US" altLang="zh-CN" sz="1200" b="0">
                  <a:solidFill>
                    <a:srgbClr val="0000FF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from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 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r>
                <a:rPr lang="fr-FR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element-plus/es/locale/lang/zh-cn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</a:t>
              </a:r>
              <a:b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</a:b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createApp(App).use(ElementPlus, { locale: zhCn }).mount(</a:t>
              </a:r>
              <a:r>
                <a:rPr lang="en-US" altLang="zh-CN" sz="1200" b="0">
                  <a:solidFill>
                    <a:srgbClr val="A31515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'#app'</a:t>
              </a:r>
              <a:r>
                <a:rPr lang="en-US" altLang="zh-CN" sz="1200" b="0">
                  <a:solidFill>
                    <a:srgbClr val="000000"/>
                  </a:solidFill>
                  <a:effectLst/>
                  <a:latin typeface="Fira Code" panose="020B0809050000020004" pitchFamily="49" charset="0"/>
                  <a:ea typeface="Fira Code" panose="020B0809050000020004" pitchFamily="49" charset="0"/>
                </a:rPr>
                <a:t>)</a:t>
              </a:r>
            </a:p>
          </p:txBody>
        </p:sp>
        <p:sp>
          <p:nvSpPr>
            <p:cNvPr id="8" name="矩形: 圆顶角 7">
              <a:extLst>
                <a:ext uri="{FF2B5EF4-FFF2-40B4-BE49-F238E27FC236}">
                  <a16:creationId xmlns:a16="http://schemas.microsoft.com/office/drawing/2014/main" id="{236DEC88-812B-474A-C0D8-4E8890DA2BEA}"/>
                </a:ext>
              </a:extLst>
            </p:cNvPr>
            <p:cNvSpPr/>
            <p:nvPr/>
          </p:nvSpPr>
          <p:spPr>
            <a:xfrm>
              <a:off x="2297721" y="3660322"/>
              <a:ext cx="852539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200">
                  <a:solidFill>
                    <a:schemeClr val="bg1"/>
                  </a:solidFill>
                  <a:latin typeface="Fira Code" panose="020B0809050000020004" pitchFamily="49" charset="0"/>
                  <a:ea typeface="Fira Code" panose="020B0809050000020004" pitchFamily="49" charset="0"/>
                </a:rPr>
                <a:t>main.js</a:t>
              </a:r>
              <a:endParaRPr lang="zh-CN" altLang="en-US" sz="1200">
                <a:solidFill>
                  <a:schemeClr val="bg1"/>
                </a:solidFill>
                <a:latin typeface="Fira Code" panose="020B0809050000020004" pitchFamily="49" charset="0"/>
              </a:endParaRP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A1D4EB74-7454-22D4-CADA-6EF2D2A79836}"/>
                </a:ext>
              </a:extLst>
            </p:cNvPr>
            <p:cNvSpPr>
              <a:spLocks/>
            </p:cNvSpPr>
            <p:nvPr/>
          </p:nvSpPr>
          <p:spPr>
            <a:xfrm>
              <a:off x="2369820" y="3713662"/>
              <a:ext cx="121920" cy="121920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15CBE8B-9C81-5962-418F-01EAEE52EA46}"/>
                </a:ext>
              </a:extLst>
            </p:cNvPr>
            <p:cNvSpPr>
              <a:spLocks/>
            </p:cNvSpPr>
            <p:nvPr/>
          </p:nvSpPr>
          <p:spPr>
            <a:xfrm>
              <a:off x="2811780" y="3713662"/>
              <a:ext cx="121920" cy="121920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D53D995-1A72-423E-3802-62441DACC3ED}"/>
                </a:ext>
              </a:extLst>
            </p:cNvPr>
            <p:cNvSpPr/>
            <p:nvPr/>
          </p:nvSpPr>
          <p:spPr>
            <a:xfrm>
              <a:off x="2590800" y="3713662"/>
              <a:ext cx="121920" cy="121920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C9DB7D9-33F1-4A18-A1A5-E2E3188C338B}"/>
              </a:ext>
            </a:extLst>
          </p:cNvPr>
          <p:cNvCxnSpPr/>
          <p:nvPr/>
        </p:nvCxnSpPr>
        <p:spPr>
          <a:xfrm>
            <a:off x="3989294" y="4204447"/>
            <a:ext cx="1497106" cy="0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417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5F0ABA-B979-F99C-EBFD-2EDFAB89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Element Plus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1590A6-AA82-C304-0057-6E1059909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58044"/>
          </a:xfrm>
        </p:spPr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常见组件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表格组件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分页条组件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  <a:latin typeface="+mn-ea"/>
              </a:rPr>
              <a:t>对话框组件</a:t>
            </a:r>
            <a:endParaRPr lang="en-US" altLang="zh-CN" sz="160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表单组件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122B368-4BB6-1A15-30A1-96A451199F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2057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8E51C6-0469-8E78-AC5E-48BB1A00C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0" i="0">
                <a:solidFill>
                  <a:srgbClr val="303133"/>
                </a:solidFill>
                <a:effectLst/>
                <a:latin typeface="Helvetica Neue"/>
              </a:rPr>
              <a:t>在保留当前页面状态的情况下，告知用户并承载相关操作。</a:t>
            </a:r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E0A142C-0F00-2449-E3C7-21FB038E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对话框组件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7D9D32-A0B7-00CF-DB77-7FA12AA64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295" y="1576086"/>
            <a:ext cx="10518974" cy="453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58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3D1A2EF-23EF-9532-B3BE-B67DD53434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13735" y="1359878"/>
            <a:ext cx="8178265" cy="396239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800"/>
              <a:t>Dialog</a:t>
            </a:r>
            <a:r>
              <a:rPr lang="zh-CN" altLang="en-US" sz="1800"/>
              <a:t>对话框组件使用的关键点</a:t>
            </a:r>
            <a:endParaRPr lang="en-US" altLang="zh-CN" sz="1800"/>
          </a:p>
          <a:p>
            <a:pPr marL="612000" lvl="1" indent="-28575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</a:t>
            </a:r>
            <a:r>
              <a:rPr lang="en-US" altLang="zh-CN" sz="1600" b="0" i="0">
                <a:solidFill>
                  <a:srgbClr val="C00000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model-value/v-model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给定的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boolean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值，来控制</a:t>
            </a:r>
            <a:r>
              <a:rPr lang="en-US" altLang="zh-CN" sz="1600" b="0">
                <a:solidFill>
                  <a:srgbClr val="C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Dialog</a:t>
            </a:r>
            <a:r>
              <a:rPr lang="zh-CN" altLang="en-US" sz="1600" b="0">
                <a:solidFill>
                  <a:srgbClr val="C00000"/>
                </a:solidFill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的显示与隐藏</a:t>
            </a:r>
            <a:endParaRPr lang="zh-CN" altLang="en-US" b="0">
              <a:solidFill>
                <a:srgbClr val="C00000"/>
              </a:solidFill>
              <a:latin typeface="Fira Code" panose="020B08090500000200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434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5F0ABA-B979-F99C-EBFD-2EDFAB89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Element Plus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1590A6-AA82-C304-0057-6E1059909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58044"/>
          </a:xfrm>
        </p:spPr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zh-CN" altLang="en-US">
                <a:solidFill>
                  <a:srgbClr val="C00000"/>
                </a:solidFill>
              </a:rPr>
              <a:t>常见组件</a:t>
            </a:r>
            <a:endParaRPr lang="en-US" altLang="zh-CN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表格组件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分页条组件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chemeClr val="tx1">
                    <a:lumMod val="75000"/>
                  </a:schemeClr>
                </a:solidFill>
                <a:latin typeface="+mn-ea"/>
              </a:rPr>
              <a:t>对话框组件</a:t>
            </a:r>
            <a:endParaRPr lang="en-US" altLang="zh-CN" sz="1600">
              <a:solidFill>
                <a:schemeClr val="tx1">
                  <a:lumMod val="75000"/>
                </a:schemeClr>
              </a:solidFill>
              <a:latin typeface="+mn-ea"/>
            </a:endParaRP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>
                <a:solidFill>
                  <a:srgbClr val="C00000"/>
                </a:solidFill>
                <a:latin typeface="+mn-ea"/>
              </a:rPr>
              <a:t>表单组件</a:t>
            </a:r>
            <a:endParaRPr lang="en-US" altLang="zh-CN" sz="1600">
              <a:solidFill>
                <a:srgbClr val="C00000"/>
              </a:solidFill>
              <a:latin typeface="+mn-ea"/>
            </a:endParaRPr>
          </a:p>
          <a:p>
            <a:r>
              <a:rPr lang="zh-CN" altLang="en-US"/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122B368-4BB6-1A15-30A1-96A451199F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6692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8E51C6-0469-8E78-AC5E-48BB1A00C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74416"/>
          </a:xfrm>
        </p:spPr>
        <p:txBody>
          <a:bodyPr/>
          <a:lstStyle/>
          <a:p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303133"/>
                </a:solidFill>
                <a:effectLst/>
                <a:latin typeface="阿里巴巴普惠体" panose="00020600040101010101" pitchFamily="18" charset="-122"/>
              </a:rPr>
              <a:t>表单包含 输入框, 单选框, 下拉选择, 多选框 等用户输入的组件。 使用表单，可以收集、验证和提交数据。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阿里巴巴普惠体" panose="00020600040101010101" pitchFamily="18" charset="-122"/>
              </a:rPr>
              <a:t> 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E0A142C-0F00-2449-E3C7-21FB038E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表单组件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1DDBFAB-8ED6-01A8-657B-A77E9106A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86" y="1576086"/>
            <a:ext cx="7250272" cy="429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52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E801DAA-0595-B8E5-1417-9AFFE491BA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/>
              <a:t>表单组件使用的关键点</a:t>
            </a:r>
            <a:endParaRPr lang="en-US" altLang="zh-CN" sz="1800"/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表单项数据采集：</a:t>
            </a:r>
            <a:r>
              <a:rPr lang="en-US" altLang="zh-CN" sz="1600" b="0"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rPr>
              <a:t>v-model </a:t>
            </a: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数据绑定</a:t>
            </a:r>
            <a:endParaRPr lang="en-US" altLang="zh-CN" sz="1600" b="0">
              <a:latin typeface="Fira Code" panose="020B0809050000020004" pitchFamily="49" charset="0"/>
              <a:ea typeface="Fira Code" panose="020B0809050000020004" pitchFamily="49" charset="0"/>
              <a:cs typeface="阿里巴巴普惠体" panose="00020600040101010101" pitchFamily="18" charset="-122"/>
            </a:endParaRPr>
          </a:p>
          <a:p>
            <a:pPr marL="612000" lvl="1" indent="-342900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b="0">
                <a:latin typeface="Fira Code" panose="020B08090500000200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表单数据提交：事件绑定</a:t>
            </a:r>
          </a:p>
        </p:txBody>
      </p:sp>
    </p:spTree>
    <p:extLst>
      <p:ext uri="{BB962C8B-B14F-4D97-AF65-F5344CB8AC3E}">
        <p14:creationId xmlns:p14="http://schemas.microsoft.com/office/powerpoint/2010/main" val="175501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5F0ABA-B979-F99C-EBFD-2EDFAB8956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Element Plus</a:t>
            </a:r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1590A6-AA82-C304-0057-6E10599097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51439" y="2924827"/>
            <a:ext cx="3692525" cy="3458044"/>
          </a:xfrm>
        </p:spPr>
        <p:txBody>
          <a:bodyPr/>
          <a:lstStyle/>
          <a:p>
            <a:r>
              <a:rPr lang="zh-CN" altLang="en-US"/>
              <a:t>快速入门</a:t>
            </a:r>
            <a:endParaRPr lang="en-US" altLang="zh-CN"/>
          </a:p>
          <a:p>
            <a:r>
              <a:rPr lang="zh-CN" altLang="en-US">
                <a:solidFill>
                  <a:schemeClr val="tx1">
                    <a:lumMod val="75000"/>
                  </a:schemeClr>
                </a:solidFill>
              </a:rPr>
              <a:t>常见组件</a:t>
            </a:r>
            <a:endParaRPr lang="en-US" altLang="zh-CN">
              <a:solidFill>
                <a:schemeClr val="tx1">
                  <a:lumMod val="75000"/>
                </a:schemeClr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案例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122B368-4BB6-1A15-30A1-96A451199F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/>
              <a:t>02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4362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D21D14-90E7-95AE-EBDA-D92AB77FB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10241678" cy="474415"/>
          </a:xfrm>
        </p:spPr>
        <p:txBody>
          <a:bodyPr/>
          <a:lstStyle/>
          <a:p>
            <a:r>
              <a:rPr lang="zh-CN" altLang="en-US"/>
              <a:t>制作如下页面，并异步获取数据完成页面展示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81652E3-F976-46F0-16F3-1AB46ED71C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77" y="1027748"/>
            <a:ext cx="10303133" cy="413801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96A7841-DCEE-ACC0-7288-0A1CFAA79A04}"/>
              </a:ext>
            </a:extLst>
          </p:cNvPr>
          <p:cNvSpPr txBox="1"/>
          <p:nvPr/>
        </p:nvSpPr>
        <p:spPr>
          <a:xfrm>
            <a:off x="758266" y="5298208"/>
            <a:ext cx="10121153" cy="95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>
                <a:latin typeface="+mn-ea"/>
              </a:rPr>
              <a:t>页面布局</a:t>
            </a:r>
            <a:endParaRPr lang="en-US" altLang="zh-CN" sz="1600">
              <a:latin typeface="+mn-ea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600">
                <a:latin typeface="+mn-ea"/>
              </a:rPr>
              <a:t>动态加载数据并渲染展示</a:t>
            </a:r>
            <a:endParaRPr lang="en-US" altLang="zh-CN" sz="160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543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23866</TotalTime>
  <Words>2055</Words>
  <Application>Microsoft Office PowerPoint</Application>
  <PresentationFormat>宽屏</PresentationFormat>
  <Paragraphs>332</Paragraphs>
  <Slides>51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51</vt:i4>
      </vt:variant>
    </vt:vector>
  </HeadingPairs>
  <TitlesOfParts>
    <vt:vector size="72" baseType="lpstr">
      <vt:lpstr>Alibaba PuHuiTi B</vt:lpstr>
      <vt:lpstr>Alibaba PuHuiTi R</vt:lpstr>
      <vt:lpstr>Helvetica Neue</vt:lpstr>
      <vt:lpstr>Roboto Regular</vt:lpstr>
      <vt:lpstr>阿里巴巴普惠体</vt:lpstr>
      <vt:lpstr>阿里巴巴普惠体 Heavy</vt:lpstr>
      <vt:lpstr>阿里巴巴普惠体 Medium</vt:lpstr>
      <vt:lpstr>等线</vt:lpstr>
      <vt:lpstr>楷体</vt:lpstr>
      <vt:lpstr>沐瑶随心手写体</vt:lpstr>
      <vt:lpstr>Arial</vt:lpstr>
      <vt:lpstr>Calisto MT</vt:lpstr>
      <vt:lpstr>Consolas</vt:lpstr>
      <vt:lpstr>Fira Code</vt:lpstr>
      <vt:lpstr>Source Code Pro</vt:lpstr>
      <vt:lpstr>Wingdings</vt:lpstr>
      <vt:lpstr>内容模板</vt:lpstr>
      <vt:lpstr>封面</vt:lpstr>
      <vt:lpstr>章节目录模板</vt:lpstr>
      <vt:lpstr>小结思考模板</vt:lpstr>
      <vt:lpstr>小结思考模板2</vt:lpstr>
      <vt:lpstr>Web开发(AI)</vt:lpstr>
      <vt:lpstr>Web开发</vt:lpstr>
      <vt:lpstr>Web前端实战</vt:lpstr>
      <vt:lpstr>什么是Vue</vt:lpstr>
      <vt:lpstr>什么是Vue</vt:lpstr>
      <vt:lpstr>PowerPoint 演示文稿</vt:lpstr>
      <vt:lpstr>PowerPoint 演示文稿</vt:lpstr>
      <vt:lpstr>小白眼中的前端开发</vt:lpstr>
      <vt:lpstr>PowerPoint 演示文稿</vt:lpstr>
      <vt:lpstr>前端工程化</vt:lpstr>
      <vt:lpstr>PowerPoint 演示文稿</vt:lpstr>
      <vt:lpstr>环境准备</vt:lpstr>
      <vt:lpstr>环境准备</vt:lpstr>
      <vt:lpstr>环境准备</vt:lpstr>
      <vt:lpstr>PowerPoint 演示文稿</vt:lpstr>
      <vt:lpstr>Vue项目-创建</vt:lpstr>
      <vt:lpstr>Vue项目-安装依赖</vt:lpstr>
      <vt:lpstr>Vue项目-项目结构</vt:lpstr>
      <vt:lpstr>Vue项目-启动</vt:lpstr>
      <vt:lpstr>PowerPoint 演示文稿</vt:lpstr>
      <vt:lpstr>PowerPoint 演示文稿</vt:lpstr>
      <vt:lpstr>Vue项目开发流程</vt:lpstr>
      <vt:lpstr>Vue项目开发流程</vt:lpstr>
      <vt:lpstr>Vue项目开发流程</vt:lpstr>
      <vt:lpstr>PowerPoint 演示文稿</vt:lpstr>
      <vt:lpstr>API风格</vt:lpstr>
      <vt:lpstr>组合式API</vt:lpstr>
      <vt:lpstr>PowerPoint 演示文稿</vt:lpstr>
      <vt:lpstr>在Vue项目中基于组合式API完成用户列表数据渲染</vt:lpstr>
      <vt:lpstr>PowerPoint 演示文稿</vt:lpstr>
      <vt:lpstr>PowerPoint 演示文稿</vt:lpstr>
      <vt:lpstr>PowerPoint 演示文稿</vt:lpstr>
      <vt:lpstr>什么是ElementPlus</vt:lpstr>
      <vt:lpstr>PowerPoint 演示文稿</vt:lpstr>
      <vt:lpstr>Element Plus快速入门</vt:lpstr>
      <vt:lpstr>PowerPoint 演示文稿</vt:lpstr>
      <vt:lpstr>PowerPoint 演示文稿</vt:lpstr>
      <vt:lpstr>PowerPoint 演示文稿</vt:lpstr>
      <vt:lpstr>表格组件</vt:lpstr>
      <vt:lpstr>PowerPoint 演示文稿</vt:lpstr>
      <vt:lpstr>PowerPoint 演示文稿</vt:lpstr>
      <vt:lpstr>分页条组件</vt:lpstr>
      <vt:lpstr>PowerPoint 演示文稿</vt:lpstr>
      <vt:lpstr>对话框组件</vt:lpstr>
      <vt:lpstr>PowerPoint 演示文稿</vt:lpstr>
      <vt:lpstr>PowerPoint 演示文稿</vt:lpstr>
      <vt:lpstr>表单组件</vt:lpstr>
      <vt:lpstr>PowerPoint 演示文稿</vt:lpstr>
      <vt:lpstr>PowerPoint 演示文稿</vt:lpstr>
      <vt:lpstr>制作如下页面，并异步获取数据完成页面展示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M8242</cp:lastModifiedBy>
  <cp:revision>1983</cp:revision>
  <cp:lastPrinted>2022-05-29T16:00:00Z</cp:lastPrinted>
  <dcterms:created xsi:type="dcterms:W3CDTF">2022-05-29T16:00:00Z</dcterms:created>
  <dcterms:modified xsi:type="dcterms:W3CDTF">2025-01-05T11:22:21Z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