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3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4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1" r:id="rId2"/>
    <p:sldMasterId id="2147483660" r:id="rId3"/>
    <p:sldMasterId id="2147483662" r:id="rId4"/>
    <p:sldMasterId id="2147483672" r:id="rId5"/>
  </p:sldMasterIdLst>
  <p:notesMasterIdLst>
    <p:notesMasterId r:id="rId45"/>
  </p:notesMasterIdLst>
  <p:handoutMasterIdLst>
    <p:handoutMasterId r:id="rId46"/>
  </p:handoutMasterIdLst>
  <p:sldIdLst>
    <p:sldId id="440" r:id="rId6"/>
    <p:sldId id="280" r:id="rId7"/>
    <p:sldId id="818" r:id="rId8"/>
    <p:sldId id="819" r:id="rId9"/>
    <p:sldId id="820" r:id="rId10"/>
    <p:sldId id="821" r:id="rId11"/>
    <p:sldId id="822" r:id="rId12"/>
    <p:sldId id="823" r:id="rId13"/>
    <p:sldId id="824" r:id="rId14"/>
    <p:sldId id="834" r:id="rId15"/>
    <p:sldId id="825" r:id="rId16"/>
    <p:sldId id="826" r:id="rId17"/>
    <p:sldId id="827" r:id="rId18"/>
    <p:sldId id="828" r:id="rId19"/>
    <p:sldId id="865" r:id="rId20"/>
    <p:sldId id="836" r:id="rId21"/>
    <p:sldId id="831" r:id="rId22"/>
    <p:sldId id="832" r:id="rId23"/>
    <p:sldId id="837" r:id="rId24"/>
    <p:sldId id="868" r:id="rId25"/>
    <p:sldId id="869" r:id="rId26"/>
    <p:sldId id="867" r:id="rId27"/>
    <p:sldId id="866" r:id="rId28"/>
    <p:sldId id="838" r:id="rId29"/>
    <p:sldId id="839" r:id="rId30"/>
    <p:sldId id="840" r:id="rId31"/>
    <p:sldId id="842" r:id="rId32"/>
    <p:sldId id="843" r:id="rId33"/>
    <p:sldId id="844" r:id="rId34"/>
    <p:sldId id="845" r:id="rId35"/>
    <p:sldId id="846" r:id="rId36"/>
    <p:sldId id="859" r:id="rId37"/>
    <p:sldId id="847" r:id="rId38"/>
    <p:sldId id="864" r:id="rId39"/>
    <p:sldId id="861" r:id="rId40"/>
    <p:sldId id="848" r:id="rId41"/>
    <p:sldId id="862" r:id="rId42"/>
    <p:sldId id="849" r:id="rId43"/>
    <p:sldId id="288" r:id="rId44"/>
  </p:sldIdLst>
  <p:sldSz cx="12192000" cy="6858000"/>
  <p:notesSz cx="6858000" cy="9144000"/>
  <p:custDataLst>
    <p:tags r:id="rId4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1B883"/>
    <a:srgbClr val="FFFFFF"/>
    <a:srgbClr val="1B1E1D"/>
    <a:srgbClr val="00B050"/>
    <a:srgbClr val="000000"/>
    <a:srgbClr val="282D2C"/>
    <a:srgbClr val="001FEE"/>
    <a:srgbClr val="3561FF"/>
    <a:srgbClr val="363C3B"/>
    <a:srgbClr val="C78F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447" autoAdjust="0"/>
    <p:restoredTop sz="95165" autoAdjust="0"/>
  </p:normalViewPr>
  <p:slideViewPr>
    <p:cSldViewPr snapToGrid="0" showGuides="1">
      <p:cViewPr varScale="1">
        <p:scale>
          <a:sx n="85" d="100"/>
          <a:sy n="85" d="100"/>
        </p:scale>
        <p:origin x="13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4" d="100"/>
          <a:sy n="84" d="100"/>
        </p:scale>
        <p:origin x="218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tags" Target="tags/tag1.xml"/><Relationship Id="rId50" Type="http://schemas.openxmlformats.org/officeDocument/2006/relationships/theme" Target="theme/theme1.xml"/><Relationship Id="rId7" Type="http://schemas.openxmlformats.org/officeDocument/2006/relationships/slide" Target="slides/slide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notesMaster" Target="notesMasters/notesMaster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presProps" Target="presProps.xml"/><Relationship Id="rId8" Type="http://schemas.openxmlformats.org/officeDocument/2006/relationships/slide" Target="slides/slide3.xml"/><Relationship Id="rId51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handoutMaster" Target="handoutMasters/handoutMaster1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2E23121D-534D-C18D-86F2-F8B084E7F1B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724E421-5F99-33C1-6C60-3D67F5BBC34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11D20C-92F4-4D32-92CD-1278806BF344}" type="datetimeFigureOut">
              <a:rPr lang="zh-CN" altLang="en-US" smtClean="0"/>
              <a:t>2025/1/8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4CEAC0C-2766-8EA5-AFAC-04E2AE7E12A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B69A8BD-4CEA-8355-A923-3DE76C66945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D7DA4C-D0A3-441A-A01E-F1F72C62FD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307928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2A3D24-6083-4546-8C6D-DEE86BAAAE49}" type="datetimeFigureOut">
              <a:rPr lang="zh-CN" altLang="en-US" smtClean="0"/>
              <a:t>2025/1/8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ED8765-8EF3-408C-9341-152904E414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85426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你是一名前端开发工程师，现在基于</a:t>
            </a:r>
            <a:r>
              <a:rPr lang="en-US" altLang="zh-CN"/>
              <a:t>Vue3+ElementPlus</a:t>
            </a:r>
            <a:r>
              <a:rPr lang="zh-CN" altLang="en-US"/>
              <a:t>开发了一个前端项目。 制作了一个页面 </a:t>
            </a:r>
            <a:r>
              <a:rPr lang="en-US" altLang="zh-CN"/>
              <a:t>/layout/index.vue</a:t>
            </a:r>
            <a:r>
              <a:rPr lang="zh-CN" altLang="en-US"/>
              <a:t>，页面中左侧是菜单，右侧是主展示区域，现在想点击左侧的菜单右侧跳转到对应的主展示区域。 具体的规则如下：</a:t>
            </a:r>
          </a:p>
          <a:p>
            <a:r>
              <a:rPr lang="en-US" altLang="zh-CN"/>
              <a:t>1. </a:t>
            </a:r>
            <a:r>
              <a:rPr lang="zh-CN" altLang="en-US"/>
              <a:t>点击首页，展示 </a:t>
            </a:r>
            <a:r>
              <a:rPr lang="en-US" altLang="zh-CN"/>
              <a:t>/index/index.vue</a:t>
            </a:r>
          </a:p>
          <a:p>
            <a:r>
              <a:rPr lang="en-US" altLang="zh-CN"/>
              <a:t>2. </a:t>
            </a:r>
            <a:r>
              <a:rPr lang="zh-CN" altLang="en-US"/>
              <a:t>点击班级管理，展示 </a:t>
            </a:r>
            <a:r>
              <a:rPr lang="en-US" altLang="zh-CN"/>
              <a:t>/clazz/index.vue</a:t>
            </a:r>
          </a:p>
          <a:p>
            <a:r>
              <a:rPr lang="en-US" altLang="zh-CN"/>
              <a:t>3. </a:t>
            </a:r>
            <a:r>
              <a:rPr lang="zh-CN" altLang="en-US"/>
              <a:t>点击学员管理，展示 </a:t>
            </a:r>
            <a:r>
              <a:rPr lang="en-US" altLang="zh-CN"/>
              <a:t>/stu/index.vue</a:t>
            </a:r>
          </a:p>
          <a:p>
            <a:r>
              <a:rPr lang="en-US" altLang="zh-CN"/>
              <a:t>4. </a:t>
            </a:r>
            <a:r>
              <a:rPr lang="zh-CN" altLang="en-US"/>
              <a:t>点击部门管理，展示 </a:t>
            </a:r>
            <a:r>
              <a:rPr lang="en-US" altLang="zh-CN"/>
              <a:t>/dept/index.vue</a:t>
            </a:r>
          </a:p>
          <a:p>
            <a:r>
              <a:rPr lang="en-US" altLang="zh-CN"/>
              <a:t>5. </a:t>
            </a:r>
            <a:r>
              <a:rPr lang="zh-CN" altLang="en-US"/>
              <a:t>点击员工管理，展示 </a:t>
            </a:r>
            <a:r>
              <a:rPr lang="en-US" altLang="zh-CN"/>
              <a:t>/emp/index.vue</a:t>
            </a:r>
          </a:p>
          <a:p>
            <a:r>
              <a:rPr lang="en-US" altLang="zh-CN"/>
              <a:t>6. </a:t>
            </a:r>
            <a:r>
              <a:rPr lang="zh-CN" altLang="en-US"/>
              <a:t>点击员工信息统计，展示 </a:t>
            </a:r>
            <a:r>
              <a:rPr lang="en-US" altLang="zh-CN"/>
              <a:t>/report/emp/index.vue</a:t>
            </a:r>
          </a:p>
          <a:p>
            <a:r>
              <a:rPr lang="en-US" altLang="zh-CN"/>
              <a:t>7. </a:t>
            </a:r>
            <a:r>
              <a:rPr lang="zh-CN" altLang="en-US"/>
              <a:t>点击学员信息统计，展示 </a:t>
            </a:r>
            <a:r>
              <a:rPr lang="en-US" altLang="zh-CN"/>
              <a:t>/report/stu/index.vue</a:t>
            </a:r>
          </a:p>
          <a:p>
            <a:r>
              <a:rPr lang="en-US" altLang="zh-CN"/>
              <a:t>8. </a:t>
            </a:r>
            <a:r>
              <a:rPr lang="zh-CN" altLang="en-US"/>
              <a:t>点击日志信息统计，展示 </a:t>
            </a:r>
            <a:r>
              <a:rPr lang="en-US" altLang="zh-CN"/>
              <a:t>/log/index.vue</a:t>
            </a:r>
          </a:p>
          <a:p>
            <a:endParaRPr lang="zh-CN" altLang="en-US"/>
          </a:p>
          <a:p>
            <a:r>
              <a:rPr lang="zh-CN" altLang="en-US"/>
              <a:t>目前</a:t>
            </a:r>
            <a:r>
              <a:rPr lang="en-US" altLang="zh-CN"/>
              <a:t>, /layout/index.vue </a:t>
            </a:r>
            <a:r>
              <a:rPr lang="zh-CN" altLang="en-US"/>
              <a:t>中具体的页面内容如下： </a:t>
            </a: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70217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你是一名前端开发工程师，现在基于</a:t>
            </a:r>
            <a:r>
              <a:rPr lang="en-US" altLang="zh-CN"/>
              <a:t>Vue3+ElementPlus</a:t>
            </a:r>
            <a:r>
              <a:rPr lang="zh-CN" altLang="en-US"/>
              <a:t>开发了一个前端项目。 制作了一个页面 </a:t>
            </a:r>
            <a:r>
              <a:rPr lang="en-US" altLang="zh-CN"/>
              <a:t>/layout/index.vue</a:t>
            </a:r>
            <a:r>
              <a:rPr lang="zh-CN" altLang="en-US"/>
              <a:t>，页面中左侧是菜单，右侧是主展示区域，现在想点击左侧的菜单右侧跳转到对应的主展示区域。 具体的规则如下：</a:t>
            </a:r>
          </a:p>
          <a:p>
            <a:r>
              <a:rPr lang="en-US" altLang="zh-CN"/>
              <a:t>1. </a:t>
            </a:r>
            <a:r>
              <a:rPr lang="zh-CN" altLang="en-US"/>
              <a:t>点击首页，展示 </a:t>
            </a:r>
            <a:r>
              <a:rPr lang="en-US" altLang="zh-CN"/>
              <a:t>/index/index.vue</a:t>
            </a:r>
          </a:p>
          <a:p>
            <a:r>
              <a:rPr lang="en-US" altLang="zh-CN"/>
              <a:t>2. </a:t>
            </a:r>
            <a:r>
              <a:rPr lang="zh-CN" altLang="en-US"/>
              <a:t>点击班级管理，展示 </a:t>
            </a:r>
            <a:r>
              <a:rPr lang="en-US" altLang="zh-CN"/>
              <a:t>/clazz/index.vue</a:t>
            </a:r>
          </a:p>
          <a:p>
            <a:r>
              <a:rPr lang="en-US" altLang="zh-CN"/>
              <a:t>3. </a:t>
            </a:r>
            <a:r>
              <a:rPr lang="zh-CN" altLang="en-US"/>
              <a:t>点击学员管理，展示 </a:t>
            </a:r>
            <a:r>
              <a:rPr lang="en-US" altLang="zh-CN"/>
              <a:t>/stu/index.vue</a:t>
            </a:r>
          </a:p>
          <a:p>
            <a:r>
              <a:rPr lang="en-US" altLang="zh-CN"/>
              <a:t>4. </a:t>
            </a:r>
            <a:r>
              <a:rPr lang="zh-CN" altLang="en-US"/>
              <a:t>点击部门管理，展示 </a:t>
            </a:r>
            <a:r>
              <a:rPr lang="en-US" altLang="zh-CN"/>
              <a:t>/dept/index.vue</a:t>
            </a:r>
          </a:p>
          <a:p>
            <a:r>
              <a:rPr lang="en-US" altLang="zh-CN"/>
              <a:t>5. </a:t>
            </a:r>
            <a:r>
              <a:rPr lang="zh-CN" altLang="en-US"/>
              <a:t>点击员工管理，展示 </a:t>
            </a:r>
            <a:r>
              <a:rPr lang="en-US" altLang="zh-CN"/>
              <a:t>/emp/index.vue</a:t>
            </a:r>
          </a:p>
          <a:p>
            <a:r>
              <a:rPr lang="en-US" altLang="zh-CN"/>
              <a:t>6. </a:t>
            </a:r>
            <a:r>
              <a:rPr lang="zh-CN" altLang="en-US"/>
              <a:t>点击员工信息统计，展示 </a:t>
            </a:r>
            <a:r>
              <a:rPr lang="en-US" altLang="zh-CN"/>
              <a:t>/report/emp/index.vue</a:t>
            </a:r>
          </a:p>
          <a:p>
            <a:r>
              <a:rPr lang="en-US" altLang="zh-CN"/>
              <a:t>7. </a:t>
            </a:r>
            <a:r>
              <a:rPr lang="zh-CN" altLang="en-US"/>
              <a:t>点击学员信息统计，展示 </a:t>
            </a:r>
            <a:r>
              <a:rPr lang="en-US" altLang="zh-CN"/>
              <a:t>/report/stu/index.vue</a:t>
            </a:r>
          </a:p>
          <a:p>
            <a:r>
              <a:rPr lang="en-US" altLang="zh-CN"/>
              <a:t>8. </a:t>
            </a:r>
            <a:r>
              <a:rPr lang="zh-CN" altLang="en-US"/>
              <a:t>点击日志信息统计，展示 </a:t>
            </a:r>
            <a:r>
              <a:rPr lang="en-US" altLang="zh-CN"/>
              <a:t>/log/index.vue</a:t>
            </a:r>
          </a:p>
          <a:p>
            <a:endParaRPr lang="en-US" altLang="zh-CN"/>
          </a:p>
          <a:p>
            <a:r>
              <a:rPr lang="zh-CN" altLang="en-US"/>
              <a:t>当访问 </a:t>
            </a:r>
            <a:r>
              <a:rPr lang="en-US" altLang="zh-CN"/>
              <a:t>/login </a:t>
            </a:r>
            <a:r>
              <a:rPr lang="zh-CN" altLang="en-US"/>
              <a:t>路径时，则要展示的是独立的登录页面 </a:t>
            </a:r>
            <a:r>
              <a:rPr lang="en-US" altLang="zh-CN"/>
              <a:t>/login/index.vue</a:t>
            </a:r>
            <a:r>
              <a:rPr lang="zh-CN" altLang="en-US"/>
              <a:t>，不是在右侧的主展示区域展示。</a:t>
            </a:r>
          </a:p>
          <a:p>
            <a:endParaRPr lang="zh-CN" altLang="en-US"/>
          </a:p>
          <a:p>
            <a:r>
              <a:rPr lang="zh-CN" altLang="en-US"/>
              <a:t>具体的页面内容如下： 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12274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altLang="en-US" b="0" i="0">
                <a:solidFill>
                  <a:srgbClr val="616161"/>
                </a:solidFill>
                <a:effectLst/>
                <a:latin typeface="Segoe WPC"/>
              </a:rPr>
              <a:t>你是一名前端开发工程师，现需要基于</a:t>
            </a:r>
            <a:r>
              <a:rPr lang="en-US" altLang="zh-CN" b="0" i="0">
                <a:solidFill>
                  <a:srgbClr val="616161"/>
                </a:solidFill>
                <a:effectLst/>
                <a:latin typeface="Segoe WPC"/>
              </a:rPr>
              <a:t>Vue3+ElementPlus</a:t>
            </a:r>
            <a:r>
              <a:rPr lang="zh-CN" altLang="en-US" b="0" i="0">
                <a:solidFill>
                  <a:srgbClr val="616161"/>
                </a:solidFill>
                <a:effectLst/>
                <a:latin typeface="Segoe WPC"/>
              </a:rPr>
              <a:t>，开发一个表格，具体需求如下</a:t>
            </a:r>
            <a:r>
              <a:rPr lang="en-US" altLang="zh-CN" b="0" i="0">
                <a:solidFill>
                  <a:srgbClr val="616161"/>
                </a:solidFill>
                <a:effectLst/>
                <a:latin typeface="Segoe WPC"/>
              </a:rPr>
              <a:t>:</a:t>
            </a:r>
          </a:p>
          <a:p>
            <a:pPr algn="l">
              <a:buFont typeface="+mj-lt"/>
              <a:buAutoNum type="arabicPeriod"/>
            </a:pPr>
            <a:r>
              <a:rPr lang="zh-CN" altLang="en-US" b="0" i="0">
                <a:solidFill>
                  <a:srgbClr val="616161"/>
                </a:solidFill>
                <a:effectLst/>
                <a:latin typeface="Segoe WPC"/>
              </a:rPr>
              <a:t>表格需要带边框</a:t>
            </a:r>
            <a:r>
              <a:rPr lang="en-US" altLang="zh-CN" b="0" i="0">
                <a:solidFill>
                  <a:srgbClr val="616161"/>
                </a:solidFill>
                <a:effectLst/>
                <a:latin typeface="Segoe WPC"/>
              </a:rPr>
              <a:t>, </a:t>
            </a:r>
            <a:r>
              <a:rPr lang="zh-CN" altLang="en-US" b="0" i="0">
                <a:solidFill>
                  <a:srgbClr val="616161"/>
                </a:solidFill>
                <a:effectLst/>
                <a:latin typeface="Segoe WPC"/>
              </a:rPr>
              <a:t>并且表格最后有一列操作</a:t>
            </a:r>
            <a:r>
              <a:rPr lang="en-US" altLang="zh-CN" b="0" i="0">
                <a:solidFill>
                  <a:srgbClr val="616161"/>
                </a:solidFill>
                <a:effectLst/>
                <a:latin typeface="Segoe WPC"/>
              </a:rPr>
              <a:t>, </a:t>
            </a:r>
            <a:r>
              <a:rPr lang="zh-CN" altLang="en-US" b="0" i="0">
                <a:solidFill>
                  <a:srgbClr val="616161"/>
                </a:solidFill>
                <a:effectLst/>
                <a:latin typeface="Segoe WPC"/>
              </a:rPr>
              <a:t>操作中包含</a:t>
            </a:r>
            <a:r>
              <a:rPr lang="en-US" altLang="zh-CN" b="0" i="0">
                <a:solidFill>
                  <a:srgbClr val="616161"/>
                </a:solidFill>
                <a:effectLst/>
                <a:latin typeface="Segoe WPC"/>
              </a:rPr>
              <a:t>: </a:t>
            </a:r>
            <a:r>
              <a:rPr lang="zh-CN" altLang="en-US" b="0" i="0">
                <a:solidFill>
                  <a:srgbClr val="616161"/>
                </a:solidFill>
                <a:effectLst/>
                <a:latin typeface="Segoe WPC"/>
              </a:rPr>
              <a:t>修改 </a:t>
            </a:r>
            <a:r>
              <a:rPr lang="en-US" altLang="zh-CN" b="0" i="0">
                <a:solidFill>
                  <a:srgbClr val="616161"/>
                </a:solidFill>
                <a:effectLst/>
                <a:latin typeface="Segoe WPC"/>
              </a:rPr>
              <a:t>, </a:t>
            </a:r>
            <a:r>
              <a:rPr lang="zh-CN" altLang="en-US" b="0" i="0">
                <a:solidFill>
                  <a:srgbClr val="616161"/>
                </a:solidFill>
                <a:effectLst/>
                <a:latin typeface="Segoe WPC"/>
              </a:rPr>
              <a:t>删除 两个按钮</a:t>
            </a:r>
            <a:r>
              <a:rPr lang="en-US" altLang="zh-CN" b="0" i="0">
                <a:solidFill>
                  <a:srgbClr val="616161"/>
                </a:solidFill>
                <a:effectLst/>
                <a:latin typeface="Segoe WPC"/>
              </a:rPr>
              <a:t>.</a:t>
            </a:r>
          </a:p>
          <a:p>
            <a:pPr algn="l">
              <a:buFont typeface="+mj-lt"/>
              <a:buAutoNum type="arabicPeriod"/>
            </a:pPr>
            <a:r>
              <a:rPr lang="zh-CN" altLang="en-US" b="0" i="0">
                <a:solidFill>
                  <a:srgbClr val="616161"/>
                </a:solidFill>
                <a:effectLst/>
                <a:latin typeface="Segoe WPC"/>
              </a:rPr>
              <a:t>表格中要渲染展示的列包括</a:t>
            </a:r>
            <a:r>
              <a:rPr lang="en-US" altLang="zh-CN" b="0" i="0">
                <a:solidFill>
                  <a:srgbClr val="616161"/>
                </a:solidFill>
                <a:effectLst/>
                <a:latin typeface="Segoe WPC"/>
              </a:rPr>
              <a:t>: </a:t>
            </a:r>
            <a:r>
              <a:rPr lang="zh-CN" altLang="en-US" b="0" i="0">
                <a:solidFill>
                  <a:srgbClr val="616161"/>
                </a:solidFill>
                <a:effectLst/>
                <a:latin typeface="Segoe WPC"/>
              </a:rPr>
              <a:t>序号、部门名称、最后修改时间。 具体的</a:t>
            </a:r>
            <a:r>
              <a:rPr lang="en-US" altLang="zh-CN" b="0" i="0">
                <a:solidFill>
                  <a:srgbClr val="616161"/>
                </a:solidFill>
                <a:effectLst/>
                <a:latin typeface="Segoe WPC"/>
              </a:rPr>
              <a:t>json</a:t>
            </a:r>
            <a:r>
              <a:rPr lang="zh-CN" altLang="en-US" b="0" i="0">
                <a:solidFill>
                  <a:srgbClr val="616161"/>
                </a:solidFill>
                <a:effectLst/>
                <a:latin typeface="Segoe WPC"/>
              </a:rPr>
              <a:t>格式如下如下： </a:t>
            </a:r>
            <a:r>
              <a:rPr lang="en-US" altLang="zh-CN" b="0" i="0">
                <a:solidFill>
                  <a:srgbClr val="616161"/>
                </a:solidFill>
                <a:effectLst/>
                <a:latin typeface="Segoe WPC"/>
              </a:rPr>
              <a:t>{ "code": 1, "msg": "success", "data": [ { "id": 1, "name": "</a:t>
            </a:r>
            <a:r>
              <a:rPr lang="zh-CN" altLang="en-US" b="0" i="0">
                <a:solidFill>
                  <a:srgbClr val="616161"/>
                </a:solidFill>
                <a:effectLst/>
                <a:latin typeface="Segoe WPC"/>
              </a:rPr>
              <a:t>学工部</a:t>
            </a:r>
            <a:r>
              <a:rPr lang="en-US" altLang="zh-CN" b="0" i="0">
                <a:solidFill>
                  <a:srgbClr val="616161"/>
                </a:solidFill>
                <a:effectLst/>
                <a:latin typeface="Segoe WPC"/>
              </a:rPr>
              <a:t>", "createTime": "2022-09-01T23:06:29", "updateTime": "2022-09-01T23:06:29" }, { "id": 2, "name": "</a:t>
            </a:r>
            <a:r>
              <a:rPr lang="zh-CN" altLang="en-US" b="0" i="0">
                <a:solidFill>
                  <a:srgbClr val="616161"/>
                </a:solidFill>
                <a:effectLst/>
                <a:latin typeface="Segoe WPC"/>
              </a:rPr>
              <a:t>教研部</a:t>
            </a:r>
            <a:r>
              <a:rPr lang="en-US" altLang="zh-CN" b="0" i="0">
                <a:solidFill>
                  <a:srgbClr val="616161"/>
                </a:solidFill>
                <a:effectLst/>
                <a:latin typeface="Segoe WPC"/>
              </a:rPr>
              <a:t>", "createTime": "2022-09-01T23:06:29", "updateTime": "2022-09-01T23:06:29" } ] }</a:t>
            </a: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36198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CED916A-3E34-4B9E-8F9F-7A8921A30F9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76197" y="956241"/>
            <a:ext cx="11060481" cy="533182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单击此处编辑内容</a:t>
            </a:r>
            <a:endParaRPr lang="zh-CN" altLang="en-US" dirty="0"/>
          </a:p>
        </p:txBody>
      </p:sp>
      <p:sp>
        <p:nvSpPr>
          <p:cNvPr id="8" name="标题 7">
            <a:extLst>
              <a:ext uri="{FF2B5EF4-FFF2-40B4-BE49-F238E27FC236}">
                <a16:creationId xmlns:a16="http://schemas.microsoft.com/office/drawing/2014/main" id="{E0BD5DE7-58FF-A736-CEC2-C49FBA546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196" y="336399"/>
            <a:ext cx="10747497" cy="474415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7" name="椭圆 46">
            <a:extLst>
              <a:ext uri="{FF2B5EF4-FFF2-40B4-BE49-F238E27FC236}">
                <a16:creationId xmlns:a16="http://schemas.microsoft.com/office/drawing/2014/main" id="{2828A69B-715F-4EF1-58FB-A763C01CE99E}"/>
              </a:ext>
            </a:extLst>
          </p:cNvPr>
          <p:cNvSpPr/>
          <p:nvPr userDrawn="1"/>
        </p:nvSpPr>
        <p:spPr>
          <a:xfrm>
            <a:off x="221806" y="190972"/>
            <a:ext cx="144104" cy="14410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椭圆 47">
            <a:extLst>
              <a:ext uri="{FF2B5EF4-FFF2-40B4-BE49-F238E27FC236}">
                <a16:creationId xmlns:a16="http://schemas.microsoft.com/office/drawing/2014/main" id="{D09C51A0-F849-48A7-BC23-68B1480BCFBA}"/>
              </a:ext>
            </a:extLst>
          </p:cNvPr>
          <p:cNvSpPr/>
          <p:nvPr userDrawn="1"/>
        </p:nvSpPr>
        <p:spPr>
          <a:xfrm>
            <a:off x="293858" y="224694"/>
            <a:ext cx="220764" cy="22076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3742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7">
            <a:extLst>
              <a:ext uri="{FF2B5EF4-FFF2-40B4-BE49-F238E27FC236}">
                <a16:creationId xmlns:a16="http://schemas.microsoft.com/office/drawing/2014/main" id="{FCDA8ECA-5550-1579-68CA-CC29E9FAE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626" y="335203"/>
            <a:ext cx="10737020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id="{0F420230-886B-D4D3-2B3C-23A24A3C217F}"/>
              </a:ext>
            </a:extLst>
          </p:cNvPr>
          <p:cNvSpPr/>
          <p:nvPr userDrawn="1"/>
        </p:nvSpPr>
        <p:spPr>
          <a:xfrm>
            <a:off x="221806" y="190972"/>
            <a:ext cx="144104" cy="14410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0C47F643-5264-44DA-EC51-A1FD97EB2FDA}"/>
              </a:ext>
            </a:extLst>
          </p:cNvPr>
          <p:cNvSpPr/>
          <p:nvPr userDrawn="1"/>
        </p:nvSpPr>
        <p:spPr>
          <a:xfrm>
            <a:off x="293858" y="224694"/>
            <a:ext cx="220764" cy="22076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7642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无标题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37122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椭圆 26">
            <a:extLst>
              <a:ext uri="{FF2B5EF4-FFF2-40B4-BE49-F238E27FC236}">
                <a16:creationId xmlns:a16="http://schemas.microsoft.com/office/drawing/2014/main" id="{CE1A1E8E-5BFA-290B-CE2D-C63161DD862D}"/>
              </a:ext>
            </a:extLst>
          </p:cNvPr>
          <p:cNvSpPr/>
          <p:nvPr userDrawn="1"/>
        </p:nvSpPr>
        <p:spPr>
          <a:xfrm>
            <a:off x="410285" y="263623"/>
            <a:ext cx="201682" cy="20168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7">
            <a:extLst>
              <a:ext uri="{FF2B5EF4-FFF2-40B4-BE49-F238E27FC236}">
                <a16:creationId xmlns:a16="http://schemas.microsoft.com/office/drawing/2014/main" id="{28157308-7332-F855-6CD5-8994EF913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098" y="316670"/>
            <a:ext cx="9735968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14" name="图形 13">
            <a:extLst>
              <a:ext uri="{FF2B5EF4-FFF2-40B4-BE49-F238E27FC236}">
                <a16:creationId xmlns:a16="http://schemas.microsoft.com/office/drawing/2014/main" id="{7C282B3D-F354-6522-5657-ED6D2CE0D8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779" y="423789"/>
            <a:ext cx="201682" cy="201682"/>
          </a:xfrm>
          <a:prstGeom prst="rect">
            <a:avLst/>
          </a:prstGeom>
        </p:spPr>
      </p:pic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003B1F35-1C5E-4046-0266-04F81948A3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53099" y="1024932"/>
            <a:ext cx="9570540" cy="47805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此处</a:t>
            </a:r>
            <a:r>
              <a:rPr lang="en-US" altLang="zh-CN"/>
              <a:t>weight</a:t>
            </a:r>
            <a:r>
              <a:rPr lang="zh-CN" altLang="en-US"/>
              <a:t>案例内容，字体不可改，阿里巴巴惠普体</a:t>
            </a:r>
            <a:r>
              <a:rPr lang="en-US" altLang="zh-CN"/>
              <a:t>16</a:t>
            </a:r>
            <a:r>
              <a:rPr lang="zh-CN" altLang="en-US"/>
              <a:t>号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20A81A7A-9283-4012-AFC4-85E90FC61246}"/>
              </a:ext>
            </a:extLst>
          </p:cNvPr>
          <p:cNvGrpSpPr/>
          <p:nvPr userDrawn="1"/>
        </p:nvGrpSpPr>
        <p:grpSpPr>
          <a:xfrm>
            <a:off x="504134" y="308770"/>
            <a:ext cx="1212680" cy="453281"/>
            <a:chOff x="532462" y="1628775"/>
            <a:chExt cx="1212680" cy="45328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54670D28-3CCE-924C-0936-90894593722C}"/>
                </a:ext>
              </a:extLst>
            </p:cNvPr>
            <p:cNvSpPr/>
            <p:nvPr userDrawn="1"/>
          </p:nvSpPr>
          <p:spPr>
            <a:xfrm>
              <a:off x="695616" y="1668659"/>
              <a:ext cx="1031831" cy="373512"/>
            </a:xfrm>
            <a:prstGeom prst="roundRect">
              <a:avLst>
                <a:gd name="adj" fmla="val 15027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55B1B6FC-F79A-9918-E71A-665867D34C18}"/>
                </a:ext>
              </a:extLst>
            </p:cNvPr>
            <p:cNvSpPr/>
            <p:nvPr userDrawn="1"/>
          </p:nvSpPr>
          <p:spPr>
            <a:xfrm>
              <a:off x="532462" y="1628775"/>
              <a:ext cx="453281" cy="453281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3" name="图形 22">
              <a:extLst>
                <a:ext uri="{FF2B5EF4-FFF2-40B4-BE49-F238E27FC236}">
                  <a16:creationId xmlns:a16="http://schemas.microsoft.com/office/drawing/2014/main" id="{831BBACC-20D7-DBD1-9827-7405F38053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8261" y="1754574"/>
              <a:ext cx="201682" cy="201682"/>
            </a:xfrm>
            <a:prstGeom prst="rect">
              <a:avLst/>
            </a:prstGeom>
          </p:spPr>
        </p:pic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2206755-775B-95BA-7085-C3DF286396FF}"/>
                </a:ext>
              </a:extLst>
            </p:cNvPr>
            <p:cNvSpPr txBox="1"/>
            <p:nvPr userDrawn="1"/>
          </p:nvSpPr>
          <p:spPr>
            <a:xfrm>
              <a:off x="1000760" y="1655360"/>
              <a:ext cx="7443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0">
                  <a:solidFill>
                    <a:schemeClr val="accent1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sz="2000" b="0"/>
            </a:p>
          </p:txBody>
        </p:sp>
      </p:grpSp>
    </p:spTree>
    <p:extLst>
      <p:ext uri="{BB962C8B-B14F-4D97-AF65-F5344CB8AC3E}">
        <p14:creationId xmlns:p14="http://schemas.microsoft.com/office/powerpoint/2010/main" val="36716357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椭圆 26">
            <a:extLst>
              <a:ext uri="{FF2B5EF4-FFF2-40B4-BE49-F238E27FC236}">
                <a16:creationId xmlns:a16="http://schemas.microsoft.com/office/drawing/2014/main" id="{CE1A1E8E-5BFA-290B-CE2D-C63161DD862D}"/>
              </a:ext>
            </a:extLst>
          </p:cNvPr>
          <p:cNvSpPr/>
          <p:nvPr userDrawn="1"/>
        </p:nvSpPr>
        <p:spPr>
          <a:xfrm>
            <a:off x="410285" y="263623"/>
            <a:ext cx="201682" cy="20168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7">
            <a:extLst>
              <a:ext uri="{FF2B5EF4-FFF2-40B4-BE49-F238E27FC236}">
                <a16:creationId xmlns:a16="http://schemas.microsoft.com/office/drawing/2014/main" id="{28157308-7332-F855-6CD5-8994EF913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098" y="316670"/>
            <a:ext cx="9735968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14" name="图形 13">
            <a:extLst>
              <a:ext uri="{FF2B5EF4-FFF2-40B4-BE49-F238E27FC236}">
                <a16:creationId xmlns:a16="http://schemas.microsoft.com/office/drawing/2014/main" id="{7C282B3D-F354-6522-5657-ED6D2CE0D8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779" y="423789"/>
            <a:ext cx="201682" cy="201682"/>
          </a:xfrm>
          <a:prstGeom prst="rect">
            <a:avLst/>
          </a:prstGeom>
        </p:spPr>
      </p:pic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003B1F35-1C5E-4046-0266-04F81948A3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53099" y="1024932"/>
            <a:ext cx="9570540" cy="47805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此处</a:t>
            </a:r>
            <a:r>
              <a:rPr lang="en-US" altLang="zh-CN"/>
              <a:t>weight</a:t>
            </a:r>
            <a:r>
              <a:rPr lang="zh-CN" altLang="en-US"/>
              <a:t>案例内容，字体不可改，阿里巴巴惠普体</a:t>
            </a:r>
            <a:r>
              <a:rPr lang="en-US" altLang="zh-CN"/>
              <a:t>16</a:t>
            </a:r>
            <a:r>
              <a:rPr lang="zh-CN" altLang="en-US"/>
              <a:t>号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20A81A7A-9283-4012-AFC4-85E90FC61246}"/>
              </a:ext>
            </a:extLst>
          </p:cNvPr>
          <p:cNvGrpSpPr/>
          <p:nvPr userDrawn="1"/>
        </p:nvGrpSpPr>
        <p:grpSpPr>
          <a:xfrm>
            <a:off x="504134" y="308770"/>
            <a:ext cx="1212680" cy="453281"/>
            <a:chOff x="532462" y="1628775"/>
            <a:chExt cx="1212680" cy="45328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54670D28-3CCE-924C-0936-90894593722C}"/>
                </a:ext>
              </a:extLst>
            </p:cNvPr>
            <p:cNvSpPr/>
            <p:nvPr userDrawn="1"/>
          </p:nvSpPr>
          <p:spPr>
            <a:xfrm>
              <a:off x="695616" y="1668659"/>
              <a:ext cx="1031831" cy="373512"/>
            </a:xfrm>
            <a:prstGeom prst="roundRect">
              <a:avLst>
                <a:gd name="adj" fmla="val 15027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55B1B6FC-F79A-9918-E71A-665867D34C18}"/>
                </a:ext>
              </a:extLst>
            </p:cNvPr>
            <p:cNvSpPr/>
            <p:nvPr userDrawn="1"/>
          </p:nvSpPr>
          <p:spPr>
            <a:xfrm>
              <a:off x="532462" y="1628775"/>
              <a:ext cx="453281" cy="453281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3" name="图形 22">
              <a:extLst>
                <a:ext uri="{FF2B5EF4-FFF2-40B4-BE49-F238E27FC236}">
                  <a16:creationId xmlns:a16="http://schemas.microsoft.com/office/drawing/2014/main" id="{831BBACC-20D7-DBD1-9827-7405F38053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8261" y="1754574"/>
              <a:ext cx="201682" cy="201682"/>
            </a:xfrm>
            <a:prstGeom prst="rect">
              <a:avLst/>
            </a:prstGeom>
          </p:spPr>
        </p:pic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2206755-775B-95BA-7085-C3DF286396FF}"/>
                </a:ext>
              </a:extLst>
            </p:cNvPr>
            <p:cNvSpPr txBox="1"/>
            <p:nvPr userDrawn="1"/>
          </p:nvSpPr>
          <p:spPr>
            <a:xfrm>
              <a:off x="1000760" y="1655360"/>
              <a:ext cx="7443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0">
                  <a:solidFill>
                    <a:schemeClr val="accent1"/>
                  </a:solidFill>
                  <a:ea typeface="Alibaba PuHuiTi B" pitchFamily="18" charset="-122"/>
                </a:rPr>
                <a:t>步骤</a:t>
              </a:r>
              <a:endParaRPr lang="zh-CN" altLang="en-US" sz="2000" b="0"/>
            </a:p>
          </p:txBody>
        </p:sp>
      </p:grpSp>
    </p:spTree>
    <p:extLst>
      <p:ext uri="{BB962C8B-B14F-4D97-AF65-F5344CB8AC3E}">
        <p14:creationId xmlns:p14="http://schemas.microsoft.com/office/powerpoint/2010/main" val="1801550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椭圆 26">
            <a:extLst>
              <a:ext uri="{FF2B5EF4-FFF2-40B4-BE49-F238E27FC236}">
                <a16:creationId xmlns:a16="http://schemas.microsoft.com/office/drawing/2014/main" id="{CE1A1E8E-5BFA-290B-CE2D-C63161DD862D}"/>
              </a:ext>
            </a:extLst>
          </p:cNvPr>
          <p:cNvSpPr/>
          <p:nvPr userDrawn="1"/>
        </p:nvSpPr>
        <p:spPr>
          <a:xfrm>
            <a:off x="410285" y="263623"/>
            <a:ext cx="201682" cy="20168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7">
            <a:extLst>
              <a:ext uri="{FF2B5EF4-FFF2-40B4-BE49-F238E27FC236}">
                <a16:creationId xmlns:a16="http://schemas.microsoft.com/office/drawing/2014/main" id="{28157308-7332-F855-6CD5-8994EF913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098" y="316670"/>
            <a:ext cx="9735968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14" name="图形 13">
            <a:extLst>
              <a:ext uri="{FF2B5EF4-FFF2-40B4-BE49-F238E27FC236}">
                <a16:creationId xmlns:a16="http://schemas.microsoft.com/office/drawing/2014/main" id="{7C282B3D-F354-6522-5657-ED6D2CE0D8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779" y="423789"/>
            <a:ext cx="201682" cy="201682"/>
          </a:xfrm>
          <a:prstGeom prst="rect">
            <a:avLst/>
          </a:prstGeom>
        </p:spPr>
      </p:pic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003B1F35-1C5E-4046-0266-04F81948A3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53099" y="1024932"/>
            <a:ext cx="9570540" cy="47805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此处</a:t>
            </a:r>
            <a:r>
              <a:rPr lang="en-US" altLang="zh-CN"/>
              <a:t>weight</a:t>
            </a:r>
            <a:r>
              <a:rPr lang="zh-CN" altLang="en-US"/>
              <a:t>案例内容，字体不可改，阿里巴巴惠普体</a:t>
            </a:r>
            <a:r>
              <a:rPr lang="en-US" altLang="zh-CN"/>
              <a:t>16</a:t>
            </a:r>
            <a:r>
              <a:rPr lang="zh-CN" altLang="en-US"/>
              <a:t>号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20A81A7A-9283-4012-AFC4-85E90FC61246}"/>
              </a:ext>
            </a:extLst>
          </p:cNvPr>
          <p:cNvGrpSpPr/>
          <p:nvPr userDrawn="1"/>
        </p:nvGrpSpPr>
        <p:grpSpPr>
          <a:xfrm>
            <a:off x="504134" y="308770"/>
            <a:ext cx="1212680" cy="453281"/>
            <a:chOff x="532462" y="1628775"/>
            <a:chExt cx="1212680" cy="45328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54670D28-3CCE-924C-0936-90894593722C}"/>
                </a:ext>
              </a:extLst>
            </p:cNvPr>
            <p:cNvSpPr/>
            <p:nvPr userDrawn="1"/>
          </p:nvSpPr>
          <p:spPr>
            <a:xfrm>
              <a:off x="695616" y="1668659"/>
              <a:ext cx="1031831" cy="373512"/>
            </a:xfrm>
            <a:prstGeom prst="roundRect">
              <a:avLst>
                <a:gd name="adj" fmla="val 15027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55B1B6FC-F79A-9918-E71A-665867D34C18}"/>
                </a:ext>
              </a:extLst>
            </p:cNvPr>
            <p:cNvSpPr/>
            <p:nvPr userDrawn="1"/>
          </p:nvSpPr>
          <p:spPr>
            <a:xfrm>
              <a:off x="532462" y="1628775"/>
              <a:ext cx="453281" cy="453281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3" name="图形 22">
              <a:extLst>
                <a:ext uri="{FF2B5EF4-FFF2-40B4-BE49-F238E27FC236}">
                  <a16:creationId xmlns:a16="http://schemas.microsoft.com/office/drawing/2014/main" id="{831BBACC-20D7-DBD1-9827-7405F38053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8261" y="1754574"/>
              <a:ext cx="201682" cy="201682"/>
            </a:xfrm>
            <a:prstGeom prst="rect">
              <a:avLst/>
            </a:prstGeom>
          </p:spPr>
        </p:pic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2206755-775B-95BA-7085-C3DF286396FF}"/>
                </a:ext>
              </a:extLst>
            </p:cNvPr>
            <p:cNvSpPr txBox="1"/>
            <p:nvPr userDrawn="1"/>
          </p:nvSpPr>
          <p:spPr>
            <a:xfrm>
              <a:off x="1000760" y="1655360"/>
              <a:ext cx="7443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0">
                  <a:solidFill>
                    <a:schemeClr val="accent1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sz="2000" b="0"/>
            </a:p>
          </p:txBody>
        </p:sp>
      </p:grpSp>
    </p:spTree>
    <p:extLst>
      <p:ext uri="{BB962C8B-B14F-4D97-AF65-F5344CB8AC3E}">
        <p14:creationId xmlns:p14="http://schemas.microsoft.com/office/powerpoint/2010/main" val="3398100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椭圆 20">
            <a:extLst>
              <a:ext uri="{FF2B5EF4-FFF2-40B4-BE49-F238E27FC236}">
                <a16:creationId xmlns:a16="http://schemas.microsoft.com/office/drawing/2014/main" id="{A2C6D317-56F4-9711-5A26-95000236D36F}"/>
              </a:ext>
            </a:extLst>
          </p:cNvPr>
          <p:cNvSpPr/>
          <p:nvPr userDrawn="1"/>
        </p:nvSpPr>
        <p:spPr>
          <a:xfrm>
            <a:off x="375011" y="1961115"/>
            <a:ext cx="220344" cy="22034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9B200C4C-3F9D-867C-E497-ADCB7E43A5BB}"/>
              </a:ext>
            </a:extLst>
          </p:cNvPr>
          <p:cNvSpPr/>
          <p:nvPr userDrawn="1"/>
        </p:nvSpPr>
        <p:spPr>
          <a:xfrm>
            <a:off x="2838084" y="-2028162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4824A05E-CCAC-E012-444F-D8238FD3ABEF}"/>
              </a:ext>
            </a:extLst>
          </p:cNvPr>
          <p:cNvSpPr/>
          <p:nvPr userDrawn="1"/>
        </p:nvSpPr>
        <p:spPr>
          <a:xfrm>
            <a:off x="4568596" y="-297650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AC93AF0E-4B39-C67D-D03D-00737E937EE7}"/>
              </a:ext>
            </a:extLst>
          </p:cNvPr>
          <p:cNvSpPr/>
          <p:nvPr userDrawn="1"/>
        </p:nvSpPr>
        <p:spPr>
          <a:xfrm>
            <a:off x="6170528" y="1304282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545B57F-7D9D-4AD8-9FE4-E5267D65BB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60400" y="2220686"/>
            <a:ext cx="10858500" cy="86902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zh-CN" altLang="en-US" sz="4800" b="1" dirty="0">
                <a:solidFill>
                  <a:schemeClr val="accent1"/>
                </a:solidFill>
              </a:defRPr>
            </a:lvl1pPr>
          </a:lstStyle>
          <a:p>
            <a:pPr lvl="0" defTabSz="914354"/>
            <a:r>
              <a:rPr lang="zh-CN" altLang="en-US"/>
              <a:t>点击输入一级标题</a:t>
            </a:r>
            <a:endParaRPr lang="zh-CN" altLang="en-US" dirty="0"/>
          </a:p>
        </p:txBody>
      </p:sp>
      <p:grpSp>
        <p:nvGrpSpPr>
          <p:cNvPr id="6" name="íS1iďê">
            <a:extLst>
              <a:ext uri="{FF2B5EF4-FFF2-40B4-BE49-F238E27FC236}">
                <a16:creationId xmlns:a16="http://schemas.microsoft.com/office/drawing/2014/main" id="{4883F772-DFB6-F082-E942-F47544710FF8}"/>
              </a:ext>
            </a:extLst>
          </p:cNvPr>
          <p:cNvGrpSpPr/>
          <p:nvPr userDrawn="1"/>
        </p:nvGrpSpPr>
        <p:grpSpPr>
          <a:xfrm>
            <a:off x="7262969" y="2396723"/>
            <a:ext cx="435738" cy="435738"/>
            <a:chOff x="7101141" y="4197557"/>
            <a:chExt cx="435738" cy="435738"/>
          </a:xfrm>
        </p:grpSpPr>
        <p:sp>
          <p:nvSpPr>
            <p:cNvPr id="11" name="iS1íḓê">
              <a:extLst>
                <a:ext uri="{FF2B5EF4-FFF2-40B4-BE49-F238E27FC236}">
                  <a16:creationId xmlns:a16="http://schemas.microsoft.com/office/drawing/2014/main" id="{6F73DB22-8BD9-67FD-6EBE-B56D6BF83FC2}"/>
                </a:ext>
              </a:extLst>
            </p:cNvPr>
            <p:cNvSpPr/>
            <p:nvPr/>
          </p:nvSpPr>
          <p:spPr>
            <a:xfrm>
              <a:off x="7101141" y="4197557"/>
              <a:ext cx="435738" cy="435738"/>
            </a:xfrm>
            <a:prstGeom prst="ellipse">
              <a:avLst/>
            </a:prstGeom>
            <a:solidFill>
              <a:schemeClr val="accent1">
                <a:alpha val="3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î$ľiḓe">
              <a:extLst>
                <a:ext uri="{FF2B5EF4-FFF2-40B4-BE49-F238E27FC236}">
                  <a16:creationId xmlns:a16="http://schemas.microsoft.com/office/drawing/2014/main" id="{82339D60-0D0F-E0A8-9FEF-57B1B018D0C7}"/>
                </a:ext>
              </a:extLst>
            </p:cNvPr>
            <p:cNvSpPr/>
            <p:nvPr userDrawn="1"/>
          </p:nvSpPr>
          <p:spPr>
            <a:xfrm>
              <a:off x="7252642" y="4348192"/>
              <a:ext cx="132735" cy="13273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FC241F82-E1B0-0249-A9D6-2656A3C64CB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60400" y="3586894"/>
            <a:ext cx="4486275" cy="5635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</a:lstStyle>
          <a:p>
            <a:pPr lvl="0"/>
            <a:r>
              <a:rPr lang="zh-CN" altLang="en-US"/>
              <a:t>点击输入副标题</a:t>
            </a: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EF4E1EF7-DD7F-C77D-A571-C682C80AC047}"/>
              </a:ext>
            </a:extLst>
          </p:cNvPr>
          <p:cNvSpPr/>
          <p:nvPr userDrawn="1"/>
        </p:nvSpPr>
        <p:spPr>
          <a:xfrm>
            <a:off x="485183" y="1962438"/>
            <a:ext cx="350434" cy="35043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3C9B1B7-3BA3-1D3F-637E-1B77EAD927E4}"/>
              </a:ext>
            </a:extLst>
          </p:cNvPr>
          <p:cNvSpPr txBox="1"/>
          <p:nvPr userDrawn="1"/>
        </p:nvSpPr>
        <p:spPr>
          <a:xfrm>
            <a:off x="660399" y="6111671"/>
            <a:ext cx="80657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i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多一句没有，少一句不行，用更短的时间，教会更实用的技术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76DEFC5-AB31-715D-5481-255694BCA629}"/>
              </a:ext>
            </a:extLst>
          </p:cNvPr>
          <p:cNvSpPr/>
          <p:nvPr userDrawn="1"/>
        </p:nvSpPr>
        <p:spPr>
          <a:xfrm>
            <a:off x="720618" y="5942536"/>
            <a:ext cx="2001676" cy="63628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50000">
                <a:schemeClr val="accent1"/>
              </a:gs>
              <a:gs pos="100000">
                <a:schemeClr val="accent1">
                  <a:shade val="100000"/>
                  <a:satMod val="115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形 8">
            <a:extLst>
              <a:ext uri="{FF2B5EF4-FFF2-40B4-BE49-F238E27FC236}">
                <a16:creationId xmlns:a16="http://schemas.microsoft.com/office/drawing/2014/main" id="{EA3F6F4D-08CF-9E00-D954-69D3520E644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081" t="21237" r="10346" b="18121"/>
          <a:stretch/>
        </p:blipFill>
        <p:spPr>
          <a:xfrm>
            <a:off x="9956716" y="152244"/>
            <a:ext cx="1848051" cy="605113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61E490B8-2AEA-ACCD-9526-01BED78DEB5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564276" flipH="1" flipV="1">
            <a:off x="3592764" y="481454"/>
            <a:ext cx="9317253" cy="6210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85414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完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椭圆 35">
            <a:extLst>
              <a:ext uri="{FF2B5EF4-FFF2-40B4-BE49-F238E27FC236}">
                <a16:creationId xmlns:a16="http://schemas.microsoft.com/office/drawing/2014/main" id="{9C7E64E7-1F0A-79D2-A263-3605467F0B51}"/>
              </a:ext>
            </a:extLst>
          </p:cNvPr>
          <p:cNvSpPr/>
          <p:nvPr userDrawn="1"/>
        </p:nvSpPr>
        <p:spPr>
          <a:xfrm>
            <a:off x="1367628" y="-1213754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C8A0D84D-155A-2194-ED3A-5A7CB9A4B72A}"/>
              </a:ext>
            </a:extLst>
          </p:cNvPr>
          <p:cNvSpPr/>
          <p:nvPr userDrawn="1"/>
        </p:nvSpPr>
        <p:spPr>
          <a:xfrm>
            <a:off x="3098140" y="516758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0F7740DA-4F67-1648-9FE7-BA25A7F2910D}"/>
              </a:ext>
            </a:extLst>
          </p:cNvPr>
          <p:cNvSpPr/>
          <p:nvPr userDrawn="1"/>
        </p:nvSpPr>
        <p:spPr>
          <a:xfrm>
            <a:off x="4700072" y="2118690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iṩ1iḍé">
            <a:extLst>
              <a:ext uri="{FF2B5EF4-FFF2-40B4-BE49-F238E27FC236}">
                <a16:creationId xmlns:a16="http://schemas.microsoft.com/office/drawing/2014/main" id="{7F87E56D-6D24-DF28-4A8B-DD94A5588CCD}"/>
              </a:ext>
            </a:extLst>
          </p:cNvPr>
          <p:cNvSpPr/>
          <p:nvPr userDrawn="1"/>
        </p:nvSpPr>
        <p:spPr>
          <a:xfrm>
            <a:off x="0" y="2689964"/>
            <a:ext cx="12192000" cy="1478071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90000">
                <a:schemeClr val="accent1"/>
              </a:gs>
            </a:gsLst>
            <a:lin ang="0" scaled="1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57CD92EE-FE45-4CC1-22A5-2D2AFAEDCC3F}"/>
              </a:ext>
            </a:extLst>
          </p:cNvPr>
          <p:cNvGrpSpPr/>
          <p:nvPr userDrawn="1"/>
        </p:nvGrpSpPr>
        <p:grpSpPr>
          <a:xfrm>
            <a:off x="3131925" y="2916806"/>
            <a:ext cx="4953838" cy="853924"/>
            <a:chOff x="3131925" y="2844887"/>
            <a:chExt cx="4953838" cy="853924"/>
          </a:xfrm>
        </p:grpSpPr>
        <p:pic>
          <p:nvPicPr>
            <p:cNvPr id="33" name="图片 1">
              <a:extLst>
                <a:ext uri="{FF2B5EF4-FFF2-40B4-BE49-F238E27FC236}">
                  <a16:creationId xmlns:a16="http://schemas.microsoft.com/office/drawing/2014/main" id="{C64F9D38-0ED4-99F8-903A-45555ADF802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9627"/>
            <a:stretch/>
          </p:blipFill>
          <p:spPr bwMode="auto">
            <a:xfrm>
              <a:off x="3131925" y="2844887"/>
              <a:ext cx="2948463" cy="8539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C2C68E28-2375-6922-E133-284E7821B44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010382" y="3154751"/>
              <a:ext cx="0" cy="380144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AC7DE38E-8849-1998-75E8-89E432D90EBE}"/>
                </a:ext>
              </a:extLst>
            </p:cNvPr>
            <p:cNvSpPr txBox="1"/>
            <p:nvPr userDrawn="1"/>
          </p:nvSpPr>
          <p:spPr>
            <a:xfrm>
              <a:off x="6096001" y="3021658"/>
              <a:ext cx="198976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传智教育旗下</a:t>
              </a:r>
              <a:endParaRPr lang="en-US" altLang="zh-CN">
                <a:solidFill>
                  <a:schemeClr val="bg1"/>
                </a:solidFill>
                <a:latin typeface="阿里巴巴普惠体 Medium" panose="00020600040101010101" pitchFamily="18" charset="-122"/>
                <a:ea typeface="阿里巴巴普惠体 Medium" panose="00020600040101010101" pitchFamily="18" charset="-122"/>
                <a:cs typeface="阿里巴巴普惠体 Medium" panose="00020600040101010101" pitchFamily="18" charset="-122"/>
              </a:endParaRPr>
            </a:p>
            <a:p>
              <a:r>
                <a:rPr lang="zh-CN" altLang="en-US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高端</a:t>
              </a:r>
              <a:r>
                <a:rPr lang="en-US" altLang="zh-CN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IT</a:t>
              </a:r>
              <a:r>
                <a:rPr lang="zh-CN" altLang="en-US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教育品牌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970038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椭圆 18">
            <a:extLst>
              <a:ext uri="{FF2B5EF4-FFF2-40B4-BE49-F238E27FC236}">
                <a16:creationId xmlns:a16="http://schemas.microsoft.com/office/drawing/2014/main" id="{C3296A99-F5C4-3E6A-FF6E-4852C12DEE94}"/>
              </a:ext>
            </a:extLst>
          </p:cNvPr>
          <p:cNvSpPr/>
          <p:nvPr userDrawn="1"/>
        </p:nvSpPr>
        <p:spPr>
          <a:xfrm>
            <a:off x="5164772" y="3294162"/>
            <a:ext cx="409736" cy="40973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iS1íḓê">
            <a:extLst>
              <a:ext uri="{FF2B5EF4-FFF2-40B4-BE49-F238E27FC236}">
                <a16:creationId xmlns:a16="http://schemas.microsoft.com/office/drawing/2014/main" id="{2B661CB4-3CBD-5C2B-5102-A013FB7A719E}"/>
              </a:ext>
            </a:extLst>
          </p:cNvPr>
          <p:cNvSpPr/>
          <p:nvPr/>
        </p:nvSpPr>
        <p:spPr>
          <a:xfrm>
            <a:off x="4465022" y="2360164"/>
            <a:ext cx="1119534" cy="111953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latin typeface="+mj-ea"/>
              <a:ea typeface="+mj-ea"/>
            </a:endParaRP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EC6ED1A-7B72-CBE7-8DC0-8CA41549B76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14165" y="2469081"/>
            <a:ext cx="3397250" cy="9017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3600">
                <a:latin typeface="+mj-ea"/>
                <a:ea typeface="+mj-ea"/>
              </a:defRPr>
            </a:lvl1pPr>
          </a:lstStyle>
          <a:p>
            <a:pPr lvl="0"/>
            <a:r>
              <a:rPr lang="zh-CN" altLang="en-US"/>
              <a:t>章节标题</a:t>
            </a: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AF3EC600-D80B-73CA-E06E-8768FDEAA47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82323" y="2679425"/>
            <a:ext cx="884931" cy="48101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6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en-US" altLang="zh-CN"/>
              <a:t>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30298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带目录章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3">
            <a:extLst>
              <a:ext uri="{FF2B5EF4-FFF2-40B4-BE49-F238E27FC236}">
                <a16:creationId xmlns:a16="http://schemas.microsoft.com/office/drawing/2014/main" id="{3AF24492-4E99-231B-3CC0-5126876878A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15250" y="2203927"/>
            <a:ext cx="3484714" cy="668338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360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/>
              <a:t>章节标题</a:t>
            </a:r>
          </a:p>
        </p:txBody>
      </p:sp>
      <p:sp>
        <p:nvSpPr>
          <p:cNvPr id="2" name="文本占位符 25">
            <a:extLst>
              <a:ext uri="{FF2B5EF4-FFF2-40B4-BE49-F238E27FC236}">
                <a16:creationId xmlns:a16="http://schemas.microsoft.com/office/drawing/2014/main" id="{16A7C205-45D1-F79D-939F-C8FE0D7B4E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51439" y="2924827"/>
            <a:ext cx="3692525" cy="2206679"/>
          </a:xfrm>
          <a:prstGeom prst="rect">
            <a:avLst/>
          </a:prstGeom>
        </p:spPr>
        <p:txBody>
          <a:bodyPr anchor="t"/>
          <a:lstStyle>
            <a:lvl1pPr marL="342900" indent="-342900" algn="l">
              <a:lnSpc>
                <a:spcPct val="150000"/>
              </a:lnSpc>
              <a:buFont typeface="Wingdings" panose="05000000000000000000" pitchFamily="2" charset="2"/>
              <a:buChar char="u"/>
              <a:defRPr sz="1800">
                <a:solidFill>
                  <a:schemeClr val="tx1"/>
                </a:solidFill>
                <a:latin typeface="+mn-ea"/>
                <a:ea typeface="+mn-ea"/>
                <a:cs typeface="阿里巴巴普惠体 Medium" panose="00020600040101010101" pitchFamily="18" charset="-122"/>
              </a:defRPr>
            </a:lvl1pPr>
          </a:lstStyle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A26BF0C3-E78F-A831-4B61-1EB569AD1BF9}"/>
              </a:ext>
            </a:extLst>
          </p:cNvPr>
          <p:cNvSpPr/>
          <p:nvPr userDrawn="1"/>
        </p:nvSpPr>
        <p:spPr>
          <a:xfrm>
            <a:off x="5164772" y="3294162"/>
            <a:ext cx="409736" cy="40973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iS1íḓê">
            <a:extLst>
              <a:ext uri="{FF2B5EF4-FFF2-40B4-BE49-F238E27FC236}">
                <a16:creationId xmlns:a16="http://schemas.microsoft.com/office/drawing/2014/main" id="{2B661CB4-3CBD-5C2B-5102-A013FB7A719E}"/>
              </a:ext>
            </a:extLst>
          </p:cNvPr>
          <p:cNvSpPr/>
          <p:nvPr userDrawn="1"/>
        </p:nvSpPr>
        <p:spPr>
          <a:xfrm>
            <a:off x="4465022" y="2360164"/>
            <a:ext cx="1119534" cy="111953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latin typeface="+mj-ea"/>
              <a:ea typeface="+mj-ea"/>
            </a:endParaRPr>
          </a:p>
        </p:txBody>
      </p:sp>
      <p:sp>
        <p:nvSpPr>
          <p:cNvPr id="4" name="文本占位符 6">
            <a:extLst>
              <a:ext uri="{FF2B5EF4-FFF2-40B4-BE49-F238E27FC236}">
                <a16:creationId xmlns:a16="http://schemas.microsoft.com/office/drawing/2014/main" id="{4CDC7559-85E2-2FE2-201F-FE73D47864C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82323" y="2679425"/>
            <a:ext cx="884931" cy="48101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6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en-US" altLang="zh-CN"/>
              <a:t>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88675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本框 28">
            <a:extLst>
              <a:ext uri="{FF2B5EF4-FFF2-40B4-BE49-F238E27FC236}">
                <a16:creationId xmlns:a16="http://schemas.microsoft.com/office/drawing/2014/main" id="{06715BF8-0A12-5796-1551-488CA6BA7E8B}"/>
              </a:ext>
            </a:extLst>
          </p:cNvPr>
          <p:cNvSpPr txBox="1"/>
          <p:nvPr userDrawn="1"/>
        </p:nvSpPr>
        <p:spPr>
          <a:xfrm>
            <a:off x="4058865" y="2285292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800" b="1" i="0">
                <a:gradFill>
                  <a:gsLst>
                    <a:gs pos="100000">
                      <a:schemeClr val="accent1">
                        <a:alpha val="15000"/>
                      </a:schemeClr>
                    </a:gs>
                    <a:gs pos="0">
                      <a:schemeClr val="accent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CONTENT</a:t>
            </a:r>
          </a:p>
        </p:txBody>
      </p:sp>
      <p:sp>
        <p:nvSpPr>
          <p:cNvPr id="26" name="文本占位符 25">
            <a:extLst>
              <a:ext uri="{FF2B5EF4-FFF2-40B4-BE49-F238E27FC236}">
                <a16:creationId xmlns:a16="http://schemas.microsoft.com/office/drawing/2014/main" id="{6B50EE85-71F0-6A4A-F2C6-2ACBA4D8468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10600" y="1662411"/>
            <a:ext cx="3692525" cy="2631150"/>
          </a:xfrm>
          <a:prstGeom prst="rect">
            <a:avLst/>
          </a:prstGeom>
        </p:spPr>
        <p:txBody>
          <a:bodyPr anchor="ctr"/>
          <a:lstStyle>
            <a:lvl1pPr marL="342900" indent="-342900" algn="l">
              <a:lnSpc>
                <a:spcPct val="150000"/>
              </a:lnSpc>
              <a:buFont typeface="Wingdings" panose="05000000000000000000" pitchFamily="2" charset="2"/>
              <a:buChar char="u"/>
              <a:defRPr sz="1800">
                <a:solidFill>
                  <a:schemeClr val="tx1"/>
                </a:solidFill>
                <a:latin typeface="+mn-ea"/>
                <a:ea typeface="+mn-ea"/>
                <a:cs typeface="阿里巴巴普惠体 Medium" panose="00020600040101010101" pitchFamily="18" charset="-122"/>
              </a:defRPr>
            </a:lvl1pPr>
          </a:lstStyle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</p:txBody>
      </p:sp>
      <p:sp>
        <p:nvSpPr>
          <p:cNvPr id="27" name="íşľíďe">
            <a:extLst>
              <a:ext uri="{FF2B5EF4-FFF2-40B4-BE49-F238E27FC236}">
                <a16:creationId xmlns:a16="http://schemas.microsoft.com/office/drawing/2014/main" id="{32B4F824-6998-DCF1-0043-E682C565BE4E}"/>
              </a:ext>
            </a:extLst>
          </p:cNvPr>
          <p:cNvSpPr txBox="1"/>
          <p:nvPr userDrawn="1"/>
        </p:nvSpPr>
        <p:spPr>
          <a:xfrm flipH="1">
            <a:off x="4497713" y="2654820"/>
            <a:ext cx="10983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>
                <a:solidFill>
                  <a:schemeClr val="accent1"/>
                </a:solidFill>
                <a:latin typeface="+mj-ea"/>
                <a:ea typeface="+mj-ea"/>
              </a:rPr>
              <a:t>目录</a:t>
            </a:r>
            <a:endParaRPr lang="zh-CN" altLang="en-US" sz="36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6412207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CFE1FF55-183C-B00F-0654-486C51EE46F8}"/>
              </a:ext>
            </a:extLst>
          </p:cNvPr>
          <p:cNvSpPr txBox="1"/>
          <p:nvPr userDrawn="1"/>
        </p:nvSpPr>
        <p:spPr>
          <a:xfrm>
            <a:off x="542133" y="2901905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QUESTION</a:t>
            </a:r>
          </a:p>
        </p:txBody>
      </p:sp>
      <p:sp>
        <p:nvSpPr>
          <p:cNvPr id="5" name="íşľíďe">
            <a:extLst>
              <a:ext uri="{FF2B5EF4-FFF2-40B4-BE49-F238E27FC236}">
                <a16:creationId xmlns:a16="http://schemas.microsoft.com/office/drawing/2014/main" id="{15262CD2-DC49-591E-1FDE-EF5326FA20FD}"/>
              </a:ext>
            </a:extLst>
          </p:cNvPr>
          <p:cNvSpPr txBox="1"/>
          <p:nvPr userDrawn="1"/>
        </p:nvSpPr>
        <p:spPr>
          <a:xfrm flipH="1">
            <a:off x="1025447" y="3075057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思考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52236" y="1735810"/>
            <a:ext cx="6967456" cy="3378631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200000"/>
              </a:lnSpc>
              <a:buNone/>
              <a:defRPr sz="2400"/>
            </a:lvl1pPr>
          </a:lstStyle>
          <a:p>
            <a:pPr lvl="0"/>
            <a:r>
              <a:rPr lang="zh-CN" altLang="en-US"/>
              <a:t>点击输入问题标题，问题描述</a:t>
            </a:r>
          </a:p>
        </p:txBody>
      </p:sp>
    </p:spTree>
    <p:extLst>
      <p:ext uri="{BB962C8B-B14F-4D97-AF65-F5344CB8AC3E}">
        <p14:creationId xmlns:p14="http://schemas.microsoft.com/office/powerpoint/2010/main" val="38170299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13735" y="1359878"/>
            <a:ext cx="7170081" cy="3962399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点击输入小结内容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0828623-64C3-3CF5-C1AD-7CC5E8CC7C5A}"/>
              </a:ext>
            </a:extLst>
          </p:cNvPr>
          <p:cNvSpPr txBox="1"/>
          <p:nvPr userDrawn="1"/>
        </p:nvSpPr>
        <p:spPr>
          <a:xfrm>
            <a:off x="534625" y="2905780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BRIEF</a:t>
            </a:r>
          </a:p>
        </p:txBody>
      </p:sp>
      <p:sp>
        <p:nvSpPr>
          <p:cNvPr id="4" name="íşľíďe">
            <a:extLst>
              <a:ext uri="{FF2B5EF4-FFF2-40B4-BE49-F238E27FC236}">
                <a16:creationId xmlns:a16="http://schemas.microsoft.com/office/drawing/2014/main" id="{0D071958-1775-F474-3CD5-C9E1DEDF630A}"/>
              </a:ext>
            </a:extLst>
          </p:cNvPr>
          <p:cNvSpPr txBox="1"/>
          <p:nvPr userDrawn="1"/>
        </p:nvSpPr>
        <p:spPr>
          <a:xfrm flipH="1">
            <a:off x="1017939" y="3075057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小结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232269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小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13735" y="1359878"/>
            <a:ext cx="7170081" cy="3962399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点击输入小结内容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0828623-64C3-3CF5-C1AD-7CC5E8CC7C5A}"/>
              </a:ext>
            </a:extLst>
          </p:cNvPr>
          <p:cNvSpPr txBox="1"/>
          <p:nvPr userDrawn="1"/>
        </p:nvSpPr>
        <p:spPr>
          <a:xfrm>
            <a:off x="534625" y="2905780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TARGET</a:t>
            </a:r>
          </a:p>
        </p:txBody>
      </p:sp>
      <p:sp>
        <p:nvSpPr>
          <p:cNvPr id="4" name="íşľíďe">
            <a:extLst>
              <a:ext uri="{FF2B5EF4-FFF2-40B4-BE49-F238E27FC236}">
                <a16:creationId xmlns:a16="http://schemas.microsoft.com/office/drawing/2014/main" id="{0D071958-1775-F474-3CD5-C9E1DEDF630A}"/>
              </a:ext>
            </a:extLst>
          </p:cNvPr>
          <p:cNvSpPr txBox="1"/>
          <p:nvPr userDrawn="1"/>
        </p:nvSpPr>
        <p:spPr>
          <a:xfrm flipH="1">
            <a:off x="1017939" y="3075057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目标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604020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CFE1FF55-183C-B00F-0654-486C51EE46F8}"/>
              </a:ext>
            </a:extLst>
          </p:cNvPr>
          <p:cNvSpPr txBox="1"/>
          <p:nvPr userDrawn="1"/>
        </p:nvSpPr>
        <p:spPr>
          <a:xfrm>
            <a:off x="788316" y="2901905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QUESTION</a:t>
            </a:r>
          </a:p>
        </p:txBody>
      </p:sp>
      <p:sp>
        <p:nvSpPr>
          <p:cNvPr id="5" name="íşľíďe">
            <a:extLst>
              <a:ext uri="{FF2B5EF4-FFF2-40B4-BE49-F238E27FC236}">
                <a16:creationId xmlns:a16="http://schemas.microsoft.com/office/drawing/2014/main" id="{15262CD2-DC49-591E-1FDE-EF5326FA20FD}"/>
              </a:ext>
            </a:extLst>
          </p:cNvPr>
          <p:cNvSpPr txBox="1"/>
          <p:nvPr userDrawn="1"/>
        </p:nvSpPr>
        <p:spPr>
          <a:xfrm flipH="1">
            <a:off x="1271630" y="3071182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思考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52236" y="1735810"/>
            <a:ext cx="6967456" cy="3378631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200000"/>
              </a:lnSpc>
              <a:buNone/>
              <a:defRPr sz="2400"/>
            </a:lvl1pPr>
          </a:lstStyle>
          <a:p>
            <a:pPr lvl="0"/>
            <a:r>
              <a:rPr lang="zh-CN" altLang="en-US"/>
              <a:t>点击输入问题标题，问题描述</a:t>
            </a:r>
          </a:p>
        </p:txBody>
      </p:sp>
    </p:spTree>
    <p:extLst>
      <p:ext uri="{BB962C8B-B14F-4D97-AF65-F5344CB8AC3E}">
        <p14:creationId xmlns:p14="http://schemas.microsoft.com/office/powerpoint/2010/main" val="32163038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结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13735" y="1359878"/>
            <a:ext cx="7170081" cy="3962399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点击输入小结内容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0828623-64C3-3CF5-C1AD-7CC5E8CC7C5A}"/>
              </a:ext>
            </a:extLst>
          </p:cNvPr>
          <p:cNvSpPr txBox="1"/>
          <p:nvPr userDrawn="1"/>
        </p:nvSpPr>
        <p:spPr>
          <a:xfrm>
            <a:off x="757361" y="2905780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BRIEF</a:t>
            </a:r>
          </a:p>
        </p:txBody>
      </p:sp>
      <p:sp>
        <p:nvSpPr>
          <p:cNvPr id="4" name="íşľíďe">
            <a:extLst>
              <a:ext uri="{FF2B5EF4-FFF2-40B4-BE49-F238E27FC236}">
                <a16:creationId xmlns:a16="http://schemas.microsoft.com/office/drawing/2014/main" id="{0D071958-1775-F474-3CD5-C9E1DEDF630A}"/>
              </a:ext>
            </a:extLst>
          </p:cNvPr>
          <p:cNvSpPr txBox="1"/>
          <p:nvPr userDrawn="1"/>
        </p:nvSpPr>
        <p:spPr>
          <a:xfrm flipH="1">
            <a:off x="1240675" y="3075057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小结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044872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小结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13735" y="1359878"/>
            <a:ext cx="7170081" cy="3962399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点击输入小结内容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0828623-64C3-3CF5-C1AD-7CC5E8CC7C5A}"/>
              </a:ext>
            </a:extLst>
          </p:cNvPr>
          <p:cNvSpPr txBox="1"/>
          <p:nvPr userDrawn="1"/>
        </p:nvSpPr>
        <p:spPr>
          <a:xfrm>
            <a:off x="757361" y="2905780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TARGET</a:t>
            </a:r>
          </a:p>
        </p:txBody>
      </p:sp>
      <p:sp>
        <p:nvSpPr>
          <p:cNvPr id="4" name="íşľíďe">
            <a:extLst>
              <a:ext uri="{FF2B5EF4-FFF2-40B4-BE49-F238E27FC236}">
                <a16:creationId xmlns:a16="http://schemas.microsoft.com/office/drawing/2014/main" id="{0D071958-1775-F474-3CD5-C9E1DEDF630A}"/>
              </a:ext>
            </a:extLst>
          </p:cNvPr>
          <p:cNvSpPr txBox="1"/>
          <p:nvPr userDrawn="1"/>
        </p:nvSpPr>
        <p:spPr>
          <a:xfrm flipH="1">
            <a:off x="1240675" y="3075057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目标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565133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sv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slideLayout" Target="../slideLayouts/slideLayout11.xml"/><Relationship Id="rId7" Type="http://schemas.openxmlformats.org/officeDocument/2006/relationships/image" Target="../media/image2.svg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.png"/><Relationship Id="rId5" Type="http://schemas.openxmlformats.org/officeDocument/2006/relationships/image" Target="../media/image7.png"/><Relationship Id="rId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4" Type="http://schemas.openxmlformats.org/officeDocument/2006/relationships/theme" Target="../theme/theme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形 1">
            <a:extLst>
              <a:ext uri="{FF2B5EF4-FFF2-40B4-BE49-F238E27FC236}">
                <a16:creationId xmlns:a16="http://schemas.microsoft.com/office/drawing/2014/main" id="{2AF40A4C-1FC6-C591-0585-7320B21E306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 l="8081" t="21237" r="10346" b="18121"/>
          <a:stretch/>
        </p:blipFill>
        <p:spPr>
          <a:xfrm>
            <a:off x="9956716" y="152244"/>
            <a:ext cx="1848051" cy="605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915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4" r:id="rId2"/>
    <p:sldLayoutId id="2147483659" r:id="rId3"/>
    <p:sldLayoutId id="2147483666" r:id="rId4"/>
    <p:sldLayoutId id="2147483677" r:id="rId5"/>
    <p:sldLayoutId id="2147483678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zh-CN" altLang="en-US"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 userDrawn="1">
          <p15:clr>
            <a:srgbClr val="F26B43"/>
          </p15:clr>
        </p15:guide>
        <p15:guide id="2" pos="7256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28" userDrawn="1">
          <p15:clr>
            <a:srgbClr val="F26B43"/>
          </p15:clr>
        </p15:guide>
        <p15:guide id="6" orient="horz" pos="3864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7950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9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六边形 63">
            <a:extLst>
              <a:ext uri="{FF2B5EF4-FFF2-40B4-BE49-F238E27FC236}">
                <a16:creationId xmlns:a16="http://schemas.microsoft.com/office/drawing/2014/main" id="{64701D48-3612-F015-7A0D-8329972945A7}"/>
              </a:ext>
            </a:extLst>
          </p:cNvPr>
          <p:cNvSpPr/>
          <p:nvPr userDrawn="1"/>
        </p:nvSpPr>
        <p:spPr>
          <a:xfrm>
            <a:off x="111531" y="3970983"/>
            <a:ext cx="414893" cy="357667"/>
          </a:xfrm>
          <a:prstGeom prst="hexagon">
            <a:avLst/>
          </a:prstGeom>
          <a:noFill/>
          <a:ln w="12700">
            <a:gradFill>
              <a:gsLst>
                <a:gs pos="0">
                  <a:schemeClr val="bg1"/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34FB0A6B-66AE-D2A8-FCAE-415D3251A19B}"/>
              </a:ext>
            </a:extLst>
          </p:cNvPr>
          <p:cNvSpPr/>
          <p:nvPr userDrawn="1"/>
        </p:nvSpPr>
        <p:spPr>
          <a:xfrm>
            <a:off x="367090" y="-1714814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38539A05-556B-81A4-0795-3B191CB53943}"/>
              </a:ext>
            </a:extLst>
          </p:cNvPr>
          <p:cNvSpPr/>
          <p:nvPr userDrawn="1"/>
        </p:nvSpPr>
        <p:spPr>
          <a:xfrm>
            <a:off x="2097602" y="15698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10CECE50-264B-8294-A89A-D0F8A1907A78}"/>
              </a:ext>
            </a:extLst>
          </p:cNvPr>
          <p:cNvSpPr/>
          <p:nvPr userDrawn="1"/>
        </p:nvSpPr>
        <p:spPr>
          <a:xfrm>
            <a:off x="3699534" y="1617630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0" name="图片 69">
            <a:extLst>
              <a:ext uri="{FF2B5EF4-FFF2-40B4-BE49-F238E27FC236}">
                <a16:creationId xmlns:a16="http://schemas.microsoft.com/office/drawing/2014/main" id="{7E174D6B-A975-223E-7D47-56F22CD52EDC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 rot="16200000">
            <a:off x="9714885" y="3956140"/>
            <a:ext cx="3017782" cy="2517866"/>
          </a:xfrm>
          <a:prstGeom prst="rect">
            <a:avLst/>
          </a:prstGeom>
        </p:spPr>
      </p:pic>
      <p:sp>
        <p:nvSpPr>
          <p:cNvPr id="71" name="矩形 70">
            <a:extLst>
              <a:ext uri="{FF2B5EF4-FFF2-40B4-BE49-F238E27FC236}">
                <a16:creationId xmlns:a16="http://schemas.microsoft.com/office/drawing/2014/main" id="{105A365F-E05A-6A26-7E77-E6094786D794}"/>
              </a:ext>
            </a:extLst>
          </p:cNvPr>
          <p:cNvSpPr/>
          <p:nvPr userDrawn="1"/>
        </p:nvSpPr>
        <p:spPr>
          <a:xfrm>
            <a:off x="9005828" y="3429000"/>
            <a:ext cx="3359650" cy="3563035"/>
          </a:xfrm>
          <a:prstGeom prst="rect">
            <a:avLst/>
          </a:prstGeom>
          <a:gradFill flip="none" rotWithShape="1">
            <a:gsLst>
              <a:gs pos="57000">
                <a:schemeClr val="bg1">
                  <a:alpha val="77000"/>
                </a:schemeClr>
              </a:gs>
              <a:gs pos="100000">
                <a:schemeClr val="bg1">
                  <a:alpha val="2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形 7">
            <a:extLst>
              <a:ext uri="{FF2B5EF4-FFF2-40B4-BE49-F238E27FC236}">
                <a16:creationId xmlns:a16="http://schemas.microsoft.com/office/drawing/2014/main" id="{D5FC8854-8C90-CD00-F013-8034EF541B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8081" t="21237" r="10346" b="18121"/>
          <a:stretch/>
        </p:blipFill>
        <p:spPr>
          <a:xfrm>
            <a:off x="9956716" y="152244"/>
            <a:ext cx="1848051" cy="605113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287C0C2E-27D7-4123-B01F-3144FCE1EF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1" r="31458"/>
          <a:stretch/>
        </p:blipFill>
        <p:spPr>
          <a:xfrm>
            <a:off x="0" y="226026"/>
            <a:ext cx="4021016" cy="5727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307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六边形 15">
            <a:extLst>
              <a:ext uri="{FF2B5EF4-FFF2-40B4-BE49-F238E27FC236}">
                <a16:creationId xmlns:a16="http://schemas.microsoft.com/office/drawing/2014/main" id="{1B81F0E8-945B-4099-5F07-E0BF1C3FBB59}"/>
              </a:ext>
            </a:extLst>
          </p:cNvPr>
          <p:cNvSpPr/>
          <p:nvPr userDrawn="1"/>
        </p:nvSpPr>
        <p:spPr>
          <a:xfrm>
            <a:off x="555427" y="4668099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六边形 16">
            <a:extLst>
              <a:ext uri="{FF2B5EF4-FFF2-40B4-BE49-F238E27FC236}">
                <a16:creationId xmlns:a16="http://schemas.microsoft.com/office/drawing/2014/main" id="{D22DB145-C6D6-05B9-DD0F-B45A661DEDD2}"/>
              </a:ext>
            </a:extLst>
          </p:cNvPr>
          <p:cNvSpPr/>
          <p:nvPr userDrawn="1"/>
        </p:nvSpPr>
        <p:spPr>
          <a:xfrm>
            <a:off x="232092" y="4846932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六边形 17">
            <a:extLst>
              <a:ext uri="{FF2B5EF4-FFF2-40B4-BE49-F238E27FC236}">
                <a16:creationId xmlns:a16="http://schemas.microsoft.com/office/drawing/2014/main" id="{78E05FA1-1830-1163-CFA5-036858DC6EA2}"/>
              </a:ext>
            </a:extLst>
          </p:cNvPr>
          <p:cNvSpPr/>
          <p:nvPr userDrawn="1"/>
        </p:nvSpPr>
        <p:spPr>
          <a:xfrm>
            <a:off x="1955455" y="5706649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六边形 18">
            <a:extLst>
              <a:ext uri="{FF2B5EF4-FFF2-40B4-BE49-F238E27FC236}">
                <a16:creationId xmlns:a16="http://schemas.microsoft.com/office/drawing/2014/main" id="{1D0E7228-5407-1A86-2892-01555374856E}"/>
              </a:ext>
            </a:extLst>
          </p:cNvPr>
          <p:cNvSpPr/>
          <p:nvPr userDrawn="1"/>
        </p:nvSpPr>
        <p:spPr>
          <a:xfrm>
            <a:off x="1627448" y="5881640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六边形 19">
            <a:extLst>
              <a:ext uri="{FF2B5EF4-FFF2-40B4-BE49-F238E27FC236}">
                <a16:creationId xmlns:a16="http://schemas.microsoft.com/office/drawing/2014/main" id="{0CF68392-9E49-E170-4987-E8A7BD1B9171}"/>
              </a:ext>
            </a:extLst>
          </p:cNvPr>
          <p:cNvSpPr/>
          <p:nvPr userDrawn="1"/>
        </p:nvSpPr>
        <p:spPr>
          <a:xfrm>
            <a:off x="1299441" y="6056631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六边形 20">
            <a:extLst>
              <a:ext uri="{FF2B5EF4-FFF2-40B4-BE49-F238E27FC236}">
                <a16:creationId xmlns:a16="http://schemas.microsoft.com/office/drawing/2014/main" id="{BA5C53E6-3097-0BFC-AE3F-DCCC9ABFCC41}"/>
              </a:ext>
            </a:extLst>
          </p:cNvPr>
          <p:cNvSpPr/>
          <p:nvPr userDrawn="1"/>
        </p:nvSpPr>
        <p:spPr>
          <a:xfrm>
            <a:off x="1627447" y="6235464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六边形 21">
            <a:extLst>
              <a:ext uri="{FF2B5EF4-FFF2-40B4-BE49-F238E27FC236}">
                <a16:creationId xmlns:a16="http://schemas.microsoft.com/office/drawing/2014/main" id="{7BB9746F-3D38-1E94-5F40-1229155F902F}"/>
              </a:ext>
            </a:extLst>
          </p:cNvPr>
          <p:cNvSpPr/>
          <p:nvPr userDrawn="1"/>
        </p:nvSpPr>
        <p:spPr>
          <a:xfrm>
            <a:off x="1955453" y="6414297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六边形 22">
            <a:extLst>
              <a:ext uri="{FF2B5EF4-FFF2-40B4-BE49-F238E27FC236}">
                <a16:creationId xmlns:a16="http://schemas.microsoft.com/office/drawing/2014/main" id="{1B13494D-DE3A-78AB-5BF5-FE26BED9B467}"/>
              </a:ext>
            </a:extLst>
          </p:cNvPr>
          <p:cNvSpPr/>
          <p:nvPr userDrawn="1"/>
        </p:nvSpPr>
        <p:spPr>
          <a:xfrm>
            <a:off x="1955452" y="6771964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六边形 23">
            <a:extLst>
              <a:ext uri="{FF2B5EF4-FFF2-40B4-BE49-F238E27FC236}">
                <a16:creationId xmlns:a16="http://schemas.microsoft.com/office/drawing/2014/main" id="{7E64BE27-8CD5-64C8-DA45-C4F450978755}"/>
              </a:ext>
            </a:extLst>
          </p:cNvPr>
          <p:cNvSpPr/>
          <p:nvPr userDrawn="1"/>
        </p:nvSpPr>
        <p:spPr>
          <a:xfrm>
            <a:off x="2339455" y="6414297"/>
            <a:ext cx="877187" cy="75619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39F1A4A4-9140-E9B3-2465-B6C6B116EA24}"/>
              </a:ext>
            </a:extLst>
          </p:cNvPr>
          <p:cNvCxnSpPr>
            <a:cxnSpLocks/>
            <a:stCxn id="17" idx="1"/>
          </p:cNvCxnSpPr>
          <p:nvPr userDrawn="1"/>
        </p:nvCxnSpPr>
        <p:spPr>
          <a:xfrm>
            <a:off x="557568" y="5204599"/>
            <a:ext cx="143106" cy="178833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D3816BB5-C9D9-3736-DBE3-5C9D49D12413}"/>
              </a:ext>
            </a:extLst>
          </p:cNvPr>
          <p:cNvCxnSpPr>
            <a:cxnSpLocks/>
          </p:cNvCxnSpPr>
          <p:nvPr userDrawn="1"/>
        </p:nvCxnSpPr>
        <p:spPr>
          <a:xfrm>
            <a:off x="700674" y="5383432"/>
            <a:ext cx="241121" cy="0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4DA4CB6C-9F6A-DE38-1CF8-7B044D099826}"/>
              </a:ext>
            </a:extLst>
          </p:cNvPr>
          <p:cNvCxnSpPr>
            <a:cxnSpLocks/>
          </p:cNvCxnSpPr>
          <p:nvPr userDrawn="1"/>
        </p:nvCxnSpPr>
        <p:spPr>
          <a:xfrm>
            <a:off x="941795" y="5383432"/>
            <a:ext cx="340356" cy="0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E7748247-1ADA-2E10-4A56-8C9F5AFFC19E}"/>
              </a:ext>
            </a:extLst>
          </p:cNvPr>
          <p:cNvCxnSpPr>
            <a:cxnSpLocks/>
          </p:cNvCxnSpPr>
          <p:nvPr userDrawn="1"/>
        </p:nvCxnSpPr>
        <p:spPr>
          <a:xfrm>
            <a:off x="1282151" y="5383432"/>
            <a:ext cx="186338" cy="235148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4EBDE2CE-D91D-FCC4-65D8-FFE3C343960A}"/>
              </a:ext>
            </a:extLst>
          </p:cNvPr>
          <p:cNvCxnSpPr>
            <a:cxnSpLocks/>
          </p:cNvCxnSpPr>
          <p:nvPr userDrawn="1"/>
        </p:nvCxnSpPr>
        <p:spPr>
          <a:xfrm flipH="1">
            <a:off x="789395" y="5385849"/>
            <a:ext cx="152400" cy="232731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FA3CEEE2-A968-7044-8F7E-49924BC5D637}"/>
              </a:ext>
            </a:extLst>
          </p:cNvPr>
          <p:cNvCxnSpPr>
            <a:cxnSpLocks/>
          </p:cNvCxnSpPr>
          <p:nvPr userDrawn="1"/>
        </p:nvCxnSpPr>
        <p:spPr>
          <a:xfrm flipH="1">
            <a:off x="1299441" y="5618580"/>
            <a:ext cx="166612" cy="268941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E0E0D50F-A487-0666-EDEC-7D96E6C96427}"/>
              </a:ext>
            </a:extLst>
          </p:cNvPr>
          <p:cNvCxnSpPr>
            <a:cxnSpLocks/>
            <a:endCxn id="20" idx="4"/>
          </p:cNvCxnSpPr>
          <p:nvPr userDrawn="1"/>
        </p:nvCxnSpPr>
        <p:spPr>
          <a:xfrm>
            <a:off x="1298551" y="5885364"/>
            <a:ext cx="90307" cy="171267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A11F5436-5727-F27B-A3D5-C50E7C74359F}"/>
              </a:ext>
            </a:extLst>
          </p:cNvPr>
          <p:cNvCxnSpPr>
            <a:cxnSpLocks/>
          </p:cNvCxnSpPr>
          <p:nvPr userDrawn="1"/>
        </p:nvCxnSpPr>
        <p:spPr>
          <a:xfrm>
            <a:off x="1666204" y="5794086"/>
            <a:ext cx="48130" cy="91278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74418B16-5C08-2DCA-1E88-267BD85D21A1}"/>
              </a:ext>
            </a:extLst>
          </p:cNvPr>
          <p:cNvCxnSpPr>
            <a:cxnSpLocks/>
          </p:cNvCxnSpPr>
          <p:nvPr userDrawn="1"/>
        </p:nvCxnSpPr>
        <p:spPr>
          <a:xfrm flipH="1">
            <a:off x="1666204" y="6593130"/>
            <a:ext cx="49118" cy="84228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3632BA59-A547-A328-DF46-1D52B8D1655E}"/>
              </a:ext>
            </a:extLst>
          </p:cNvPr>
          <p:cNvCxnSpPr>
            <a:cxnSpLocks/>
          </p:cNvCxnSpPr>
          <p:nvPr userDrawn="1"/>
        </p:nvCxnSpPr>
        <p:spPr>
          <a:xfrm flipH="1">
            <a:off x="1343704" y="6414297"/>
            <a:ext cx="49118" cy="84228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六边形 49">
            <a:extLst>
              <a:ext uri="{FF2B5EF4-FFF2-40B4-BE49-F238E27FC236}">
                <a16:creationId xmlns:a16="http://schemas.microsoft.com/office/drawing/2014/main" id="{04BF8CAF-E445-183A-C65E-1829BB22BC8B}"/>
              </a:ext>
            </a:extLst>
          </p:cNvPr>
          <p:cNvSpPr/>
          <p:nvPr userDrawn="1"/>
        </p:nvSpPr>
        <p:spPr>
          <a:xfrm>
            <a:off x="974992" y="382040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六边形 50">
            <a:extLst>
              <a:ext uri="{FF2B5EF4-FFF2-40B4-BE49-F238E27FC236}">
                <a16:creationId xmlns:a16="http://schemas.microsoft.com/office/drawing/2014/main" id="{F306C9B1-841C-DF4D-BC43-C866751AD001}"/>
              </a:ext>
            </a:extLst>
          </p:cNvPr>
          <p:cNvSpPr/>
          <p:nvPr userDrawn="1"/>
        </p:nvSpPr>
        <p:spPr>
          <a:xfrm>
            <a:off x="646985" y="557031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六边形 51">
            <a:extLst>
              <a:ext uri="{FF2B5EF4-FFF2-40B4-BE49-F238E27FC236}">
                <a16:creationId xmlns:a16="http://schemas.microsoft.com/office/drawing/2014/main" id="{B44FB676-9474-6E0D-E798-28692E8DD457}"/>
              </a:ext>
            </a:extLst>
          </p:cNvPr>
          <p:cNvSpPr/>
          <p:nvPr userDrawn="1"/>
        </p:nvSpPr>
        <p:spPr>
          <a:xfrm>
            <a:off x="318978" y="732022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六边形 52">
            <a:extLst>
              <a:ext uri="{FF2B5EF4-FFF2-40B4-BE49-F238E27FC236}">
                <a16:creationId xmlns:a16="http://schemas.microsoft.com/office/drawing/2014/main" id="{234CC26C-FACC-3DED-3F34-5D2FBCA21311}"/>
              </a:ext>
            </a:extLst>
          </p:cNvPr>
          <p:cNvSpPr/>
          <p:nvPr userDrawn="1"/>
        </p:nvSpPr>
        <p:spPr>
          <a:xfrm>
            <a:off x="320061" y="1085846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六边形 53">
            <a:extLst>
              <a:ext uri="{FF2B5EF4-FFF2-40B4-BE49-F238E27FC236}">
                <a16:creationId xmlns:a16="http://schemas.microsoft.com/office/drawing/2014/main" id="{27BFDA2D-5453-0AAC-FA6D-80640A23E4CE}"/>
              </a:ext>
            </a:extLst>
          </p:cNvPr>
          <p:cNvSpPr/>
          <p:nvPr userDrawn="1"/>
        </p:nvSpPr>
        <p:spPr>
          <a:xfrm>
            <a:off x="1193162" y="902636"/>
            <a:ext cx="877187" cy="75619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5" name="直接连接符 54">
            <a:extLst>
              <a:ext uri="{FF2B5EF4-FFF2-40B4-BE49-F238E27FC236}">
                <a16:creationId xmlns:a16="http://schemas.microsoft.com/office/drawing/2014/main" id="{D6E4D0E4-FCF3-BB9C-5A85-F8866579A681}"/>
              </a:ext>
            </a:extLst>
          </p:cNvPr>
          <p:cNvCxnSpPr>
            <a:cxnSpLocks/>
            <a:endCxn id="54" idx="4"/>
          </p:cNvCxnSpPr>
          <p:nvPr userDrawn="1"/>
        </p:nvCxnSpPr>
        <p:spPr>
          <a:xfrm>
            <a:off x="1286822" y="737595"/>
            <a:ext cx="95389" cy="165041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35447903-F4ED-0ED7-ACFA-0D1874C73166}"/>
              </a:ext>
            </a:extLst>
          </p:cNvPr>
          <p:cNvCxnSpPr>
            <a:cxnSpLocks/>
          </p:cNvCxnSpPr>
          <p:nvPr userDrawn="1"/>
        </p:nvCxnSpPr>
        <p:spPr>
          <a:xfrm>
            <a:off x="974992" y="900435"/>
            <a:ext cx="95389" cy="165041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>
            <a:extLst>
              <a:ext uri="{FF2B5EF4-FFF2-40B4-BE49-F238E27FC236}">
                <a16:creationId xmlns:a16="http://schemas.microsoft.com/office/drawing/2014/main" id="{4B5F0C7E-934E-B416-B2C1-0ED3E1158D1B}"/>
              </a:ext>
            </a:extLst>
          </p:cNvPr>
          <p:cNvCxnSpPr>
            <a:cxnSpLocks/>
            <a:endCxn id="54" idx="5"/>
          </p:cNvCxnSpPr>
          <p:nvPr userDrawn="1"/>
        </p:nvCxnSpPr>
        <p:spPr>
          <a:xfrm flipH="1">
            <a:off x="1881300" y="902636"/>
            <a:ext cx="800116" cy="0"/>
          </a:xfrm>
          <a:prstGeom prst="line">
            <a:avLst/>
          </a:prstGeom>
          <a:ln w="19050" cap="rnd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六边形 61">
            <a:extLst>
              <a:ext uri="{FF2B5EF4-FFF2-40B4-BE49-F238E27FC236}">
                <a16:creationId xmlns:a16="http://schemas.microsoft.com/office/drawing/2014/main" id="{E92D5E4E-5463-D659-E88A-9B0E73E8F50A}"/>
              </a:ext>
            </a:extLst>
          </p:cNvPr>
          <p:cNvSpPr/>
          <p:nvPr userDrawn="1"/>
        </p:nvSpPr>
        <p:spPr>
          <a:xfrm>
            <a:off x="111531" y="3970983"/>
            <a:ext cx="414893" cy="357667"/>
          </a:xfrm>
          <a:prstGeom prst="hexagon">
            <a:avLst/>
          </a:prstGeom>
          <a:noFill/>
          <a:ln w="12700">
            <a:gradFill>
              <a:gsLst>
                <a:gs pos="0">
                  <a:schemeClr val="bg1"/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7F6DAED8-09BD-99BA-55B5-30C06550058A}"/>
              </a:ext>
            </a:extLst>
          </p:cNvPr>
          <p:cNvSpPr/>
          <p:nvPr userDrawn="1"/>
        </p:nvSpPr>
        <p:spPr>
          <a:xfrm>
            <a:off x="-13621" y="0"/>
            <a:ext cx="3359650" cy="6858000"/>
          </a:xfrm>
          <a:prstGeom prst="rect">
            <a:avLst/>
          </a:prstGeom>
          <a:gradFill flip="none" rotWithShape="1">
            <a:gsLst>
              <a:gs pos="57000">
                <a:schemeClr val="bg1">
                  <a:alpha val="77000"/>
                </a:schemeClr>
              </a:gs>
              <a:gs pos="100000">
                <a:schemeClr val="bg1">
                  <a:alpha val="2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iṩ1iḍé">
            <a:extLst>
              <a:ext uri="{FF2B5EF4-FFF2-40B4-BE49-F238E27FC236}">
                <a16:creationId xmlns:a16="http://schemas.microsoft.com/office/drawing/2014/main" id="{CC34B1B4-6FB3-BEC2-20A8-5483C6F96776}"/>
              </a:ext>
            </a:extLst>
          </p:cNvPr>
          <p:cNvSpPr/>
          <p:nvPr userDrawn="1"/>
        </p:nvSpPr>
        <p:spPr>
          <a:xfrm>
            <a:off x="0" y="2689964"/>
            <a:ext cx="3798317" cy="1478071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90000">
                <a:schemeClr val="accent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3" name="图形 2">
            <a:extLst>
              <a:ext uri="{FF2B5EF4-FFF2-40B4-BE49-F238E27FC236}">
                <a16:creationId xmlns:a16="http://schemas.microsoft.com/office/drawing/2014/main" id="{BB2F55FB-496C-E74E-1C82-4652339E01D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8081" t="21237" r="10346" b="18121"/>
          <a:stretch/>
        </p:blipFill>
        <p:spPr>
          <a:xfrm>
            <a:off x="9956716" y="152244"/>
            <a:ext cx="1848051" cy="605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33802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76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>
            <a:extLst>
              <a:ext uri="{FF2B5EF4-FFF2-40B4-BE49-F238E27FC236}">
                <a16:creationId xmlns:a16="http://schemas.microsoft.com/office/drawing/2014/main" id="{A538EF61-0CF6-2735-4654-C2F60C1B5FB3}"/>
              </a:ext>
            </a:extLst>
          </p:cNvPr>
          <p:cNvSpPr/>
          <p:nvPr userDrawn="1"/>
        </p:nvSpPr>
        <p:spPr>
          <a:xfrm>
            <a:off x="-2775487" y="-1213758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9598458E-0E6D-4FB0-21B2-2EA0673032D8}"/>
              </a:ext>
            </a:extLst>
          </p:cNvPr>
          <p:cNvSpPr/>
          <p:nvPr userDrawn="1"/>
        </p:nvSpPr>
        <p:spPr>
          <a:xfrm>
            <a:off x="-1044975" y="516754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C22B59B6-AE89-188C-D588-A8407EC0DAF4}"/>
              </a:ext>
            </a:extLst>
          </p:cNvPr>
          <p:cNvSpPr/>
          <p:nvPr userDrawn="1"/>
        </p:nvSpPr>
        <p:spPr>
          <a:xfrm>
            <a:off x="556957" y="2118686"/>
            <a:ext cx="2620620" cy="26206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7413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hyperlink" Target="https://router.vuejs.org/zh/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3.png"/><Relationship Id="rId4" Type="http://schemas.openxmlformats.org/officeDocument/2006/relationships/image" Target="../media/image2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7.svg"/><Relationship Id="rId4" Type="http://schemas.openxmlformats.org/officeDocument/2006/relationships/image" Target="../media/image36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317A4C1B-657F-7BA4-BF40-8A8DE9B6854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/>
              <a:t>Web</a:t>
            </a:r>
            <a:r>
              <a:rPr lang="zh-CN" altLang="en-US"/>
              <a:t>开发</a:t>
            </a:r>
            <a:r>
              <a:rPr lang="en-US" altLang="zh-CN"/>
              <a:t>(AI)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79755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E114D5-9D49-7225-E5E2-41EB2357CF8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/>
              <a:t>Web</a:t>
            </a:r>
            <a:r>
              <a:rPr lang="zh-CN" altLang="en-US"/>
              <a:t>前端实战</a:t>
            </a:r>
            <a:r>
              <a:rPr lang="en-US" altLang="zh-CN"/>
              <a:t>(</a:t>
            </a:r>
            <a:r>
              <a:rPr lang="zh-CN" altLang="en-US"/>
              <a:t>案例</a:t>
            </a:r>
            <a:r>
              <a:rPr lang="en-US" altLang="zh-CN"/>
              <a:t>)</a:t>
            </a:r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8966428-CCB2-BA20-6795-2C913DCE3AA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60401" y="3586894"/>
            <a:ext cx="4619812" cy="563562"/>
          </a:xfrm>
        </p:spPr>
        <p:txBody>
          <a:bodyPr/>
          <a:lstStyle/>
          <a:p>
            <a:r>
              <a:rPr lang="en-US" altLang="zh-CN" sz="2400"/>
              <a:t>Tlias</a:t>
            </a:r>
            <a:r>
              <a:rPr lang="zh-CN" altLang="en-US" sz="2400"/>
              <a:t>智能学习辅助系统</a:t>
            </a:r>
          </a:p>
        </p:txBody>
      </p:sp>
    </p:spTree>
    <p:extLst>
      <p:ext uri="{BB962C8B-B14F-4D97-AF65-F5344CB8AC3E}">
        <p14:creationId xmlns:p14="http://schemas.microsoft.com/office/powerpoint/2010/main" val="1535538698"/>
      </p:ext>
    </p:extLst>
  </p:cSld>
  <p:clrMapOvr>
    <a:masterClrMapping/>
  </p:clrMapOvr>
  <p:transition spd="med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4A9BCD-2BE1-09EC-8227-5A0453970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Tlias</a:t>
            </a:r>
            <a:r>
              <a:rPr lang="zh-CN" altLang="en-US"/>
              <a:t>智能学习辅助系统</a:t>
            </a:r>
          </a:p>
        </p:txBody>
      </p:sp>
      <p:pic>
        <p:nvPicPr>
          <p:cNvPr id="14" name="图片 13" descr="图形用户界面, 应用程序&#10;&#10;描述已自动生成">
            <a:extLst>
              <a:ext uri="{FF2B5EF4-FFF2-40B4-BE49-F238E27FC236}">
                <a16:creationId xmlns:a16="http://schemas.microsoft.com/office/drawing/2014/main" id="{2B2F2629-9382-34D3-8805-043B0C36DC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1" t="11242" r="1176"/>
          <a:stretch/>
        </p:blipFill>
        <p:spPr>
          <a:xfrm>
            <a:off x="708212" y="941817"/>
            <a:ext cx="11008659" cy="5579784"/>
          </a:xfrm>
          <a:prstGeom prst="rect">
            <a:avLst/>
          </a:prstGeom>
          <a:solidFill>
            <a:schemeClr val="tx1">
              <a:lumMod val="40000"/>
              <a:lumOff val="60000"/>
            </a:schemeClr>
          </a:solidFill>
          <a:ln>
            <a:solidFill>
              <a:schemeClr val="tx1">
                <a:lumMod val="20000"/>
                <a:lumOff val="8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177381335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4A9BCD-2BE1-09EC-8227-5A0453970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Tlias</a:t>
            </a:r>
            <a:r>
              <a:rPr lang="zh-CN" altLang="en-US"/>
              <a:t>智能学习辅助系统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AF03D80-35CA-C7A4-BAF9-A7C2FAEE61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20029" y="1377583"/>
            <a:ext cx="2349242" cy="3850438"/>
          </a:xfrm>
        </p:spPr>
        <p:txBody>
          <a:bodyPr/>
          <a:lstStyle/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6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开发</a:t>
            </a:r>
            <a:r>
              <a:rPr lang="zh-CN" altLang="en-US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模式</a:t>
            </a:r>
            <a:endParaRPr lang="en-US" altLang="zh-CN" sz="1600"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整体</a:t>
            </a:r>
            <a:r>
              <a:rPr lang="zh-CN" altLang="en-US" sz="16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布局</a:t>
            </a:r>
            <a:endParaRPr lang="en-US" altLang="zh-CN" sz="1600"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6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部门管理</a:t>
            </a:r>
            <a:endParaRPr lang="en-US" altLang="zh-CN" sz="1600"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6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员工管理</a:t>
            </a:r>
            <a:endParaRPr lang="en-US" altLang="zh-CN" sz="1600"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登录</a:t>
            </a:r>
            <a:r>
              <a:rPr lang="en-US" altLang="zh-CN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/</a:t>
            </a:r>
            <a:r>
              <a:rPr lang="zh-CN" altLang="en-US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退出</a:t>
            </a:r>
            <a:endParaRPr lang="en-US" altLang="zh-CN"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6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班级管理</a:t>
            </a:r>
            <a:r>
              <a:rPr lang="en-US" altLang="zh-CN" sz="16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</a:t>
            </a:r>
            <a:r>
              <a:rPr lang="zh-CN" altLang="en-US" sz="16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自己实现</a:t>
            </a:r>
            <a:r>
              <a:rPr lang="en-US" altLang="zh-CN" sz="16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学员管理</a:t>
            </a:r>
            <a:r>
              <a:rPr lang="en-US" altLang="zh-CN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</a:t>
            </a:r>
            <a:r>
              <a:rPr lang="zh-CN" altLang="en-US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自己实现</a:t>
            </a:r>
            <a:r>
              <a:rPr lang="en-US" altLang="zh-CN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</a:t>
            </a:r>
            <a:endParaRPr lang="zh-CN" altLang="en-US" sz="1600"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15" name="图片 14" descr="图形用户界面, 应用程序&#10;&#10;描述已自动生成">
            <a:extLst>
              <a:ext uri="{FF2B5EF4-FFF2-40B4-BE49-F238E27FC236}">
                <a16:creationId xmlns:a16="http://schemas.microsoft.com/office/drawing/2014/main" id="{9C3B2AC4-A4AB-E3A6-DADF-9711531924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1" t="11242" r="1176"/>
          <a:stretch/>
        </p:blipFill>
        <p:spPr>
          <a:xfrm>
            <a:off x="708212" y="941816"/>
            <a:ext cx="8647892" cy="4383219"/>
          </a:xfrm>
          <a:prstGeom prst="rect">
            <a:avLst/>
          </a:prstGeom>
          <a:solidFill>
            <a:schemeClr val="tx1">
              <a:lumMod val="40000"/>
              <a:lumOff val="60000"/>
            </a:schemeClr>
          </a:solidFill>
          <a:ln>
            <a:solidFill>
              <a:schemeClr val="tx1">
                <a:lumMod val="20000"/>
                <a:lumOff val="8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8277882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0F02593-A873-1CC0-0963-C1BA310D5C6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491282" y="1250033"/>
            <a:ext cx="3692525" cy="3411613"/>
          </a:xfrm>
        </p:spPr>
        <p:txBody>
          <a:bodyPr/>
          <a:lstStyle/>
          <a:p>
            <a:r>
              <a:rPr lang="zh-CN" altLang="en-US"/>
              <a:t>开发模式</a:t>
            </a:r>
            <a:endParaRPr lang="en-US" altLang="zh-CN"/>
          </a:p>
          <a:p>
            <a:r>
              <a:rPr lang="zh-CN" altLang="en-US"/>
              <a:t>整体布局</a:t>
            </a:r>
            <a:endParaRPr lang="en-US" altLang="zh-CN"/>
          </a:p>
          <a:p>
            <a:r>
              <a:rPr lang="zh-CN" altLang="en-US"/>
              <a:t>部门管理</a:t>
            </a: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92805376"/>
      </p:ext>
    </p:extLst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B24F7CB-021E-8840-FFB5-45B41FBECDA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/>
              <a:t>开发模式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130BD1B-7EDF-E0B0-B22C-3D4F6487BD3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01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95098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4A9BCD-2BE1-09EC-8227-5A0453970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前后端分离开发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AF03D80-35CA-C7A4-BAF9-A7C2FAEE61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060481" cy="474415"/>
          </a:xfrm>
        </p:spPr>
        <p:txBody>
          <a:bodyPr/>
          <a:lstStyle/>
          <a:p>
            <a:r>
              <a:rPr lang="zh-CN" altLang="en-US"/>
              <a:t>当前最为主流的开发模式：前后端分离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F7B49B99-90CF-1DD5-BB81-4405BF56A5FE}"/>
              </a:ext>
            </a:extLst>
          </p:cNvPr>
          <p:cNvGrpSpPr/>
          <p:nvPr/>
        </p:nvGrpSpPr>
        <p:grpSpPr>
          <a:xfrm>
            <a:off x="1151733" y="4536399"/>
            <a:ext cx="943010" cy="1682086"/>
            <a:chOff x="4197927" y="4879254"/>
            <a:chExt cx="943010" cy="1682086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B46B15B5-7925-8DE7-9527-18093DFF7A83}"/>
                </a:ext>
              </a:extLst>
            </p:cNvPr>
            <p:cNvSpPr/>
            <p:nvPr/>
          </p:nvSpPr>
          <p:spPr>
            <a:xfrm>
              <a:off x="4197927" y="6150491"/>
              <a:ext cx="943010" cy="410849"/>
            </a:xfrm>
            <a:prstGeom prst="roundRect">
              <a:avLst>
                <a:gd name="adj" fmla="val 5824"/>
              </a:avLst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>
                  <a:solidFill>
                    <a:schemeClr val="tx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前端开发</a:t>
              </a:r>
            </a:p>
          </p:txBody>
        </p:sp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8E184834-5E70-7528-CAD8-F783E2ADDEB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260702" y="4879254"/>
              <a:ext cx="740949" cy="1253678"/>
            </a:xfrm>
            <a:prstGeom prst="rect">
              <a:avLst/>
            </a:prstGeom>
          </p:spPr>
        </p:pic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AA60794F-F19F-BFC9-F328-763D3D6EA7C3}"/>
              </a:ext>
            </a:extLst>
          </p:cNvPr>
          <p:cNvGrpSpPr/>
          <p:nvPr/>
        </p:nvGrpSpPr>
        <p:grpSpPr>
          <a:xfrm>
            <a:off x="9972790" y="4541321"/>
            <a:ext cx="1117658" cy="1664527"/>
            <a:chOff x="6012045" y="5071568"/>
            <a:chExt cx="1117658" cy="1664527"/>
          </a:xfrm>
        </p:grpSpPr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CF40897C-DBF2-73CF-BD3F-263AA861A14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58335" y="5071568"/>
              <a:ext cx="1071368" cy="1253678"/>
            </a:xfrm>
            <a:prstGeom prst="rect">
              <a:avLst/>
            </a:prstGeom>
          </p:spPr>
        </p:pic>
        <p:sp>
          <p:nvSpPr>
            <p:cNvPr id="9" name="矩形: 圆角 8">
              <a:extLst>
                <a:ext uri="{FF2B5EF4-FFF2-40B4-BE49-F238E27FC236}">
                  <a16:creationId xmlns:a16="http://schemas.microsoft.com/office/drawing/2014/main" id="{6692F084-0837-D10F-6CD2-D638ACF02C95}"/>
                </a:ext>
              </a:extLst>
            </p:cNvPr>
            <p:cNvSpPr/>
            <p:nvPr/>
          </p:nvSpPr>
          <p:spPr>
            <a:xfrm>
              <a:off x="6012045" y="6325246"/>
              <a:ext cx="1117658" cy="410849"/>
            </a:xfrm>
            <a:prstGeom prst="roundRect">
              <a:avLst>
                <a:gd name="adj" fmla="val 5824"/>
              </a:avLst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>
                  <a:solidFill>
                    <a:schemeClr val="tx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后端开发</a:t>
              </a:r>
            </a:p>
          </p:txBody>
        </p:sp>
      </p:grpSp>
      <p:sp>
        <p:nvSpPr>
          <p:cNvPr id="10" name="流程图: 多文档 9">
            <a:extLst>
              <a:ext uri="{FF2B5EF4-FFF2-40B4-BE49-F238E27FC236}">
                <a16:creationId xmlns:a16="http://schemas.microsoft.com/office/drawing/2014/main" id="{AFAC066A-85E1-EB8B-3A18-60ADFD1D9B74}"/>
              </a:ext>
            </a:extLst>
          </p:cNvPr>
          <p:cNvSpPr/>
          <p:nvPr/>
        </p:nvSpPr>
        <p:spPr>
          <a:xfrm>
            <a:off x="5149686" y="2983624"/>
            <a:ext cx="1389888" cy="896112"/>
          </a:xfrm>
          <a:prstGeom prst="flowChartMultidocument">
            <a:avLst/>
          </a:prstGeom>
          <a:solidFill>
            <a:schemeClr val="bg1">
              <a:lumMod val="50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接口文档</a:t>
            </a:r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B1E6D40D-91EE-0DBA-4B4C-B2687A48C1C7}"/>
              </a:ext>
            </a:extLst>
          </p:cNvPr>
          <p:cNvCxnSpPr>
            <a:cxnSpLocks/>
          </p:cNvCxnSpPr>
          <p:nvPr/>
        </p:nvCxnSpPr>
        <p:spPr>
          <a:xfrm flipV="1">
            <a:off x="1748118" y="3429000"/>
            <a:ext cx="3310128" cy="1086773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9033024D-392A-7179-D216-4CF0E42F5693}"/>
              </a:ext>
            </a:extLst>
          </p:cNvPr>
          <p:cNvCxnSpPr>
            <a:cxnSpLocks/>
          </p:cNvCxnSpPr>
          <p:nvPr/>
        </p:nvCxnSpPr>
        <p:spPr>
          <a:xfrm>
            <a:off x="6631014" y="3429000"/>
            <a:ext cx="3685032" cy="1067478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12FA8247-0F8F-B3F7-98E4-2317FED8B718}"/>
              </a:ext>
            </a:extLst>
          </p:cNvPr>
          <p:cNvGrpSpPr/>
          <p:nvPr/>
        </p:nvGrpSpPr>
        <p:grpSpPr>
          <a:xfrm>
            <a:off x="3887814" y="4719573"/>
            <a:ext cx="4352544" cy="329071"/>
            <a:chOff x="3968496" y="5028495"/>
            <a:chExt cx="4352544" cy="329071"/>
          </a:xfrm>
        </p:grpSpPr>
        <p:cxnSp>
          <p:nvCxnSpPr>
            <p:cNvPr id="14" name="直接箭头连接符 13">
              <a:extLst>
                <a:ext uri="{FF2B5EF4-FFF2-40B4-BE49-F238E27FC236}">
                  <a16:creationId xmlns:a16="http://schemas.microsoft.com/office/drawing/2014/main" id="{06FCEE39-BD84-6807-3B86-C0FDD8834391}"/>
                </a:ext>
              </a:extLst>
            </p:cNvPr>
            <p:cNvCxnSpPr/>
            <p:nvPr/>
          </p:nvCxnSpPr>
          <p:spPr>
            <a:xfrm>
              <a:off x="3968496" y="5357566"/>
              <a:ext cx="4352544" cy="0"/>
            </a:xfrm>
            <a:prstGeom prst="straightConnector1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3F9AE97B-3813-C59B-128C-015EFE27F757}"/>
                </a:ext>
              </a:extLst>
            </p:cNvPr>
            <p:cNvSpPr txBox="1"/>
            <p:nvPr/>
          </p:nvSpPr>
          <p:spPr>
            <a:xfrm>
              <a:off x="5771291" y="5028495"/>
              <a:ext cx="55929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0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请求</a:t>
              </a:r>
              <a:endPara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01DFC0BD-8713-A522-EA22-C4567275B4D0}"/>
              </a:ext>
            </a:extLst>
          </p:cNvPr>
          <p:cNvGrpSpPr/>
          <p:nvPr/>
        </p:nvGrpSpPr>
        <p:grpSpPr>
          <a:xfrm>
            <a:off x="3887814" y="5420500"/>
            <a:ext cx="4352544" cy="324782"/>
            <a:chOff x="3968496" y="5729422"/>
            <a:chExt cx="4352544" cy="324782"/>
          </a:xfrm>
        </p:grpSpPr>
        <p:cxnSp>
          <p:nvCxnSpPr>
            <p:cNvPr id="17" name="直接箭头连接符 16">
              <a:extLst>
                <a:ext uri="{FF2B5EF4-FFF2-40B4-BE49-F238E27FC236}">
                  <a16:creationId xmlns:a16="http://schemas.microsoft.com/office/drawing/2014/main" id="{B36E88AC-7606-DA88-83CC-5978C0785141}"/>
                </a:ext>
              </a:extLst>
            </p:cNvPr>
            <p:cNvCxnSpPr/>
            <p:nvPr/>
          </p:nvCxnSpPr>
          <p:spPr>
            <a:xfrm>
              <a:off x="3968496" y="5729422"/>
              <a:ext cx="4352544" cy="0"/>
            </a:xfrm>
            <a:prstGeom prst="straightConnector1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C8C22B05-6211-7BEA-619F-B6CA4D5F8C35}"/>
                </a:ext>
              </a:extLst>
            </p:cNvPr>
            <p:cNvSpPr txBox="1"/>
            <p:nvPr/>
          </p:nvSpPr>
          <p:spPr>
            <a:xfrm>
              <a:off x="5765159" y="5746427"/>
              <a:ext cx="55929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0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响应</a:t>
              </a:r>
              <a:endPara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09282386-AAA5-D822-9AF6-E0D7B3217230}"/>
              </a:ext>
            </a:extLst>
          </p:cNvPr>
          <p:cNvSpPr txBox="1"/>
          <p:nvPr/>
        </p:nvSpPr>
        <p:spPr>
          <a:xfrm>
            <a:off x="8311380" y="3654962"/>
            <a:ext cx="10182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阅读</a:t>
            </a:r>
            <a:r>
              <a:rPr lang="en-US" altLang="zh-CN"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-</a:t>
            </a:r>
            <a:r>
              <a:rPr lang="zh-CN" altLang="en-US"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开发</a:t>
            </a:r>
            <a:endParaRPr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9F294E4-7C45-A4EF-DB2A-A904A59675B2}"/>
              </a:ext>
            </a:extLst>
          </p:cNvPr>
          <p:cNvSpPr txBox="1"/>
          <p:nvPr/>
        </p:nvSpPr>
        <p:spPr>
          <a:xfrm>
            <a:off x="2615389" y="3654961"/>
            <a:ext cx="10182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阅读</a:t>
            </a:r>
            <a:r>
              <a:rPr lang="en-US" altLang="zh-CN"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-</a:t>
            </a:r>
            <a:r>
              <a:rPr lang="zh-CN" altLang="en-US"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开发</a:t>
            </a:r>
            <a:endParaRPr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矩形: 对角圆角 20">
            <a:extLst>
              <a:ext uri="{FF2B5EF4-FFF2-40B4-BE49-F238E27FC236}">
                <a16:creationId xmlns:a16="http://schemas.microsoft.com/office/drawing/2014/main" id="{B718C005-C31C-09BB-7EF1-54138F67FF59}"/>
              </a:ext>
            </a:extLst>
          </p:cNvPr>
          <p:cNvSpPr/>
          <p:nvPr/>
        </p:nvSpPr>
        <p:spPr>
          <a:xfrm>
            <a:off x="5026109" y="1814509"/>
            <a:ext cx="1637042" cy="546935"/>
          </a:xfrm>
          <a:prstGeom prst="round2DiagRect">
            <a:avLst/>
          </a:prstGeom>
          <a:solidFill>
            <a:schemeClr val="bg1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原型</a:t>
            </a:r>
            <a:r>
              <a:rPr lang="en-US" altLang="zh-CN" sz="16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+</a:t>
            </a:r>
            <a:r>
              <a:rPr lang="zh-CN" altLang="en-US" sz="16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需求</a:t>
            </a:r>
          </a:p>
        </p:txBody>
      </p: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BADF2B46-0AB2-59AC-E51B-7F182AF3E1AE}"/>
              </a:ext>
            </a:extLst>
          </p:cNvPr>
          <p:cNvCxnSpPr>
            <a:cxnSpLocks/>
          </p:cNvCxnSpPr>
          <p:nvPr/>
        </p:nvCxnSpPr>
        <p:spPr>
          <a:xfrm>
            <a:off x="5844630" y="2364466"/>
            <a:ext cx="0" cy="619158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 descr="蓝色的标志&#10;&#10;描述已自动生成">
            <a:extLst>
              <a:ext uri="{FF2B5EF4-FFF2-40B4-BE49-F238E27FC236}">
                <a16:creationId xmlns:a16="http://schemas.microsoft.com/office/drawing/2014/main" id="{20314F2F-1188-75AF-26C3-83DE7CDB76B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9846" y="4614801"/>
            <a:ext cx="1483811" cy="1119843"/>
          </a:xfrm>
          <a:prstGeom prst="rect">
            <a:avLst/>
          </a:prstGeom>
        </p:spPr>
      </p:pic>
      <p:pic>
        <p:nvPicPr>
          <p:cNvPr id="33" name="图片 32">
            <a:extLst>
              <a:ext uri="{FF2B5EF4-FFF2-40B4-BE49-F238E27FC236}">
                <a16:creationId xmlns:a16="http://schemas.microsoft.com/office/drawing/2014/main" id="{6E6BD203-5F79-9296-2ACF-53475FA30E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5035" y="4611407"/>
            <a:ext cx="1483811" cy="1123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9030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9" grpId="0"/>
      <p:bldP spid="20" grpId="0"/>
      <p:bldP spid="2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4A9BCD-2BE1-09EC-8227-5A0453970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前后端分离开发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31696A6-74BA-7ED7-A0B4-DBD8D38108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5193" y="3243657"/>
            <a:ext cx="977732" cy="752551"/>
          </a:xfrm>
          <a:prstGeom prst="rect">
            <a:avLst/>
          </a:prstGeom>
        </p:spPr>
      </p:pic>
      <p:pic>
        <p:nvPicPr>
          <p:cNvPr id="5" name="图片 4" descr="蓝色的标志&#10;&#10;描述已自动生成">
            <a:extLst>
              <a:ext uri="{FF2B5EF4-FFF2-40B4-BE49-F238E27FC236}">
                <a16:creationId xmlns:a16="http://schemas.microsoft.com/office/drawing/2014/main" id="{A07A1CDE-0E2F-E306-3D48-91EA4D6053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3209" y="3245931"/>
            <a:ext cx="977732" cy="750277"/>
          </a:xfrm>
          <a:prstGeom prst="rect">
            <a:avLst/>
          </a:prstGeom>
        </p:spPr>
      </p:pic>
      <p:grpSp>
        <p:nvGrpSpPr>
          <p:cNvPr id="6" name="组合 5">
            <a:extLst>
              <a:ext uri="{FF2B5EF4-FFF2-40B4-BE49-F238E27FC236}">
                <a16:creationId xmlns:a16="http://schemas.microsoft.com/office/drawing/2014/main" id="{6D9E23F6-8FF4-EF2B-B9E3-77533863D823}"/>
              </a:ext>
            </a:extLst>
          </p:cNvPr>
          <p:cNvGrpSpPr/>
          <p:nvPr/>
        </p:nvGrpSpPr>
        <p:grpSpPr>
          <a:xfrm>
            <a:off x="2485519" y="3193402"/>
            <a:ext cx="621381" cy="1126971"/>
            <a:chOff x="4197927" y="4879254"/>
            <a:chExt cx="943010" cy="1682086"/>
          </a:xfrm>
        </p:grpSpPr>
        <p:sp>
          <p:nvSpPr>
            <p:cNvPr id="7" name="矩形: 圆角 6">
              <a:extLst>
                <a:ext uri="{FF2B5EF4-FFF2-40B4-BE49-F238E27FC236}">
                  <a16:creationId xmlns:a16="http://schemas.microsoft.com/office/drawing/2014/main" id="{334BADB7-4DBD-A4A0-6BAC-6988EF93E82D}"/>
                </a:ext>
              </a:extLst>
            </p:cNvPr>
            <p:cNvSpPr/>
            <p:nvPr/>
          </p:nvSpPr>
          <p:spPr>
            <a:xfrm>
              <a:off x="4197927" y="6150491"/>
              <a:ext cx="943010" cy="410849"/>
            </a:xfrm>
            <a:prstGeom prst="roundRect">
              <a:avLst>
                <a:gd name="adj" fmla="val 5824"/>
              </a:avLst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9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前端开发</a:t>
              </a:r>
            </a:p>
          </p:txBody>
        </p:sp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5FC29FBE-78EF-D035-E78B-BB5C351A80D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260702" y="4879254"/>
              <a:ext cx="740949" cy="1253678"/>
            </a:xfrm>
            <a:prstGeom prst="rect">
              <a:avLst/>
            </a:prstGeom>
          </p:spPr>
        </p:pic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29273432-AB6D-B22A-8E90-C22EAE953E8D}"/>
              </a:ext>
            </a:extLst>
          </p:cNvPr>
          <p:cNvGrpSpPr/>
          <p:nvPr/>
        </p:nvGrpSpPr>
        <p:grpSpPr>
          <a:xfrm>
            <a:off x="8298007" y="3196700"/>
            <a:ext cx="736462" cy="1115206"/>
            <a:chOff x="6012045" y="5071568"/>
            <a:chExt cx="1117658" cy="1664527"/>
          </a:xfrm>
        </p:grpSpPr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0EF67AB8-4CEC-CBAB-D262-2123A260B5B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058335" y="5071568"/>
              <a:ext cx="1071368" cy="1253678"/>
            </a:xfrm>
            <a:prstGeom prst="rect">
              <a:avLst/>
            </a:prstGeom>
          </p:spPr>
        </p:pic>
        <p:sp>
          <p:nvSpPr>
            <p:cNvPr id="11" name="矩形: 圆角 10">
              <a:extLst>
                <a:ext uri="{FF2B5EF4-FFF2-40B4-BE49-F238E27FC236}">
                  <a16:creationId xmlns:a16="http://schemas.microsoft.com/office/drawing/2014/main" id="{98B4D2C4-F3F7-5E01-F5BE-2FED09FF9C62}"/>
                </a:ext>
              </a:extLst>
            </p:cNvPr>
            <p:cNvSpPr/>
            <p:nvPr/>
          </p:nvSpPr>
          <p:spPr>
            <a:xfrm>
              <a:off x="6012045" y="6325246"/>
              <a:ext cx="1117658" cy="410849"/>
            </a:xfrm>
            <a:prstGeom prst="roundRect">
              <a:avLst>
                <a:gd name="adj" fmla="val 5824"/>
              </a:avLst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9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后端开发</a:t>
              </a:r>
            </a:p>
          </p:txBody>
        </p:sp>
      </p:grpSp>
      <p:sp>
        <p:nvSpPr>
          <p:cNvPr id="12" name="流程图: 多文档 11">
            <a:extLst>
              <a:ext uri="{FF2B5EF4-FFF2-40B4-BE49-F238E27FC236}">
                <a16:creationId xmlns:a16="http://schemas.microsoft.com/office/drawing/2014/main" id="{D9DFB5CD-F65F-DD14-AA9E-13AF02B690AE}"/>
              </a:ext>
            </a:extLst>
          </p:cNvPr>
          <p:cNvSpPr/>
          <p:nvPr/>
        </p:nvSpPr>
        <p:spPr>
          <a:xfrm>
            <a:off x="5119903" y="2153068"/>
            <a:ext cx="915843" cy="600381"/>
          </a:xfrm>
          <a:prstGeom prst="flowChartMultidocument">
            <a:avLst/>
          </a:prstGeom>
          <a:solidFill>
            <a:schemeClr val="bg1">
              <a:lumMod val="50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接口文档</a:t>
            </a:r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F65B7543-73D8-4210-7497-BFFE0EF05FF7}"/>
              </a:ext>
            </a:extLst>
          </p:cNvPr>
          <p:cNvCxnSpPr>
            <a:cxnSpLocks/>
          </p:cNvCxnSpPr>
          <p:nvPr/>
        </p:nvCxnSpPr>
        <p:spPr>
          <a:xfrm flipV="1">
            <a:off x="2878497" y="2451463"/>
            <a:ext cx="2181153" cy="728120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55F1B81B-FE30-2A30-33B9-8184C704466E}"/>
              </a:ext>
            </a:extLst>
          </p:cNvPr>
          <p:cNvCxnSpPr>
            <a:cxnSpLocks/>
          </p:cNvCxnSpPr>
          <p:nvPr/>
        </p:nvCxnSpPr>
        <p:spPr>
          <a:xfrm>
            <a:off x="6096000" y="2451463"/>
            <a:ext cx="2428190" cy="715193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BC547A9E-A35E-F469-AE67-F1712D220B83}"/>
              </a:ext>
            </a:extLst>
          </p:cNvPr>
          <p:cNvGrpSpPr/>
          <p:nvPr/>
        </p:nvGrpSpPr>
        <p:grpSpPr>
          <a:xfrm>
            <a:off x="4288414" y="3316126"/>
            <a:ext cx="2868036" cy="230832"/>
            <a:chOff x="3968496" y="5028495"/>
            <a:chExt cx="4352544" cy="344533"/>
          </a:xfrm>
        </p:grpSpPr>
        <p:cxnSp>
          <p:nvCxnSpPr>
            <p:cNvPr id="16" name="直接箭头连接符 15">
              <a:extLst>
                <a:ext uri="{FF2B5EF4-FFF2-40B4-BE49-F238E27FC236}">
                  <a16:creationId xmlns:a16="http://schemas.microsoft.com/office/drawing/2014/main" id="{39FCBE3B-981A-C6A0-E050-2A9A654E449E}"/>
                </a:ext>
              </a:extLst>
            </p:cNvPr>
            <p:cNvCxnSpPr/>
            <p:nvPr/>
          </p:nvCxnSpPr>
          <p:spPr>
            <a:xfrm>
              <a:off x="3968496" y="5357566"/>
              <a:ext cx="4352544" cy="0"/>
            </a:xfrm>
            <a:prstGeom prst="straightConnector1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5FBE2C37-8801-F299-2378-FC635B6B6F93}"/>
                </a:ext>
              </a:extLst>
            </p:cNvPr>
            <p:cNvSpPr txBox="1"/>
            <p:nvPr/>
          </p:nvSpPr>
          <p:spPr>
            <a:xfrm>
              <a:off x="5771292" y="5028495"/>
              <a:ext cx="716183" cy="3445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90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请求</a:t>
              </a:r>
              <a:endParaRPr lang="zh-CN" altLang="en-US" sz="9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6D4FFD31-6B5F-E68E-E9F4-B97094285EC7}"/>
              </a:ext>
            </a:extLst>
          </p:cNvPr>
          <p:cNvGrpSpPr/>
          <p:nvPr/>
        </p:nvGrpSpPr>
        <p:grpSpPr>
          <a:xfrm>
            <a:off x="4288414" y="3785736"/>
            <a:ext cx="2868036" cy="242225"/>
            <a:chOff x="3968496" y="5729422"/>
            <a:chExt cx="4352544" cy="361539"/>
          </a:xfrm>
        </p:grpSpPr>
        <p:cxnSp>
          <p:nvCxnSpPr>
            <p:cNvPr id="19" name="直接箭头连接符 18">
              <a:extLst>
                <a:ext uri="{FF2B5EF4-FFF2-40B4-BE49-F238E27FC236}">
                  <a16:creationId xmlns:a16="http://schemas.microsoft.com/office/drawing/2014/main" id="{69EA5FC5-28F2-43E4-FB80-29C745F55397}"/>
                </a:ext>
              </a:extLst>
            </p:cNvPr>
            <p:cNvCxnSpPr/>
            <p:nvPr/>
          </p:nvCxnSpPr>
          <p:spPr>
            <a:xfrm>
              <a:off x="3968496" y="5729422"/>
              <a:ext cx="4352544" cy="0"/>
            </a:xfrm>
            <a:prstGeom prst="straightConnector1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9E3F369B-7D54-2C9A-F424-8DDDFE66491A}"/>
                </a:ext>
              </a:extLst>
            </p:cNvPr>
            <p:cNvSpPr txBox="1"/>
            <p:nvPr/>
          </p:nvSpPr>
          <p:spPr>
            <a:xfrm>
              <a:off x="5765159" y="5746427"/>
              <a:ext cx="740949" cy="3445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90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响应</a:t>
              </a:r>
              <a:endParaRPr lang="zh-CN" altLang="en-US" sz="9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文本框 20">
            <a:extLst>
              <a:ext uri="{FF2B5EF4-FFF2-40B4-BE49-F238E27FC236}">
                <a16:creationId xmlns:a16="http://schemas.microsoft.com/office/drawing/2014/main" id="{47B265CE-99B9-0C36-5EF4-1A7DFD739B46}"/>
              </a:ext>
            </a:extLst>
          </p:cNvPr>
          <p:cNvSpPr txBox="1"/>
          <p:nvPr/>
        </p:nvSpPr>
        <p:spPr>
          <a:xfrm>
            <a:off x="7203249" y="2602854"/>
            <a:ext cx="78895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9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阅读</a:t>
            </a:r>
            <a:r>
              <a:rPr lang="en-US" altLang="zh-CN" sz="9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-</a:t>
            </a:r>
            <a:r>
              <a:rPr lang="zh-CN" altLang="en-US" sz="9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开发</a:t>
            </a:r>
            <a:endParaRPr lang="zh-CN" altLang="en-US" sz="9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AB7378D-1486-A96C-9E84-1AF8C99C9F1E}"/>
              </a:ext>
            </a:extLst>
          </p:cNvPr>
          <p:cNvSpPr txBox="1"/>
          <p:nvPr/>
        </p:nvSpPr>
        <p:spPr>
          <a:xfrm>
            <a:off x="3449971" y="2602853"/>
            <a:ext cx="83844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9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阅读</a:t>
            </a:r>
            <a:r>
              <a:rPr lang="en-US" altLang="zh-CN" sz="9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-</a:t>
            </a:r>
            <a:r>
              <a:rPr lang="zh-CN" altLang="en-US" sz="9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开发</a:t>
            </a:r>
            <a:endParaRPr lang="zh-CN" altLang="en-US" sz="9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矩形: 对角圆角 22">
            <a:extLst>
              <a:ext uri="{FF2B5EF4-FFF2-40B4-BE49-F238E27FC236}">
                <a16:creationId xmlns:a16="http://schemas.microsoft.com/office/drawing/2014/main" id="{C751C62F-9E74-89C8-9217-EBD1A9606453}"/>
              </a:ext>
            </a:extLst>
          </p:cNvPr>
          <p:cNvSpPr/>
          <p:nvPr/>
        </p:nvSpPr>
        <p:spPr>
          <a:xfrm>
            <a:off x="5038474" y="1369780"/>
            <a:ext cx="1078701" cy="366438"/>
          </a:xfrm>
          <a:prstGeom prst="round2DiagRect">
            <a:avLst/>
          </a:prstGeom>
          <a:solidFill>
            <a:schemeClr val="bg1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原型</a:t>
            </a:r>
            <a:r>
              <a:rPr lang="en-US" altLang="zh-CN" sz="10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+</a:t>
            </a:r>
            <a:r>
              <a:rPr lang="zh-CN" altLang="en-US" sz="10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需求</a:t>
            </a:r>
          </a:p>
        </p:txBody>
      </p: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9747A3CD-210B-F22D-A382-789170E924FF}"/>
              </a:ext>
            </a:extLst>
          </p:cNvPr>
          <p:cNvCxnSpPr>
            <a:cxnSpLocks/>
          </p:cNvCxnSpPr>
          <p:nvPr/>
        </p:nvCxnSpPr>
        <p:spPr>
          <a:xfrm>
            <a:off x="5577825" y="1738242"/>
            <a:ext cx="0" cy="414826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F3A4C468-6D5B-53EF-88B2-C5F99B457E22}"/>
              </a:ext>
            </a:extLst>
          </p:cNvPr>
          <p:cNvGrpSpPr/>
          <p:nvPr/>
        </p:nvGrpSpPr>
        <p:grpSpPr>
          <a:xfrm>
            <a:off x="870281" y="5373815"/>
            <a:ext cx="2147451" cy="613931"/>
            <a:chOff x="1069135" y="2116795"/>
            <a:chExt cx="2147451" cy="613931"/>
          </a:xfrm>
          <a:solidFill>
            <a:srgbClr val="002060"/>
          </a:solidFill>
        </p:grpSpPr>
        <p:sp>
          <p:nvSpPr>
            <p:cNvPr id="35" name="Chevron 17">
              <a:extLst>
                <a:ext uri="{FF2B5EF4-FFF2-40B4-BE49-F238E27FC236}">
                  <a16:creationId xmlns:a16="http://schemas.microsoft.com/office/drawing/2014/main" id="{36BD2FCB-12DD-9BE8-254A-25C5132A0B45}"/>
                </a:ext>
              </a:extLst>
            </p:cNvPr>
            <p:cNvSpPr/>
            <p:nvPr/>
          </p:nvSpPr>
          <p:spPr>
            <a:xfrm>
              <a:off x="1069135" y="2116795"/>
              <a:ext cx="2147451" cy="613931"/>
            </a:xfrm>
            <a:prstGeom prst="chevron">
              <a:avLst/>
            </a:prstGeom>
            <a:grpFill/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rgbClr r="0" g="0" b="0"/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 sz="1600"/>
            </a:p>
          </p:txBody>
        </p:sp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3F4A5C04-7F35-0CB6-9FB5-F2554DACD858}"/>
                </a:ext>
              </a:extLst>
            </p:cNvPr>
            <p:cNvSpPr/>
            <p:nvPr/>
          </p:nvSpPr>
          <p:spPr>
            <a:xfrm>
              <a:off x="1337740" y="2213510"/>
              <a:ext cx="1593599" cy="370743"/>
            </a:xfrm>
            <a:prstGeom prst="rect">
              <a:avLst/>
            </a:prstGeom>
            <a:noFill/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600" b="1">
                  <a:solidFill>
                    <a:schemeClr val="bg1"/>
                  </a:solidFill>
                </a:rPr>
                <a:t>需求分析</a:t>
              </a:r>
              <a:endParaRPr lang="zh-CN" altLang="en-US" sz="16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CC1377AE-2388-A42E-153D-AE2DF9CCE28D}"/>
              </a:ext>
            </a:extLst>
          </p:cNvPr>
          <p:cNvGrpSpPr/>
          <p:nvPr/>
        </p:nvGrpSpPr>
        <p:grpSpPr>
          <a:xfrm>
            <a:off x="2956865" y="5373815"/>
            <a:ext cx="2147451" cy="613931"/>
            <a:chOff x="2841577" y="5318811"/>
            <a:chExt cx="2147451" cy="613931"/>
          </a:xfrm>
        </p:grpSpPr>
        <p:sp>
          <p:nvSpPr>
            <p:cNvPr id="37" name="Chevron 17">
              <a:extLst>
                <a:ext uri="{FF2B5EF4-FFF2-40B4-BE49-F238E27FC236}">
                  <a16:creationId xmlns:a16="http://schemas.microsoft.com/office/drawing/2014/main" id="{6CD8595C-1D9D-1679-C95C-B1DB21177511}"/>
                </a:ext>
              </a:extLst>
            </p:cNvPr>
            <p:cNvSpPr/>
            <p:nvPr/>
          </p:nvSpPr>
          <p:spPr>
            <a:xfrm>
              <a:off x="2841577" y="5318811"/>
              <a:ext cx="2147451" cy="613931"/>
            </a:xfrm>
            <a:prstGeom prst="chevron">
              <a:avLst/>
            </a:prstGeom>
            <a:solidFill>
              <a:srgbClr val="002060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rgbClr r="0" g="0" b="0"/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 sz="1600"/>
            </a:p>
          </p:txBody>
        </p: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1196A69D-E32B-E0B9-9673-DDFD838849F1}"/>
                </a:ext>
              </a:extLst>
            </p:cNvPr>
            <p:cNvSpPr/>
            <p:nvPr/>
          </p:nvSpPr>
          <p:spPr>
            <a:xfrm>
              <a:off x="3110182" y="5415526"/>
              <a:ext cx="1593599" cy="370743"/>
            </a:xfrm>
            <a:prstGeom prst="rect">
              <a:avLst/>
            </a:prstGeom>
            <a:noFill/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600" b="1">
                  <a:solidFill>
                    <a:schemeClr val="bg1"/>
                  </a:solidFill>
                </a:rPr>
                <a:t>接口定义</a:t>
              </a:r>
              <a:endParaRPr lang="en-US" altLang="zh-CN" sz="1600" b="1">
                <a:solidFill>
                  <a:schemeClr val="bg1"/>
                </a:solidFill>
              </a:endParaRPr>
            </a:p>
          </p:txBody>
        </p:sp>
      </p:grpSp>
      <p:grpSp>
        <p:nvGrpSpPr>
          <p:cNvPr id="47" name="组合 46">
            <a:extLst>
              <a:ext uri="{FF2B5EF4-FFF2-40B4-BE49-F238E27FC236}">
                <a16:creationId xmlns:a16="http://schemas.microsoft.com/office/drawing/2014/main" id="{46E40FB8-CD50-2311-F114-7064D3ADE498}"/>
              </a:ext>
            </a:extLst>
          </p:cNvPr>
          <p:cNvGrpSpPr/>
          <p:nvPr/>
        </p:nvGrpSpPr>
        <p:grpSpPr>
          <a:xfrm>
            <a:off x="5043449" y="5373815"/>
            <a:ext cx="2147451" cy="613931"/>
            <a:chOff x="4928161" y="5318811"/>
            <a:chExt cx="2147451" cy="613931"/>
          </a:xfrm>
        </p:grpSpPr>
        <p:sp>
          <p:nvSpPr>
            <p:cNvPr id="39" name="Chevron 17">
              <a:extLst>
                <a:ext uri="{FF2B5EF4-FFF2-40B4-BE49-F238E27FC236}">
                  <a16:creationId xmlns:a16="http://schemas.microsoft.com/office/drawing/2014/main" id="{1E72E395-A94B-E20F-007C-A3CFCCCBEADA}"/>
                </a:ext>
              </a:extLst>
            </p:cNvPr>
            <p:cNvSpPr/>
            <p:nvPr/>
          </p:nvSpPr>
          <p:spPr>
            <a:xfrm>
              <a:off x="4928161" y="5318811"/>
              <a:ext cx="2147451" cy="613931"/>
            </a:xfrm>
            <a:prstGeom prst="chevron">
              <a:avLst/>
            </a:prstGeom>
            <a:solidFill>
              <a:srgbClr val="002060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rgbClr r="0" g="0" b="0"/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 sz="1600"/>
            </a:p>
          </p:txBody>
        </p:sp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FE7514EE-AD10-384A-3FC6-8E693BCFC443}"/>
                </a:ext>
              </a:extLst>
            </p:cNvPr>
            <p:cNvSpPr/>
            <p:nvPr/>
          </p:nvSpPr>
          <p:spPr>
            <a:xfrm>
              <a:off x="5140671" y="5415526"/>
              <a:ext cx="1817979" cy="370743"/>
            </a:xfrm>
            <a:prstGeom prst="rect">
              <a:avLst/>
            </a:prstGeom>
            <a:noFill/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600" b="1">
                  <a:solidFill>
                    <a:schemeClr val="bg1"/>
                  </a:solidFill>
                </a:rPr>
                <a:t>前后端并行开发</a:t>
              </a:r>
              <a:endParaRPr lang="zh-CN" altLang="en-US" sz="16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80361277-56A4-280E-A124-514D0D4AD1A8}"/>
              </a:ext>
            </a:extLst>
          </p:cNvPr>
          <p:cNvGrpSpPr/>
          <p:nvPr/>
        </p:nvGrpSpPr>
        <p:grpSpPr>
          <a:xfrm>
            <a:off x="7130033" y="5373815"/>
            <a:ext cx="2147451" cy="613931"/>
            <a:chOff x="7014745" y="5318811"/>
            <a:chExt cx="2147451" cy="613931"/>
          </a:xfrm>
        </p:grpSpPr>
        <p:sp>
          <p:nvSpPr>
            <p:cNvPr id="41" name="Chevron 17">
              <a:extLst>
                <a:ext uri="{FF2B5EF4-FFF2-40B4-BE49-F238E27FC236}">
                  <a16:creationId xmlns:a16="http://schemas.microsoft.com/office/drawing/2014/main" id="{6456477A-17C1-0A5F-8880-F0546C1BA04A}"/>
                </a:ext>
              </a:extLst>
            </p:cNvPr>
            <p:cNvSpPr/>
            <p:nvPr/>
          </p:nvSpPr>
          <p:spPr>
            <a:xfrm>
              <a:off x="7014745" y="5318811"/>
              <a:ext cx="2147451" cy="613931"/>
            </a:xfrm>
            <a:prstGeom prst="chevron">
              <a:avLst/>
            </a:prstGeom>
            <a:solidFill>
              <a:srgbClr val="002060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rgbClr r="0" g="0" b="0"/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 sz="1600"/>
            </a:p>
          </p:txBody>
        </p:sp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AA6947AA-30A5-1657-2355-EE02CD0789F4}"/>
                </a:ext>
              </a:extLst>
            </p:cNvPr>
            <p:cNvSpPr/>
            <p:nvPr/>
          </p:nvSpPr>
          <p:spPr>
            <a:xfrm>
              <a:off x="7261314" y="5431761"/>
              <a:ext cx="1593599" cy="370743"/>
            </a:xfrm>
            <a:prstGeom prst="rect">
              <a:avLst/>
            </a:prstGeom>
            <a:noFill/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600" b="1">
                  <a:solidFill>
                    <a:schemeClr val="bg1"/>
                  </a:solidFill>
                </a:rPr>
                <a:t>测试</a:t>
              </a:r>
              <a:endParaRPr lang="zh-CN" altLang="en-US" sz="16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08FC4A94-E339-A6D9-AFFC-1213EA4F3550}"/>
              </a:ext>
            </a:extLst>
          </p:cNvPr>
          <p:cNvGrpSpPr/>
          <p:nvPr/>
        </p:nvGrpSpPr>
        <p:grpSpPr>
          <a:xfrm>
            <a:off x="9216617" y="5373815"/>
            <a:ext cx="2147451" cy="613931"/>
            <a:chOff x="1069135" y="2116795"/>
            <a:chExt cx="2147451" cy="613931"/>
          </a:xfrm>
          <a:solidFill>
            <a:srgbClr val="002060"/>
          </a:solidFill>
        </p:grpSpPr>
        <p:sp>
          <p:nvSpPr>
            <p:cNvPr id="44" name="Chevron 17">
              <a:extLst>
                <a:ext uri="{FF2B5EF4-FFF2-40B4-BE49-F238E27FC236}">
                  <a16:creationId xmlns:a16="http://schemas.microsoft.com/office/drawing/2014/main" id="{B18CD845-39ED-F255-FFBB-0A8FA9662EE5}"/>
                </a:ext>
              </a:extLst>
            </p:cNvPr>
            <p:cNvSpPr/>
            <p:nvPr/>
          </p:nvSpPr>
          <p:spPr>
            <a:xfrm>
              <a:off x="1069135" y="2116795"/>
              <a:ext cx="2147451" cy="613931"/>
            </a:xfrm>
            <a:prstGeom prst="chevron">
              <a:avLst/>
            </a:prstGeom>
            <a:grpFill/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rgbClr r="0" g="0" b="0"/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 sz="1600"/>
            </a:p>
          </p:txBody>
        </p:sp>
        <p:sp>
          <p:nvSpPr>
            <p:cNvPr id="45" name="矩形 44">
              <a:extLst>
                <a:ext uri="{FF2B5EF4-FFF2-40B4-BE49-F238E27FC236}">
                  <a16:creationId xmlns:a16="http://schemas.microsoft.com/office/drawing/2014/main" id="{9756FE97-A79A-A0C7-45D0-DEB2E07BDF19}"/>
                </a:ext>
              </a:extLst>
            </p:cNvPr>
            <p:cNvSpPr/>
            <p:nvPr/>
          </p:nvSpPr>
          <p:spPr>
            <a:xfrm>
              <a:off x="1315704" y="2213510"/>
              <a:ext cx="1817979" cy="370743"/>
            </a:xfrm>
            <a:prstGeom prst="rect">
              <a:avLst/>
            </a:prstGeom>
            <a:noFill/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600" b="1">
                  <a:solidFill>
                    <a:schemeClr val="bg1"/>
                  </a:solidFill>
                </a:rPr>
                <a:t>前后端联调测试</a:t>
              </a:r>
              <a:endParaRPr lang="zh-CN" altLang="en-US" sz="1600" b="1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515300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82C2B6D-C8FF-B94B-7D23-ADE149FA22F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013735" y="1359878"/>
            <a:ext cx="7976102" cy="3962399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 sz="1800"/>
              <a:t>什么是前后端分离开发模式</a:t>
            </a:r>
            <a:r>
              <a:rPr lang="en-US" altLang="zh-CN" sz="1800"/>
              <a:t>?</a:t>
            </a:r>
          </a:p>
          <a:p>
            <a:pPr marL="645750" lvl="1" indent="-2857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1600"/>
              <a:t>前后端开发人员独立开发，独立部署</a:t>
            </a:r>
            <a:endParaRPr lang="en-US" altLang="zh-CN" sz="2600"/>
          </a:p>
          <a:p>
            <a:pPr marL="342900" indent="-342900">
              <a:buFont typeface="+mj-lt"/>
              <a:buAutoNum type="arabicPeriod"/>
            </a:pPr>
            <a:r>
              <a:rPr lang="zh-CN" altLang="en-US" sz="1800"/>
              <a:t>需求的开发流程</a:t>
            </a:r>
            <a:r>
              <a:rPr lang="en-US" altLang="zh-CN" sz="1800"/>
              <a:t>?</a:t>
            </a:r>
          </a:p>
          <a:p>
            <a:pPr marL="645750" lvl="1" indent="-2857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1600"/>
              <a:t>需求分析 </a:t>
            </a:r>
            <a:r>
              <a:rPr lang="en-US" altLang="zh-CN" sz="1600"/>
              <a:t>-&gt; </a:t>
            </a:r>
            <a:r>
              <a:rPr lang="zh-CN" altLang="en-US" sz="1600"/>
              <a:t>接口定义 </a:t>
            </a:r>
            <a:r>
              <a:rPr lang="en-US" altLang="zh-CN" sz="1600"/>
              <a:t>-&gt; </a:t>
            </a:r>
            <a:r>
              <a:rPr lang="zh-CN" altLang="en-US" sz="1600"/>
              <a:t>前后端并行开发</a:t>
            </a:r>
            <a:r>
              <a:rPr lang="en-US" altLang="zh-CN" sz="1600"/>
              <a:t> -&gt; </a:t>
            </a:r>
            <a:r>
              <a:rPr lang="zh-CN" altLang="en-US" sz="1600"/>
              <a:t>测试 </a:t>
            </a:r>
            <a:r>
              <a:rPr lang="en-US" altLang="zh-CN" sz="1600"/>
              <a:t>-&gt; </a:t>
            </a:r>
            <a:r>
              <a:rPr lang="zh-CN" altLang="en-US" sz="1600"/>
              <a:t>前后端联调测试</a:t>
            </a:r>
          </a:p>
        </p:txBody>
      </p:sp>
    </p:spTree>
    <p:extLst>
      <p:ext uri="{BB962C8B-B14F-4D97-AF65-F5344CB8AC3E}">
        <p14:creationId xmlns:p14="http://schemas.microsoft.com/office/powerpoint/2010/main" val="2796206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0F02593-A873-1CC0-0963-C1BA310D5C6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500247" y="1447257"/>
            <a:ext cx="3692525" cy="3097848"/>
          </a:xfrm>
        </p:spPr>
        <p:txBody>
          <a:bodyPr/>
          <a:lstStyle/>
          <a:p>
            <a:r>
              <a:rPr lang="zh-CN" altLang="en-US"/>
              <a:t>开发模式</a:t>
            </a:r>
            <a:endParaRPr lang="en-US" altLang="zh-CN"/>
          </a:p>
          <a:p>
            <a:r>
              <a:rPr lang="zh-CN" altLang="en-US">
                <a:solidFill>
                  <a:srgbClr val="C00000"/>
                </a:solidFill>
              </a:rPr>
              <a:t>整体布局</a:t>
            </a:r>
            <a:endParaRPr lang="en-US" altLang="zh-CN"/>
          </a:p>
          <a:p>
            <a:r>
              <a:rPr lang="zh-CN" altLang="en-US"/>
              <a:t>部门管理</a:t>
            </a:r>
            <a:endParaRPr lang="en-US" altLang="zh-CN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7529960-001D-1216-56FB-152178FC3FF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1E1D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F475FD9-361D-0DF8-14C9-915DE2486EC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39" t="235" r="448" b="1263"/>
          <a:stretch/>
        </p:blipFill>
        <p:spPr>
          <a:xfrm>
            <a:off x="1362636" y="782389"/>
            <a:ext cx="9783560" cy="5501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6205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424C262-2AFB-F052-0604-3667F9B364A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/>
              <a:t>整体布局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1C153FA-B51B-C882-DBBC-3E35D40F0B3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/>
              <a:t>准备工作</a:t>
            </a:r>
            <a:endParaRPr lang="en-US" altLang="zh-CN"/>
          </a:p>
          <a:p>
            <a:r>
              <a:rPr lang="zh-CN" altLang="en-US"/>
              <a:t>动态菜单</a:t>
            </a:r>
            <a:endParaRPr lang="en-US" altLang="zh-CN"/>
          </a:p>
          <a:p>
            <a:endParaRPr lang="zh-CN" altLang="en-US"/>
          </a:p>
        </p:txBody>
      </p:sp>
      <p:sp>
        <p:nvSpPr>
          <p:cNvPr id="2" name="文本占位符 1">
            <a:extLst>
              <a:ext uri="{FF2B5EF4-FFF2-40B4-BE49-F238E27FC236}">
                <a16:creationId xmlns:a16="http://schemas.microsoft.com/office/drawing/2014/main" id="{A95C11CE-5B41-0C01-96E2-DE96AEE0BE3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02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6735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4A9BCD-2BE1-09EC-8227-5A0453970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准备工作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AF03D80-35CA-C7A4-BAF9-A7C2FAEE61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060481" cy="971171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/>
              <a:t>导入资料中准备的基础工程到</a:t>
            </a:r>
            <a:r>
              <a:rPr lang="en-US" altLang="zh-CN"/>
              <a:t>VsCode</a:t>
            </a:r>
          </a:p>
          <a:p>
            <a:pPr marL="342900" indent="-342900">
              <a:buFont typeface="+mj-lt"/>
              <a:buAutoNum type="arabicPeriod"/>
            </a:pPr>
            <a:r>
              <a:rPr lang="zh-CN" altLang="en-US"/>
              <a:t>启动前端项目，访问该项目</a:t>
            </a:r>
            <a:endParaRPr lang="en-US" altLang="zh-CN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5465F0B-3EBC-893E-CB12-33ACBB6E8C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9556" y="1011930"/>
            <a:ext cx="2392887" cy="43437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A8B09105-3846-B592-DACD-C7027FC160F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2594"/>
          <a:stretch/>
        </p:blipFill>
        <p:spPr>
          <a:xfrm>
            <a:off x="1021976" y="1983101"/>
            <a:ext cx="9520517" cy="480257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826467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4A9BCD-2BE1-09EC-8227-5A0453970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页面布局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1FF6CD8-9269-ECE3-6DDB-3EF3860DA5B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6163"/>
          <a:stretch/>
        </p:blipFill>
        <p:spPr>
          <a:xfrm>
            <a:off x="703081" y="1365094"/>
            <a:ext cx="1207347" cy="3778783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4E6D10C9-E6AB-AF17-2B7D-DDB17299B3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689" y="1017398"/>
            <a:ext cx="8234728" cy="4229446"/>
          </a:xfrm>
          <a:prstGeom prst="rect">
            <a:avLst/>
          </a:prstGeom>
          <a:ln>
            <a:solidFill>
              <a:schemeClr val="tx1">
                <a:lumMod val="20000"/>
                <a:lumOff val="80000"/>
              </a:schemeClr>
            </a:solidFill>
          </a:ln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826FC42A-9714-A4D6-EFCD-AB5290F7D167}"/>
              </a:ext>
            </a:extLst>
          </p:cNvPr>
          <p:cNvSpPr/>
          <p:nvPr/>
        </p:nvSpPr>
        <p:spPr>
          <a:xfrm>
            <a:off x="688689" y="1017399"/>
            <a:ext cx="8234728" cy="283978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7784EBA-A1C4-3066-43D1-8167D5E8ADF5}"/>
              </a:ext>
            </a:extLst>
          </p:cNvPr>
          <p:cNvSpPr/>
          <p:nvPr/>
        </p:nvSpPr>
        <p:spPr>
          <a:xfrm>
            <a:off x="688689" y="1326778"/>
            <a:ext cx="1207347" cy="3920066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119941D-6868-6761-5C3D-81659E7C2EE3}"/>
              </a:ext>
            </a:extLst>
          </p:cNvPr>
          <p:cNvSpPr/>
          <p:nvPr/>
        </p:nvSpPr>
        <p:spPr>
          <a:xfrm>
            <a:off x="1924821" y="1326778"/>
            <a:ext cx="6998596" cy="3920066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0AC44DB-C548-DE38-6CA9-EE64D66F4B7D}"/>
              </a:ext>
            </a:extLst>
          </p:cNvPr>
          <p:cNvSpPr txBox="1"/>
          <p:nvPr/>
        </p:nvSpPr>
        <p:spPr>
          <a:xfrm>
            <a:off x="6561169" y="1032430"/>
            <a:ext cx="1117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100" b="1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&lt;el-header&gt;</a:t>
            </a:r>
            <a:endParaRPr lang="zh-CN" altLang="en-US" sz="1100" b="1" dirty="0">
              <a:solidFill>
                <a:srgbClr val="C00000"/>
              </a:solidFill>
              <a:latin typeface="Fira Code" panose="020B0809050000020004" pitchFamily="49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1C2A7F7-1F3B-6692-CD87-1B081B353624}"/>
              </a:ext>
            </a:extLst>
          </p:cNvPr>
          <p:cNvSpPr txBox="1"/>
          <p:nvPr/>
        </p:nvSpPr>
        <p:spPr>
          <a:xfrm>
            <a:off x="692073" y="4957144"/>
            <a:ext cx="12073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1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&lt;el-aside&gt;</a:t>
            </a:r>
            <a:endParaRPr lang="zh-CN" altLang="en-US" sz="1200" b="1" dirty="0">
              <a:solidFill>
                <a:srgbClr val="C00000"/>
              </a:solidFill>
              <a:latin typeface="Fira Code" panose="020B0809050000020004" pitchFamily="49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EE34ED2-A3CE-05B2-3375-16330557BD7B}"/>
              </a:ext>
            </a:extLst>
          </p:cNvPr>
          <p:cNvSpPr txBox="1"/>
          <p:nvPr/>
        </p:nvSpPr>
        <p:spPr>
          <a:xfrm>
            <a:off x="6561169" y="4957144"/>
            <a:ext cx="12073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1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&lt;el-main&gt;</a:t>
            </a:r>
            <a:endParaRPr lang="zh-CN" altLang="en-US" sz="1200" b="1" dirty="0">
              <a:solidFill>
                <a:srgbClr val="C00000"/>
              </a:solidFill>
              <a:latin typeface="Fira Code" panose="020B0809050000020004" pitchFamily="49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4B438D2-800D-D1FF-3795-A2772A17B303}"/>
              </a:ext>
            </a:extLst>
          </p:cNvPr>
          <p:cNvSpPr txBox="1"/>
          <p:nvPr/>
        </p:nvSpPr>
        <p:spPr>
          <a:xfrm>
            <a:off x="9072283" y="2016393"/>
            <a:ext cx="2865618" cy="2206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fontAlgn="auto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Container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布局容器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360000" lvl="1" indent="-171450" eaLnBrk="0" fontAlgn="base" hangingPunct="0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303133"/>
                </a:solidFill>
                <a:effectLst/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&lt;el-container&gt;：外层容器。 </a:t>
            </a:r>
            <a:endParaRPr lang="en-US" altLang="zh-CN" sz="1200">
              <a:solidFill>
                <a:srgbClr val="303133"/>
              </a:solidFill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360000" lvl="1" indent="-171450" eaLnBrk="0" fontAlgn="base" hangingPunct="0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303133"/>
                </a:solidFill>
                <a:effectLst/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&lt;el-header&gt;：顶栏容器。</a:t>
            </a:r>
            <a:endParaRPr kumimoji="0" lang="zh-CN" altLang="zh-CN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360000" lvl="1" indent="-171450" eaLnBrk="0" fontAlgn="base" hangingPunct="0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303133"/>
                </a:solidFill>
                <a:effectLst/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&lt;el-aside&gt;：侧边栏容器。</a:t>
            </a:r>
            <a:endParaRPr kumimoji="0" lang="zh-CN" altLang="zh-CN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360000" lvl="1" indent="-171450" eaLnBrk="0" fontAlgn="base" hangingPunct="0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303133"/>
                </a:solidFill>
                <a:effectLst/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&lt;el-main&gt;：主要区域容器。</a:t>
            </a:r>
            <a:endParaRPr kumimoji="0" lang="zh-CN" altLang="zh-CN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360000" lvl="1" indent="-171450" eaLnBrk="0" fontAlgn="base" hangingPunct="0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303133"/>
                </a:solidFill>
                <a:effectLst/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&lt;el-footer&gt;：底栏容器。</a:t>
            </a:r>
            <a:endParaRPr kumimoji="0" lang="zh-CN" altLang="zh-CN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5744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/>
      <p:bldP spid="10" grpId="0"/>
      <p:bldP spid="11" grpId="0"/>
      <p:bldP spid="1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4A9BCD-2BE1-09EC-8227-5A0453970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页面布局</a:t>
            </a:r>
            <a:r>
              <a:rPr lang="en-US" altLang="zh-CN"/>
              <a:t>-</a:t>
            </a:r>
            <a:r>
              <a:rPr lang="zh-CN" altLang="en-US"/>
              <a:t>左侧菜单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6F59B66B-D39F-03D6-E25D-C79077E8E2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2594"/>
          <a:stretch/>
        </p:blipFill>
        <p:spPr>
          <a:xfrm>
            <a:off x="681317" y="1027714"/>
            <a:ext cx="9520517" cy="480257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BFA9449B-6D7E-F442-FA81-C8450306F9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4688" y="2084199"/>
            <a:ext cx="8823321" cy="4531754"/>
          </a:xfrm>
          <a:prstGeom prst="rect">
            <a:avLst/>
          </a:prstGeom>
          <a:ln>
            <a:solidFill>
              <a:schemeClr val="tx1">
                <a:lumMod val="20000"/>
                <a:lumOff val="8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570886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2DD3C2-BA18-FEE4-F331-A314750A8E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28E4F40-579A-2993-7002-814B7D7F0C8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/>
              <a:t>整体布局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85DDD83-9447-40BE-A995-F54CCA1603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/>
              <a:t>准备工作</a:t>
            </a:r>
            <a:endParaRPr lang="en-US" altLang="zh-CN"/>
          </a:p>
          <a:p>
            <a:r>
              <a:rPr lang="zh-CN" altLang="en-US">
                <a:solidFill>
                  <a:srgbClr val="C00000"/>
                </a:solidFill>
              </a:rPr>
              <a:t>动态菜单</a:t>
            </a:r>
            <a:endParaRPr lang="en-US" altLang="zh-CN">
              <a:solidFill>
                <a:srgbClr val="C00000"/>
              </a:solidFill>
            </a:endParaRPr>
          </a:p>
          <a:p>
            <a:endParaRPr lang="zh-CN" altLang="en-US"/>
          </a:p>
        </p:txBody>
      </p:sp>
      <p:sp>
        <p:nvSpPr>
          <p:cNvPr id="2" name="文本占位符 1">
            <a:extLst>
              <a:ext uri="{FF2B5EF4-FFF2-40B4-BE49-F238E27FC236}">
                <a16:creationId xmlns:a16="http://schemas.microsoft.com/office/drawing/2014/main" id="{96F971AC-FC31-4F84-A5FD-A4DBFA16579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02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55791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4A9BCD-2BE1-09EC-8227-5A0453970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动态菜单</a:t>
            </a: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AAA983C1-0ED3-FF9F-0D95-BD062C15F0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403" y="1088320"/>
            <a:ext cx="9168746" cy="461561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F703BFE2-21B5-A298-DB5B-FFFB366F8F5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233"/>
          <a:stretch/>
        </p:blipFill>
        <p:spPr>
          <a:xfrm>
            <a:off x="780744" y="1089753"/>
            <a:ext cx="9185285" cy="462770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EF610A3A-8C5A-5CF4-0E95-561EBDE8D4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8364" y="1089753"/>
            <a:ext cx="9168746" cy="462770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26AF2D4F-F15A-59FA-7816-D40F27600E0D}"/>
              </a:ext>
            </a:extLst>
          </p:cNvPr>
          <p:cNvSpPr txBox="1"/>
          <p:nvPr/>
        </p:nvSpPr>
        <p:spPr>
          <a:xfrm>
            <a:off x="10130118" y="3429000"/>
            <a:ext cx="17235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>
                <a:solidFill>
                  <a:srgbClr val="C00000"/>
                </a:solidFill>
              </a:rPr>
              <a:t>Vue</a:t>
            </a:r>
            <a:r>
              <a:rPr lang="zh-CN" altLang="en-US" sz="2000" b="1">
                <a:solidFill>
                  <a:srgbClr val="C00000"/>
                </a:solidFill>
              </a:rPr>
              <a:t> </a:t>
            </a:r>
            <a:r>
              <a:rPr lang="en-US" altLang="zh-CN" sz="2000" b="1">
                <a:solidFill>
                  <a:srgbClr val="C00000"/>
                </a:solidFill>
              </a:rPr>
              <a:t>Router</a:t>
            </a:r>
          </a:p>
        </p:txBody>
      </p:sp>
    </p:spTree>
    <p:extLst>
      <p:ext uri="{BB962C8B-B14F-4D97-AF65-F5344CB8AC3E}">
        <p14:creationId xmlns:p14="http://schemas.microsoft.com/office/powerpoint/2010/main" val="2112377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4A9BCD-2BE1-09EC-8227-5A0453970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介绍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AF03D80-35CA-C7A4-BAF9-A7C2FAEE61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2"/>
            <a:ext cx="11463403" cy="962206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/>
              <a:t>Vue Router</a:t>
            </a:r>
            <a:r>
              <a:rPr lang="zh-CN" altLang="en-US"/>
              <a:t>：</a:t>
            </a:r>
            <a:r>
              <a:rPr lang="en-US" altLang="zh-CN"/>
              <a:t>Vue</a:t>
            </a:r>
            <a:r>
              <a:rPr lang="zh-CN" altLang="en-US"/>
              <a:t>的官方</a:t>
            </a:r>
            <a:r>
              <a:rPr lang="zh-CN" altLang="en-US">
                <a:solidFill>
                  <a:srgbClr val="C00000"/>
                </a:solidFill>
              </a:rPr>
              <a:t>路由</a:t>
            </a:r>
            <a:r>
              <a:rPr lang="zh-CN" altLang="en-US"/>
              <a:t>。为</a:t>
            </a:r>
            <a:r>
              <a:rPr lang="en-US" altLang="zh-CN"/>
              <a:t>Vue</a:t>
            </a:r>
            <a:r>
              <a:rPr lang="zh-CN" altLang="en-US"/>
              <a:t>提供富有表现力、可配置的、方便的</a:t>
            </a:r>
            <a:r>
              <a:rPr lang="zh-CN" altLang="en-US">
                <a:solidFill>
                  <a:srgbClr val="C00000"/>
                </a:solidFill>
              </a:rPr>
              <a:t>路由</a:t>
            </a:r>
            <a:r>
              <a:rPr lang="zh-CN" altLang="en-US"/>
              <a:t>。</a:t>
            </a:r>
            <a:r>
              <a:rPr lang="en-US" altLang="zh-CN"/>
              <a:t>(</a:t>
            </a:r>
            <a:r>
              <a:rPr lang="en-US" altLang="zh-CN">
                <a:hlinkClick r:id="rId2"/>
              </a:rPr>
              <a:t>https://router.vuejs.org/zh</a:t>
            </a:r>
            <a:r>
              <a:rPr lang="en-US" altLang="zh-CN"/>
              <a:t>)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/>
              <a:t>Vue</a:t>
            </a:r>
            <a:r>
              <a:rPr lang="zh-CN" altLang="en-US"/>
              <a:t>中的路由：</a:t>
            </a:r>
            <a:r>
              <a:rPr lang="zh-CN" altLang="en-US">
                <a:solidFill>
                  <a:srgbClr val="C00000"/>
                </a:solidFill>
              </a:rPr>
              <a:t>路径</a:t>
            </a:r>
            <a:r>
              <a:rPr lang="zh-CN" altLang="en-US"/>
              <a:t> 与 </a:t>
            </a:r>
            <a:r>
              <a:rPr lang="zh-CN" altLang="en-US">
                <a:solidFill>
                  <a:srgbClr val="C00000"/>
                </a:solidFill>
              </a:rPr>
              <a:t>组件</a:t>
            </a:r>
            <a:r>
              <a:rPr lang="zh-CN" altLang="en-US"/>
              <a:t> 的对应关系。</a:t>
            </a:r>
            <a:endParaRPr lang="en-US" altLang="zh-CN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B45CD23-4CC2-61F6-648D-F9257DD073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6521" y="2014570"/>
            <a:ext cx="9168746" cy="461561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0FF4BC93-442C-8841-AA1E-AD1D851DDAD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233"/>
          <a:stretch/>
        </p:blipFill>
        <p:spPr>
          <a:xfrm>
            <a:off x="1004862" y="2016003"/>
            <a:ext cx="9185285" cy="462770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87CBB1A4-8B33-50EB-8236-871B7F44AC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3517" y="2014569"/>
            <a:ext cx="9186630" cy="462914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531654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4A9BCD-2BE1-09EC-8227-5A0453970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介绍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AF03D80-35CA-C7A4-BAF9-A7C2FAEE61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060481" cy="1661453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组成：</a:t>
            </a:r>
            <a:endParaRPr lang="en-US" altLang="zh-CN"/>
          </a:p>
          <a:p>
            <a:pPr marL="540000" lvl="1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altLang="zh-CN" sz="1400" b="0">
                <a:ea typeface="Fira Code" panose="020B0809050000020004" pitchFamily="49" charset="0"/>
                <a:cs typeface="阿里巴巴普惠体" panose="00020600040101010101" pitchFamily="18" charset="-122"/>
              </a:rPr>
              <a:t>Router</a:t>
            </a:r>
            <a:r>
              <a:rPr lang="zh-CN" altLang="en-US" sz="1400" b="0">
                <a:ea typeface="Fira Code" panose="020B0809050000020004" pitchFamily="49" charset="0"/>
                <a:cs typeface="阿里巴巴普惠体" panose="00020600040101010101" pitchFamily="18" charset="-122"/>
              </a:rPr>
              <a:t>实例</a:t>
            </a:r>
            <a:r>
              <a:rPr lang="zh-CN" altLang="en-US" sz="1400" b="0"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：路由实例，基于</a:t>
            </a:r>
            <a:r>
              <a:rPr lang="en-US" altLang="zh-CN" sz="1400" b="0"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createRouter</a:t>
            </a:r>
            <a:r>
              <a:rPr lang="zh-CN" altLang="en-US" sz="1400" b="0"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函数创建，维护了应用的路由信息。</a:t>
            </a:r>
          </a:p>
          <a:p>
            <a:pPr marL="540000" lvl="1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altLang="zh-CN" sz="1400" b="0">
                <a:ea typeface="Fira Code" panose="020B0809050000020004" pitchFamily="49" charset="0"/>
                <a:cs typeface="阿里巴巴普惠体" panose="00020600040101010101" pitchFamily="18" charset="-122"/>
              </a:rPr>
              <a:t>&lt;router-link&gt;</a:t>
            </a:r>
            <a:r>
              <a:rPr lang="zh-CN" altLang="en-US" sz="1400" b="0"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：路由链接组件，浏览器会解析成</a:t>
            </a:r>
            <a:r>
              <a:rPr lang="en-US" altLang="zh-CN" sz="1400" b="0">
                <a:ea typeface="Fira Code" panose="020B0809050000020004" pitchFamily="49" charset="0"/>
                <a:cs typeface="阿里巴巴普惠体" panose="00020600040101010101" pitchFamily="18" charset="-122"/>
              </a:rPr>
              <a:t>&lt;a&gt;</a:t>
            </a:r>
            <a:r>
              <a:rPr lang="zh-CN" altLang="en-US" sz="1400" b="0">
                <a:ea typeface="Fira Code" panose="020B0809050000020004" pitchFamily="49" charset="0"/>
                <a:cs typeface="阿里巴巴普惠体" panose="00020600040101010101" pitchFamily="18" charset="-122"/>
              </a:rPr>
              <a:t>。</a:t>
            </a:r>
            <a:endParaRPr lang="en-US" altLang="zh-CN" sz="1400" b="0"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540000" lvl="1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altLang="zh-CN" sz="1400" b="0">
                <a:ea typeface="Fira Code" panose="020B0809050000020004" pitchFamily="49" charset="0"/>
                <a:cs typeface="阿里巴巴普惠体" panose="00020600040101010101" pitchFamily="18" charset="-122"/>
              </a:rPr>
              <a:t>&lt;router-view&gt;</a:t>
            </a:r>
            <a:r>
              <a:rPr lang="zh-CN" altLang="en-US" sz="1400" b="0"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：动态视图组件，用来渲染展示与路由路径对应的组件。</a:t>
            </a:r>
          </a:p>
        </p:txBody>
      </p:sp>
      <p:sp>
        <p:nvSpPr>
          <p:cNvPr id="4" name="矩形: 圆顶角 3">
            <a:extLst>
              <a:ext uri="{FF2B5EF4-FFF2-40B4-BE49-F238E27FC236}">
                <a16:creationId xmlns:a16="http://schemas.microsoft.com/office/drawing/2014/main" id="{78E98A15-2844-7812-10BF-B6A69118C57C}"/>
              </a:ext>
            </a:extLst>
          </p:cNvPr>
          <p:cNvSpPr/>
          <p:nvPr/>
        </p:nvSpPr>
        <p:spPr>
          <a:xfrm rot="16200000">
            <a:off x="1813685" y="3227729"/>
            <a:ext cx="1114417" cy="3020654"/>
          </a:xfrm>
          <a:prstGeom prst="round2SameRect">
            <a:avLst>
              <a:gd name="adj1" fmla="val 9324"/>
              <a:gd name="adj2" fmla="val 0"/>
            </a:avLst>
          </a:prstGeom>
          <a:solidFill>
            <a:srgbClr val="3449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26C5C7A-A018-EB2F-6CC2-FF9D94B6B4AB}"/>
              </a:ext>
            </a:extLst>
          </p:cNvPr>
          <p:cNvSpPr txBox="1"/>
          <p:nvPr/>
        </p:nvSpPr>
        <p:spPr>
          <a:xfrm>
            <a:off x="883045" y="4550222"/>
            <a:ext cx="575734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Router</a:t>
            </a:r>
            <a:r>
              <a:rPr lang="zh-CN" altLang="en-US" sz="1200" b="1">
                <a:solidFill>
                  <a:schemeClr val="bg1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实例</a:t>
            </a:r>
            <a:endParaRPr lang="zh-CN" altLang="en-US" sz="1200" b="1" dirty="0">
              <a:solidFill>
                <a:schemeClr val="bg1"/>
              </a:solidFill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35A9BE28-869D-A1BF-6A7B-80232915013C}"/>
              </a:ext>
            </a:extLst>
          </p:cNvPr>
          <p:cNvGrpSpPr/>
          <p:nvPr/>
        </p:nvGrpSpPr>
        <p:grpSpPr>
          <a:xfrm>
            <a:off x="1481258" y="4110236"/>
            <a:ext cx="2399963" cy="1185029"/>
            <a:chOff x="1833370" y="4508986"/>
            <a:chExt cx="2399963" cy="1185029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1FD05875-F1E0-EEBE-2C27-539394CD97E1}"/>
                </a:ext>
              </a:extLst>
            </p:cNvPr>
            <p:cNvSpPr/>
            <p:nvPr/>
          </p:nvSpPr>
          <p:spPr>
            <a:xfrm>
              <a:off x="1854200" y="4579598"/>
              <a:ext cx="2379133" cy="1114417"/>
            </a:xfrm>
            <a:prstGeom prst="rect">
              <a:avLst/>
            </a:prstGeom>
            <a:solidFill>
              <a:srgbClr val="41B8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123C499A-D49D-87D5-6897-3E6C781CC16A}"/>
                </a:ext>
              </a:extLst>
            </p:cNvPr>
            <p:cNvSpPr txBox="1"/>
            <p:nvPr/>
          </p:nvSpPr>
          <p:spPr>
            <a:xfrm>
              <a:off x="1833370" y="4508986"/>
              <a:ext cx="2364146" cy="11599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lnSpc>
                  <a:spcPct val="150000"/>
                </a:lnSpc>
                <a:spcBef>
                  <a:spcPts val="600"/>
                </a:spcBef>
                <a:spcAft>
                  <a:spcPts val="0"/>
                </a:spcAft>
              </a:pPr>
              <a:r>
                <a:rPr lang="en-US" altLang="zh-CN" sz="1000" b="1">
                  <a:solidFill>
                    <a:schemeClr val="bg1"/>
                  </a:solidFill>
                  <a:latin typeface="Fira Code" panose="020B0809050000020004" pitchFamily="49" charset="0"/>
                  <a:ea typeface="Fira Code" panose="020B0809050000020004" pitchFamily="49" charset="0"/>
                </a:rPr>
                <a:t>routes:</a:t>
              </a:r>
            </a:p>
            <a:p>
              <a:pPr fontAlgn="auto">
                <a:lnSpc>
                  <a:spcPct val="150000"/>
                </a:lnSpc>
                <a:spcBef>
                  <a:spcPts val="600"/>
                </a:spcBef>
                <a:spcAft>
                  <a:spcPts val="0"/>
                </a:spcAft>
              </a:pPr>
              <a:r>
                <a:rPr lang="en-US" altLang="zh-CN" sz="900" b="1">
                  <a:solidFill>
                    <a:schemeClr val="bg1"/>
                  </a:solidFill>
                  <a:latin typeface="Fira Code" panose="020B0809050000020004" pitchFamily="49" charset="0"/>
                  <a:ea typeface="Fira Code" panose="020B0809050000020004" pitchFamily="49" charset="0"/>
                </a:rPr>
                <a:t>  /stu:</a:t>
              </a:r>
              <a:r>
                <a:rPr lang="zh-CN" altLang="en-US" sz="900">
                  <a:solidFill>
                    <a:schemeClr val="bg1"/>
                  </a:solidFill>
                  <a:latin typeface="Fira Code" panose="020B0809050000020004" pitchFamily="49" charset="0"/>
                </a:rPr>
                <a:t>  </a:t>
              </a:r>
              <a:r>
                <a:rPr lang="en-US" altLang="zh-CN" sz="900">
                  <a:solidFill>
                    <a:schemeClr val="bg1"/>
                  </a:solidFill>
                  <a:latin typeface="Fira Code" panose="020B0809050000020004" pitchFamily="49" charset="0"/>
                  <a:ea typeface="Fira Code" panose="020B0809050000020004" pitchFamily="49" charset="0"/>
                </a:rPr>
                <a:t>/views/stu/index.vue</a:t>
              </a:r>
            </a:p>
            <a:p>
              <a:pPr fontAlgn="auto">
                <a:lnSpc>
                  <a:spcPct val="150000"/>
                </a:lnSpc>
                <a:spcBef>
                  <a:spcPts val="600"/>
                </a:spcBef>
                <a:spcAft>
                  <a:spcPts val="0"/>
                </a:spcAft>
              </a:pPr>
              <a:r>
                <a:rPr lang="en-US" altLang="zh-CN" sz="900" b="1">
                  <a:solidFill>
                    <a:schemeClr val="bg1"/>
                  </a:solidFill>
                  <a:latin typeface="Fira Code" panose="020B0809050000020004" pitchFamily="49" charset="0"/>
                  <a:ea typeface="Fira Code" panose="020B0809050000020004" pitchFamily="49" charset="0"/>
                </a:rPr>
                <a:t>  /emp:</a:t>
              </a:r>
              <a:r>
                <a:rPr lang="en-US" altLang="zh-CN" sz="900">
                  <a:solidFill>
                    <a:schemeClr val="bg1"/>
                  </a:solidFill>
                  <a:latin typeface="Fira Code" panose="020B0809050000020004" pitchFamily="49" charset="0"/>
                  <a:ea typeface="Fira Code" panose="020B0809050000020004" pitchFamily="49" charset="0"/>
                </a:rPr>
                <a:t>  /views/emp/index.vue</a:t>
              </a:r>
            </a:p>
            <a:p>
              <a:pPr fontAlgn="auto">
                <a:lnSpc>
                  <a:spcPct val="150000"/>
                </a:lnSpc>
                <a:spcBef>
                  <a:spcPts val="600"/>
                </a:spcBef>
                <a:spcAft>
                  <a:spcPts val="0"/>
                </a:spcAft>
              </a:pPr>
              <a:r>
                <a:rPr lang="en-US" altLang="zh-CN" sz="900" b="1">
                  <a:solidFill>
                    <a:schemeClr val="bg1"/>
                  </a:solidFill>
                  <a:latin typeface="Fira Code" panose="020B0809050000020004" pitchFamily="49" charset="0"/>
                  <a:ea typeface="Fira Code" panose="020B0809050000020004" pitchFamily="49" charset="0"/>
                </a:rPr>
                <a:t>  /dept:</a:t>
              </a:r>
              <a:r>
                <a:rPr lang="en-US" altLang="zh-CN" sz="900">
                  <a:solidFill>
                    <a:schemeClr val="bg1"/>
                  </a:solidFill>
                  <a:latin typeface="Fira Code" panose="020B0809050000020004" pitchFamily="49" charset="0"/>
                  <a:ea typeface="Fira Code" panose="020B0809050000020004" pitchFamily="49" charset="0"/>
                </a:rPr>
                <a:t> /views/dept/index.vue</a:t>
              </a:r>
              <a:endParaRPr lang="zh-CN" altLang="en-US" sz="900" dirty="0">
                <a:solidFill>
                  <a:schemeClr val="bg1"/>
                </a:solidFill>
                <a:latin typeface="Fira Code" panose="020B0809050000020004" pitchFamily="49" charset="0"/>
              </a:endParaRPr>
            </a:p>
          </p:txBody>
        </p:sp>
      </p:grp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8F9FCF44-B0B6-F4FA-1D2C-00D196B28683}"/>
              </a:ext>
            </a:extLst>
          </p:cNvPr>
          <p:cNvSpPr/>
          <p:nvPr/>
        </p:nvSpPr>
        <p:spPr>
          <a:xfrm>
            <a:off x="5853951" y="3321923"/>
            <a:ext cx="3505201" cy="626533"/>
          </a:xfrm>
          <a:prstGeom prst="roundRect">
            <a:avLst/>
          </a:prstGeom>
          <a:solidFill>
            <a:srgbClr val="41B88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50000"/>
              </a:lnSpc>
            </a:pPr>
            <a:endParaRPr lang="en-US" altLang="zh-CN" sz="1100"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algn="ctr">
              <a:lnSpc>
                <a:spcPct val="150000"/>
              </a:lnSpc>
            </a:pPr>
            <a:r>
              <a:rPr lang="en-US" altLang="zh-CN" sz="100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&lt;router-link to='/emp'&gt;</a:t>
            </a:r>
            <a:r>
              <a:rPr lang="zh-CN" altLang="en-US" sz="100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员工管理</a:t>
            </a:r>
            <a:r>
              <a:rPr lang="en-US" altLang="zh-CN" sz="100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&lt;/router-link&gt;</a:t>
            </a:r>
            <a:endParaRPr lang="zh-CN" altLang="en-US" sz="1000"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0FCC5601-9BE6-9CCF-8615-827FC2E5180F}"/>
              </a:ext>
            </a:extLst>
          </p:cNvPr>
          <p:cNvSpPr/>
          <p:nvPr/>
        </p:nvSpPr>
        <p:spPr>
          <a:xfrm>
            <a:off x="5853950" y="5578363"/>
            <a:ext cx="3505201" cy="626533"/>
          </a:xfrm>
          <a:prstGeom prst="roundRect">
            <a:avLst/>
          </a:prstGeom>
          <a:solidFill>
            <a:srgbClr val="41B88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50000"/>
              </a:lnSpc>
            </a:pPr>
            <a:endParaRPr lang="en-US" altLang="zh-CN" sz="1100"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algn="ctr">
              <a:lnSpc>
                <a:spcPct val="150000"/>
              </a:lnSpc>
            </a:pPr>
            <a:r>
              <a:rPr lang="en-US" altLang="zh-CN" sz="105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&lt;router-view&gt;&lt;/router-view&gt;</a:t>
            </a:r>
            <a:endParaRPr lang="zh-CN" altLang="en-US" sz="1050"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: 圆顶角 10">
            <a:extLst>
              <a:ext uri="{FF2B5EF4-FFF2-40B4-BE49-F238E27FC236}">
                <a16:creationId xmlns:a16="http://schemas.microsoft.com/office/drawing/2014/main" id="{6E028471-2E6E-23E4-E89F-C7672CC28B82}"/>
              </a:ext>
            </a:extLst>
          </p:cNvPr>
          <p:cNvSpPr/>
          <p:nvPr/>
        </p:nvSpPr>
        <p:spPr>
          <a:xfrm>
            <a:off x="5853950" y="3321922"/>
            <a:ext cx="3505201" cy="313267"/>
          </a:xfrm>
          <a:prstGeom prst="round2SameRect">
            <a:avLst>
              <a:gd name="adj1" fmla="val 30607"/>
              <a:gd name="adj2" fmla="val 0"/>
            </a:avLst>
          </a:prstGeom>
          <a:solidFill>
            <a:srgbClr val="3449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>
                <a:solidFill>
                  <a:schemeClr val="bg1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路由链接组件 </a:t>
            </a:r>
            <a:r>
              <a:rPr lang="en-US" altLang="zh-CN" sz="120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&lt;router-link&gt;</a:t>
            </a:r>
          </a:p>
        </p:txBody>
      </p:sp>
      <p:sp>
        <p:nvSpPr>
          <p:cNvPr id="12" name="矩形: 圆顶角 11">
            <a:extLst>
              <a:ext uri="{FF2B5EF4-FFF2-40B4-BE49-F238E27FC236}">
                <a16:creationId xmlns:a16="http://schemas.microsoft.com/office/drawing/2014/main" id="{8A2E4B33-5257-CEB5-DF1A-E83FC0926F6E}"/>
              </a:ext>
            </a:extLst>
          </p:cNvPr>
          <p:cNvSpPr/>
          <p:nvPr/>
        </p:nvSpPr>
        <p:spPr>
          <a:xfrm>
            <a:off x="5853950" y="5578363"/>
            <a:ext cx="3505201" cy="313267"/>
          </a:xfrm>
          <a:prstGeom prst="round2SameRect">
            <a:avLst>
              <a:gd name="adj1" fmla="val 30607"/>
              <a:gd name="adj2" fmla="val 0"/>
            </a:avLst>
          </a:prstGeom>
          <a:solidFill>
            <a:srgbClr val="3449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>
                <a:solidFill>
                  <a:schemeClr val="bg1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路由展示组件 </a:t>
            </a:r>
            <a:r>
              <a:rPr lang="en-US" altLang="zh-CN" sz="120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&lt;router-view&gt;</a:t>
            </a:r>
          </a:p>
        </p:txBody>
      </p:sp>
      <p:grpSp>
        <p:nvGrpSpPr>
          <p:cNvPr id="13" name="!!组合 21">
            <a:extLst>
              <a:ext uri="{FF2B5EF4-FFF2-40B4-BE49-F238E27FC236}">
                <a16:creationId xmlns:a16="http://schemas.microsoft.com/office/drawing/2014/main" id="{6C234DD6-184B-E902-1F3D-F20E63F6F4F7}"/>
              </a:ext>
            </a:extLst>
          </p:cNvPr>
          <p:cNvGrpSpPr/>
          <p:nvPr/>
        </p:nvGrpSpPr>
        <p:grpSpPr>
          <a:xfrm>
            <a:off x="2663331" y="3569150"/>
            <a:ext cx="3162296" cy="611698"/>
            <a:chOff x="3173163" y="3647941"/>
            <a:chExt cx="3162296" cy="611698"/>
          </a:xfrm>
        </p:grpSpPr>
        <p:cxnSp>
          <p:nvCxnSpPr>
            <p:cNvPr id="14" name="连接符: 曲线 13">
              <a:extLst>
                <a:ext uri="{FF2B5EF4-FFF2-40B4-BE49-F238E27FC236}">
                  <a16:creationId xmlns:a16="http://schemas.microsoft.com/office/drawing/2014/main" id="{B032DF4E-090F-5806-4396-E3A1CE76AD6A}"/>
                </a:ext>
              </a:extLst>
            </p:cNvPr>
            <p:cNvCxnSpPr>
              <a:cxnSpLocks/>
              <a:stCxn id="9" idx="1"/>
              <a:endCxn id="7" idx="0"/>
            </p:cNvCxnSpPr>
            <p:nvPr/>
          </p:nvCxnSpPr>
          <p:spPr>
            <a:xfrm rot="10800000" flipV="1">
              <a:off x="3173163" y="3713981"/>
              <a:ext cx="3162296" cy="545658"/>
            </a:xfrm>
            <a:prstGeom prst="curvedConnector2">
              <a:avLst/>
            </a:prstGeom>
            <a:ln w="19050">
              <a:solidFill>
                <a:schemeClr val="tx1">
                  <a:lumMod val="85000"/>
                  <a:lumOff val="15000"/>
                </a:schemeClr>
              </a:solidFill>
              <a:prstDash val="dash"/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4B583208-8C1C-5D28-F24F-B2B660015A4A}"/>
                </a:ext>
              </a:extLst>
            </p:cNvPr>
            <p:cNvSpPr/>
            <p:nvPr/>
          </p:nvSpPr>
          <p:spPr>
            <a:xfrm rot="21238277">
              <a:off x="4467887" y="3647941"/>
              <a:ext cx="823635" cy="20369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1200">
                  <a:solidFill>
                    <a:schemeClr val="tx1">
                      <a:lumMod val="95000"/>
                      <a:lumOff val="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路由请求</a:t>
              </a:r>
            </a:p>
          </p:txBody>
        </p:sp>
      </p:grpSp>
      <p:grpSp>
        <p:nvGrpSpPr>
          <p:cNvPr id="16" name="!!组合 22">
            <a:extLst>
              <a:ext uri="{FF2B5EF4-FFF2-40B4-BE49-F238E27FC236}">
                <a16:creationId xmlns:a16="http://schemas.microsoft.com/office/drawing/2014/main" id="{28E043FD-EE97-CF2C-85AE-561BCDE16297}"/>
              </a:ext>
            </a:extLst>
          </p:cNvPr>
          <p:cNvGrpSpPr/>
          <p:nvPr/>
        </p:nvGrpSpPr>
        <p:grpSpPr>
          <a:xfrm>
            <a:off x="2691655" y="5295264"/>
            <a:ext cx="3162295" cy="655873"/>
            <a:chOff x="2691655" y="5295264"/>
            <a:chExt cx="3162295" cy="655873"/>
          </a:xfrm>
        </p:grpSpPr>
        <p:cxnSp>
          <p:nvCxnSpPr>
            <p:cNvPr id="17" name="连接符: 曲线 16">
              <a:extLst>
                <a:ext uri="{FF2B5EF4-FFF2-40B4-BE49-F238E27FC236}">
                  <a16:creationId xmlns:a16="http://schemas.microsoft.com/office/drawing/2014/main" id="{9F647691-F436-2DC4-4245-ED2FB255F1AB}"/>
                </a:ext>
              </a:extLst>
            </p:cNvPr>
            <p:cNvCxnSpPr>
              <a:stCxn id="7" idx="2"/>
              <a:endCxn id="10" idx="1"/>
            </p:cNvCxnSpPr>
            <p:nvPr/>
          </p:nvCxnSpPr>
          <p:spPr>
            <a:xfrm rot="16200000" flipH="1">
              <a:off x="3974620" y="4012299"/>
              <a:ext cx="596365" cy="3162295"/>
            </a:xfrm>
            <a:prstGeom prst="curvedConnector2">
              <a:avLst/>
            </a:prstGeom>
            <a:ln w="19050">
              <a:solidFill>
                <a:schemeClr val="tx1">
                  <a:lumMod val="85000"/>
                  <a:lumOff val="15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83D5CED9-8005-BF49-9339-E4116E855C46}"/>
                </a:ext>
              </a:extLst>
            </p:cNvPr>
            <p:cNvSpPr/>
            <p:nvPr/>
          </p:nvSpPr>
          <p:spPr>
            <a:xfrm rot="168037">
              <a:off x="4158102" y="5745219"/>
              <a:ext cx="423538" cy="20591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1200">
                  <a:solidFill>
                    <a:schemeClr val="tx1">
                      <a:lumMod val="95000"/>
                      <a:lumOff val="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更新</a:t>
              </a:r>
            </a:p>
          </p:txBody>
        </p:sp>
      </p:grpSp>
      <p:sp>
        <p:nvSpPr>
          <p:cNvPr id="20" name="矩形 19">
            <a:extLst>
              <a:ext uri="{FF2B5EF4-FFF2-40B4-BE49-F238E27FC236}">
                <a16:creationId xmlns:a16="http://schemas.microsoft.com/office/drawing/2014/main" id="{C7469D6B-7472-6A9D-05BD-C495CDD338E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9E02E366-6A7F-D98C-2E8F-F3F8CB023A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2586" y="1492844"/>
            <a:ext cx="7902727" cy="3812436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95A95AA1-D59D-2EA5-7995-10EA354C7FC2}"/>
              </a:ext>
            </a:extLst>
          </p:cNvPr>
          <p:cNvCxnSpPr/>
          <p:nvPr/>
        </p:nvCxnSpPr>
        <p:spPr>
          <a:xfrm>
            <a:off x="6176683" y="3725882"/>
            <a:ext cx="457200" cy="0"/>
          </a:xfrm>
          <a:prstGeom prst="line">
            <a:avLst/>
          </a:prstGeom>
          <a:ln w="19050">
            <a:solidFill>
              <a:srgbClr val="C0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4119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9" grpId="0" animBg="1"/>
      <p:bldP spid="10" grpId="0" animBg="1"/>
      <p:bldP spid="11" grpId="0" animBg="1"/>
      <p:bldP spid="12" grpId="0" animBg="1"/>
      <p:bldP spid="20" grpId="0" animBg="1"/>
      <p:bldP spid="20" grpId="1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94EA551-E8D0-40B9-4C08-4AC4EC8299E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altLang="zh-CN" sz="1800"/>
              <a:t>Vue</a:t>
            </a:r>
            <a:r>
              <a:rPr lang="zh-CN" altLang="en-US" sz="1800"/>
              <a:t>的路由指的是什么 </a:t>
            </a:r>
            <a:r>
              <a:rPr lang="en-US" altLang="zh-CN" sz="1800"/>
              <a:t>?</a:t>
            </a:r>
          </a:p>
          <a:p>
            <a:pPr marL="612000" lvl="1" indent="-285750">
              <a:lnSpc>
                <a:spcPct val="150000"/>
              </a:lnSpc>
              <a:spcBef>
                <a:spcPts val="600"/>
              </a:spcBef>
            </a:pPr>
            <a:r>
              <a:rPr lang="en-US" altLang="zh-CN" sz="1600" b="0"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Vue Router</a:t>
            </a:r>
            <a:r>
              <a:rPr lang="zh-CN" altLang="en-US" sz="1600" b="0"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是</a:t>
            </a:r>
            <a:r>
              <a:rPr lang="en-US" altLang="zh-CN" sz="1600" b="0"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Vue</a:t>
            </a:r>
            <a:r>
              <a:rPr lang="zh-CN" altLang="en-US" sz="1600" b="0"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官方的路由，描述的是路径与组件的对应关系</a:t>
            </a:r>
            <a:endParaRPr lang="en-US" altLang="zh-CN" sz="1600" b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zh-CN" sz="1800"/>
              <a:t>Vue Router</a:t>
            </a:r>
            <a:r>
              <a:rPr lang="zh-CN" altLang="en-US" sz="1800"/>
              <a:t>中的三个核心组成部分 </a:t>
            </a:r>
            <a:r>
              <a:rPr lang="en-US" altLang="zh-CN" sz="1800"/>
              <a:t>?</a:t>
            </a:r>
          </a:p>
          <a:p>
            <a:pPr marL="612000" lvl="1" indent="-285750">
              <a:lnSpc>
                <a:spcPct val="150000"/>
              </a:lnSpc>
              <a:spcBef>
                <a:spcPts val="600"/>
              </a:spcBef>
            </a:pPr>
            <a:r>
              <a:rPr lang="en-US" altLang="zh-CN" sz="1600"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router</a:t>
            </a:r>
            <a:r>
              <a:rPr lang="zh-CN" altLang="en-US" sz="1600"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实例，维护了应用的路由信息（</a:t>
            </a:r>
            <a:r>
              <a:rPr lang="en-US" altLang="zh-CN" sz="1600"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routes</a:t>
            </a:r>
            <a:r>
              <a:rPr lang="zh-CN" altLang="en-US" sz="1600"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）</a:t>
            </a:r>
            <a:endParaRPr lang="en-US" altLang="zh-CN" sz="160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612000" lvl="1" indent="-285750">
              <a:lnSpc>
                <a:spcPct val="150000"/>
              </a:lnSpc>
              <a:spcBef>
                <a:spcPts val="600"/>
              </a:spcBef>
            </a:pPr>
            <a:r>
              <a:rPr lang="en-US" altLang="zh-CN" sz="1600"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&lt;router-link&gt;</a:t>
            </a:r>
            <a:r>
              <a:rPr lang="zh-CN" altLang="en-US" sz="1600"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：路由链接组件</a:t>
            </a:r>
            <a:endParaRPr lang="en-US" altLang="zh-CN" sz="160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612000" lvl="1" indent="-285750">
              <a:lnSpc>
                <a:spcPct val="150000"/>
              </a:lnSpc>
              <a:spcBef>
                <a:spcPts val="600"/>
              </a:spcBef>
            </a:pPr>
            <a:r>
              <a:rPr lang="en-US" altLang="zh-CN" sz="1600"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&lt;router-view&gt;</a:t>
            </a:r>
            <a:r>
              <a:rPr lang="zh-CN" altLang="en-US" sz="1600"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：动态视图组件</a:t>
            </a:r>
          </a:p>
        </p:txBody>
      </p:sp>
    </p:spTree>
    <p:extLst>
      <p:ext uri="{BB962C8B-B14F-4D97-AF65-F5344CB8AC3E}">
        <p14:creationId xmlns:p14="http://schemas.microsoft.com/office/powerpoint/2010/main" val="1864354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400981-A346-325E-22E0-0DFF9FD6A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58C93B-9959-F22E-3805-E74990A00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案例路由实现</a:t>
            </a: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4EE55412-E324-E9BC-877E-6EE04497E8F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765"/>
          <a:stretch/>
        </p:blipFill>
        <p:spPr>
          <a:xfrm>
            <a:off x="738899" y="970542"/>
            <a:ext cx="9198390" cy="476208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30" name="图片 29">
            <a:extLst>
              <a:ext uri="{FF2B5EF4-FFF2-40B4-BE49-F238E27FC236}">
                <a16:creationId xmlns:a16="http://schemas.microsoft.com/office/drawing/2014/main" id="{1FA26D35-460B-8910-1CF3-7BF206E408F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03"/>
          <a:stretch/>
        </p:blipFill>
        <p:spPr>
          <a:xfrm>
            <a:off x="2094637" y="1666239"/>
            <a:ext cx="7842652" cy="4066391"/>
          </a:xfrm>
          <a:prstGeom prst="rect">
            <a:avLst/>
          </a:prstGeom>
          <a:ln>
            <a:noFill/>
          </a:ln>
        </p:spPr>
      </p:pic>
      <p:pic>
        <p:nvPicPr>
          <p:cNvPr id="31" name="图片 30">
            <a:extLst>
              <a:ext uri="{FF2B5EF4-FFF2-40B4-BE49-F238E27FC236}">
                <a16:creationId xmlns:a16="http://schemas.microsoft.com/office/drawing/2014/main" id="{94962D84-BA05-7E16-62AC-C3B023A51E9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4481" t="-20086" b="-1"/>
          <a:stretch/>
        </p:blipFill>
        <p:spPr>
          <a:xfrm>
            <a:off x="2469659" y="1021917"/>
            <a:ext cx="296458" cy="169062"/>
          </a:xfrm>
          <a:prstGeom prst="rect">
            <a:avLst/>
          </a:prstGeom>
        </p:spPr>
      </p:pic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998062A9-8ADA-658D-E41A-BC25ECAE0F11}"/>
              </a:ext>
            </a:extLst>
          </p:cNvPr>
          <p:cNvCxnSpPr>
            <a:cxnSpLocks/>
          </p:cNvCxnSpPr>
          <p:nvPr/>
        </p:nvCxnSpPr>
        <p:spPr>
          <a:xfrm>
            <a:off x="2453768" y="1196694"/>
            <a:ext cx="328239" cy="0"/>
          </a:xfrm>
          <a:prstGeom prst="line">
            <a:avLst/>
          </a:prstGeom>
          <a:ln w="28575"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32654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CC4B46-12B8-4E1A-42DA-D57935815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B7ED34-110B-4313-2C79-18B7AE2A6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案例路由实现</a:t>
            </a: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6CF962FE-1BA1-38C0-C190-B23590B9C8D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765"/>
          <a:stretch/>
        </p:blipFill>
        <p:spPr>
          <a:xfrm>
            <a:off x="738899" y="970542"/>
            <a:ext cx="9198390" cy="476208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27" name="矩形 26">
            <a:extLst>
              <a:ext uri="{FF2B5EF4-FFF2-40B4-BE49-F238E27FC236}">
                <a16:creationId xmlns:a16="http://schemas.microsoft.com/office/drawing/2014/main" id="{266302B5-4EC9-B069-8F3C-BEE9D7AFF061}"/>
              </a:ext>
            </a:extLst>
          </p:cNvPr>
          <p:cNvSpPr/>
          <p:nvPr/>
        </p:nvSpPr>
        <p:spPr>
          <a:xfrm>
            <a:off x="2196353" y="1789091"/>
            <a:ext cx="7733731" cy="3943878"/>
          </a:xfrm>
          <a:prstGeom prst="rect">
            <a:avLst/>
          </a:prstGeom>
          <a:solidFill>
            <a:srgbClr val="FFFFFF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3" name="图片 32">
            <a:extLst>
              <a:ext uri="{FF2B5EF4-FFF2-40B4-BE49-F238E27FC236}">
                <a16:creationId xmlns:a16="http://schemas.microsoft.com/office/drawing/2014/main" id="{13829336-9C73-60B2-9ECF-DD291E07B30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4481" t="-20086" b="-1"/>
          <a:stretch/>
        </p:blipFill>
        <p:spPr>
          <a:xfrm>
            <a:off x="2469659" y="1021917"/>
            <a:ext cx="296458" cy="169062"/>
          </a:xfrm>
          <a:prstGeom prst="rect">
            <a:avLst/>
          </a:prstGeom>
        </p:spPr>
      </p:pic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3A45AE29-14D5-50AA-36A1-DB1FCFBCC34B}"/>
              </a:ext>
            </a:extLst>
          </p:cNvPr>
          <p:cNvCxnSpPr>
            <a:cxnSpLocks/>
          </p:cNvCxnSpPr>
          <p:nvPr/>
        </p:nvCxnSpPr>
        <p:spPr>
          <a:xfrm>
            <a:off x="2453768" y="1196694"/>
            <a:ext cx="328239" cy="0"/>
          </a:xfrm>
          <a:prstGeom prst="line">
            <a:avLst/>
          </a:prstGeom>
          <a:ln w="28575"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>
            <a:extLst>
              <a:ext uri="{FF2B5EF4-FFF2-40B4-BE49-F238E27FC236}">
                <a16:creationId xmlns:a16="http://schemas.microsoft.com/office/drawing/2014/main" id="{2C8BBE0D-AAF4-871B-5713-3DD25F2605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4283" y="1787665"/>
            <a:ext cx="7715801" cy="3944196"/>
          </a:xfrm>
          <a:prstGeom prst="rect">
            <a:avLst/>
          </a:prstGeom>
        </p:spPr>
      </p:pic>
      <p:pic>
        <p:nvPicPr>
          <p:cNvPr id="30" name="图片 29">
            <a:extLst>
              <a:ext uri="{FF2B5EF4-FFF2-40B4-BE49-F238E27FC236}">
                <a16:creationId xmlns:a16="http://schemas.microsoft.com/office/drawing/2014/main" id="{C41A110E-CC9E-05BB-E132-272AF380648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203"/>
          <a:stretch/>
        </p:blipFill>
        <p:spPr>
          <a:xfrm>
            <a:off x="738899" y="1281803"/>
            <a:ext cx="9198390" cy="4447750"/>
          </a:xfrm>
          <a:prstGeom prst="rect">
            <a:avLst/>
          </a:prstGeom>
          <a:ln>
            <a:solidFill>
              <a:schemeClr val="tx1">
                <a:lumMod val="40000"/>
                <a:lumOff val="60000"/>
              </a:schemeClr>
            </a:solidFill>
          </a:ln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A15BB675-D9D6-CF8A-2202-DB597CE97A5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65849" y="1053804"/>
            <a:ext cx="523936" cy="133365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328DD7E4-365E-1F72-A9B0-3BAB5C3C2F86}"/>
              </a:ext>
            </a:extLst>
          </p:cNvPr>
          <p:cNvSpPr/>
          <p:nvPr/>
        </p:nvSpPr>
        <p:spPr>
          <a:xfrm>
            <a:off x="731693" y="1282437"/>
            <a:ext cx="9205595" cy="4449424"/>
          </a:xfrm>
          <a:prstGeom prst="rect">
            <a:avLst/>
          </a:prstGeom>
          <a:noFill/>
          <a:ln>
            <a:solidFill>
              <a:srgbClr val="00206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112D43DC-1A4C-0BC6-1250-E7B38F238114}"/>
              </a:ext>
            </a:extLst>
          </p:cNvPr>
          <p:cNvCxnSpPr>
            <a:cxnSpLocks/>
            <a:stCxn id="12" idx="2"/>
          </p:cNvCxnSpPr>
          <p:nvPr/>
        </p:nvCxnSpPr>
        <p:spPr>
          <a:xfrm>
            <a:off x="5334491" y="5731861"/>
            <a:ext cx="0" cy="333659"/>
          </a:xfrm>
          <a:prstGeom prst="straightConnector1">
            <a:avLst/>
          </a:prstGeom>
          <a:ln w="12700">
            <a:solidFill>
              <a:srgbClr val="00206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E3BB6F71-FF90-2702-2E09-E3C571D39566}"/>
              </a:ext>
            </a:extLst>
          </p:cNvPr>
          <p:cNvSpPr txBox="1"/>
          <p:nvPr/>
        </p:nvSpPr>
        <p:spPr>
          <a:xfrm>
            <a:off x="3448142" y="6028421"/>
            <a:ext cx="40126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>
                <a:solidFill>
                  <a:srgbClr val="C00000"/>
                </a:solidFill>
              </a:rPr>
              <a:t>App.vue</a:t>
            </a:r>
            <a:r>
              <a:rPr lang="zh-CN" altLang="en-US" sz="1400" b="1">
                <a:solidFill>
                  <a:srgbClr val="C00000"/>
                </a:solidFill>
              </a:rPr>
              <a:t>：</a:t>
            </a:r>
            <a:r>
              <a:rPr lang="en-US" altLang="zh-CN" sz="1400" b="1">
                <a:solidFill>
                  <a:srgbClr val="002060"/>
                </a:solidFill>
              </a:rPr>
              <a:t>&lt;router-view&gt;&lt;/router-view&gt;</a:t>
            </a:r>
            <a:endParaRPr lang="zh-CN" altLang="en-US" sz="1400" b="1">
              <a:solidFill>
                <a:srgbClr val="002060"/>
              </a:solidFill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5C06F1F-3872-860F-3E46-0AA37F4056A8}"/>
              </a:ext>
            </a:extLst>
          </p:cNvPr>
          <p:cNvSpPr/>
          <p:nvPr/>
        </p:nvSpPr>
        <p:spPr>
          <a:xfrm>
            <a:off x="2105928" y="1675028"/>
            <a:ext cx="7792452" cy="4024732"/>
          </a:xfrm>
          <a:prstGeom prst="rect">
            <a:avLst/>
          </a:prstGeom>
          <a:noFill/>
          <a:ln>
            <a:solidFill>
              <a:srgbClr val="00206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554ABC38-15F0-22AD-2C1D-242164D6E8D9}"/>
              </a:ext>
            </a:extLst>
          </p:cNvPr>
          <p:cNvCxnSpPr>
            <a:cxnSpLocks/>
            <a:stCxn id="18" idx="3"/>
          </p:cNvCxnSpPr>
          <p:nvPr/>
        </p:nvCxnSpPr>
        <p:spPr>
          <a:xfrm>
            <a:off x="9898380" y="3687394"/>
            <a:ext cx="632460" cy="0"/>
          </a:xfrm>
          <a:prstGeom prst="straightConnector1">
            <a:avLst/>
          </a:prstGeom>
          <a:ln w="12700">
            <a:solidFill>
              <a:srgbClr val="00206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1D0261FF-E2C7-D3D6-73CF-10F4F901BB22}"/>
              </a:ext>
            </a:extLst>
          </p:cNvPr>
          <p:cNvSpPr txBox="1"/>
          <p:nvPr/>
        </p:nvSpPr>
        <p:spPr>
          <a:xfrm>
            <a:off x="10075912" y="3547789"/>
            <a:ext cx="204496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>
                <a:solidFill>
                  <a:srgbClr val="002060"/>
                </a:solidFill>
              </a:rPr>
              <a:t>    </a:t>
            </a:r>
            <a:r>
              <a:rPr lang="en-US" altLang="zh-CN" sz="1400" b="1">
                <a:solidFill>
                  <a:srgbClr val="C00000"/>
                </a:solidFill>
              </a:rPr>
              <a:t>layout/index.vue</a:t>
            </a:r>
            <a:r>
              <a:rPr lang="zh-CN" altLang="en-US" sz="1400" b="1">
                <a:solidFill>
                  <a:srgbClr val="C00000"/>
                </a:solidFill>
              </a:rPr>
              <a:t>：</a:t>
            </a:r>
            <a:endParaRPr lang="en-US" altLang="zh-CN" sz="1400" b="1">
              <a:solidFill>
                <a:srgbClr val="C00000"/>
              </a:solidFill>
            </a:endParaRPr>
          </a:p>
          <a:p>
            <a:endParaRPr lang="en-US" altLang="zh-CN" sz="1400" b="1">
              <a:solidFill>
                <a:srgbClr val="002060"/>
              </a:solidFill>
            </a:endParaRPr>
          </a:p>
          <a:p>
            <a:r>
              <a:rPr lang="en-US" altLang="zh-CN" sz="1400" b="1">
                <a:solidFill>
                  <a:srgbClr val="002060"/>
                </a:solidFill>
              </a:rPr>
              <a:t>&lt;router-view&gt;...</a:t>
            </a:r>
            <a:endParaRPr lang="zh-CN" altLang="en-US" sz="1400" b="1">
              <a:solidFill>
                <a:srgbClr val="002060"/>
              </a:solidFill>
            </a:endParaRPr>
          </a:p>
        </p:txBody>
      </p: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4FBB9E2A-ABEB-CF8C-103D-23109FE74AD9}"/>
              </a:ext>
            </a:extLst>
          </p:cNvPr>
          <p:cNvCxnSpPr/>
          <p:nvPr/>
        </p:nvCxnSpPr>
        <p:spPr>
          <a:xfrm>
            <a:off x="4521200" y="6336198"/>
            <a:ext cx="2783840" cy="0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>
            <a:extLst>
              <a:ext uri="{FF2B5EF4-FFF2-40B4-BE49-F238E27FC236}">
                <a16:creationId xmlns:a16="http://schemas.microsoft.com/office/drawing/2014/main" id="{A9E343DE-DC6C-BF8D-2C1D-E7529BFF8B60}"/>
              </a:ext>
            </a:extLst>
          </p:cNvPr>
          <p:cNvSpPr txBox="1"/>
          <p:nvPr/>
        </p:nvSpPr>
        <p:spPr>
          <a:xfrm>
            <a:off x="7376160" y="6122144"/>
            <a:ext cx="215956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>
                <a:solidFill>
                  <a:srgbClr val="C00000"/>
                </a:solidFill>
              </a:rPr>
              <a:t>layout/index.vue</a:t>
            </a:r>
            <a:endParaRPr lang="zh-CN" altLang="en-US" sz="1600" b="1">
              <a:solidFill>
                <a:srgbClr val="C00000"/>
              </a:solidFill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E0FCEE62-7860-D9B9-4FD9-DF1B2D808FEE}"/>
              </a:ext>
            </a:extLst>
          </p:cNvPr>
          <p:cNvSpPr txBox="1"/>
          <p:nvPr/>
        </p:nvSpPr>
        <p:spPr>
          <a:xfrm>
            <a:off x="9950889" y="5773132"/>
            <a:ext cx="18474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i="0">
                <a:solidFill>
                  <a:srgbClr val="C00000"/>
                </a:solidFill>
                <a:effectLst/>
                <a:latin typeface="沐瑶随心手写体" panose="02010600010101010101" pitchFamily="2" charset="-122"/>
                <a:ea typeface="沐瑶随心手写体" panose="02010600010101010101" pitchFamily="2" charset="-122"/>
              </a:rPr>
              <a:t>嵌套路由</a:t>
            </a:r>
            <a:endParaRPr lang="zh-CN" altLang="en-US" sz="3200" b="1">
              <a:solidFill>
                <a:srgbClr val="C00000"/>
              </a:solidFill>
              <a:latin typeface="沐瑶随心手写体" panose="02010600010101010101" pitchFamily="2" charset="-122"/>
              <a:ea typeface="沐瑶随心手写体" panose="02010600010101010101" pitchFamily="2" charset="-122"/>
            </a:endParaRP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DF856FF6-BC31-8E8F-838D-9ED6252C0580}"/>
              </a:ext>
            </a:extLst>
          </p:cNvPr>
          <p:cNvCxnSpPr>
            <a:cxnSpLocks/>
          </p:cNvCxnSpPr>
          <p:nvPr/>
        </p:nvCxnSpPr>
        <p:spPr>
          <a:xfrm>
            <a:off x="10200640" y="4501896"/>
            <a:ext cx="1727200" cy="0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5D3D0D39-E8A1-35F8-D1A1-175A00103C36}"/>
              </a:ext>
            </a:extLst>
          </p:cNvPr>
          <p:cNvSpPr txBox="1"/>
          <p:nvPr/>
        </p:nvSpPr>
        <p:spPr>
          <a:xfrm>
            <a:off x="10308757" y="4641501"/>
            <a:ext cx="15792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>
                <a:solidFill>
                  <a:srgbClr val="C00000"/>
                </a:solidFill>
              </a:rPr>
              <a:t>index/index.vue</a:t>
            </a:r>
          </a:p>
          <a:p>
            <a:endParaRPr lang="en-US" altLang="zh-CN" sz="1200">
              <a:solidFill>
                <a:srgbClr val="C00000"/>
              </a:solidFill>
            </a:endParaRPr>
          </a:p>
          <a:p>
            <a:r>
              <a:rPr lang="en-US" altLang="zh-CN" sz="1200">
                <a:solidFill>
                  <a:srgbClr val="C00000"/>
                </a:solidFill>
              </a:rPr>
              <a:t>dept/index.vue</a:t>
            </a:r>
            <a:endParaRPr lang="zh-CN" altLang="en-US" sz="120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87133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6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75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4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1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12" grpId="0" animBg="1"/>
      <p:bldP spid="16" grpId="0"/>
      <p:bldP spid="18" grpId="0" animBg="1"/>
      <p:bldP spid="24" grpId="0"/>
      <p:bldP spid="28" grpId="0"/>
      <p:bldP spid="2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429AC9-3E40-14CB-DB9E-0702463AA3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6F19E1-8B2B-F1CA-EE23-8F8A69740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案例路由实现</a:t>
            </a:r>
          </a:p>
        </p:txBody>
      </p:sp>
      <p:sp>
        <p:nvSpPr>
          <p:cNvPr id="4" name="矩形: 圆顶角 3">
            <a:extLst>
              <a:ext uri="{FF2B5EF4-FFF2-40B4-BE49-F238E27FC236}">
                <a16:creationId xmlns:a16="http://schemas.microsoft.com/office/drawing/2014/main" id="{E0FD29F1-6F2D-0EBD-9F87-CD59BCC0A878}"/>
              </a:ext>
            </a:extLst>
          </p:cNvPr>
          <p:cNvSpPr/>
          <p:nvPr/>
        </p:nvSpPr>
        <p:spPr>
          <a:xfrm rot="16200000">
            <a:off x="6696345" y="278553"/>
            <a:ext cx="889556" cy="2090246"/>
          </a:xfrm>
          <a:prstGeom prst="round2SameRect">
            <a:avLst>
              <a:gd name="adj1" fmla="val 9324"/>
              <a:gd name="adj2" fmla="val 0"/>
            </a:avLst>
          </a:prstGeom>
          <a:solidFill>
            <a:srgbClr val="3449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A84BCF3-BE70-715A-5F6A-B1FE8DFB8C18}"/>
              </a:ext>
            </a:extLst>
          </p:cNvPr>
          <p:cNvSpPr txBox="1"/>
          <p:nvPr/>
        </p:nvSpPr>
        <p:spPr>
          <a:xfrm>
            <a:off x="6111554" y="1173742"/>
            <a:ext cx="398399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80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Router</a:t>
            </a:r>
            <a:r>
              <a:rPr lang="zh-CN" altLang="en-US" sz="1000" b="1">
                <a:solidFill>
                  <a:schemeClr val="bg1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实例</a:t>
            </a:r>
            <a:endParaRPr lang="zh-CN" altLang="en-US" sz="1000" b="1" dirty="0">
              <a:solidFill>
                <a:schemeClr val="bg1"/>
              </a:solidFill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FF4E8F53-A689-93F2-5241-2F6095181825}"/>
              </a:ext>
            </a:extLst>
          </p:cNvPr>
          <p:cNvGrpSpPr/>
          <p:nvPr/>
        </p:nvGrpSpPr>
        <p:grpSpPr>
          <a:xfrm>
            <a:off x="6469899" y="878899"/>
            <a:ext cx="1883385" cy="889556"/>
            <a:chOff x="1753006" y="4579598"/>
            <a:chExt cx="2721716" cy="1114417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830A0371-3535-7AF8-D355-8F35B4B12C31}"/>
                </a:ext>
              </a:extLst>
            </p:cNvPr>
            <p:cNvSpPr/>
            <p:nvPr/>
          </p:nvSpPr>
          <p:spPr>
            <a:xfrm>
              <a:off x="1854200" y="4579598"/>
              <a:ext cx="2379133" cy="1114417"/>
            </a:xfrm>
            <a:prstGeom prst="rect">
              <a:avLst/>
            </a:prstGeom>
            <a:solidFill>
              <a:srgbClr val="41B8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ECB75CDF-398F-D92F-7A5B-F42E2A0A7E77}"/>
                </a:ext>
              </a:extLst>
            </p:cNvPr>
            <p:cNvSpPr txBox="1"/>
            <p:nvPr/>
          </p:nvSpPr>
          <p:spPr>
            <a:xfrm>
              <a:off x="1753006" y="4586039"/>
              <a:ext cx="2721716" cy="10820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lnSpc>
                  <a:spcPct val="150000"/>
                </a:lnSpc>
                <a:spcBef>
                  <a:spcPts val="300"/>
                </a:spcBef>
                <a:spcAft>
                  <a:spcPts val="0"/>
                </a:spcAft>
              </a:pPr>
              <a:r>
                <a:rPr lang="en-US" altLang="zh-CN" sz="800" b="1">
                  <a:solidFill>
                    <a:schemeClr val="bg1"/>
                  </a:solidFill>
                  <a:latin typeface="Fira Code" panose="020B0809050000020004" pitchFamily="49" charset="0"/>
                  <a:ea typeface="Fira Code" panose="020B0809050000020004" pitchFamily="49" charset="0"/>
                </a:rPr>
                <a:t>routes:</a:t>
              </a:r>
            </a:p>
            <a:p>
              <a:pPr fontAlgn="auto">
                <a:lnSpc>
                  <a:spcPct val="150000"/>
                </a:lnSpc>
                <a:spcBef>
                  <a:spcPts val="300"/>
                </a:spcBef>
                <a:spcAft>
                  <a:spcPts val="0"/>
                </a:spcAft>
              </a:pPr>
              <a:r>
                <a:rPr lang="en-US" altLang="zh-CN" sz="700" b="1">
                  <a:solidFill>
                    <a:schemeClr val="bg1"/>
                  </a:solidFill>
                  <a:latin typeface="Fira Code" panose="020B0809050000020004" pitchFamily="49" charset="0"/>
                  <a:ea typeface="Fira Code" panose="020B0809050000020004" pitchFamily="49" charset="0"/>
                </a:rPr>
                <a:t>  /stu:</a:t>
              </a:r>
              <a:r>
                <a:rPr lang="zh-CN" altLang="en-US" sz="700">
                  <a:solidFill>
                    <a:schemeClr val="bg1"/>
                  </a:solidFill>
                  <a:latin typeface="Fira Code" panose="020B0809050000020004" pitchFamily="49" charset="0"/>
                </a:rPr>
                <a:t>  </a:t>
              </a:r>
              <a:r>
                <a:rPr lang="en-US" altLang="zh-CN" sz="700">
                  <a:solidFill>
                    <a:schemeClr val="bg1"/>
                  </a:solidFill>
                  <a:latin typeface="Fira Code" panose="020B0809050000020004" pitchFamily="49" charset="0"/>
                  <a:ea typeface="Fira Code" panose="020B0809050000020004" pitchFamily="49" charset="0"/>
                </a:rPr>
                <a:t>/views/stu/index.vue</a:t>
              </a:r>
            </a:p>
            <a:p>
              <a:pPr fontAlgn="auto">
                <a:lnSpc>
                  <a:spcPct val="150000"/>
                </a:lnSpc>
                <a:spcBef>
                  <a:spcPts val="300"/>
                </a:spcBef>
                <a:spcAft>
                  <a:spcPts val="0"/>
                </a:spcAft>
              </a:pPr>
              <a:r>
                <a:rPr lang="en-US" altLang="zh-CN" sz="700" b="1">
                  <a:solidFill>
                    <a:schemeClr val="bg1"/>
                  </a:solidFill>
                  <a:latin typeface="Fira Code" panose="020B0809050000020004" pitchFamily="49" charset="0"/>
                  <a:ea typeface="Fira Code" panose="020B0809050000020004" pitchFamily="49" charset="0"/>
                </a:rPr>
                <a:t>  /emp:</a:t>
              </a:r>
              <a:r>
                <a:rPr lang="en-US" altLang="zh-CN" sz="700">
                  <a:solidFill>
                    <a:schemeClr val="bg1"/>
                  </a:solidFill>
                  <a:latin typeface="Fira Code" panose="020B0809050000020004" pitchFamily="49" charset="0"/>
                  <a:ea typeface="Fira Code" panose="020B0809050000020004" pitchFamily="49" charset="0"/>
                </a:rPr>
                <a:t>  /views/emp/index.vue</a:t>
              </a:r>
            </a:p>
            <a:p>
              <a:pPr fontAlgn="auto">
                <a:lnSpc>
                  <a:spcPct val="150000"/>
                </a:lnSpc>
                <a:spcBef>
                  <a:spcPts val="300"/>
                </a:spcBef>
                <a:spcAft>
                  <a:spcPts val="0"/>
                </a:spcAft>
              </a:pPr>
              <a:r>
                <a:rPr lang="en-US" altLang="zh-CN" sz="700" b="1">
                  <a:solidFill>
                    <a:schemeClr val="bg1"/>
                  </a:solidFill>
                  <a:latin typeface="Fira Code" panose="020B0809050000020004" pitchFamily="49" charset="0"/>
                  <a:ea typeface="Fira Code" panose="020B0809050000020004" pitchFamily="49" charset="0"/>
                </a:rPr>
                <a:t>  /dept:</a:t>
              </a:r>
              <a:r>
                <a:rPr lang="en-US" altLang="zh-CN" sz="700">
                  <a:solidFill>
                    <a:schemeClr val="bg1"/>
                  </a:solidFill>
                  <a:latin typeface="Fira Code" panose="020B0809050000020004" pitchFamily="49" charset="0"/>
                  <a:ea typeface="Fira Code" panose="020B0809050000020004" pitchFamily="49" charset="0"/>
                </a:rPr>
                <a:t> /views/dept/index.vue</a:t>
              </a:r>
              <a:endParaRPr lang="zh-CN" altLang="en-US" sz="700" dirty="0">
                <a:solidFill>
                  <a:schemeClr val="bg1"/>
                </a:solidFill>
                <a:latin typeface="Fira Code" panose="020B0809050000020004" pitchFamily="49" charset="0"/>
              </a:endParaRPr>
            </a:p>
          </p:txBody>
        </p:sp>
      </p:grp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1EC12FAE-7CE1-AD08-5E2E-47BAD9434445}"/>
              </a:ext>
            </a:extLst>
          </p:cNvPr>
          <p:cNvSpPr/>
          <p:nvPr/>
        </p:nvSpPr>
        <p:spPr>
          <a:xfrm>
            <a:off x="9551344" y="193283"/>
            <a:ext cx="2425545" cy="500114"/>
          </a:xfrm>
          <a:prstGeom prst="roundRect">
            <a:avLst/>
          </a:prstGeom>
          <a:solidFill>
            <a:srgbClr val="41B88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50000"/>
              </a:lnSpc>
            </a:pPr>
            <a:endParaRPr lang="en-US" altLang="zh-CN" sz="900"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algn="ctr">
              <a:lnSpc>
                <a:spcPct val="150000"/>
              </a:lnSpc>
            </a:pPr>
            <a:r>
              <a:rPr lang="en-US" altLang="zh-CN" sz="70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&lt;router-link to='/emp'&gt;</a:t>
            </a:r>
            <a:r>
              <a:rPr lang="zh-CN" altLang="en-US" sz="70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员工管理</a:t>
            </a:r>
            <a:r>
              <a:rPr lang="en-US" altLang="zh-CN" sz="70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&lt;/router-link&gt;</a:t>
            </a:r>
            <a:endParaRPr lang="zh-CN" altLang="en-US" sz="700"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2C775B4C-ED3A-F168-B17D-C307144A9261}"/>
              </a:ext>
            </a:extLst>
          </p:cNvPr>
          <p:cNvSpPr/>
          <p:nvPr/>
        </p:nvSpPr>
        <p:spPr>
          <a:xfrm>
            <a:off x="9551344" y="1994430"/>
            <a:ext cx="2425545" cy="500114"/>
          </a:xfrm>
          <a:prstGeom prst="roundRect">
            <a:avLst/>
          </a:prstGeom>
          <a:solidFill>
            <a:srgbClr val="41B88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50000"/>
              </a:lnSpc>
            </a:pPr>
            <a:endParaRPr lang="en-US" altLang="zh-CN" sz="900"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algn="ctr">
              <a:lnSpc>
                <a:spcPct val="150000"/>
              </a:lnSpc>
            </a:pPr>
            <a:r>
              <a:rPr lang="en-US" altLang="zh-CN" sz="80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&lt;router-view&gt;&lt;/router-view&gt;</a:t>
            </a:r>
            <a:endParaRPr lang="zh-CN" altLang="en-US" sz="800"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: 圆顶角 10">
            <a:extLst>
              <a:ext uri="{FF2B5EF4-FFF2-40B4-BE49-F238E27FC236}">
                <a16:creationId xmlns:a16="http://schemas.microsoft.com/office/drawing/2014/main" id="{B2C2F89C-B127-5670-FBF5-E200A0BA8B15}"/>
              </a:ext>
            </a:extLst>
          </p:cNvPr>
          <p:cNvSpPr/>
          <p:nvPr/>
        </p:nvSpPr>
        <p:spPr>
          <a:xfrm>
            <a:off x="9551344" y="193282"/>
            <a:ext cx="2425545" cy="250058"/>
          </a:xfrm>
          <a:prstGeom prst="round2SameRect">
            <a:avLst>
              <a:gd name="adj1" fmla="val 30607"/>
              <a:gd name="adj2" fmla="val 0"/>
            </a:avLst>
          </a:prstGeom>
          <a:solidFill>
            <a:srgbClr val="3449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b="1">
                <a:solidFill>
                  <a:schemeClr val="bg1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路由链接组件 </a:t>
            </a:r>
            <a:r>
              <a:rPr lang="en-US" altLang="zh-CN" sz="100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&lt;router-link&gt;</a:t>
            </a:r>
          </a:p>
        </p:txBody>
      </p:sp>
      <p:sp>
        <p:nvSpPr>
          <p:cNvPr id="12" name="矩形: 圆顶角 11">
            <a:extLst>
              <a:ext uri="{FF2B5EF4-FFF2-40B4-BE49-F238E27FC236}">
                <a16:creationId xmlns:a16="http://schemas.microsoft.com/office/drawing/2014/main" id="{48CAD200-8A4A-D262-E6E7-4F291DD2FE01}"/>
              </a:ext>
            </a:extLst>
          </p:cNvPr>
          <p:cNvSpPr/>
          <p:nvPr/>
        </p:nvSpPr>
        <p:spPr>
          <a:xfrm>
            <a:off x="9551344" y="1994430"/>
            <a:ext cx="2425545" cy="250058"/>
          </a:xfrm>
          <a:prstGeom prst="round2SameRect">
            <a:avLst>
              <a:gd name="adj1" fmla="val 30607"/>
              <a:gd name="adj2" fmla="val 0"/>
            </a:avLst>
          </a:prstGeom>
          <a:solidFill>
            <a:srgbClr val="3449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b="1">
                <a:solidFill>
                  <a:schemeClr val="bg1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路由展示组件 </a:t>
            </a:r>
            <a:r>
              <a:rPr lang="en-US" altLang="zh-CN" sz="100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&lt;router-view&gt;</a:t>
            </a:r>
          </a:p>
        </p:txBody>
      </p:sp>
      <p:grpSp>
        <p:nvGrpSpPr>
          <p:cNvPr id="13" name="!!组合 21">
            <a:extLst>
              <a:ext uri="{FF2B5EF4-FFF2-40B4-BE49-F238E27FC236}">
                <a16:creationId xmlns:a16="http://schemas.microsoft.com/office/drawing/2014/main" id="{15EA173C-AB06-55EB-C882-63B765FB36EC}"/>
              </a:ext>
            </a:extLst>
          </p:cNvPr>
          <p:cNvGrpSpPr/>
          <p:nvPr/>
        </p:nvGrpSpPr>
        <p:grpSpPr>
          <a:xfrm>
            <a:off x="7363086" y="358140"/>
            <a:ext cx="2188258" cy="480456"/>
            <a:chOff x="3553425" y="3499213"/>
            <a:chExt cx="3162294" cy="601908"/>
          </a:xfrm>
        </p:grpSpPr>
        <p:cxnSp>
          <p:nvCxnSpPr>
            <p:cNvPr id="14" name="连接符: 曲线 13">
              <a:extLst>
                <a:ext uri="{FF2B5EF4-FFF2-40B4-BE49-F238E27FC236}">
                  <a16:creationId xmlns:a16="http://schemas.microsoft.com/office/drawing/2014/main" id="{8425A8B8-9BF5-F1E1-1F81-61AFAA911038}"/>
                </a:ext>
              </a:extLst>
            </p:cNvPr>
            <p:cNvCxnSpPr>
              <a:cxnSpLocks/>
              <a:stCxn id="9" idx="1"/>
              <a:endCxn id="7" idx="0"/>
            </p:cNvCxnSpPr>
            <p:nvPr/>
          </p:nvCxnSpPr>
          <p:spPr>
            <a:xfrm rot="10800000" flipV="1">
              <a:off x="3553425" y="3555459"/>
              <a:ext cx="3162294" cy="545662"/>
            </a:xfrm>
            <a:prstGeom prst="curvedConnector2">
              <a:avLst/>
            </a:prstGeom>
            <a:ln w="19050">
              <a:solidFill>
                <a:schemeClr val="tx1">
                  <a:lumMod val="85000"/>
                  <a:lumOff val="15000"/>
                </a:schemeClr>
              </a:solidFill>
              <a:prstDash val="dash"/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51FD1BB8-D7F7-3F42-7071-385788B30F89}"/>
                </a:ext>
              </a:extLst>
            </p:cNvPr>
            <p:cNvSpPr/>
            <p:nvPr/>
          </p:nvSpPr>
          <p:spPr>
            <a:xfrm rot="21238277">
              <a:off x="4859994" y="3499213"/>
              <a:ext cx="823636" cy="20369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1000">
                  <a:solidFill>
                    <a:schemeClr val="tx1">
                      <a:lumMod val="95000"/>
                      <a:lumOff val="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路由请求</a:t>
              </a:r>
            </a:p>
          </p:txBody>
        </p:sp>
      </p:grpSp>
      <p:grpSp>
        <p:nvGrpSpPr>
          <p:cNvPr id="16" name="!!组合 22">
            <a:extLst>
              <a:ext uri="{FF2B5EF4-FFF2-40B4-BE49-F238E27FC236}">
                <a16:creationId xmlns:a16="http://schemas.microsoft.com/office/drawing/2014/main" id="{94D8A025-8224-6BAE-9356-9B73C740EEB4}"/>
              </a:ext>
            </a:extLst>
          </p:cNvPr>
          <p:cNvGrpSpPr/>
          <p:nvPr/>
        </p:nvGrpSpPr>
        <p:grpSpPr>
          <a:xfrm>
            <a:off x="7363086" y="1768440"/>
            <a:ext cx="2188258" cy="485975"/>
            <a:chOff x="3553423" y="4731452"/>
            <a:chExt cx="3162294" cy="608822"/>
          </a:xfrm>
        </p:grpSpPr>
        <p:cxnSp>
          <p:nvCxnSpPr>
            <p:cNvPr id="17" name="连接符: 曲线 16">
              <a:extLst>
                <a:ext uri="{FF2B5EF4-FFF2-40B4-BE49-F238E27FC236}">
                  <a16:creationId xmlns:a16="http://schemas.microsoft.com/office/drawing/2014/main" id="{C8670703-C15F-1021-EFDD-857448861B1E}"/>
                </a:ext>
              </a:extLst>
            </p:cNvPr>
            <p:cNvCxnSpPr>
              <a:stCxn id="7" idx="2"/>
              <a:endCxn id="10" idx="1"/>
            </p:cNvCxnSpPr>
            <p:nvPr/>
          </p:nvCxnSpPr>
          <p:spPr>
            <a:xfrm rot="16200000" flipH="1">
              <a:off x="4836387" y="3448488"/>
              <a:ext cx="596366" cy="3162294"/>
            </a:xfrm>
            <a:prstGeom prst="curvedConnector2">
              <a:avLst/>
            </a:prstGeom>
            <a:ln w="19050">
              <a:solidFill>
                <a:schemeClr val="tx1">
                  <a:lumMod val="85000"/>
                  <a:lumOff val="15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5708BC63-E9B3-ECDD-0513-B729C6473D2D}"/>
                </a:ext>
              </a:extLst>
            </p:cNvPr>
            <p:cNvSpPr/>
            <p:nvPr/>
          </p:nvSpPr>
          <p:spPr>
            <a:xfrm rot="168037">
              <a:off x="4950822" y="5145043"/>
              <a:ext cx="641974" cy="19523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1000">
                  <a:solidFill>
                    <a:schemeClr val="tx1">
                      <a:lumMod val="95000"/>
                      <a:lumOff val="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更新</a:t>
              </a:r>
            </a:p>
          </p:txBody>
        </p: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05D25CF0-DC8F-7CB5-23C9-3BBB8D56BEFD}"/>
              </a:ext>
            </a:extLst>
          </p:cNvPr>
          <p:cNvGrpSpPr/>
          <p:nvPr/>
        </p:nvGrpSpPr>
        <p:grpSpPr>
          <a:xfrm>
            <a:off x="792302" y="956242"/>
            <a:ext cx="3991601" cy="1601058"/>
            <a:chOff x="9387475" y="3047679"/>
            <a:chExt cx="2991216" cy="1167523"/>
          </a:xfrm>
        </p:grpSpPr>
        <p:pic>
          <p:nvPicPr>
            <p:cNvPr id="24" name="图片 23">
              <a:extLst>
                <a:ext uri="{FF2B5EF4-FFF2-40B4-BE49-F238E27FC236}">
                  <a16:creationId xmlns:a16="http://schemas.microsoft.com/office/drawing/2014/main" id="{A9732C78-9848-CDCF-B90F-55BA8417EAF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r="-5239"/>
            <a:stretch/>
          </p:blipFill>
          <p:spPr>
            <a:xfrm>
              <a:off x="9387475" y="3055176"/>
              <a:ext cx="2982843" cy="1160026"/>
            </a:xfrm>
            <a:prstGeom prst="rect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</p:pic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50B1F5FE-DFCF-5F00-A163-A4789DE32F45}"/>
                </a:ext>
              </a:extLst>
            </p:cNvPr>
            <p:cNvSpPr/>
            <p:nvPr/>
          </p:nvSpPr>
          <p:spPr>
            <a:xfrm>
              <a:off x="11558179" y="3047679"/>
              <a:ext cx="820512" cy="209473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/>
                <a:t>左侧菜单</a:t>
              </a:r>
            </a:p>
          </p:txBody>
        </p:sp>
      </p:grpSp>
      <p:sp>
        <p:nvSpPr>
          <p:cNvPr id="26" name="矩形 25">
            <a:extLst>
              <a:ext uri="{FF2B5EF4-FFF2-40B4-BE49-F238E27FC236}">
                <a16:creationId xmlns:a16="http://schemas.microsoft.com/office/drawing/2014/main" id="{A96AECDB-AA15-D863-F113-F917139EB753}"/>
              </a:ext>
            </a:extLst>
          </p:cNvPr>
          <p:cNvSpPr/>
          <p:nvPr/>
        </p:nvSpPr>
        <p:spPr>
          <a:xfrm>
            <a:off x="792303" y="1769713"/>
            <a:ext cx="3980427" cy="787586"/>
          </a:xfrm>
          <a:prstGeom prst="rect">
            <a:avLst/>
          </a:prstGeom>
          <a:solidFill>
            <a:srgbClr val="00B050">
              <a:alpha val="30196"/>
            </a:srgbClr>
          </a:solidFill>
          <a:ln w="31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3D6D5BDE-5C8F-39DA-DC91-748A93F00C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4803" y="2361965"/>
            <a:ext cx="3383864" cy="66778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32" name="图片 31">
            <a:extLst>
              <a:ext uri="{FF2B5EF4-FFF2-40B4-BE49-F238E27FC236}">
                <a16:creationId xmlns:a16="http://schemas.microsoft.com/office/drawing/2014/main" id="{986AC98C-0E46-B327-E50F-A04136C4AC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085" y="3199902"/>
            <a:ext cx="3980818" cy="332169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cxnSp>
        <p:nvCxnSpPr>
          <p:cNvPr id="50" name="连接符: 曲线 49">
            <a:extLst>
              <a:ext uri="{FF2B5EF4-FFF2-40B4-BE49-F238E27FC236}">
                <a16:creationId xmlns:a16="http://schemas.microsoft.com/office/drawing/2014/main" id="{71610A79-E358-BFFC-62BE-BB18AFC18494}"/>
              </a:ext>
            </a:extLst>
          </p:cNvPr>
          <p:cNvCxnSpPr>
            <a:cxnSpLocks/>
            <a:stCxn id="54" idx="3"/>
            <a:endCxn id="28" idx="0"/>
          </p:cNvCxnSpPr>
          <p:nvPr/>
        </p:nvCxnSpPr>
        <p:spPr>
          <a:xfrm>
            <a:off x="3119719" y="1884690"/>
            <a:ext cx="3037016" cy="477275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矩形: 圆角 53">
            <a:extLst>
              <a:ext uri="{FF2B5EF4-FFF2-40B4-BE49-F238E27FC236}">
                <a16:creationId xmlns:a16="http://schemas.microsoft.com/office/drawing/2014/main" id="{F3596DCC-18B7-3ABB-4852-8E1927B875C9}"/>
              </a:ext>
            </a:extLst>
          </p:cNvPr>
          <p:cNvSpPr/>
          <p:nvPr/>
        </p:nvSpPr>
        <p:spPr>
          <a:xfrm>
            <a:off x="2580965" y="1740955"/>
            <a:ext cx="538754" cy="287470"/>
          </a:xfrm>
          <a:prstGeom prst="roundRect">
            <a:avLst/>
          </a:prstGeom>
          <a:noFill/>
          <a:ln w="1270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矩形: 圆角 55">
            <a:extLst>
              <a:ext uri="{FF2B5EF4-FFF2-40B4-BE49-F238E27FC236}">
                <a16:creationId xmlns:a16="http://schemas.microsoft.com/office/drawing/2014/main" id="{3B7F4A17-C11D-5D44-C74F-2581BFDC5014}"/>
              </a:ext>
            </a:extLst>
          </p:cNvPr>
          <p:cNvSpPr/>
          <p:nvPr/>
        </p:nvSpPr>
        <p:spPr>
          <a:xfrm>
            <a:off x="6469899" y="2706419"/>
            <a:ext cx="361207" cy="287470"/>
          </a:xfrm>
          <a:prstGeom prst="roundRect">
            <a:avLst/>
          </a:prstGeom>
          <a:noFill/>
          <a:ln w="1270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8" name="连接符: 曲线 57">
            <a:extLst>
              <a:ext uri="{FF2B5EF4-FFF2-40B4-BE49-F238E27FC236}">
                <a16:creationId xmlns:a16="http://schemas.microsoft.com/office/drawing/2014/main" id="{92CAB08A-63A6-1610-1D8D-D72C8FA07659}"/>
              </a:ext>
            </a:extLst>
          </p:cNvPr>
          <p:cNvCxnSpPr>
            <a:stCxn id="56" idx="2"/>
            <a:endCxn id="32" idx="0"/>
          </p:cNvCxnSpPr>
          <p:nvPr/>
        </p:nvCxnSpPr>
        <p:spPr>
          <a:xfrm rot="5400000">
            <a:off x="4618993" y="1168391"/>
            <a:ext cx="206013" cy="3857009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矩形: 圆角 58">
            <a:extLst>
              <a:ext uri="{FF2B5EF4-FFF2-40B4-BE49-F238E27FC236}">
                <a16:creationId xmlns:a16="http://schemas.microsoft.com/office/drawing/2014/main" id="{FD018705-616D-760F-20FC-778D323600FA}"/>
              </a:ext>
            </a:extLst>
          </p:cNvPr>
          <p:cNvSpPr/>
          <p:nvPr/>
        </p:nvSpPr>
        <p:spPr>
          <a:xfrm>
            <a:off x="1915685" y="3821614"/>
            <a:ext cx="513751" cy="287470"/>
          </a:xfrm>
          <a:prstGeom prst="roundRect">
            <a:avLst/>
          </a:prstGeom>
          <a:noFill/>
          <a:ln w="1270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矩形: 圆角 66">
            <a:extLst>
              <a:ext uri="{FF2B5EF4-FFF2-40B4-BE49-F238E27FC236}">
                <a16:creationId xmlns:a16="http://schemas.microsoft.com/office/drawing/2014/main" id="{82C3D9C1-5B8A-FC3F-567B-636259418DFD}"/>
              </a:ext>
            </a:extLst>
          </p:cNvPr>
          <p:cNvSpPr/>
          <p:nvPr/>
        </p:nvSpPr>
        <p:spPr>
          <a:xfrm>
            <a:off x="1264024" y="5181599"/>
            <a:ext cx="2644588" cy="206188"/>
          </a:xfrm>
          <a:prstGeom prst="roundRect">
            <a:avLst/>
          </a:prstGeom>
          <a:noFill/>
          <a:ln w="1270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1" name="图片 70">
            <a:extLst>
              <a:ext uri="{FF2B5EF4-FFF2-40B4-BE49-F238E27FC236}">
                <a16:creationId xmlns:a16="http://schemas.microsoft.com/office/drawing/2014/main" id="{7822363E-E265-91EB-D6AF-B7B8F6CAF7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5486" y="3199903"/>
            <a:ext cx="6991403" cy="356328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74" name="图片 73">
            <a:extLst>
              <a:ext uri="{FF2B5EF4-FFF2-40B4-BE49-F238E27FC236}">
                <a16:creationId xmlns:a16="http://schemas.microsoft.com/office/drawing/2014/main" id="{669B9DDB-726B-3324-23E7-F563694D2B8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2059" y="3536088"/>
            <a:ext cx="1334673" cy="652670"/>
          </a:xfrm>
          <a:prstGeom prst="rect">
            <a:avLst/>
          </a:prstGeom>
        </p:spPr>
      </p:pic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D115C77A-9BC3-5F09-79BA-1401D6A0C33E}"/>
              </a:ext>
            </a:extLst>
          </p:cNvPr>
          <p:cNvCxnSpPr>
            <a:stCxn id="59" idx="3"/>
          </p:cNvCxnSpPr>
          <p:nvPr/>
        </p:nvCxnSpPr>
        <p:spPr>
          <a:xfrm flipV="1">
            <a:off x="2429436" y="3962400"/>
            <a:ext cx="2556050" cy="29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连接符: 曲线 26">
            <a:extLst>
              <a:ext uri="{FF2B5EF4-FFF2-40B4-BE49-F238E27FC236}">
                <a16:creationId xmlns:a16="http://schemas.microsoft.com/office/drawing/2014/main" id="{D7FDE2C1-ADB6-DB72-1026-19464B80A05E}"/>
              </a:ext>
            </a:extLst>
          </p:cNvPr>
          <p:cNvCxnSpPr>
            <a:stCxn id="67" idx="3"/>
          </p:cNvCxnSpPr>
          <p:nvPr/>
        </p:nvCxnSpPr>
        <p:spPr>
          <a:xfrm flipV="1">
            <a:off x="3908612" y="3821614"/>
            <a:ext cx="2183447" cy="1463079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6354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6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54" grpId="0" animBg="1"/>
      <p:bldP spid="56" grpId="0" animBg="1"/>
      <p:bldP spid="59" grpId="0" animBg="1"/>
      <p:bldP spid="6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22F31F-2573-6C2E-8997-BDC297F381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72FF27B-C515-1970-0A2B-CE10C38B171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500247" y="1447257"/>
            <a:ext cx="3692525" cy="3097848"/>
          </a:xfrm>
        </p:spPr>
        <p:txBody>
          <a:bodyPr/>
          <a:lstStyle/>
          <a:p>
            <a:r>
              <a:rPr lang="zh-CN" altLang="en-US"/>
              <a:t>开发模式</a:t>
            </a:r>
            <a:endParaRPr lang="en-US" altLang="zh-CN"/>
          </a:p>
          <a:p>
            <a:r>
              <a:rPr lang="zh-CN" altLang="en-US"/>
              <a:t>整体布局</a:t>
            </a:r>
            <a:endParaRPr lang="en-US" altLang="zh-CN"/>
          </a:p>
          <a:p>
            <a:r>
              <a:rPr lang="zh-CN" altLang="en-US">
                <a:solidFill>
                  <a:srgbClr val="C00000"/>
                </a:solidFill>
              </a:rPr>
              <a:t>部门管理</a:t>
            </a:r>
            <a:endParaRPr lang="en-US" altLang="zh-CN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08711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6C3644B-709D-C209-C56C-35D176CE457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/>
              <a:t>部门管理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7D66842-F3CF-F0CA-889E-D532EE7A80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51439" y="2924827"/>
            <a:ext cx="3692525" cy="2687079"/>
          </a:xfrm>
        </p:spPr>
        <p:txBody>
          <a:bodyPr/>
          <a:lstStyle/>
          <a:p>
            <a:r>
              <a:rPr lang="zh-CN" altLang="en-US"/>
              <a:t>列表查询</a:t>
            </a:r>
            <a:endParaRPr lang="en-US" altLang="zh-CN"/>
          </a:p>
          <a:p>
            <a:r>
              <a:rPr lang="zh-CN" altLang="en-US"/>
              <a:t>新增部门</a:t>
            </a:r>
            <a:endParaRPr lang="en-US" altLang="zh-CN"/>
          </a:p>
          <a:p>
            <a:r>
              <a:rPr lang="zh-CN" altLang="en-US"/>
              <a:t>修改部门</a:t>
            </a:r>
            <a:endParaRPr lang="en-US" altLang="zh-CN"/>
          </a:p>
          <a:p>
            <a:r>
              <a:rPr lang="zh-CN" altLang="en-US"/>
              <a:t>删除部门</a:t>
            </a:r>
            <a:endParaRPr lang="en-US" altLang="zh-CN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8EC42937-3BFC-D69A-E4F8-934D19CCD13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03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8834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5">
            <a:extLst>
              <a:ext uri="{FF2B5EF4-FFF2-40B4-BE49-F238E27FC236}">
                <a16:creationId xmlns:a16="http://schemas.microsoft.com/office/drawing/2014/main" id="{B2518118-719D-D6D7-B741-51F46C67DB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060481" cy="474415"/>
          </a:xfrm>
          <a:prstGeom prst="rect">
            <a:avLst/>
          </a:prstGeo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>
                <a:solidFill>
                  <a:schemeClr val="tx1">
                    <a:lumMod val="50000"/>
                  </a:schemeClr>
                </a:solidFill>
              </a:rPr>
              <a:t>根据页面原型、需求说明、接口文档，先完成页面的基本布局。</a:t>
            </a:r>
          </a:p>
        </p:txBody>
      </p:sp>
      <p:sp>
        <p:nvSpPr>
          <p:cNvPr id="7" name="标题 6">
            <a:extLst>
              <a:ext uri="{FF2B5EF4-FFF2-40B4-BE49-F238E27FC236}">
                <a16:creationId xmlns:a16="http://schemas.microsoft.com/office/drawing/2014/main" id="{0349273D-824F-3726-2C0D-677E90EE1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列表查询</a:t>
            </a:r>
            <a:r>
              <a:rPr lang="en-US" altLang="zh-CN"/>
              <a:t>-</a:t>
            </a:r>
            <a:r>
              <a:rPr lang="zh-CN" altLang="en-US"/>
              <a:t>页面布局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E7CA4ECF-C945-7217-4BDD-B1DD271BB08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6587"/>
          <a:stretch/>
        </p:blipFill>
        <p:spPr>
          <a:xfrm>
            <a:off x="974334" y="1576083"/>
            <a:ext cx="8116249" cy="4168849"/>
          </a:xfrm>
          <a:prstGeom prst="rect">
            <a:avLst/>
          </a:prstGeom>
          <a:ln w="6350"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0EDCEEAD-5F92-F511-E0E2-CDAD45DC7A84}"/>
              </a:ext>
            </a:extLst>
          </p:cNvPr>
          <p:cNvSpPr txBox="1"/>
          <p:nvPr/>
        </p:nvSpPr>
        <p:spPr>
          <a:xfrm>
            <a:off x="9562299" y="3157291"/>
            <a:ext cx="2074379" cy="873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fontAlgn="auto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en-US" altLang="zh-CN" sz="160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Button</a:t>
            </a:r>
            <a:r>
              <a:rPr lang="zh-CN" altLang="en-US" sz="160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按钮组件</a:t>
            </a:r>
            <a:endParaRPr lang="en-US" altLang="zh-CN" sz="1600">
              <a:solidFill>
                <a:schemeClr val="tx1">
                  <a:lumMod val="50000"/>
                </a:schemeClr>
              </a:solidFill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285750" indent="-285750" fontAlgn="auto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en-US" altLang="zh-CN" sz="160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Table</a:t>
            </a:r>
            <a:r>
              <a:rPr lang="zh-CN" altLang="en-US" sz="160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表格组件</a:t>
            </a:r>
            <a:endParaRPr lang="zh-CN" altLang="en-US" sz="1600" dirty="0">
              <a:solidFill>
                <a:schemeClr val="tx1">
                  <a:lumMod val="50000"/>
                </a:schemeClr>
              </a:solidFill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39554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4A9BCD-2BE1-09EC-8227-5A0453970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列表查询</a:t>
            </a:r>
            <a:r>
              <a:rPr lang="en-US" altLang="zh-CN"/>
              <a:t>-</a:t>
            </a:r>
            <a:r>
              <a:rPr lang="zh-CN" altLang="en-US"/>
              <a:t>加载数据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AF03D80-35CA-C7A4-BAF9-A7C2FAEE61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060481" cy="474415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根据需求，需要在打开页面之后，需要自动加载全部部门数据，展示在表格中。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AB3B5D1-4E95-E11E-B1D6-547D0D9752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307" y="1576083"/>
            <a:ext cx="10234611" cy="245908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</p:pic>
      <p:sp>
        <p:nvSpPr>
          <p:cNvPr id="6" name="内容占位符 2">
            <a:extLst>
              <a:ext uri="{FF2B5EF4-FFF2-40B4-BE49-F238E27FC236}">
                <a16:creationId xmlns:a16="http://schemas.microsoft.com/office/drawing/2014/main" id="{1F496E01-95BE-0ACC-005D-96D7A9860C16}"/>
              </a:ext>
            </a:extLst>
          </p:cNvPr>
          <p:cNvSpPr txBox="1">
            <a:spLocks/>
          </p:cNvSpPr>
          <p:nvPr/>
        </p:nvSpPr>
        <p:spPr>
          <a:xfrm>
            <a:off x="576197" y="4416618"/>
            <a:ext cx="11060481" cy="1643523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前后端分离开发模式中，前后端是并行开发的，前端如何进行接口请求测试？</a:t>
            </a:r>
            <a:endParaRPr lang="en-US" altLang="zh-CN"/>
          </a:p>
          <a:p>
            <a:pPr marL="612000" lvl="1" indent="-342900">
              <a:lnSpc>
                <a:spcPct val="150000"/>
              </a:lnSpc>
              <a:spcBef>
                <a:spcPts val="1200"/>
              </a:spcBef>
              <a:buFont typeface="+mj-lt"/>
              <a:buAutoNum type="arabicPeriod"/>
            </a:pPr>
            <a:r>
              <a:rPr lang="en-US" altLang="zh-CN"/>
              <a:t>Mock.js</a:t>
            </a:r>
            <a:r>
              <a:rPr lang="zh-CN" altLang="en-US"/>
              <a:t>来生成测试的假数据</a:t>
            </a:r>
            <a:endParaRPr lang="en-US" altLang="zh-CN"/>
          </a:p>
          <a:p>
            <a:pPr marL="612000" lvl="1" indent="-342900">
              <a:lnSpc>
                <a:spcPct val="150000"/>
              </a:lnSpc>
              <a:spcBef>
                <a:spcPts val="1200"/>
              </a:spcBef>
              <a:buFont typeface="+mj-lt"/>
              <a:buAutoNum type="arabicPeriod"/>
            </a:pPr>
            <a:r>
              <a:rPr lang="zh-CN" altLang="en-US"/>
              <a:t>基于</a:t>
            </a:r>
            <a:r>
              <a:rPr lang="en-US" altLang="zh-CN"/>
              <a:t>Apifox</a:t>
            </a:r>
            <a:r>
              <a:rPr lang="zh-CN" altLang="en-US"/>
              <a:t>提供的</a:t>
            </a:r>
            <a:r>
              <a:rPr lang="en-US" altLang="zh-CN"/>
              <a:t>Mock</a:t>
            </a:r>
            <a:r>
              <a:rPr lang="zh-CN" altLang="en-US"/>
              <a:t>服务进行测试</a:t>
            </a:r>
            <a:endParaRPr lang="en-US" altLang="zh-CN"/>
          </a:p>
          <a:p>
            <a:pPr marL="285750" indent="-285750">
              <a:buFont typeface="Wingdings" panose="05000000000000000000" pitchFamily="2" charset="2"/>
              <a:buChar char="l"/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5360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935FD0C-8730-BCAD-8868-52E133A7865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 sz="1800"/>
              <a:t>动态加载部门列表数据 </a:t>
            </a:r>
            <a:endParaRPr lang="en-US" altLang="zh-CN" sz="1800"/>
          </a:p>
          <a:p>
            <a:pPr marL="612000" lvl="1" indent="-342900">
              <a:lnSpc>
                <a:spcPct val="150000"/>
              </a:lnSpc>
            </a:pPr>
            <a:r>
              <a:rPr lang="zh-CN" altLang="en-US" sz="1600" b="0">
                <a:latin typeface="Fira Code" panose="020B0809050000020004" pitchFamily="49" charset="0"/>
              </a:rPr>
              <a:t>钩子函数 </a:t>
            </a:r>
            <a:r>
              <a:rPr lang="en-US" altLang="zh-CN" sz="1600" b="0">
                <a:latin typeface="Fira Code" panose="020B0809050000020004" pitchFamily="49" charset="0"/>
                <a:ea typeface="Fira Code" panose="020B0809050000020004" pitchFamily="49" charset="0"/>
              </a:rPr>
              <a:t>onMounted</a:t>
            </a:r>
          </a:p>
          <a:p>
            <a:pPr marL="612000" lvl="1" indent="-342900">
              <a:lnSpc>
                <a:spcPct val="150000"/>
              </a:lnSpc>
            </a:pPr>
            <a:r>
              <a:rPr lang="en-US" altLang="zh-CN" sz="1600" b="0">
                <a:latin typeface="Fira Code" panose="020B0809050000020004" pitchFamily="49" charset="0"/>
                <a:ea typeface="Fira Code" panose="020B0809050000020004" pitchFamily="49" charset="0"/>
              </a:rPr>
              <a:t>Axios</a:t>
            </a:r>
            <a:r>
              <a:rPr lang="zh-CN" altLang="en-US" sz="1600" b="0">
                <a:latin typeface="Fira Code" panose="020B0809050000020004" pitchFamily="49" charset="0"/>
              </a:rPr>
              <a:t>发送异步请求</a:t>
            </a:r>
          </a:p>
        </p:txBody>
      </p:sp>
    </p:spTree>
    <p:extLst>
      <p:ext uri="{BB962C8B-B14F-4D97-AF65-F5344CB8AC3E}">
        <p14:creationId xmlns:p14="http://schemas.microsoft.com/office/powerpoint/2010/main" val="630536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BDBF806-E84C-C4BD-5944-B9AE919B820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77591" y="1686161"/>
            <a:ext cx="6967456" cy="1763170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 sz="1800"/>
              <a:t>直接在</a:t>
            </a:r>
            <a:r>
              <a:rPr lang="en-US" altLang="zh-CN" sz="1800">
                <a:ea typeface="Fira Code" panose="020B0809050000020004" pitchFamily="49" charset="0"/>
              </a:rPr>
              <a:t>vue</a:t>
            </a:r>
            <a:r>
              <a:rPr lang="zh-CN" altLang="en-US" sz="1800"/>
              <a:t>组件中，基于</a:t>
            </a:r>
            <a:r>
              <a:rPr lang="en-US" altLang="zh-CN" sz="1800">
                <a:ea typeface="Fira Code" panose="020B0809050000020004" pitchFamily="49" charset="0"/>
              </a:rPr>
              <a:t>axios</a:t>
            </a:r>
            <a:r>
              <a:rPr lang="zh-CN" altLang="en-US" sz="1800"/>
              <a:t>发送异步请求，存在什么问题？</a:t>
            </a:r>
          </a:p>
        </p:txBody>
      </p:sp>
      <p:grpSp>
        <p:nvGrpSpPr>
          <p:cNvPr id="5" name="!!组合 2">
            <a:extLst>
              <a:ext uri="{FF2B5EF4-FFF2-40B4-BE49-F238E27FC236}">
                <a16:creationId xmlns:a16="http://schemas.microsoft.com/office/drawing/2014/main" id="{469717C9-BCD9-835F-5D59-A5DFB76781DD}"/>
              </a:ext>
            </a:extLst>
          </p:cNvPr>
          <p:cNvGrpSpPr/>
          <p:nvPr/>
        </p:nvGrpSpPr>
        <p:grpSpPr>
          <a:xfrm>
            <a:off x="4414456" y="2968315"/>
            <a:ext cx="7424484" cy="1763170"/>
            <a:chOff x="2297720" y="3660322"/>
            <a:chExt cx="8255628" cy="1703179"/>
          </a:xfrm>
        </p:grpSpPr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80B23BA4-F5CE-45DD-1F6C-990C84161E1F}"/>
                </a:ext>
              </a:extLst>
            </p:cNvPr>
            <p:cNvSpPr/>
            <p:nvPr/>
          </p:nvSpPr>
          <p:spPr>
            <a:xfrm>
              <a:off x="2297727" y="3660325"/>
              <a:ext cx="8255621" cy="1703176"/>
            </a:xfrm>
            <a:prstGeom prst="roundRect">
              <a:avLst>
                <a:gd name="adj" fmla="val 4357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180000" rIns="36000" bIns="0" rtlCol="0" anchor="ctr"/>
            <a:lstStyle/>
            <a:p>
              <a:pPr>
                <a:lnSpc>
                  <a:spcPct val="150000"/>
                </a:lnSpc>
              </a:pPr>
              <a:r>
                <a:rPr lang="en-US" altLang="zh-CN" sz="1100" b="0">
                  <a:solidFill>
                    <a:srgbClr val="0000FF"/>
                  </a:solidFill>
                  <a:effectLst/>
                </a:rPr>
                <a:t>const</a:t>
              </a:r>
              <a:r>
                <a:rPr lang="en-US" altLang="zh-CN" sz="1100" b="0">
                  <a:solidFill>
                    <a:srgbClr val="000000"/>
                  </a:solidFill>
                  <a:effectLst/>
                </a:rPr>
                <a:t> </a:t>
              </a:r>
              <a:r>
                <a:rPr lang="en-US" altLang="zh-CN" sz="1100" b="0">
                  <a:solidFill>
                    <a:srgbClr val="795E26"/>
                  </a:solidFill>
                  <a:effectLst/>
                </a:rPr>
                <a:t>search</a:t>
              </a:r>
              <a:r>
                <a:rPr lang="en-US" altLang="zh-CN" sz="1100" b="0">
                  <a:solidFill>
                    <a:srgbClr val="000000"/>
                  </a:solidFill>
                  <a:effectLst/>
                </a:rPr>
                <a:t> = </a:t>
              </a:r>
              <a:r>
                <a:rPr lang="en-US" altLang="zh-CN" sz="1100" b="0">
                  <a:solidFill>
                    <a:srgbClr val="0000FF"/>
                  </a:solidFill>
                  <a:effectLst/>
                </a:rPr>
                <a:t>async</a:t>
              </a:r>
              <a:r>
                <a:rPr lang="en-US" altLang="zh-CN" sz="1100" b="0">
                  <a:solidFill>
                    <a:srgbClr val="000000"/>
                  </a:solidFill>
                  <a:effectLst/>
                </a:rPr>
                <a:t> () </a:t>
              </a:r>
              <a:r>
                <a:rPr lang="en-US" altLang="zh-CN" sz="1100" b="0">
                  <a:solidFill>
                    <a:srgbClr val="0000FF"/>
                  </a:solidFill>
                  <a:effectLst/>
                </a:rPr>
                <a:t>=&gt;</a:t>
              </a:r>
              <a:r>
                <a:rPr lang="en-US" altLang="zh-CN" sz="1100" b="0">
                  <a:solidFill>
                    <a:srgbClr val="000000"/>
                  </a:solidFill>
                  <a:effectLst/>
                </a:rPr>
                <a:t> {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100" b="0">
                  <a:solidFill>
                    <a:srgbClr val="000000"/>
                  </a:solidFill>
                  <a:effectLst/>
                </a:rPr>
                <a:t>  </a:t>
              </a:r>
              <a:r>
                <a:rPr lang="en-US" altLang="zh-CN" sz="1100" b="0">
                  <a:solidFill>
                    <a:srgbClr val="0000FF"/>
                  </a:solidFill>
                  <a:effectLst/>
                </a:rPr>
                <a:t>const</a:t>
              </a:r>
              <a:r>
                <a:rPr lang="en-US" altLang="zh-CN" sz="1100" b="0">
                  <a:solidFill>
                    <a:srgbClr val="000000"/>
                  </a:solidFill>
                  <a:effectLst/>
                </a:rPr>
                <a:t> </a:t>
              </a:r>
              <a:r>
                <a:rPr lang="en-US" altLang="zh-CN" sz="1100" b="0">
                  <a:solidFill>
                    <a:srgbClr val="0070C1"/>
                  </a:solidFill>
                  <a:effectLst/>
                </a:rPr>
                <a:t>result</a:t>
              </a:r>
              <a:r>
                <a:rPr lang="en-US" altLang="zh-CN" sz="1100" b="0">
                  <a:solidFill>
                    <a:srgbClr val="000000"/>
                  </a:solidFill>
                  <a:effectLst/>
                </a:rPr>
                <a:t> = </a:t>
              </a:r>
              <a:r>
                <a:rPr lang="en-US" altLang="zh-CN" sz="1100" b="0">
                  <a:solidFill>
                    <a:srgbClr val="AF00DB"/>
                  </a:solidFill>
                  <a:effectLst/>
                </a:rPr>
                <a:t>await</a:t>
              </a:r>
              <a:r>
                <a:rPr lang="en-US" altLang="zh-CN" sz="1100" b="0">
                  <a:solidFill>
                    <a:srgbClr val="000000"/>
                  </a:solidFill>
                  <a:effectLst/>
                </a:rPr>
                <a:t> </a:t>
              </a:r>
              <a:r>
                <a:rPr lang="en-US" altLang="zh-CN" sz="1100" b="0">
                  <a:solidFill>
                    <a:srgbClr val="0070C1"/>
                  </a:solidFill>
                  <a:effectLst/>
                </a:rPr>
                <a:t>axios</a:t>
              </a:r>
              <a:r>
                <a:rPr lang="en-US" altLang="zh-CN" sz="1100" b="0">
                  <a:solidFill>
                    <a:srgbClr val="000000"/>
                  </a:solidFill>
                  <a:effectLst/>
                </a:rPr>
                <a:t>.</a:t>
              </a:r>
              <a:r>
                <a:rPr lang="en-US" altLang="zh-CN" sz="1100" b="0">
                  <a:solidFill>
                    <a:srgbClr val="795E26"/>
                  </a:solidFill>
                  <a:effectLst/>
                </a:rPr>
                <a:t>get</a:t>
              </a:r>
              <a:r>
                <a:rPr lang="en-US" altLang="zh-CN" sz="1100" b="0">
                  <a:solidFill>
                    <a:srgbClr val="000000"/>
                  </a:solidFill>
                  <a:effectLst/>
                </a:rPr>
                <a:t>(</a:t>
              </a:r>
              <a:r>
                <a:rPr lang="en-US" altLang="zh-CN" sz="1100" b="0">
                  <a:solidFill>
                    <a:srgbClr val="A31515"/>
                  </a:solidFill>
                  <a:effectLst/>
                </a:rPr>
                <a:t>'https://apifoxmock.com/m1/3128855-default/depts'</a:t>
              </a:r>
              <a:r>
                <a:rPr lang="en-US" altLang="zh-CN" sz="1100" b="0">
                  <a:solidFill>
                    <a:srgbClr val="000000"/>
                  </a:solidFill>
                  <a:effectLst/>
                </a:rPr>
                <a:t>);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100" b="0">
                  <a:solidFill>
                    <a:srgbClr val="000000"/>
                  </a:solidFill>
                  <a:effectLst/>
                </a:rPr>
                <a:t>  </a:t>
              </a:r>
              <a:r>
                <a:rPr lang="en-US" altLang="zh-CN" sz="1100" b="0">
                  <a:solidFill>
                    <a:srgbClr val="AF00DB"/>
                  </a:solidFill>
                  <a:effectLst/>
                </a:rPr>
                <a:t>if</a:t>
              </a:r>
              <a:r>
                <a:rPr lang="en-US" altLang="zh-CN" sz="1100" b="0">
                  <a:solidFill>
                    <a:srgbClr val="000000"/>
                  </a:solidFill>
                  <a:effectLst/>
                </a:rPr>
                <a:t> (</a:t>
              </a:r>
              <a:r>
                <a:rPr lang="en-US" altLang="zh-CN" sz="1100" b="0">
                  <a:solidFill>
                    <a:srgbClr val="0070C1"/>
                  </a:solidFill>
                  <a:effectLst/>
                </a:rPr>
                <a:t>result</a:t>
              </a:r>
              <a:r>
                <a:rPr lang="en-US" altLang="zh-CN" sz="1100" b="0">
                  <a:solidFill>
                    <a:srgbClr val="000000"/>
                  </a:solidFill>
                  <a:effectLst/>
                </a:rPr>
                <a:t>.</a:t>
              </a:r>
              <a:r>
                <a:rPr lang="en-US" altLang="zh-CN" sz="1100" b="0">
                  <a:solidFill>
                    <a:srgbClr val="001080"/>
                  </a:solidFill>
                  <a:effectLst/>
                </a:rPr>
                <a:t>data</a:t>
              </a:r>
              <a:r>
                <a:rPr lang="en-US" altLang="zh-CN" sz="1100" b="0">
                  <a:solidFill>
                    <a:srgbClr val="000000"/>
                  </a:solidFill>
                  <a:effectLst/>
                </a:rPr>
                <a:t>.</a:t>
              </a:r>
              <a:r>
                <a:rPr lang="en-US" altLang="zh-CN" sz="1100" b="0">
                  <a:solidFill>
                    <a:srgbClr val="001080"/>
                  </a:solidFill>
                  <a:effectLst/>
                </a:rPr>
                <a:t>code</a:t>
              </a:r>
              <a:r>
                <a:rPr lang="en-US" altLang="zh-CN" sz="1100" b="0">
                  <a:solidFill>
                    <a:srgbClr val="000000"/>
                  </a:solidFill>
                  <a:effectLst/>
                </a:rPr>
                <a:t>) {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100" b="0">
                  <a:solidFill>
                    <a:srgbClr val="000000"/>
                  </a:solidFill>
                  <a:effectLst/>
                </a:rPr>
                <a:t>    </a:t>
              </a:r>
              <a:r>
                <a:rPr lang="en-US" altLang="zh-CN" sz="1100" b="0">
                  <a:solidFill>
                    <a:srgbClr val="0070C1"/>
                  </a:solidFill>
                  <a:effectLst/>
                </a:rPr>
                <a:t>deptList</a:t>
              </a:r>
              <a:r>
                <a:rPr lang="en-US" altLang="zh-CN" sz="1100" b="0">
                  <a:solidFill>
                    <a:srgbClr val="000000"/>
                  </a:solidFill>
                  <a:effectLst/>
                </a:rPr>
                <a:t>.</a:t>
              </a:r>
              <a:r>
                <a:rPr lang="en-US" altLang="zh-CN" sz="1100" b="0">
                  <a:solidFill>
                    <a:srgbClr val="001080"/>
                  </a:solidFill>
                  <a:effectLst/>
                </a:rPr>
                <a:t>value</a:t>
              </a:r>
              <a:r>
                <a:rPr lang="en-US" altLang="zh-CN" sz="1100" b="0">
                  <a:solidFill>
                    <a:srgbClr val="000000"/>
                  </a:solidFill>
                  <a:effectLst/>
                </a:rPr>
                <a:t> = </a:t>
              </a:r>
              <a:r>
                <a:rPr lang="en-US" altLang="zh-CN" sz="1100" b="0">
                  <a:solidFill>
                    <a:srgbClr val="0070C1"/>
                  </a:solidFill>
                  <a:effectLst/>
                </a:rPr>
                <a:t>result</a:t>
              </a:r>
              <a:r>
                <a:rPr lang="en-US" altLang="zh-CN" sz="1100" b="0">
                  <a:solidFill>
                    <a:srgbClr val="000000"/>
                  </a:solidFill>
                  <a:effectLst/>
                </a:rPr>
                <a:t>.</a:t>
              </a:r>
              <a:r>
                <a:rPr lang="en-US" altLang="zh-CN" sz="1100" b="0">
                  <a:solidFill>
                    <a:srgbClr val="001080"/>
                  </a:solidFill>
                  <a:effectLst/>
                </a:rPr>
                <a:t>data</a:t>
              </a:r>
              <a:r>
                <a:rPr lang="en-US" altLang="zh-CN" sz="1100" b="0">
                  <a:solidFill>
                    <a:srgbClr val="000000"/>
                  </a:solidFill>
                  <a:effectLst/>
                </a:rPr>
                <a:t>.</a:t>
              </a:r>
              <a:r>
                <a:rPr lang="en-US" altLang="zh-CN" sz="1100" b="0">
                  <a:solidFill>
                    <a:srgbClr val="001080"/>
                  </a:solidFill>
                  <a:effectLst/>
                </a:rPr>
                <a:t>data</a:t>
              </a:r>
              <a:r>
                <a:rPr lang="en-US" altLang="zh-CN" sz="1100" b="0">
                  <a:solidFill>
                    <a:srgbClr val="000000"/>
                  </a:solidFill>
                  <a:effectLst/>
                </a:rPr>
                <a:t>;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100" b="0">
                  <a:solidFill>
                    <a:srgbClr val="000000"/>
                  </a:solidFill>
                  <a:effectLst/>
                </a:rPr>
                <a:t>  }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100" b="0">
                  <a:solidFill>
                    <a:srgbClr val="000000"/>
                  </a:solidFill>
                  <a:effectLst/>
                </a:rPr>
                <a:t>};</a:t>
              </a:r>
            </a:p>
          </p:txBody>
        </p:sp>
        <p:sp>
          <p:nvSpPr>
            <p:cNvPr id="7" name="矩形: 圆顶角 6">
              <a:extLst>
                <a:ext uri="{FF2B5EF4-FFF2-40B4-BE49-F238E27FC236}">
                  <a16:creationId xmlns:a16="http://schemas.microsoft.com/office/drawing/2014/main" id="{84562339-6C6C-EA4A-D71F-97341AB2DB0B}"/>
                </a:ext>
              </a:extLst>
            </p:cNvPr>
            <p:cNvSpPr/>
            <p:nvPr/>
          </p:nvSpPr>
          <p:spPr>
            <a:xfrm>
              <a:off x="2297720" y="3660322"/>
              <a:ext cx="8255622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050">
                  <a:solidFill>
                    <a:schemeClr val="bg1"/>
                  </a:solidFill>
                  <a:latin typeface="Fira Code" panose="020B0809050000020004" pitchFamily="49" charset="0"/>
                </a:rPr>
                <a:t>dept/index.vue</a:t>
              </a:r>
              <a:endParaRPr lang="zh-CN" altLang="en-US" sz="1050">
                <a:solidFill>
                  <a:schemeClr val="bg1"/>
                </a:solidFill>
                <a:latin typeface="Fira Code" panose="020B0809050000020004" pitchFamily="49" charset="0"/>
              </a:endParaRPr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912D096F-468B-3F3D-EF86-D189AF5E6E9C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BA7D09D4-2074-C6D3-EBCA-36941F9DB8BA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5F492169-A156-D09E-FF0D-902871426EB0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" name="文本框 12">
            <a:extLst>
              <a:ext uri="{FF2B5EF4-FFF2-40B4-BE49-F238E27FC236}">
                <a16:creationId xmlns:a16="http://schemas.microsoft.com/office/drawing/2014/main" id="{86DDFCF2-8AE4-F71D-0F2C-65580062D249}"/>
              </a:ext>
            </a:extLst>
          </p:cNvPr>
          <p:cNvSpPr txBox="1"/>
          <p:nvPr/>
        </p:nvSpPr>
        <p:spPr>
          <a:xfrm>
            <a:off x="8682638" y="3725519"/>
            <a:ext cx="2124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>
                <a:solidFill>
                  <a:srgbClr val="C00000"/>
                </a:solidFill>
                <a:latin typeface="汉仪尚巍流云体简" panose="00020600040101010101" pitchFamily="18" charset="-122"/>
                <a:ea typeface="汉仪尚巍流云体简" panose="00020600040101010101" pitchFamily="18" charset="-122"/>
              </a:rPr>
              <a:t>请求路径难以维护</a:t>
            </a:r>
            <a:endParaRPr lang="zh-CN" altLang="en-US" dirty="0">
              <a:solidFill>
                <a:srgbClr val="C00000"/>
              </a:solidFill>
              <a:latin typeface="汉仪尚巍流云体简" panose="00020600040101010101" pitchFamily="18" charset="-122"/>
              <a:ea typeface="汉仪尚巍流云体简" panose="00020600040101010101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103D356-F463-5C15-1554-F6C79EE63280}"/>
              </a:ext>
            </a:extLst>
          </p:cNvPr>
          <p:cNvSpPr txBox="1"/>
          <p:nvPr/>
        </p:nvSpPr>
        <p:spPr>
          <a:xfrm>
            <a:off x="6709753" y="4320784"/>
            <a:ext cx="16071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>
                <a:solidFill>
                  <a:srgbClr val="C00000"/>
                </a:solidFill>
                <a:latin typeface="汉仪尚巍流云体简" panose="00020600040101010101" pitchFamily="18" charset="-122"/>
                <a:ea typeface="汉仪尚巍流云体简" panose="00020600040101010101" pitchFamily="18" charset="-122"/>
              </a:rPr>
              <a:t>数据解析繁琐</a:t>
            </a:r>
            <a:endParaRPr lang="zh-CN" altLang="en-US" dirty="0">
              <a:solidFill>
                <a:srgbClr val="C00000"/>
              </a:solidFill>
              <a:latin typeface="汉仪尚巍流云体简" panose="00020600040101010101" pitchFamily="18" charset="-122"/>
              <a:ea typeface="汉仪尚巍流云体简" panose="00020600040101010101" pitchFamily="18" charset="-122"/>
            </a:endParaRPr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6B27D324-6458-0B6D-0A3E-46564D8B336D}"/>
              </a:ext>
            </a:extLst>
          </p:cNvPr>
          <p:cNvCxnSpPr/>
          <p:nvPr/>
        </p:nvCxnSpPr>
        <p:spPr>
          <a:xfrm>
            <a:off x="7299960" y="3698240"/>
            <a:ext cx="4213860" cy="0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27AD1A64-F202-DE5B-FF68-D87E2D246B60}"/>
              </a:ext>
            </a:extLst>
          </p:cNvPr>
          <p:cNvCxnSpPr>
            <a:cxnSpLocks/>
          </p:cNvCxnSpPr>
          <p:nvPr/>
        </p:nvCxnSpPr>
        <p:spPr>
          <a:xfrm>
            <a:off x="6218607" y="4208780"/>
            <a:ext cx="982293" cy="0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7815D9BD-8E20-3D6F-5C71-CC8A7DA0F95E}"/>
              </a:ext>
            </a:extLst>
          </p:cNvPr>
          <p:cNvCxnSpPr>
            <a:cxnSpLocks/>
          </p:cNvCxnSpPr>
          <p:nvPr/>
        </p:nvCxnSpPr>
        <p:spPr>
          <a:xfrm>
            <a:off x="4974284" y="3941212"/>
            <a:ext cx="982293" cy="0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3414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4A9BCD-2BE1-09EC-8227-5A0453970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列表查询</a:t>
            </a:r>
            <a:r>
              <a:rPr lang="en-US" altLang="zh-CN"/>
              <a:t>-</a:t>
            </a:r>
            <a:r>
              <a:rPr lang="zh-CN" altLang="en-US"/>
              <a:t>程序优化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AF03D80-35CA-C7A4-BAF9-A7C2FAEE61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060481" cy="944277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为解决上述问题，我们在前端项目开发时，通常会定义一个请求处理的工具类 </a:t>
            </a:r>
            <a:r>
              <a:rPr lang="en-US" altLang="zh-CN">
                <a:ea typeface="Fira Code" panose="020B0809050000020004" pitchFamily="49" charset="0"/>
              </a:rPr>
              <a:t>– request.js </a:t>
            </a:r>
            <a:r>
              <a:rPr lang="zh-CN" altLang="en-US"/>
              <a:t>。</a:t>
            </a:r>
            <a:endParaRPr lang="en-US" altLang="zh-CN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与服务端进行异步交互的逻辑，通常会封装到一个单独的</a:t>
            </a:r>
            <a:r>
              <a:rPr lang="en-US" altLang="zh-CN"/>
              <a:t>api</a:t>
            </a:r>
            <a:r>
              <a:rPr lang="zh-CN" altLang="en-US"/>
              <a:t>中，如：</a:t>
            </a:r>
            <a:r>
              <a:rPr lang="en-US" altLang="zh-CN"/>
              <a:t>dept.js</a:t>
            </a:r>
            <a:r>
              <a:rPr lang="zh-CN" altLang="en-US"/>
              <a:t> 。</a:t>
            </a:r>
          </a:p>
        </p:txBody>
      </p:sp>
      <p:grpSp>
        <p:nvGrpSpPr>
          <p:cNvPr id="4" name="!!组合 2">
            <a:extLst>
              <a:ext uri="{FF2B5EF4-FFF2-40B4-BE49-F238E27FC236}">
                <a16:creationId xmlns:a16="http://schemas.microsoft.com/office/drawing/2014/main" id="{429CA2D9-C85F-ED0B-16EA-B99A8257FF6B}"/>
              </a:ext>
            </a:extLst>
          </p:cNvPr>
          <p:cNvGrpSpPr/>
          <p:nvPr/>
        </p:nvGrpSpPr>
        <p:grpSpPr>
          <a:xfrm>
            <a:off x="958779" y="2116195"/>
            <a:ext cx="3531348" cy="4060489"/>
            <a:chOff x="2297721" y="3660322"/>
            <a:chExt cx="3926670" cy="3922332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0D7FE87F-4E71-86A4-4EC0-77A569C47A36}"/>
                </a:ext>
              </a:extLst>
            </p:cNvPr>
            <p:cNvSpPr/>
            <p:nvPr/>
          </p:nvSpPr>
          <p:spPr>
            <a:xfrm>
              <a:off x="2297727" y="3660323"/>
              <a:ext cx="3926664" cy="3922331"/>
            </a:xfrm>
            <a:prstGeom prst="roundRect">
              <a:avLst>
                <a:gd name="adj" fmla="val 2246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180000" rIns="36000" bIns="0" rtlCol="0" anchor="ctr"/>
            <a:lstStyle/>
            <a:p>
              <a:pPr>
                <a:lnSpc>
                  <a:spcPct val="130000"/>
                </a:lnSpc>
              </a:pPr>
              <a:r>
                <a:rPr lang="en-US" altLang="zh-CN" sz="1100" b="0">
                  <a:solidFill>
                    <a:srgbClr val="0000FF"/>
                  </a:solidFill>
                  <a:effectLst/>
                  <a:ea typeface="Fira Code" panose="020B0809050000020004" pitchFamily="49" charset="0"/>
                </a:rPr>
                <a:t>import</a:t>
              </a: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 axios </a:t>
              </a:r>
              <a:r>
                <a:rPr lang="en-US" altLang="zh-CN" sz="1100" b="0">
                  <a:solidFill>
                    <a:srgbClr val="0000FF"/>
                  </a:solidFill>
                  <a:effectLst/>
                  <a:ea typeface="Fira Code" panose="020B0809050000020004" pitchFamily="49" charset="0"/>
                </a:rPr>
                <a:t>from</a:t>
              </a: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 </a:t>
              </a:r>
              <a:r>
                <a:rPr lang="en-US" altLang="zh-CN" sz="1100" b="0">
                  <a:solidFill>
                    <a:srgbClr val="A31515"/>
                  </a:solidFill>
                  <a:effectLst/>
                  <a:ea typeface="Fira Code" panose="020B0809050000020004" pitchFamily="49" charset="0"/>
                </a:rPr>
                <a:t>'axios'</a:t>
              </a:r>
              <a:b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</a:br>
              <a:r>
                <a:rPr lang="en-US" altLang="zh-CN" sz="1100" b="0">
                  <a:solidFill>
                    <a:srgbClr val="008000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//</a:t>
              </a:r>
              <a:r>
                <a:rPr lang="zh-CN" altLang="en-US" sz="1100" b="0">
                  <a:solidFill>
                    <a:srgbClr val="008000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创建</a:t>
              </a:r>
              <a:r>
                <a:rPr lang="en-US" altLang="zh-CN" sz="1100" b="0">
                  <a:solidFill>
                    <a:srgbClr val="008000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axios</a:t>
              </a:r>
              <a:r>
                <a:rPr lang="zh-CN" altLang="en-US" sz="1100" b="0">
                  <a:solidFill>
                    <a:srgbClr val="008000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实例对象</a:t>
              </a:r>
              <a:endParaRPr lang="zh-CN" altLang="en-US" sz="1100" b="0">
                <a:solidFill>
                  <a:srgbClr val="000000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  <a:p>
              <a:pPr>
                <a:lnSpc>
                  <a:spcPct val="130000"/>
                </a:lnSpc>
              </a:pPr>
              <a:r>
                <a:rPr lang="en-US" altLang="zh-CN" sz="1100" b="0">
                  <a:solidFill>
                    <a:srgbClr val="0000FF"/>
                  </a:solidFill>
                  <a:effectLst/>
                  <a:ea typeface="Fira Code" panose="020B0809050000020004" pitchFamily="49" charset="0"/>
                </a:rPr>
                <a:t>const</a:t>
              </a: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 request = axios.create({</a:t>
              </a:r>
            </a:p>
            <a:p>
              <a:pPr>
                <a:lnSpc>
                  <a:spcPct val="130000"/>
                </a:lnSpc>
              </a:pP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  baseURL: </a:t>
              </a:r>
              <a:r>
                <a:rPr lang="en-US" altLang="zh-CN" sz="1100" b="0">
                  <a:solidFill>
                    <a:srgbClr val="A31515"/>
                  </a:solidFill>
                  <a:effectLst/>
                  <a:ea typeface="Fira Code" panose="020B0809050000020004" pitchFamily="49" charset="0"/>
                </a:rPr>
                <a:t>'https://apifoxmock.com...'</a:t>
              </a: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,</a:t>
              </a:r>
            </a:p>
            <a:p>
              <a:pPr>
                <a:lnSpc>
                  <a:spcPct val="130000"/>
                </a:lnSpc>
              </a:pP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  timeout: </a:t>
              </a:r>
              <a:r>
                <a:rPr lang="en-US" altLang="zh-CN" sz="1100" b="0">
                  <a:solidFill>
                    <a:srgbClr val="098658"/>
                  </a:solidFill>
                  <a:effectLst/>
                  <a:ea typeface="Fira Code" panose="020B0809050000020004" pitchFamily="49" charset="0"/>
                </a:rPr>
                <a:t>600000</a:t>
              </a:r>
              <a:endParaRPr lang="en-US" altLang="zh-CN" sz="1100" b="0">
                <a:solidFill>
                  <a:srgbClr val="000000"/>
                </a:solidFill>
                <a:effectLst/>
                <a:ea typeface="Fira Code" panose="020B0809050000020004" pitchFamily="49" charset="0"/>
              </a:endParaRPr>
            </a:p>
            <a:p>
              <a:pPr>
                <a:lnSpc>
                  <a:spcPct val="130000"/>
                </a:lnSpc>
              </a:pP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})</a:t>
              </a:r>
            </a:p>
            <a:p>
              <a:pPr>
                <a:lnSpc>
                  <a:spcPct val="130000"/>
                </a:lnSpc>
              </a:pPr>
              <a:b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</a:br>
              <a:r>
                <a:rPr lang="en-US" altLang="zh-CN" sz="1100" b="0">
                  <a:solidFill>
                    <a:srgbClr val="008000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//axios</a:t>
              </a:r>
              <a:r>
                <a:rPr lang="zh-CN" altLang="en-US" sz="1100" b="0">
                  <a:solidFill>
                    <a:srgbClr val="008000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的响应 </a:t>
              </a:r>
              <a:r>
                <a:rPr lang="en-US" altLang="zh-CN" sz="1100" b="0">
                  <a:solidFill>
                    <a:srgbClr val="008000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response </a:t>
              </a:r>
              <a:r>
                <a:rPr lang="zh-CN" altLang="en-US" sz="1100" b="0">
                  <a:solidFill>
                    <a:srgbClr val="008000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拦截器</a:t>
              </a:r>
              <a:endParaRPr lang="zh-CN" altLang="en-US" sz="1100" b="0">
                <a:solidFill>
                  <a:srgbClr val="000000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  <a:p>
              <a:pPr>
                <a:lnSpc>
                  <a:spcPct val="130000"/>
                </a:lnSpc>
              </a:pP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request.interceptors.response.use(</a:t>
              </a:r>
            </a:p>
            <a:p>
              <a:pPr>
                <a:lnSpc>
                  <a:spcPct val="130000"/>
                </a:lnSpc>
              </a:pP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  (response) </a:t>
              </a:r>
              <a:r>
                <a:rPr lang="en-US" altLang="zh-CN" sz="1100" b="0">
                  <a:solidFill>
                    <a:srgbClr val="0000FF"/>
                  </a:solidFill>
                  <a:effectLst/>
                  <a:ea typeface="Fira Code" panose="020B0809050000020004" pitchFamily="49" charset="0"/>
                </a:rPr>
                <a:t>=&gt;</a:t>
              </a: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 { </a:t>
              </a:r>
              <a:r>
                <a:rPr lang="en-US" altLang="zh-CN" sz="1100" b="0">
                  <a:solidFill>
                    <a:srgbClr val="008000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//</a:t>
              </a:r>
              <a:r>
                <a:rPr lang="zh-CN" altLang="en-US" sz="1100" b="0">
                  <a:solidFill>
                    <a:srgbClr val="008000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成功回调</a:t>
              </a:r>
              <a:endParaRPr lang="zh-CN" altLang="en-US" sz="1100" b="0">
                <a:solidFill>
                  <a:srgbClr val="000000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  <a:p>
              <a:pPr>
                <a:lnSpc>
                  <a:spcPct val="130000"/>
                </a:lnSpc>
              </a:pPr>
              <a:r>
                <a:rPr lang="zh-CN" altLang="en-US" sz="1100" b="0">
                  <a:solidFill>
                    <a:srgbClr val="000000"/>
                  </a:solidFill>
                  <a:effectLst/>
                </a:rPr>
                <a:t>    </a:t>
              </a:r>
              <a:r>
                <a:rPr lang="en-US" altLang="zh-CN" sz="1100" b="0">
                  <a:solidFill>
                    <a:srgbClr val="0000FF"/>
                  </a:solidFill>
                  <a:effectLst/>
                  <a:ea typeface="Fira Code" panose="020B0809050000020004" pitchFamily="49" charset="0"/>
                </a:rPr>
                <a:t>return</a:t>
              </a: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 response.data</a:t>
              </a:r>
            </a:p>
            <a:p>
              <a:pPr>
                <a:lnSpc>
                  <a:spcPct val="130000"/>
                </a:lnSpc>
              </a:pP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  },</a:t>
              </a:r>
            </a:p>
            <a:p>
              <a:pPr>
                <a:lnSpc>
                  <a:spcPct val="130000"/>
                </a:lnSpc>
              </a:pP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  (error) </a:t>
              </a:r>
              <a:r>
                <a:rPr lang="en-US" altLang="zh-CN" sz="1100" b="0">
                  <a:solidFill>
                    <a:srgbClr val="0000FF"/>
                  </a:solidFill>
                  <a:effectLst/>
                  <a:ea typeface="Fira Code" panose="020B0809050000020004" pitchFamily="49" charset="0"/>
                </a:rPr>
                <a:t>=&gt;</a:t>
              </a: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 { </a:t>
              </a:r>
              <a:r>
                <a:rPr lang="en-US" altLang="zh-CN" sz="1100" b="0">
                  <a:solidFill>
                    <a:srgbClr val="008000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//</a:t>
              </a:r>
              <a:r>
                <a:rPr lang="zh-CN" altLang="en-US" sz="1100" b="0">
                  <a:solidFill>
                    <a:srgbClr val="008000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失败回调</a:t>
              </a:r>
              <a:endParaRPr lang="zh-CN" altLang="en-US" sz="1100" b="0">
                <a:solidFill>
                  <a:srgbClr val="000000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  <a:p>
              <a:pPr>
                <a:lnSpc>
                  <a:spcPct val="130000"/>
                </a:lnSpc>
              </a:pPr>
              <a:r>
                <a:rPr lang="zh-CN" altLang="en-US" sz="1100" b="0">
                  <a:solidFill>
                    <a:srgbClr val="000000"/>
                  </a:solidFill>
                  <a:effectLst/>
                </a:rPr>
                <a:t>    </a:t>
              </a:r>
              <a:r>
                <a:rPr lang="en-US" altLang="zh-CN" sz="1100" b="0">
                  <a:solidFill>
                    <a:srgbClr val="0000FF"/>
                  </a:solidFill>
                  <a:effectLst/>
                  <a:ea typeface="Fira Code" panose="020B0809050000020004" pitchFamily="49" charset="0"/>
                </a:rPr>
                <a:t>return</a:t>
              </a: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 Promise.reject(error)</a:t>
              </a:r>
            </a:p>
            <a:p>
              <a:pPr>
                <a:lnSpc>
                  <a:spcPct val="130000"/>
                </a:lnSpc>
              </a:pP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  }</a:t>
              </a:r>
            </a:p>
            <a:p>
              <a:pPr>
                <a:lnSpc>
                  <a:spcPct val="130000"/>
                </a:lnSpc>
              </a:pP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)</a:t>
              </a:r>
              <a:b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</a:br>
              <a:r>
                <a:rPr lang="en-US" altLang="zh-CN" sz="1100" b="0">
                  <a:solidFill>
                    <a:srgbClr val="0000FF"/>
                  </a:solidFill>
                  <a:effectLst/>
                  <a:ea typeface="Fira Code" panose="020B0809050000020004" pitchFamily="49" charset="0"/>
                </a:rPr>
                <a:t>export</a:t>
              </a: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 </a:t>
              </a:r>
              <a:r>
                <a:rPr lang="en-US" altLang="zh-CN" sz="1100" b="0">
                  <a:solidFill>
                    <a:srgbClr val="0000FF"/>
                  </a:solidFill>
                  <a:effectLst/>
                  <a:ea typeface="Fira Code" panose="020B0809050000020004" pitchFamily="49" charset="0"/>
                </a:rPr>
                <a:t>default</a:t>
              </a: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 request</a:t>
              </a:r>
            </a:p>
          </p:txBody>
        </p:sp>
        <p:sp>
          <p:nvSpPr>
            <p:cNvPr id="6" name="矩形: 圆顶角 5">
              <a:extLst>
                <a:ext uri="{FF2B5EF4-FFF2-40B4-BE49-F238E27FC236}">
                  <a16:creationId xmlns:a16="http://schemas.microsoft.com/office/drawing/2014/main" id="{EAF92A85-FF7C-7054-54E8-CA5A6F5697F9}"/>
                </a:ext>
              </a:extLst>
            </p:cNvPr>
            <p:cNvSpPr/>
            <p:nvPr/>
          </p:nvSpPr>
          <p:spPr>
            <a:xfrm>
              <a:off x="2297721" y="3660322"/>
              <a:ext cx="3926664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050">
                  <a:solidFill>
                    <a:schemeClr val="bg1"/>
                  </a:solidFill>
                  <a:latin typeface="Fira Code" panose="020B0809050000020004" pitchFamily="49" charset="0"/>
                </a:rPr>
                <a:t>utils/request.js</a:t>
              </a:r>
              <a:endParaRPr lang="zh-CN" altLang="en-US" sz="1050">
                <a:solidFill>
                  <a:schemeClr val="bg1"/>
                </a:solidFill>
                <a:latin typeface="Fira Code" panose="020B0809050000020004" pitchFamily="49" charset="0"/>
              </a:endParaRPr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BE18886-C2CA-D584-0F4E-8C1EB517FE66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83DCEBCB-0C4A-61C4-41FD-CF0B405ECE42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72A11E86-9DC4-1322-2C42-F61A35799FBD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0" name="!!组合 2">
            <a:extLst>
              <a:ext uri="{FF2B5EF4-FFF2-40B4-BE49-F238E27FC236}">
                <a16:creationId xmlns:a16="http://schemas.microsoft.com/office/drawing/2014/main" id="{3D0A1CE8-C84B-42F5-62FC-BC790A4847F3}"/>
              </a:ext>
            </a:extLst>
          </p:cNvPr>
          <p:cNvGrpSpPr/>
          <p:nvPr/>
        </p:nvGrpSpPr>
        <p:grpSpPr>
          <a:xfrm>
            <a:off x="5005031" y="2116195"/>
            <a:ext cx="6413615" cy="1392664"/>
            <a:chOff x="2297721" y="3660322"/>
            <a:chExt cx="7131598" cy="1345279"/>
          </a:xfrm>
        </p:grpSpPr>
        <p:sp>
          <p:nvSpPr>
            <p:cNvPr id="11" name="矩形: 圆角 10">
              <a:extLst>
                <a:ext uri="{FF2B5EF4-FFF2-40B4-BE49-F238E27FC236}">
                  <a16:creationId xmlns:a16="http://schemas.microsoft.com/office/drawing/2014/main" id="{BA607FBA-25E3-35B2-5FA7-E940184F3364}"/>
                </a:ext>
              </a:extLst>
            </p:cNvPr>
            <p:cNvSpPr/>
            <p:nvPr/>
          </p:nvSpPr>
          <p:spPr>
            <a:xfrm>
              <a:off x="2297727" y="3660323"/>
              <a:ext cx="7131592" cy="1345278"/>
            </a:xfrm>
            <a:prstGeom prst="roundRect">
              <a:avLst>
                <a:gd name="adj" fmla="val 6792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180000" rIns="36000" bIns="0" rtlCol="0" anchor="ctr"/>
            <a:lstStyle/>
            <a:p>
              <a:pPr>
                <a:lnSpc>
                  <a:spcPct val="150000"/>
                </a:lnSpc>
              </a:pPr>
              <a:r>
                <a:rPr lang="en-US" altLang="zh-CN" sz="1100" b="0">
                  <a:solidFill>
                    <a:srgbClr val="0000FF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import</a:t>
              </a: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 request </a:t>
              </a:r>
              <a:r>
                <a:rPr lang="en-US" altLang="zh-CN" sz="1100" b="0">
                  <a:solidFill>
                    <a:srgbClr val="0000FF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from</a:t>
              </a: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 </a:t>
              </a:r>
              <a:r>
                <a:rPr lang="en-US" altLang="zh-CN" sz="1100" b="0">
                  <a:solidFill>
                    <a:srgbClr val="A31515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'@/utils/request'</a:t>
              </a:r>
              <a:endParaRPr lang="en-US" altLang="zh-CN" sz="1100" b="0">
                <a:solidFill>
                  <a:srgbClr val="000000"/>
                </a:solidFill>
                <a:effectLst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  <a:p>
              <a:pPr>
                <a:lnSpc>
                  <a:spcPct val="150000"/>
                </a:lnSpc>
              </a:pPr>
              <a:b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</a:br>
              <a:r>
                <a:rPr lang="en-US" altLang="zh-CN" sz="1100" b="0">
                  <a:solidFill>
                    <a:srgbClr val="008000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//</a:t>
              </a:r>
              <a:r>
                <a:rPr lang="zh-CN" altLang="en-US" sz="1100" b="0">
                  <a:solidFill>
                    <a:srgbClr val="008000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部门列表查询</a:t>
              </a:r>
              <a:endParaRPr lang="zh-CN" altLang="en-US" sz="1100" b="0">
                <a:solidFill>
                  <a:srgbClr val="000000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100" b="0">
                  <a:solidFill>
                    <a:srgbClr val="0000FF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export</a:t>
              </a: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 </a:t>
              </a:r>
              <a:r>
                <a:rPr lang="en-US" altLang="zh-CN" sz="1100" b="0">
                  <a:solidFill>
                    <a:srgbClr val="0000FF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const</a:t>
              </a: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 queryAllApi = () </a:t>
              </a:r>
              <a:r>
                <a:rPr lang="en-US" altLang="zh-CN" sz="1100" b="0">
                  <a:solidFill>
                    <a:srgbClr val="0000FF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=&gt;</a:t>
              </a: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  request.get(</a:t>
              </a:r>
              <a:r>
                <a:rPr lang="en-US" altLang="zh-CN" sz="1100" b="0">
                  <a:solidFill>
                    <a:srgbClr val="A31515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'/depts'</a:t>
              </a: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);</a:t>
              </a:r>
            </a:p>
          </p:txBody>
        </p:sp>
        <p:sp>
          <p:nvSpPr>
            <p:cNvPr id="12" name="矩形: 圆顶角 11">
              <a:extLst>
                <a:ext uri="{FF2B5EF4-FFF2-40B4-BE49-F238E27FC236}">
                  <a16:creationId xmlns:a16="http://schemas.microsoft.com/office/drawing/2014/main" id="{79BF3579-A17E-D410-FEE6-0A8ACDA1955A}"/>
                </a:ext>
              </a:extLst>
            </p:cNvPr>
            <p:cNvSpPr/>
            <p:nvPr/>
          </p:nvSpPr>
          <p:spPr>
            <a:xfrm>
              <a:off x="2297721" y="3660322"/>
              <a:ext cx="7131592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050">
                  <a:solidFill>
                    <a:schemeClr val="bg1"/>
                  </a:solidFill>
                  <a:latin typeface="Fira Code" panose="020B0809050000020004" pitchFamily="49" charset="0"/>
                </a:rPr>
                <a:t>api/dept.js</a:t>
              </a:r>
              <a:endParaRPr lang="zh-CN" altLang="en-US" sz="1050">
                <a:solidFill>
                  <a:schemeClr val="bg1"/>
                </a:solidFill>
                <a:latin typeface="Fira Code" panose="020B0809050000020004" pitchFamily="49" charset="0"/>
              </a:endParaRPr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50D84DB0-34B1-404B-B304-67002EAA45E7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29C52A91-B465-16FB-2CAF-D8D3F3417EC5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F5B67F0-F87F-F377-87F8-1B40AE5127C7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6" name="!!组合 2">
            <a:extLst>
              <a:ext uri="{FF2B5EF4-FFF2-40B4-BE49-F238E27FC236}">
                <a16:creationId xmlns:a16="http://schemas.microsoft.com/office/drawing/2014/main" id="{D14ABF24-CA79-E08A-BB16-3DDB4D61A4D3}"/>
              </a:ext>
            </a:extLst>
          </p:cNvPr>
          <p:cNvGrpSpPr/>
          <p:nvPr/>
        </p:nvGrpSpPr>
        <p:grpSpPr>
          <a:xfrm>
            <a:off x="5005031" y="3999965"/>
            <a:ext cx="6413611" cy="2176719"/>
            <a:chOff x="2297721" y="3660322"/>
            <a:chExt cx="7131591" cy="2102657"/>
          </a:xfrm>
        </p:grpSpPr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5A781B12-645A-DB08-E2BD-64894A3082BD}"/>
                </a:ext>
              </a:extLst>
            </p:cNvPr>
            <p:cNvSpPr/>
            <p:nvPr/>
          </p:nvSpPr>
          <p:spPr>
            <a:xfrm>
              <a:off x="2297727" y="3660325"/>
              <a:ext cx="7131585" cy="2102654"/>
            </a:xfrm>
            <a:prstGeom prst="roundRect">
              <a:avLst>
                <a:gd name="adj" fmla="val 3617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180000" rIns="36000" bIns="0" rtlCol="0" anchor="ctr"/>
            <a:lstStyle/>
            <a:p>
              <a:pPr>
                <a:lnSpc>
                  <a:spcPct val="150000"/>
                </a:lnSpc>
              </a:pPr>
              <a:r>
                <a:rPr lang="en-US" altLang="zh-CN" sz="1100" b="0">
                  <a:solidFill>
                    <a:srgbClr val="0000FF"/>
                  </a:solidFill>
                  <a:effectLst/>
                  <a:ea typeface="Fira Code" panose="020B0809050000020004" pitchFamily="49" charset="0"/>
                </a:rPr>
                <a:t>import</a:t>
              </a: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 { queryAllApi } </a:t>
              </a:r>
              <a:r>
                <a:rPr lang="en-US" altLang="zh-CN" sz="1100" b="0">
                  <a:solidFill>
                    <a:srgbClr val="0000FF"/>
                  </a:solidFill>
                  <a:effectLst/>
                  <a:ea typeface="Fira Code" panose="020B0809050000020004" pitchFamily="49" charset="0"/>
                </a:rPr>
                <a:t>from</a:t>
              </a: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 </a:t>
              </a:r>
              <a:r>
                <a:rPr lang="en-US" altLang="zh-CN" sz="1100" b="0">
                  <a:solidFill>
                    <a:srgbClr val="A31515"/>
                  </a:solidFill>
                  <a:effectLst/>
                  <a:ea typeface="Fira Code" panose="020B0809050000020004" pitchFamily="49" charset="0"/>
                </a:rPr>
                <a:t>'@/api/dept</a:t>
              </a:r>
              <a:r>
                <a:rPr lang="en-US" altLang="zh-CN" sz="1100" b="0">
                  <a:solidFill>
                    <a:srgbClr val="A31515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'</a:t>
              </a:r>
              <a:endParaRPr lang="en-US" altLang="zh-CN" sz="1100" b="0">
                <a:solidFill>
                  <a:srgbClr val="000000"/>
                </a:solidFill>
                <a:effectLst/>
                <a:ea typeface="Fira Code" panose="020B0809050000020004" pitchFamily="49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100">
                  <a:solidFill>
                    <a:srgbClr val="008000"/>
                  </a:solidFill>
                  <a:ea typeface="Fira Code" panose="020B0809050000020004" pitchFamily="49" charset="0"/>
                  <a:cs typeface="阿里巴巴普惠体" panose="00020600040101010101" pitchFamily="18" charset="-122"/>
                </a:rPr>
                <a:t>//...</a:t>
              </a:r>
              <a:r>
                <a:rPr lang="zh-CN" altLang="en-US" sz="1100">
                  <a:solidFill>
                    <a:srgbClr val="008000"/>
                  </a:solidFill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省略</a:t>
              </a:r>
              <a:b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</a:br>
              <a:r>
                <a:rPr lang="en-US" altLang="zh-CN" sz="1100" b="0">
                  <a:solidFill>
                    <a:srgbClr val="008000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//</a:t>
              </a:r>
              <a:r>
                <a:rPr lang="zh-CN" altLang="en-US" sz="1100" b="0">
                  <a:solidFill>
                    <a:srgbClr val="008000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动态加载数据</a:t>
              </a:r>
              <a:r>
                <a:rPr lang="en-US" altLang="zh-CN" sz="1100" b="0">
                  <a:solidFill>
                    <a:srgbClr val="008000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-</a:t>
              </a:r>
              <a:r>
                <a:rPr lang="zh-CN" altLang="en-US" sz="1100" b="0">
                  <a:solidFill>
                    <a:srgbClr val="008000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查询部门</a:t>
              </a:r>
              <a:endParaRPr lang="zh-CN" altLang="en-US" sz="1100" b="0">
                <a:solidFill>
                  <a:srgbClr val="000000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100" b="0">
                  <a:solidFill>
                    <a:srgbClr val="0000FF"/>
                  </a:solidFill>
                  <a:effectLst/>
                  <a:ea typeface="Fira Code" panose="020B0809050000020004" pitchFamily="49" charset="0"/>
                </a:rPr>
                <a:t>const</a:t>
              </a: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 search = </a:t>
              </a:r>
              <a:r>
                <a:rPr lang="en-US" altLang="zh-CN" sz="1100" b="0">
                  <a:solidFill>
                    <a:srgbClr val="0000FF"/>
                  </a:solidFill>
                  <a:effectLst/>
                  <a:ea typeface="Fira Code" panose="020B0809050000020004" pitchFamily="49" charset="0"/>
                </a:rPr>
                <a:t>async</a:t>
              </a: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 () </a:t>
              </a:r>
              <a:r>
                <a:rPr lang="en-US" altLang="zh-CN" sz="1100" b="0">
                  <a:solidFill>
                    <a:srgbClr val="0000FF"/>
                  </a:solidFill>
                  <a:effectLst/>
                  <a:ea typeface="Fira Code" panose="020B0809050000020004" pitchFamily="49" charset="0"/>
                </a:rPr>
                <a:t>=&gt;</a:t>
              </a: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 {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  </a:t>
              </a:r>
              <a:r>
                <a:rPr lang="en-US" altLang="zh-CN" sz="1100" b="0">
                  <a:solidFill>
                    <a:srgbClr val="0000FF"/>
                  </a:solidFill>
                  <a:effectLst/>
                  <a:ea typeface="Fira Code" panose="020B0809050000020004" pitchFamily="49" charset="0"/>
                </a:rPr>
                <a:t>const</a:t>
              </a: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 result = </a:t>
              </a:r>
              <a:r>
                <a:rPr lang="en-US" altLang="zh-CN" sz="1100" b="0">
                  <a:solidFill>
                    <a:srgbClr val="0000FF"/>
                  </a:solidFill>
                  <a:effectLst/>
                  <a:ea typeface="Fira Code" panose="020B0809050000020004" pitchFamily="49" charset="0"/>
                </a:rPr>
                <a:t>await </a:t>
              </a:r>
              <a:r>
                <a:rPr lang="en-US" altLang="zh-CN" sz="1100" b="0">
                  <a:solidFill>
                    <a:schemeClr val="tx1">
                      <a:lumMod val="50000"/>
                    </a:schemeClr>
                  </a:solidFill>
                  <a:effectLst/>
                  <a:ea typeface="Fira Code" panose="020B0809050000020004" pitchFamily="49" charset="0"/>
                </a:rPr>
                <a:t>queryAllApi</a:t>
              </a:r>
              <a:r>
                <a:rPr lang="en-US" altLang="zh-CN" sz="1100" b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ea typeface="Fira Code" panose="020B0809050000020004" pitchFamily="49" charset="0"/>
                </a:rPr>
                <a:t>()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  deptList.value = result.data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}</a:t>
              </a:r>
            </a:p>
          </p:txBody>
        </p:sp>
        <p:sp>
          <p:nvSpPr>
            <p:cNvPr id="18" name="矩形: 圆顶角 17">
              <a:extLst>
                <a:ext uri="{FF2B5EF4-FFF2-40B4-BE49-F238E27FC236}">
                  <a16:creationId xmlns:a16="http://schemas.microsoft.com/office/drawing/2014/main" id="{4EB7B5C6-0CE2-9E41-6FA1-6168DDC6853D}"/>
                </a:ext>
              </a:extLst>
            </p:cNvPr>
            <p:cNvSpPr/>
            <p:nvPr/>
          </p:nvSpPr>
          <p:spPr>
            <a:xfrm>
              <a:off x="2297721" y="3660322"/>
              <a:ext cx="7131585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050">
                  <a:solidFill>
                    <a:schemeClr val="bg1"/>
                  </a:solidFill>
                  <a:latin typeface="Fira Code" panose="020B0809050000020004" pitchFamily="49" charset="0"/>
                </a:rPr>
                <a:t>dept/index.vue</a:t>
              </a:r>
              <a:endParaRPr lang="zh-CN" altLang="en-US" sz="1050">
                <a:solidFill>
                  <a:schemeClr val="bg1"/>
                </a:solidFill>
                <a:latin typeface="Fira Code" panose="020B0809050000020004" pitchFamily="49" charset="0"/>
              </a:endParaRPr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B1B15FE2-E1BE-27C0-FD5D-009C074C0B73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806F5A30-69B0-C544-7557-492B80C09593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94FF5F3D-477B-1BA7-C26C-FC62E4E70DD4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6588929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98A97CFA-AC22-9BA0-3602-5016B65ED3D9}"/>
              </a:ext>
            </a:extLst>
          </p:cNvPr>
          <p:cNvSpPr/>
          <p:nvPr/>
        </p:nvSpPr>
        <p:spPr>
          <a:xfrm>
            <a:off x="9530244" y="5208407"/>
            <a:ext cx="1564424" cy="1313193"/>
          </a:xfrm>
          <a:prstGeom prst="roundRect">
            <a:avLst>
              <a:gd name="adj" fmla="val 8639"/>
            </a:avLst>
          </a:prstGeom>
          <a:solidFill>
            <a:srgbClr val="002060">
              <a:alpha val="14902"/>
            </a:srgbClr>
          </a:solidFill>
          <a:ln w="9525">
            <a:solidFill>
              <a:srgbClr val="00206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/>
          </a:p>
          <a:p>
            <a:pPr algn="ctr"/>
            <a:endParaRPr lang="en-US" altLang="zh-CN"/>
          </a:p>
          <a:p>
            <a:pPr algn="ctr"/>
            <a:endParaRPr lang="en-US" altLang="zh-CN"/>
          </a:p>
          <a:p>
            <a:pPr algn="ctr"/>
            <a:endParaRPr lang="en-US" altLang="zh-CN" sz="1400">
              <a:solidFill>
                <a:schemeClr val="tx1"/>
              </a:solidFill>
            </a:endParaRPr>
          </a:p>
          <a:p>
            <a:pPr algn="ctr"/>
            <a:r>
              <a:rPr lang="en-US" altLang="zh-CN" sz="1400">
                <a:solidFill>
                  <a:schemeClr val="tx1"/>
                </a:solidFill>
              </a:rPr>
              <a:t>8080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46" name="矩形: 圆角 45">
            <a:extLst>
              <a:ext uri="{FF2B5EF4-FFF2-40B4-BE49-F238E27FC236}">
                <a16:creationId xmlns:a16="http://schemas.microsoft.com/office/drawing/2014/main" id="{34EC0111-123B-240D-73F5-F00693E376D9}"/>
              </a:ext>
            </a:extLst>
          </p:cNvPr>
          <p:cNvSpPr/>
          <p:nvPr/>
        </p:nvSpPr>
        <p:spPr>
          <a:xfrm>
            <a:off x="576196" y="5245161"/>
            <a:ext cx="6487992" cy="1313193"/>
          </a:xfrm>
          <a:prstGeom prst="roundRect">
            <a:avLst>
              <a:gd name="adj" fmla="val 8639"/>
            </a:avLst>
          </a:prstGeom>
          <a:solidFill>
            <a:srgbClr val="41B883">
              <a:alpha val="14902"/>
            </a:srgbClr>
          </a:solidFill>
          <a:ln w="9525">
            <a:solidFill>
              <a:srgbClr val="41B883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/>
          </a:p>
          <a:p>
            <a:pPr algn="ctr"/>
            <a:endParaRPr lang="en-US" altLang="zh-CN"/>
          </a:p>
          <a:p>
            <a:pPr algn="ctr"/>
            <a:endParaRPr lang="en-US" altLang="zh-CN"/>
          </a:p>
          <a:p>
            <a:pPr algn="ctr"/>
            <a:endParaRPr lang="en-US" altLang="zh-CN"/>
          </a:p>
          <a:p>
            <a:pPr algn="ctr"/>
            <a:r>
              <a:rPr lang="en-US" altLang="zh-CN" sz="1400">
                <a:solidFill>
                  <a:srgbClr val="41B883"/>
                </a:solidFill>
              </a:rPr>
              <a:t>5173</a:t>
            </a:r>
            <a:endParaRPr lang="zh-CN" altLang="en-US">
              <a:solidFill>
                <a:srgbClr val="41B883"/>
              </a:solidFill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714A9BCD-2BE1-09EC-8227-5A0453970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列表查询</a:t>
            </a:r>
            <a:r>
              <a:rPr lang="en-US" altLang="zh-CN"/>
              <a:t>-</a:t>
            </a:r>
            <a:r>
              <a:rPr lang="zh-CN" altLang="en-US"/>
              <a:t>程序优化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AF03D80-35CA-C7A4-BAF9-A7C2FAEE61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03461" y="956242"/>
            <a:ext cx="6033217" cy="474416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</a:rPr>
              <a:t>在</a:t>
            </a:r>
            <a:r>
              <a:rPr lang="en-US" altLang="zh-CN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</a:rPr>
              <a:t>vite.config.js</a:t>
            </a:r>
            <a:r>
              <a:rPr lang="zh-CN" altLang="en-US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</a:rPr>
              <a:t>中配置前端请求服务器信息。</a:t>
            </a:r>
          </a:p>
        </p:txBody>
      </p:sp>
      <p:grpSp>
        <p:nvGrpSpPr>
          <p:cNvPr id="4" name="!!组合 2">
            <a:extLst>
              <a:ext uri="{FF2B5EF4-FFF2-40B4-BE49-F238E27FC236}">
                <a16:creationId xmlns:a16="http://schemas.microsoft.com/office/drawing/2014/main" id="{A217B6DC-1BEC-DEA9-270F-D882A7EA75E1}"/>
              </a:ext>
            </a:extLst>
          </p:cNvPr>
          <p:cNvGrpSpPr/>
          <p:nvPr/>
        </p:nvGrpSpPr>
        <p:grpSpPr>
          <a:xfrm>
            <a:off x="5949944" y="1530163"/>
            <a:ext cx="5176582" cy="2575214"/>
            <a:chOff x="2297721" y="3660322"/>
            <a:chExt cx="5756082" cy="2487594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645B50D5-B371-6DE9-14E3-3FFFC0D3781D}"/>
                </a:ext>
              </a:extLst>
            </p:cNvPr>
            <p:cNvSpPr/>
            <p:nvPr/>
          </p:nvSpPr>
          <p:spPr>
            <a:xfrm>
              <a:off x="2297727" y="3660323"/>
              <a:ext cx="5756076" cy="2487593"/>
            </a:xfrm>
            <a:prstGeom prst="roundRect">
              <a:avLst>
                <a:gd name="adj" fmla="val 2948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180000" rIns="36000" bIns="0" rtlCol="0" anchor="ctr"/>
            <a:lstStyle/>
            <a:p>
              <a:pPr>
                <a:lnSpc>
                  <a:spcPct val="130000"/>
                </a:lnSpc>
              </a:pP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  server: {</a:t>
              </a:r>
            </a:p>
            <a:p>
              <a:pPr>
                <a:lnSpc>
                  <a:spcPct val="130000"/>
                </a:lnSpc>
              </a:pP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    proxy: {</a:t>
              </a:r>
            </a:p>
            <a:p>
              <a:pPr>
                <a:lnSpc>
                  <a:spcPct val="130000"/>
                </a:lnSpc>
              </a:pP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      </a:t>
              </a:r>
              <a:r>
                <a:rPr lang="en-US" altLang="zh-CN" sz="1100" b="0">
                  <a:solidFill>
                    <a:srgbClr val="A31515"/>
                  </a:solidFill>
                  <a:effectLst/>
                  <a:ea typeface="Fira Code" panose="020B0809050000020004" pitchFamily="49" charset="0"/>
                </a:rPr>
                <a:t>'/api'</a:t>
              </a: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: {</a:t>
              </a:r>
            </a:p>
            <a:p>
              <a:pPr>
                <a:lnSpc>
                  <a:spcPct val="130000"/>
                </a:lnSpc>
              </a:pP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        target: </a:t>
              </a:r>
              <a:r>
                <a:rPr lang="en-US" altLang="zh-CN" sz="1100" b="0">
                  <a:solidFill>
                    <a:srgbClr val="A31515"/>
                  </a:solidFill>
                  <a:effectLst/>
                  <a:ea typeface="Fira Code" panose="020B0809050000020004" pitchFamily="49" charset="0"/>
                </a:rPr>
                <a:t>'http://localhost:8080'</a:t>
              </a: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,</a:t>
              </a:r>
            </a:p>
            <a:p>
              <a:pPr>
                <a:lnSpc>
                  <a:spcPct val="130000"/>
                </a:lnSpc>
              </a:pP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        secure: </a:t>
              </a:r>
              <a:r>
                <a:rPr lang="en-US" altLang="zh-CN" sz="1100" b="0">
                  <a:solidFill>
                    <a:srgbClr val="0000FF"/>
                  </a:solidFill>
                  <a:effectLst/>
                  <a:ea typeface="Fira Code" panose="020B0809050000020004" pitchFamily="49" charset="0"/>
                </a:rPr>
                <a:t>false</a:t>
              </a: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,</a:t>
              </a:r>
            </a:p>
            <a:p>
              <a:pPr>
                <a:lnSpc>
                  <a:spcPct val="130000"/>
                </a:lnSpc>
              </a:pP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        changeOrigin: </a:t>
              </a:r>
              <a:r>
                <a:rPr lang="en-US" altLang="zh-CN" sz="1100" b="0">
                  <a:solidFill>
                    <a:srgbClr val="0000FF"/>
                  </a:solidFill>
                  <a:effectLst/>
                  <a:ea typeface="Fira Code" panose="020B0809050000020004" pitchFamily="49" charset="0"/>
                </a:rPr>
                <a:t>true</a:t>
              </a: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,</a:t>
              </a:r>
            </a:p>
            <a:p>
              <a:pPr>
                <a:lnSpc>
                  <a:spcPct val="130000"/>
                </a:lnSpc>
              </a:pP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        rewrite: (path) </a:t>
              </a:r>
              <a:r>
                <a:rPr lang="en-US" altLang="zh-CN" sz="1100" b="0">
                  <a:solidFill>
                    <a:srgbClr val="0000FF"/>
                  </a:solidFill>
                  <a:effectLst/>
                  <a:ea typeface="Fira Code" panose="020B0809050000020004" pitchFamily="49" charset="0"/>
                </a:rPr>
                <a:t>=&gt;</a:t>
              </a: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 path.replace(</a:t>
              </a:r>
              <a:r>
                <a:rPr lang="en-US" altLang="zh-CN" sz="1100" b="0">
                  <a:solidFill>
                    <a:srgbClr val="811F3F"/>
                  </a:solidFill>
                  <a:effectLst/>
                  <a:ea typeface="Fira Code" panose="020B0809050000020004" pitchFamily="49" charset="0"/>
                </a:rPr>
                <a:t>/</a:t>
              </a:r>
              <a:r>
                <a:rPr lang="en-US" altLang="zh-CN" sz="1100" b="0">
                  <a:solidFill>
                    <a:srgbClr val="0000FF"/>
                  </a:solidFill>
                  <a:effectLst/>
                  <a:ea typeface="Fira Code" panose="020B0809050000020004" pitchFamily="49" charset="0"/>
                </a:rPr>
                <a:t>^</a:t>
              </a:r>
              <a:r>
                <a:rPr lang="en-US" altLang="zh-CN" sz="1100" b="0">
                  <a:solidFill>
                    <a:srgbClr val="811F3F"/>
                  </a:solidFill>
                  <a:effectLst/>
                  <a:ea typeface="Fira Code" panose="020B0809050000020004" pitchFamily="49" charset="0"/>
                </a:rPr>
                <a:t>\/api/</a:t>
              </a: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, </a:t>
              </a:r>
              <a:r>
                <a:rPr lang="en-US" altLang="zh-CN" sz="1100" b="0">
                  <a:solidFill>
                    <a:srgbClr val="A31515"/>
                  </a:solidFill>
                  <a:effectLst/>
                  <a:ea typeface="Fira Code" panose="020B0809050000020004" pitchFamily="49" charset="0"/>
                </a:rPr>
                <a:t>''</a:t>
              </a: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)</a:t>
              </a:r>
            </a:p>
            <a:p>
              <a:pPr>
                <a:lnSpc>
                  <a:spcPct val="130000"/>
                </a:lnSpc>
              </a:pP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      }</a:t>
              </a:r>
            </a:p>
            <a:p>
              <a:pPr>
                <a:lnSpc>
                  <a:spcPct val="130000"/>
                </a:lnSpc>
              </a:pP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    }</a:t>
              </a:r>
            </a:p>
            <a:p>
              <a:pPr>
                <a:lnSpc>
                  <a:spcPct val="130000"/>
                </a:lnSpc>
              </a:pP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  }</a:t>
              </a:r>
            </a:p>
          </p:txBody>
        </p:sp>
        <p:sp>
          <p:nvSpPr>
            <p:cNvPr id="6" name="矩形: 圆顶角 5">
              <a:extLst>
                <a:ext uri="{FF2B5EF4-FFF2-40B4-BE49-F238E27FC236}">
                  <a16:creationId xmlns:a16="http://schemas.microsoft.com/office/drawing/2014/main" id="{BF61D3D6-089F-2857-F3B4-D7D782946CF9}"/>
                </a:ext>
              </a:extLst>
            </p:cNvPr>
            <p:cNvSpPr/>
            <p:nvPr/>
          </p:nvSpPr>
          <p:spPr>
            <a:xfrm>
              <a:off x="2297721" y="3660322"/>
              <a:ext cx="5756076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100">
                  <a:solidFill>
                    <a:schemeClr val="bg1"/>
                  </a:solidFill>
                  <a:latin typeface="Fira Code" panose="020B0809050000020004" pitchFamily="49" charset="0"/>
                </a:rPr>
                <a:t>vite.config.js</a:t>
              </a:r>
              <a:endParaRPr lang="zh-CN" altLang="en-US" sz="1100">
                <a:solidFill>
                  <a:schemeClr val="bg1"/>
                </a:solidFill>
                <a:latin typeface="Fira Code" panose="020B0809050000020004" pitchFamily="49" charset="0"/>
              </a:endParaRPr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C46A8C95-2D09-35A2-F370-D62D4AA0D452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F40D8ADA-7753-1063-35E2-3B29E013D434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770670B4-90C6-1E00-E911-8B118F04C3CF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6" name="!!组合 2">
            <a:extLst>
              <a:ext uri="{FF2B5EF4-FFF2-40B4-BE49-F238E27FC236}">
                <a16:creationId xmlns:a16="http://schemas.microsoft.com/office/drawing/2014/main" id="{340C2C7C-5556-1614-FF7B-9D6DEE6DFE67}"/>
              </a:ext>
            </a:extLst>
          </p:cNvPr>
          <p:cNvGrpSpPr/>
          <p:nvPr/>
        </p:nvGrpSpPr>
        <p:grpSpPr>
          <a:xfrm>
            <a:off x="738321" y="979590"/>
            <a:ext cx="4443281" cy="4060489"/>
            <a:chOff x="2297727" y="3660322"/>
            <a:chExt cx="4940690" cy="3922332"/>
          </a:xfrm>
        </p:grpSpPr>
        <p:sp>
          <p:nvSpPr>
            <p:cNvPr id="27" name="矩形: 圆角 26">
              <a:extLst>
                <a:ext uri="{FF2B5EF4-FFF2-40B4-BE49-F238E27FC236}">
                  <a16:creationId xmlns:a16="http://schemas.microsoft.com/office/drawing/2014/main" id="{5BDAEC29-AB1A-F318-45C4-9C65438CBF57}"/>
                </a:ext>
              </a:extLst>
            </p:cNvPr>
            <p:cNvSpPr/>
            <p:nvPr/>
          </p:nvSpPr>
          <p:spPr>
            <a:xfrm>
              <a:off x="2297727" y="3660323"/>
              <a:ext cx="4940690" cy="3922331"/>
            </a:xfrm>
            <a:prstGeom prst="roundRect">
              <a:avLst>
                <a:gd name="adj" fmla="val 2246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180000" rIns="36000" bIns="0" rtlCol="0" anchor="ctr"/>
            <a:lstStyle/>
            <a:p>
              <a:pPr>
                <a:lnSpc>
                  <a:spcPct val="130000"/>
                </a:lnSpc>
              </a:pPr>
              <a:r>
                <a:rPr lang="en-US" altLang="zh-CN" sz="1100" b="0">
                  <a:solidFill>
                    <a:srgbClr val="0000FF"/>
                  </a:solidFill>
                  <a:effectLst/>
                  <a:ea typeface="Fira Code" panose="020B0809050000020004" pitchFamily="49" charset="0"/>
                </a:rPr>
                <a:t>import</a:t>
              </a: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 axios </a:t>
              </a:r>
              <a:r>
                <a:rPr lang="en-US" altLang="zh-CN" sz="1100" b="0">
                  <a:solidFill>
                    <a:srgbClr val="0000FF"/>
                  </a:solidFill>
                  <a:effectLst/>
                  <a:ea typeface="Fira Code" panose="020B0809050000020004" pitchFamily="49" charset="0"/>
                </a:rPr>
                <a:t>from</a:t>
              </a: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 </a:t>
              </a:r>
              <a:r>
                <a:rPr lang="en-US" altLang="zh-CN" sz="1100" b="0">
                  <a:solidFill>
                    <a:srgbClr val="A31515"/>
                  </a:solidFill>
                  <a:effectLst/>
                  <a:ea typeface="Fira Code" panose="020B0809050000020004" pitchFamily="49" charset="0"/>
                </a:rPr>
                <a:t>'axios'</a:t>
              </a:r>
              <a:b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</a:br>
              <a:r>
                <a:rPr lang="en-US" altLang="zh-CN" sz="1100" b="0">
                  <a:solidFill>
                    <a:srgbClr val="008000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//</a:t>
              </a:r>
              <a:r>
                <a:rPr lang="zh-CN" altLang="en-US" sz="1100" b="0">
                  <a:solidFill>
                    <a:srgbClr val="008000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创建</a:t>
              </a:r>
              <a:r>
                <a:rPr lang="en-US" altLang="zh-CN" sz="1100" b="0">
                  <a:solidFill>
                    <a:srgbClr val="008000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axios</a:t>
              </a:r>
              <a:r>
                <a:rPr lang="zh-CN" altLang="en-US" sz="1100" b="0">
                  <a:solidFill>
                    <a:srgbClr val="008000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实例对象</a:t>
              </a:r>
              <a:endParaRPr lang="zh-CN" altLang="en-US" sz="1100" b="0">
                <a:solidFill>
                  <a:srgbClr val="000000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  <a:p>
              <a:pPr>
                <a:lnSpc>
                  <a:spcPct val="130000"/>
                </a:lnSpc>
              </a:pPr>
              <a:r>
                <a:rPr lang="en-US" altLang="zh-CN" sz="1100" b="0">
                  <a:solidFill>
                    <a:srgbClr val="0000FF"/>
                  </a:solidFill>
                  <a:effectLst/>
                  <a:ea typeface="Fira Code" panose="020B0809050000020004" pitchFamily="49" charset="0"/>
                </a:rPr>
                <a:t>const</a:t>
              </a: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 request = axios.create({</a:t>
              </a:r>
            </a:p>
            <a:p>
              <a:pPr>
                <a:lnSpc>
                  <a:spcPct val="130000"/>
                </a:lnSpc>
              </a:pP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  baseURL: </a:t>
              </a:r>
              <a:r>
                <a:rPr lang="en-US" altLang="zh-CN" sz="1100" b="0">
                  <a:solidFill>
                    <a:srgbClr val="A31515"/>
                  </a:solidFill>
                  <a:effectLst/>
                  <a:ea typeface="Fira Code" panose="020B0809050000020004" pitchFamily="49" charset="0"/>
                </a:rPr>
                <a:t>'https://apifoxmock.com...'</a:t>
              </a: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,</a:t>
              </a:r>
            </a:p>
            <a:p>
              <a:pPr>
                <a:lnSpc>
                  <a:spcPct val="130000"/>
                </a:lnSpc>
              </a:pP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  timeout: </a:t>
              </a:r>
              <a:r>
                <a:rPr lang="en-US" altLang="zh-CN" sz="1100" b="0">
                  <a:solidFill>
                    <a:srgbClr val="098658"/>
                  </a:solidFill>
                  <a:effectLst/>
                  <a:ea typeface="Fira Code" panose="020B0809050000020004" pitchFamily="49" charset="0"/>
                </a:rPr>
                <a:t>600000</a:t>
              </a:r>
              <a:endParaRPr lang="en-US" altLang="zh-CN" sz="1100" b="0">
                <a:solidFill>
                  <a:srgbClr val="000000"/>
                </a:solidFill>
                <a:effectLst/>
                <a:ea typeface="Fira Code" panose="020B0809050000020004" pitchFamily="49" charset="0"/>
              </a:endParaRPr>
            </a:p>
            <a:p>
              <a:pPr>
                <a:lnSpc>
                  <a:spcPct val="130000"/>
                </a:lnSpc>
              </a:pP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})</a:t>
              </a:r>
            </a:p>
            <a:p>
              <a:pPr>
                <a:lnSpc>
                  <a:spcPct val="130000"/>
                </a:lnSpc>
              </a:pPr>
              <a:b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</a:br>
              <a:r>
                <a:rPr lang="en-US" altLang="zh-CN" sz="1100" b="0">
                  <a:solidFill>
                    <a:srgbClr val="008000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//axios</a:t>
              </a:r>
              <a:r>
                <a:rPr lang="zh-CN" altLang="en-US" sz="1100" b="0">
                  <a:solidFill>
                    <a:srgbClr val="008000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的响应 </a:t>
              </a:r>
              <a:r>
                <a:rPr lang="en-US" altLang="zh-CN" sz="1100" b="0">
                  <a:solidFill>
                    <a:srgbClr val="008000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response </a:t>
              </a:r>
              <a:r>
                <a:rPr lang="zh-CN" altLang="en-US" sz="1100" b="0">
                  <a:solidFill>
                    <a:srgbClr val="008000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拦截器</a:t>
              </a:r>
              <a:endParaRPr lang="zh-CN" altLang="en-US" sz="1100" b="0">
                <a:solidFill>
                  <a:srgbClr val="000000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  <a:p>
              <a:pPr>
                <a:lnSpc>
                  <a:spcPct val="130000"/>
                </a:lnSpc>
              </a:pP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request.interceptors.response.use(</a:t>
              </a:r>
            </a:p>
            <a:p>
              <a:pPr>
                <a:lnSpc>
                  <a:spcPct val="130000"/>
                </a:lnSpc>
              </a:pP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  (response) </a:t>
              </a:r>
              <a:r>
                <a:rPr lang="en-US" altLang="zh-CN" sz="1100" b="0">
                  <a:solidFill>
                    <a:srgbClr val="0000FF"/>
                  </a:solidFill>
                  <a:effectLst/>
                  <a:ea typeface="Fira Code" panose="020B0809050000020004" pitchFamily="49" charset="0"/>
                </a:rPr>
                <a:t>=&gt;</a:t>
              </a: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 { </a:t>
              </a:r>
              <a:r>
                <a:rPr lang="en-US" altLang="zh-CN" sz="1100" b="0">
                  <a:solidFill>
                    <a:srgbClr val="008000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//</a:t>
              </a:r>
              <a:r>
                <a:rPr lang="zh-CN" altLang="en-US" sz="1100" b="0">
                  <a:solidFill>
                    <a:srgbClr val="008000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成功回调</a:t>
              </a:r>
              <a:endParaRPr lang="zh-CN" altLang="en-US" sz="1100" b="0">
                <a:solidFill>
                  <a:srgbClr val="000000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  <a:p>
              <a:pPr>
                <a:lnSpc>
                  <a:spcPct val="130000"/>
                </a:lnSpc>
              </a:pPr>
              <a:r>
                <a:rPr lang="zh-CN" altLang="en-US" sz="1100" b="0">
                  <a:solidFill>
                    <a:srgbClr val="000000"/>
                  </a:solidFill>
                  <a:effectLst/>
                </a:rPr>
                <a:t>    </a:t>
              </a:r>
              <a:r>
                <a:rPr lang="en-US" altLang="zh-CN" sz="1100" b="0">
                  <a:solidFill>
                    <a:srgbClr val="0000FF"/>
                  </a:solidFill>
                  <a:effectLst/>
                  <a:ea typeface="Fira Code" panose="020B0809050000020004" pitchFamily="49" charset="0"/>
                </a:rPr>
                <a:t>return</a:t>
              </a: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 response.data</a:t>
              </a:r>
            </a:p>
            <a:p>
              <a:pPr>
                <a:lnSpc>
                  <a:spcPct val="130000"/>
                </a:lnSpc>
              </a:pP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  },</a:t>
              </a:r>
            </a:p>
            <a:p>
              <a:pPr>
                <a:lnSpc>
                  <a:spcPct val="130000"/>
                </a:lnSpc>
              </a:pP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  (error) </a:t>
              </a:r>
              <a:r>
                <a:rPr lang="en-US" altLang="zh-CN" sz="1100" b="0">
                  <a:solidFill>
                    <a:srgbClr val="0000FF"/>
                  </a:solidFill>
                  <a:effectLst/>
                  <a:ea typeface="Fira Code" panose="020B0809050000020004" pitchFamily="49" charset="0"/>
                </a:rPr>
                <a:t>=&gt;</a:t>
              </a: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 { </a:t>
              </a:r>
              <a:r>
                <a:rPr lang="en-US" altLang="zh-CN" sz="1100" b="0">
                  <a:solidFill>
                    <a:srgbClr val="008000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//</a:t>
              </a:r>
              <a:r>
                <a:rPr lang="zh-CN" altLang="en-US" sz="1100" b="0">
                  <a:solidFill>
                    <a:srgbClr val="008000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失败回调</a:t>
              </a:r>
              <a:endParaRPr lang="zh-CN" altLang="en-US" sz="1100" b="0">
                <a:solidFill>
                  <a:srgbClr val="000000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  <a:p>
              <a:pPr>
                <a:lnSpc>
                  <a:spcPct val="130000"/>
                </a:lnSpc>
              </a:pPr>
              <a:r>
                <a:rPr lang="zh-CN" altLang="en-US" sz="1100" b="0">
                  <a:solidFill>
                    <a:srgbClr val="000000"/>
                  </a:solidFill>
                  <a:effectLst/>
                </a:rPr>
                <a:t>    </a:t>
              </a:r>
              <a:r>
                <a:rPr lang="en-US" altLang="zh-CN" sz="1100" b="0">
                  <a:solidFill>
                    <a:srgbClr val="0000FF"/>
                  </a:solidFill>
                  <a:effectLst/>
                  <a:ea typeface="Fira Code" panose="020B0809050000020004" pitchFamily="49" charset="0"/>
                </a:rPr>
                <a:t>return</a:t>
              </a: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 Promise.reject(error)</a:t>
              </a:r>
            </a:p>
            <a:p>
              <a:pPr>
                <a:lnSpc>
                  <a:spcPct val="130000"/>
                </a:lnSpc>
              </a:pP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  }</a:t>
              </a:r>
            </a:p>
            <a:p>
              <a:pPr>
                <a:lnSpc>
                  <a:spcPct val="130000"/>
                </a:lnSpc>
              </a:pP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)</a:t>
              </a:r>
              <a:b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</a:br>
              <a:r>
                <a:rPr lang="en-US" altLang="zh-CN" sz="1100" b="0">
                  <a:solidFill>
                    <a:srgbClr val="0000FF"/>
                  </a:solidFill>
                  <a:effectLst/>
                  <a:ea typeface="Fira Code" panose="020B0809050000020004" pitchFamily="49" charset="0"/>
                </a:rPr>
                <a:t>export</a:t>
              </a: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 </a:t>
              </a:r>
              <a:r>
                <a:rPr lang="en-US" altLang="zh-CN" sz="1100" b="0">
                  <a:solidFill>
                    <a:srgbClr val="0000FF"/>
                  </a:solidFill>
                  <a:effectLst/>
                  <a:ea typeface="Fira Code" panose="020B0809050000020004" pitchFamily="49" charset="0"/>
                </a:rPr>
                <a:t>default</a:t>
              </a: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 request</a:t>
              </a:r>
            </a:p>
          </p:txBody>
        </p:sp>
        <p:sp>
          <p:nvSpPr>
            <p:cNvPr id="28" name="矩形: 圆顶角 27">
              <a:extLst>
                <a:ext uri="{FF2B5EF4-FFF2-40B4-BE49-F238E27FC236}">
                  <a16:creationId xmlns:a16="http://schemas.microsoft.com/office/drawing/2014/main" id="{1EC2472E-92CA-27DC-DBA7-8C829A01574D}"/>
                </a:ext>
              </a:extLst>
            </p:cNvPr>
            <p:cNvSpPr/>
            <p:nvPr/>
          </p:nvSpPr>
          <p:spPr>
            <a:xfrm>
              <a:off x="2300451" y="3660322"/>
              <a:ext cx="4937966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050">
                  <a:solidFill>
                    <a:schemeClr val="bg1"/>
                  </a:solidFill>
                  <a:latin typeface="Fira Code" panose="020B0809050000020004" pitchFamily="49" charset="0"/>
                </a:rPr>
                <a:t>utils/request.js</a:t>
              </a:r>
              <a:endParaRPr lang="zh-CN" altLang="en-US" sz="1050">
                <a:solidFill>
                  <a:schemeClr val="bg1"/>
                </a:solidFill>
                <a:latin typeface="Fira Code" panose="020B0809050000020004" pitchFamily="49" charset="0"/>
              </a:endParaRPr>
            </a:p>
          </p:txBody>
        </p:sp>
        <p:sp>
          <p:nvSpPr>
            <p:cNvPr id="29" name="椭圆 28">
              <a:extLst>
                <a:ext uri="{FF2B5EF4-FFF2-40B4-BE49-F238E27FC236}">
                  <a16:creationId xmlns:a16="http://schemas.microsoft.com/office/drawing/2014/main" id="{84294692-1BC9-9EC3-878C-112FA789AB69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椭圆 29">
              <a:extLst>
                <a:ext uri="{FF2B5EF4-FFF2-40B4-BE49-F238E27FC236}">
                  <a16:creationId xmlns:a16="http://schemas.microsoft.com/office/drawing/2014/main" id="{AA798540-2AAB-93E8-4719-AF68ECA8C9C9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椭圆 30">
              <a:extLst>
                <a:ext uri="{FF2B5EF4-FFF2-40B4-BE49-F238E27FC236}">
                  <a16:creationId xmlns:a16="http://schemas.microsoft.com/office/drawing/2014/main" id="{D5467BC0-B0C7-FD3C-0BBA-C2D2475F8642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A3E589CA-9811-374B-D009-13E2E2CCEC1E}"/>
              </a:ext>
            </a:extLst>
          </p:cNvPr>
          <p:cNvSpPr/>
          <p:nvPr/>
        </p:nvSpPr>
        <p:spPr>
          <a:xfrm>
            <a:off x="1700168" y="1905344"/>
            <a:ext cx="2519586" cy="202856"/>
          </a:xfrm>
          <a:prstGeom prst="roundRect">
            <a:avLst>
              <a:gd name="adj" fmla="val 2246"/>
            </a:avLst>
          </a:prstGeom>
          <a:solidFill>
            <a:srgbClr val="F6F6F6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>
              <a:lnSpc>
                <a:spcPct val="130000"/>
              </a:lnSpc>
            </a:pPr>
            <a:r>
              <a:rPr lang="en-US" altLang="zh-CN" sz="1100" b="0">
                <a:solidFill>
                  <a:srgbClr val="A31515"/>
                </a:solidFill>
                <a:effectLst/>
                <a:ea typeface="Fira Code" panose="020B0809050000020004" pitchFamily="49" charset="0"/>
              </a:rPr>
              <a:t>'/api'</a:t>
            </a:r>
            <a:r>
              <a:rPr lang="en-US" altLang="zh-CN" sz="1100" b="0">
                <a:solidFill>
                  <a:schemeClr val="tx1"/>
                </a:solidFill>
                <a:effectLst/>
                <a:ea typeface="Fira Code" panose="020B0809050000020004" pitchFamily="49" charset="0"/>
              </a:rPr>
              <a:t>,</a:t>
            </a: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897517C5-AF4E-9753-65EE-AA9BB535B874}"/>
              </a:ext>
            </a:extLst>
          </p:cNvPr>
          <p:cNvSpPr/>
          <p:nvPr/>
        </p:nvSpPr>
        <p:spPr>
          <a:xfrm>
            <a:off x="738321" y="5336123"/>
            <a:ext cx="1230323" cy="779930"/>
          </a:xfrm>
          <a:prstGeom prst="roundRect">
            <a:avLst/>
          </a:prstGeom>
          <a:solidFill>
            <a:srgbClr val="41B88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/>
              <a:t>/depts</a:t>
            </a:r>
          </a:p>
          <a:p>
            <a:pPr algn="ctr"/>
            <a:endParaRPr lang="en-US" altLang="zh-CN" sz="1400"/>
          </a:p>
          <a:p>
            <a:pPr algn="ctr"/>
            <a:r>
              <a:rPr lang="en-US" altLang="zh-CN" sz="1100"/>
              <a:t>(dept.js)</a:t>
            </a:r>
            <a:endParaRPr lang="zh-CN" altLang="en-US" sz="1100"/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9E98772D-5E57-69CA-B0E2-DA88082AE372}"/>
              </a:ext>
            </a:extLst>
          </p:cNvPr>
          <p:cNvSpPr/>
          <p:nvPr/>
        </p:nvSpPr>
        <p:spPr>
          <a:xfrm>
            <a:off x="3221544" y="5336123"/>
            <a:ext cx="1230323" cy="779930"/>
          </a:xfrm>
          <a:prstGeom prst="roundRect">
            <a:avLst/>
          </a:prstGeom>
          <a:solidFill>
            <a:srgbClr val="41B88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1400">
                <a:solidFill>
                  <a:srgbClr val="C00000"/>
                </a:solidFill>
              </a:rPr>
              <a:t>/api</a:t>
            </a:r>
            <a:r>
              <a:rPr lang="en-US" altLang="zh-CN" sz="1400"/>
              <a:t>/depts</a:t>
            </a:r>
          </a:p>
          <a:p>
            <a:pPr algn="ctr"/>
            <a:endParaRPr lang="en-US" altLang="zh-CN" sz="1400"/>
          </a:p>
          <a:p>
            <a:pPr algn="ctr"/>
            <a:r>
              <a:rPr lang="en-US" altLang="zh-CN" sz="1100"/>
              <a:t>(request.js)</a:t>
            </a:r>
            <a:endParaRPr lang="zh-CN" altLang="en-US" sz="1100"/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B76833E9-46E1-5205-C800-2FEBB87695FB}"/>
              </a:ext>
            </a:extLst>
          </p:cNvPr>
          <p:cNvSpPr/>
          <p:nvPr/>
        </p:nvSpPr>
        <p:spPr>
          <a:xfrm>
            <a:off x="5708001" y="5336123"/>
            <a:ext cx="1230323" cy="779930"/>
          </a:xfrm>
          <a:prstGeom prst="roundRect">
            <a:avLst/>
          </a:prstGeom>
          <a:solidFill>
            <a:srgbClr val="41B88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/>
              <a:t>/depts</a:t>
            </a:r>
          </a:p>
          <a:p>
            <a:pPr algn="ctr"/>
            <a:endParaRPr lang="en-US" altLang="zh-CN" sz="1400"/>
          </a:p>
          <a:p>
            <a:pPr algn="ctr"/>
            <a:r>
              <a:rPr lang="en-US" altLang="zh-CN" sz="1100"/>
              <a:t>(proxy)</a:t>
            </a:r>
            <a:endParaRPr lang="zh-CN" altLang="en-US" sz="1100"/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3175A1D2-1FBA-D146-825B-4344610FBBDB}"/>
              </a:ext>
            </a:extLst>
          </p:cNvPr>
          <p:cNvSpPr/>
          <p:nvPr/>
        </p:nvSpPr>
        <p:spPr>
          <a:xfrm>
            <a:off x="9697295" y="5336123"/>
            <a:ext cx="1230323" cy="779930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/>
              <a:t>/depts</a:t>
            </a:r>
            <a:endParaRPr lang="zh-CN" altLang="en-US" sz="1400"/>
          </a:p>
        </p:txBody>
      </p: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0BEAA423-33CC-DF09-71F2-A31EFB787E05}"/>
              </a:ext>
            </a:extLst>
          </p:cNvPr>
          <p:cNvCxnSpPr>
            <a:endCxn id="34" idx="1"/>
          </p:cNvCxnSpPr>
          <p:nvPr/>
        </p:nvCxnSpPr>
        <p:spPr>
          <a:xfrm>
            <a:off x="1968644" y="5719482"/>
            <a:ext cx="1252900" cy="6606"/>
          </a:xfrm>
          <a:prstGeom prst="straightConnector1">
            <a:avLst/>
          </a:prstGeom>
          <a:ln w="19050">
            <a:solidFill>
              <a:srgbClr val="41B883"/>
            </a:solidFill>
            <a:prstDash val="sys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29DD9DEE-693F-C38D-6C11-8A8214245144}"/>
              </a:ext>
            </a:extLst>
          </p:cNvPr>
          <p:cNvCxnSpPr>
            <a:cxnSpLocks/>
            <a:stCxn id="34" idx="3"/>
            <a:endCxn id="35" idx="1"/>
          </p:cNvCxnSpPr>
          <p:nvPr/>
        </p:nvCxnSpPr>
        <p:spPr>
          <a:xfrm>
            <a:off x="4451867" y="5726088"/>
            <a:ext cx="1256134" cy="0"/>
          </a:xfrm>
          <a:prstGeom prst="straightConnector1">
            <a:avLst/>
          </a:prstGeom>
          <a:ln w="19050">
            <a:solidFill>
              <a:srgbClr val="41B883"/>
            </a:solidFill>
            <a:prstDash val="sys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333252C6-EA11-DCDD-4674-B7E65EB2DB0D}"/>
              </a:ext>
            </a:extLst>
          </p:cNvPr>
          <p:cNvCxnSpPr>
            <a:cxnSpLocks/>
            <a:stCxn id="35" idx="3"/>
            <a:endCxn id="36" idx="1"/>
          </p:cNvCxnSpPr>
          <p:nvPr/>
        </p:nvCxnSpPr>
        <p:spPr>
          <a:xfrm>
            <a:off x="6938324" y="5726088"/>
            <a:ext cx="2758971" cy="0"/>
          </a:xfrm>
          <a:prstGeom prst="straightConnector1">
            <a:avLst/>
          </a:prstGeom>
          <a:ln w="19050">
            <a:solidFill>
              <a:srgbClr val="41B883"/>
            </a:solidFill>
            <a:prstDash val="sys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>
            <a:extLst>
              <a:ext uri="{FF2B5EF4-FFF2-40B4-BE49-F238E27FC236}">
                <a16:creationId xmlns:a16="http://schemas.microsoft.com/office/drawing/2014/main" id="{1F4F66CE-04E9-C371-8178-75508B448F97}"/>
              </a:ext>
            </a:extLst>
          </p:cNvPr>
          <p:cNvSpPr txBox="1"/>
          <p:nvPr/>
        </p:nvSpPr>
        <p:spPr>
          <a:xfrm>
            <a:off x="7057934" y="5432167"/>
            <a:ext cx="247856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/>
              <a:t>http://localhost:8080/depts</a:t>
            </a:r>
            <a:endParaRPr lang="zh-CN" altLang="en-US" sz="1100"/>
          </a:p>
        </p:txBody>
      </p:sp>
    </p:spTree>
    <p:extLst>
      <p:ext uri="{BB962C8B-B14F-4D97-AF65-F5344CB8AC3E}">
        <p14:creationId xmlns:p14="http://schemas.microsoft.com/office/powerpoint/2010/main" val="3804921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0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animBg="1"/>
      <p:bldP spid="46" grpId="0" animBg="1"/>
      <p:bldP spid="3" grpId="0" build="p"/>
      <p:bldP spid="32" grpId="0" animBg="1"/>
      <p:bldP spid="33" grpId="0" animBg="1"/>
      <p:bldP spid="34" grpId="0" animBg="1"/>
      <p:bldP spid="35" grpId="0" animBg="1"/>
      <p:bldP spid="36" grpId="0" animBg="1"/>
      <p:bldP spid="48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F434177-39A7-CB4D-A6C1-593CD7FB74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 sz="1800"/>
              <a:t>请求处理工具类</a:t>
            </a:r>
            <a:endParaRPr lang="en-US" altLang="zh-CN" sz="1800"/>
          </a:p>
          <a:p>
            <a:pPr marL="612000" lvl="1" indent="-285750">
              <a:lnSpc>
                <a:spcPct val="150000"/>
              </a:lnSpc>
            </a:pPr>
            <a:r>
              <a:rPr lang="en-US" altLang="zh-CN" sz="1600" b="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request.js</a:t>
            </a:r>
            <a:r>
              <a:rPr lang="zh-CN" altLang="en-US" sz="16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：封装</a:t>
            </a:r>
            <a:r>
              <a:rPr lang="en-US" altLang="zh-CN" sz="1600" b="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axios</a:t>
            </a:r>
            <a:r>
              <a:rPr lang="zh-CN" altLang="en-US" sz="16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异步请求的基本信息</a:t>
            </a:r>
            <a:r>
              <a:rPr lang="en-US" altLang="zh-CN" sz="1600" b="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(</a:t>
            </a:r>
            <a:r>
              <a:rPr lang="zh-CN" altLang="en-US" sz="16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拦截器</a:t>
            </a:r>
            <a:r>
              <a:rPr lang="en-US" altLang="zh-CN" sz="1600" b="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)</a:t>
            </a:r>
          </a:p>
          <a:p>
            <a:pPr marL="612000" lvl="1" indent="-285750">
              <a:lnSpc>
                <a:spcPct val="150000"/>
              </a:lnSpc>
            </a:pPr>
            <a:r>
              <a:rPr lang="en-US" altLang="zh-CN" sz="1600" b="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api/xxx.js: </a:t>
            </a:r>
            <a:r>
              <a:rPr lang="zh-CN" altLang="en-US" sz="16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封装模块异步交互的代码</a:t>
            </a:r>
            <a:endParaRPr lang="en-US" altLang="zh-CN" sz="1600" b="0"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612000" lvl="1" indent="-285750">
              <a:lnSpc>
                <a:spcPct val="150000"/>
              </a:lnSpc>
            </a:pPr>
            <a:r>
              <a:rPr lang="en-US" altLang="zh-CN" sz="16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vite.config.js: </a:t>
            </a:r>
            <a:r>
              <a:rPr lang="zh-CN" altLang="en-US" sz="16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配置代理规则</a:t>
            </a:r>
            <a:endParaRPr lang="en-US" altLang="zh-CN" sz="1600" b="0"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277818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6C3644B-709D-C209-C56C-35D176CE457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/>
              <a:t>部门管理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7D66842-F3CF-F0CA-889E-D532EE7A80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51439" y="2924827"/>
            <a:ext cx="3692525" cy="2687079"/>
          </a:xfrm>
        </p:spPr>
        <p:txBody>
          <a:bodyPr/>
          <a:lstStyle/>
          <a:p>
            <a:r>
              <a:rPr lang="zh-CN" altLang="en-US"/>
              <a:t>列表查询</a:t>
            </a:r>
            <a:endParaRPr lang="en-US" altLang="zh-CN"/>
          </a:p>
          <a:p>
            <a:r>
              <a:rPr lang="zh-CN" altLang="en-US">
                <a:solidFill>
                  <a:srgbClr val="C00000"/>
                </a:solidFill>
              </a:rPr>
              <a:t>新增部门</a:t>
            </a:r>
            <a:endParaRPr lang="en-US" altLang="zh-CN">
              <a:solidFill>
                <a:srgbClr val="C00000"/>
              </a:solidFill>
            </a:endParaRPr>
          </a:p>
          <a:p>
            <a:r>
              <a:rPr lang="zh-CN" altLang="en-US"/>
              <a:t>修改部门</a:t>
            </a:r>
            <a:endParaRPr lang="en-US" altLang="zh-CN"/>
          </a:p>
          <a:p>
            <a:r>
              <a:rPr lang="zh-CN" altLang="en-US"/>
              <a:t>删除部门</a:t>
            </a:r>
            <a:endParaRPr lang="en-US" altLang="zh-CN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8EC42937-3BFC-D69A-E4F8-934D19CCD13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03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074462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4A9BCD-2BE1-09EC-8227-5A0453970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新增部门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AF03D80-35CA-C7A4-BAF9-A7C2FAEE61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060481" cy="474415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根据页面原型、需求说明、接口文档，先完成页面的基本布局。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240860D-84FE-5D18-BA61-EB449876C5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40" y="1832925"/>
            <a:ext cx="4175544" cy="1927174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B62A2A99-E75D-56B0-A09F-25C3B4661D92}"/>
              </a:ext>
            </a:extLst>
          </p:cNvPr>
          <p:cNvSpPr txBox="1"/>
          <p:nvPr/>
        </p:nvSpPr>
        <p:spPr>
          <a:xfrm>
            <a:off x="5071684" y="2296947"/>
            <a:ext cx="2334193" cy="873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fontAlgn="auto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zh-CN" altLang="en-US" sz="160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160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Dialog</a:t>
            </a:r>
            <a:r>
              <a:rPr lang="zh-CN" altLang="en-US" sz="160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对话框组件</a:t>
            </a:r>
            <a:endParaRPr lang="en-US" altLang="zh-CN" sz="1600">
              <a:solidFill>
                <a:schemeClr val="tx1">
                  <a:lumMod val="50000"/>
                </a:schemeClr>
              </a:solidFill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171450" indent="-171450" fontAlgn="auto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zh-CN" altLang="en-US" sz="160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160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Form</a:t>
            </a:r>
            <a:r>
              <a:rPr lang="zh-CN" altLang="en-US" sz="160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表单组件</a:t>
            </a:r>
            <a:endParaRPr lang="zh-CN" altLang="en-US" sz="1600" dirty="0">
              <a:solidFill>
                <a:schemeClr val="tx1">
                  <a:lumMod val="50000"/>
                </a:schemeClr>
              </a:solidFill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31D6E36-F793-74E0-89DC-5ADB7EE308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5877" y="1832925"/>
            <a:ext cx="3987265" cy="1818147"/>
          </a:xfrm>
          <a:prstGeom prst="rect">
            <a:avLst/>
          </a:prstGeom>
        </p:spPr>
      </p:pic>
      <p:grpSp>
        <p:nvGrpSpPr>
          <p:cNvPr id="7" name="组合 6">
            <a:extLst>
              <a:ext uri="{FF2B5EF4-FFF2-40B4-BE49-F238E27FC236}">
                <a16:creationId xmlns:a16="http://schemas.microsoft.com/office/drawing/2014/main" id="{456C27C1-8D43-4FC2-D7BE-594483B9B6EA}"/>
              </a:ext>
            </a:extLst>
          </p:cNvPr>
          <p:cNvGrpSpPr/>
          <p:nvPr/>
        </p:nvGrpSpPr>
        <p:grpSpPr>
          <a:xfrm>
            <a:off x="875820" y="6073193"/>
            <a:ext cx="10447873" cy="448408"/>
            <a:chOff x="710880" y="5745685"/>
            <a:chExt cx="10075082" cy="448408"/>
          </a:xfrm>
        </p:grpSpPr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2AC8014A-BE00-2032-A376-BA44DFA1C2C0}"/>
                </a:ext>
              </a:extLst>
            </p:cNvPr>
            <p:cNvSpPr/>
            <p:nvPr/>
          </p:nvSpPr>
          <p:spPr>
            <a:xfrm>
              <a:off x="710880" y="5745686"/>
              <a:ext cx="10075082" cy="448407"/>
            </a:xfrm>
            <a:prstGeom prst="roundRect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188000" rtlCol="0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zh-CN" altLang="en-US" sz="1400">
                  <a:solidFill>
                    <a:schemeClr val="tx1">
                      <a:lumMod val="50000"/>
                    </a:schemeClr>
                  </a:solidFill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新增部门 和 编辑部门可以共用一个</a:t>
              </a:r>
              <a:r>
                <a:rPr lang="en-US" altLang="zh-CN" sz="1400">
                  <a:solidFill>
                    <a:schemeClr val="tx1">
                      <a:lumMod val="50000"/>
                    </a:schemeClr>
                  </a:solidFill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Dialog</a:t>
              </a:r>
              <a:r>
                <a:rPr lang="zh-CN" altLang="en-US" sz="1400">
                  <a:solidFill>
                    <a:schemeClr val="tx1">
                      <a:lumMod val="50000"/>
                    </a:schemeClr>
                  </a:solidFill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对话框。</a:t>
              </a:r>
              <a:endParaRPr kumimoji="0" lang="zh-CN" altLang="zh-CN" sz="1400" b="0" i="0" u="none" strike="noStrike" cap="none" normalizeH="0" baseline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9" name="矩形: 圆顶角 8">
              <a:extLst>
                <a:ext uri="{FF2B5EF4-FFF2-40B4-BE49-F238E27FC236}">
                  <a16:creationId xmlns:a16="http://schemas.microsoft.com/office/drawing/2014/main" id="{0C259C67-D712-C3D8-9B14-51850FEA8169}"/>
                </a:ext>
              </a:extLst>
            </p:cNvPr>
            <p:cNvSpPr/>
            <p:nvPr/>
          </p:nvSpPr>
          <p:spPr>
            <a:xfrm rot="16200000">
              <a:off x="1005297" y="5451268"/>
              <a:ext cx="448407" cy="1037241"/>
            </a:xfrm>
            <a:prstGeom prst="round2SameRect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0" name="图形 9" descr="发送 纯色填充">
              <a:extLst>
                <a:ext uri="{FF2B5EF4-FFF2-40B4-BE49-F238E27FC236}">
                  <a16:creationId xmlns:a16="http://schemas.microsoft.com/office/drawing/2014/main" id="{F0B5D36C-DF63-DE50-1180-6A97FD28BF8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73616" y="5793337"/>
              <a:ext cx="353103" cy="353103"/>
            </a:xfrm>
            <a:prstGeom prst="rect">
              <a:avLst/>
            </a:prstGeom>
          </p:spPr>
        </p:pic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4A7BA3F9-2D57-E808-FDBB-0D7CB3679B20}"/>
                </a:ext>
              </a:extLst>
            </p:cNvPr>
            <p:cNvSpPr txBox="1"/>
            <p:nvPr/>
          </p:nvSpPr>
          <p:spPr>
            <a:xfrm>
              <a:off x="1099259" y="5809403"/>
              <a:ext cx="63970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00" dirty="0">
                  <a:solidFill>
                    <a:schemeClr val="bg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提示：</a:t>
              </a:r>
              <a:endParaRPr lang="zh-CN" altLang="en-US" sz="105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08313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803E20-3BD3-3F4E-2F1D-F09D42E98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新增部门</a:t>
            </a:r>
            <a:r>
              <a:rPr lang="en-US" altLang="zh-CN"/>
              <a:t>-</a:t>
            </a:r>
            <a:r>
              <a:rPr lang="zh-CN" altLang="en-US"/>
              <a:t>表单校验</a:t>
            </a:r>
          </a:p>
        </p:txBody>
      </p:sp>
      <p:sp>
        <p:nvSpPr>
          <p:cNvPr id="3" name="文本占位符 5">
            <a:extLst>
              <a:ext uri="{FF2B5EF4-FFF2-40B4-BE49-F238E27FC236}">
                <a16:creationId xmlns:a16="http://schemas.microsoft.com/office/drawing/2014/main" id="{C2BAD5B1-F3FA-2503-C923-07907A46A56A}"/>
              </a:ext>
            </a:extLst>
          </p:cNvPr>
          <p:cNvSpPr txBox="1">
            <a:spLocks/>
          </p:cNvSpPr>
          <p:nvPr/>
        </p:nvSpPr>
        <p:spPr>
          <a:xfrm>
            <a:off x="683847" y="1000257"/>
            <a:ext cx="11080558" cy="167385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600">
                <a:latin typeface="Fira Code" panose="020B0809050000020004" pitchFamily="49" charset="0"/>
              </a:rPr>
              <a:t>在</a:t>
            </a:r>
            <a:r>
              <a:rPr lang="en-US" altLang="zh-CN" sz="1600">
                <a:latin typeface="Fira Code" panose="020B0809050000020004" pitchFamily="49" charset="0"/>
                <a:ea typeface="Fira Code" panose="020B0809050000020004" pitchFamily="49" charset="0"/>
              </a:rPr>
              <a:t>ElementPlus</a:t>
            </a:r>
            <a:r>
              <a:rPr lang="zh-CN" altLang="en-US" sz="1600">
                <a:latin typeface="Fira Code" panose="020B0809050000020004" pitchFamily="49" charset="0"/>
              </a:rPr>
              <a:t>提供的</a:t>
            </a:r>
            <a:r>
              <a:rPr lang="en-US" altLang="zh-CN" sz="1600">
                <a:latin typeface="Fira Code" panose="020B0809050000020004" pitchFamily="49" charset="0"/>
                <a:ea typeface="Fira Code" panose="020B0809050000020004" pitchFamily="49" charset="0"/>
              </a:rPr>
              <a:t>form</a:t>
            </a:r>
            <a:r>
              <a:rPr lang="zh-CN" altLang="en-US" sz="1600">
                <a:latin typeface="Fira Code" panose="020B0809050000020004" pitchFamily="49" charset="0"/>
              </a:rPr>
              <a:t>表单组件中，就提供了对应的表单校验的功能。 具体步骤如下：</a:t>
            </a:r>
            <a:endParaRPr lang="en-US" altLang="zh-CN" sz="1600">
              <a:latin typeface="Fira Code" panose="020B0809050000020004" pitchFamily="49" charset="0"/>
            </a:endParaRPr>
          </a:p>
          <a:p>
            <a:pPr marL="540000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sz="1400">
                <a:latin typeface="Fira Code" panose="020B0809050000020004" pitchFamily="49" charset="0"/>
              </a:rPr>
              <a:t>定义表单校验规则，通过</a:t>
            </a:r>
            <a:r>
              <a:rPr lang="en-US" altLang="zh-CN" sz="1400">
                <a:latin typeface="Fira Code" panose="020B0809050000020004" pitchFamily="49" charset="0"/>
              </a:rPr>
              <a:t>rules</a:t>
            </a:r>
            <a:r>
              <a:rPr lang="zh-CN" altLang="en-US" sz="1400">
                <a:latin typeface="Fira Code" panose="020B0809050000020004" pitchFamily="49" charset="0"/>
              </a:rPr>
              <a:t>属性与表单绑定</a:t>
            </a:r>
            <a:endParaRPr lang="en-US" altLang="zh-CN" sz="1400">
              <a:latin typeface="Fira Code" panose="020B0809050000020004" pitchFamily="49" charset="0"/>
            </a:endParaRPr>
          </a:p>
          <a:p>
            <a:pPr marL="540000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sz="1400">
                <a:latin typeface="Fira Code" panose="020B0809050000020004" pitchFamily="49" charset="0"/>
              </a:rPr>
              <a:t>通过</a:t>
            </a:r>
            <a:r>
              <a:rPr lang="en-US" altLang="zh-CN" sz="1400">
                <a:latin typeface="Fira Code" panose="020B0809050000020004" pitchFamily="49" charset="0"/>
              </a:rPr>
              <a:t>prop</a:t>
            </a:r>
            <a:r>
              <a:rPr lang="zh-CN" altLang="en-US" sz="1400">
                <a:latin typeface="Fira Code" panose="020B0809050000020004" pitchFamily="49" charset="0"/>
              </a:rPr>
              <a:t>属性绑定对应的表单项。</a:t>
            </a:r>
            <a:endParaRPr lang="en-US" altLang="zh-CN" sz="1400">
              <a:latin typeface="Fira Code" panose="020B0809050000020004" pitchFamily="49" charset="0"/>
            </a:endParaRPr>
          </a:p>
          <a:p>
            <a:pPr marL="540000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sz="1400">
                <a:latin typeface="Fira Code" panose="020B0809050000020004" pitchFamily="49" charset="0"/>
              </a:rPr>
              <a:t>通过</a:t>
            </a:r>
            <a:r>
              <a:rPr lang="en-US" altLang="zh-CN" sz="1400">
                <a:latin typeface="Fira Code" panose="020B0809050000020004" pitchFamily="49" charset="0"/>
              </a:rPr>
              <a:t>ref</a:t>
            </a:r>
            <a:r>
              <a:rPr lang="zh-CN" altLang="en-US" sz="1400">
                <a:latin typeface="Fira Code" panose="020B0809050000020004" pitchFamily="49" charset="0"/>
              </a:rPr>
              <a:t>属性注册表单的引用，表单提交时，校验表单，校验通过，则允许提交表单。。</a:t>
            </a:r>
            <a:endParaRPr lang="en-US" altLang="zh-CN" sz="1400">
              <a:latin typeface="Fira Code" panose="020B0809050000020004" pitchFamily="49" charset="0"/>
            </a:endParaRPr>
          </a:p>
        </p:txBody>
      </p:sp>
      <p:grpSp>
        <p:nvGrpSpPr>
          <p:cNvPr id="4" name="!!组合 2">
            <a:extLst>
              <a:ext uri="{FF2B5EF4-FFF2-40B4-BE49-F238E27FC236}">
                <a16:creationId xmlns:a16="http://schemas.microsoft.com/office/drawing/2014/main" id="{84C0EB89-3EB2-B4D1-2B7A-C691B9C5A591}"/>
              </a:ext>
            </a:extLst>
          </p:cNvPr>
          <p:cNvGrpSpPr/>
          <p:nvPr/>
        </p:nvGrpSpPr>
        <p:grpSpPr>
          <a:xfrm>
            <a:off x="1174088" y="2835082"/>
            <a:ext cx="6465486" cy="2138239"/>
            <a:chOff x="2297720" y="3660322"/>
            <a:chExt cx="7189273" cy="2065487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D6CDF9D7-8047-06FF-48FE-18C3CFA5CE5C}"/>
                </a:ext>
              </a:extLst>
            </p:cNvPr>
            <p:cNvSpPr/>
            <p:nvPr/>
          </p:nvSpPr>
          <p:spPr>
            <a:xfrm>
              <a:off x="2297729" y="3660323"/>
              <a:ext cx="7189264" cy="2065486"/>
            </a:xfrm>
            <a:prstGeom prst="roundRect">
              <a:avLst>
                <a:gd name="adj" fmla="val 4221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180000" rIns="36000" bIns="0" rtlCol="0" anchor="ctr"/>
            <a:lstStyle/>
            <a:p>
              <a:pPr>
                <a:lnSpc>
                  <a:spcPct val="150000"/>
                </a:lnSpc>
              </a:pPr>
              <a:r>
                <a:rPr lang="en-US" altLang="zh-CN" sz="1100" b="0">
                  <a:solidFill>
                    <a:srgbClr val="0000FF"/>
                  </a:solidFill>
                  <a:effectLst/>
                  <a:ea typeface="Fira Code" panose="020B0809050000020004" pitchFamily="49" charset="0"/>
                </a:rPr>
                <a:t>const</a:t>
              </a: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 deptFormRef = ref()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100" b="0">
                  <a:solidFill>
                    <a:srgbClr val="0000FF"/>
                  </a:solidFill>
                  <a:effectLst/>
                  <a:ea typeface="Fira Code" panose="020B0809050000020004" pitchFamily="49" charset="0"/>
                </a:rPr>
                <a:t>const</a:t>
              </a: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 rules = ref({</a:t>
              </a:r>
              <a:r>
                <a:rPr lang="en-US" altLang="zh-CN" sz="1100" b="0">
                  <a:solidFill>
                    <a:srgbClr val="008000"/>
                  </a:solidFill>
                  <a:effectLst/>
                  <a:ea typeface="Fira Code" panose="020B0809050000020004" pitchFamily="49" charset="0"/>
                </a:rPr>
                <a:t>//</a:t>
              </a:r>
              <a:r>
                <a:rPr lang="zh-CN" altLang="en-US" sz="1100" b="0">
                  <a:solidFill>
                    <a:srgbClr val="008000"/>
                  </a:solidFill>
                  <a:effectLst/>
                </a:rPr>
                <a:t>表单校验规则</a:t>
              </a:r>
              <a:endParaRPr lang="en-US" altLang="zh-CN" sz="1100" b="0">
                <a:solidFill>
                  <a:srgbClr val="000000"/>
                </a:solidFill>
                <a:effectLst/>
                <a:ea typeface="Fira Code" panose="020B0809050000020004" pitchFamily="49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  name: [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    { required: </a:t>
              </a:r>
              <a:r>
                <a:rPr lang="en-US" altLang="zh-CN" sz="1100" b="0">
                  <a:solidFill>
                    <a:srgbClr val="0000FF"/>
                  </a:solidFill>
                  <a:effectLst/>
                  <a:ea typeface="Fira Code" panose="020B0809050000020004" pitchFamily="49" charset="0"/>
                </a:rPr>
                <a:t>true</a:t>
              </a: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, message: </a:t>
              </a:r>
              <a:r>
                <a:rPr lang="en-US" altLang="zh-CN" sz="1100" b="0">
                  <a:solidFill>
                    <a:srgbClr val="A31515"/>
                  </a:solidFill>
                  <a:effectLst/>
                  <a:ea typeface="Fira Code" panose="020B0809050000020004" pitchFamily="49" charset="0"/>
                </a:rPr>
                <a:t>'</a:t>
              </a:r>
              <a:r>
                <a:rPr lang="zh-CN" altLang="en-US" sz="1100" b="0">
                  <a:solidFill>
                    <a:srgbClr val="A31515"/>
                  </a:solidFill>
                  <a:effectLst/>
                </a:rPr>
                <a:t>请输入部门名称</a:t>
              </a:r>
              <a:r>
                <a:rPr lang="en-US" altLang="zh-CN" sz="1100" b="0">
                  <a:solidFill>
                    <a:srgbClr val="A31515"/>
                  </a:solidFill>
                  <a:effectLst/>
                  <a:ea typeface="Fira Code" panose="020B0809050000020004" pitchFamily="49" charset="0"/>
                </a:rPr>
                <a:t>'</a:t>
              </a: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, trigger: </a:t>
              </a:r>
              <a:r>
                <a:rPr lang="en-US" altLang="zh-CN" sz="1100" b="0">
                  <a:solidFill>
                    <a:srgbClr val="A31515"/>
                  </a:solidFill>
                  <a:effectLst/>
                  <a:ea typeface="Fira Code" panose="020B0809050000020004" pitchFamily="49" charset="0"/>
                </a:rPr>
                <a:t>'blur'</a:t>
              </a: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 },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    { min: </a:t>
              </a:r>
              <a:r>
                <a:rPr lang="en-US" altLang="zh-CN" sz="1100" b="0">
                  <a:solidFill>
                    <a:srgbClr val="098658"/>
                  </a:solidFill>
                  <a:effectLst/>
                  <a:ea typeface="Fira Code" panose="020B0809050000020004" pitchFamily="49" charset="0"/>
                </a:rPr>
                <a:t>2</a:t>
              </a: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, max: </a:t>
              </a:r>
              <a:r>
                <a:rPr lang="en-US" altLang="zh-CN" sz="1100" b="0">
                  <a:solidFill>
                    <a:srgbClr val="098658"/>
                  </a:solidFill>
                  <a:effectLst/>
                  <a:ea typeface="Fira Code" panose="020B0809050000020004" pitchFamily="49" charset="0"/>
                </a:rPr>
                <a:t>10</a:t>
              </a: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, message: </a:t>
              </a:r>
              <a:r>
                <a:rPr lang="en-US" altLang="zh-CN" sz="1100" b="0">
                  <a:solidFill>
                    <a:srgbClr val="A31515"/>
                  </a:solidFill>
                  <a:effectLst/>
                  <a:ea typeface="Fira Code" panose="020B0809050000020004" pitchFamily="49" charset="0"/>
                </a:rPr>
                <a:t>'</a:t>
              </a:r>
              <a:r>
                <a:rPr lang="zh-CN" altLang="en-US" sz="1100" b="0">
                  <a:solidFill>
                    <a:srgbClr val="A31515"/>
                  </a:solidFill>
                  <a:effectLst/>
                </a:rPr>
                <a:t>部门名称的长度在</a:t>
              </a:r>
              <a:r>
                <a:rPr lang="en-US" altLang="zh-CN" sz="1100" b="0">
                  <a:solidFill>
                    <a:srgbClr val="A31515"/>
                  </a:solidFill>
                  <a:effectLst/>
                  <a:ea typeface="Fira Code" panose="020B0809050000020004" pitchFamily="49" charset="0"/>
                </a:rPr>
                <a:t>2-10</a:t>
              </a:r>
              <a:r>
                <a:rPr lang="zh-CN" altLang="en-US" sz="1100" b="0">
                  <a:solidFill>
                    <a:srgbClr val="A31515"/>
                  </a:solidFill>
                  <a:effectLst/>
                </a:rPr>
                <a:t>之间</a:t>
              </a:r>
              <a:r>
                <a:rPr lang="en-US" altLang="zh-CN" sz="1100" b="0">
                  <a:solidFill>
                    <a:srgbClr val="A31515"/>
                  </a:solidFill>
                  <a:effectLst/>
                  <a:ea typeface="Fira Code" panose="020B0809050000020004" pitchFamily="49" charset="0"/>
                </a:rPr>
                <a:t>'</a:t>
              </a: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, trigger: </a:t>
              </a:r>
              <a:r>
                <a:rPr lang="en-US" altLang="zh-CN" sz="1100" b="0">
                  <a:solidFill>
                    <a:srgbClr val="A31515"/>
                  </a:solidFill>
                  <a:effectLst/>
                  <a:ea typeface="Fira Code" panose="020B0809050000020004" pitchFamily="49" charset="0"/>
                </a:rPr>
                <a:t>'blur'</a:t>
              </a: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 }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  ]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})</a:t>
              </a:r>
            </a:p>
          </p:txBody>
        </p:sp>
        <p:sp>
          <p:nvSpPr>
            <p:cNvPr id="6" name="矩形: 圆顶角 5">
              <a:extLst>
                <a:ext uri="{FF2B5EF4-FFF2-40B4-BE49-F238E27FC236}">
                  <a16:creationId xmlns:a16="http://schemas.microsoft.com/office/drawing/2014/main" id="{0AD033CA-2B08-9FEC-6E64-2B34716704CE}"/>
                </a:ext>
              </a:extLst>
            </p:cNvPr>
            <p:cNvSpPr/>
            <p:nvPr/>
          </p:nvSpPr>
          <p:spPr>
            <a:xfrm>
              <a:off x="2297720" y="3660322"/>
              <a:ext cx="7189272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050">
                  <a:solidFill>
                    <a:schemeClr val="bg1"/>
                  </a:solidFill>
                  <a:latin typeface="Fira Code" panose="020B0809050000020004" pitchFamily="49" charset="0"/>
                </a:rPr>
                <a:t>dept/index.vue</a:t>
              </a:r>
              <a:endParaRPr lang="zh-CN" altLang="en-US" sz="1050">
                <a:solidFill>
                  <a:schemeClr val="bg1"/>
                </a:solidFill>
                <a:latin typeface="Fira Code" panose="020B0809050000020004" pitchFamily="49" charset="0"/>
              </a:endParaRPr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8C6375B3-08C0-F92B-F44C-DC64BAC4235D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CD3AF715-B4DA-D3DE-FB08-9DCBE2DC182D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07D2ED79-B47A-19FD-E33A-C9A1DF51D470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0" name="!!组合 2">
            <a:extLst>
              <a:ext uri="{FF2B5EF4-FFF2-40B4-BE49-F238E27FC236}">
                <a16:creationId xmlns:a16="http://schemas.microsoft.com/office/drawing/2014/main" id="{A52D76B8-6E0A-351C-A3CC-18ED1FABECD4}"/>
              </a:ext>
            </a:extLst>
          </p:cNvPr>
          <p:cNvGrpSpPr/>
          <p:nvPr/>
        </p:nvGrpSpPr>
        <p:grpSpPr>
          <a:xfrm>
            <a:off x="1679093" y="4720314"/>
            <a:ext cx="5913130" cy="1858532"/>
            <a:chOff x="2297720" y="3660322"/>
            <a:chExt cx="6575083" cy="1795297"/>
          </a:xfrm>
        </p:grpSpPr>
        <p:sp>
          <p:nvSpPr>
            <p:cNvPr id="11" name="矩形: 圆角 10">
              <a:extLst>
                <a:ext uri="{FF2B5EF4-FFF2-40B4-BE49-F238E27FC236}">
                  <a16:creationId xmlns:a16="http://schemas.microsoft.com/office/drawing/2014/main" id="{0CBF252B-F33B-14AE-AC72-705425B140A2}"/>
                </a:ext>
              </a:extLst>
            </p:cNvPr>
            <p:cNvSpPr/>
            <p:nvPr/>
          </p:nvSpPr>
          <p:spPr>
            <a:xfrm>
              <a:off x="2297729" y="3660323"/>
              <a:ext cx="6575074" cy="1795296"/>
            </a:xfrm>
            <a:prstGeom prst="roundRect">
              <a:avLst>
                <a:gd name="adj" fmla="val 4221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180000" rIns="36000" bIns="0" rtlCol="0" anchor="ctr"/>
            <a:lstStyle/>
            <a:p>
              <a:pPr>
                <a:lnSpc>
                  <a:spcPct val="150000"/>
                </a:lnSpc>
              </a:pPr>
              <a:r>
                <a:rPr lang="en-US" altLang="zh-CN" sz="1100" b="0">
                  <a:solidFill>
                    <a:srgbClr val="800000"/>
                  </a:solidFill>
                  <a:effectLst/>
                  <a:ea typeface="Fira Code" panose="020B0809050000020004" pitchFamily="49" charset="0"/>
                </a:rPr>
                <a:t>&lt;el-form</a:t>
              </a: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 :</a:t>
              </a:r>
              <a:r>
                <a:rPr lang="en-US" altLang="zh-CN" sz="1100" b="0">
                  <a:solidFill>
                    <a:srgbClr val="E50000"/>
                  </a:solidFill>
                  <a:effectLst/>
                  <a:ea typeface="Fira Code" panose="020B0809050000020004" pitchFamily="49" charset="0"/>
                </a:rPr>
                <a:t>model</a:t>
              </a: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="dept" :</a:t>
              </a:r>
              <a:r>
                <a:rPr lang="en-US" altLang="zh-CN" sz="1100" b="0">
                  <a:solidFill>
                    <a:srgbClr val="E50000"/>
                  </a:solidFill>
                  <a:effectLst/>
                  <a:ea typeface="Fira Code" panose="020B0809050000020004" pitchFamily="49" charset="0"/>
                </a:rPr>
                <a:t>rules</a:t>
              </a: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="rules" </a:t>
              </a:r>
              <a:r>
                <a:rPr lang="en-US" altLang="zh-CN" sz="1100" b="0">
                  <a:solidFill>
                    <a:srgbClr val="E50000"/>
                  </a:solidFill>
                  <a:effectLst/>
                  <a:ea typeface="Fira Code" panose="020B0809050000020004" pitchFamily="49" charset="0"/>
                </a:rPr>
                <a:t>ref</a:t>
              </a: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=</a:t>
              </a:r>
              <a:r>
                <a:rPr lang="en-US" altLang="zh-CN" sz="1100" b="0">
                  <a:solidFill>
                    <a:srgbClr val="0000FF"/>
                  </a:solidFill>
                  <a:effectLst/>
                  <a:ea typeface="Fira Code" panose="020B0809050000020004" pitchFamily="49" charset="0"/>
                </a:rPr>
                <a:t>"deptFormRef"</a:t>
              </a:r>
              <a:r>
                <a:rPr lang="en-US" altLang="zh-CN" sz="1100" b="0">
                  <a:solidFill>
                    <a:srgbClr val="800000"/>
                  </a:solidFill>
                  <a:effectLst/>
                  <a:ea typeface="Fira Code" panose="020B0809050000020004" pitchFamily="49" charset="0"/>
                </a:rPr>
                <a:t>&gt;</a:t>
              </a:r>
              <a:endParaRPr lang="en-US" altLang="zh-CN" sz="1100" b="0">
                <a:solidFill>
                  <a:srgbClr val="000000"/>
                </a:solidFill>
                <a:effectLst/>
                <a:ea typeface="Fira Code" panose="020B0809050000020004" pitchFamily="49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  </a:t>
              </a:r>
              <a:r>
                <a:rPr lang="en-US" altLang="zh-CN" sz="1100" b="0">
                  <a:solidFill>
                    <a:srgbClr val="800000"/>
                  </a:solidFill>
                  <a:effectLst/>
                  <a:ea typeface="Fira Code" panose="020B0809050000020004" pitchFamily="49" charset="0"/>
                </a:rPr>
                <a:t>&lt;el-form-item</a:t>
              </a: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 </a:t>
              </a:r>
              <a:r>
                <a:rPr lang="en-US" altLang="zh-CN" sz="1100" b="0">
                  <a:solidFill>
                    <a:srgbClr val="E50000"/>
                  </a:solidFill>
                  <a:effectLst/>
                  <a:ea typeface="Fira Code" panose="020B0809050000020004" pitchFamily="49" charset="0"/>
                </a:rPr>
                <a:t>label</a:t>
              </a: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=</a:t>
              </a:r>
              <a:r>
                <a:rPr lang="en-US" altLang="zh-CN" sz="1100" b="0">
                  <a:solidFill>
                    <a:srgbClr val="0000FF"/>
                  </a:solidFill>
                  <a:effectLst/>
                  <a:ea typeface="Fira Code" panose="020B0809050000020004" pitchFamily="49" charset="0"/>
                </a:rPr>
                <a:t>"</a:t>
              </a:r>
              <a:r>
                <a:rPr lang="zh-CN" altLang="en-US" sz="1100" b="0">
                  <a:solidFill>
                    <a:srgbClr val="0000FF"/>
                  </a:solidFill>
                  <a:effectLst/>
                </a:rPr>
                <a:t>部门名称</a:t>
              </a:r>
              <a:r>
                <a:rPr lang="en-US" altLang="zh-CN" sz="1100" b="0">
                  <a:solidFill>
                    <a:srgbClr val="0000FF"/>
                  </a:solidFill>
                  <a:effectLst/>
                  <a:ea typeface="Fira Code" panose="020B0809050000020004" pitchFamily="49" charset="0"/>
                </a:rPr>
                <a:t>"</a:t>
              </a:r>
              <a:r>
                <a:rPr lang="zh-CN" altLang="en-US" sz="1100" b="0">
                  <a:solidFill>
                    <a:srgbClr val="000000"/>
                  </a:solidFill>
                  <a:effectLst/>
                </a:rPr>
                <a:t> </a:t>
              </a:r>
              <a:r>
                <a:rPr lang="en-US" altLang="zh-CN" sz="1100" b="0">
                  <a:solidFill>
                    <a:srgbClr val="E50000"/>
                  </a:solidFill>
                  <a:effectLst/>
                  <a:ea typeface="Fira Code" panose="020B0809050000020004" pitchFamily="49" charset="0"/>
                </a:rPr>
                <a:t>label-width</a:t>
              </a: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=</a:t>
              </a:r>
              <a:r>
                <a:rPr lang="en-US" altLang="zh-CN" sz="1100" b="0">
                  <a:solidFill>
                    <a:srgbClr val="0000FF"/>
                  </a:solidFill>
                  <a:effectLst/>
                  <a:ea typeface="Fira Code" panose="020B0809050000020004" pitchFamily="49" charset="0"/>
                </a:rPr>
                <a:t>"80px"</a:t>
              </a: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 </a:t>
              </a:r>
              <a:r>
                <a:rPr lang="en-US" altLang="zh-CN" sz="1100" b="0">
                  <a:solidFill>
                    <a:srgbClr val="E50000"/>
                  </a:solidFill>
                  <a:effectLst/>
                  <a:ea typeface="Fira Code" panose="020B0809050000020004" pitchFamily="49" charset="0"/>
                </a:rPr>
                <a:t>prop</a:t>
              </a: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=</a:t>
              </a:r>
              <a:r>
                <a:rPr lang="en-US" altLang="zh-CN" sz="1100" b="0">
                  <a:solidFill>
                    <a:srgbClr val="0000FF"/>
                  </a:solidFill>
                  <a:effectLst/>
                  <a:ea typeface="Fira Code" panose="020B0809050000020004" pitchFamily="49" charset="0"/>
                </a:rPr>
                <a:t>"name"</a:t>
              </a:r>
              <a:r>
                <a:rPr lang="en-US" altLang="zh-CN" sz="1100" b="0">
                  <a:solidFill>
                    <a:srgbClr val="800000"/>
                  </a:solidFill>
                  <a:effectLst/>
                  <a:ea typeface="Fira Code" panose="020B0809050000020004" pitchFamily="49" charset="0"/>
                </a:rPr>
                <a:t>&gt;</a:t>
              </a:r>
              <a:endParaRPr lang="en-US" altLang="zh-CN" sz="1100" b="0">
                <a:solidFill>
                  <a:srgbClr val="000000"/>
                </a:solidFill>
                <a:effectLst/>
                <a:ea typeface="Fira Code" panose="020B0809050000020004" pitchFamily="49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    </a:t>
              </a:r>
              <a:r>
                <a:rPr lang="en-US" altLang="zh-CN" sz="1100" b="0">
                  <a:solidFill>
                    <a:srgbClr val="800000"/>
                  </a:solidFill>
                  <a:effectLst/>
                  <a:ea typeface="Fira Code" panose="020B0809050000020004" pitchFamily="49" charset="0"/>
                </a:rPr>
                <a:t>&lt;el-input</a:t>
              </a: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 </a:t>
              </a:r>
              <a:r>
                <a:rPr lang="en-US" altLang="zh-CN" sz="1100" b="0">
                  <a:solidFill>
                    <a:srgbClr val="E50000"/>
                  </a:solidFill>
                  <a:effectLst/>
                  <a:ea typeface="Fira Code" panose="020B0809050000020004" pitchFamily="49" charset="0"/>
                </a:rPr>
                <a:t>v-model</a:t>
              </a: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="dept.name" </a:t>
              </a:r>
              <a:r>
                <a:rPr lang="en-US" altLang="zh-CN" sz="1100" b="0">
                  <a:solidFill>
                    <a:srgbClr val="E50000"/>
                  </a:solidFill>
                  <a:effectLst/>
                  <a:ea typeface="Fira Code" panose="020B0809050000020004" pitchFamily="49" charset="0"/>
                </a:rPr>
                <a:t>autocomplete</a:t>
              </a: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=</a:t>
              </a:r>
              <a:r>
                <a:rPr lang="en-US" altLang="zh-CN" sz="1100" b="0">
                  <a:solidFill>
                    <a:srgbClr val="0000FF"/>
                  </a:solidFill>
                  <a:effectLst/>
                  <a:ea typeface="Fira Code" panose="020B0809050000020004" pitchFamily="49" charset="0"/>
                </a:rPr>
                <a:t>"off"</a:t>
              </a: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 </a:t>
              </a:r>
              <a:r>
                <a:rPr lang="en-US" altLang="zh-CN" sz="1100" b="0">
                  <a:solidFill>
                    <a:srgbClr val="800000"/>
                  </a:solidFill>
                  <a:effectLst/>
                  <a:ea typeface="Fira Code" panose="020B0809050000020004" pitchFamily="49" charset="0"/>
                </a:rPr>
                <a:t>/&gt;</a:t>
              </a:r>
              <a:endParaRPr lang="en-US" altLang="zh-CN" sz="1100" b="0">
                <a:solidFill>
                  <a:srgbClr val="000000"/>
                </a:solidFill>
                <a:effectLst/>
                <a:ea typeface="Fira Code" panose="020B0809050000020004" pitchFamily="49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  </a:t>
              </a:r>
              <a:r>
                <a:rPr lang="en-US" altLang="zh-CN" sz="1100" b="0">
                  <a:solidFill>
                    <a:srgbClr val="800000"/>
                  </a:solidFill>
                  <a:effectLst/>
                  <a:ea typeface="Fira Code" panose="020B0809050000020004" pitchFamily="49" charset="0"/>
                </a:rPr>
                <a:t>&lt;/el-form-item&gt;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100">
                  <a:solidFill>
                    <a:srgbClr val="800000"/>
                  </a:solidFill>
                  <a:ea typeface="Fira Code" panose="020B0809050000020004" pitchFamily="49" charset="0"/>
                </a:rPr>
                <a:t>  </a:t>
              </a:r>
              <a:r>
                <a:rPr lang="en-US" altLang="zh-CN" sz="1100" b="0">
                  <a:solidFill>
                    <a:srgbClr val="800000"/>
                  </a:solidFill>
                  <a:effectLst/>
                  <a:ea typeface="Fira Code" panose="020B0809050000020004" pitchFamily="49" charset="0"/>
                </a:rPr>
                <a:t>&lt;el-button</a:t>
              </a: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 </a:t>
              </a:r>
              <a:r>
                <a:rPr lang="en-US" altLang="zh-CN" sz="1100" b="0">
                  <a:solidFill>
                    <a:srgbClr val="E50000"/>
                  </a:solidFill>
                  <a:effectLst/>
                  <a:ea typeface="Fira Code" panose="020B0809050000020004" pitchFamily="49" charset="0"/>
                </a:rPr>
                <a:t>type</a:t>
              </a: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=</a:t>
              </a:r>
              <a:r>
                <a:rPr lang="en-US" altLang="zh-CN" sz="1100" b="0">
                  <a:solidFill>
                    <a:srgbClr val="0000FF"/>
                  </a:solidFill>
                  <a:effectLst/>
                  <a:ea typeface="Fira Code" panose="020B0809050000020004" pitchFamily="49" charset="0"/>
                </a:rPr>
                <a:t>"primary"</a:t>
              </a: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 @</a:t>
              </a:r>
              <a:r>
                <a:rPr lang="en-US" altLang="zh-CN" sz="1100" b="0">
                  <a:solidFill>
                    <a:srgbClr val="E50000"/>
                  </a:solidFill>
                  <a:effectLst/>
                  <a:ea typeface="Fira Code" panose="020B0809050000020004" pitchFamily="49" charset="0"/>
                </a:rPr>
                <a:t>click</a:t>
              </a: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="save"</a:t>
              </a:r>
              <a:r>
                <a:rPr lang="en-US" altLang="zh-CN" sz="1100" b="0">
                  <a:solidFill>
                    <a:srgbClr val="800000"/>
                  </a:solidFill>
                  <a:effectLst/>
                  <a:ea typeface="Fira Code" panose="020B0809050000020004" pitchFamily="49" charset="0"/>
                </a:rPr>
                <a:t>&gt;</a:t>
              </a:r>
              <a:r>
                <a:rPr lang="zh-CN" altLang="en-US" sz="1100" b="0">
                  <a:solidFill>
                    <a:srgbClr val="000000"/>
                  </a:solidFill>
                  <a:effectLst/>
                </a:rPr>
                <a:t>保存</a:t>
              </a:r>
              <a:r>
                <a:rPr lang="en-US" altLang="zh-CN" sz="1100" b="0">
                  <a:solidFill>
                    <a:srgbClr val="800000"/>
                  </a:solidFill>
                  <a:effectLst/>
                  <a:ea typeface="Fira Code" panose="020B0809050000020004" pitchFamily="49" charset="0"/>
                </a:rPr>
                <a:t>&lt;/el-button&gt;</a:t>
              </a:r>
              <a:endParaRPr lang="en-US" altLang="zh-CN" sz="1100" b="0">
                <a:solidFill>
                  <a:srgbClr val="000000"/>
                </a:solidFill>
                <a:effectLst/>
                <a:ea typeface="Fira Code" panose="020B0809050000020004" pitchFamily="49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100" b="0">
                  <a:solidFill>
                    <a:srgbClr val="800000"/>
                  </a:solidFill>
                  <a:effectLst/>
                  <a:ea typeface="Fira Code" panose="020B0809050000020004" pitchFamily="49" charset="0"/>
                </a:rPr>
                <a:t>&lt;/el-form&gt;</a:t>
              </a:r>
              <a:endParaRPr lang="en-US" altLang="zh-CN" sz="1100" b="0">
                <a:solidFill>
                  <a:srgbClr val="000000"/>
                </a:solidFill>
                <a:effectLst/>
                <a:ea typeface="Fira Code" panose="020B0809050000020004" pitchFamily="49" charset="0"/>
              </a:endParaRPr>
            </a:p>
          </p:txBody>
        </p:sp>
        <p:sp>
          <p:nvSpPr>
            <p:cNvPr id="12" name="矩形: 圆顶角 11">
              <a:extLst>
                <a:ext uri="{FF2B5EF4-FFF2-40B4-BE49-F238E27FC236}">
                  <a16:creationId xmlns:a16="http://schemas.microsoft.com/office/drawing/2014/main" id="{58B434A7-B055-367B-7E79-90AD68724B68}"/>
                </a:ext>
              </a:extLst>
            </p:cNvPr>
            <p:cNvSpPr/>
            <p:nvPr/>
          </p:nvSpPr>
          <p:spPr>
            <a:xfrm>
              <a:off x="2297720" y="3660322"/>
              <a:ext cx="6575074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050">
                  <a:solidFill>
                    <a:schemeClr val="bg1"/>
                  </a:solidFill>
                  <a:latin typeface="Fira Code" panose="020B0809050000020004" pitchFamily="49" charset="0"/>
                </a:rPr>
                <a:t>dept/index.vue</a:t>
              </a:r>
              <a:endParaRPr lang="zh-CN" altLang="en-US" sz="1050">
                <a:solidFill>
                  <a:schemeClr val="bg1"/>
                </a:solidFill>
                <a:latin typeface="Fira Code" panose="020B0809050000020004" pitchFamily="49" charset="0"/>
              </a:endParaRPr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A5A70977-D526-4674-CC49-617ACE14B91C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123D95B0-B95F-B4FD-0227-6F437F059254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E2C626BA-A20D-54B9-D534-95CD2A482481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6" name="!!组合 2">
            <a:extLst>
              <a:ext uri="{FF2B5EF4-FFF2-40B4-BE49-F238E27FC236}">
                <a16:creationId xmlns:a16="http://schemas.microsoft.com/office/drawing/2014/main" id="{8B38CB4F-ABC2-3FE9-0A0C-501538AFB504}"/>
              </a:ext>
            </a:extLst>
          </p:cNvPr>
          <p:cNvGrpSpPr/>
          <p:nvPr/>
        </p:nvGrpSpPr>
        <p:grpSpPr>
          <a:xfrm>
            <a:off x="7771358" y="3396135"/>
            <a:ext cx="4344442" cy="2280767"/>
            <a:chOff x="2297719" y="3660322"/>
            <a:chExt cx="4830785" cy="2203165"/>
          </a:xfrm>
        </p:grpSpPr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F0FB4CF9-1FAA-B757-DD1C-5EEC2C659276}"/>
                </a:ext>
              </a:extLst>
            </p:cNvPr>
            <p:cNvSpPr/>
            <p:nvPr/>
          </p:nvSpPr>
          <p:spPr>
            <a:xfrm>
              <a:off x="2297728" y="3660323"/>
              <a:ext cx="4830776" cy="2203164"/>
            </a:xfrm>
            <a:prstGeom prst="roundRect">
              <a:avLst>
                <a:gd name="adj" fmla="val 3141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180000" rIns="36000" bIns="0" rtlCol="0" anchor="ctr"/>
            <a:lstStyle/>
            <a:p>
              <a:pPr>
                <a:lnSpc>
                  <a:spcPct val="150000"/>
                </a:lnSpc>
              </a:pPr>
              <a:r>
                <a:rPr lang="en-US" altLang="zh-CN" sz="1100" b="0">
                  <a:solidFill>
                    <a:srgbClr val="0000FF"/>
                  </a:solidFill>
                  <a:effectLst/>
                  <a:ea typeface="Fira Code" panose="020B0809050000020004" pitchFamily="49" charset="0"/>
                </a:rPr>
                <a:t>const</a:t>
              </a: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 save = () </a:t>
              </a:r>
              <a:r>
                <a:rPr lang="en-US" altLang="zh-CN" sz="1100" b="0">
                  <a:solidFill>
                    <a:srgbClr val="0000FF"/>
                  </a:solidFill>
                  <a:effectLst/>
                  <a:ea typeface="Fira Code" panose="020B0809050000020004" pitchFamily="49" charset="0"/>
                </a:rPr>
                <a:t>=&gt;</a:t>
              </a: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 {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  </a:t>
              </a:r>
              <a:r>
                <a:rPr lang="en-US" altLang="zh-CN" sz="1100" b="0">
                  <a:solidFill>
                    <a:srgbClr val="008000"/>
                  </a:solidFill>
                  <a:effectLst/>
                  <a:ea typeface="Fira Code" panose="020B0809050000020004" pitchFamily="49" charset="0"/>
                </a:rPr>
                <a:t>//</a:t>
              </a:r>
              <a:r>
                <a:rPr lang="zh-CN" altLang="en-US" sz="1100" b="0">
                  <a:solidFill>
                    <a:srgbClr val="008000"/>
                  </a:solidFill>
                  <a:effectLst/>
                </a:rPr>
                <a:t>表单校验</a:t>
              </a:r>
              <a:endParaRPr lang="zh-CN" altLang="en-US" sz="1100" b="0">
                <a:solidFill>
                  <a:srgbClr val="000000"/>
                </a:solidFill>
                <a:effectLst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  </a:t>
              </a:r>
              <a:r>
                <a:rPr lang="en-US" altLang="zh-CN" sz="1100" b="0">
                  <a:solidFill>
                    <a:srgbClr val="001FEE"/>
                  </a:solidFill>
                  <a:effectLst/>
                </a:rPr>
                <a:t>deptFormRef</a:t>
              </a:r>
              <a:r>
                <a:rPr lang="en-US" altLang="zh-CN" sz="1100" b="0">
                  <a:solidFill>
                    <a:srgbClr val="000000"/>
                  </a:solidFill>
                  <a:effectLst/>
                </a:rPr>
                <a:t>.</a:t>
              </a:r>
              <a:r>
                <a:rPr lang="en-US" altLang="zh-CN" sz="1100" b="0">
                  <a:solidFill>
                    <a:srgbClr val="001080"/>
                  </a:solidFill>
                  <a:effectLst/>
                </a:rPr>
                <a:t>value</a:t>
              </a:r>
              <a:r>
                <a:rPr lang="en-US" altLang="zh-CN" sz="1100" b="0">
                  <a:solidFill>
                    <a:srgbClr val="000000"/>
                  </a:solidFill>
                  <a:effectLst/>
                </a:rPr>
                <a:t>.</a:t>
              </a:r>
              <a:r>
                <a:rPr lang="en-US" altLang="zh-CN" sz="1100" b="0">
                  <a:solidFill>
                    <a:srgbClr val="795E26"/>
                  </a:solidFill>
                  <a:effectLst/>
                </a:rPr>
                <a:t>validate</a:t>
              </a:r>
              <a:r>
                <a:rPr lang="en-US" altLang="zh-CN" sz="1100" b="0">
                  <a:solidFill>
                    <a:srgbClr val="000000"/>
                  </a:solidFill>
                  <a:effectLst/>
                </a:rPr>
                <a:t>(</a:t>
              </a:r>
              <a:r>
                <a:rPr lang="en-US" altLang="zh-CN" sz="1100" b="0">
                  <a:solidFill>
                    <a:srgbClr val="0000FF"/>
                  </a:solidFill>
                  <a:effectLst/>
                </a:rPr>
                <a:t>async</a:t>
              </a:r>
              <a:r>
                <a:rPr lang="en-US" altLang="zh-CN" sz="1100" b="0">
                  <a:solidFill>
                    <a:srgbClr val="000000"/>
                  </a:solidFill>
                  <a:effectLst/>
                </a:rPr>
                <a:t> (</a:t>
              </a:r>
              <a:r>
                <a:rPr lang="en-US" altLang="zh-CN" sz="1100" b="0">
                  <a:solidFill>
                    <a:srgbClr val="001080"/>
                  </a:solidFill>
                  <a:effectLst/>
                </a:rPr>
                <a:t>valid</a:t>
              </a:r>
              <a:r>
                <a:rPr lang="en-US" altLang="zh-CN" sz="1100" b="0">
                  <a:solidFill>
                    <a:srgbClr val="000000"/>
                  </a:solidFill>
                  <a:effectLst/>
                </a:rPr>
                <a:t>) </a:t>
              </a:r>
              <a:r>
                <a:rPr lang="en-US" altLang="zh-CN" sz="1100" b="0">
                  <a:solidFill>
                    <a:srgbClr val="0000FF"/>
                  </a:solidFill>
                  <a:effectLst/>
                </a:rPr>
                <a:t>=&gt;</a:t>
              </a:r>
              <a:r>
                <a:rPr lang="en-US" altLang="zh-CN" sz="1100" b="0">
                  <a:solidFill>
                    <a:srgbClr val="000000"/>
                  </a:solidFill>
                  <a:effectLst/>
                </a:rPr>
                <a:t> {</a:t>
              </a:r>
              <a:endParaRPr lang="en-US" altLang="zh-CN" sz="1100" b="0">
                <a:solidFill>
                  <a:srgbClr val="000000"/>
                </a:solidFill>
                <a:effectLst/>
                <a:ea typeface="Fira Code" panose="020B0809050000020004" pitchFamily="49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  </a:t>
              </a:r>
              <a:r>
                <a:rPr lang="en-US" altLang="zh-CN" sz="1100" b="0">
                  <a:solidFill>
                    <a:srgbClr val="0000FF"/>
                  </a:solidFill>
                  <a:effectLst/>
                  <a:ea typeface="Fira Code" panose="020B0809050000020004" pitchFamily="49" charset="0"/>
                </a:rPr>
                <a:t>if</a:t>
              </a: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(valid) {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100">
                  <a:solidFill>
                    <a:srgbClr val="000000"/>
                  </a:solidFill>
                  <a:ea typeface="Fira Code" panose="020B0809050000020004" pitchFamily="49" charset="0"/>
                </a:rPr>
                <a:t>     </a:t>
              </a:r>
              <a:r>
                <a:rPr lang="en-US" altLang="zh-CN" sz="1100">
                  <a:solidFill>
                    <a:srgbClr val="00B050"/>
                  </a:solidFill>
                  <a:ea typeface="Fira Code" panose="020B0809050000020004" pitchFamily="49" charset="0"/>
                </a:rPr>
                <a:t> //...</a:t>
              </a:r>
              <a:endParaRPr lang="en-US" altLang="zh-CN" sz="1100" b="0">
                <a:solidFill>
                  <a:srgbClr val="00B050"/>
                </a:solidFill>
                <a:effectLst/>
                <a:ea typeface="Fira Code" panose="020B0809050000020004" pitchFamily="49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   }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  }) 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}</a:t>
              </a:r>
            </a:p>
          </p:txBody>
        </p:sp>
        <p:sp>
          <p:nvSpPr>
            <p:cNvPr id="18" name="矩形: 圆顶角 17">
              <a:extLst>
                <a:ext uri="{FF2B5EF4-FFF2-40B4-BE49-F238E27FC236}">
                  <a16:creationId xmlns:a16="http://schemas.microsoft.com/office/drawing/2014/main" id="{9574658E-CA34-B90A-A75B-E50B2C8B135B}"/>
                </a:ext>
              </a:extLst>
            </p:cNvPr>
            <p:cNvSpPr/>
            <p:nvPr/>
          </p:nvSpPr>
          <p:spPr>
            <a:xfrm>
              <a:off x="2297719" y="3660322"/>
              <a:ext cx="4830775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050">
                  <a:solidFill>
                    <a:schemeClr val="bg1"/>
                  </a:solidFill>
                  <a:latin typeface="Fira Code" panose="020B0809050000020004" pitchFamily="49" charset="0"/>
                </a:rPr>
                <a:t>dept/index.vue</a:t>
              </a:r>
              <a:endParaRPr lang="zh-CN" altLang="en-US" sz="1050">
                <a:solidFill>
                  <a:schemeClr val="bg1"/>
                </a:solidFill>
                <a:latin typeface="Fira Code" panose="020B0809050000020004" pitchFamily="49" charset="0"/>
              </a:endParaRPr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4D718CDA-9DBB-8E81-7086-7BBCA23237E7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73AD302F-7D54-8890-40C3-AABF501AF1E3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F7940F4A-C53C-895E-7208-144D4A15E917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E6EF913B-F38A-B443-5651-7E66347D3544}"/>
              </a:ext>
            </a:extLst>
          </p:cNvPr>
          <p:cNvSpPr/>
          <p:nvPr/>
        </p:nvSpPr>
        <p:spPr>
          <a:xfrm>
            <a:off x="1728700" y="3155381"/>
            <a:ext cx="973860" cy="240753"/>
          </a:xfrm>
          <a:prstGeom prst="roundRect">
            <a:avLst/>
          </a:prstGeom>
          <a:noFill/>
          <a:ln w="1905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FC30CEC0-E3FC-1927-3496-55D5C27CB03B}"/>
              </a:ext>
            </a:extLst>
          </p:cNvPr>
          <p:cNvSpPr/>
          <p:nvPr/>
        </p:nvSpPr>
        <p:spPr>
          <a:xfrm>
            <a:off x="4898080" y="5018405"/>
            <a:ext cx="1468430" cy="219898"/>
          </a:xfrm>
          <a:prstGeom prst="roundRect">
            <a:avLst/>
          </a:prstGeom>
          <a:noFill/>
          <a:ln w="1905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80DE696A-00F6-4AA3-87D1-84F0A24156A9}"/>
              </a:ext>
            </a:extLst>
          </p:cNvPr>
          <p:cNvSpPr/>
          <p:nvPr/>
        </p:nvSpPr>
        <p:spPr>
          <a:xfrm>
            <a:off x="3681443" y="5018405"/>
            <a:ext cx="1187051" cy="219898"/>
          </a:xfrm>
          <a:prstGeom prst="roundRect">
            <a:avLst/>
          </a:prstGeom>
          <a:noFill/>
          <a:ln w="19050"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01F1F51F-5BE4-B3AE-A0C0-62C32BBCBB74}"/>
              </a:ext>
            </a:extLst>
          </p:cNvPr>
          <p:cNvSpPr/>
          <p:nvPr/>
        </p:nvSpPr>
        <p:spPr>
          <a:xfrm>
            <a:off x="1728700" y="3426038"/>
            <a:ext cx="510221" cy="185394"/>
          </a:xfrm>
          <a:prstGeom prst="roundRect">
            <a:avLst/>
          </a:prstGeom>
          <a:noFill/>
          <a:ln w="19050"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7ACC50D1-670B-5AF5-E030-BEA20ECE3BB4}"/>
              </a:ext>
            </a:extLst>
          </p:cNvPr>
          <p:cNvSpPr/>
          <p:nvPr/>
        </p:nvSpPr>
        <p:spPr>
          <a:xfrm>
            <a:off x="1360700" y="3683154"/>
            <a:ext cx="510221" cy="185394"/>
          </a:xfrm>
          <a:prstGeom prst="roundRect">
            <a:avLst/>
          </a:prstGeom>
          <a:noFill/>
          <a:ln w="19050"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5F4E5492-EACF-3FD8-523C-702F8A86ACBB}"/>
              </a:ext>
            </a:extLst>
          </p:cNvPr>
          <p:cNvSpPr/>
          <p:nvPr/>
        </p:nvSpPr>
        <p:spPr>
          <a:xfrm>
            <a:off x="5920741" y="5274616"/>
            <a:ext cx="1013459" cy="237766"/>
          </a:xfrm>
          <a:prstGeom prst="roundRect">
            <a:avLst/>
          </a:prstGeom>
          <a:noFill/>
          <a:ln w="19050"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8" name="连接符: 曲线 27">
            <a:extLst>
              <a:ext uri="{FF2B5EF4-FFF2-40B4-BE49-F238E27FC236}">
                <a16:creationId xmlns:a16="http://schemas.microsoft.com/office/drawing/2014/main" id="{1D0283F6-97F8-83AC-F1D6-9E04E45E938F}"/>
              </a:ext>
            </a:extLst>
          </p:cNvPr>
          <p:cNvCxnSpPr>
            <a:cxnSpLocks/>
            <a:stCxn id="22" idx="3"/>
            <a:endCxn id="23" idx="0"/>
          </p:cNvCxnSpPr>
          <p:nvPr/>
        </p:nvCxnSpPr>
        <p:spPr>
          <a:xfrm>
            <a:off x="2702560" y="3275758"/>
            <a:ext cx="2929735" cy="1742647"/>
          </a:xfrm>
          <a:prstGeom prst="curvedConnector2">
            <a:avLst/>
          </a:prstGeom>
          <a:ln w="1905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连接符: 曲线 31">
            <a:extLst>
              <a:ext uri="{FF2B5EF4-FFF2-40B4-BE49-F238E27FC236}">
                <a16:creationId xmlns:a16="http://schemas.microsoft.com/office/drawing/2014/main" id="{E95BBF34-7BDE-CA9D-3C58-5BD6DC5D4A18}"/>
              </a:ext>
            </a:extLst>
          </p:cNvPr>
          <p:cNvCxnSpPr>
            <a:cxnSpLocks/>
            <a:stCxn id="25" idx="3"/>
            <a:endCxn id="24" idx="0"/>
          </p:cNvCxnSpPr>
          <p:nvPr/>
        </p:nvCxnSpPr>
        <p:spPr>
          <a:xfrm>
            <a:off x="2238921" y="3518735"/>
            <a:ext cx="2036048" cy="1499670"/>
          </a:xfrm>
          <a:prstGeom prst="curvedConnector2">
            <a:avLst/>
          </a:prstGeom>
          <a:ln w="19050">
            <a:solidFill>
              <a:srgbClr val="00B05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连接符: 曲线 32">
            <a:extLst>
              <a:ext uri="{FF2B5EF4-FFF2-40B4-BE49-F238E27FC236}">
                <a16:creationId xmlns:a16="http://schemas.microsoft.com/office/drawing/2014/main" id="{F50082E0-E98B-59ED-E4CA-47A30C7F4607}"/>
              </a:ext>
            </a:extLst>
          </p:cNvPr>
          <p:cNvCxnSpPr>
            <a:cxnSpLocks/>
            <a:stCxn id="26" idx="2"/>
            <a:endCxn id="27" idx="2"/>
          </p:cNvCxnSpPr>
          <p:nvPr/>
        </p:nvCxnSpPr>
        <p:spPr>
          <a:xfrm rot="16200000" flipH="1">
            <a:off x="3199724" y="2284635"/>
            <a:ext cx="1643834" cy="4811660"/>
          </a:xfrm>
          <a:prstGeom prst="curvedConnector3">
            <a:avLst>
              <a:gd name="adj1" fmla="val 113907"/>
            </a:avLst>
          </a:prstGeom>
          <a:ln w="19050">
            <a:solidFill>
              <a:schemeClr val="accent6">
                <a:lumMod val="75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26A4C614-9486-5E1F-8508-E236DA644EE6}"/>
              </a:ext>
            </a:extLst>
          </p:cNvPr>
          <p:cNvCxnSpPr/>
          <p:nvPr/>
        </p:nvCxnSpPr>
        <p:spPr>
          <a:xfrm>
            <a:off x="4084320" y="6271260"/>
            <a:ext cx="1402080" cy="0"/>
          </a:xfrm>
          <a:prstGeom prst="line">
            <a:avLst/>
          </a:prstGeom>
          <a:ln w="19050">
            <a:solidFill>
              <a:srgbClr val="C0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6575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6C3644B-709D-C209-C56C-35D176CE457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/>
              <a:t>部门管理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7D66842-F3CF-F0CA-889E-D532EE7A80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51439" y="2924827"/>
            <a:ext cx="3692525" cy="2687079"/>
          </a:xfrm>
        </p:spPr>
        <p:txBody>
          <a:bodyPr/>
          <a:lstStyle/>
          <a:p>
            <a:r>
              <a:rPr lang="zh-CN" altLang="en-US"/>
              <a:t>列表查询</a:t>
            </a:r>
            <a:endParaRPr lang="en-US" altLang="zh-CN"/>
          </a:p>
          <a:p>
            <a:r>
              <a:rPr lang="zh-CN" altLang="en-US"/>
              <a:t>新增部门</a:t>
            </a:r>
            <a:endParaRPr lang="en-US" altLang="zh-CN"/>
          </a:p>
          <a:p>
            <a:r>
              <a:rPr lang="zh-CN" altLang="en-US">
                <a:solidFill>
                  <a:srgbClr val="C00000"/>
                </a:solidFill>
              </a:rPr>
              <a:t>修改部门</a:t>
            </a:r>
            <a:endParaRPr lang="en-US" altLang="zh-CN">
              <a:solidFill>
                <a:srgbClr val="C00000"/>
              </a:solidFill>
            </a:endParaRPr>
          </a:p>
          <a:p>
            <a:r>
              <a:rPr lang="zh-CN" altLang="en-US"/>
              <a:t>删除部门</a:t>
            </a:r>
            <a:endParaRPr lang="en-US" altLang="zh-CN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8EC42937-3BFC-D69A-E4F8-934D19CCD13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03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100329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4A9BCD-2BE1-09EC-8227-5A0453970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修改部门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AF03D80-35CA-C7A4-BAF9-A7C2FAEE61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060481" cy="474415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对于修改操作，通常会分为两步进行：①</a:t>
            </a:r>
            <a:r>
              <a:rPr lang="en-US" altLang="zh-CN"/>
              <a:t> </a:t>
            </a:r>
            <a:r>
              <a:rPr lang="zh-CN" altLang="en-US"/>
              <a:t>查询回显、② 保存修改 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E4DA171-E63D-052D-4D67-B33E74EF48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4862" y="1430656"/>
            <a:ext cx="4143420" cy="1889352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874EE9A0-229B-D5C6-D7DE-020B36A6B3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580" y="1767977"/>
            <a:ext cx="6042660" cy="1100627"/>
          </a:xfrm>
          <a:prstGeom prst="rect">
            <a:avLst/>
          </a:prstGeom>
        </p:spPr>
      </p:pic>
      <p:sp>
        <p:nvSpPr>
          <p:cNvPr id="6" name="箭头: 虚尾 5">
            <a:extLst>
              <a:ext uri="{FF2B5EF4-FFF2-40B4-BE49-F238E27FC236}">
                <a16:creationId xmlns:a16="http://schemas.microsoft.com/office/drawing/2014/main" id="{F073A16B-76C9-BFAF-B9EF-CEC2A114FB7D}"/>
              </a:ext>
            </a:extLst>
          </p:cNvPr>
          <p:cNvSpPr/>
          <p:nvPr/>
        </p:nvSpPr>
        <p:spPr>
          <a:xfrm>
            <a:off x="7040880" y="2197532"/>
            <a:ext cx="503342" cy="355600"/>
          </a:xfrm>
          <a:prstGeom prst="stripedRightArrow">
            <a:avLst>
              <a:gd name="adj1" fmla="val 50000"/>
              <a:gd name="adj2" fmla="val 66471"/>
            </a:avLst>
          </a:prstGeom>
          <a:solidFill>
            <a:srgbClr val="3449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文本占位符 5">
            <a:extLst>
              <a:ext uri="{FF2B5EF4-FFF2-40B4-BE49-F238E27FC236}">
                <a16:creationId xmlns:a16="http://schemas.microsoft.com/office/drawing/2014/main" id="{FA9F1D4C-DFC5-AD30-D205-960DBC2595CB}"/>
              </a:ext>
            </a:extLst>
          </p:cNvPr>
          <p:cNvSpPr txBox="1">
            <a:spLocks/>
          </p:cNvSpPr>
          <p:nvPr/>
        </p:nvSpPr>
        <p:spPr>
          <a:xfrm>
            <a:off x="957580" y="5319059"/>
            <a:ext cx="11017402" cy="1357383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>
                <a:solidFill>
                  <a:schemeClr val="tx1"/>
                </a:solidFill>
              </a:rPr>
              <a:t>交互逻辑：</a:t>
            </a:r>
            <a:endParaRPr lang="en-US" altLang="zh-CN">
              <a:solidFill>
                <a:schemeClr val="tx1"/>
              </a:solidFill>
            </a:endParaRPr>
          </a:p>
          <a:p>
            <a:pPr marL="540000" lvl="1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sz="1400" b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点击 </a:t>
            </a:r>
            <a:r>
              <a:rPr lang="zh-CN" altLang="en-US" sz="1400" b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编辑</a:t>
            </a:r>
            <a:r>
              <a:rPr lang="zh-CN" altLang="en-US" sz="1400" b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按钮，根据</a:t>
            </a:r>
            <a:r>
              <a:rPr lang="en-US" altLang="zh-CN" sz="1400" b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ID</a:t>
            </a:r>
            <a:r>
              <a:rPr lang="zh-CN" altLang="en-US" sz="1400" b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进行查询，弹出对话框，完成页面回显展示。（查询回显）</a:t>
            </a:r>
            <a:endParaRPr lang="en-US" altLang="zh-CN" sz="1400" b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540000" lvl="1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sz="1400" b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点击 </a:t>
            </a:r>
            <a:r>
              <a:rPr lang="zh-CN" altLang="en-US" sz="1400" b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确定</a:t>
            </a:r>
            <a:r>
              <a:rPr lang="zh-CN" altLang="en-US" sz="1400" b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按钮，保存修改后的数据，完成数据更新操作。（保存修改）</a:t>
            </a:r>
            <a:endParaRPr lang="en-US" altLang="zh-CN" sz="1400" b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27082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6C3644B-709D-C209-C56C-35D176CE457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/>
              <a:t>部门管理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7D66842-F3CF-F0CA-889E-D532EE7A80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51439" y="2924827"/>
            <a:ext cx="3692525" cy="2687079"/>
          </a:xfrm>
        </p:spPr>
        <p:txBody>
          <a:bodyPr/>
          <a:lstStyle/>
          <a:p>
            <a:r>
              <a:rPr lang="zh-CN" altLang="en-US"/>
              <a:t>列表查询</a:t>
            </a:r>
            <a:endParaRPr lang="en-US" altLang="zh-CN"/>
          </a:p>
          <a:p>
            <a:r>
              <a:rPr lang="zh-CN" altLang="en-US"/>
              <a:t>新增部门</a:t>
            </a:r>
            <a:endParaRPr lang="en-US" altLang="zh-CN"/>
          </a:p>
          <a:p>
            <a:r>
              <a:rPr lang="zh-CN" altLang="en-US"/>
              <a:t>修改部门</a:t>
            </a:r>
            <a:endParaRPr lang="en-US" altLang="zh-CN"/>
          </a:p>
          <a:p>
            <a:r>
              <a:rPr lang="zh-CN" altLang="en-US">
                <a:solidFill>
                  <a:srgbClr val="C00000"/>
                </a:solidFill>
              </a:rPr>
              <a:t>删除部门</a:t>
            </a:r>
            <a:endParaRPr lang="en-US" altLang="zh-CN">
              <a:solidFill>
                <a:srgbClr val="C00000"/>
              </a:solidFill>
            </a:endParaRP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8EC42937-3BFC-D69A-E4F8-934D19CCD13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03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215336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4A9BCD-2BE1-09EC-8227-5A0453970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删除部门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AF03D80-35CA-C7A4-BAF9-A7C2FAEE61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1317" y="5189669"/>
            <a:ext cx="11060481" cy="1518018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点击删除按钮，需要删除当前这条数据，删除完成之后，刷新页面，展示出最新的数据。</a:t>
            </a:r>
            <a:endParaRPr lang="en-US" altLang="zh-CN">
              <a:ea typeface="Fira Code" panose="020B0809050000020004" pitchFamily="49" charset="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由于删除是一个比较危险的操作，为避免误操作，通常会在点击删除之后，弹出确认框进行确认。</a:t>
            </a:r>
            <a:endParaRPr lang="en-US" altLang="zh-CN">
              <a:ea typeface="Fira Code" panose="020B0809050000020004" pitchFamily="49" charset="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>
                <a:ea typeface="Fira Code" panose="020B0809050000020004" pitchFamily="49" charset="0"/>
              </a:rPr>
              <a:t>Element</a:t>
            </a:r>
            <a:r>
              <a:rPr lang="zh-CN" altLang="en-US"/>
              <a:t> 组件：</a:t>
            </a:r>
            <a:r>
              <a:rPr lang="en-US" altLang="zh-CN">
                <a:ea typeface="Fira Code" panose="020B0809050000020004" pitchFamily="49" charset="0"/>
              </a:rPr>
              <a:t>ElMessageBox</a:t>
            </a:r>
            <a:r>
              <a:rPr lang="zh-CN" altLang="en-US"/>
              <a:t>消息弹出框组件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DF3AE76-077C-8160-F9C2-5F4CB98C6A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317" y="956242"/>
            <a:ext cx="8417860" cy="422744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E5B42912-A5CC-8E61-35B5-5A448EC9FA6D}"/>
              </a:ext>
            </a:extLst>
          </p:cNvPr>
          <p:cNvSpPr/>
          <p:nvPr/>
        </p:nvSpPr>
        <p:spPr>
          <a:xfrm>
            <a:off x="681317" y="956242"/>
            <a:ext cx="8417860" cy="4227444"/>
          </a:xfrm>
          <a:prstGeom prst="rect">
            <a:avLst/>
          </a:prstGeom>
          <a:solidFill>
            <a:srgbClr val="282D2C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1EF728F-C47A-6253-0E15-314DE35F71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8858" y="2474260"/>
            <a:ext cx="3175049" cy="1353909"/>
          </a:xfrm>
          <a:prstGeom prst="roundRect">
            <a:avLst>
              <a:gd name="adj" fmla="val 3425"/>
            </a:avLst>
          </a:prstGeom>
        </p:spPr>
      </p:pic>
    </p:spTree>
    <p:extLst>
      <p:ext uri="{BB962C8B-B14F-4D97-AF65-F5344CB8AC3E}">
        <p14:creationId xmlns:p14="http://schemas.microsoft.com/office/powerpoint/2010/main" val="854706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098703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Normal&quot;,&quot;Name&quot;:&quot;正常&quot;,&quot;Kind&quot;:&quot;System&quot;,&quot;OldGuidesSetting&quot;:{&quot;HeaderHeight&quot;:15.0,&quot;FooterHeight&quot;:9.0,&quot;SideMargin&quot;:5.5,&quot;TopMargin&quot;:0.0,&quot;BottomMargin&quot;:0.0,&quot;IntervalMargin&quot;:1.5}}"/>
  <p:tag name="ISLIDE.THEME" val="#782110"/>
  <p:tag name="ISLIDE.TEMPLATE" val="1f6b6247-00f9-4185-bb3e-6a09396f8e3b"/>
</p:tagLst>
</file>

<file path=ppt/theme/theme1.xml><?xml version="1.0" encoding="utf-8"?>
<a:theme xmlns:a="http://schemas.openxmlformats.org/drawingml/2006/main" name="内容模板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传智播客">
      <a:majorFont>
        <a:latin typeface="Source Code Pro Black"/>
        <a:ea typeface="阿里巴巴普惠体 Heavy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Default.potx" id="{1D9758C4-BF53-48D5-9F51-21F468A6C710}" vid="{F0E1EFAF-5478-48F0-8152-DA9350739AFC}"/>
    </a:ext>
  </a:extLst>
</a:theme>
</file>

<file path=ppt/theme/theme2.xml><?xml version="1.0" encoding="utf-8"?>
<a:theme xmlns:a="http://schemas.openxmlformats.org/drawingml/2006/main" name="封面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Source Code Pro Black"/>
        <a:ea typeface="阿里巴巴普惠体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章节目录模板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传智播客">
      <a:majorFont>
        <a:latin typeface="Source Code Pro Black"/>
        <a:ea typeface="阿里巴巴普惠体 Heavy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小结思考模板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Source Code Pro Black"/>
        <a:ea typeface="阿里巴巴普惠体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小结思考模板2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Source Code Pro Black"/>
        <a:ea typeface="阿里巴巴普惠体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Seven</Template>
  <TotalTime>24528</TotalTime>
  <Words>2313</Words>
  <Application>Microsoft Office PowerPoint</Application>
  <PresentationFormat>宽屏</PresentationFormat>
  <Paragraphs>331</Paragraphs>
  <Slides>39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39</vt:i4>
      </vt:variant>
    </vt:vector>
  </HeadingPairs>
  <TitlesOfParts>
    <vt:vector size="58" baseType="lpstr">
      <vt:lpstr>Alibaba PuHuiTi B</vt:lpstr>
      <vt:lpstr>Segoe WPC</vt:lpstr>
      <vt:lpstr>阿里巴巴普惠体</vt:lpstr>
      <vt:lpstr>阿里巴巴普惠体 Heavy</vt:lpstr>
      <vt:lpstr>阿里巴巴普惠体 Medium</vt:lpstr>
      <vt:lpstr>等线</vt:lpstr>
      <vt:lpstr>汉仪尚巍流云体简</vt:lpstr>
      <vt:lpstr>楷体</vt:lpstr>
      <vt:lpstr>沐瑶随心手写体</vt:lpstr>
      <vt:lpstr>Arial</vt:lpstr>
      <vt:lpstr>Calisto MT</vt:lpstr>
      <vt:lpstr>Fira Code</vt:lpstr>
      <vt:lpstr>Source Code Pro</vt:lpstr>
      <vt:lpstr>Wingdings</vt:lpstr>
      <vt:lpstr>内容模板</vt:lpstr>
      <vt:lpstr>封面</vt:lpstr>
      <vt:lpstr>章节目录模板</vt:lpstr>
      <vt:lpstr>小结思考模板</vt:lpstr>
      <vt:lpstr>小结思考模板2</vt:lpstr>
      <vt:lpstr>Web开发(AI)</vt:lpstr>
      <vt:lpstr>Web前端实战(案例)</vt:lpstr>
      <vt:lpstr>Tlias智能学习辅助系统</vt:lpstr>
      <vt:lpstr>Tlias智能学习辅助系统</vt:lpstr>
      <vt:lpstr>PowerPoint 演示文稿</vt:lpstr>
      <vt:lpstr>PowerPoint 演示文稿</vt:lpstr>
      <vt:lpstr>前后端分离开发</vt:lpstr>
      <vt:lpstr>前后端分离开发</vt:lpstr>
      <vt:lpstr>PowerPoint 演示文稿</vt:lpstr>
      <vt:lpstr>PowerPoint 演示文稿</vt:lpstr>
      <vt:lpstr>PowerPoint 演示文稿</vt:lpstr>
      <vt:lpstr>准备工作</vt:lpstr>
      <vt:lpstr>页面布局</vt:lpstr>
      <vt:lpstr>页面布局-左侧菜单</vt:lpstr>
      <vt:lpstr>PowerPoint 演示文稿</vt:lpstr>
      <vt:lpstr>动态菜单</vt:lpstr>
      <vt:lpstr>介绍</vt:lpstr>
      <vt:lpstr>介绍</vt:lpstr>
      <vt:lpstr>PowerPoint 演示文稿</vt:lpstr>
      <vt:lpstr>案例路由实现</vt:lpstr>
      <vt:lpstr>案例路由实现</vt:lpstr>
      <vt:lpstr>案例路由实现</vt:lpstr>
      <vt:lpstr>PowerPoint 演示文稿</vt:lpstr>
      <vt:lpstr>PowerPoint 演示文稿</vt:lpstr>
      <vt:lpstr>列表查询-页面布局</vt:lpstr>
      <vt:lpstr>列表查询-加载数据</vt:lpstr>
      <vt:lpstr>PowerPoint 演示文稿</vt:lpstr>
      <vt:lpstr>PowerPoint 演示文稿</vt:lpstr>
      <vt:lpstr>列表查询-程序优化</vt:lpstr>
      <vt:lpstr>列表查询-程序优化</vt:lpstr>
      <vt:lpstr>PowerPoint 演示文稿</vt:lpstr>
      <vt:lpstr>PowerPoint 演示文稿</vt:lpstr>
      <vt:lpstr>新增部门</vt:lpstr>
      <vt:lpstr>新增部门-表单校验</vt:lpstr>
      <vt:lpstr>PowerPoint 演示文稿</vt:lpstr>
      <vt:lpstr>修改部门</vt:lpstr>
      <vt:lpstr>PowerPoint 演示文稿</vt:lpstr>
      <vt:lpstr>删除部门</vt:lpstr>
      <vt:lpstr>PowerPoint 演示文稿</vt:lpstr>
    </vt:vector>
  </TitlesOfParts>
  <Manager>iSlide</Manager>
  <Company>iSlide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Seven</dc:creator>
  <cp:lastModifiedBy>M8242</cp:lastModifiedBy>
  <cp:revision>2252</cp:revision>
  <cp:lastPrinted>2022-05-29T16:00:00Z</cp:lastPrinted>
  <dcterms:created xsi:type="dcterms:W3CDTF">2022-05-29T16:00:00Z</dcterms:created>
  <dcterms:modified xsi:type="dcterms:W3CDTF">2025-01-09T08:03:13Z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EMPLATE">
    <vt:lpwstr>1f6b6247-00f9-4185-bb3e-6a09396f8e3b</vt:lpwstr>
  </property>
</Properties>
</file>