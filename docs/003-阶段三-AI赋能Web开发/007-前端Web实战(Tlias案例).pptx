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29"/>
  </p:notesMasterIdLst>
  <p:handoutMasterIdLst>
    <p:handoutMasterId r:id="rId30"/>
  </p:handoutMasterIdLst>
  <p:sldIdLst>
    <p:sldId id="280" r:id="rId6"/>
    <p:sldId id="865" r:id="rId7"/>
    <p:sldId id="867" r:id="rId8"/>
    <p:sldId id="866" r:id="rId9"/>
    <p:sldId id="868" r:id="rId10"/>
    <p:sldId id="888" r:id="rId11"/>
    <p:sldId id="871" r:id="rId12"/>
    <p:sldId id="869" r:id="rId13"/>
    <p:sldId id="870" r:id="rId14"/>
    <p:sldId id="873" r:id="rId15"/>
    <p:sldId id="910" r:id="rId16"/>
    <p:sldId id="911" r:id="rId17"/>
    <p:sldId id="890" r:id="rId18"/>
    <p:sldId id="874" r:id="rId19"/>
    <p:sldId id="891" r:id="rId20"/>
    <p:sldId id="875" r:id="rId21"/>
    <p:sldId id="876" r:id="rId22"/>
    <p:sldId id="877" r:id="rId23"/>
    <p:sldId id="892" r:id="rId24"/>
    <p:sldId id="878" r:id="rId25"/>
    <p:sldId id="879" r:id="rId26"/>
    <p:sldId id="880" r:id="rId27"/>
    <p:sldId id="288" r:id="rId28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282D2C"/>
    <a:srgbClr val="001FEE"/>
    <a:srgbClr val="3561FF"/>
    <a:srgbClr val="363C3B"/>
    <a:srgbClr val="C78FFC"/>
    <a:srgbClr val="871094"/>
    <a:srgbClr val="FFC000"/>
    <a:srgbClr val="9933FF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47" autoAdjust="0"/>
    <p:restoredTop sz="95165" autoAdjust="0"/>
  </p:normalViewPr>
  <p:slideViewPr>
    <p:cSldViewPr snapToGrid="0" showGuides="1">
      <p:cViewPr varScale="1">
        <p:scale>
          <a:sx n="85" d="100"/>
          <a:sy n="85" d="100"/>
        </p:scale>
        <p:origin x="7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2025/1/13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接下来，要完成的是新增员工的功能，当点击页面上的 “新增员工” 按钮后，要弹出一个</a:t>
            </a:r>
            <a:r>
              <a:rPr lang="en-US" altLang="zh-CN"/>
              <a:t>Dialog </a:t>
            </a:r>
            <a:r>
              <a:rPr lang="zh-CN" altLang="en-US"/>
              <a:t>对框框，在对话框中要承载一个用户信息的</a:t>
            </a:r>
            <a:r>
              <a:rPr lang="en-US" altLang="zh-CN"/>
              <a:t>form</a:t>
            </a:r>
            <a:r>
              <a:rPr lang="zh-CN" altLang="en-US"/>
              <a:t>表单。具体的要求如下</a:t>
            </a:r>
            <a:r>
              <a:rPr lang="en-US" altLang="zh-CN"/>
              <a:t>:</a:t>
            </a:r>
          </a:p>
          <a:p>
            <a:r>
              <a:rPr lang="en-US" altLang="zh-CN"/>
              <a:t>1. </a:t>
            </a:r>
            <a:r>
              <a:rPr lang="zh-CN" altLang="en-US"/>
              <a:t>该对话框中的</a:t>
            </a:r>
            <a:r>
              <a:rPr lang="en-US" altLang="zh-CN"/>
              <a:t>form</a:t>
            </a:r>
            <a:r>
              <a:rPr lang="zh-CN" altLang="en-US"/>
              <a:t>表单在新增 和 修改员工时，使用的是同一个表单。 所以在新增员工时，表单标题显示为 “新增员工”， 修改员工时，表单的标题显示为 “修改员工” 。</a:t>
            </a:r>
          </a:p>
          <a:p>
            <a:r>
              <a:rPr lang="en-US" altLang="zh-CN"/>
              <a:t>2. </a:t>
            </a:r>
            <a:r>
              <a:rPr lang="zh-CN" altLang="en-US"/>
              <a:t>表单分为两个部分展示，一个部分是员工的基本信息，另外一部分为员工的工作经历信息 。</a:t>
            </a:r>
          </a:p>
          <a:p>
            <a:r>
              <a:rPr lang="en-US" altLang="zh-CN"/>
              <a:t>3. </a:t>
            </a:r>
            <a:r>
              <a:rPr lang="zh-CN" altLang="en-US"/>
              <a:t>员工的基本信息，包括以下几项，每一行展示两个表单项：</a:t>
            </a:r>
          </a:p>
          <a:p>
            <a:r>
              <a:rPr lang="zh-CN" altLang="en-US"/>
              <a:t>	</a:t>
            </a:r>
            <a:r>
              <a:rPr lang="en-US" altLang="zh-CN"/>
              <a:t>a. </a:t>
            </a:r>
            <a:r>
              <a:rPr lang="zh-CN" altLang="en-US"/>
              <a:t>第一行中展示两个表单项，为用户名 和 姓名。 两个表单项均为输入框，用户名的输入框提示信息 “请输入员工用户名，</a:t>
            </a:r>
            <a:r>
              <a:rPr lang="en-US" altLang="zh-CN"/>
              <a:t>2-20</a:t>
            </a:r>
            <a:r>
              <a:rPr lang="zh-CN" altLang="en-US"/>
              <a:t>个字”； 姓名输入框提示信息 “请输入员工姓名，</a:t>
            </a:r>
            <a:r>
              <a:rPr lang="en-US" altLang="zh-CN"/>
              <a:t>2-10</a:t>
            </a:r>
            <a:r>
              <a:rPr lang="zh-CN" altLang="en-US"/>
              <a:t>个字”</a:t>
            </a:r>
          </a:p>
          <a:p>
            <a:r>
              <a:rPr lang="zh-CN" altLang="en-US"/>
              <a:t>	</a:t>
            </a:r>
            <a:r>
              <a:rPr lang="en-US" altLang="zh-CN"/>
              <a:t>b. </a:t>
            </a:r>
            <a:r>
              <a:rPr lang="zh-CN" altLang="en-US"/>
              <a:t>第二行中展示两个表单项，性别 和 手机号表单项。 性别 为下拉框，展示 男 、女，男提交的值为</a:t>
            </a:r>
            <a:r>
              <a:rPr lang="en-US" altLang="zh-CN"/>
              <a:t>1</a:t>
            </a:r>
            <a:r>
              <a:rPr lang="zh-CN" altLang="en-US"/>
              <a:t>，女提交的值为</a:t>
            </a:r>
            <a:r>
              <a:rPr lang="en-US" altLang="zh-CN"/>
              <a:t>2</a:t>
            </a:r>
            <a:r>
              <a:rPr lang="zh-CN" altLang="en-US"/>
              <a:t>； 手机号为输入框，提示信息为 “请输入员工姓名”</a:t>
            </a:r>
          </a:p>
          <a:p>
            <a:r>
              <a:rPr lang="zh-CN" altLang="en-US"/>
              <a:t>	</a:t>
            </a:r>
            <a:r>
              <a:rPr lang="en-US" altLang="zh-CN"/>
              <a:t>c. </a:t>
            </a:r>
            <a:r>
              <a:rPr lang="zh-CN" altLang="en-US"/>
              <a:t>第三行中展示两个表单项，职位 和 薪资两个表单项。 职位 为下拉框，展示 班主任（提交值为</a:t>
            </a:r>
            <a:r>
              <a:rPr lang="en-US" altLang="zh-CN"/>
              <a:t>1</a:t>
            </a:r>
            <a:r>
              <a:rPr lang="zh-CN" altLang="en-US"/>
              <a:t>）、讲师（提交值为</a:t>
            </a:r>
            <a:r>
              <a:rPr lang="en-US" altLang="zh-CN"/>
              <a:t>2</a:t>
            </a:r>
            <a:r>
              <a:rPr lang="zh-CN" altLang="en-US"/>
              <a:t>）、学工主管（提交值为</a:t>
            </a:r>
            <a:r>
              <a:rPr lang="en-US" altLang="zh-CN"/>
              <a:t>3</a:t>
            </a:r>
            <a:r>
              <a:rPr lang="zh-CN" altLang="en-US"/>
              <a:t>）、教研主管（提交值为</a:t>
            </a:r>
            <a:r>
              <a:rPr lang="en-US" altLang="zh-CN"/>
              <a:t>4</a:t>
            </a:r>
            <a:r>
              <a:rPr lang="zh-CN" altLang="en-US"/>
              <a:t>）、咨询师（提交值为</a:t>
            </a:r>
            <a:r>
              <a:rPr lang="en-US" altLang="zh-CN"/>
              <a:t>5</a:t>
            </a:r>
            <a:r>
              <a:rPr lang="zh-CN" altLang="en-US"/>
              <a:t>）； 薪资为 输入框，提示信息 “请输入员工薪资”</a:t>
            </a:r>
          </a:p>
          <a:p>
            <a:r>
              <a:rPr lang="zh-CN" altLang="en-US"/>
              <a:t>	</a:t>
            </a:r>
            <a:r>
              <a:rPr lang="en-US" altLang="zh-CN"/>
              <a:t>d. </a:t>
            </a:r>
            <a:r>
              <a:rPr lang="zh-CN" altLang="en-US"/>
              <a:t>第四行中展示两个表单项，所属部门 和 入职日期表单项。 所属部门为下拉框，先写死两个测试数据。 入职日期为日期选择组件，可以选择日期，展示和提交的值格式都类似于这样 </a:t>
            </a:r>
            <a:r>
              <a:rPr lang="en-US" altLang="zh-CN"/>
              <a:t>2024-05-09</a:t>
            </a:r>
          </a:p>
          <a:p>
            <a:r>
              <a:rPr lang="en-US" altLang="zh-CN"/>
              <a:t>	e. </a:t>
            </a:r>
            <a:r>
              <a:rPr lang="zh-CN" altLang="en-US"/>
              <a:t>第五行中展示一个表单项，头像，这一列有点特殊，为图片上传组件，上传完图片后，要展示出预览图。	</a:t>
            </a:r>
          </a:p>
          <a:p>
            <a:r>
              <a:rPr lang="en-US" altLang="zh-CN"/>
              <a:t>4. </a:t>
            </a:r>
            <a:r>
              <a:rPr lang="zh-CN" altLang="en-US"/>
              <a:t>在两个部分之间，添加一个按钮，按钮名为 “添加工作经历”。</a:t>
            </a:r>
          </a:p>
          <a:p>
            <a:r>
              <a:rPr lang="en-US" altLang="zh-CN"/>
              <a:t>5. </a:t>
            </a:r>
            <a:r>
              <a:rPr lang="zh-CN" altLang="en-US"/>
              <a:t>员工的工作经历信息，包括以下几项，在一行中要展示这三个表单项：</a:t>
            </a:r>
          </a:p>
          <a:p>
            <a:r>
              <a:rPr lang="zh-CN" altLang="en-US"/>
              <a:t>	</a:t>
            </a:r>
            <a:r>
              <a:rPr lang="en-US" altLang="zh-CN"/>
              <a:t>a. </a:t>
            </a:r>
            <a:r>
              <a:rPr lang="zh-CN" altLang="en-US"/>
              <a:t>时间：包括开始时间和结束时间，是一个日期范围组件。</a:t>
            </a:r>
          </a:p>
          <a:p>
            <a:r>
              <a:rPr lang="zh-CN" altLang="en-US"/>
              <a:t>	</a:t>
            </a:r>
            <a:r>
              <a:rPr lang="en-US" altLang="zh-CN"/>
              <a:t>b. </a:t>
            </a:r>
            <a:r>
              <a:rPr lang="zh-CN" altLang="en-US"/>
              <a:t>公司</a:t>
            </a:r>
            <a:r>
              <a:rPr lang="en-US" altLang="zh-CN"/>
              <a:t>: </a:t>
            </a:r>
            <a:r>
              <a:rPr lang="zh-CN" altLang="en-US"/>
              <a:t>是一个输入框</a:t>
            </a:r>
            <a:r>
              <a:rPr lang="en-US" altLang="zh-CN"/>
              <a:t>, </a:t>
            </a:r>
            <a:r>
              <a:rPr lang="zh-CN" altLang="en-US"/>
              <a:t>提示信息 </a:t>
            </a:r>
            <a:r>
              <a:rPr lang="en-US" altLang="zh-CN"/>
              <a:t>"</a:t>
            </a:r>
            <a:r>
              <a:rPr lang="zh-CN" altLang="en-US"/>
              <a:t>请输入公司名称</a:t>
            </a:r>
            <a:r>
              <a:rPr lang="en-US" altLang="zh-CN"/>
              <a:t>"</a:t>
            </a:r>
            <a:r>
              <a:rPr lang="zh-CN" altLang="en-US"/>
              <a:t>。</a:t>
            </a:r>
          </a:p>
          <a:p>
            <a:r>
              <a:rPr lang="zh-CN" altLang="en-US"/>
              <a:t>	</a:t>
            </a:r>
            <a:r>
              <a:rPr lang="en-US" altLang="zh-CN"/>
              <a:t>c. </a:t>
            </a:r>
            <a:r>
              <a:rPr lang="zh-CN" altLang="en-US"/>
              <a:t>职位</a:t>
            </a:r>
            <a:r>
              <a:rPr lang="en-US" altLang="zh-CN"/>
              <a:t>: </a:t>
            </a:r>
            <a:r>
              <a:rPr lang="zh-CN" altLang="en-US"/>
              <a:t>是一个输入框</a:t>
            </a:r>
            <a:r>
              <a:rPr lang="en-US" altLang="zh-CN"/>
              <a:t>, </a:t>
            </a:r>
            <a:r>
              <a:rPr lang="zh-CN" altLang="en-US"/>
              <a:t>提示信息 </a:t>
            </a:r>
            <a:r>
              <a:rPr lang="en-US" altLang="zh-CN"/>
              <a:t>"</a:t>
            </a:r>
            <a:r>
              <a:rPr lang="zh-CN" altLang="en-US"/>
              <a:t>请输入职位</a:t>
            </a:r>
            <a:r>
              <a:rPr lang="en-US" altLang="zh-CN"/>
              <a:t>"</a:t>
            </a:r>
            <a:r>
              <a:rPr lang="zh-CN" altLang="en-US"/>
              <a:t>。</a:t>
            </a:r>
          </a:p>
          <a:p>
            <a:r>
              <a:rPr lang="zh-CN" altLang="en-US"/>
              <a:t>	时间 </a:t>
            </a:r>
            <a:r>
              <a:rPr lang="en-US" altLang="zh-CN"/>
              <a:t>, </a:t>
            </a:r>
            <a:r>
              <a:rPr lang="zh-CN" altLang="en-US"/>
              <a:t>公司</a:t>
            </a:r>
            <a:r>
              <a:rPr lang="en-US" altLang="zh-CN"/>
              <a:t>, </a:t>
            </a:r>
            <a:r>
              <a:rPr lang="zh-CN" altLang="en-US"/>
              <a:t>职位 这三个表单项要在一行中显示。 </a:t>
            </a:r>
          </a:p>
          <a:p>
            <a:r>
              <a:rPr lang="en-US" altLang="zh-CN"/>
              <a:t>5. </a:t>
            </a:r>
            <a:r>
              <a:rPr lang="zh-CN" altLang="en-US"/>
              <a:t>在表单的方，有两个按钮，一个是保存，一个是取消。</a:t>
            </a:r>
          </a:p>
          <a:p>
            <a:r>
              <a:rPr lang="en-US" altLang="zh-CN"/>
              <a:t>6. </a:t>
            </a:r>
            <a:r>
              <a:rPr lang="zh-CN" altLang="en-US"/>
              <a:t>先不考虑表单校验。</a:t>
            </a:r>
          </a:p>
          <a:p>
            <a:r>
              <a:rPr lang="en-US" altLang="zh-CN"/>
              <a:t>7. </a:t>
            </a:r>
            <a:r>
              <a:rPr lang="zh-CN" altLang="en-US"/>
              <a:t>上述表单，最后对应的数据模型为： </a:t>
            </a:r>
          </a:p>
          <a:p>
            <a:r>
              <a:rPr lang="zh-CN" altLang="en-US"/>
              <a:t>	</a:t>
            </a:r>
            <a:r>
              <a:rPr lang="en-US" altLang="zh-CN"/>
              <a:t>{</a:t>
            </a:r>
          </a:p>
          <a:p>
            <a:r>
              <a:rPr lang="en-US" altLang="zh-CN"/>
              <a:t>	  "image": "https://web-framework.oss-cn-hangzhou.aliyuncs.com/2022-09-03-07-37-38222.jpg",</a:t>
            </a:r>
          </a:p>
          <a:p>
            <a:r>
              <a:rPr lang="en-US" altLang="zh-CN"/>
              <a:t>	  "username": "linpingzhi",</a:t>
            </a:r>
          </a:p>
          <a:p>
            <a:r>
              <a:rPr lang="en-US" altLang="zh-CN"/>
              <a:t>	  "name": "</a:t>
            </a:r>
            <a:r>
              <a:rPr lang="zh-CN" altLang="en-US"/>
              <a:t>林平之</a:t>
            </a:r>
            <a:r>
              <a:rPr lang="en-US" altLang="zh-CN"/>
              <a:t>",</a:t>
            </a:r>
          </a:p>
          <a:p>
            <a:r>
              <a:rPr lang="en-US" altLang="zh-CN"/>
              <a:t>	  "gender": 1,</a:t>
            </a:r>
          </a:p>
          <a:p>
            <a:r>
              <a:rPr lang="en-US" altLang="zh-CN"/>
              <a:t>	  "job": 1,</a:t>
            </a:r>
          </a:p>
          <a:p>
            <a:r>
              <a:rPr lang="en-US" altLang="zh-CN"/>
              <a:t>	  "entryDate": "2022-09-18",</a:t>
            </a:r>
          </a:p>
          <a:p>
            <a:r>
              <a:rPr lang="en-US" altLang="zh-CN"/>
              <a:t>	  "deptId": 1,</a:t>
            </a:r>
          </a:p>
          <a:p>
            <a:r>
              <a:rPr lang="en-US" altLang="zh-CN"/>
              <a:t>	  "phone": "18809091234",</a:t>
            </a:r>
          </a:p>
          <a:p>
            <a:r>
              <a:rPr lang="en-US" altLang="zh-CN"/>
              <a:t>	  "salary": 8000,</a:t>
            </a:r>
          </a:p>
          <a:p>
            <a:r>
              <a:rPr lang="en-US" altLang="zh-CN"/>
              <a:t>	  "exprList": [</a:t>
            </a:r>
          </a:p>
          <a:p>
            <a:r>
              <a:rPr lang="en-US" altLang="zh-CN"/>
              <a:t>	      {</a:t>
            </a:r>
          </a:p>
          <a:p>
            <a:r>
              <a:rPr lang="en-US" altLang="zh-CN"/>
              <a:t>	         "company": "</a:t>
            </a:r>
            <a:r>
              <a:rPr lang="zh-CN" altLang="en-US"/>
              <a:t>百度科技股份有限公司</a:t>
            </a:r>
            <a:r>
              <a:rPr lang="en-US" altLang="zh-CN"/>
              <a:t>",</a:t>
            </a:r>
          </a:p>
          <a:p>
            <a:r>
              <a:rPr lang="en-US" altLang="zh-CN"/>
              <a:t>	         "job": "java</a:t>
            </a:r>
            <a:r>
              <a:rPr lang="zh-CN" altLang="en-US"/>
              <a:t>开发</a:t>
            </a:r>
            <a:r>
              <a:rPr lang="en-US" altLang="zh-CN"/>
              <a:t>",</a:t>
            </a:r>
          </a:p>
          <a:p>
            <a:r>
              <a:rPr lang="en-US" altLang="zh-CN"/>
              <a:t>	         "begin": "2012-07-01",</a:t>
            </a:r>
          </a:p>
          <a:p>
            <a:r>
              <a:rPr lang="en-US" altLang="zh-CN"/>
              <a:t>	         "end": "2019-03-03"</a:t>
            </a:r>
          </a:p>
          <a:p>
            <a:r>
              <a:rPr lang="en-US" altLang="zh-CN"/>
              <a:t>	      },</a:t>
            </a:r>
          </a:p>
          <a:p>
            <a:r>
              <a:rPr lang="en-US" altLang="zh-CN"/>
              <a:t>	      {</a:t>
            </a:r>
          </a:p>
          <a:p>
            <a:r>
              <a:rPr lang="en-US" altLang="zh-CN"/>
              <a:t>	         "company": "</a:t>
            </a:r>
            <a:r>
              <a:rPr lang="zh-CN" altLang="en-US"/>
              <a:t>阿里巴巴科技股份有限公司</a:t>
            </a:r>
            <a:r>
              <a:rPr lang="en-US" altLang="zh-CN"/>
              <a:t>",</a:t>
            </a:r>
          </a:p>
          <a:p>
            <a:r>
              <a:rPr lang="en-US" altLang="zh-CN"/>
              <a:t>	         "job": "</a:t>
            </a:r>
            <a:r>
              <a:rPr lang="zh-CN" altLang="en-US"/>
              <a:t>架构师</a:t>
            </a:r>
            <a:r>
              <a:rPr lang="en-US" altLang="zh-CN"/>
              <a:t>",</a:t>
            </a:r>
          </a:p>
          <a:p>
            <a:r>
              <a:rPr lang="en-US" altLang="zh-CN"/>
              <a:t>	         "begin": "2019-03-15",</a:t>
            </a:r>
          </a:p>
          <a:p>
            <a:r>
              <a:rPr lang="en-US" altLang="zh-CN"/>
              <a:t>	         "end": "2023-03-01"</a:t>
            </a:r>
          </a:p>
          <a:p>
            <a:r>
              <a:rPr lang="en-US" altLang="zh-CN"/>
              <a:t>	      }</a:t>
            </a:r>
          </a:p>
          <a:p>
            <a:r>
              <a:rPr lang="en-US" altLang="zh-CN"/>
              <a:t>	   ]</a:t>
            </a:r>
          </a:p>
          <a:p>
            <a:r>
              <a:rPr lang="en-US" altLang="zh-CN"/>
              <a:t>	}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839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前端实战</a:t>
            </a:r>
            <a:r>
              <a:rPr lang="en-US" altLang="zh-CN"/>
              <a:t>(</a:t>
            </a:r>
            <a:r>
              <a:rPr lang="zh-CN" altLang="en-US"/>
              <a:t>案例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1" y="3586894"/>
            <a:ext cx="4619812" cy="563562"/>
          </a:xfrm>
        </p:spPr>
        <p:txBody>
          <a:bodyPr/>
          <a:lstStyle/>
          <a:p>
            <a:r>
              <a:rPr lang="en-US" altLang="zh-CN" sz="2400"/>
              <a:t>Tlias</a:t>
            </a:r>
            <a:r>
              <a:rPr lang="zh-CN" altLang="en-US" sz="2400"/>
              <a:t>智能学习辅助系统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8315F4-394C-E76D-D3F9-0306EE64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67CD64-F2CE-0475-BBC0-6BE1D7C25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35" y="842777"/>
            <a:ext cx="10445622" cy="571667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67B6932-A47D-5BEF-1979-2F3F74757BDF}"/>
              </a:ext>
            </a:extLst>
          </p:cNvPr>
          <p:cNvSpPr/>
          <p:nvPr/>
        </p:nvSpPr>
        <p:spPr>
          <a:xfrm>
            <a:off x="788434" y="842777"/>
            <a:ext cx="10445623" cy="5748640"/>
          </a:xfrm>
          <a:prstGeom prst="rect">
            <a:avLst/>
          </a:prstGeom>
          <a:solidFill>
            <a:srgbClr val="26262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F637D1-2868-CD07-217F-F21BCE977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555" y="1838674"/>
            <a:ext cx="5330890" cy="425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8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7E2E7E-6ED4-DF92-67C4-469CD8171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6070" y="1731347"/>
            <a:ext cx="2627149" cy="294340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员工管理：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条件分页查询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新增员工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修改员工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删除员工</a:t>
            </a:r>
            <a:endParaRPr lang="en-US" altLang="zh-CN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38315F4-394C-E76D-D3F9-0306EE64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67CD64-F2CE-0475-BBC0-6BE1D7C25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35" y="842777"/>
            <a:ext cx="8095662" cy="443059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67B6932-A47D-5BEF-1979-2F3F74757BDF}"/>
              </a:ext>
            </a:extLst>
          </p:cNvPr>
          <p:cNvSpPr/>
          <p:nvPr/>
        </p:nvSpPr>
        <p:spPr>
          <a:xfrm>
            <a:off x="788434" y="842777"/>
            <a:ext cx="8095662" cy="4455364"/>
          </a:xfrm>
          <a:prstGeom prst="rect">
            <a:avLst/>
          </a:prstGeom>
          <a:solidFill>
            <a:srgbClr val="26262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F637D1-2868-CD07-217F-F21BCE977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467" y="1555377"/>
            <a:ext cx="4131596" cy="329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960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810306-F9B7-A7A4-AF70-9AF4D0E712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0600" y="1662411"/>
            <a:ext cx="3692525" cy="2443424"/>
          </a:xfrm>
        </p:spPr>
        <p:txBody>
          <a:bodyPr/>
          <a:lstStyle/>
          <a:p>
            <a:r>
              <a:rPr lang="zh-CN" altLang="en-US"/>
              <a:t>员工管理</a:t>
            </a:r>
            <a:r>
              <a:rPr lang="en-US" altLang="zh-CN"/>
              <a:t>-</a:t>
            </a:r>
            <a:r>
              <a:rPr lang="zh-CN" altLang="en-US"/>
              <a:t>条件分页查询</a:t>
            </a:r>
            <a:endParaRPr lang="en-US" altLang="zh-CN"/>
          </a:p>
          <a:p>
            <a:r>
              <a:rPr lang="zh-CN" altLang="en-US"/>
              <a:t>员工管理</a:t>
            </a:r>
            <a:r>
              <a:rPr lang="en-US" altLang="zh-CN"/>
              <a:t>-</a:t>
            </a:r>
            <a:r>
              <a:rPr lang="zh-CN" altLang="en-US"/>
              <a:t>新增员工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645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57AD4FA-3B72-0CE9-17C1-D76F63989E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5162350" cy="668338"/>
          </a:xfrm>
        </p:spPr>
        <p:txBody>
          <a:bodyPr/>
          <a:lstStyle/>
          <a:p>
            <a:r>
              <a:rPr lang="zh-CN" altLang="en-US"/>
              <a:t>员工管理</a:t>
            </a:r>
            <a:r>
              <a:rPr lang="en-US" altLang="zh-CN"/>
              <a:t>-</a:t>
            </a:r>
            <a:r>
              <a:rPr lang="zh-CN" altLang="en-US"/>
              <a:t>条件分页查询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E18A2C-B680-152E-5A9D-49D4920259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页面布局</a:t>
            </a:r>
            <a:endParaRPr lang="en-US" altLang="zh-CN"/>
          </a:p>
          <a:p>
            <a:r>
              <a:rPr lang="zh-CN" altLang="en-US"/>
              <a:t>页面交互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95BB06F-BA43-3473-EA4A-61ED250A85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79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C4AD210-9E0C-F39C-90E0-FB9D1527A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859B95-3551-5455-4F56-BE201150F1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7"/>
          <a:stretch/>
        </p:blipFill>
        <p:spPr>
          <a:xfrm>
            <a:off x="782320" y="1107044"/>
            <a:ext cx="9256080" cy="50566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7B22EED-60A5-AB96-FA74-BE43FF45DF1F}"/>
              </a:ext>
            </a:extLst>
          </p:cNvPr>
          <p:cNvSpPr/>
          <p:nvPr/>
        </p:nvSpPr>
        <p:spPr>
          <a:xfrm>
            <a:off x="2153601" y="1479176"/>
            <a:ext cx="7884800" cy="851647"/>
          </a:xfrm>
          <a:prstGeom prst="rect">
            <a:avLst/>
          </a:prstGeom>
          <a:solidFill>
            <a:srgbClr val="00B050">
              <a:alpha val="18824"/>
            </a:srgbClr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B32DAB-DF40-BD3A-43E7-F801A735B5A6}"/>
              </a:ext>
            </a:extLst>
          </p:cNvPr>
          <p:cNvSpPr/>
          <p:nvPr/>
        </p:nvSpPr>
        <p:spPr>
          <a:xfrm>
            <a:off x="2153600" y="2388406"/>
            <a:ext cx="7884800" cy="430098"/>
          </a:xfrm>
          <a:prstGeom prst="rect">
            <a:avLst/>
          </a:prstGeom>
          <a:solidFill>
            <a:srgbClr val="0000FF">
              <a:alpha val="18824"/>
            </a:srgbClr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740B44-788E-137D-D564-1E9075D46E7C}"/>
              </a:ext>
            </a:extLst>
          </p:cNvPr>
          <p:cNvSpPr/>
          <p:nvPr/>
        </p:nvSpPr>
        <p:spPr>
          <a:xfrm>
            <a:off x="2153600" y="2865942"/>
            <a:ext cx="7884800" cy="2934223"/>
          </a:xfrm>
          <a:prstGeom prst="rect">
            <a:avLst/>
          </a:prstGeom>
          <a:solidFill>
            <a:srgbClr val="FFC000">
              <a:alpha val="18824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E1C472-9268-D6A7-3D70-B0E825AA749F}"/>
              </a:ext>
            </a:extLst>
          </p:cNvPr>
          <p:cNvSpPr/>
          <p:nvPr/>
        </p:nvSpPr>
        <p:spPr>
          <a:xfrm>
            <a:off x="2153600" y="5856565"/>
            <a:ext cx="7884800" cy="298214"/>
          </a:xfrm>
          <a:prstGeom prst="rect">
            <a:avLst/>
          </a:prstGeom>
          <a:solidFill>
            <a:srgbClr val="FF0000">
              <a:alpha val="18824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2533CF-EF13-733E-59D0-335EB66C2126}"/>
              </a:ext>
            </a:extLst>
          </p:cNvPr>
          <p:cNvSpPr txBox="1"/>
          <p:nvPr/>
        </p:nvSpPr>
        <p:spPr>
          <a:xfrm>
            <a:off x="10109840" y="1735722"/>
            <a:ext cx="11026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搜索栏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D915A1-838D-D601-4DFA-0D785F306F36}"/>
              </a:ext>
            </a:extLst>
          </p:cNvPr>
          <p:cNvSpPr txBox="1"/>
          <p:nvPr/>
        </p:nvSpPr>
        <p:spPr>
          <a:xfrm>
            <a:off x="10109841" y="2434178"/>
            <a:ext cx="1391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按钮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ED172E-62E1-7E86-5867-A2FCDE02AE7A}"/>
              </a:ext>
            </a:extLst>
          </p:cNvPr>
          <p:cNvSpPr txBox="1"/>
          <p:nvPr/>
        </p:nvSpPr>
        <p:spPr>
          <a:xfrm>
            <a:off x="10109841" y="3994499"/>
            <a:ext cx="1391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数据展示表格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85A36C-DAE7-4602-B03C-53EE65D045E1}"/>
              </a:ext>
            </a:extLst>
          </p:cNvPr>
          <p:cNvSpPr txBox="1"/>
          <p:nvPr/>
        </p:nvSpPr>
        <p:spPr>
          <a:xfrm>
            <a:off x="10109841" y="5816225"/>
            <a:ext cx="1391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分页条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798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页面布局</a:t>
            </a:r>
            <a:r>
              <a:rPr lang="en-US" altLang="zh-CN"/>
              <a:t>-</a:t>
            </a:r>
            <a:r>
              <a:rPr lang="zh-CN" altLang="en-US"/>
              <a:t>搜索表单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5ADA15F-6B55-7228-A814-209D07ECE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62" y="1065162"/>
            <a:ext cx="8182386" cy="131491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4EA49AE-E8E4-AF91-91DE-7163CB452440}"/>
              </a:ext>
            </a:extLst>
          </p:cNvPr>
          <p:cNvSpPr/>
          <p:nvPr/>
        </p:nvSpPr>
        <p:spPr>
          <a:xfrm>
            <a:off x="737562" y="1434353"/>
            <a:ext cx="8182386" cy="457200"/>
          </a:xfrm>
          <a:prstGeom prst="rect">
            <a:avLst/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EBBD6B-CAA6-6435-1C8E-B7F02B615859}"/>
              </a:ext>
            </a:extLst>
          </p:cNvPr>
          <p:cNvSpPr txBox="1"/>
          <p:nvPr/>
        </p:nvSpPr>
        <p:spPr>
          <a:xfrm>
            <a:off x="9162902" y="1308721"/>
            <a:ext cx="2776459" cy="708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如果表单封装的数据较多，建议绑定到一个对象中</a:t>
            </a:r>
            <a:endParaRPr lang="zh-CN" altLang="en-US" sz="14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8E1941-D405-570F-F6DE-EC7DD25EDBE5}"/>
              </a:ext>
            </a:extLst>
          </p:cNvPr>
          <p:cNvSpPr txBox="1"/>
          <p:nvPr/>
        </p:nvSpPr>
        <p:spPr>
          <a:xfrm>
            <a:off x="1187744" y="1855451"/>
            <a:ext cx="1588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searchEmp.name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2D94751-543E-08F6-AEBF-6B69E803F60E}"/>
              </a:ext>
            </a:extLst>
          </p:cNvPr>
          <p:cNvSpPr txBox="1"/>
          <p:nvPr/>
        </p:nvSpPr>
        <p:spPr>
          <a:xfrm>
            <a:off x="3143391" y="1855450"/>
            <a:ext cx="1685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searchEmp.gender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C59ED49-C11C-309B-40E1-E63302808086}"/>
              </a:ext>
            </a:extLst>
          </p:cNvPr>
          <p:cNvSpPr txBox="1"/>
          <p:nvPr/>
        </p:nvSpPr>
        <p:spPr>
          <a:xfrm>
            <a:off x="5795557" y="1855449"/>
            <a:ext cx="1564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searchEmp.date</a:t>
            </a:r>
            <a:endParaRPr lang="zh-CN" altLang="en-US" sz="1200" dirty="0">
              <a:solidFill>
                <a:srgbClr val="0000FF"/>
              </a:solidFill>
              <a:latin typeface="Fira Code" panose="020B0809050000020004" pitchFamily="49" charset="0"/>
            </a:endParaRPr>
          </a:p>
        </p:txBody>
      </p:sp>
      <p:grpSp>
        <p:nvGrpSpPr>
          <p:cNvPr id="22" name="!!组合 2">
            <a:extLst>
              <a:ext uri="{FF2B5EF4-FFF2-40B4-BE49-F238E27FC236}">
                <a16:creationId xmlns:a16="http://schemas.microsoft.com/office/drawing/2014/main" id="{060F5B03-36AA-E287-A713-E3725DFBA61F}"/>
              </a:ext>
            </a:extLst>
          </p:cNvPr>
          <p:cNvGrpSpPr/>
          <p:nvPr/>
        </p:nvGrpSpPr>
        <p:grpSpPr>
          <a:xfrm>
            <a:off x="737562" y="3088674"/>
            <a:ext cx="4022762" cy="2407788"/>
            <a:chOff x="2297721" y="3660322"/>
            <a:chExt cx="4473095" cy="2325864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47D8CA91-3F4F-4DDB-9066-7758F399BC2F}"/>
                </a:ext>
              </a:extLst>
            </p:cNvPr>
            <p:cNvSpPr/>
            <p:nvPr/>
          </p:nvSpPr>
          <p:spPr>
            <a:xfrm>
              <a:off x="2297727" y="3660323"/>
              <a:ext cx="4473089" cy="2325863"/>
            </a:xfrm>
            <a:prstGeom prst="roundRect">
              <a:avLst>
                <a:gd name="adj" fmla="val 316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800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搜索表单对象</a:t>
              </a:r>
              <a:endParaRPr lang="zh-CN" altLang="en-US" sz="1100" b="0">
                <a:solidFill>
                  <a:srgbClr val="00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let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searchEmp = ref({</a:t>
              </a:r>
            </a:p>
            <a:p>
              <a:pPr defTabSz="540000">
                <a:lnSpc>
                  <a:spcPct val="150000"/>
                </a:lnSpc>
              </a:pP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	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name: </a:t>
              </a:r>
              <a:r>
                <a:rPr lang="en-US" altLang="zh-CN" sz="1100" b="0">
                  <a:solidFill>
                    <a:srgbClr val="C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 defTabSz="540000">
                <a:lnSpc>
                  <a:spcPct val="150000"/>
                </a:lnSpc>
              </a:pP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	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gender: </a:t>
              </a:r>
              <a:r>
                <a:rPr lang="en-US" altLang="zh-CN" sz="1100" b="0">
                  <a:solidFill>
                    <a:srgbClr val="C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''</a:t>
              </a:r>
              <a:r>
                <a:rPr lang="en-US" altLang="zh-CN" sz="1100">
                  <a:solidFill>
                    <a:schemeClr val="tx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 defTabSz="540000">
                <a:lnSpc>
                  <a:spcPct val="150000"/>
                </a:lnSpc>
              </a:pPr>
              <a:r>
                <a:rPr lang="en-US" altLang="zh-CN" sz="1100" b="0">
                  <a:solidFill>
                    <a:srgbClr val="C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	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date: []</a:t>
              </a:r>
              <a:endParaRPr lang="en-US" altLang="zh-CN" sz="1100" b="0">
                <a:solidFill>
                  <a:srgbClr val="A3151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}) </a:t>
              </a:r>
            </a:p>
            <a:p>
              <a:pPr>
                <a:lnSpc>
                  <a:spcPct val="150000"/>
                </a:lnSpc>
              </a:pPr>
              <a:endParaRPr lang="en-US" altLang="zh-CN" sz="110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endParaRPr>
            </a:p>
          </p:txBody>
        </p:sp>
        <p:sp>
          <p:nvSpPr>
            <p:cNvPr id="24" name="矩形: 圆顶角 23">
              <a:extLst>
                <a:ext uri="{FF2B5EF4-FFF2-40B4-BE49-F238E27FC236}">
                  <a16:creationId xmlns:a16="http://schemas.microsoft.com/office/drawing/2014/main" id="{E45C0D80-A636-6E75-52A2-DDB6CC87A84D}"/>
                </a:ext>
              </a:extLst>
            </p:cNvPr>
            <p:cNvSpPr/>
            <p:nvPr/>
          </p:nvSpPr>
          <p:spPr>
            <a:xfrm>
              <a:off x="2297721" y="3660322"/>
              <a:ext cx="44730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50">
                  <a:solidFill>
                    <a:schemeClr val="bg1"/>
                  </a:solidFill>
                  <a:latin typeface="Fira Code" panose="020B0809050000020004" pitchFamily="49" charset="0"/>
                </a:rPr>
                <a:t>emp/index.vue</a:t>
              </a:r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C94B59F4-A4B1-7462-60AD-B68E7575C69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F6F2CDB-B2F0-CF09-CB7E-C01076C3606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3C4780C0-29A1-B474-F86C-28FADFC56B9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AC8EB48-95DC-D4A0-89B1-840960FFEB0B}"/>
              </a:ext>
            </a:extLst>
          </p:cNvPr>
          <p:cNvSpPr/>
          <p:nvPr/>
        </p:nvSpPr>
        <p:spPr>
          <a:xfrm>
            <a:off x="1829911" y="4410145"/>
            <a:ext cx="2626959" cy="279707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540000"/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[</a:t>
            </a:r>
            <a:r>
              <a:rPr lang="en-US" altLang="zh-CN" sz="110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'202</a:t>
            </a:r>
            <a:r>
              <a:rPr lang="en-US" altLang="zh-CN" sz="11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5</a:t>
            </a:r>
            <a:r>
              <a:rPr lang="en-US" altLang="zh-CN" sz="110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-01-01'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, </a:t>
            </a:r>
            <a:r>
              <a:rPr lang="en-US" altLang="zh-CN" sz="110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'2025-12-31'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] </a:t>
            </a:r>
          </a:p>
        </p:txBody>
      </p:sp>
      <p:grpSp>
        <p:nvGrpSpPr>
          <p:cNvPr id="12" name="!!组合 2">
            <a:extLst>
              <a:ext uri="{FF2B5EF4-FFF2-40B4-BE49-F238E27FC236}">
                <a16:creationId xmlns:a16="http://schemas.microsoft.com/office/drawing/2014/main" id="{4E7F58C1-4385-5D61-8AB4-C01972BDC3F2}"/>
              </a:ext>
            </a:extLst>
          </p:cNvPr>
          <p:cNvGrpSpPr/>
          <p:nvPr/>
        </p:nvGrpSpPr>
        <p:grpSpPr>
          <a:xfrm>
            <a:off x="5979645" y="3088674"/>
            <a:ext cx="4022762" cy="2407788"/>
            <a:chOff x="2297721" y="3660322"/>
            <a:chExt cx="4473095" cy="2325864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0ECE20F2-7227-D005-1FF5-32B8E4A8950B}"/>
                </a:ext>
              </a:extLst>
            </p:cNvPr>
            <p:cNvSpPr/>
            <p:nvPr/>
          </p:nvSpPr>
          <p:spPr>
            <a:xfrm>
              <a:off x="2297727" y="3660323"/>
              <a:ext cx="4473089" cy="2325863"/>
            </a:xfrm>
            <a:prstGeom prst="roundRect">
              <a:avLst>
                <a:gd name="adj" fmla="val 316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800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搜索表单对象</a:t>
              </a:r>
              <a:endParaRPr lang="zh-CN" altLang="en-US" sz="1100" b="0">
                <a:solidFill>
                  <a:srgbClr val="00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let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searchEmp = ref({</a:t>
              </a:r>
            </a:p>
            <a:p>
              <a:pPr defTabSz="540000">
                <a:lnSpc>
                  <a:spcPct val="150000"/>
                </a:lnSpc>
              </a:pP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	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name: </a:t>
              </a:r>
              <a:r>
                <a:rPr lang="en-US" altLang="zh-CN" sz="1100" b="0">
                  <a:solidFill>
                    <a:srgbClr val="C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 defTabSz="540000">
                <a:lnSpc>
                  <a:spcPct val="150000"/>
                </a:lnSpc>
              </a:pP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	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gender: </a:t>
              </a:r>
              <a:r>
                <a:rPr lang="en-US" altLang="zh-CN" sz="1100" b="0">
                  <a:solidFill>
                    <a:srgbClr val="C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''</a:t>
              </a:r>
              <a:r>
                <a:rPr lang="en-US" altLang="zh-CN" sz="1100" b="0">
                  <a:solidFill>
                    <a:schemeClr val="tx1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 defTabSz="540000"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	date: [], </a:t>
              </a:r>
            </a:p>
            <a:p>
              <a:pPr defTabSz="540000"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	begin: </a:t>
              </a:r>
              <a:r>
                <a:rPr lang="en-US" altLang="zh-CN" sz="1100" b="0">
                  <a:solidFill>
                    <a:srgbClr val="C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</a:p>
            <a:p>
              <a:pPr defTabSz="540000">
                <a:lnSpc>
                  <a:spcPct val="150000"/>
                </a:lnSpc>
              </a:pP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	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end: </a:t>
              </a:r>
              <a:r>
                <a:rPr lang="en-US" altLang="zh-CN" sz="1100" b="0">
                  <a:solidFill>
                    <a:srgbClr val="C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''</a:t>
              </a:r>
              <a:endParaRPr lang="en-US" altLang="zh-CN" sz="1100" b="0">
                <a:solidFill>
                  <a:srgbClr val="A3151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}) </a:t>
              </a: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D44126FD-46C9-9D0B-CBD9-EF9026F2600B}"/>
                </a:ext>
              </a:extLst>
            </p:cNvPr>
            <p:cNvSpPr/>
            <p:nvPr/>
          </p:nvSpPr>
          <p:spPr>
            <a:xfrm>
              <a:off x="2297721" y="3660322"/>
              <a:ext cx="44730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50">
                  <a:solidFill>
                    <a:schemeClr val="bg1"/>
                  </a:solidFill>
                  <a:latin typeface="Fira Code" panose="020B0809050000020004" pitchFamily="49" charset="0"/>
                </a:rPr>
                <a:t>emp/index.vue</a:t>
              </a:r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AA11819-0650-3938-FFA9-BE96948A62A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87A109C-7641-D478-CF3A-17B38D4C178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292093CF-BA0D-3AF7-B195-258747C7DB7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34610F7C-9476-64ED-7335-407FF4A78162}"/>
              </a:ext>
            </a:extLst>
          </p:cNvPr>
          <p:cNvSpPr txBox="1"/>
          <p:nvPr/>
        </p:nvSpPr>
        <p:spPr>
          <a:xfrm>
            <a:off x="10123764" y="4240868"/>
            <a:ext cx="15674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watch()</a:t>
            </a:r>
            <a:r>
              <a:rPr lang="zh-CN" altLang="en-US" sz="1600" b="1">
                <a:solidFill>
                  <a:srgbClr val="C00000"/>
                </a:solidFill>
                <a:latin typeface="Fira Code" panose="020B0809050000020004" pitchFamily="49" charset="0"/>
              </a:rPr>
              <a:t>侦听</a:t>
            </a:r>
            <a:endParaRPr lang="zh-CN" altLang="en-US" sz="1600" b="1" dirty="0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EF9BEB9-2AEB-6B34-302E-BD09ABB341D9}"/>
              </a:ext>
            </a:extLst>
          </p:cNvPr>
          <p:cNvSpPr/>
          <p:nvPr/>
        </p:nvSpPr>
        <p:spPr>
          <a:xfrm>
            <a:off x="7065299" y="4393559"/>
            <a:ext cx="2626959" cy="279707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540000"/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[</a:t>
            </a:r>
            <a:r>
              <a:rPr lang="en-US" altLang="zh-CN" sz="110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'2025-01-01'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, </a:t>
            </a:r>
            <a:r>
              <a:rPr lang="en-US" altLang="zh-CN" sz="110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'2025-12-31'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], 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EACA9354-898A-9A5A-8B25-3E4A82A7313C}"/>
              </a:ext>
            </a:extLst>
          </p:cNvPr>
          <p:cNvSpPr/>
          <p:nvPr/>
        </p:nvSpPr>
        <p:spPr>
          <a:xfrm>
            <a:off x="7119089" y="4671921"/>
            <a:ext cx="1221537" cy="213515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540000"/>
            <a:r>
              <a:rPr lang="en-US" altLang="zh-CN" sz="110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'2025-01-01'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, 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A98C1D0B-27E3-64AF-3393-A749ED16EFC6}"/>
              </a:ext>
            </a:extLst>
          </p:cNvPr>
          <p:cNvSpPr/>
          <p:nvPr/>
        </p:nvSpPr>
        <p:spPr>
          <a:xfrm>
            <a:off x="6988767" y="4930261"/>
            <a:ext cx="1221537" cy="213515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540000"/>
            <a:r>
              <a:rPr lang="en-US" altLang="zh-CN" sz="110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'2025-</a:t>
            </a:r>
            <a:r>
              <a:rPr lang="en-US" altLang="zh-CN" sz="11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12</a:t>
            </a:r>
            <a:r>
              <a:rPr lang="en-US" altLang="zh-CN" sz="110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-31'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945B9739-EF3C-8D65-7156-142A4A9CB59E}"/>
              </a:ext>
            </a:extLst>
          </p:cNvPr>
          <p:cNvSpPr/>
          <p:nvPr/>
        </p:nvSpPr>
        <p:spPr>
          <a:xfrm>
            <a:off x="7156531" y="4419550"/>
            <a:ext cx="1035844" cy="187225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A4718C85-5184-7856-F37C-7C56BC8DBAAE}"/>
              </a:ext>
            </a:extLst>
          </p:cNvPr>
          <p:cNvSpPr/>
          <p:nvPr/>
        </p:nvSpPr>
        <p:spPr>
          <a:xfrm>
            <a:off x="7120113" y="4676822"/>
            <a:ext cx="1035844" cy="187226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F8DEE5BF-EB4E-E88D-A051-180581B09F1A}"/>
              </a:ext>
            </a:extLst>
          </p:cNvPr>
          <p:cNvSpPr/>
          <p:nvPr/>
        </p:nvSpPr>
        <p:spPr>
          <a:xfrm>
            <a:off x="8348686" y="4422090"/>
            <a:ext cx="1035844" cy="187225"/>
          </a:xfrm>
          <a:prstGeom prst="roundRect">
            <a:avLst/>
          </a:prstGeom>
          <a:noFill/>
          <a:ln w="1905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6F6DEF88-4A2F-C745-F388-4CF2632DED73}"/>
              </a:ext>
            </a:extLst>
          </p:cNvPr>
          <p:cNvSpPr/>
          <p:nvPr/>
        </p:nvSpPr>
        <p:spPr>
          <a:xfrm>
            <a:off x="6988767" y="4930746"/>
            <a:ext cx="1035844" cy="187225"/>
          </a:xfrm>
          <a:prstGeom prst="roundRect">
            <a:avLst/>
          </a:prstGeom>
          <a:noFill/>
          <a:ln w="1905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B962E033-0CE4-9DC1-972F-84F8442EF154}"/>
              </a:ext>
            </a:extLst>
          </p:cNvPr>
          <p:cNvCxnSpPr>
            <a:stCxn id="51" idx="3"/>
            <a:endCxn id="52" idx="3"/>
          </p:cNvCxnSpPr>
          <p:nvPr/>
        </p:nvCxnSpPr>
        <p:spPr>
          <a:xfrm flipH="1">
            <a:off x="8155957" y="4513163"/>
            <a:ext cx="36418" cy="257272"/>
          </a:xfrm>
          <a:prstGeom prst="bentConnector3">
            <a:avLst>
              <a:gd name="adj1" fmla="val -341754"/>
            </a:avLst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119C6615-803B-D602-1365-BE3F26B8D0C2}"/>
              </a:ext>
            </a:extLst>
          </p:cNvPr>
          <p:cNvCxnSpPr>
            <a:cxnSpLocks/>
            <a:stCxn id="53" idx="3"/>
            <a:endCxn id="54" idx="3"/>
          </p:cNvCxnSpPr>
          <p:nvPr/>
        </p:nvCxnSpPr>
        <p:spPr>
          <a:xfrm flipH="1">
            <a:off x="8024611" y="4515703"/>
            <a:ext cx="1359919" cy="508656"/>
          </a:xfrm>
          <a:prstGeom prst="bentConnector3">
            <a:avLst>
              <a:gd name="adj1" fmla="val -16810"/>
            </a:avLst>
          </a:prstGeom>
          <a:ln w="19050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D6343745-B7C1-AE97-D81B-067039424028}"/>
              </a:ext>
            </a:extLst>
          </p:cNvPr>
          <p:cNvCxnSpPr>
            <a:cxnSpLocks/>
          </p:cNvCxnSpPr>
          <p:nvPr/>
        </p:nvCxnSpPr>
        <p:spPr>
          <a:xfrm>
            <a:off x="4828755" y="4240868"/>
            <a:ext cx="1064045" cy="0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87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9" grpId="0"/>
      <p:bldP spid="20" grpId="0"/>
      <p:bldP spid="21" grpId="0"/>
      <p:bldP spid="28" grpId="0" animBg="1"/>
      <p:bldP spid="46" grpId="0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25D3BF-C532-0766-FB89-5A811EA7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79592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作用：</a:t>
            </a:r>
            <a:r>
              <a:rPr lang="zh-CN" altLang="en-US" b="0" i="0">
                <a:solidFill>
                  <a:srgbClr val="213547"/>
                </a:solidFill>
                <a:effectLst/>
              </a:rPr>
              <a:t>侦听一个或多个响应式</a:t>
            </a:r>
            <a:r>
              <a:rPr lang="zh-CN" altLang="en-US" b="0" i="0">
                <a:solidFill>
                  <a:srgbClr val="C00000"/>
                </a:solidFill>
                <a:effectLst/>
              </a:rPr>
              <a:t>数据源</a:t>
            </a:r>
            <a:r>
              <a:rPr lang="zh-CN" altLang="en-US" b="0" i="0">
                <a:solidFill>
                  <a:srgbClr val="213547"/>
                </a:solidFill>
                <a:effectLst/>
              </a:rPr>
              <a:t>，并在数据源变化时调用传入的</a:t>
            </a:r>
            <a:r>
              <a:rPr lang="zh-CN" altLang="en-US" b="0" i="0">
                <a:solidFill>
                  <a:srgbClr val="C00000"/>
                </a:solidFill>
                <a:effectLst/>
              </a:rPr>
              <a:t>回调函数</a:t>
            </a:r>
            <a:r>
              <a:rPr lang="zh-CN" altLang="en-US" b="0" i="0">
                <a:solidFill>
                  <a:srgbClr val="213547"/>
                </a:solidFill>
                <a:effectLst/>
              </a:rPr>
              <a:t>。</a:t>
            </a:r>
            <a:endParaRPr lang="en-US" altLang="zh-CN" b="0" i="0">
              <a:solidFill>
                <a:srgbClr val="213547"/>
              </a:solidFill>
              <a:effectLst/>
              <a:ea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213547"/>
                </a:solidFill>
              </a:rPr>
              <a:t>用法：</a:t>
            </a:r>
            <a:endParaRPr lang="en-US" altLang="zh-CN">
              <a:solidFill>
                <a:srgbClr val="213547"/>
              </a:solidFill>
              <a:ea typeface="Fira Code" panose="020B0809050000020004" pitchFamily="49" charset="0"/>
            </a:endParaRPr>
          </a:p>
          <a:p>
            <a:pPr marL="540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>
                <a:solidFill>
                  <a:srgbClr val="213547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</a:t>
            </a:r>
            <a:r>
              <a:rPr lang="en-US" altLang="zh-CN" sz="1400" b="0">
                <a:solidFill>
                  <a:srgbClr val="213547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watch</a:t>
            </a:r>
            <a:r>
              <a:rPr lang="zh-CN" altLang="en-US" sz="1400" b="0">
                <a:solidFill>
                  <a:srgbClr val="213547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函数</a:t>
            </a:r>
            <a:endParaRPr lang="en-US" altLang="zh-CN" sz="1400" b="0">
              <a:solidFill>
                <a:srgbClr val="213547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>
                <a:solidFill>
                  <a:srgbClr val="213547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</a:t>
            </a:r>
            <a:r>
              <a:rPr lang="en-US" altLang="zh-CN" sz="1400" b="0">
                <a:solidFill>
                  <a:srgbClr val="213547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watch</a:t>
            </a:r>
            <a:r>
              <a:rPr lang="zh-CN" altLang="en-US" sz="1400" b="0">
                <a:solidFill>
                  <a:srgbClr val="213547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函数，传入要侦听的响应式数据源（</a:t>
            </a:r>
            <a:r>
              <a:rPr lang="en-US" altLang="zh-CN" sz="1400" b="0">
                <a:solidFill>
                  <a:srgbClr val="213547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ref</a:t>
            </a:r>
            <a:r>
              <a:rPr lang="zh-CN" altLang="en-US" sz="1400" b="0">
                <a:solidFill>
                  <a:srgbClr val="213547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对象）和回调函数； </a:t>
            </a:r>
            <a:endParaRPr lang="en-US" altLang="zh-CN" sz="1400" b="0">
              <a:solidFill>
                <a:srgbClr val="213547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watch</a:t>
            </a:r>
            <a:endParaRPr lang="zh-CN" altLang="en-US"/>
          </a:p>
        </p:txBody>
      </p:sp>
      <p:grpSp>
        <p:nvGrpSpPr>
          <p:cNvPr id="2" name="!!组合 2">
            <a:extLst>
              <a:ext uri="{FF2B5EF4-FFF2-40B4-BE49-F238E27FC236}">
                <a16:creationId xmlns:a16="http://schemas.microsoft.com/office/drawing/2014/main" id="{8B10F88D-F833-A695-429D-865758CE86E9}"/>
              </a:ext>
            </a:extLst>
          </p:cNvPr>
          <p:cNvGrpSpPr/>
          <p:nvPr/>
        </p:nvGrpSpPr>
        <p:grpSpPr>
          <a:xfrm>
            <a:off x="1135978" y="2897594"/>
            <a:ext cx="5497457" cy="1874519"/>
            <a:chOff x="2297721" y="3660322"/>
            <a:chExt cx="5625100" cy="1810739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BB3F47C-0E97-D624-318D-03C8C2B6F5C1}"/>
                </a:ext>
              </a:extLst>
            </p:cNvPr>
            <p:cNvSpPr/>
            <p:nvPr/>
          </p:nvSpPr>
          <p:spPr>
            <a:xfrm>
              <a:off x="2297727" y="3660323"/>
              <a:ext cx="5625094" cy="1810738"/>
            </a:xfrm>
            <a:prstGeom prst="roundRect">
              <a:avLst>
                <a:gd name="adj" fmla="val 388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import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{ ref, watch }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from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'vue'</a:t>
              </a:r>
              <a:endParaRPr lang="en-US" altLang="zh-CN" sz="1100" b="0">
                <a:solidFill>
                  <a:srgbClr val="0000F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a = ref(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watch(a, (newVal , oldVal)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{ </a:t>
              </a:r>
              <a:r>
                <a:rPr lang="en-US" altLang="zh-CN" sz="1100" b="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侦听</a:t>
              </a:r>
              <a:r>
                <a:rPr lang="en-US" altLang="zh-CN" sz="1100" b="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</a:t>
              </a:r>
              <a:r>
                <a:rPr lang="zh-CN" altLang="en-US" sz="1100" b="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的变化</a:t>
              </a:r>
              <a:endParaRPr lang="en-US" altLang="zh-CN" sz="1100" b="0">
                <a:solidFill>
                  <a:srgbClr val="00B05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console.log(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`a</a:t>
              </a:r>
              <a:r>
                <a:rPr lang="zh-CN" altLang="en-US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</a:rPr>
                <a:t>的值为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newVal: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${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newVal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}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oldVal: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${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oldVal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}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`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}) 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FAF25F6B-05B1-9A52-25EE-0F6E83719D03}"/>
                </a:ext>
              </a:extLst>
            </p:cNvPr>
            <p:cNvSpPr/>
            <p:nvPr/>
          </p:nvSpPr>
          <p:spPr>
            <a:xfrm>
              <a:off x="2297721" y="3660322"/>
              <a:ext cx="562510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721E769-2B01-B2EF-59E9-970F8BB28F2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492359C-5894-38C4-52A4-D3E7493F7BF6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337ECEF-093A-67E9-D0C4-AA2C2F0DD6F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96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watch-</a:t>
            </a:r>
            <a:r>
              <a:rPr lang="zh-CN" altLang="en-US"/>
              <a:t>侦听对象</a:t>
            </a:r>
          </a:p>
        </p:txBody>
      </p: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CED097F4-E837-E634-0168-CBB8F116608C}"/>
              </a:ext>
            </a:extLst>
          </p:cNvPr>
          <p:cNvSpPr txBox="1">
            <a:spLocks/>
          </p:cNvSpPr>
          <p:nvPr/>
        </p:nvSpPr>
        <p:spPr>
          <a:xfrm>
            <a:off x="576196" y="3994091"/>
            <a:ext cx="7429067" cy="3103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213547"/>
                </a:solidFill>
                <a:latin typeface="Fira Code" panose="020B0809050000020004" pitchFamily="49" charset="0"/>
              </a:rPr>
              <a:t>侦听对象的单个属性：</a:t>
            </a:r>
            <a:endParaRPr lang="en-US" altLang="zh-CN" sz="1600">
              <a:solidFill>
                <a:srgbClr val="213547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grpSp>
        <p:nvGrpSpPr>
          <p:cNvPr id="5" name="!!组合 2">
            <a:extLst>
              <a:ext uri="{FF2B5EF4-FFF2-40B4-BE49-F238E27FC236}">
                <a16:creationId xmlns:a16="http://schemas.microsoft.com/office/drawing/2014/main" id="{59E955CA-9900-C711-6BB7-9AAA8AE6F102}"/>
              </a:ext>
            </a:extLst>
          </p:cNvPr>
          <p:cNvGrpSpPr/>
          <p:nvPr/>
        </p:nvGrpSpPr>
        <p:grpSpPr>
          <a:xfrm>
            <a:off x="938540" y="4511282"/>
            <a:ext cx="7066729" cy="1902283"/>
            <a:chOff x="2297721" y="3660322"/>
            <a:chExt cx="7230808" cy="183755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80E2A3CF-333C-3236-38AF-6643AA9FD29C}"/>
                </a:ext>
              </a:extLst>
            </p:cNvPr>
            <p:cNvSpPr/>
            <p:nvPr/>
          </p:nvSpPr>
          <p:spPr>
            <a:xfrm>
              <a:off x="2297727" y="3660322"/>
              <a:ext cx="7230802" cy="1837558"/>
            </a:xfrm>
            <a:prstGeom prst="roundRect">
              <a:avLst>
                <a:gd name="adj" fmla="val 388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import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 ref, watch }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from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'vue'</a:t>
              </a:r>
              <a:endParaRPr lang="en-US" altLang="zh-CN" sz="1100" b="0">
                <a:solidFill>
                  <a:srgbClr val="0000FF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user = ref({name: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, age: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ea typeface="Fira Code" panose="020B0809050000020004" pitchFamily="49" charset="0"/>
                </a:rPr>
                <a:t>10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watch( () =&gt; user.value.name , (newVal , oldVal)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  </a:t>
              </a:r>
              <a:r>
                <a:rPr lang="en-US" altLang="zh-CN" sz="11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侦听</a:t>
              </a:r>
              <a:r>
                <a:rPr lang="en-US" altLang="zh-CN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user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对象中</a:t>
              </a:r>
              <a:r>
                <a:rPr lang="en-US" altLang="zh-CN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name</a:t>
              </a:r>
              <a:r>
                <a:rPr lang="zh-CN" altLang="en-US" sz="11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的变化</a:t>
              </a:r>
              <a:endParaRPr lang="en-US" altLang="zh-CN" sz="1100" b="0">
                <a:solidFill>
                  <a:srgbClr val="00B05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console.log(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`a</a:t>
              </a:r>
              <a:r>
                <a:rPr lang="zh-CN" altLang="en-US" sz="1100" b="0">
                  <a:solidFill>
                    <a:srgbClr val="A31515"/>
                  </a:solidFill>
                  <a:effectLst/>
                </a:rPr>
                <a:t>的值为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: newVal: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${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newVal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}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, oldVal: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${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oldVal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}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`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}) 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67BE13C2-3DA1-E18B-BB36-FA39E069C8A7}"/>
                </a:ext>
              </a:extLst>
            </p:cNvPr>
            <p:cNvSpPr/>
            <p:nvPr/>
          </p:nvSpPr>
          <p:spPr>
            <a:xfrm>
              <a:off x="2297721" y="3660322"/>
              <a:ext cx="723080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AB9CCAD-4592-56F4-C1D9-AD36637F39B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F6FA99B-62AC-9BE7-F19E-9FE514CAF28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6CD9A96-1A28-F7FA-7C36-83D28991936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占位符 4">
            <a:extLst>
              <a:ext uri="{FF2B5EF4-FFF2-40B4-BE49-F238E27FC236}">
                <a16:creationId xmlns:a16="http://schemas.microsoft.com/office/drawing/2014/main" id="{F925EB53-269F-C587-12B7-94EA0F926AC5}"/>
              </a:ext>
            </a:extLst>
          </p:cNvPr>
          <p:cNvSpPr txBox="1">
            <a:spLocks/>
          </p:cNvSpPr>
          <p:nvPr/>
        </p:nvSpPr>
        <p:spPr>
          <a:xfrm>
            <a:off x="576196" y="889780"/>
            <a:ext cx="7429067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213547"/>
                </a:solidFill>
                <a:latin typeface="Fira Code" panose="020B0809050000020004" pitchFamily="49" charset="0"/>
              </a:rPr>
              <a:t>侦听对象的全部属性：</a:t>
            </a:r>
            <a:endParaRPr lang="en-US" altLang="zh-CN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grpSp>
        <p:nvGrpSpPr>
          <p:cNvPr id="12" name="!!组合 2">
            <a:extLst>
              <a:ext uri="{FF2B5EF4-FFF2-40B4-BE49-F238E27FC236}">
                <a16:creationId xmlns:a16="http://schemas.microsoft.com/office/drawing/2014/main" id="{E3547EA8-4F47-2A89-F183-3F1FF8C43AAE}"/>
              </a:ext>
            </a:extLst>
          </p:cNvPr>
          <p:cNvGrpSpPr/>
          <p:nvPr/>
        </p:nvGrpSpPr>
        <p:grpSpPr>
          <a:xfrm>
            <a:off x="938535" y="1448701"/>
            <a:ext cx="5962064" cy="1902283"/>
            <a:chOff x="2297722" y="3660322"/>
            <a:chExt cx="6100494" cy="1837558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11625F0D-001D-2669-C6B2-CB79AA6A25F5}"/>
                </a:ext>
              </a:extLst>
            </p:cNvPr>
            <p:cNvSpPr/>
            <p:nvPr/>
          </p:nvSpPr>
          <p:spPr>
            <a:xfrm>
              <a:off x="2297728" y="3660322"/>
              <a:ext cx="6100488" cy="1837558"/>
            </a:xfrm>
            <a:prstGeom prst="roundRect">
              <a:avLst>
                <a:gd name="adj" fmla="val 388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import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 ref, watch }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from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'vue'</a:t>
              </a:r>
              <a:endParaRPr lang="en-US" altLang="zh-CN" sz="1100" b="0">
                <a:solidFill>
                  <a:srgbClr val="0000FF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user = ref({name: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, age: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ea typeface="Fira Code" panose="020B0809050000020004" pitchFamily="49" charset="0"/>
                </a:rPr>
                <a:t>10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watch(user, (newVal , oldVal)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  </a:t>
              </a:r>
              <a:r>
                <a:rPr lang="en-US" altLang="zh-CN" sz="11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侦听</a:t>
              </a:r>
              <a:r>
                <a:rPr lang="en-US" altLang="zh-CN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user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对象中</a:t>
              </a:r>
              <a:r>
                <a:rPr lang="zh-CN" altLang="en-US" sz="11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的全部属性的变化</a:t>
              </a:r>
              <a:endParaRPr lang="en-US" altLang="zh-CN" sz="1100" b="0">
                <a:solidFill>
                  <a:srgbClr val="00B05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console.log(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`a</a:t>
              </a:r>
              <a:r>
                <a:rPr lang="zh-CN" altLang="en-US" sz="1100" b="0">
                  <a:solidFill>
                    <a:srgbClr val="A31515"/>
                  </a:solidFill>
                  <a:effectLst/>
                </a:rPr>
                <a:t>的值为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: newVal: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${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newVal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}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, oldVal: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${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oldVal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}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`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}, {deep: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true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}) </a:t>
              </a: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108E7CAA-568D-A0C2-B509-EFAB581D253C}"/>
                </a:ext>
              </a:extLst>
            </p:cNvPr>
            <p:cNvSpPr/>
            <p:nvPr/>
          </p:nvSpPr>
          <p:spPr>
            <a:xfrm>
              <a:off x="2297722" y="3660322"/>
              <a:ext cx="610048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B3BC0AF-230B-FA7C-B2D6-EFC6593397C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CD32EE0-C937-0A38-7010-3AE368D4D87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A633BDB2-3506-A2D2-A363-EB624ED04C5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2B15A0A1-5C5D-62A2-E2D6-D4FFB734AD3F}"/>
              </a:ext>
            </a:extLst>
          </p:cNvPr>
          <p:cNvSpPr/>
          <p:nvPr/>
        </p:nvSpPr>
        <p:spPr>
          <a:xfrm>
            <a:off x="1546905" y="5695791"/>
            <a:ext cx="1886364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F30FE54-FEF5-6232-AB00-F6D84077D0A8}"/>
              </a:ext>
            </a:extLst>
          </p:cNvPr>
          <p:cNvSpPr/>
          <p:nvPr/>
        </p:nvSpPr>
        <p:spPr>
          <a:xfrm>
            <a:off x="1224963" y="3305265"/>
            <a:ext cx="1060824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A554FE-840C-C2ED-68B9-D9F9F830A6CA}"/>
              </a:ext>
            </a:extLst>
          </p:cNvPr>
          <p:cNvSpPr txBox="1"/>
          <p:nvPr/>
        </p:nvSpPr>
        <p:spPr>
          <a:xfrm>
            <a:off x="7193171" y="1764313"/>
            <a:ext cx="5240693" cy="1099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第三个可选参数，常见两个选项：</a:t>
            </a:r>
            <a:endParaRPr lang="en-US" altLang="zh-CN" sz="140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deep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boolean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）：是否深度侦听，默认浅层侦听。</a:t>
            </a:r>
            <a:endParaRPr lang="en-US" altLang="zh-CN" sz="120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immediate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boolean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）：是否在侦听创建时立即触发回调函数。</a:t>
            </a:r>
            <a:endParaRPr lang="zh-CN" altLang="en-US" sz="1200" dirty="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DC3C98-5C7D-BB50-D63E-19394BF8ED57}"/>
              </a:ext>
            </a:extLst>
          </p:cNvPr>
          <p:cNvSpPr txBox="1"/>
          <p:nvPr/>
        </p:nvSpPr>
        <p:spPr>
          <a:xfrm>
            <a:off x="1022173" y="3434053"/>
            <a:ext cx="1391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（深度侦听）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53412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8" grpId="0" animBg="1"/>
      <p:bldP spid="19" grpId="0" animBg="1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5E43E7A-3BEB-2359-0338-C88B7E6E1E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170081" cy="441577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ea typeface="Fira Code" panose="020B0809050000020004" pitchFamily="49" charset="0"/>
              </a:rPr>
              <a:t>watch</a:t>
            </a:r>
            <a:r>
              <a:rPr lang="zh-CN" altLang="en-US" sz="1800"/>
              <a:t>侦听函数的作用</a:t>
            </a:r>
            <a:r>
              <a:rPr lang="en-US" altLang="zh-CN" sz="1800">
                <a:ea typeface="Fira Code" panose="020B0809050000020004" pitchFamily="49" charset="0"/>
              </a:rPr>
              <a:t>?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侦听一个或多个响应式数据源，并在数据源变化时调用所给的回调函数</a:t>
            </a:r>
            <a:endParaRPr lang="en-US" altLang="zh-CN" sz="1400" b="0">
              <a:solidFill>
                <a:srgbClr val="C00000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ea typeface="Fira Code" panose="020B0809050000020004" pitchFamily="49" charset="0"/>
              </a:rPr>
              <a:t>watch</a:t>
            </a:r>
            <a:r>
              <a:rPr lang="zh-CN" altLang="en-US" sz="1800"/>
              <a:t>函数调用时传入的参数</a:t>
            </a:r>
            <a:r>
              <a:rPr lang="en-US" altLang="zh-CN" sz="1800">
                <a:ea typeface="Fira Code" panose="020B0809050000020004" pitchFamily="49" charset="0"/>
              </a:rPr>
              <a:t>?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参数一：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侦听的源，可以是一个</a:t>
            </a: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ref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对象，一个函数等。</a:t>
            </a:r>
            <a:endParaRPr lang="en-US" altLang="zh-CN" sz="1400" b="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参数二：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侦听的源发生变化时，触发的回调函数</a:t>
            </a:r>
            <a:endParaRPr lang="en-US" altLang="zh-CN" sz="1400" b="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参数三：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可选，是一个对象</a:t>
            </a:r>
            <a:r>
              <a:rPr lang="en-US" altLang="zh-CN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(deep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immediate)</a:t>
            </a:r>
            <a:endParaRPr lang="en-US" altLang="zh-CN" sz="1400" b="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能否侦听对象的一个属性或全部属性？</a:t>
            </a:r>
            <a:endParaRPr lang="en-US" altLang="zh-CN" sz="1800"/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</a:t>
            </a:r>
            <a:endParaRPr lang="en-US" altLang="zh-CN" sz="1400" b="0">
              <a:solidFill>
                <a:srgbClr val="C00000"/>
              </a:solidFill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侦听一个属性：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第一个参数传递一个函数 </a:t>
            </a: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() =&gt; user.value.name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侦听全部属性：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第三个参数传递一个对象，指定</a:t>
            </a: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deep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深度侦听</a:t>
            </a:r>
            <a:endParaRPr lang="zh-CN" altLang="en-US" sz="1600" b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1434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B087-8BE3-4C2F-E994-EDD08A10A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4F1B656-D374-F130-0C90-E0147B029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页面布局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0A6FA8-1900-8266-6095-50CC2EFBE2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7"/>
          <a:stretch/>
        </p:blipFill>
        <p:spPr>
          <a:xfrm>
            <a:off x="782320" y="1107044"/>
            <a:ext cx="9256080" cy="50566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E4A15BA-150C-470E-A031-CCF74DE9B263}"/>
              </a:ext>
            </a:extLst>
          </p:cNvPr>
          <p:cNvSpPr/>
          <p:nvPr/>
        </p:nvSpPr>
        <p:spPr>
          <a:xfrm>
            <a:off x="2153600" y="2388406"/>
            <a:ext cx="7884800" cy="430098"/>
          </a:xfrm>
          <a:prstGeom prst="rect">
            <a:avLst/>
          </a:prstGeom>
          <a:solidFill>
            <a:srgbClr val="0000FF">
              <a:alpha val="18824"/>
            </a:srgbClr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B6B2EA-A07E-FA96-FF7E-BD8718BD3976}"/>
              </a:ext>
            </a:extLst>
          </p:cNvPr>
          <p:cNvSpPr/>
          <p:nvPr/>
        </p:nvSpPr>
        <p:spPr>
          <a:xfrm>
            <a:off x="2153600" y="2865942"/>
            <a:ext cx="7884800" cy="2934223"/>
          </a:xfrm>
          <a:prstGeom prst="rect">
            <a:avLst/>
          </a:prstGeom>
          <a:solidFill>
            <a:srgbClr val="FFC000">
              <a:alpha val="18824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BC3649-390F-BAD5-ECBB-691478A8AA8B}"/>
              </a:ext>
            </a:extLst>
          </p:cNvPr>
          <p:cNvSpPr/>
          <p:nvPr/>
        </p:nvSpPr>
        <p:spPr>
          <a:xfrm>
            <a:off x="2153600" y="5856565"/>
            <a:ext cx="7884800" cy="298214"/>
          </a:xfrm>
          <a:prstGeom prst="rect">
            <a:avLst/>
          </a:prstGeom>
          <a:solidFill>
            <a:srgbClr val="FF0000">
              <a:alpha val="18824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E35D0D-DE20-D2E6-F51B-E2B8F131EDD0}"/>
              </a:ext>
            </a:extLst>
          </p:cNvPr>
          <p:cNvSpPr txBox="1"/>
          <p:nvPr/>
        </p:nvSpPr>
        <p:spPr>
          <a:xfrm>
            <a:off x="10109841" y="2434178"/>
            <a:ext cx="1391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按钮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6860A7-B270-6385-BF3E-A07CE0FCD305}"/>
              </a:ext>
            </a:extLst>
          </p:cNvPr>
          <p:cNvSpPr txBox="1"/>
          <p:nvPr/>
        </p:nvSpPr>
        <p:spPr>
          <a:xfrm>
            <a:off x="10109841" y="3994499"/>
            <a:ext cx="1391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数据展示表格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F27C20-368B-BB28-AF0E-2065379AE023}"/>
              </a:ext>
            </a:extLst>
          </p:cNvPr>
          <p:cNvSpPr txBox="1"/>
          <p:nvPr/>
        </p:nvSpPr>
        <p:spPr>
          <a:xfrm>
            <a:off x="10109841" y="5816225"/>
            <a:ext cx="1391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分页条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156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521FB-CBAD-A8C1-B925-660708C96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89F698B-5D3F-6183-410C-93E3130E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页面布局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CE7AC3-6DB9-1F92-89B4-94C7FA2564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7"/>
          <a:stretch/>
        </p:blipFill>
        <p:spPr>
          <a:xfrm>
            <a:off x="782320" y="1107044"/>
            <a:ext cx="9256080" cy="50566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A85BD9-B75B-4837-5333-0615939DB235}"/>
              </a:ext>
            </a:extLst>
          </p:cNvPr>
          <p:cNvSpPr/>
          <p:nvPr/>
        </p:nvSpPr>
        <p:spPr>
          <a:xfrm>
            <a:off x="2153600" y="5856565"/>
            <a:ext cx="7884800" cy="298214"/>
          </a:xfrm>
          <a:prstGeom prst="rect">
            <a:avLst/>
          </a:prstGeom>
          <a:solidFill>
            <a:srgbClr val="FF0000">
              <a:alpha val="18824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9B2C586-10EA-A3F5-CCC5-17F81431CE9C}"/>
              </a:ext>
            </a:extLst>
          </p:cNvPr>
          <p:cNvSpPr txBox="1"/>
          <p:nvPr/>
        </p:nvSpPr>
        <p:spPr>
          <a:xfrm>
            <a:off x="10109841" y="5816225"/>
            <a:ext cx="1391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分页条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132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57AD4FA-3B72-0CE9-17C1-D76F63989E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5162350" cy="668338"/>
          </a:xfrm>
        </p:spPr>
        <p:txBody>
          <a:bodyPr/>
          <a:lstStyle/>
          <a:p>
            <a:r>
              <a:rPr lang="zh-CN" altLang="en-US"/>
              <a:t>员工管理</a:t>
            </a:r>
            <a:r>
              <a:rPr lang="en-US" altLang="zh-CN"/>
              <a:t>-</a:t>
            </a:r>
            <a:r>
              <a:rPr lang="zh-CN" altLang="en-US"/>
              <a:t>条件分页查询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E18A2C-B680-152E-5A9D-49D4920259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页面布局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页面交互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95BB06F-BA43-3473-EA4A-61ED250A85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915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25D3BF-C532-0766-FB89-5A811EA7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63" y="5172825"/>
            <a:ext cx="10747498" cy="149691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页面加载完毕后，查询员工信息列表。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点击查询按钮，查询员工信息列表。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当页码、每页展示记录数发生变化时，查询员工信息列表。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页面交互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5C2EE0-474A-926B-2744-164CFB9494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7"/>
          <a:stretch/>
        </p:blipFill>
        <p:spPr>
          <a:xfrm>
            <a:off x="746462" y="900651"/>
            <a:ext cx="7655595" cy="418233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5658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810306-F9B7-A7A4-AF70-9AF4D0E712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员工管理</a:t>
            </a:r>
            <a:r>
              <a:rPr lang="en-US" altLang="zh-CN"/>
              <a:t>-</a:t>
            </a:r>
            <a:r>
              <a:rPr lang="zh-CN" altLang="en-US"/>
              <a:t>条件分页查询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员工管理</a:t>
            </a:r>
            <a:r>
              <a:rPr lang="en-US" altLang="zh-CN">
                <a:solidFill>
                  <a:srgbClr val="C00000"/>
                </a:solidFill>
              </a:rPr>
              <a:t>-</a:t>
            </a:r>
            <a:r>
              <a:rPr lang="zh-CN" altLang="en-US">
                <a:solidFill>
                  <a:srgbClr val="C00000"/>
                </a:solidFill>
              </a:rPr>
              <a:t>新增员工</a:t>
            </a:r>
            <a:endParaRPr lang="en-US" altLang="zh-CN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460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E26126-BF80-1A2A-6BED-CBDF8714CA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49" y="2203927"/>
            <a:ext cx="5000985" cy="668338"/>
          </a:xfrm>
        </p:spPr>
        <p:txBody>
          <a:bodyPr/>
          <a:lstStyle/>
          <a:p>
            <a:r>
              <a:rPr lang="zh-CN" altLang="en-US"/>
              <a:t>员工管理</a:t>
            </a:r>
            <a:r>
              <a:rPr lang="en-US" altLang="zh-CN"/>
              <a:t>-</a:t>
            </a:r>
            <a:r>
              <a:rPr lang="zh-CN" altLang="en-US"/>
              <a:t>新增员工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E3CA038-29A1-19AA-9273-ACA550645F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页面布局</a:t>
            </a:r>
            <a:endParaRPr lang="en-US" altLang="zh-CN"/>
          </a:p>
          <a:p>
            <a:r>
              <a:rPr lang="zh-CN" altLang="en-US"/>
              <a:t>页面交互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977DFF6-400C-358E-4A7E-ACBC123D0D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42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25D3BF-C532-0766-FB89-5A811EA7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8376" y="956242"/>
            <a:ext cx="5128302" cy="1679382"/>
          </a:xfrm>
        </p:spPr>
        <p:txBody>
          <a:bodyPr/>
          <a:lstStyle/>
          <a:p>
            <a:r>
              <a:rPr lang="zh-CN" altLang="en-US"/>
              <a:t>新增员工信息的表单包含两个部分：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员工的基本信息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员工的工作经历信息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页面布局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4E464E5-2AA4-544E-E0AD-AFF2671D5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95" y="956241"/>
            <a:ext cx="5860463" cy="467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25D3BF-C532-0766-FB89-5A811EA7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459" y="956242"/>
            <a:ext cx="4688541" cy="2073830"/>
          </a:xfrm>
        </p:spPr>
        <p:txBody>
          <a:bodyPr/>
          <a:lstStyle/>
          <a:p>
            <a:r>
              <a:rPr lang="zh-CN" altLang="en-US"/>
              <a:t>表单项数据动态展示：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性别（男</a:t>
            </a:r>
            <a:r>
              <a:rPr lang="en-US" altLang="zh-CN"/>
              <a:t>/</a:t>
            </a:r>
            <a:r>
              <a:rPr lang="zh-CN" altLang="en-US"/>
              <a:t>女）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职位（班主任</a:t>
            </a:r>
            <a:r>
              <a:rPr lang="en-US" altLang="zh-CN"/>
              <a:t>/</a:t>
            </a:r>
            <a:r>
              <a:rPr lang="zh-CN" altLang="en-US"/>
              <a:t>讲师</a:t>
            </a:r>
            <a:r>
              <a:rPr lang="en-US" altLang="zh-CN"/>
              <a:t>/</a:t>
            </a:r>
            <a:r>
              <a:rPr lang="zh-CN" altLang="en-US"/>
              <a:t>学工主管</a:t>
            </a:r>
            <a:r>
              <a:rPr lang="en-US" altLang="zh-CN"/>
              <a:t>/</a:t>
            </a:r>
            <a:r>
              <a:rPr lang="zh-CN" altLang="en-US"/>
              <a:t>教研主管</a:t>
            </a:r>
            <a:r>
              <a:rPr lang="en-US" altLang="zh-CN"/>
              <a:t>/...</a:t>
            </a:r>
            <a:r>
              <a:rPr lang="zh-CN" altLang="en-US"/>
              <a:t>）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所属部门（动态查询）</a:t>
            </a:r>
            <a:endParaRPr lang="en-US" altLang="zh-CN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页面布局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195958B-E17A-E059-7E3E-99B518D0E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68" y="1024655"/>
            <a:ext cx="6707344" cy="49521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AB5ECC7-34DA-4805-BC67-4D64F5813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683" y="3724455"/>
            <a:ext cx="7026249" cy="1828958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077D693-E1C9-6407-F3D6-64B712D08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683" y="5574552"/>
            <a:ext cx="7026249" cy="964979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6735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E26126-BF80-1A2A-6BED-CBDF8714CA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49" y="2203927"/>
            <a:ext cx="5000985" cy="668338"/>
          </a:xfrm>
        </p:spPr>
        <p:txBody>
          <a:bodyPr/>
          <a:lstStyle/>
          <a:p>
            <a:r>
              <a:rPr lang="zh-CN" altLang="en-US"/>
              <a:t>员工管理</a:t>
            </a:r>
            <a:r>
              <a:rPr lang="en-US" altLang="zh-CN"/>
              <a:t>-</a:t>
            </a:r>
            <a:r>
              <a:rPr lang="zh-CN" altLang="en-US"/>
              <a:t>新增员工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E3CA038-29A1-19AA-9273-ACA550645F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页面布局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页面交互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977DFF6-400C-358E-4A7E-ACBC123D0D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521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92DA846-4D03-6CA6-BC27-315608DEF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146" y="1170610"/>
            <a:ext cx="3204595" cy="3911756"/>
          </a:xfrm>
          <a:prstGeom prst="roundRect">
            <a:avLst>
              <a:gd name="adj" fmla="val 1431"/>
            </a:avLst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B0A6D1B-9420-83D5-1EA8-30A892BF0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54" y="927179"/>
            <a:ext cx="5984252" cy="4239907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25D3BF-C532-0766-FB89-5A811EA7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54" y="5597215"/>
            <a:ext cx="10386172" cy="104887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添加工作经历：下方就会增加一个工作经历信息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删除工作经历：删除当前这一个工作经历信息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页面交互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B913F78-7DAC-4442-2C4D-B66FBF10FACE}"/>
              </a:ext>
            </a:extLst>
          </p:cNvPr>
          <p:cNvSpPr/>
          <p:nvPr/>
        </p:nvSpPr>
        <p:spPr>
          <a:xfrm>
            <a:off x="1326776" y="3783106"/>
            <a:ext cx="986118" cy="313766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3F31688-9025-91FB-CF60-F0F32513554A}"/>
              </a:ext>
            </a:extLst>
          </p:cNvPr>
          <p:cNvSpPr/>
          <p:nvPr/>
        </p:nvSpPr>
        <p:spPr>
          <a:xfrm>
            <a:off x="6069106" y="4159623"/>
            <a:ext cx="528917" cy="313766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CED259E8-5BAA-CAB2-55DF-88084BE05F51}"/>
              </a:ext>
            </a:extLst>
          </p:cNvPr>
          <p:cNvSpPr txBox="1">
            <a:spLocks/>
          </p:cNvSpPr>
          <p:nvPr/>
        </p:nvSpPr>
        <p:spPr>
          <a:xfrm>
            <a:off x="6795247" y="2380129"/>
            <a:ext cx="5217459" cy="10488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4D3ADE-BA24-B0CB-1665-7AAF39C2BF98}"/>
              </a:ext>
            </a:extLst>
          </p:cNvPr>
          <p:cNvSpPr/>
          <p:nvPr/>
        </p:nvSpPr>
        <p:spPr>
          <a:xfrm>
            <a:off x="7154145" y="4453217"/>
            <a:ext cx="3204595" cy="295836"/>
          </a:xfrm>
          <a:prstGeom prst="rect">
            <a:avLst/>
          </a:prstGeom>
          <a:solidFill>
            <a:srgbClr val="00B050">
              <a:alpha val="27843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3D84E6A9-4704-C0A7-CDDD-577EA50A4B0D}"/>
              </a:ext>
            </a:extLst>
          </p:cNvPr>
          <p:cNvCxnSpPr>
            <a:cxnSpLocks/>
            <a:stCxn id="6" idx="0"/>
            <a:endCxn id="15" idx="0"/>
          </p:cNvCxnSpPr>
          <p:nvPr/>
        </p:nvCxnSpPr>
        <p:spPr>
          <a:xfrm rot="16200000" flipH="1">
            <a:off x="4953083" y="649857"/>
            <a:ext cx="670111" cy="6936608"/>
          </a:xfrm>
          <a:prstGeom prst="curvedConnector3">
            <a:avLst>
              <a:gd name="adj1" fmla="val -34114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BC4D9513-8124-4C4B-8EF5-0E58D0F46976}"/>
              </a:ext>
            </a:extLst>
          </p:cNvPr>
          <p:cNvCxnSpPr>
            <a:cxnSpLocks/>
            <a:stCxn id="9" idx="2"/>
            <a:endCxn id="15" idx="2"/>
          </p:cNvCxnSpPr>
          <p:nvPr/>
        </p:nvCxnSpPr>
        <p:spPr>
          <a:xfrm rot="16200000" flipH="1">
            <a:off x="7407172" y="3399782"/>
            <a:ext cx="275664" cy="2422878"/>
          </a:xfrm>
          <a:prstGeom prst="curvedConnector3">
            <a:avLst>
              <a:gd name="adj1" fmla="val 182927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AF88E2D-02A9-4083-77B1-F8D7E31D3AD2}"/>
              </a:ext>
            </a:extLst>
          </p:cNvPr>
          <p:cNvSpPr txBox="1"/>
          <p:nvPr/>
        </p:nvSpPr>
        <p:spPr>
          <a:xfrm>
            <a:off x="5074911" y="3278579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添加元素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70EB1EA-1A69-527D-5DD5-C2DBB980A67E}"/>
              </a:ext>
            </a:extLst>
          </p:cNvPr>
          <p:cNvSpPr txBox="1"/>
          <p:nvPr/>
        </p:nvSpPr>
        <p:spPr>
          <a:xfrm>
            <a:off x="7111991" y="4938095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删除元素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D04FC05-F7A5-1A0B-80CE-46E48A4512AC}"/>
              </a:ext>
            </a:extLst>
          </p:cNvPr>
          <p:cNvSpPr txBox="1"/>
          <p:nvPr/>
        </p:nvSpPr>
        <p:spPr>
          <a:xfrm>
            <a:off x="6678706" y="6069106"/>
            <a:ext cx="4942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Vue</a:t>
            </a:r>
            <a:r>
              <a:rPr lang="zh-CN" altLang="en-US" sz="28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是基于</a:t>
            </a:r>
            <a:r>
              <a:rPr lang="zh-CN" altLang="en-US" sz="28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数据</a:t>
            </a:r>
            <a:r>
              <a:rPr lang="zh-CN" altLang="en-US" sz="28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驱动视图展示的</a:t>
            </a:r>
          </a:p>
        </p:txBody>
      </p:sp>
    </p:spTree>
    <p:extLst>
      <p:ext uri="{BB962C8B-B14F-4D97-AF65-F5344CB8AC3E}">
        <p14:creationId xmlns:p14="http://schemas.microsoft.com/office/powerpoint/2010/main" val="269825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5" grpId="0" animBg="1"/>
      <p:bldP spid="25" grpId="0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页面交互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1348A8D-C1AB-9296-3D67-3C96D46FD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54" y="927179"/>
            <a:ext cx="5984252" cy="4239907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54242410-8B38-9128-4FB0-CB3D1E689C0B}"/>
              </a:ext>
            </a:extLst>
          </p:cNvPr>
          <p:cNvSpPr/>
          <p:nvPr/>
        </p:nvSpPr>
        <p:spPr>
          <a:xfrm>
            <a:off x="6042212" y="4831975"/>
            <a:ext cx="555811" cy="313766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2A59E07F-404D-11C5-E2EC-408C0233E47B}"/>
              </a:ext>
            </a:extLst>
          </p:cNvPr>
          <p:cNvSpPr txBox="1">
            <a:spLocks/>
          </p:cNvSpPr>
          <p:nvPr/>
        </p:nvSpPr>
        <p:spPr>
          <a:xfrm>
            <a:off x="6768354" y="1103235"/>
            <a:ext cx="5423646" cy="18047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保存：</a:t>
            </a:r>
            <a:endParaRPr lang="en-US" altLang="zh-CN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/>
              <a:t>点击保存之后，发送异步请求到服务端，提交数据。</a:t>
            </a:r>
            <a:endParaRPr lang="en-US" altLang="zh-CN" sz="140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/>
              <a:t>保存完毕之后，如果成功，关闭对话框，重新加载列表数据。</a:t>
            </a:r>
            <a:endParaRPr lang="en-US" altLang="zh-CN" sz="140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/>
              <a:t>保存完毕之后，如果失败，提示错误信息。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72567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25D3BF-C532-0766-FB89-5A811EA7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6518" y="956242"/>
            <a:ext cx="3640160" cy="4467406"/>
          </a:xfrm>
        </p:spPr>
        <p:txBody>
          <a:bodyPr/>
          <a:lstStyle/>
          <a:p>
            <a:r>
              <a:rPr lang="zh-CN" altLang="en-US"/>
              <a:t>表单校验规则：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用户名：必填，长度</a:t>
            </a:r>
            <a:r>
              <a:rPr lang="en-US" altLang="zh-CN"/>
              <a:t>2-20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姓名：必填，长度</a:t>
            </a:r>
            <a:r>
              <a:rPr lang="en-US" altLang="zh-CN"/>
              <a:t>2-10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性别：必填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手机号：必填，符合手机号规则</a:t>
            </a:r>
            <a:endParaRPr lang="en-US" altLang="zh-CN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1950FE-0037-EDCE-17BC-1470B894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表单校验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4355E7-A01A-6C5D-B4CF-0C9EC433B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96" y="1012077"/>
            <a:ext cx="7335443" cy="4411570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8911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25498</TotalTime>
  <Words>1645</Words>
  <Application>Microsoft Office PowerPoint</Application>
  <PresentationFormat>宽屏</PresentationFormat>
  <Paragraphs>177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23</vt:i4>
      </vt:variant>
    </vt:vector>
  </HeadingPairs>
  <TitlesOfParts>
    <vt:vector size="40" baseType="lpstr">
      <vt:lpstr>Alibaba PuHuiTi B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Arial</vt:lpstr>
      <vt:lpstr>Calisto MT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Web前端实战(案例)</vt:lpstr>
      <vt:lpstr>需求分析</vt:lpstr>
      <vt:lpstr>需求分析</vt:lpstr>
      <vt:lpstr>PowerPoint 演示文稿</vt:lpstr>
      <vt:lpstr>PowerPoint 演示文稿</vt:lpstr>
      <vt:lpstr>需求分析</vt:lpstr>
      <vt:lpstr>页面布局-搜索表单</vt:lpstr>
      <vt:lpstr>watch</vt:lpstr>
      <vt:lpstr>watch-侦听对象</vt:lpstr>
      <vt:lpstr>PowerPoint 演示文稿</vt:lpstr>
      <vt:lpstr>页面布局</vt:lpstr>
      <vt:lpstr>页面布局</vt:lpstr>
      <vt:lpstr>PowerPoint 演示文稿</vt:lpstr>
      <vt:lpstr>页面交互</vt:lpstr>
      <vt:lpstr>PowerPoint 演示文稿</vt:lpstr>
      <vt:lpstr>PowerPoint 演示文稿</vt:lpstr>
      <vt:lpstr>页面布局</vt:lpstr>
      <vt:lpstr>页面布局</vt:lpstr>
      <vt:lpstr>PowerPoint 演示文稿</vt:lpstr>
      <vt:lpstr>页面交互</vt:lpstr>
      <vt:lpstr>页面交互</vt:lpstr>
      <vt:lpstr>表单校验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2306</cp:revision>
  <cp:lastPrinted>2022-05-29T16:00:00Z</cp:lastPrinted>
  <dcterms:created xsi:type="dcterms:W3CDTF">2022-05-29T16:00:00Z</dcterms:created>
  <dcterms:modified xsi:type="dcterms:W3CDTF">2025-01-13T13:30:00Z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