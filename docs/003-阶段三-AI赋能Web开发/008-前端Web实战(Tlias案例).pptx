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36"/>
  </p:notesMasterIdLst>
  <p:handoutMasterIdLst>
    <p:handoutMasterId r:id="rId37"/>
  </p:handoutMasterIdLst>
  <p:sldIdLst>
    <p:sldId id="280" r:id="rId6"/>
    <p:sldId id="865" r:id="rId7"/>
    <p:sldId id="866" r:id="rId8"/>
    <p:sldId id="894" r:id="rId9"/>
    <p:sldId id="881" r:id="rId10"/>
    <p:sldId id="882" r:id="rId11"/>
    <p:sldId id="883" r:id="rId12"/>
    <p:sldId id="895" r:id="rId13"/>
    <p:sldId id="884" r:id="rId14"/>
    <p:sldId id="885" r:id="rId15"/>
    <p:sldId id="886" r:id="rId16"/>
    <p:sldId id="887" r:id="rId17"/>
    <p:sldId id="902" r:id="rId18"/>
    <p:sldId id="896" r:id="rId19"/>
    <p:sldId id="897" r:id="rId20"/>
    <p:sldId id="898" r:id="rId21"/>
    <p:sldId id="905" r:id="rId22"/>
    <p:sldId id="904" r:id="rId23"/>
    <p:sldId id="911" r:id="rId24"/>
    <p:sldId id="899" r:id="rId25"/>
    <p:sldId id="910" r:id="rId26"/>
    <p:sldId id="903" r:id="rId27"/>
    <p:sldId id="900" r:id="rId28"/>
    <p:sldId id="901" r:id="rId29"/>
    <p:sldId id="906" r:id="rId30"/>
    <p:sldId id="907" r:id="rId31"/>
    <p:sldId id="908" r:id="rId32"/>
    <p:sldId id="909" r:id="rId33"/>
    <p:sldId id="912" r:id="rId34"/>
    <p:sldId id="288" r:id="rId35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FEE"/>
    <a:srgbClr val="00B050"/>
    <a:srgbClr val="282D2C"/>
    <a:srgbClr val="3561FF"/>
    <a:srgbClr val="363C3B"/>
    <a:srgbClr val="C78FFC"/>
    <a:srgbClr val="871094"/>
    <a:srgbClr val="FFC000"/>
    <a:srgbClr val="9933FF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7" autoAdjust="0"/>
    <p:restoredTop sz="95165" autoAdjust="0"/>
  </p:normalViewPr>
  <p:slideViewPr>
    <p:cSldViewPr snapToGrid="0" showGuides="1">
      <p:cViewPr>
        <p:scale>
          <a:sx n="75" d="100"/>
          <a:sy n="75" d="100"/>
        </p:scale>
        <p:origin x="1354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01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892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nginx.org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://localhost:90/" TargetMode="Externa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前端实战</a:t>
            </a:r>
            <a:r>
              <a:rPr lang="en-US" altLang="zh-CN"/>
              <a:t>(</a:t>
            </a:r>
            <a:r>
              <a:rPr lang="zh-CN" altLang="en-US"/>
              <a:t>案例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1" y="3586894"/>
            <a:ext cx="4619812" cy="563562"/>
          </a:xfrm>
        </p:spPr>
        <p:txBody>
          <a:bodyPr/>
          <a:lstStyle/>
          <a:p>
            <a:r>
              <a:rPr lang="en-US" altLang="zh-CN" sz="2400"/>
              <a:t>Tlias</a:t>
            </a:r>
            <a:r>
              <a:rPr lang="zh-CN" altLang="en-US" sz="2400"/>
              <a:t>智能学习辅助系统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8315F4-394C-E76D-D3F9-0306EE64E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67CD64-F2CE-0475-BBC0-6BE1D7C25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35" y="842777"/>
            <a:ext cx="10445622" cy="571667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67B6932-A47D-5BEF-1979-2F3F74757BDF}"/>
              </a:ext>
            </a:extLst>
          </p:cNvPr>
          <p:cNvSpPr/>
          <p:nvPr/>
        </p:nvSpPr>
        <p:spPr>
          <a:xfrm>
            <a:off x="788434" y="842777"/>
            <a:ext cx="10445623" cy="5748640"/>
          </a:xfrm>
          <a:prstGeom prst="rect">
            <a:avLst/>
          </a:prstGeom>
          <a:solidFill>
            <a:srgbClr val="26262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F7D01E3-FF50-C0F9-19F4-A1F3C7249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128" y="1624921"/>
            <a:ext cx="5406687" cy="4390302"/>
          </a:xfrm>
          <a:prstGeom prst="rect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6722F1A-D810-0AD2-72E4-48F6F4995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03" y="842777"/>
            <a:ext cx="10509554" cy="579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8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0810306-F9B7-A7A4-AF70-9AF4D0E712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员工管理</a:t>
            </a:r>
            <a:r>
              <a:rPr lang="en-US" altLang="zh-CN"/>
              <a:t>-</a:t>
            </a:r>
            <a:r>
              <a:rPr lang="zh-CN" altLang="en-US"/>
              <a:t>修改</a:t>
            </a:r>
            <a:endParaRPr lang="en-US" altLang="zh-CN"/>
          </a:p>
          <a:p>
            <a:r>
              <a:rPr lang="zh-CN" altLang="en-US"/>
              <a:t>员工管理</a:t>
            </a:r>
            <a:r>
              <a:rPr lang="en-US" altLang="zh-CN"/>
              <a:t>-</a:t>
            </a:r>
            <a:r>
              <a:rPr lang="zh-CN" altLang="en-US"/>
              <a:t>删除</a:t>
            </a:r>
            <a:endParaRPr lang="en-US" altLang="zh-CN"/>
          </a:p>
          <a:p>
            <a:r>
              <a:rPr lang="zh-CN" altLang="en-US"/>
              <a:t>登录退出</a:t>
            </a:r>
            <a:endParaRPr lang="en-US" altLang="zh-CN"/>
          </a:p>
          <a:p>
            <a:r>
              <a:rPr lang="zh-CN" altLang="en-US"/>
              <a:t>打包部署</a:t>
            </a:r>
          </a:p>
        </p:txBody>
      </p:sp>
    </p:spTree>
    <p:extLst>
      <p:ext uri="{BB962C8B-B14F-4D97-AF65-F5344CB8AC3E}">
        <p14:creationId xmlns:p14="http://schemas.microsoft.com/office/powerpoint/2010/main" val="83645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F2A66F-2E9C-A759-8C4C-7BEA9BB87E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14164" y="2469081"/>
            <a:ext cx="4222141" cy="901700"/>
          </a:xfrm>
        </p:spPr>
        <p:txBody>
          <a:bodyPr/>
          <a:lstStyle/>
          <a:p>
            <a:r>
              <a:rPr lang="zh-CN" altLang="en-US"/>
              <a:t>员工管理</a:t>
            </a:r>
            <a:r>
              <a:rPr lang="en-US" altLang="zh-CN"/>
              <a:t>-</a:t>
            </a:r>
            <a:r>
              <a:rPr lang="zh-CN" altLang="en-US"/>
              <a:t>修改员工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C76C62-224D-BD7F-B3D6-B5E3176664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279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修改员工</a:t>
            </a:r>
          </a:p>
        </p:txBody>
      </p:sp>
      <p:sp>
        <p:nvSpPr>
          <p:cNvPr id="2" name="文本占位符 4">
            <a:extLst>
              <a:ext uri="{FF2B5EF4-FFF2-40B4-BE49-F238E27FC236}">
                <a16:creationId xmlns:a16="http://schemas.microsoft.com/office/drawing/2014/main" id="{D4494961-35B9-2683-6E4E-E0ECC24DB292}"/>
              </a:ext>
            </a:extLst>
          </p:cNvPr>
          <p:cNvSpPr txBox="1">
            <a:spLocks/>
          </p:cNvSpPr>
          <p:nvPr/>
        </p:nvSpPr>
        <p:spPr>
          <a:xfrm>
            <a:off x="6236148" y="3306894"/>
            <a:ext cx="5313679" cy="10461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/>
              <a:t>两步操作：</a:t>
            </a:r>
            <a:endParaRPr lang="en-US" altLang="zh-CN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>
                <a:latin typeface="Fira Code" panose="020B0809050000020004" pitchFamily="49" charset="0"/>
              </a:rPr>
              <a:t>点击 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“</a:t>
            </a:r>
            <a:r>
              <a:rPr lang="zh-CN" altLang="en-US" sz="1400">
                <a:latin typeface="Fira Code" panose="020B0809050000020004" pitchFamily="49" charset="0"/>
              </a:rPr>
              <a:t>编辑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” </a:t>
            </a:r>
            <a:r>
              <a:rPr lang="zh-CN" altLang="en-US" sz="1400">
                <a:latin typeface="Fira Code" panose="020B0809050000020004" pitchFamily="49" charset="0"/>
              </a:rPr>
              <a:t>按钮，执行根据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ID</a:t>
            </a:r>
            <a:r>
              <a:rPr lang="zh-CN" altLang="en-US" sz="1400">
                <a:latin typeface="Fira Code" panose="020B0809050000020004" pitchFamily="49" charset="0"/>
              </a:rPr>
              <a:t>查询员工信息，页面回显。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>
                <a:latin typeface="Fira Code" panose="020B0809050000020004" pitchFamily="49" charset="0"/>
              </a:rPr>
              <a:t>点击 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“</a:t>
            </a:r>
            <a:r>
              <a:rPr lang="zh-CN" altLang="en-US" sz="1400">
                <a:latin typeface="Fira Code" panose="020B0809050000020004" pitchFamily="49" charset="0"/>
              </a:rPr>
              <a:t>保存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” </a:t>
            </a:r>
            <a:r>
              <a:rPr lang="zh-CN" altLang="en-US" sz="1400">
                <a:latin typeface="Fira Code" panose="020B0809050000020004" pitchFamily="49" charset="0"/>
              </a:rPr>
              <a:t>按钮，执行修改操作。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823053-6F37-8B89-5F49-1B8345522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27" y="2089735"/>
            <a:ext cx="5008879" cy="406933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A2D9120-2825-EEBD-5873-18FEBEB29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27" y="1097451"/>
            <a:ext cx="8884024" cy="939129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3188A307-8EBF-F0C0-924D-9EE890ABF741}"/>
              </a:ext>
            </a:extLst>
          </p:cNvPr>
          <p:cNvSpPr/>
          <p:nvPr/>
        </p:nvSpPr>
        <p:spPr>
          <a:xfrm>
            <a:off x="8668871" y="1454956"/>
            <a:ext cx="448235" cy="224118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8" name="连接符: 曲线 7">
            <a:extLst>
              <a:ext uri="{FF2B5EF4-FFF2-40B4-BE49-F238E27FC236}">
                <a16:creationId xmlns:a16="http://schemas.microsoft.com/office/drawing/2014/main" id="{66CB3F84-777A-C6C3-6CD7-DB38B58A77F1}"/>
              </a:ext>
            </a:extLst>
          </p:cNvPr>
          <p:cNvCxnSpPr>
            <a:stCxn id="7" idx="2"/>
          </p:cNvCxnSpPr>
          <p:nvPr/>
        </p:nvCxnSpPr>
        <p:spPr>
          <a:xfrm rot="5400000">
            <a:off x="6805550" y="637831"/>
            <a:ext cx="1046197" cy="3128683"/>
          </a:xfrm>
          <a:prstGeom prst="curvedConnector2">
            <a:avLst/>
          </a:prstGeom>
          <a:ln w="1905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7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修改员工</a:t>
            </a:r>
            <a:r>
              <a:rPr lang="en-US" altLang="zh-CN"/>
              <a:t>-</a:t>
            </a:r>
            <a:r>
              <a:rPr lang="zh-CN" altLang="en-US"/>
              <a:t>查询回显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306D718-0673-907E-76A9-CCBA4F7F0288}"/>
              </a:ext>
            </a:extLst>
          </p:cNvPr>
          <p:cNvSpPr txBox="1">
            <a:spLocks/>
          </p:cNvSpPr>
          <p:nvPr/>
        </p:nvSpPr>
        <p:spPr>
          <a:xfrm>
            <a:off x="6248401" y="3146612"/>
            <a:ext cx="5241961" cy="15777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zh-CN" altLang="en-US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步骤：</a:t>
            </a:r>
            <a:endParaRPr lang="en-US" altLang="zh-CN" b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为 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编辑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 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按钮绑定事件。</a:t>
            </a:r>
            <a:endParaRPr lang="en-US" altLang="zh-CN" sz="14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发送异步请求，根据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查询员工详细信息，页面回显。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8C5FC5-CD0F-EBAF-FA7E-09FA75B59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38" y="2071806"/>
            <a:ext cx="5008879" cy="406933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1B398AA-8D3D-083D-E03D-2429C4AD0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38" y="1079522"/>
            <a:ext cx="8884024" cy="939129"/>
          </a:xfrm>
          <a:prstGeom prst="rect">
            <a:avLst/>
          </a:prstGeom>
        </p:spPr>
      </p:pic>
      <p:cxnSp>
        <p:nvCxnSpPr>
          <p:cNvPr id="7" name="连接符: 曲线 6">
            <a:extLst>
              <a:ext uri="{FF2B5EF4-FFF2-40B4-BE49-F238E27FC236}">
                <a16:creationId xmlns:a16="http://schemas.microsoft.com/office/drawing/2014/main" id="{318F03A7-AD14-1204-ECD0-60C4BF543593}"/>
              </a:ext>
            </a:extLst>
          </p:cNvPr>
          <p:cNvCxnSpPr/>
          <p:nvPr/>
        </p:nvCxnSpPr>
        <p:spPr>
          <a:xfrm rot="5400000">
            <a:off x="6751761" y="619902"/>
            <a:ext cx="1046197" cy="3128683"/>
          </a:xfrm>
          <a:prstGeom prst="curvedConnector2">
            <a:avLst/>
          </a:prstGeom>
          <a:ln w="1905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25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修改员工</a:t>
            </a:r>
            <a:r>
              <a:rPr lang="en-US" altLang="zh-CN"/>
              <a:t>-</a:t>
            </a:r>
            <a:r>
              <a:rPr lang="zh-CN" altLang="en-US"/>
              <a:t>保存数据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CBF4BDA-4825-9032-EACA-FAB9084F560D}"/>
              </a:ext>
            </a:extLst>
          </p:cNvPr>
          <p:cNvSpPr txBox="1">
            <a:spLocks/>
          </p:cNvSpPr>
          <p:nvPr/>
        </p:nvSpPr>
        <p:spPr>
          <a:xfrm>
            <a:off x="5934636" y="1022298"/>
            <a:ext cx="5728447" cy="24201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zh-CN" altLang="en-US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步骤：</a:t>
            </a:r>
            <a:endParaRPr lang="en-US" altLang="zh-CN" b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点击保存按钮，执行修改数据操作。</a:t>
            </a:r>
            <a:endParaRPr lang="en-US" altLang="zh-CN" sz="14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备注：添加员工 与 修改员工使用的是同一个表单，需要根据</a:t>
            </a:r>
            <a:r>
              <a:rPr lang="en-US" altLang="zh-CN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判断到底执行新增还是修改。</a:t>
            </a:r>
            <a:endParaRPr lang="en-US" altLang="zh-CN" sz="140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9BB443-0E05-345E-D544-C4059F472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16" y="1004369"/>
            <a:ext cx="5008879" cy="406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48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0810306-F9B7-A7A4-AF70-9AF4D0E712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员工管理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-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修改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员工管理</a:t>
            </a:r>
            <a:r>
              <a:rPr lang="en-US" altLang="zh-CN">
                <a:solidFill>
                  <a:srgbClr val="C00000"/>
                </a:solidFill>
              </a:rPr>
              <a:t>-</a:t>
            </a:r>
            <a:r>
              <a:rPr lang="zh-CN" altLang="en-US">
                <a:solidFill>
                  <a:srgbClr val="C00000"/>
                </a:solidFill>
              </a:rPr>
              <a:t>删除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登录退出</a:t>
            </a:r>
            <a:endParaRPr lang="en-US" altLang="zh-CN"/>
          </a:p>
          <a:p>
            <a:r>
              <a:rPr lang="zh-CN" altLang="en-US"/>
              <a:t>打包部署</a:t>
            </a:r>
          </a:p>
        </p:txBody>
      </p:sp>
    </p:spTree>
    <p:extLst>
      <p:ext uri="{BB962C8B-B14F-4D97-AF65-F5344CB8AC3E}">
        <p14:creationId xmlns:p14="http://schemas.microsoft.com/office/powerpoint/2010/main" val="1932259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EDF9267-3A55-9BE7-29D0-25D16EEE40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14165" y="2469081"/>
            <a:ext cx="4078706" cy="901700"/>
          </a:xfrm>
        </p:spPr>
        <p:txBody>
          <a:bodyPr/>
          <a:lstStyle/>
          <a:p>
            <a:r>
              <a:rPr lang="zh-CN" altLang="en-US"/>
              <a:t>员工管理</a:t>
            </a:r>
            <a:r>
              <a:rPr lang="en-US" altLang="zh-CN"/>
              <a:t>-</a:t>
            </a:r>
            <a:r>
              <a:rPr lang="zh-CN" altLang="en-US"/>
              <a:t>删除员工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8E72F3-7AD4-F78A-139F-BD8C7B78FB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826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删除员工</a:t>
            </a:r>
          </a:p>
        </p:txBody>
      </p:sp>
      <p:sp>
        <p:nvSpPr>
          <p:cNvPr id="2" name="文本占位符 4">
            <a:extLst>
              <a:ext uri="{FF2B5EF4-FFF2-40B4-BE49-F238E27FC236}">
                <a16:creationId xmlns:a16="http://schemas.microsoft.com/office/drawing/2014/main" id="{839AEEAF-098C-01BF-018E-5C08D52BF15E}"/>
              </a:ext>
            </a:extLst>
          </p:cNvPr>
          <p:cNvSpPr txBox="1">
            <a:spLocks/>
          </p:cNvSpPr>
          <p:nvPr/>
        </p:nvSpPr>
        <p:spPr>
          <a:xfrm>
            <a:off x="729801" y="3674843"/>
            <a:ext cx="10593892" cy="17041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在删除员工信息时，有两个操作入口：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1400">
                <a:latin typeface="Fira Code" panose="020B0809050000020004" pitchFamily="49" charset="0"/>
              </a:rPr>
              <a:t>点击每条记录之后的“删除”按钮，删除当前这条记录；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1400">
                <a:latin typeface="Fira Code" panose="020B0809050000020004" pitchFamily="49" charset="0"/>
              </a:rPr>
              <a:t>选择前面的复选框，选中要删除的员工，点击“批量删除”之后，会批量删除员工信息；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1DACB3-97BE-2325-96AD-34EA38EFC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4" y="956429"/>
            <a:ext cx="9437167" cy="1881731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50C013DA-E2CE-65FB-A778-476B46CE2837}"/>
              </a:ext>
            </a:extLst>
          </p:cNvPr>
          <p:cNvSpPr/>
          <p:nvPr/>
        </p:nvSpPr>
        <p:spPr>
          <a:xfrm>
            <a:off x="9362813" y="1837764"/>
            <a:ext cx="412377" cy="268941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6F4ABF6-C9C1-CD63-EC34-659D6E43C499}"/>
              </a:ext>
            </a:extLst>
          </p:cNvPr>
          <p:cNvSpPr/>
          <p:nvPr/>
        </p:nvSpPr>
        <p:spPr>
          <a:xfrm>
            <a:off x="1886250" y="1021975"/>
            <a:ext cx="950258" cy="331695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9A5E593-FEAD-22C6-C34D-60AEE3ED9FC9}"/>
              </a:ext>
            </a:extLst>
          </p:cNvPr>
          <p:cNvCxnSpPr/>
          <p:nvPr/>
        </p:nvCxnSpPr>
        <p:spPr>
          <a:xfrm flipV="1">
            <a:off x="1187001" y="1425388"/>
            <a:ext cx="896471" cy="609600"/>
          </a:xfrm>
          <a:prstGeom prst="straightConnector1">
            <a:avLst/>
          </a:prstGeom>
          <a:ln w="1905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416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删除员工</a:t>
            </a:r>
            <a:r>
              <a:rPr lang="en-US" altLang="zh-CN"/>
              <a:t>-</a:t>
            </a:r>
            <a:r>
              <a:rPr lang="zh-CN" altLang="en-US"/>
              <a:t>删除单个</a:t>
            </a:r>
          </a:p>
        </p:txBody>
      </p:sp>
      <p:sp>
        <p:nvSpPr>
          <p:cNvPr id="2" name="文本占位符 4">
            <a:extLst>
              <a:ext uri="{FF2B5EF4-FFF2-40B4-BE49-F238E27FC236}">
                <a16:creationId xmlns:a16="http://schemas.microsoft.com/office/drawing/2014/main" id="{B1CACC5A-2843-8AE9-3402-265C14AC1E9D}"/>
              </a:ext>
            </a:extLst>
          </p:cNvPr>
          <p:cNvSpPr txBox="1">
            <a:spLocks/>
          </p:cNvSpPr>
          <p:nvPr/>
        </p:nvSpPr>
        <p:spPr>
          <a:xfrm>
            <a:off x="576196" y="3312290"/>
            <a:ext cx="10593892" cy="16093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>
                <a:latin typeface="Fira Code" panose="020B0809050000020004" pitchFamily="49" charset="0"/>
              </a:rPr>
              <a:t>步骤：</a:t>
            </a:r>
            <a:endParaRPr lang="en-US" altLang="zh-CN" b="1">
              <a:latin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latin typeface="Fira Code" panose="020B0809050000020004" pitchFamily="49" charset="0"/>
              </a:rPr>
              <a:t>为 </a:t>
            </a:r>
            <a:r>
              <a:rPr lang="en-US" altLang="zh-CN" sz="1400">
                <a:latin typeface="Fira Code" panose="020B0809050000020004" pitchFamily="49" charset="0"/>
              </a:rPr>
              <a:t>"</a:t>
            </a:r>
            <a:r>
              <a:rPr lang="zh-CN" altLang="en-US" sz="1400">
                <a:latin typeface="Fira Code" panose="020B0809050000020004" pitchFamily="49" charset="0"/>
              </a:rPr>
              <a:t>删除</a:t>
            </a:r>
            <a:r>
              <a:rPr lang="en-US" altLang="zh-CN" sz="1400">
                <a:latin typeface="Fira Code" panose="020B0809050000020004" pitchFamily="49" charset="0"/>
              </a:rPr>
              <a:t>" </a:t>
            </a:r>
            <a:r>
              <a:rPr lang="zh-CN" altLang="en-US" sz="1400">
                <a:latin typeface="Fira Code" panose="020B0809050000020004" pitchFamily="49" charset="0"/>
              </a:rPr>
              <a:t>按钮绑定事件，触发事件，调用函数</a:t>
            </a:r>
            <a:endParaRPr lang="en-US" altLang="zh-CN" sz="1400">
              <a:latin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latin typeface="Fira Code" panose="020B0809050000020004" pitchFamily="49" charset="0"/>
              </a:rPr>
              <a:t>发送异步请求到服务端，根据</a:t>
            </a:r>
            <a:r>
              <a:rPr lang="en-US" altLang="zh-CN" sz="1400">
                <a:latin typeface="Fira Code" panose="020B0809050000020004" pitchFamily="49" charset="0"/>
              </a:rPr>
              <a:t>id</a:t>
            </a:r>
            <a:r>
              <a:rPr lang="zh-CN" altLang="en-US" sz="1400">
                <a:latin typeface="Fira Code" panose="020B0809050000020004" pitchFamily="49" charset="0"/>
              </a:rPr>
              <a:t>删除员工信息</a:t>
            </a:r>
            <a:endParaRPr lang="en-US" altLang="zh-CN" sz="1400">
              <a:latin typeface="Fira Code" panose="020B08090500000200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C0AF83-952B-5AC1-E2EE-7FC2F51E1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4" y="956429"/>
            <a:ext cx="9437167" cy="188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938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D6496F4-40B3-B71F-E348-22BFEE2FC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4" y="956429"/>
            <a:ext cx="9437167" cy="1881731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删除员工</a:t>
            </a:r>
            <a:r>
              <a:rPr lang="en-US" altLang="zh-CN"/>
              <a:t>-</a:t>
            </a:r>
            <a:r>
              <a:rPr lang="zh-CN" altLang="en-US"/>
              <a:t>批量删除</a:t>
            </a:r>
          </a:p>
        </p:txBody>
      </p:sp>
      <p:sp>
        <p:nvSpPr>
          <p:cNvPr id="7" name="文本占位符 4">
            <a:extLst>
              <a:ext uri="{FF2B5EF4-FFF2-40B4-BE49-F238E27FC236}">
                <a16:creationId xmlns:a16="http://schemas.microsoft.com/office/drawing/2014/main" id="{5CBD5AF1-DDE9-372B-7A67-6726A3AD1CCE}"/>
              </a:ext>
            </a:extLst>
          </p:cNvPr>
          <p:cNvSpPr txBox="1">
            <a:spLocks/>
          </p:cNvSpPr>
          <p:nvPr/>
        </p:nvSpPr>
        <p:spPr>
          <a:xfrm>
            <a:off x="729801" y="3921230"/>
            <a:ext cx="10593892" cy="16279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>
                <a:latin typeface="Fira Code" panose="020B0809050000020004" pitchFamily="49" charset="0"/>
              </a:rPr>
              <a:t>步骤：</a:t>
            </a:r>
            <a:endParaRPr lang="en-US" altLang="zh-CN" b="1">
              <a:latin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latin typeface="Fira Code" panose="020B0809050000020004" pitchFamily="49" charset="0"/>
              </a:rPr>
              <a:t>为表格的复选框绑定事件，点击复选框之后，获取到目前选中的条件的</a:t>
            </a:r>
            <a:r>
              <a:rPr lang="en-US" altLang="zh-CN" sz="1400">
                <a:latin typeface="Fira Code" panose="020B0809050000020004" pitchFamily="49" charset="0"/>
              </a:rPr>
              <a:t>id</a:t>
            </a:r>
            <a:r>
              <a:rPr lang="zh-CN" altLang="en-US" sz="1400">
                <a:latin typeface="Fira Code" panose="020B0809050000020004" pitchFamily="49" charset="0"/>
              </a:rPr>
              <a:t>（多个</a:t>
            </a:r>
            <a:r>
              <a:rPr lang="en-US" altLang="zh-CN" sz="1400">
                <a:latin typeface="Fira Code" panose="020B0809050000020004" pitchFamily="49" charset="0"/>
              </a:rPr>
              <a:t>id</a:t>
            </a:r>
            <a:r>
              <a:rPr lang="zh-CN" altLang="en-US" sz="1400">
                <a:latin typeface="Fira Code" panose="020B0809050000020004" pitchFamily="49" charset="0"/>
              </a:rPr>
              <a:t>可以封装到数组中）。</a:t>
            </a:r>
            <a:endParaRPr lang="en-US" altLang="zh-CN" sz="1400">
              <a:latin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latin typeface="Fira Code" panose="020B0809050000020004" pitchFamily="49" charset="0"/>
              </a:rPr>
              <a:t>为 </a:t>
            </a:r>
            <a:r>
              <a:rPr lang="en-US" altLang="zh-CN" sz="1400">
                <a:latin typeface="Fira Code" panose="020B0809050000020004" pitchFamily="49" charset="0"/>
              </a:rPr>
              <a:t>"</a:t>
            </a:r>
            <a:r>
              <a:rPr lang="zh-CN" altLang="en-US" sz="1400">
                <a:latin typeface="Fira Code" panose="020B0809050000020004" pitchFamily="49" charset="0"/>
              </a:rPr>
              <a:t>批量删除</a:t>
            </a:r>
            <a:r>
              <a:rPr lang="en-US" altLang="zh-CN" sz="1400">
                <a:latin typeface="Fira Code" panose="020B0809050000020004" pitchFamily="49" charset="0"/>
              </a:rPr>
              <a:t>" </a:t>
            </a:r>
            <a:r>
              <a:rPr lang="zh-CN" altLang="en-US" sz="1400">
                <a:latin typeface="Fira Code" panose="020B0809050000020004" pitchFamily="49" charset="0"/>
              </a:rPr>
              <a:t>按钮绑定事件</a:t>
            </a:r>
            <a:r>
              <a:rPr lang="en-US" altLang="zh-CN" sz="1400">
                <a:latin typeface="Fira Code" panose="020B0809050000020004" pitchFamily="49" charset="0"/>
              </a:rPr>
              <a:t>,</a:t>
            </a:r>
            <a:r>
              <a:rPr lang="zh-CN" altLang="en-US" sz="1400">
                <a:latin typeface="Fira Code" panose="020B0809050000020004" pitchFamily="49" charset="0"/>
              </a:rPr>
              <a:t> 发送异步请求到服务端，根据</a:t>
            </a:r>
            <a:r>
              <a:rPr lang="en-US" altLang="zh-CN" sz="1400">
                <a:latin typeface="Fira Code" panose="020B0809050000020004" pitchFamily="49" charset="0"/>
              </a:rPr>
              <a:t>id</a:t>
            </a:r>
            <a:r>
              <a:rPr lang="zh-CN" altLang="en-US" sz="1400">
                <a:latin typeface="Fira Code" panose="020B0809050000020004" pitchFamily="49" charset="0"/>
              </a:rPr>
              <a:t>批量删除员工信息。</a:t>
            </a:r>
            <a:endParaRPr lang="en-US" altLang="zh-CN" sz="1400">
              <a:latin typeface="Fira Code" panose="020B0809050000020004" pitchFamily="49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4B3594B-9EA6-A3B0-FCE9-10306E8130FA}"/>
              </a:ext>
            </a:extLst>
          </p:cNvPr>
          <p:cNvSpPr/>
          <p:nvPr/>
        </p:nvSpPr>
        <p:spPr>
          <a:xfrm>
            <a:off x="1885045" y="1013012"/>
            <a:ext cx="950258" cy="331695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15301BB-D80A-E88F-E63D-A6FCB8E445F6}"/>
              </a:ext>
            </a:extLst>
          </p:cNvPr>
          <p:cNvCxnSpPr/>
          <p:nvPr/>
        </p:nvCxnSpPr>
        <p:spPr>
          <a:xfrm flipV="1">
            <a:off x="1185796" y="1416425"/>
            <a:ext cx="896471" cy="6096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133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0810306-F9B7-A7A4-AF70-9AF4D0E712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员工管理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-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修改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员工管理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-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删除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登录退出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打包部署</a:t>
            </a:r>
          </a:p>
        </p:txBody>
      </p:sp>
    </p:spTree>
    <p:extLst>
      <p:ext uri="{BB962C8B-B14F-4D97-AF65-F5344CB8AC3E}">
        <p14:creationId xmlns:p14="http://schemas.microsoft.com/office/powerpoint/2010/main" val="1929745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0943BC-2DED-606C-9311-E4F00D3172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登录退出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5BF2802-059F-7773-AC71-604439ACF2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8"/>
            <a:ext cx="3692525" cy="1207902"/>
          </a:xfrm>
        </p:spPr>
        <p:txBody>
          <a:bodyPr/>
          <a:lstStyle/>
          <a:p>
            <a:r>
              <a:rPr lang="zh-CN" altLang="en-US"/>
              <a:t>登录</a:t>
            </a:r>
            <a:endParaRPr lang="en-US" altLang="zh-CN"/>
          </a:p>
          <a:p>
            <a:r>
              <a:rPr lang="zh-CN" altLang="en-US"/>
              <a:t>退出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FB2EFC-DEE7-D099-2333-A441F4F928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691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登录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DB2C591-2225-0212-58F7-6E02E96CE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92" y="1046065"/>
            <a:ext cx="7841532" cy="3923457"/>
          </a:xfrm>
          <a:prstGeom prst="roundRect">
            <a:avLst>
              <a:gd name="adj" fmla="val 1272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5" name="文本占位符 7">
            <a:extLst>
              <a:ext uri="{FF2B5EF4-FFF2-40B4-BE49-F238E27FC236}">
                <a16:creationId xmlns:a16="http://schemas.microsoft.com/office/drawing/2014/main" id="{2C83945A-1657-F2FA-8A21-4122D8DA6D8D}"/>
              </a:ext>
            </a:extLst>
          </p:cNvPr>
          <p:cNvSpPr txBox="1">
            <a:spLocks/>
          </p:cNvSpPr>
          <p:nvPr/>
        </p:nvSpPr>
        <p:spPr>
          <a:xfrm>
            <a:off x="737692" y="5204773"/>
            <a:ext cx="9437249" cy="1442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b="1">
                <a:latin typeface="Fira Code" panose="020B0809050000020004" pitchFamily="49" charset="0"/>
              </a:rPr>
              <a:t> 步骤：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>
                <a:latin typeface="Fira Code" panose="020B0809050000020004" pitchFamily="49" charset="0"/>
              </a:rPr>
              <a:t>为 </a:t>
            </a:r>
            <a:r>
              <a:rPr lang="en-US" altLang="zh-CN" sz="1400">
                <a:latin typeface="Fira Code" panose="020B0809050000020004" pitchFamily="49" charset="0"/>
              </a:rPr>
              <a:t>"</a:t>
            </a:r>
            <a:r>
              <a:rPr lang="zh-CN" altLang="en-US" sz="1400">
                <a:latin typeface="Fira Code" panose="020B0809050000020004" pitchFamily="49" charset="0"/>
              </a:rPr>
              <a:t>登录</a:t>
            </a:r>
            <a:r>
              <a:rPr lang="en-US" altLang="zh-CN" sz="1400">
                <a:latin typeface="Fira Code" panose="020B0809050000020004" pitchFamily="49" charset="0"/>
              </a:rPr>
              <a:t>" </a:t>
            </a:r>
            <a:r>
              <a:rPr lang="zh-CN" altLang="en-US" sz="1400">
                <a:latin typeface="Fira Code" panose="020B0809050000020004" pitchFamily="49" charset="0"/>
              </a:rPr>
              <a:t>按钮绑定事件，点击登录按钮发送异步请求到服务端，执行登录操作。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>
                <a:latin typeface="Fira Code" panose="020B0809050000020004" pitchFamily="49" charset="0"/>
              </a:rPr>
              <a:t>为 </a:t>
            </a:r>
            <a:r>
              <a:rPr lang="en-US" altLang="zh-CN" sz="1400">
                <a:latin typeface="Fira Code" panose="020B0809050000020004" pitchFamily="49" charset="0"/>
              </a:rPr>
              <a:t>"</a:t>
            </a:r>
            <a:r>
              <a:rPr lang="zh-CN" altLang="en-US" sz="1400">
                <a:latin typeface="Fira Code" panose="020B0809050000020004" pitchFamily="49" charset="0"/>
              </a:rPr>
              <a:t>取消</a:t>
            </a:r>
            <a:r>
              <a:rPr lang="en-US" altLang="zh-CN" sz="1400">
                <a:latin typeface="Fira Code" panose="020B0809050000020004" pitchFamily="49" charset="0"/>
              </a:rPr>
              <a:t>" </a:t>
            </a:r>
            <a:r>
              <a:rPr lang="zh-CN" altLang="en-US" sz="1400">
                <a:latin typeface="Fira Code" panose="020B0809050000020004" pitchFamily="49" charset="0"/>
              </a:rPr>
              <a:t>按钮绑定事件，点击取消按钮，清空登录表单数据。</a:t>
            </a:r>
          </a:p>
        </p:txBody>
      </p:sp>
    </p:spTree>
    <p:extLst>
      <p:ext uri="{BB962C8B-B14F-4D97-AF65-F5344CB8AC3E}">
        <p14:creationId xmlns:p14="http://schemas.microsoft.com/office/powerpoint/2010/main" val="1372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25D3BF-C532-0766-FB89-5A811EA70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91738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>
                <a:latin typeface="Fira Code" panose="020B0809050000020004" pitchFamily="49" charset="0"/>
              </a:rPr>
              <a:t>问题：目前执行登录操作，登录成功之后，并没有将令牌信息起来，在后续的每次操作中，也就拿不到登录时的令牌信息了。</a:t>
            </a:r>
            <a:endParaRPr lang="en-US" altLang="zh-CN" sz="1400">
              <a:latin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>
                <a:latin typeface="Fira Code" panose="020B0809050000020004" pitchFamily="49" charset="0"/>
              </a:rPr>
              <a:t>方案：需要在登录成功后，将令牌等信息存储起来。 在后续的请求中，再将令牌取出来，携带到服务端。</a:t>
            </a:r>
            <a:endParaRPr lang="en-US" altLang="zh-CN" sz="1400">
              <a:latin typeface="Fira Code" panose="020B08090500000200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登录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DD7571B-B05E-3F88-F063-5C952F3E50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643" t="20171" b="9860"/>
          <a:stretch/>
        </p:blipFill>
        <p:spPr>
          <a:xfrm>
            <a:off x="2487448" y="2241177"/>
            <a:ext cx="2458543" cy="1856676"/>
          </a:xfrm>
          <a:prstGeom prst="roundRect">
            <a:avLst>
              <a:gd name="adj" fmla="val 1272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74D8221-7A04-9ED2-4775-34549E4EE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448" y="4257506"/>
            <a:ext cx="2458543" cy="1358246"/>
          </a:xfrm>
          <a:prstGeom prst="roundRect">
            <a:avLst>
              <a:gd name="adj" fmla="val 1272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ABE7330-E9AC-CC5C-E4FB-58E6D23AA58F}"/>
              </a:ext>
            </a:extLst>
          </p:cNvPr>
          <p:cNvSpPr txBox="1"/>
          <p:nvPr/>
        </p:nvSpPr>
        <p:spPr>
          <a:xfrm>
            <a:off x="977290" y="3032550"/>
            <a:ext cx="1456368" cy="261610"/>
          </a:xfrm>
          <a:prstGeom prst="rect">
            <a:avLst/>
          </a:prstGeom>
          <a:solidFill>
            <a:srgbClr val="41B883"/>
          </a:solidFill>
        </p:spPr>
        <p:txBody>
          <a:bodyPr wrap="squar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/login/index.vue</a:t>
            </a:r>
            <a:endParaRPr lang="zh-CN" altLang="en-US" sz="1100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38F787-4221-296F-E489-0A0C06816F48}"/>
              </a:ext>
            </a:extLst>
          </p:cNvPr>
          <p:cNvSpPr txBox="1"/>
          <p:nvPr/>
        </p:nvSpPr>
        <p:spPr>
          <a:xfrm>
            <a:off x="977290" y="4717437"/>
            <a:ext cx="1456368" cy="261610"/>
          </a:xfrm>
          <a:prstGeom prst="rect">
            <a:avLst/>
          </a:prstGeom>
          <a:solidFill>
            <a:srgbClr val="41B883"/>
          </a:solidFill>
        </p:spPr>
        <p:txBody>
          <a:bodyPr wrap="squar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/dept/index.vue</a:t>
            </a:r>
            <a:endParaRPr lang="zh-CN" altLang="en-US" sz="1100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8" name="圆柱体 7">
            <a:extLst>
              <a:ext uri="{FF2B5EF4-FFF2-40B4-BE49-F238E27FC236}">
                <a16:creationId xmlns:a16="http://schemas.microsoft.com/office/drawing/2014/main" id="{63BAB0CD-EE0D-58DB-5D31-889070331B5F}"/>
              </a:ext>
            </a:extLst>
          </p:cNvPr>
          <p:cNvSpPr/>
          <p:nvPr/>
        </p:nvSpPr>
        <p:spPr>
          <a:xfrm>
            <a:off x="5727757" y="3639896"/>
            <a:ext cx="1010483" cy="968189"/>
          </a:xfrm>
          <a:prstGeom prst="can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sz="105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870996E-2501-145E-2E3B-C3B1A4F32886}"/>
              </a:ext>
            </a:extLst>
          </p:cNvPr>
          <p:cNvSpPr/>
          <p:nvPr/>
        </p:nvSpPr>
        <p:spPr>
          <a:xfrm>
            <a:off x="2850776" y="3587678"/>
            <a:ext cx="762000" cy="301434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B379F2B-8EA9-2C9B-3721-A038A2ACBBA2}"/>
              </a:ext>
            </a:extLst>
          </p:cNvPr>
          <p:cNvSpPr/>
          <p:nvPr/>
        </p:nvSpPr>
        <p:spPr>
          <a:xfrm>
            <a:off x="3971364" y="5210950"/>
            <a:ext cx="762000" cy="301434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58B18EFF-EE5F-1823-9F7C-D76683305D66}"/>
              </a:ext>
            </a:extLst>
          </p:cNvPr>
          <p:cNvCxnSpPr>
            <a:cxnSpLocks/>
            <a:stCxn id="9" idx="0"/>
            <a:endCxn id="8" idx="1"/>
          </p:cNvCxnSpPr>
          <p:nvPr/>
        </p:nvCxnSpPr>
        <p:spPr>
          <a:xfrm rot="16200000" flipH="1">
            <a:off x="4706278" y="2113176"/>
            <a:ext cx="52218" cy="3001223"/>
          </a:xfrm>
          <a:prstGeom prst="curvedConnector3">
            <a:avLst>
              <a:gd name="adj1" fmla="val -437780"/>
            </a:avLst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26856634-3B59-0052-3EA1-0DC2B45BD25D}"/>
              </a:ext>
            </a:extLst>
          </p:cNvPr>
          <p:cNvCxnSpPr>
            <a:cxnSpLocks/>
            <a:stCxn id="8" idx="3"/>
            <a:endCxn id="10" idx="3"/>
          </p:cNvCxnSpPr>
          <p:nvPr/>
        </p:nvCxnSpPr>
        <p:spPr>
          <a:xfrm rot="5400000">
            <a:off x="5106391" y="4235059"/>
            <a:ext cx="753582" cy="1499635"/>
          </a:xfrm>
          <a:prstGeom prst="curvedConnector2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内容占位符 3">
            <a:extLst>
              <a:ext uri="{FF2B5EF4-FFF2-40B4-BE49-F238E27FC236}">
                <a16:creationId xmlns:a16="http://schemas.microsoft.com/office/drawing/2014/main" id="{573F0205-53DF-8D25-57C4-09A25EFBE68B}"/>
              </a:ext>
            </a:extLst>
          </p:cNvPr>
          <p:cNvSpPr txBox="1">
            <a:spLocks/>
          </p:cNvSpPr>
          <p:nvPr/>
        </p:nvSpPr>
        <p:spPr>
          <a:xfrm>
            <a:off x="6893859" y="2492188"/>
            <a:ext cx="5136776" cy="382053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>
                <a:latin typeface="Fira Code" panose="020B0809050000020004" pitchFamily="49" charset="0"/>
              </a:rPr>
              <a:t>localStorage</a:t>
            </a:r>
            <a:r>
              <a:rPr lang="zh-CN" altLang="en-US" sz="1400">
                <a:latin typeface="Fira Code" panose="020B0809050000020004" pitchFamily="49" charset="0"/>
              </a:rPr>
              <a:t>是浏览器提供的本地存储机制 </a:t>
            </a:r>
            <a:r>
              <a:rPr lang="en-US" altLang="zh-CN" sz="1400">
                <a:latin typeface="Fira Code" panose="020B0809050000020004" pitchFamily="49" charset="0"/>
              </a:rPr>
              <a:t>(5MB)</a:t>
            </a:r>
            <a:r>
              <a:rPr lang="zh-CN" altLang="en-US" sz="1400">
                <a:latin typeface="Fira Code" panose="020B0809050000020004" pitchFamily="49" charset="0"/>
              </a:rPr>
              <a:t>。</a:t>
            </a:r>
            <a:endParaRPr lang="en-US" altLang="zh-CN" sz="1400">
              <a:latin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>
                <a:latin typeface="Fira Code" panose="020B0809050000020004" pitchFamily="49" charset="0"/>
              </a:rPr>
              <a:t>存储形式为</a:t>
            </a:r>
            <a:r>
              <a:rPr lang="en-US" altLang="zh-CN" sz="1400">
                <a:latin typeface="Fira Code" panose="020B0809050000020004" pitchFamily="49" charset="0"/>
              </a:rPr>
              <a:t>key-value</a:t>
            </a:r>
            <a:r>
              <a:rPr lang="zh-CN" altLang="en-US" sz="1400">
                <a:latin typeface="Fira Code" panose="020B0809050000020004" pitchFamily="49" charset="0"/>
              </a:rPr>
              <a:t>形式，键和值都是字符串类型。</a:t>
            </a:r>
            <a:endParaRPr lang="en-US" altLang="zh-CN" sz="1400">
              <a:latin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>
                <a:latin typeface="Fira Code" panose="020B0809050000020004" pitchFamily="49" charset="0"/>
              </a:rPr>
              <a:t>API</a:t>
            </a:r>
            <a:r>
              <a:rPr lang="zh-CN" altLang="en-US" sz="1400">
                <a:latin typeface="Fira Code" panose="020B0809050000020004" pitchFamily="49" charset="0"/>
              </a:rPr>
              <a:t>方法：</a:t>
            </a:r>
            <a:endParaRPr lang="en-US" altLang="zh-CN" sz="1400">
              <a:latin typeface="Fira Code" panose="020B0809050000020004" pitchFamily="49" charset="0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latin typeface="Fira Code" panose="020B0809050000020004" pitchFamily="49" charset="0"/>
              </a:rPr>
              <a:t>localStorage.setItem(key, value)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latin typeface="Fira Code" panose="020B0809050000020004" pitchFamily="49" charset="0"/>
              </a:rPr>
              <a:t>localStorage.getItem(key)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latin typeface="Fira Code" panose="020B0809050000020004" pitchFamily="49" charset="0"/>
              </a:rPr>
              <a:t>localStorage.removeItem(key)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latin typeface="Fira Code" panose="020B0809050000020004" pitchFamily="49" charset="0"/>
              </a:rPr>
              <a:t>localStorage.clear()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5E29C45-1101-786D-6945-EB752010BF10}"/>
              </a:ext>
            </a:extLst>
          </p:cNvPr>
          <p:cNvSpPr txBox="1"/>
          <p:nvPr/>
        </p:nvSpPr>
        <p:spPr>
          <a:xfrm>
            <a:off x="5638801" y="4073394"/>
            <a:ext cx="12550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localStorage</a:t>
            </a:r>
            <a:endParaRPr lang="zh-CN" altLang="en-US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59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8" grpId="1" animBg="1"/>
      <p:bldP spid="9" grpId="0" animBg="1"/>
      <p:bldP spid="10" grpId="0" animBg="1"/>
      <p:bldP spid="18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C31CC4-B2D9-FACB-5224-71DE4AF6A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在后续的每一次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Ajax</a:t>
            </a:r>
            <a:r>
              <a:rPr lang="zh-CN" altLang="en-US">
                <a:latin typeface="Fira Code" panose="020B0809050000020004" pitchFamily="49" charset="0"/>
              </a:rPr>
              <a:t>请求中都获取</a:t>
            </a:r>
            <a:r>
              <a:rPr lang="en-US" altLang="zh-CN">
                <a:latin typeface="Fira Code" panose="020B0809050000020004" pitchFamily="49" charset="0"/>
              </a:rPr>
              <a:t>localStorage</a:t>
            </a:r>
            <a:r>
              <a:rPr lang="zh-CN" altLang="en-US">
                <a:latin typeface="Fira Code" panose="020B0809050000020004" pitchFamily="49" charset="0"/>
              </a:rPr>
              <a:t>中的令牌，在请求头中将令牌携带到服务端。</a:t>
            </a:r>
            <a:endParaRPr lang="zh-CN" altLang="en-US">
              <a:solidFill>
                <a:srgbClr val="C00000"/>
              </a:solidFill>
              <a:latin typeface="Fira Code" panose="020B08090500000200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8FDA910-2CAB-96DD-0C3A-6911835A5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携带令牌访问服务端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4A2B13-2060-1045-EF76-A553CE5F2B37}"/>
              </a:ext>
            </a:extLst>
          </p:cNvPr>
          <p:cNvSpPr txBox="1"/>
          <p:nvPr/>
        </p:nvSpPr>
        <p:spPr>
          <a:xfrm>
            <a:off x="9410371" y="1059227"/>
            <a:ext cx="9478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</a:rPr>
              <a:t>(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繁琐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</a:rPr>
              <a:t>)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9BCAEA-9755-B0A0-A311-19597E007060}"/>
              </a:ext>
            </a:extLst>
          </p:cNvPr>
          <p:cNvSpPr txBox="1"/>
          <p:nvPr/>
        </p:nvSpPr>
        <p:spPr>
          <a:xfrm>
            <a:off x="10265359" y="1061326"/>
            <a:ext cx="1757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</a:rPr>
              <a:t>(axios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拦截器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</a:rPr>
              <a:t>)</a:t>
            </a:r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BE98DA3-5E92-B812-E55D-68890EF9CC24}"/>
              </a:ext>
            </a:extLst>
          </p:cNvPr>
          <p:cNvSpPr/>
          <p:nvPr/>
        </p:nvSpPr>
        <p:spPr>
          <a:xfrm>
            <a:off x="893132" y="2876713"/>
            <a:ext cx="3822301" cy="2718233"/>
          </a:xfrm>
          <a:prstGeom prst="roundRect">
            <a:avLst>
              <a:gd name="adj" fmla="val 359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F709AF5-86F4-9DFD-FBC6-A3265D3EEC95}"/>
              </a:ext>
            </a:extLst>
          </p:cNvPr>
          <p:cNvGrpSpPr/>
          <p:nvPr/>
        </p:nvGrpSpPr>
        <p:grpSpPr>
          <a:xfrm>
            <a:off x="8062607" y="3122156"/>
            <a:ext cx="2070846" cy="2259106"/>
            <a:chOff x="7368989" y="3429000"/>
            <a:chExt cx="2070846" cy="225910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081ECE0A-7AEF-1D38-D761-8040482B358F}"/>
                </a:ext>
              </a:extLst>
            </p:cNvPr>
            <p:cNvSpPr/>
            <p:nvPr/>
          </p:nvSpPr>
          <p:spPr>
            <a:xfrm>
              <a:off x="7368989" y="3429000"/>
              <a:ext cx="2070846" cy="2259106"/>
            </a:xfrm>
            <a:prstGeom prst="roundRect">
              <a:avLst>
                <a:gd name="adj" fmla="val 533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A456D002-F700-D61E-A40B-69894910587C}"/>
                </a:ext>
              </a:extLst>
            </p:cNvPr>
            <p:cNvSpPr/>
            <p:nvPr/>
          </p:nvSpPr>
          <p:spPr>
            <a:xfrm>
              <a:off x="7467600" y="3617258"/>
              <a:ext cx="1894009" cy="502024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27BABAD4-0D8E-DFEE-3701-C7442F2B5BCF}"/>
                </a:ext>
              </a:extLst>
            </p:cNvPr>
            <p:cNvSpPr/>
            <p:nvPr/>
          </p:nvSpPr>
          <p:spPr>
            <a:xfrm>
              <a:off x="7467600" y="4307541"/>
              <a:ext cx="1894009" cy="502024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EC30E5EF-B59E-2993-2231-73D143321950}"/>
                </a:ext>
              </a:extLst>
            </p:cNvPr>
            <p:cNvSpPr/>
            <p:nvPr/>
          </p:nvSpPr>
          <p:spPr>
            <a:xfrm>
              <a:off x="7467600" y="4998160"/>
              <a:ext cx="1894009" cy="502024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0D86ABE5-ACDC-F424-853D-E54FD0947308}"/>
                </a:ext>
              </a:extLst>
            </p:cNvPr>
            <p:cNvSpPr/>
            <p:nvPr/>
          </p:nvSpPr>
          <p:spPr>
            <a:xfrm>
              <a:off x="9201253" y="3971365"/>
              <a:ext cx="96380" cy="994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7188F1D-DA5D-1745-156B-6AE9E8AAEA24}"/>
                </a:ext>
              </a:extLst>
            </p:cNvPr>
            <p:cNvSpPr/>
            <p:nvPr/>
          </p:nvSpPr>
          <p:spPr>
            <a:xfrm>
              <a:off x="9201253" y="4649545"/>
              <a:ext cx="96380" cy="994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B99DDDF-FD6B-A7F0-F6C1-FE513A823EE6}"/>
                </a:ext>
              </a:extLst>
            </p:cNvPr>
            <p:cNvSpPr/>
            <p:nvPr/>
          </p:nvSpPr>
          <p:spPr>
            <a:xfrm>
              <a:off x="9201253" y="5349087"/>
              <a:ext cx="96380" cy="994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17C8938-740A-40F8-C1F9-F2A18ED6E0C1}"/>
              </a:ext>
            </a:extLst>
          </p:cNvPr>
          <p:cNvSpPr/>
          <p:nvPr/>
        </p:nvSpPr>
        <p:spPr>
          <a:xfrm>
            <a:off x="1030940" y="2911294"/>
            <a:ext cx="1676400" cy="389965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部门管理</a:t>
            </a:r>
            <a:r>
              <a:rPr lang="en-US" altLang="zh-CN" sz="11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1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BAA039C-5D94-1768-3889-72652B53449E}"/>
              </a:ext>
            </a:extLst>
          </p:cNvPr>
          <p:cNvSpPr/>
          <p:nvPr/>
        </p:nvSpPr>
        <p:spPr>
          <a:xfrm>
            <a:off x="1030940" y="3361809"/>
            <a:ext cx="1676400" cy="389965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部门管理</a:t>
            </a:r>
            <a:r>
              <a:rPr lang="en-US" altLang="zh-CN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新增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B58613F-96AC-B89E-60FC-56A16F7D8175}"/>
              </a:ext>
            </a:extLst>
          </p:cNvPr>
          <p:cNvSpPr/>
          <p:nvPr/>
        </p:nvSpPr>
        <p:spPr>
          <a:xfrm>
            <a:off x="1030940" y="3812324"/>
            <a:ext cx="1676400" cy="389965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部门管理</a:t>
            </a:r>
            <a:r>
              <a:rPr lang="en-US" altLang="zh-CN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修改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2F8D25B-3C23-3447-9C58-55BAC8378ABE}"/>
              </a:ext>
            </a:extLst>
          </p:cNvPr>
          <p:cNvSpPr/>
          <p:nvPr/>
        </p:nvSpPr>
        <p:spPr>
          <a:xfrm>
            <a:off x="1030940" y="4262839"/>
            <a:ext cx="1676400" cy="389965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部门管理</a:t>
            </a:r>
            <a:r>
              <a:rPr lang="en-US" altLang="zh-CN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删除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F355B03-76C2-9439-E290-C5ECA1E6B811}"/>
              </a:ext>
            </a:extLst>
          </p:cNvPr>
          <p:cNvSpPr/>
          <p:nvPr/>
        </p:nvSpPr>
        <p:spPr>
          <a:xfrm>
            <a:off x="1030940" y="4713354"/>
            <a:ext cx="1676400" cy="389965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员工管理</a:t>
            </a:r>
            <a:r>
              <a:rPr lang="en-US" altLang="zh-CN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12E8758-CEE5-B7AE-2D0B-0EFB11FE720A}"/>
              </a:ext>
            </a:extLst>
          </p:cNvPr>
          <p:cNvSpPr/>
          <p:nvPr/>
        </p:nvSpPr>
        <p:spPr>
          <a:xfrm>
            <a:off x="1030940" y="5163869"/>
            <a:ext cx="1676400" cy="389965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 . . . . .</a:t>
            </a:r>
            <a:endParaRPr lang="zh-CN" altLang="en-US" sz="1050" b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938511-98F2-F4A0-EE57-A2B2CE627DD8}"/>
              </a:ext>
            </a:extLst>
          </p:cNvPr>
          <p:cNvSpPr txBox="1"/>
          <p:nvPr/>
        </p:nvSpPr>
        <p:spPr>
          <a:xfrm>
            <a:off x="2250882" y="2979318"/>
            <a:ext cx="408766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axios</a:t>
            </a:r>
            <a:endParaRPr lang="zh-CN" altLang="en-US" sz="1050" b="1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510DDDC-5A0B-A978-B388-46CFDC3A3A0E}"/>
              </a:ext>
            </a:extLst>
          </p:cNvPr>
          <p:cNvSpPr txBox="1"/>
          <p:nvPr/>
        </p:nvSpPr>
        <p:spPr>
          <a:xfrm>
            <a:off x="2250881" y="3429833"/>
            <a:ext cx="408766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axios</a:t>
            </a:r>
            <a:endParaRPr lang="zh-CN" altLang="en-US" sz="1050" b="1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43D1AD2-5E59-A6F6-939B-D4BF93E77598}"/>
              </a:ext>
            </a:extLst>
          </p:cNvPr>
          <p:cNvSpPr txBox="1"/>
          <p:nvPr/>
        </p:nvSpPr>
        <p:spPr>
          <a:xfrm>
            <a:off x="2243621" y="3877564"/>
            <a:ext cx="408766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axios</a:t>
            </a:r>
            <a:endParaRPr lang="zh-CN" altLang="en-US" sz="1050" b="1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2BF3FF8-04C3-4A11-26C7-CE17C1D63AA2}"/>
              </a:ext>
            </a:extLst>
          </p:cNvPr>
          <p:cNvSpPr txBox="1"/>
          <p:nvPr/>
        </p:nvSpPr>
        <p:spPr>
          <a:xfrm>
            <a:off x="2236496" y="4325295"/>
            <a:ext cx="408766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axios</a:t>
            </a:r>
            <a:endParaRPr lang="zh-CN" altLang="en-US" sz="1050" b="1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2A5D232-97D3-9776-BB08-F7F6E7696F07}"/>
              </a:ext>
            </a:extLst>
          </p:cNvPr>
          <p:cNvSpPr txBox="1"/>
          <p:nvPr/>
        </p:nvSpPr>
        <p:spPr>
          <a:xfrm>
            <a:off x="2246875" y="4773026"/>
            <a:ext cx="408766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axios</a:t>
            </a:r>
            <a:endParaRPr lang="zh-CN" altLang="en-US" sz="1050" b="1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5991F60-369B-8D43-248C-3E8E21EB3B84}"/>
              </a:ext>
            </a:extLst>
          </p:cNvPr>
          <p:cNvSpPr txBox="1"/>
          <p:nvPr/>
        </p:nvSpPr>
        <p:spPr>
          <a:xfrm>
            <a:off x="2222438" y="5220757"/>
            <a:ext cx="408766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axios</a:t>
            </a:r>
            <a:endParaRPr lang="zh-CN" altLang="en-US" sz="1050" b="1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27" name="流程图: 文档 26">
            <a:extLst>
              <a:ext uri="{FF2B5EF4-FFF2-40B4-BE49-F238E27FC236}">
                <a16:creationId xmlns:a16="http://schemas.microsoft.com/office/drawing/2014/main" id="{6EE6B8B4-14E5-A08B-3C06-9B0E71B4252D}"/>
              </a:ext>
            </a:extLst>
          </p:cNvPr>
          <p:cNvSpPr/>
          <p:nvPr/>
        </p:nvSpPr>
        <p:spPr>
          <a:xfrm>
            <a:off x="3370728" y="3523588"/>
            <a:ext cx="1134568" cy="577472"/>
          </a:xfrm>
          <a:prstGeom prst="flowChartDocumen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1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request</a:t>
            </a:r>
            <a:r>
              <a:rPr lang="zh-CN" altLang="en-US" sz="1100" b="1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拦截器</a:t>
            </a:r>
          </a:p>
        </p:txBody>
      </p:sp>
      <p:sp>
        <p:nvSpPr>
          <p:cNvPr id="28" name="流程图: 文档 27">
            <a:extLst>
              <a:ext uri="{FF2B5EF4-FFF2-40B4-BE49-F238E27FC236}">
                <a16:creationId xmlns:a16="http://schemas.microsoft.com/office/drawing/2014/main" id="{3A93676D-C185-C3A2-60BE-ED795B9EABDE}"/>
              </a:ext>
            </a:extLst>
          </p:cNvPr>
          <p:cNvSpPr/>
          <p:nvPr/>
        </p:nvSpPr>
        <p:spPr>
          <a:xfrm>
            <a:off x="3370728" y="4530139"/>
            <a:ext cx="1134568" cy="577472"/>
          </a:xfrm>
          <a:prstGeom prst="flowChartDocumen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1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response</a:t>
            </a:r>
            <a:r>
              <a:rPr lang="zh-CN" altLang="en-US" sz="1100" b="1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拦截器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4BEFDA6-DEA6-34AA-D9D2-94EE0A643404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707340" y="3106277"/>
            <a:ext cx="663388" cy="588999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BDECB49-D7E4-327F-34D5-FC0CFA6EB074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2707340" y="3556792"/>
            <a:ext cx="663388" cy="171688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32500A5-1418-AC58-44A6-0BBC6AEC11C8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2707340" y="3749035"/>
            <a:ext cx="663388" cy="25827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BA688BF-2B2D-27A5-71AB-AAABC3290457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2707340" y="3812323"/>
            <a:ext cx="663388" cy="645499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6E2A6E94-6945-8C7B-BFE7-81ACD1EED35E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707340" y="3877564"/>
            <a:ext cx="663388" cy="103077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398FA35B-A391-6390-4B7D-1AC516399492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2707340" y="3946757"/>
            <a:ext cx="663388" cy="141209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FD8FAC6A-43EB-019D-0A11-D3CC80B15D8E}"/>
              </a:ext>
            </a:extLst>
          </p:cNvPr>
          <p:cNvCxnSpPr>
            <a:cxnSpLocks/>
            <a:stCxn id="28" idx="1"/>
            <a:endCxn id="15" idx="3"/>
          </p:cNvCxnSpPr>
          <p:nvPr/>
        </p:nvCxnSpPr>
        <p:spPr>
          <a:xfrm flipH="1" flipV="1">
            <a:off x="2707340" y="3106277"/>
            <a:ext cx="663388" cy="1712598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0079B6CB-EE07-35DE-3B78-B9EDEE2353D8}"/>
              </a:ext>
            </a:extLst>
          </p:cNvPr>
          <p:cNvCxnSpPr>
            <a:cxnSpLocks/>
            <a:endCxn id="16" idx="3"/>
          </p:cNvCxnSpPr>
          <p:nvPr/>
        </p:nvCxnSpPr>
        <p:spPr>
          <a:xfrm flipH="1" flipV="1">
            <a:off x="2707340" y="3556792"/>
            <a:ext cx="663388" cy="126208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550F669-6BC1-2835-D7E0-D5F902B6A64F}"/>
              </a:ext>
            </a:extLst>
          </p:cNvPr>
          <p:cNvCxnSpPr>
            <a:cxnSpLocks/>
            <a:stCxn id="28" idx="1"/>
            <a:endCxn id="17" idx="3"/>
          </p:cNvCxnSpPr>
          <p:nvPr/>
        </p:nvCxnSpPr>
        <p:spPr>
          <a:xfrm flipH="1" flipV="1">
            <a:off x="2707340" y="4007307"/>
            <a:ext cx="663388" cy="811568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EAE7CBC6-9593-6E43-473F-F62892F217AA}"/>
              </a:ext>
            </a:extLst>
          </p:cNvPr>
          <p:cNvCxnSpPr>
            <a:cxnSpLocks/>
            <a:stCxn id="28" idx="1"/>
            <a:endCxn id="18" idx="3"/>
          </p:cNvCxnSpPr>
          <p:nvPr/>
        </p:nvCxnSpPr>
        <p:spPr>
          <a:xfrm flipH="1" flipV="1">
            <a:off x="2707340" y="4457822"/>
            <a:ext cx="663388" cy="36105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828BE90E-ADD4-3239-791D-53912C1660B3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2707340" y="4807962"/>
            <a:ext cx="663388" cy="10037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6828E18-42D1-2C8E-CDA0-0621FE27F620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2707340" y="4813419"/>
            <a:ext cx="663388" cy="54543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B5CF077-A590-38AD-3B66-B80013C8A552}"/>
              </a:ext>
            </a:extLst>
          </p:cNvPr>
          <p:cNvGrpSpPr/>
          <p:nvPr/>
        </p:nvGrpSpPr>
        <p:grpSpPr>
          <a:xfrm>
            <a:off x="4715433" y="3502317"/>
            <a:ext cx="3347174" cy="261610"/>
            <a:chOff x="4966445" y="3305087"/>
            <a:chExt cx="3347174" cy="261610"/>
          </a:xfrm>
        </p:grpSpPr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1F2B560B-A0EB-E3D3-A5A8-985979ED7602}"/>
                </a:ext>
              </a:extLst>
            </p:cNvPr>
            <p:cNvCxnSpPr/>
            <p:nvPr/>
          </p:nvCxnSpPr>
          <p:spPr>
            <a:xfrm>
              <a:off x="4966445" y="3554544"/>
              <a:ext cx="3347174" cy="0"/>
            </a:xfrm>
            <a:prstGeom prst="straightConnector1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DF93EA1-5435-3A75-550C-4A8E8FAB2184}"/>
                </a:ext>
              </a:extLst>
            </p:cNvPr>
            <p:cNvSpPr txBox="1"/>
            <p:nvPr/>
          </p:nvSpPr>
          <p:spPr>
            <a:xfrm>
              <a:off x="6305526" y="3305087"/>
              <a:ext cx="47179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82DC511-48F3-FEA5-9BE3-260D82C6CA1A}"/>
              </a:ext>
            </a:extLst>
          </p:cNvPr>
          <p:cNvGrpSpPr/>
          <p:nvPr/>
        </p:nvGrpSpPr>
        <p:grpSpPr>
          <a:xfrm>
            <a:off x="4715433" y="4575526"/>
            <a:ext cx="3320280" cy="261610"/>
            <a:chOff x="4966445" y="4378296"/>
            <a:chExt cx="3320280" cy="261610"/>
          </a:xfrm>
        </p:grpSpPr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D519E32E-0ED8-E3DA-98E3-CA742401C7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45" y="4621645"/>
              <a:ext cx="3320280" cy="0"/>
            </a:xfrm>
            <a:prstGeom prst="straightConnector1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6D5BE99-BEA6-8465-C3E9-80C599D63DAF}"/>
                </a:ext>
              </a:extLst>
            </p:cNvPr>
            <p:cNvSpPr txBox="1"/>
            <p:nvPr/>
          </p:nvSpPr>
          <p:spPr>
            <a:xfrm>
              <a:off x="6305527" y="4378296"/>
              <a:ext cx="4717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10321D76-9281-4F40-2277-474955FCA3A2}"/>
              </a:ext>
            </a:extLst>
          </p:cNvPr>
          <p:cNvSpPr txBox="1"/>
          <p:nvPr/>
        </p:nvSpPr>
        <p:spPr>
          <a:xfrm>
            <a:off x="2353298" y="5776112"/>
            <a:ext cx="555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前端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4CB4DC0-D3DD-AC98-8E36-C3E393635AA3}"/>
              </a:ext>
            </a:extLst>
          </p:cNvPr>
          <p:cNvSpPr txBox="1"/>
          <p:nvPr/>
        </p:nvSpPr>
        <p:spPr>
          <a:xfrm>
            <a:off x="8780865" y="5771470"/>
            <a:ext cx="784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服务端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50" name="连接符: 曲线 49">
            <a:extLst>
              <a:ext uri="{FF2B5EF4-FFF2-40B4-BE49-F238E27FC236}">
                <a16:creationId xmlns:a16="http://schemas.microsoft.com/office/drawing/2014/main" id="{99B77D6C-C404-328D-09CC-CD4E1AE08218}"/>
              </a:ext>
            </a:extLst>
          </p:cNvPr>
          <p:cNvCxnSpPr>
            <a:cxnSpLocks/>
          </p:cNvCxnSpPr>
          <p:nvPr/>
        </p:nvCxnSpPr>
        <p:spPr>
          <a:xfrm rot="5400000">
            <a:off x="4311026" y="1378667"/>
            <a:ext cx="139803" cy="3347174"/>
          </a:xfrm>
          <a:prstGeom prst="curvedConnector2">
            <a:avLst/>
          </a:prstGeom>
          <a:ln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曲线 50">
            <a:extLst>
              <a:ext uri="{FF2B5EF4-FFF2-40B4-BE49-F238E27FC236}">
                <a16:creationId xmlns:a16="http://schemas.microsoft.com/office/drawing/2014/main" id="{76D44AEA-3222-1B5F-00B5-D009F94F082B}"/>
              </a:ext>
            </a:extLst>
          </p:cNvPr>
          <p:cNvCxnSpPr>
            <a:cxnSpLocks/>
            <a:endCxn id="16" idx="3"/>
          </p:cNvCxnSpPr>
          <p:nvPr/>
        </p:nvCxnSpPr>
        <p:spPr>
          <a:xfrm rot="5400000">
            <a:off x="4093708" y="1595985"/>
            <a:ext cx="574439" cy="3347174"/>
          </a:xfrm>
          <a:prstGeom prst="curvedConnector2">
            <a:avLst/>
          </a:prstGeom>
          <a:ln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曲线 51">
            <a:extLst>
              <a:ext uri="{FF2B5EF4-FFF2-40B4-BE49-F238E27FC236}">
                <a16:creationId xmlns:a16="http://schemas.microsoft.com/office/drawing/2014/main" id="{675B8FD5-C4F7-0E12-4823-1051829694A1}"/>
              </a:ext>
            </a:extLst>
          </p:cNvPr>
          <p:cNvCxnSpPr>
            <a:cxnSpLocks/>
            <a:endCxn id="17" idx="3"/>
          </p:cNvCxnSpPr>
          <p:nvPr/>
        </p:nvCxnSpPr>
        <p:spPr>
          <a:xfrm rot="5400000">
            <a:off x="3868450" y="1821243"/>
            <a:ext cx="1024954" cy="3347174"/>
          </a:xfrm>
          <a:prstGeom prst="curvedConnector2">
            <a:avLst/>
          </a:prstGeom>
          <a:ln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连接符: 曲线 52">
            <a:extLst>
              <a:ext uri="{FF2B5EF4-FFF2-40B4-BE49-F238E27FC236}">
                <a16:creationId xmlns:a16="http://schemas.microsoft.com/office/drawing/2014/main" id="{1FB75D84-2FDE-0562-6A55-AF49B4E1798B}"/>
              </a:ext>
            </a:extLst>
          </p:cNvPr>
          <p:cNvCxnSpPr>
            <a:cxnSpLocks/>
            <a:endCxn id="18" idx="3"/>
          </p:cNvCxnSpPr>
          <p:nvPr/>
        </p:nvCxnSpPr>
        <p:spPr>
          <a:xfrm rot="5400000">
            <a:off x="3643193" y="2046500"/>
            <a:ext cx="1475469" cy="3347174"/>
          </a:xfrm>
          <a:prstGeom prst="curvedConnector2">
            <a:avLst/>
          </a:prstGeom>
          <a:ln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曲线 53">
            <a:extLst>
              <a:ext uri="{FF2B5EF4-FFF2-40B4-BE49-F238E27FC236}">
                <a16:creationId xmlns:a16="http://schemas.microsoft.com/office/drawing/2014/main" id="{6433A38D-AFA1-9208-32A9-31A04BFC7C8C}"/>
              </a:ext>
            </a:extLst>
          </p:cNvPr>
          <p:cNvCxnSpPr>
            <a:cxnSpLocks/>
            <a:endCxn id="19" idx="3"/>
          </p:cNvCxnSpPr>
          <p:nvPr/>
        </p:nvCxnSpPr>
        <p:spPr>
          <a:xfrm rot="5400000">
            <a:off x="3417935" y="2271758"/>
            <a:ext cx="1925984" cy="3347174"/>
          </a:xfrm>
          <a:prstGeom prst="curvedConnector2">
            <a:avLst/>
          </a:prstGeom>
          <a:ln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7C08440A-989B-CC92-09D8-D43DE1AAA756}"/>
              </a:ext>
            </a:extLst>
          </p:cNvPr>
          <p:cNvCxnSpPr>
            <a:cxnSpLocks/>
          </p:cNvCxnSpPr>
          <p:nvPr/>
        </p:nvCxnSpPr>
        <p:spPr>
          <a:xfrm rot="5400000">
            <a:off x="3181473" y="2508220"/>
            <a:ext cx="2398909" cy="3347174"/>
          </a:xfrm>
          <a:prstGeom prst="curvedConnector2">
            <a:avLst/>
          </a:prstGeom>
          <a:ln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曲线 55">
            <a:extLst>
              <a:ext uri="{FF2B5EF4-FFF2-40B4-BE49-F238E27FC236}">
                <a16:creationId xmlns:a16="http://schemas.microsoft.com/office/drawing/2014/main" id="{9ABA1CCC-564F-1C66-CEBF-4FAA67172894}"/>
              </a:ext>
            </a:extLst>
          </p:cNvPr>
          <p:cNvCxnSpPr>
            <a:cxnSpLocks/>
            <a:endCxn id="27" idx="0"/>
          </p:cNvCxnSpPr>
          <p:nvPr/>
        </p:nvCxnSpPr>
        <p:spPr>
          <a:xfrm rot="10800000" flipV="1">
            <a:off x="3938013" y="2574058"/>
            <a:ext cx="1843449" cy="949530"/>
          </a:xfrm>
          <a:prstGeom prst="curvedConnector2">
            <a:avLst/>
          </a:prstGeom>
          <a:ln w="12700"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椭圆 56">
            <a:extLst>
              <a:ext uri="{FF2B5EF4-FFF2-40B4-BE49-F238E27FC236}">
                <a16:creationId xmlns:a16="http://schemas.microsoft.com/office/drawing/2014/main" id="{8BEE28BE-C242-B5C0-3AA4-E515C06ED17B}"/>
              </a:ext>
            </a:extLst>
          </p:cNvPr>
          <p:cNvSpPr/>
          <p:nvPr/>
        </p:nvSpPr>
        <p:spPr>
          <a:xfrm>
            <a:off x="4611967" y="2555798"/>
            <a:ext cx="376518" cy="376518"/>
          </a:xfrm>
          <a:prstGeom prst="ellipse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518CEF8-5BDB-2F11-33E6-337E98427FA9}"/>
              </a:ext>
            </a:extLst>
          </p:cNvPr>
          <p:cNvSpPr txBox="1"/>
          <p:nvPr/>
        </p:nvSpPr>
        <p:spPr>
          <a:xfrm>
            <a:off x="4988485" y="340576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繁琐</a:t>
            </a:r>
            <a:endParaRPr lang="zh-CN" altLang="en-US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grpSp>
        <p:nvGrpSpPr>
          <p:cNvPr id="59" name="!!组合 2">
            <a:extLst>
              <a:ext uri="{FF2B5EF4-FFF2-40B4-BE49-F238E27FC236}">
                <a16:creationId xmlns:a16="http://schemas.microsoft.com/office/drawing/2014/main" id="{B03DF60A-4826-DE35-7CDA-88CB49081C71}"/>
              </a:ext>
            </a:extLst>
          </p:cNvPr>
          <p:cNvGrpSpPr/>
          <p:nvPr/>
        </p:nvGrpSpPr>
        <p:grpSpPr>
          <a:xfrm>
            <a:off x="6621799" y="2170727"/>
            <a:ext cx="5208366" cy="3921505"/>
            <a:chOff x="2297723" y="3660322"/>
            <a:chExt cx="5738651" cy="3782176"/>
          </a:xfrm>
        </p:grpSpPr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AAF4A283-4140-9CC7-F068-F10298F6CB16}"/>
                </a:ext>
              </a:extLst>
            </p:cNvPr>
            <p:cNvSpPr/>
            <p:nvPr/>
          </p:nvSpPr>
          <p:spPr>
            <a:xfrm>
              <a:off x="2297729" y="3660324"/>
              <a:ext cx="5738645" cy="3782174"/>
            </a:xfrm>
            <a:prstGeom prst="roundRect">
              <a:avLst>
                <a:gd name="adj" fmla="val 222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8000"/>
                  </a:solidFill>
                  <a:effectLst/>
                </a:rPr>
                <a:t>//axios</a:t>
              </a:r>
              <a:r>
                <a:rPr lang="zh-CN" altLang="en-US" sz="1100" b="0">
                  <a:solidFill>
                    <a:srgbClr val="008000"/>
                  </a:solidFill>
                  <a:effectLst/>
                </a:rPr>
                <a:t>的请求 </a:t>
              </a:r>
              <a:r>
                <a:rPr lang="en-US" altLang="zh-CN" sz="1100" b="0">
                  <a:solidFill>
                    <a:srgbClr val="008000"/>
                  </a:solidFill>
                  <a:effectLst/>
                </a:rPr>
                <a:t>request </a:t>
              </a:r>
              <a:r>
                <a:rPr lang="zh-CN" altLang="en-US" sz="1100" b="0">
                  <a:solidFill>
                    <a:srgbClr val="008000"/>
                  </a:solidFill>
                  <a:effectLst/>
                </a:rPr>
                <a:t>拦截器</a:t>
              </a:r>
              <a:r>
                <a:rPr lang="en-US" altLang="zh-CN" sz="1100" b="0">
                  <a:solidFill>
                    <a:srgbClr val="008000"/>
                  </a:solidFill>
                  <a:effectLst/>
                </a:rPr>
                <a:t>, </a:t>
              </a:r>
              <a:r>
                <a:rPr lang="zh-CN" altLang="en-US" sz="1100" b="0">
                  <a:solidFill>
                    <a:srgbClr val="008000"/>
                  </a:solidFill>
                  <a:effectLst/>
                </a:rPr>
                <a:t>在请求头中添加</a:t>
              </a:r>
              <a:r>
                <a:rPr lang="en-US" altLang="zh-CN" sz="1100" b="0">
                  <a:solidFill>
                    <a:srgbClr val="008000"/>
                  </a:solidFill>
                  <a:effectLst/>
                </a:rPr>
                <a:t>token</a:t>
              </a:r>
              <a:endParaRPr lang="en-US" altLang="zh-CN" sz="1100" b="0">
                <a:solidFill>
                  <a:srgbClr val="000000"/>
                </a:solidFill>
                <a:effectLst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70C1"/>
                  </a:solidFill>
                  <a:effectLst/>
                </a:rPr>
                <a:t>request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interceptors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request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795E26"/>
                  </a:solidFill>
                  <a:effectLst/>
                </a:rPr>
                <a:t>use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(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  (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config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) </a:t>
              </a:r>
              <a:r>
                <a:rPr lang="en-US" altLang="zh-CN" sz="1100" b="0">
                  <a:solidFill>
                    <a:srgbClr val="0000FF"/>
                  </a:solidFill>
                  <a:effectLst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{ </a:t>
              </a:r>
              <a:r>
                <a:rPr lang="en-US" altLang="zh-CN" sz="1100" b="0">
                  <a:solidFill>
                    <a:srgbClr val="008000"/>
                  </a:solidFill>
                  <a:effectLst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</a:rPr>
                <a:t>成功回调</a:t>
              </a:r>
              <a:endParaRPr lang="zh-CN" altLang="en-US" sz="1100" b="0">
                <a:solidFill>
                  <a:srgbClr val="000000"/>
                </a:solidFill>
                <a:effectLst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100" b="0">
                  <a:solidFill>
                    <a:srgbClr val="000000"/>
                  </a:solidFill>
                  <a:effectLst/>
                </a:rPr>
                <a:t>    </a:t>
              </a:r>
              <a:r>
                <a:rPr lang="en-US" altLang="zh-CN" sz="1100" b="0">
                  <a:solidFill>
                    <a:srgbClr val="008000"/>
                  </a:solidFill>
                  <a:effectLst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</a:rPr>
                <a:t>在请求头中添加</a:t>
              </a:r>
              <a:r>
                <a:rPr lang="en-US" altLang="zh-CN" sz="1100" b="0">
                  <a:solidFill>
                    <a:srgbClr val="008000"/>
                  </a:solidFill>
                  <a:effectLst/>
                </a:rPr>
                <a:t>token</a:t>
              </a:r>
              <a:endParaRPr lang="en-US" altLang="zh-CN" sz="1100" b="0">
                <a:solidFill>
                  <a:srgbClr val="000000"/>
                </a:solidFill>
                <a:effectLst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    </a:t>
              </a:r>
              <a:r>
                <a:rPr lang="en-US" altLang="zh-CN" sz="1100" b="0">
                  <a:solidFill>
                    <a:srgbClr val="0000FF"/>
                  </a:solidFill>
                  <a:effectLst/>
                </a:rPr>
                <a:t>const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</a:t>
              </a:r>
              <a:r>
                <a:rPr lang="en-US" altLang="zh-CN" sz="1100" b="0">
                  <a:solidFill>
                    <a:srgbClr val="0070C1"/>
                  </a:solidFill>
                  <a:effectLst/>
                </a:rPr>
                <a:t>data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= 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JSON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795E26"/>
                  </a:solidFill>
                  <a:effectLst/>
                </a:rPr>
                <a:t>parse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(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localStorage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795E26"/>
                  </a:solidFill>
                  <a:effectLst/>
                </a:rPr>
                <a:t>getItem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(</a:t>
              </a:r>
              <a:r>
                <a:rPr lang="en-US" altLang="zh-CN" sz="1100" b="0">
                  <a:solidFill>
                    <a:srgbClr val="A31515"/>
                  </a:solidFill>
                  <a:effectLst/>
                </a:rPr>
                <a:t>'loginUser'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))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    </a:t>
              </a:r>
              <a:r>
                <a:rPr lang="en-US" altLang="zh-CN" sz="1100" b="0">
                  <a:solidFill>
                    <a:srgbClr val="AF00DB"/>
                  </a:solidFill>
                  <a:effectLst/>
                </a:rPr>
                <a:t>if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(</a:t>
              </a:r>
              <a:r>
                <a:rPr lang="en-US" altLang="zh-CN" sz="1100" b="0">
                  <a:solidFill>
                    <a:srgbClr val="0070C1"/>
                  </a:solidFill>
                  <a:effectLst/>
                </a:rPr>
                <a:t>data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&amp;&amp; </a:t>
              </a:r>
              <a:r>
                <a:rPr lang="en-US" altLang="zh-CN" sz="1100" b="0">
                  <a:solidFill>
                    <a:srgbClr val="0070C1"/>
                  </a:solidFill>
                  <a:effectLst/>
                </a:rPr>
                <a:t>data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token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)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      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config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headers</a:t>
              </a:r>
              <a:r>
                <a:rPr lang="en-US" altLang="zh-CN" sz="1100">
                  <a:solidFill>
                    <a:srgbClr val="000000"/>
                  </a:solidFill>
                </a:rPr>
                <a:t>.</a:t>
              </a:r>
              <a:r>
                <a:rPr lang="en-US" altLang="zh-CN" sz="1100" b="0">
                  <a:solidFill>
                    <a:srgbClr val="A31515"/>
                  </a:solidFill>
                  <a:effectLst/>
                </a:rPr>
                <a:t>token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= </a:t>
              </a:r>
              <a:r>
                <a:rPr lang="en-US" altLang="zh-CN" sz="1100" b="0">
                  <a:solidFill>
                    <a:srgbClr val="0070C1"/>
                  </a:solidFill>
                  <a:effectLst/>
                </a:rPr>
                <a:t>data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token</a:t>
              </a:r>
              <a:endParaRPr lang="en-US" altLang="zh-CN" sz="1100" b="0">
                <a:solidFill>
                  <a:srgbClr val="000000"/>
                </a:solidFill>
                <a:effectLst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    }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    </a:t>
              </a:r>
              <a:r>
                <a:rPr lang="en-US" altLang="zh-CN" sz="1100" b="0">
                  <a:solidFill>
                    <a:srgbClr val="AF00DB"/>
                  </a:solidFill>
                  <a:effectLst/>
                </a:rPr>
                <a:t>return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config</a:t>
              </a:r>
              <a:endParaRPr lang="en-US" altLang="zh-CN" sz="1100" b="0">
                <a:solidFill>
                  <a:srgbClr val="000000"/>
                </a:solidFill>
                <a:effectLst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  },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  (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error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) </a:t>
              </a:r>
              <a:r>
                <a:rPr lang="en-US" altLang="zh-CN" sz="1100" b="0">
                  <a:solidFill>
                    <a:srgbClr val="0000FF"/>
                  </a:solidFill>
                  <a:effectLst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{ </a:t>
              </a:r>
              <a:r>
                <a:rPr lang="en-US" altLang="zh-CN" sz="1100" b="0">
                  <a:solidFill>
                    <a:srgbClr val="008000"/>
                  </a:solidFill>
                  <a:effectLst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</a:rPr>
                <a:t>失败回调</a:t>
              </a:r>
              <a:endParaRPr lang="zh-CN" altLang="en-US" sz="1100" b="0">
                <a:solidFill>
                  <a:srgbClr val="000000"/>
                </a:solidFill>
                <a:effectLst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100" b="0">
                  <a:solidFill>
                    <a:srgbClr val="000000"/>
                  </a:solidFill>
                  <a:effectLst/>
                </a:rPr>
                <a:t>    </a:t>
              </a:r>
              <a:r>
                <a:rPr lang="en-US" altLang="zh-CN" sz="1100" b="0">
                  <a:solidFill>
                    <a:srgbClr val="AF00DB"/>
                  </a:solidFill>
                  <a:effectLst/>
                </a:rPr>
                <a:t>return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</a:t>
              </a:r>
              <a:r>
                <a:rPr lang="en-US" altLang="zh-CN" sz="1100" b="0">
                  <a:solidFill>
                    <a:srgbClr val="267F99"/>
                  </a:solidFill>
                  <a:effectLst/>
                </a:rPr>
                <a:t>Promise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795E26"/>
                  </a:solidFill>
                  <a:effectLst/>
                </a:rPr>
                <a:t>reject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(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error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  }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)</a:t>
              </a:r>
            </a:p>
          </p:txBody>
        </p:sp>
        <p:sp>
          <p:nvSpPr>
            <p:cNvPr id="61" name="矩形: 圆顶角 60">
              <a:extLst>
                <a:ext uri="{FF2B5EF4-FFF2-40B4-BE49-F238E27FC236}">
                  <a16:creationId xmlns:a16="http://schemas.microsoft.com/office/drawing/2014/main" id="{EED401D4-47FC-F552-77F1-325CF2114E8D}"/>
                </a:ext>
              </a:extLst>
            </p:cNvPr>
            <p:cNvSpPr/>
            <p:nvPr/>
          </p:nvSpPr>
          <p:spPr>
            <a:xfrm>
              <a:off x="2297723" y="3660322"/>
              <a:ext cx="5738651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request.js</a:t>
              </a: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0261643A-AFDB-2B98-0F16-8D66C5A2C58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A7EBEF92-6444-CE93-1025-165B9F602B5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15BB5E6F-BAA1-FFCB-C85B-CEAAA26FAE5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5" name="圆柱体 64">
            <a:extLst>
              <a:ext uri="{FF2B5EF4-FFF2-40B4-BE49-F238E27FC236}">
                <a16:creationId xmlns:a16="http://schemas.microsoft.com/office/drawing/2014/main" id="{1D08ECAC-E08F-6B43-F88C-6ABE0FA3FC1F}"/>
              </a:ext>
            </a:extLst>
          </p:cNvPr>
          <p:cNvSpPr/>
          <p:nvPr/>
        </p:nvSpPr>
        <p:spPr>
          <a:xfrm>
            <a:off x="5774403" y="2370732"/>
            <a:ext cx="546106" cy="609142"/>
          </a:xfrm>
          <a:prstGeom prst="can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5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localStorage</a:t>
            </a:r>
            <a:endParaRPr lang="zh-CN" altLang="en-US" sz="105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691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/>
      <p:bldP spid="23" grpId="0"/>
      <p:bldP spid="24" grpId="0"/>
      <p:bldP spid="25" grpId="0"/>
      <p:bldP spid="26" grpId="0"/>
      <p:bldP spid="27" grpId="0" animBg="1"/>
      <p:bldP spid="28" grpId="0" animBg="1"/>
      <p:bldP spid="47" grpId="0"/>
      <p:bldP spid="48" grpId="0"/>
      <p:bldP spid="57" grpId="0" animBg="1"/>
      <p:bldP spid="58" grpId="0"/>
      <p:bldP spid="58" grpId="1"/>
      <p:bldP spid="65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842D31-A282-C645-57B2-52609E27F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目前，即使用户未登录的情况下访问服务器，服务器会响应</a:t>
            </a:r>
            <a:r>
              <a:rPr lang="en-US" altLang="zh-CN"/>
              <a:t>401</a:t>
            </a:r>
            <a:r>
              <a:rPr lang="zh-CN" altLang="en-US"/>
              <a:t>状态码，但是前端并不会跳转到登录页面。</a:t>
            </a:r>
            <a:endParaRPr lang="en-US" altLang="zh-CN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4DCF132-C898-F3C1-EBC7-5F029BFB1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功能完善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8A7E574-6F13-B2A1-9A7B-F7809DB0B79E}"/>
              </a:ext>
            </a:extLst>
          </p:cNvPr>
          <p:cNvSpPr/>
          <p:nvPr/>
        </p:nvSpPr>
        <p:spPr>
          <a:xfrm>
            <a:off x="930664" y="2715349"/>
            <a:ext cx="3822301" cy="2718233"/>
          </a:xfrm>
          <a:prstGeom prst="roundRect">
            <a:avLst>
              <a:gd name="adj" fmla="val 359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F97AE53-5B5B-018F-E06D-DBD6B5F9772C}"/>
              </a:ext>
            </a:extLst>
          </p:cNvPr>
          <p:cNvGrpSpPr/>
          <p:nvPr/>
        </p:nvGrpSpPr>
        <p:grpSpPr>
          <a:xfrm>
            <a:off x="8100139" y="2960792"/>
            <a:ext cx="2070846" cy="2259106"/>
            <a:chOff x="7368989" y="3429000"/>
            <a:chExt cx="2070846" cy="225910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90047C9A-0615-FC9A-224D-D1B26FCF016E}"/>
                </a:ext>
              </a:extLst>
            </p:cNvPr>
            <p:cNvSpPr/>
            <p:nvPr/>
          </p:nvSpPr>
          <p:spPr>
            <a:xfrm>
              <a:off x="7368989" y="3429000"/>
              <a:ext cx="2070846" cy="2259106"/>
            </a:xfrm>
            <a:prstGeom prst="roundRect">
              <a:avLst>
                <a:gd name="adj" fmla="val 533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192133EE-EAD0-DB3B-0DDF-86509714C3B8}"/>
                </a:ext>
              </a:extLst>
            </p:cNvPr>
            <p:cNvSpPr/>
            <p:nvPr/>
          </p:nvSpPr>
          <p:spPr>
            <a:xfrm>
              <a:off x="7467600" y="3617258"/>
              <a:ext cx="1894009" cy="502024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5883CCAB-F184-8FF6-A809-FF2A632BF0F6}"/>
                </a:ext>
              </a:extLst>
            </p:cNvPr>
            <p:cNvSpPr/>
            <p:nvPr/>
          </p:nvSpPr>
          <p:spPr>
            <a:xfrm>
              <a:off x="7467600" y="4307541"/>
              <a:ext cx="1894009" cy="502024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6B223C14-BBB7-8F0E-4EB3-0DD959A985C8}"/>
                </a:ext>
              </a:extLst>
            </p:cNvPr>
            <p:cNvSpPr/>
            <p:nvPr/>
          </p:nvSpPr>
          <p:spPr>
            <a:xfrm>
              <a:off x="7467600" y="4998160"/>
              <a:ext cx="1894009" cy="502024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CB62866-8178-7305-ECB9-6BEE2BFF9DB0}"/>
                </a:ext>
              </a:extLst>
            </p:cNvPr>
            <p:cNvSpPr/>
            <p:nvPr/>
          </p:nvSpPr>
          <p:spPr>
            <a:xfrm>
              <a:off x="9201253" y="3971365"/>
              <a:ext cx="96380" cy="994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EDC39C8-0753-B6F6-1AC9-BCEE6401F08D}"/>
                </a:ext>
              </a:extLst>
            </p:cNvPr>
            <p:cNvSpPr/>
            <p:nvPr/>
          </p:nvSpPr>
          <p:spPr>
            <a:xfrm>
              <a:off x="9201253" y="4649545"/>
              <a:ext cx="96380" cy="994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1E61168-D51A-5E22-DB1C-8B823DF20757}"/>
                </a:ext>
              </a:extLst>
            </p:cNvPr>
            <p:cNvSpPr/>
            <p:nvPr/>
          </p:nvSpPr>
          <p:spPr>
            <a:xfrm>
              <a:off x="9201253" y="5349087"/>
              <a:ext cx="96380" cy="994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E48DE3B-358C-4916-14BD-BD19E4A3F7AD}"/>
              </a:ext>
            </a:extLst>
          </p:cNvPr>
          <p:cNvSpPr/>
          <p:nvPr/>
        </p:nvSpPr>
        <p:spPr>
          <a:xfrm>
            <a:off x="1068472" y="2749930"/>
            <a:ext cx="1676400" cy="389965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部门管理</a:t>
            </a:r>
            <a:r>
              <a:rPr lang="en-US" altLang="zh-CN" sz="11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1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C7F333B-7A3A-C517-10F2-3AD6782BDAC9}"/>
              </a:ext>
            </a:extLst>
          </p:cNvPr>
          <p:cNvSpPr/>
          <p:nvPr/>
        </p:nvSpPr>
        <p:spPr>
          <a:xfrm>
            <a:off x="1068472" y="3200445"/>
            <a:ext cx="1676400" cy="389965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部门管理</a:t>
            </a:r>
            <a:r>
              <a:rPr lang="en-US" altLang="zh-CN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新增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C0656CF-46F1-55D4-38A0-C01A3C283B8D}"/>
              </a:ext>
            </a:extLst>
          </p:cNvPr>
          <p:cNvSpPr/>
          <p:nvPr/>
        </p:nvSpPr>
        <p:spPr>
          <a:xfrm>
            <a:off x="1068472" y="3650960"/>
            <a:ext cx="1676400" cy="389965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部门管理</a:t>
            </a:r>
            <a:r>
              <a:rPr lang="en-US" altLang="zh-CN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修改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9579450-618D-8067-373A-B2CE7039008A}"/>
              </a:ext>
            </a:extLst>
          </p:cNvPr>
          <p:cNvSpPr/>
          <p:nvPr/>
        </p:nvSpPr>
        <p:spPr>
          <a:xfrm>
            <a:off x="1068472" y="4101475"/>
            <a:ext cx="1676400" cy="389965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部门管理</a:t>
            </a:r>
            <a:r>
              <a:rPr lang="en-US" altLang="zh-CN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删除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EF6E107-23E6-6908-307A-8CEEF1B50642}"/>
              </a:ext>
            </a:extLst>
          </p:cNvPr>
          <p:cNvSpPr/>
          <p:nvPr/>
        </p:nvSpPr>
        <p:spPr>
          <a:xfrm>
            <a:off x="1068472" y="4551990"/>
            <a:ext cx="1676400" cy="389965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员工管理</a:t>
            </a:r>
            <a:r>
              <a:rPr lang="en-US" altLang="zh-CN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2DA0A30-5FCC-A0F0-2BAE-3DED56E344D0}"/>
              </a:ext>
            </a:extLst>
          </p:cNvPr>
          <p:cNvSpPr/>
          <p:nvPr/>
        </p:nvSpPr>
        <p:spPr>
          <a:xfrm>
            <a:off x="1068472" y="5002505"/>
            <a:ext cx="1676400" cy="389965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5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 . . . . .</a:t>
            </a:r>
            <a:endParaRPr lang="zh-CN" altLang="en-US" sz="1050" b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BD33A95-AAB5-3728-9A8B-C7806007B755}"/>
              </a:ext>
            </a:extLst>
          </p:cNvPr>
          <p:cNvSpPr txBox="1"/>
          <p:nvPr/>
        </p:nvSpPr>
        <p:spPr>
          <a:xfrm>
            <a:off x="2288414" y="2817954"/>
            <a:ext cx="408766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axios</a:t>
            </a:r>
            <a:endParaRPr lang="zh-CN" altLang="en-US" sz="1050" b="1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C99035B-0011-E6C3-3B90-EE6C3995FC92}"/>
              </a:ext>
            </a:extLst>
          </p:cNvPr>
          <p:cNvSpPr txBox="1"/>
          <p:nvPr/>
        </p:nvSpPr>
        <p:spPr>
          <a:xfrm>
            <a:off x="2288413" y="3268469"/>
            <a:ext cx="408766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axios</a:t>
            </a:r>
            <a:endParaRPr lang="zh-CN" altLang="en-US" sz="1050" b="1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D38C1A6-6D74-FFC7-508D-9DB79F7B5417}"/>
              </a:ext>
            </a:extLst>
          </p:cNvPr>
          <p:cNvSpPr txBox="1"/>
          <p:nvPr/>
        </p:nvSpPr>
        <p:spPr>
          <a:xfrm>
            <a:off x="2281153" y="3716200"/>
            <a:ext cx="408766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axios</a:t>
            </a:r>
            <a:endParaRPr lang="zh-CN" altLang="en-US" sz="1050" b="1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AFADA1A-E516-CEA9-EDC0-1D76A0A05B3D}"/>
              </a:ext>
            </a:extLst>
          </p:cNvPr>
          <p:cNvSpPr txBox="1"/>
          <p:nvPr/>
        </p:nvSpPr>
        <p:spPr>
          <a:xfrm>
            <a:off x="2274028" y="4163931"/>
            <a:ext cx="408766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axios</a:t>
            </a:r>
            <a:endParaRPr lang="zh-CN" altLang="en-US" sz="1050" b="1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9D46D17-29BA-9AF4-77E8-23158DB04096}"/>
              </a:ext>
            </a:extLst>
          </p:cNvPr>
          <p:cNvSpPr txBox="1"/>
          <p:nvPr/>
        </p:nvSpPr>
        <p:spPr>
          <a:xfrm>
            <a:off x="2284407" y="4611662"/>
            <a:ext cx="408766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axios</a:t>
            </a:r>
            <a:endParaRPr lang="zh-CN" altLang="en-US" sz="1050" b="1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7E37E6B-7C06-5D1E-7C5F-330D8FB93FC7}"/>
              </a:ext>
            </a:extLst>
          </p:cNvPr>
          <p:cNvSpPr txBox="1"/>
          <p:nvPr/>
        </p:nvSpPr>
        <p:spPr>
          <a:xfrm>
            <a:off x="2259970" y="5059393"/>
            <a:ext cx="408766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axios</a:t>
            </a:r>
            <a:endParaRPr lang="zh-CN" altLang="en-US" sz="1050" b="1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25" name="流程图: 文档 24">
            <a:extLst>
              <a:ext uri="{FF2B5EF4-FFF2-40B4-BE49-F238E27FC236}">
                <a16:creationId xmlns:a16="http://schemas.microsoft.com/office/drawing/2014/main" id="{2CB1DB1A-A8F1-7546-2805-3FCAA4382D8C}"/>
              </a:ext>
            </a:extLst>
          </p:cNvPr>
          <p:cNvSpPr/>
          <p:nvPr/>
        </p:nvSpPr>
        <p:spPr>
          <a:xfrm>
            <a:off x="3408260" y="3362224"/>
            <a:ext cx="1134568" cy="577472"/>
          </a:xfrm>
          <a:prstGeom prst="flowChartDocumen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1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request</a:t>
            </a:r>
            <a:r>
              <a:rPr lang="zh-CN" altLang="en-US" sz="1100" b="1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拦截器</a:t>
            </a:r>
          </a:p>
        </p:txBody>
      </p:sp>
      <p:sp>
        <p:nvSpPr>
          <p:cNvPr id="26" name="流程图: 文档 25">
            <a:extLst>
              <a:ext uri="{FF2B5EF4-FFF2-40B4-BE49-F238E27FC236}">
                <a16:creationId xmlns:a16="http://schemas.microsoft.com/office/drawing/2014/main" id="{4A98BAA7-DDB7-D2DD-95D1-03BF0FD4F71A}"/>
              </a:ext>
            </a:extLst>
          </p:cNvPr>
          <p:cNvSpPr/>
          <p:nvPr/>
        </p:nvSpPr>
        <p:spPr>
          <a:xfrm>
            <a:off x="3408260" y="4368775"/>
            <a:ext cx="1134568" cy="577472"/>
          </a:xfrm>
          <a:prstGeom prst="flowChartDocumen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1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response</a:t>
            </a:r>
            <a:r>
              <a:rPr lang="zh-CN" altLang="en-US" sz="1100" b="1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拦截器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54365AA-8B1F-0A41-0AF4-6CA19A34FB8F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744872" y="2944913"/>
            <a:ext cx="663388" cy="588999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0F38E44-38A9-9C57-18A3-44835479CE3A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2744872" y="3395428"/>
            <a:ext cx="663388" cy="171688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D8B7E54-46E8-47D7-32F0-3321E9D9C555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744872" y="3587671"/>
            <a:ext cx="663388" cy="25827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AD92F2C-8DE8-15CC-868E-67CBB2D58694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2744872" y="3650959"/>
            <a:ext cx="663388" cy="645499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4ADCB6AD-09D0-D000-DA78-A9A98BB4C56D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2744872" y="3716200"/>
            <a:ext cx="663388" cy="103077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B26B667-4200-9553-09B4-3F20891EF94E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2744872" y="3785393"/>
            <a:ext cx="663388" cy="141209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C64FE5F2-999C-DC51-2B46-09DE733060AC}"/>
              </a:ext>
            </a:extLst>
          </p:cNvPr>
          <p:cNvCxnSpPr>
            <a:cxnSpLocks/>
            <a:stCxn id="26" idx="1"/>
            <a:endCxn id="13" idx="3"/>
          </p:cNvCxnSpPr>
          <p:nvPr/>
        </p:nvCxnSpPr>
        <p:spPr>
          <a:xfrm flipH="1" flipV="1">
            <a:off x="2744872" y="2944913"/>
            <a:ext cx="663388" cy="1712598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1EBB9500-CA51-EFD4-9D09-0D70F0AFB16E}"/>
              </a:ext>
            </a:extLst>
          </p:cNvPr>
          <p:cNvCxnSpPr>
            <a:cxnSpLocks/>
            <a:endCxn id="14" idx="3"/>
          </p:cNvCxnSpPr>
          <p:nvPr/>
        </p:nvCxnSpPr>
        <p:spPr>
          <a:xfrm flipH="1" flipV="1">
            <a:off x="2744872" y="3395428"/>
            <a:ext cx="663388" cy="126208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9FF857A-D8AA-6C51-9C40-1F28E8A8F556}"/>
              </a:ext>
            </a:extLst>
          </p:cNvPr>
          <p:cNvCxnSpPr>
            <a:cxnSpLocks/>
            <a:stCxn id="26" idx="1"/>
            <a:endCxn id="15" idx="3"/>
          </p:cNvCxnSpPr>
          <p:nvPr/>
        </p:nvCxnSpPr>
        <p:spPr>
          <a:xfrm flipH="1" flipV="1">
            <a:off x="2744872" y="3845943"/>
            <a:ext cx="663388" cy="811568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D23280B4-87F2-6795-F82C-1085F9FEC2E5}"/>
              </a:ext>
            </a:extLst>
          </p:cNvPr>
          <p:cNvCxnSpPr>
            <a:cxnSpLocks/>
            <a:stCxn id="26" idx="1"/>
            <a:endCxn id="16" idx="3"/>
          </p:cNvCxnSpPr>
          <p:nvPr/>
        </p:nvCxnSpPr>
        <p:spPr>
          <a:xfrm flipH="1" flipV="1">
            <a:off x="2744872" y="4296458"/>
            <a:ext cx="663388" cy="36105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0658C0F-6403-B51B-7ADE-68A11FA150E9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2744872" y="4646598"/>
            <a:ext cx="663388" cy="10037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C6110122-C43A-FC9E-CD0F-23308FCCFDE2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2744872" y="4652055"/>
            <a:ext cx="663388" cy="54543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D3954607-BDFF-EA38-FDDB-529773B0AE70}"/>
              </a:ext>
            </a:extLst>
          </p:cNvPr>
          <p:cNvGrpSpPr/>
          <p:nvPr/>
        </p:nvGrpSpPr>
        <p:grpSpPr>
          <a:xfrm>
            <a:off x="4752965" y="3340953"/>
            <a:ext cx="3347174" cy="261610"/>
            <a:chOff x="4966445" y="3305087"/>
            <a:chExt cx="3347174" cy="261610"/>
          </a:xfrm>
        </p:grpSpPr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CDDD3F12-703B-F489-D3F2-547B2C302C4D}"/>
                </a:ext>
              </a:extLst>
            </p:cNvPr>
            <p:cNvCxnSpPr/>
            <p:nvPr/>
          </p:nvCxnSpPr>
          <p:spPr>
            <a:xfrm>
              <a:off x="4966445" y="3554544"/>
              <a:ext cx="3347174" cy="0"/>
            </a:xfrm>
            <a:prstGeom prst="straightConnector1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050783F5-F8B5-061F-9924-E077FF71B54D}"/>
                </a:ext>
              </a:extLst>
            </p:cNvPr>
            <p:cNvSpPr txBox="1"/>
            <p:nvPr/>
          </p:nvSpPr>
          <p:spPr>
            <a:xfrm>
              <a:off x="6305526" y="3305087"/>
              <a:ext cx="47179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D09C335D-BB7C-39FE-97BF-98BB69EC56DD}"/>
              </a:ext>
            </a:extLst>
          </p:cNvPr>
          <p:cNvGrpSpPr/>
          <p:nvPr/>
        </p:nvGrpSpPr>
        <p:grpSpPr>
          <a:xfrm>
            <a:off x="4752965" y="4414162"/>
            <a:ext cx="3320280" cy="261610"/>
            <a:chOff x="4966445" y="4378296"/>
            <a:chExt cx="3320280" cy="261610"/>
          </a:xfrm>
        </p:grpSpPr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8A2CFD0A-DDE1-026B-290F-F045F92E25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45" y="4621645"/>
              <a:ext cx="3320280" cy="0"/>
            </a:xfrm>
            <a:prstGeom prst="straightConnector1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FBED229-6EFE-F634-1733-F6E07A3EF814}"/>
                </a:ext>
              </a:extLst>
            </p:cNvPr>
            <p:cNvSpPr txBox="1"/>
            <p:nvPr/>
          </p:nvSpPr>
          <p:spPr>
            <a:xfrm>
              <a:off x="6305527" y="4378296"/>
              <a:ext cx="4717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2BC18984-5BBB-8888-572F-AB3020DF681C}"/>
              </a:ext>
            </a:extLst>
          </p:cNvPr>
          <p:cNvSpPr txBox="1"/>
          <p:nvPr/>
        </p:nvSpPr>
        <p:spPr>
          <a:xfrm>
            <a:off x="2390830" y="5614748"/>
            <a:ext cx="555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前端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8EE8D37-CE59-C408-412F-0C11D20E316F}"/>
              </a:ext>
            </a:extLst>
          </p:cNvPr>
          <p:cNvSpPr txBox="1"/>
          <p:nvPr/>
        </p:nvSpPr>
        <p:spPr>
          <a:xfrm>
            <a:off x="8818397" y="5610106"/>
            <a:ext cx="784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服务端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47" name="!!组合 2">
            <a:extLst>
              <a:ext uri="{FF2B5EF4-FFF2-40B4-BE49-F238E27FC236}">
                <a16:creationId xmlns:a16="http://schemas.microsoft.com/office/drawing/2014/main" id="{539D6B6C-7721-51FE-70CF-5DDD85E918FB}"/>
              </a:ext>
            </a:extLst>
          </p:cNvPr>
          <p:cNvGrpSpPr/>
          <p:nvPr/>
        </p:nvGrpSpPr>
        <p:grpSpPr>
          <a:xfrm>
            <a:off x="7241761" y="2058984"/>
            <a:ext cx="4394917" cy="4201281"/>
            <a:chOff x="2297723" y="3660322"/>
            <a:chExt cx="4842381" cy="4052011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3B2DFD12-CC96-CDA0-2B38-01F10BD3B8F3}"/>
                </a:ext>
              </a:extLst>
            </p:cNvPr>
            <p:cNvSpPr/>
            <p:nvPr/>
          </p:nvSpPr>
          <p:spPr>
            <a:xfrm>
              <a:off x="2297730" y="3660324"/>
              <a:ext cx="4842374" cy="4052009"/>
            </a:xfrm>
            <a:prstGeom prst="roundRect">
              <a:avLst>
                <a:gd name="adj" fmla="val 222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8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//axios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的响应 </a:t>
              </a:r>
              <a:r>
                <a:rPr lang="en-US" altLang="zh-CN" sz="1100" b="0">
                  <a:solidFill>
                    <a:srgbClr val="008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response 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拦截器</a:t>
              </a:r>
              <a:endParaRPr lang="zh-CN" altLang="en-US" sz="11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request.interceptors.response.use(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(response)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{ </a:t>
              </a:r>
              <a:r>
                <a:rPr lang="en-US" altLang="zh-CN" sz="1100" b="0">
                  <a:solidFill>
                    <a:srgbClr val="008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成功回调</a:t>
              </a:r>
              <a:endParaRPr lang="zh-CN" altLang="en-US" sz="11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100" b="0">
                  <a:solidFill>
                    <a:srgbClr val="000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   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return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response.data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},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(error)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{ </a:t>
              </a:r>
              <a:r>
                <a:rPr lang="en-US" altLang="zh-CN" sz="1100" b="0">
                  <a:solidFill>
                    <a:srgbClr val="008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失败回调</a:t>
              </a:r>
              <a:endParaRPr lang="zh-CN" altLang="en-US" sz="11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100" b="0">
                  <a:solidFill>
                    <a:srgbClr val="000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   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if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(error.response.status == </a:t>
              </a:r>
              <a:r>
                <a:rPr lang="en-US" altLang="zh-CN" sz="1100" b="0">
                  <a:solidFill>
                    <a:srgbClr val="09865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401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){ </a:t>
              </a:r>
              <a:r>
                <a:rPr lang="en-US" altLang="zh-CN" sz="1100" b="0">
                  <a:solidFill>
                    <a:srgbClr val="008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跳转登录页面</a:t>
              </a:r>
              <a:endParaRPr lang="zh-CN" altLang="en-US" sz="11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100" b="0">
                  <a:solidFill>
                    <a:srgbClr val="000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      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ElMessage.error(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 b="0">
                  <a:solidFill>
                    <a:srgbClr val="A31515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登录失效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zh-CN" altLang="en-US" sz="1100" b="0">
                  <a:solidFill>
                    <a:srgbClr val="A31515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请重新登录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   router.push(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'/login'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 }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else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   ElMessage.error(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 b="0">
                  <a:solidFill>
                    <a:srgbClr val="A31515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接口访问异常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 }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return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Promise.reject(error)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}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</a:t>
              </a:r>
            </a:p>
          </p:txBody>
        </p:sp>
        <p:sp>
          <p:nvSpPr>
            <p:cNvPr id="49" name="矩形: 圆顶角 48">
              <a:extLst>
                <a:ext uri="{FF2B5EF4-FFF2-40B4-BE49-F238E27FC236}">
                  <a16:creationId xmlns:a16="http://schemas.microsoft.com/office/drawing/2014/main" id="{6AECD277-A918-A50E-245E-7D65C9FE659A}"/>
                </a:ext>
              </a:extLst>
            </p:cNvPr>
            <p:cNvSpPr/>
            <p:nvPr/>
          </p:nvSpPr>
          <p:spPr>
            <a:xfrm>
              <a:off x="2297723" y="3660322"/>
              <a:ext cx="484238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request.js</a:t>
              </a: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A89535FB-7A68-55F1-9729-E00CC53A957C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302559BD-1A57-C42C-2F4C-514A7827363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F9CE290F-293C-718B-CEB1-962B7385928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9528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36D0-E46B-7F58-BA8C-AD80BD414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B71131-F773-160A-5145-E2B6F6A10A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登录退出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5259EBA-5AAD-427A-953E-5B5957C40D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8"/>
            <a:ext cx="3692525" cy="1207902"/>
          </a:xfrm>
        </p:spPr>
        <p:txBody>
          <a:bodyPr/>
          <a:lstStyle/>
          <a:p>
            <a:r>
              <a:rPr lang="zh-CN" altLang="en-US"/>
              <a:t>登录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退出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001F3E-6657-CE0C-5E09-6356AB65E5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758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B64A8A8-66F1-4FEC-0845-6657FAEF7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89" y="810814"/>
            <a:ext cx="9760955" cy="4594904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25D3BF-C532-0766-FB89-5A811EA70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589" y="5553562"/>
            <a:ext cx="9760955" cy="96803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展示当前登录用户。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退出登录。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退出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4298987-D0E6-21D0-A62B-5DCA40E73E3A}"/>
              </a:ext>
            </a:extLst>
          </p:cNvPr>
          <p:cNvSpPr/>
          <p:nvPr/>
        </p:nvSpPr>
        <p:spPr>
          <a:xfrm>
            <a:off x="9277736" y="830023"/>
            <a:ext cx="1051325" cy="299758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7A5D9AD-AAA5-5E88-8EE7-6104FE5F42A2}"/>
              </a:ext>
            </a:extLst>
          </p:cNvPr>
          <p:cNvCxnSpPr/>
          <p:nvPr/>
        </p:nvCxnSpPr>
        <p:spPr>
          <a:xfrm flipV="1">
            <a:off x="9045388" y="1160929"/>
            <a:ext cx="636494" cy="58270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40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2BA64-3C02-0E01-8C84-2A53C67AC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ADE8086-D40B-7197-755B-9D8FC34AA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员工管理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-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修改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员工管理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-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删除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登录退出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打包部署</a:t>
            </a:r>
          </a:p>
        </p:txBody>
      </p:sp>
    </p:spTree>
    <p:extLst>
      <p:ext uri="{BB962C8B-B14F-4D97-AF65-F5344CB8AC3E}">
        <p14:creationId xmlns:p14="http://schemas.microsoft.com/office/powerpoint/2010/main" val="1270383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5BF2802-059F-7773-AC71-604439ACF2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打包部署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0943BC-2DED-606C-9311-E4F00D3172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023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4D16164-F764-BBBD-7690-781795D07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717" y="4234528"/>
            <a:ext cx="1483811" cy="1123237"/>
          </a:xfrm>
          <a:prstGeom prst="rect">
            <a:avLst/>
          </a:prstGeom>
        </p:spPr>
      </p:pic>
      <p:pic>
        <p:nvPicPr>
          <p:cNvPr id="5" name="图片 4" descr="蓝色的标志&#10;&#10;描述已自动生成">
            <a:extLst>
              <a:ext uri="{FF2B5EF4-FFF2-40B4-BE49-F238E27FC236}">
                <a16:creationId xmlns:a16="http://schemas.microsoft.com/office/drawing/2014/main" id="{54A4D963-936E-1592-08B4-D8F92E9B3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78" y="4237922"/>
            <a:ext cx="1483811" cy="1119843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CB504843-1865-5A50-32BD-6DDEA6385FE9}"/>
              </a:ext>
            </a:extLst>
          </p:cNvPr>
          <p:cNvGrpSpPr/>
          <p:nvPr/>
        </p:nvGrpSpPr>
        <p:grpSpPr>
          <a:xfrm>
            <a:off x="1232415" y="4159520"/>
            <a:ext cx="943010" cy="1682086"/>
            <a:chOff x="4197927" y="4879254"/>
            <a:chExt cx="943010" cy="1682086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63E64D6E-EDEC-518A-203E-604ED7450E1A}"/>
                </a:ext>
              </a:extLst>
            </p:cNvPr>
            <p:cNvSpPr/>
            <p:nvPr/>
          </p:nvSpPr>
          <p:spPr>
            <a:xfrm>
              <a:off x="4197927" y="6150491"/>
              <a:ext cx="943010" cy="410849"/>
            </a:xfrm>
            <a:prstGeom prst="roundRect">
              <a:avLst>
                <a:gd name="adj" fmla="val 5824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前端开发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63ABAE7-9282-E815-A2DF-2C2745100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60702" y="4879254"/>
              <a:ext cx="740949" cy="1253678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0976B0F-A7F0-568E-6358-1B1C23BFB517}"/>
              </a:ext>
            </a:extLst>
          </p:cNvPr>
          <p:cNvGrpSpPr/>
          <p:nvPr/>
        </p:nvGrpSpPr>
        <p:grpSpPr>
          <a:xfrm>
            <a:off x="10053472" y="4164442"/>
            <a:ext cx="1117658" cy="1664527"/>
            <a:chOff x="6012045" y="5071568"/>
            <a:chExt cx="1117658" cy="166452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066E1EF-8559-0CE8-1753-D25C0A6A2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58335" y="5071568"/>
              <a:ext cx="1071368" cy="1253678"/>
            </a:xfrm>
            <a:prstGeom prst="rect">
              <a:avLst/>
            </a:prstGeom>
          </p:spPr>
        </p:pic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31F57484-1469-6FC8-1356-CB6BD1B0C1A5}"/>
                </a:ext>
              </a:extLst>
            </p:cNvPr>
            <p:cNvSpPr/>
            <p:nvPr/>
          </p:nvSpPr>
          <p:spPr>
            <a:xfrm>
              <a:off x="6012045" y="6325246"/>
              <a:ext cx="1117658" cy="410849"/>
            </a:xfrm>
            <a:prstGeom prst="roundRect">
              <a:avLst>
                <a:gd name="adj" fmla="val 5824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后端开发</a:t>
              </a:r>
            </a:p>
          </p:txBody>
        </p:sp>
      </p:grpSp>
      <p:sp>
        <p:nvSpPr>
          <p:cNvPr id="12" name="流程图: 多文档 11">
            <a:extLst>
              <a:ext uri="{FF2B5EF4-FFF2-40B4-BE49-F238E27FC236}">
                <a16:creationId xmlns:a16="http://schemas.microsoft.com/office/drawing/2014/main" id="{1C5F3B9C-820C-4C01-0A9C-8605F6305FCF}"/>
              </a:ext>
            </a:extLst>
          </p:cNvPr>
          <p:cNvSpPr/>
          <p:nvPr/>
        </p:nvSpPr>
        <p:spPr>
          <a:xfrm>
            <a:off x="5230368" y="2606745"/>
            <a:ext cx="1389888" cy="896112"/>
          </a:xfrm>
          <a:prstGeom prst="flowChartMultidocumen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接口文档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B995DCA-5D7F-02F1-F6AC-AA21F1794E93}"/>
              </a:ext>
            </a:extLst>
          </p:cNvPr>
          <p:cNvCxnSpPr>
            <a:cxnSpLocks/>
          </p:cNvCxnSpPr>
          <p:nvPr/>
        </p:nvCxnSpPr>
        <p:spPr>
          <a:xfrm flipV="1">
            <a:off x="1828800" y="3052121"/>
            <a:ext cx="3310128" cy="1086773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53FDD6D-CC79-537A-0DA6-5B07DD290E62}"/>
              </a:ext>
            </a:extLst>
          </p:cNvPr>
          <p:cNvCxnSpPr>
            <a:cxnSpLocks/>
          </p:cNvCxnSpPr>
          <p:nvPr/>
        </p:nvCxnSpPr>
        <p:spPr>
          <a:xfrm>
            <a:off x="6711696" y="3052121"/>
            <a:ext cx="3685032" cy="106747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80EDCE1-C159-96AB-A663-B94482A7D6E2}"/>
              </a:ext>
            </a:extLst>
          </p:cNvPr>
          <p:cNvGrpSpPr/>
          <p:nvPr/>
        </p:nvGrpSpPr>
        <p:grpSpPr>
          <a:xfrm>
            <a:off x="3968496" y="4342694"/>
            <a:ext cx="4352544" cy="329071"/>
            <a:chOff x="3968496" y="5028495"/>
            <a:chExt cx="4352544" cy="329071"/>
          </a:xfrm>
        </p:grpSpPr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584A70A6-D01F-E207-2CE6-060104D6FD3F}"/>
                </a:ext>
              </a:extLst>
            </p:cNvPr>
            <p:cNvCxnSpPr/>
            <p:nvPr/>
          </p:nvCxnSpPr>
          <p:spPr>
            <a:xfrm>
              <a:off x="3968496" y="5357566"/>
              <a:ext cx="4352544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82650F2-3FFA-3562-007C-8463082F17AC}"/>
                </a:ext>
              </a:extLst>
            </p:cNvPr>
            <p:cNvSpPr txBox="1"/>
            <p:nvPr/>
          </p:nvSpPr>
          <p:spPr>
            <a:xfrm>
              <a:off x="5771291" y="5028495"/>
              <a:ext cx="5592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C9648E6-56B7-788F-B3F4-727333C4B79B}"/>
              </a:ext>
            </a:extLst>
          </p:cNvPr>
          <p:cNvGrpSpPr/>
          <p:nvPr/>
        </p:nvGrpSpPr>
        <p:grpSpPr>
          <a:xfrm>
            <a:off x="3968496" y="5043621"/>
            <a:ext cx="4352544" cy="324782"/>
            <a:chOff x="3968496" y="5729422"/>
            <a:chExt cx="4352544" cy="324782"/>
          </a:xfrm>
        </p:grpSpPr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C9DBD7DA-AD36-3E37-C522-B45C874F175B}"/>
                </a:ext>
              </a:extLst>
            </p:cNvPr>
            <p:cNvCxnSpPr/>
            <p:nvPr/>
          </p:nvCxnSpPr>
          <p:spPr>
            <a:xfrm>
              <a:off x="3968496" y="5729422"/>
              <a:ext cx="4352544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4E6E598-D675-437E-9CAA-8D30B8DBBFEC}"/>
                </a:ext>
              </a:extLst>
            </p:cNvPr>
            <p:cNvSpPr txBox="1"/>
            <p:nvPr/>
          </p:nvSpPr>
          <p:spPr>
            <a:xfrm>
              <a:off x="5765159" y="5746427"/>
              <a:ext cx="5592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CA44AD0D-B047-CA01-8BC0-EC13A78C3434}"/>
              </a:ext>
            </a:extLst>
          </p:cNvPr>
          <p:cNvSpPr txBox="1"/>
          <p:nvPr/>
        </p:nvSpPr>
        <p:spPr>
          <a:xfrm>
            <a:off x="8392062" y="3278083"/>
            <a:ext cx="1018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阅读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E7E89E2-372E-3546-E644-83CDE377DB59}"/>
              </a:ext>
            </a:extLst>
          </p:cNvPr>
          <p:cNvSpPr txBox="1"/>
          <p:nvPr/>
        </p:nvSpPr>
        <p:spPr>
          <a:xfrm>
            <a:off x="2696071" y="3278082"/>
            <a:ext cx="1018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阅读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矩形: 对角圆角 22">
            <a:extLst>
              <a:ext uri="{FF2B5EF4-FFF2-40B4-BE49-F238E27FC236}">
                <a16:creationId xmlns:a16="http://schemas.microsoft.com/office/drawing/2014/main" id="{1CA14F5E-8C8F-13B6-9200-D2AFD943199A}"/>
              </a:ext>
            </a:extLst>
          </p:cNvPr>
          <p:cNvSpPr/>
          <p:nvPr/>
        </p:nvSpPr>
        <p:spPr>
          <a:xfrm>
            <a:off x="5106791" y="1437630"/>
            <a:ext cx="1637042" cy="546935"/>
          </a:xfrm>
          <a:prstGeom prst="round2Diag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原型</a:t>
            </a:r>
            <a:r>
              <a:rPr lang="en-US" altLang="zh-CN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C28B136B-BA71-2BFA-273E-D531103FFAF6}"/>
              </a:ext>
            </a:extLst>
          </p:cNvPr>
          <p:cNvCxnSpPr>
            <a:cxnSpLocks/>
          </p:cNvCxnSpPr>
          <p:nvPr/>
        </p:nvCxnSpPr>
        <p:spPr>
          <a:xfrm>
            <a:off x="5925312" y="1987587"/>
            <a:ext cx="0" cy="61915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4DAAC4B6-8CF3-CBD8-B0D0-B48DB89A87C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6491" b="31368"/>
          <a:stretch/>
        </p:blipFill>
        <p:spPr>
          <a:xfrm>
            <a:off x="2285615" y="5521386"/>
            <a:ext cx="1518374" cy="30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28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打包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DF855B8-E51E-55FF-DADD-D73A5F65F2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076"/>
          <a:stretch/>
        </p:blipFill>
        <p:spPr>
          <a:xfrm>
            <a:off x="7189694" y="1327338"/>
            <a:ext cx="4491318" cy="454142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88E6F1A-7105-05A9-D976-71198BE35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06" y="1327337"/>
            <a:ext cx="4371975" cy="257175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ED82288F-1B9A-7BB2-D6E2-491E35A35474}"/>
              </a:ext>
            </a:extLst>
          </p:cNvPr>
          <p:cNvSpPr/>
          <p:nvPr/>
        </p:nvSpPr>
        <p:spPr>
          <a:xfrm>
            <a:off x="4760259" y="2124636"/>
            <a:ext cx="348222" cy="295835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AA4E06C-9E58-60CB-02D7-7D39E0D40133}"/>
              </a:ext>
            </a:extLst>
          </p:cNvPr>
          <p:cNvCxnSpPr>
            <a:stCxn id="6" idx="3"/>
          </p:cNvCxnSpPr>
          <p:nvPr/>
        </p:nvCxnSpPr>
        <p:spPr>
          <a:xfrm>
            <a:off x="5108481" y="2272554"/>
            <a:ext cx="1982601" cy="13447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4999FDB4-D8C9-C094-B1D9-FC7F71F2C25F}"/>
              </a:ext>
            </a:extLst>
          </p:cNvPr>
          <p:cNvSpPr/>
          <p:nvPr/>
        </p:nvSpPr>
        <p:spPr>
          <a:xfrm>
            <a:off x="7189694" y="1918448"/>
            <a:ext cx="4491318" cy="111610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916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25D3BF-C532-0766-FB89-5A811EA70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45526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介绍：</a:t>
            </a:r>
            <a:r>
              <a:rPr lang="en-US" altLang="zh-CN">
                <a:ea typeface="Fira Code" panose="020B0809050000020004" pitchFamily="49" charset="0"/>
              </a:rPr>
              <a:t>Nginx</a:t>
            </a:r>
            <a:r>
              <a:rPr lang="zh-CN" altLang="en-US"/>
              <a:t>是一款轻量级的</a:t>
            </a:r>
            <a:r>
              <a:rPr lang="en-US" altLang="zh-CN">
                <a:ea typeface="Fira Code" panose="020B0809050000020004" pitchFamily="49" charset="0"/>
              </a:rPr>
              <a:t>Web</a:t>
            </a:r>
            <a:r>
              <a:rPr lang="zh-CN" altLang="en-US"/>
              <a:t>服务器</a:t>
            </a:r>
            <a:r>
              <a:rPr lang="en-US" altLang="zh-CN">
                <a:ea typeface="Fira Code" panose="020B0809050000020004" pitchFamily="49" charset="0"/>
              </a:rPr>
              <a:t>/</a:t>
            </a:r>
            <a:r>
              <a:rPr lang="zh-CN" altLang="en-US"/>
              <a:t>反向代理服务器及电子邮件（</a:t>
            </a:r>
            <a:r>
              <a:rPr lang="en-US" altLang="zh-CN">
                <a:ea typeface="Fira Code" panose="020B0809050000020004" pitchFamily="49" charset="0"/>
              </a:rPr>
              <a:t>IMAP/POP3</a:t>
            </a:r>
            <a:r>
              <a:rPr lang="zh-CN" altLang="en-US"/>
              <a:t>）代理服务器。其特点是占有内存少，并发能力强，在各大型互联网公司都有非常广泛的使用。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官网：</a:t>
            </a:r>
            <a:r>
              <a:rPr lang="en-US" altLang="zh-CN">
                <a:ea typeface="Fira Code" panose="020B0809050000020004" pitchFamily="49" charset="0"/>
                <a:hlinkClick r:id="rId2"/>
              </a:rPr>
              <a:t>https://nginx.org/</a:t>
            </a:r>
            <a:endParaRPr lang="en-US" altLang="zh-CN">
              <a:ea typeface="Fira Code" panose="020B08090500000200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部署</a:t>
            </a:r>
            <a:r>
              <a:rPr lang="en-US" altLang="zh-CN"/>
              <a:t>(Nginx)</a:t>
            </a:r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85AAA52-C040-BFFD-E578-0288FF7391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56"/>
          <a:stretch/>
        </p:blipFill>
        <p:spPr>
          <a:xfrm>
            <a:off x="894703" y="2556933"/>
            <a:ext cx="8676235" cy="3512270"/>
          </a:xfrm>
          <a:prstGeom prst="rect">
            <a:avLst/>
          </a:prstGeom>
        </p:spPr>
      </p:pic>
      <p:pic>
        <p:nvPicPr>
          <p:cNvPr id="7" name="!!图片 6">
            <a:extLst>
              <a:ext uri="{FF2B5EF4-FFF2-40B4-BE49-F238E27FC236}">
                <a16:creationId xmlns:a16="http://schemas.microsoft.com/office/drawing/2014/main" id="{06F57476-9C3F-DE0C-88AE-CF5D8F1D7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418" y="4073083"/>
            <a:ext cx="1973751" cy="37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796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!!图片 6">
            <a:extLst>
              <a:ext uri="{FF2B5EF4-FFF2-40B4-BE49-F238E27FC236}">
                <a16:creationId xmlns:a16="http://schemas.microsoft.com/office/drawing/2014/main" id="{38B402A5-07F3-8BA4-AE4C-1CF59A52D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169" y="2133118"/>
            <a:ext cx="1973751" cy="373412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部署</a:t>
            </a:r>
            <a:r>
              <a:rPr lang="en-US" altLang="zh-CN"/>
              <a:t>(Nginx)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D3D635-458C-0B02-90F6-B5BBA35D5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63" y="1338201"/>
            <a:ext cx="5101036" cy="1996058"/>
          </a:xfrm>
          <a:prstGeom prst="roundRect">
            <a:avLst>
              <a:gd name="adj" fmla="val 6337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FFD6497-5A10-E3C9-0CA9-69A6C553A8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57332"/>
          <a:stretch/>
        </p:blipFill>
        <p:spPr>
          <a:xfrm>
            <a:off x="7124485" y="1060143"/>
            <a:ext cx="4491318" cy="2552173"/>
          </a:xfrm>
          <a:prstGeom prst="roundRect">
            <a:avLst>
              <a:gd name="adj" fmla="val 2968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箭头: 虚尾 6">
            <a:extLst>
              <a:ext uri="{FF2B5EF4-FFF2-40B4-BE49-F238E27FC236}">
                <a16:creationId xmlns:a16="http://schemas.microsoft.com/office/drawing/2014/main" id="{B73B3D68-720A-3540-E4F9-665F88BCB3AF}"/>
              </a:ext>
            </a:extLst>
          </p:cNvPr>
          <p:cNvSpPr/>
          <p:nvPr/>
        </p:nvSpPr>
        <p:spPr>
          <a:xfrm rot="10800000">
            <a:off x="6119698" y="2177567"/>
            <a:ext cx="815788" cy="317323"/>
          </a:xfrm>
          <a:prstGeom prst="stripedRightArrow">
            <a:avLst>
              <a:gd name="adj1" fmla="val 50000"/>
              <a:gd name="adj2" fmla="val 103677"/>
            </a:avLst>
          </a:prstGeom>
          <a:gradFill flip="none" rotWithShape="1">
            <a:gsLst>
              <a:gs pos="0">
                <a:schemeClr val="tx1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1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1">
                  <a:lumMod val="75000"/>
                  <a:lumOff val="25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0ED9ED-AF13-C739-29B6-9D90CDB08847}"/>
              </a:ext>
            </a:extLst>
          </p:cNvPr>
          <p:cNvSpPr/>
          <p:nvPr/>
        </p:nvSpPr>
        <p:spPr>
          <a:xfrm>
            <a:off x="7124485" y="1891553"/>
            <a:ext cx="4491318" cy="851647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D60058-DFCF-6CC2-7482-1038A26CA4A6}"/>
              </a:ext>
            </a:extLst>
          </p:cNvPr>
          <p:cNvSpPr/>
          <p:nvPr/>
        </p:nvSpPr>
        <p:spPr>
          <a:xfrm>
            <a:off x="7124485" y="1891776"/>
            <a:ext cx="4491318" cy="851647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36BA79-C2E2-040F-1743-F1E00FD0033F}"/>
              </a:ext>
            </a:extLst>
          </p:cNvPr>
          <p:cNvSpPr/>
          <p:nvPr/>
        </p:nvSpPr>
        <p:spPr>
          <a:xfrm>
            <a:off x="829663" y="2168602"/>
            <a:ext cx="5101036" cy="292433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F25599CA-AF0B-D061-84FC-CF4FCF40087E}"/>
              </a:ext>
            </a:extLst>
          </p:cNvPr>
          <p:cNvSpPr txBox="1">
            <a:spLocks/>
          </p:cNvSpPr>
          <p:nvPr/>
        </p:nvSpPr>
        <p:spPr>
          <a:xfrm>
            <a:off x="829663" y="4751527"/>
            <a:ext cx="10786140" cy="978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/>
              <a:t>部署：将打包好的</a:t>
            </a:r>
            <a:r>
              <a:rPr lang="en-US" altLang="zh-CN" sz="1600">
                <a:ea typeface="Fira Code" panose="020B0809050000020004" pitchFamily="49" charset="0"/>
              </a:rPr>
              <a:t> dist </a:t>
            </a:r>
            <a:r>
              <a:rPr lang="zh-CN" altLang="en-US" sz="1600"/>
              <a:t>目录下的文件，复制到</a:t>
            </a:r>
            <a:r>
              <a:rPr lang="en-US" altLang="zh-CN" sz="1600">
                <a:ea typeface="Fira Code" panose="020B0809050000020004" pitchFamily="49" charset="0"/>
              </a:rPr>
              <a:t>nginx</a:t>
            </a:r>
            <a:r>
              <a:rPr lang="zh-CN" altLang="en-US" sz="1600"/>
              <a:t>安装目录的</a:t>
            </a:r>
            <a:r>
              <a:rPr lang="en-US" altLang="zh-CN" sz="1600">
                <a:ea typeface="Fira Code" panose="020B0809050000020004" pitchFamily="49" charset="0"/>
              </a:rPr>
              <a:t>html</a:t>
            </a:r>
            <a:r>
              <a:rPr lang="zh-CN" altLang="en-US" sz="1600"/>
              <a:t>目录下。</a:t>
            </a:r>
            <a:endParaRPr lang="en-US" altLang="zh-CN" sz="1600">
              <a:ea typeface="Fira Code" panose="020B0809050000020004" pitchFamily="49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/>
              <a:t>启动：双击 </a:t>
            </a:r>
            <a:r>
              <a:rPr lang="en-US" altLang="zh-CN" sz="1600">
                <a:ea typeface="Fira Code" panose="020B0809050000020004" pitchFamily="49" charset="0"/>
              </a:rPr>
              <a:t>nginx.exe </a:t>
            </a:r>
            <a:r>
              <a:rPr lang="zh-CN" altLang="en-US" sz="1600"/>
              <a:t>文件即可，</a:t>
            </a:r>
            <a:r>
              <a:rPr lang="en-US" altLang="zh-CN" sz="1600">
                <a:ea typeface="Fira Code" panose="020B0809050000020004" pitchFamily="49" charset="0"/>
              </a:rPr>
              <a:t>Nginx</a:t>
            </a:r>
            <a:r>
              <a:rPr lang="zh-CN" altLang="en-US" sz="1600"/>
              <a:t>服务器默认占用 </a:t>
            </a:r>
            <a:r>
              <a:rPr lang="en-US" altLang="zh-CN" sz="1600">
                <a:ea typeface="Fira Code" panose="020B0809050000020004" pitchFamily="49" charset="0"/>
              </a:rPr>
              <a:t>80 </a:t>
            </a:r>
            <a:r>
              <a:rPr lang="zh-CN" altLang="en-US" sz="1600"/>
              <a:t>端口号。</a:t>
            </a:r>
          </a:p>
        </p:txBody>
      </p:sp>
    </p:spTree>
    <p:extLst>
      <p:ext uri="{BB962C8B-B14F-4D97-AF65-F5344CB8AC3E}">
        <p14:creationId xmlns:p14="http://schemas.microsoft.com/office/powerpoint/2010/main" val="405195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96296E-6 L -0.49128 0.00973 " pathEditMode="relative" rAng="0" ptsTypes="AA">
                                      <p:cBhvr>
                                        <p:cTn id="3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570" y="486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9128 -0.00972 L -3.54167E-6 5.55112E-17 " pathEditMode="relative" rAng="0" ptsTypes="AA">
                                      <p:cBhvr>
                                        <p:cTn id="3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570" y="486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13575" y="41637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88047" y="240174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9" grpId="1" animBg="1"/>
      <p:bldP spid="9" grpId="2" animBg="1"/>
      <p:bldP spid="9" grpId="3" animBg="1"/>
      <p:bldP spid="10" grpId="0" animBg="1"/>
      <p:bldP spid="10" grpId="1" animBg="1"/>
      <p:bldP spid="10" grpId="2" animBg="1"/>
      <p:bldP spid="11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25D3BF-C532-0766-FB89-5A811EA70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访问：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  <a:hlinkClick r:id="rId2"/>
              </a:rPr>
              <a:t>http://localhost:80</a:t>
            </a:r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部署</a:t>
            </a:r>
            <a:r>
              <a:rPr lang="en-US" altLang="zh-CN"/>
              <a:t>(Nginx)</a:t>
            </a:r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60D08A-BA74-FD4A-E164-2C0571FBD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37" y="1430658"/>
            <a:ext cx="8739783" cy="4218402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1871485F-486C-33F7-0AD2-85696319118E}"/>
              </a:ext>
            </a:extLst>
          </p:cNvPr>
          <p:cNvGrpSpPr/>
          <p:nvPr/>
        </p:nvGrpSpPr>
        <p:grpSpPr>
          <a:xfrm>
            <a:off x="829663" y="6080307"/>
            <a:ext cx="10786140" cy="448408"/>
            <a:chOff x="710879" y="5978768"/>
            <a:chExt cx="10467517" cy="448408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645B1703-2879-DA20-6D3B-1D1F60D8F84E}"/>
                </a:ext>
              </a:extLst>
            </p:cNvPr>
            <p:cNvSpPr/>
            <p:nvPr/>
          </p:nvSpPr>
          <p:spPr>
            <a:xfrm>
              <a:off x="710880" y="5978769"/>
              <a:ext cx="10467516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3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Nginx</a:t>
              </a:r>
              <a:r>
                <a:rPr lang="zh-CN" altLang="en-US" sz="1300">
                  <a:solidFill>
                    <a:srgbClr val="C00000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默认占用</a:t>
              </a:r>
              <a:r>
                <a:rPr lang="en-US" altLang="zh-CN" sz="13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80</a:t>
              </a:r>
              <a:r>
                <a:rPr lang="zh-CN" altLang="en-US" sz="1300">
                  <a:solidFill>
                    <a:srgbClr val="C00000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端口号，如果</a:t>
              </a:r>
              <a:r>
                <a:rPr lang="en-US" altLang="zh-CN" sz="13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80</a:t>
              </a:r>
              <a:r>
                <a:rPr lang="zh-CN" altLang="en-US" sz="1300">
                  <a:solidFill>
                    <a:srgbClr val="C00000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端口号被占用，可以在</a:t>
              </a:r>
              <a:r>
                <a:rPr lang="en-US" altLang="zh-CN" sz="13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nginx.conf</a:t>
              </a:r>
              <a:r>
                <a:rPr lang="zh-CN" altLang="en-US" sz="1300">
                  <a:solidFill>
                    <a:srgbClr val="C00000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中修改端口号。</a:t>
              </a:r>
              <a:r>
                <a:rPr lang="en-US" altLang="zh-CN" sz="13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(netstat –ano | findStr  80)</a:t>
              </a: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CA118D7D-8E7B-A6E3-3EF6-4F3E119DB516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Shape 2468">
              <a:extLst>
                <a:ext uri="{FF2B5EF4-FFF2-40B4-BE49-F238E27FC236}">
                  <a16:creationId xmlns:a16="http://schemas.microsoft.com/office/drawing/2014/main" id="{4B9CB2B3-BFF1-C4D7-D02C-FA3B23B92498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8432B56-6E28-2445-24D0-807385C7BB67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247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2471ECA-CF43-83C6-4E68-51EFAFCD04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latin typeface="Fira Code" panose="020B0809050000020004" pitchFamily="49" charset="0"/>
              </a:rPr>
              <a:t>前端项目的打包部署</a:t>
            </a:r>
            <a:endParaRPr lang="en-US" altLang="zh-CN" sz="18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打包：运行 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build ---&gt; dist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部署：将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dist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目录下的打包好的文件 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---&gt; nginx/html 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目录中</a:t>
            </a:r>
            <a:endParaRPr lang="en-US" altLang="zh-CN" sz="1600" b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nginx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命令</a:t>
            </a:r>
            <a:r>
              <a:rPr lang="en-US" altLang="zh-CN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pPr marL="1102950" lvl="2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启动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 b="0">
                <a:solidFill>
                  <a:srgbClr val="001FEE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nginx.exe</a:t>
            </a:r>
          </a:p>
          <a:p>
            <a:pPr marL="1102950" lvl="2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重载：</a:t>
            </a:r>
            <a:r>
              <a:rPr lang="en-US" altLang="zh-CN" sz="1400">
                <a:solidFill>
                  <a:srgbClr val="001FEE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nginx.exe -s reload</a:t>
            </a:r>
          </a:p>
          <a:p>
            <a:pPr marL="1102950" lvl="2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停止：</a:t>
            </a:r>
            <a:r>
              <a:rPr lang="en-US" altLang="zh-CN" sz="1400">
                <a:solidFill>
                  <a:srgbClr val="001FEE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nginx.exe -s stop</a:t>
            </a:r>
            <a:endParaRPr lang="zh-CN" altLang="en-US" sz="1400" b="0">
              <a:solidFill>
                <a:srgbClr val="001FEE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298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75B6D1B5-C8D5-2006-760E-D180EB7A2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班级管理 </a:t>
            </a:r>
            <a:r>
              <a:rPr lang="en-US" altLang="zh-CN"/>
              <a:t>&amp; </a:t>
            </a:r>
            <a:r>
              <a:rPr lang="zh-CN" altLang="en-US"/>
              <a:t>学员管理</a:t>
            </a:r>
          </a:p>
        </p:txBody>
      </p:sp>
      <p:pic>
        <p:nvPicPr>
          <p:cNvPr id="12" name="图片 11" descr="图形用户界面, 应用程序, 表格, Excel&#10;&#10;描述已自动生成">
            <a:extLst>
              <a:ext uri="{FF2B5EF4-FFF2-40B4-BE49-F238E27FC236}">
                <a16:creationId xmlns:a16="http://schemas.microsoft.com/office/drawing/2014/main" id="{61AED5BF-939C-72F5-80F0-ACEAD9E52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04" y="1011087"/>
            <a:ext cx="10830162" cy="5022438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A57642FB-A176-5F58-186F-CFEC70D81EC4}"/>
              </a:ext>
            </a:extLst>
          </p:cNvPr>
          <p:cNvGrpSpPr/>
          <p:nvPr/>
        </p:nvGrpSpPr>
        <p:grpSpPr>
          <a:xfrm>
            <a:off x="1054360" y="1607247"/>
            <a:ext cx="11000792" cy="5120125"/>
            <a:chOff x="1054360" y="1607247"/>
            <a:chExt cx="11000792" cy="5120125"/>
          </a:xfrm>
        </p:grpSpPr>
        <p:pic>
          <p:nvPicPr>
            <p:cNvPr id="14" name="图片 13" descr="图形用户界面, 应用程序&#10;&#10;描述已自动生成">
              <a:extLst>
                <a:ext uri="{FF2B5EF4-FFF2-40B4-BE49-F238E27FC236}">
                  <a16:creationId xmlns:a16="http://schemas.microsoft.com/office/drawing/2014/main" id="{DFB3F8F9-42E3-7F63-CDE6-85EF1C02F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204"/>
            <a:stretch/>
          </p:blipFill>
          <p:spPr>
            <a:xfrm>
              <a:off x="1054360" y="1623698"/>
              <a:ext cx="11000792" cy="5103674"/>
            </a:xfrm>
            <a:prstGeom prst="rect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7D8A13B8-980B-261A-E1A8-DD667EF72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89770" y="1607247"/>
              <a:ext cx="1297305" cy="427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199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24546</TotalTime>
  <Words>1113</Words>
  <Application>Microsoft Office PowerPoint</Application>
  <PresentationFormat>宽屏</PresentationFormat>
  <Paragraphs>181</Paragraphs>
  <Slides>30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30</vt:i4>
      </vt:variant>
    </vt:vector>
  </HeadingPairs>
  <TitlesOfParts>
    <vt:vector size="47" baseType="lpstr">
      <vt:lpstr>Alibaba PuHuiTi B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Arial</vt:lpstr>
      <vt:lpstr>Calisto MT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Web前端实战(案例)</vt:lpstr>
      <vt:lpstr>需求分析</vt:lpstr>
      <vt:lpstr>PowerPoint 演示文稿</vt:lpstr>
      <vt:lpstr>PowerPoint 演示文稿</vt:lpstr>
      <vt:lpstr>修改员工</vt:lpstr>
      <vt:lpstr>修改员工-查询回显</vt:lpstr>
      <vt:lpstr>修改员工-保存数据</vt:lpstr>
      <vt:lpstr>PowerPoint 演示文稿</vt:lpstr>
      <vt:lpstr>PowerPoint 演示文稿</vt:lpstr>
      <vt:lpstr>删除员工</vt:lpstr>
      <vt:lpstr>删除员工-删除单个</vt:lpstr>
      <vt:lpstr>删除员工-批量删除</vt:lpstr>
      <vt:lpstr>PowerPoint 演示文稿</vt:lpstr>
      <vt:lpstr>PowerPoint 演示文稿</vt:lpstr>
      <vt:lpstr>登录</vt:lpstr>
      <vt:lpstr>登录</vt:lpstr>
      <vt:lpstr>携带令牌访问服务端</vt:lpstr>
      <vt:lpstr>功能完善</vt:lpstr>
      <vt:lpstr>PowerPoint 演示文稿</vt:lpstr>
      <vt:lpstr>退出</vt:lpstr>
      <vt:lpstr>PowerPoint 演示文稿</vt:lpstr>
      <vt:lpstr>PowerPoint 演示文稿</vt:lpstr>
      <vt:lpstr>PowerPoint 演示文稿</vt:lpstr>
      <vt:lpstr>打包</vt:lpstr>
      <vt:lpstr>部署(Nginx)</vt:lpstr>
      <vt:lpstr>部署(Nginx)</vt:lpstr>
      <vt:lpstr>部署(Nginx)</vt:lpstr>
      <vt:lpstr>PowerPoint 演示文稿</vt:lpstr>
      <vt:lpstr>班级管理 &amp; 学员管理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2299</cp:revision>
  <cp:lastPrinted>2022-05-29T16:00:00Z</cp:lastPrinted>
  <dcterms:created xsi:type="dcterms:W3CDTF">2022-05-29T16:00:00Z</dcterms:created>
  <dcterms:modified xsi:type="dcterms:W3CDTF">2025-01-17T03:41:32Z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