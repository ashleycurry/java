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62" r:id="rId4"/>
    <p:sldMasterId id="2147483672" r:id="rId5"/>
  </p:sldMasterIdLst>
  <p:notesMasterIdLst>
    <p:notesMasterId r:id="rId42"/>
  </p:notesMasterIdLst>
  <p:handoutMasterIdLst>
    <p:handoutMasterId r:id="rId43"/>
  </p:handoutMasterIdLst>
  <p:sldIdLst>
    <p:sldId id="280" r:id="rId6"/>
    <p:sldId id="569" r:id="rId7"/>
    <p:sldId id="570" r:id="rId8"/>
    <p:sldId id="571" r:id="rId9"/>
    <p:sldId id="572" r:id="rId10"/>
    <p:sldId id="573" r:id="rId11"/>
    <p:sldId id="574" r:id="rId12"/>
    <p:sldId id="575" r:id="rId13"/>
    <p:sldId id="585" r:id="rId14"/>
    <p:sldId id="576" r:id="rId15"/>
    <p:sldId id="577" r:id="rId16"/>
    <p:sldId id="578" r:id="rId17"/>
    <p:sldId id="579" r:id="rId18"/>
    <p:sldId id="580" r:id="rId19"/>
    <p:sldId id="581" r:id="rId20"/>
    <p:sldId id="590" r:id="rId21"/>
    <p:sldId id="582" r:id="rId22"/>
    <p:sldId id="609" r:id="rId23"/>
    <p:sldId id="583" r:id="rId24"/>
    <p:sldId id="607" r:id="rId25"/>
    <p:sldId id="591" r:id="rId26"/>
    <p:sldId id="599" r:id="rId27"/>
    <p:sldId id="600" r:id="rId28"/>
    <p:sldId id="608" r:id="rId29"/>
    <p:sldId id="601" r:id="rId30"/>
    <p:sldId id="598" r:id="rId31"/>
    <p:sldId id="584" r:id="rId32"/>
    <p:sldId id="586" r:id="rId33"/>
    <p:sldId id="587" r:id="rId34"/>
    <p:sldId id="588" r:id="rId35"/>
    <p:sldId id="597" r:id="rId36"/>
    <p:sldId id="596" r:id="rId37"/>
    <p:sldId id="589" r:id="rId38"/>
    <p:sldId id="592" r:id="rId39"/>
    <p:sldId id="593" r:id="rId40"/>
    <p:sldId id="288" r:id="rId41"/>
  </p:sldIdLst>
  <p:sldSz cx="12192000" cy="6858000"/>
  <p:notesSz cx="6858000" cy="9144000"/>
  <p:custDataLst>
    <p:tags r:id="rId4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1094"/>
    <a:srgbClr val="3561FF"/>
    <a:srgbClr val="8037B7"/>
    <a:srgbClr val="9933FF"/>
    <a:srgbClr val="00B050"/>
    <a:srgbClr val="FF0000"/>
    <a:srgbClr val="067D17"/>
    <a:srgbClr val="3333FF"/>
    <a:srgbClr val="BBE7D3"/>
    <a:srgbClr val="33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47" autoAdjust="0"/>
    <p:restoredTop sz="93766" autoAdjust="0"/>
  </p:normalViewPr>
  <p:slideViewPr>
    <p:cSldViewPr snapToGrid="0" showGuides="1">
      <p:cViewPr varScale="1">
        <p:scale>
          <a:sx n="82" d="100"/>
          <a:sy n="82" d="100"/>
        </p:scale>
        <p:origin x="4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ags" Target="tags/tag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6BF0C3-E78F-A831-4B61-1EB569AD1BF9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4CDC7559-85E2-2FE2-201F-FE73D47864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542133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025447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817029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3226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0402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7E174D6B-A975-223E-7D47-56F22CD52ED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200000">
            <a:off x="9714885" y="3956140"/>
            <a:ext cx="3017782" cy="2517866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105A365F-E05A-6A26-7E77-E6094786D794}"/>
              </a:ext>
            </a:extLst>
          </p:cNvPr>
          <p:cNvSpPr/>
          <p:nvPr userDrawn="1"/>
        </p:nvSpPr>
        <p:spPr>
          <a:xfrm>
            <a:off x="9005828" y="3429000"/>
            <a:ext cx="3359650" cy="3563035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六边形 15">
            <a:extLst>
              <a:ext uri="{FF2B5EF4-FFF2-40B4-BE49-F238E27FC236}">
                <a16:creationId xmlns:a16="http://schemas.microsoft.com/office/drawing/2014/main" id="{1B81F0E8-945B-4099-5F07-E0BF1C3FBB59}"/>
              </a:ext>
            </a:extLst>
          </p:cNvPr>
          <p:cNvSpPr/>
          <p:nvPr userDrawn="1"/>
        </p:nvSpPr>
        <p:spPr>
          <a:xfrm>
            <a:off x="555427" y="466809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D22DB145-C6D6-05B9-DD0F-B45A661DEDD2}"/>
              </a:ext>
            </a:extLst>
          </p:cNvPr>
          <p:cNvSpPr/>
          <p:nvPr userDrawn="1"/>
        </p:nvSpPr>
        <p:spPr>
          <a:xfrm>
            <a:off x="232092" y="484693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六边形 17">
            <a:extLst>
              <a:ext uri="{FF2B5EF4-FFF2-40B4-BE49-F238E27FC236}">
                <a16:creationId xmlns:a16="http://schemas.microsoft.com/office/drawing/2014/main" id="{78E05FA1-1830-1163-CFA5-036858DC6EA2}"/>
              </a:ext>
            </a:extLst>
          </p:cNvPr>
          <p:cNvSpPr/>
          <p:nvPr userDrawn="1"/>
        </p:nvSpPr>
        <p:spPr>
          <a:xfrm>
            <a:off x="1955455" y="570664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六边形 18">
            <a:extLst>
              <a:ext uri="{FF2B5EF4-FFF2-40B4-BE49-F238E27FC236}">
                <a16:creationId xmlns:a16="http://schemas.microsoft.com/office/drawing/2014/main" id="{1D0E7228-5407-1A86-2892-01555374856E}"/>
              </a:ext>
            </a:extLst>
          </p:cNvPr>
          <p:cNvSpPr/>
          <p:nvPr userDrawn="1"/>
        </p:nvSpPr>
        <p:spPr>
          <a:xfrm>
            <a:off x="1627448" y="58816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六边形 19">
            <a:extLst>
              <a:ext uri="{FF2B5EF4-FFF2-40B4-BE49-F238E27FC236}">
                <a16:creationId xmlns:a16="http://schemas.microsoft.com/office/drawing/2014/main" id="{0CF68392-9E49-E170-4987-E8A7BD1B9171}"/>
              </a:ext>
            </a:extLst>
          </p:cNvPr>
          <p:cNvSpPr/>
          <p:nvPr userDrawn="1"/>
        </p:nvSpPr>
        <p:spPr>
          <a:xfrm>
            <a:off x="1299441" y="60566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六边形 20">
            <a:extLst>
              <a:ext uri="{FF2B5EF4-FFF2-40B4-BE49-F238E27FC236}">
                <a16:creationId xmlns:a16="http://schemas.microsoft.com/office/drawing/2014/main" id="{BA5C53E6-3097-0BFC-AE3F-DCCC9ABFCC41}"/>
              </a:ext>
            </a:extLst>
          </p:cNvPr>
          <p:cNvSpPr/>
          <p:nvPr userDrawn="1"/>
        </p:nvSpPr>
        <p:spPr>
          <a:xfrm>
            <a:off x="1627447" y="62354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六边形 21">
            <a:extLst>
              <a:ext uri="{FF2B5EF4-FFF2-40B4-BE49-F238E27FC236}">
                <a16:creationId xmlns:a16="http://schemas.microsoft.com/office/drawing/2014/main" id="{7BB9746F-3D38-1E94-5F40-1229155F902F}"/>
              </a:ext>
            </a:extLst>
          </p:cNvPr>
          <p:cNvSpPr/>
          <p:nvPr userDrawn="1"/>
        </p:nvSpPr>
        <p:spPr>
          <a:xfrm>
            <a:off x="1955453" y="6414297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1B13494D-DE3A-78AB-5BF5-FE26BED9B467}"/>
              </a:ext>
            </a:extLst>
          </p:cNvPr>
          <p:cNvSpPr/>
          <p:nvPr userDrawn="1"/>
        </p:nvSpPr>
        <p:spPr>
          <a:xfrm>
            <a:off x="1955452" y="67719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E64BE27-8CD5-64C8-DA45-C4F450978755}"/>
              </a:ext>
            </a:extLst>
          </p:cNvPr>
          <p:cNvSpPr/>
          <p:nvPr userDrawn="1"/>
        </p:nvSpPr>
        <p:spPr>
          <a:xfrm>
            <a:off x="2339455" y="6414297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9F1A4A4-9140-E9B3-2465-B6C6B116EA24}"/>
              </a:ext>
            </a:extLst>
          </p:cNvPr>
          <p:cNvCxnSpPr>
            <a:cxnSpLocks/>
            <a:stCxn id="17" idx="1"/>
          </p:cNvCxnSpPr>
          <p:nvPr userDrawn="1"/>
        </p:nvCxnSpPr>
        <p:spPr>
          <a:xfrm>
            <a:off x="557568" y="5204599"/>
            <a:ext cx="143106" cy="178833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3816BB5-C9D9-3736-DBE3-5C9D49D12413}"/>
              </a:ext>
            </a:extLst>
          </p:cNvPr>
          <p:cNvCxnSpPr>
            <a:cxnSpLocks/>
          </p:cNvCxnSpPr>
          <p:nvPr userDrawn="1"/>
        </p:nvCxnSpPr>
        <p:spPr>
          <a:xfrm>
            <a:off x="700674" y="5383432"/>
            <a:ext cx="241121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DA4CB6C-9F6A-DE38-1CF8-7B044D099826}"/>
              </a:ext>
            </a:extLst>
          </p:cNvPr>
          <p:cNvCxnSpPr>
            <a:cxnSpLocks/>
          </p:cNvCxnSpPr>
          <p:nvPr userDrawn="1"/>
        </p:nvCxnSpPr>
        <p:spPr>
          <a:xfrm>
            <a:off x="941795" y="5383432"/>
            <a:ext cx="340356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7748247-1ADA-2E10-4A56-8C9F5AFFC19E}"/>
              </a:ext>
            </a:extLst>
          </p:cNvPr>
          <p:cNvCxnSpPr>
            <a:cxnSpLocks/>
          </p:cNvCxnSpPr>
          <p:nvPr userDrawn="1"/>
        </p:nvCxnSpPr>
        <p:spPr>
          <a:xfrm>
            <a:off x="1282151" y="5383432"/>
            <a:ext cx="186338" cy="23514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EBDE2CE-D91D-FCC4-65D8-FFE3C343960A}"/>
              </a:ext>
            </a:extLst>
          </p:cNvPr>
          <p:cNvCxnSpPr>
            <a:cxnSpLocks/>
          </p:cNvCxnSpPr>
          <p:nvPr userDrawn="1"/>
        </p:nvCxnSpPr>
        <p:spPr>
          <a:xfrm flipH="1">
            <a:off x="789395" y="5385849"/>
            <a:ext cx="152400" cy="23273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A3CEEE2-A968-7044-8F7E-49924BC5D637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9441" y="5618580"/>
            <a:ext cx="166612" cy="2689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0E0D50F-A487-0666-EDEC-7D96E6C96427}"/>
              </a:ext>
            </a:extLst>
          </p:cNvPr>
          <p:cNvCxnSpPr>
            <a:cxnSpLocks/>
            <a:endCxn id="20" idx="4"/>
          </p:cNvCxnSpPr>
          <p:nvPr userDrawn="1"/>
        </p:nvCxnSpPr>
        <p:spPr>
          <a:xfrm>
            <a:off x="1298551" y="5885364"/>
            <a:ext cx="90307" cy="171267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11F5436-5727-F27B-A3D5-C50E7C74359F}"/>
              </a:ext>
            </a:extLst>
          </p:cNvPr>
          <p:cNvCxnSpPr>
            <a:cxnSpLocks/>
          </p:cNvCxnSpPr>
          <p:nvPr userDrawn="1"/>
        </p:nvCxnSpPr>
        <p:spPr>
          <a:xfrm>
            <a:off x="1666204" y="5794086"/>
            <a:ext cx="48130" cy="9127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4418B16-5C08-2DCA-1E88-267BD85D21A1}"/>
              </a:ext>
            </a:extLst>
          </p:cNvPr>
          <p:cNvCxnSpPr>
            <a:cxnSpLocks/>
          </p:cNvCxnSpPr>
          <p:nvPr userDrawn="1"/>
        </p:nvCxnSpPr>
        <p:spPr>
          <a:xfrm flipH="1">
            <a:off x="1666204" y="6593130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632BA59-A547-A328-DF46-1D52B8D1655E}"/>
              </a:ext>
            </a:extLst>
          </p:cNvPr>
          <p:cNvCxnSpPr>
            <a:cxnSpLocks/>
          </p:cNvCxnSpPr>
          <p:nvPr userDrawn="1"/>
        </p:nvCxnSpPr>
        <p:spPr>
          <a:xfrm flipH="1">
            <a:off x="1343704" y="6414297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六边形 49">
            <a:extLst>
              <a:ext uri="{FF2B5EF4-FFF2-40B4-BE49-F238E27FC236}">
                <a16:creationId xmlns:a16="http://schemas.microsoft.com/office/drawing/2014/main" id="{04BF8CAF-E445-183A-C65E-1829BB22BC8B}"/>
              </a:ext>
            </a:extLst>
          </p:cNvPr>
          <p:cNvSpPr/>
          <p:nvPr userDrawn="1"/>
        </p:nvSpPr>
        <p:spPr>
          <a:xfrm>
            <a:off x="974992" y="3820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六边形 50">
            <a:extLst>
              <a:ext uri="{FF2B5EF4-FFF2-40B4-BE49-F238E27FC236}">
                <a16:creationId xmlns:a16="http://schemas.microsoft.com/office/drawing/2014/main" id="{F306C9B1-841C-DF4D-BC43-C866751AD001}"/>
              </a:ext>
            </a:extLst>
          </p:cNvPr>
          <p:cNvSpPr/>
          <p:nvPr userDrawn="1"/>
        </p:nvSpPr>
        <p:spPr>
          <a:xfrm>
            <a:off x="646985" y="5570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六边形 51">
            <a:extLst>
              <a:ext uri="{FF2B5EF4-FFF2-40B4-BE49-F238E27FC236}">
                <a16:creationId xmlns:a16="http://schemas.microsoft.com/office/drawing/2014/main" id="{B44FB676-9474-6E0D-E798-28692E8DD457}"/>
              </a:ext>
            </a:extLst>
          </p:cNvPr>
          <p:cNvSpPr/>
          <p:nvPr userDrawn="1"/>
        </p:nvSpPr>
        <p:spPr>
          <a:xfrm>
            <a:off x="318978" y="73202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六边形 52">
            <a:extLst>
              <a:ext uri="{FF2B5EF4-FFF2-40B4-BE49-F238E27FC236}">
                <a16:creationId xmlns:a16="http://schemas.microsoft.com/office/drawing/2014/main" id="{234CC26C-FACC-3DED-3F34-5D2FBCA21311}"/>
              </a:ext>
            </a:extLst>
          </p:cNvPr>
          <p:cNvSpPr/>
          <p:nvPr userDrawn="1"/>
        </p:nvSpPr>
        <p:spPr>
          <a:xfrm>
            <a:off x="320061" y="1085846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六边形 53">
            <a:extLst>
              <a:ext uri="{FF2B5EF4-FFF2-40B4-BE49-F238E27FC236}">
                <a16:creationId xmlns:a16="http://schemas.microsoft.com/office/drawing/2014/main" id="{27BFDA2D-5453-0AAC-FA6D-80640A23E4CE}"/>
              </a:ext>
            </a:extLst>
          </p:cNvPr>
          <p:cNvSpPr/>
          <p:nvPr userDrawn="1"/>
        </p:nvSpPr>
        <p:spPr>
          <a:xfrm>
            <a:off x="1193162" y="902636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6E4D0E4-FCF3-BB9C-5A85-F8866579A681}"/>
              </a:ext>
            </a:extLst>
          </p:cNvPr>
          <p:cNvCxnSpPr>
            <a:cxnSpLocks/>
            <a:endCxn id="54" idx="4"/>
          </p:cNvCxnSpPr>
          <p:nvPr userDrawn="1"/>
        </p:nvCxnSpPr>
        <p:spPr>
          <a:xfrm>
            <a:off x="1286822" y="73759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35447903-F4ED-0ED7-ACFA-0D1874C73166}"/>
              </a:ext>
            </a:extLst>
          </p:cNvPr>
          <p:cNvCxnSpPr>
            <a:cxnSpLocks/>
          </p:cNvCxnSpPr>
          <p:nvPr userDrawn="1"/>
        </p:nvCxnSpPr>
        <p:spPr>
          <a:xfrm>
            <a:off x="974992" y="90043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4B5F0C7E-934E-B416-B2C1-0ED3E1158D1B}"/>
              </a:ext>
            </a:extLst>
          </p:cNvPr>
          <p:cNvCxnSpPr>
            <a:cxnSpLocks/>
            <a:endCxn id="54" idx="5"/>
          </p:cNvCxnSpPr>
          <p:nvPr userDrawn="1"/>
        </p:nvCxnSpPr>
        <p:spPr>
          <a:xfrm flipH="1">
            <a:off x="1881300" y="902636"/>
            <a:ext cx="800116" cy="0"/>
          </a:xfrm>
          <a:prstGeom prst="line">
            <a:avLst/>
          </a:prstGeom>
          <a:ln w="1905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六边形 61">
            <a:extLst>
              <a:ext uri="{FF2B5EF4-FFF2-40B4-BE49-F238E27FC236}">
                <a16:creationId xmlns:a16="http://schemas.microsoft.com/office/drawing/2014/main" id="{E92D5E4E-5463-D659-E88A-9B0E73E8F50A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F6DAED8-09BD-99BA-55B5-30C06550058A}"/>
              </a:ext>
            </a:extLst>
          </p:cNvPr>
          <p:cNvSpPr/>
          <p:nvPr userDrawn="1"/>
        </p:nvSpPr>
        <p:spPr>
          <a:xfrm>
            <a:off x="-13621" y="0"/>
            <a:ext cx="3359650" cy="6858000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iṩ1iḍé">
            <a:extLst>
              <a:ext uri="{FF2B5EF4-FFF2-40B4-BE49-F238E27FC236}">
                <a16:creationId xmlns:a16="http://schemas.microsoft.com/office/drawing/2014/main" id="{CC34B1B4-6FB3-BEC2-20A8-5483C6F96776}"/>
              </a:ext>
            </a:extLst>
          </p:cNvPr>
          <p:cNvSpPr/>
          <p:nvPr userDrawn="1"/>
        </p:nvSpPr>
        <p:spPr>
          <a:xfrm>
            <a:off x="0" y="2689964"/>
            <a:ext cx="3798317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BB2F55FB-496C-E74E-1C82-4652339E01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8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7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后端开发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66428-CCB2-BA20-6795-2C913DCE3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1" y="3586894"/>
            <a:ext cx="4619812" cy="563562"/>
          </a:xfrm>
        </p:spPr>
        <p:txBody>
          <a:bodyPr/>
          <a:lstStyle/>
          <a:p>
            <a:r>
              <a:rPr lang="en-US" altLang="zh-CN"/>
              <a:t>Tlias</a:t>
            </a:r>
            <a:r>
              <a:rPr lang="zh-CN" altLang="en-US"/>
              <a:t>系统 </a:t>
            </a:r>
            <a:r>
              <a:rPr lang="en-US" altLang="zh-CN"/>
              <a:t>- </a:t>
            </a:r>
            <a:r>
              <a:rPr lang="zh-CN" altLang="en-US"/>
              <a:t>员工管理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F88C9E7-598C-E027-F358-897E2C4C4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</a:t>
            </a:r>
          </a:p>
        </p:txBody>
      </p:sp>
      <p:sp>
        <p:nvSpPr>
          <p:cNvPr id="6" name="!!文本占位符 17">
            <a:extLst>
              <a:ext uri="{FF2B5EF4-FFF2-40B4-BE49-F238E27FC236}">
                <a16:creationId xmlns:a16="http://schemas.microsoft.com/office/drawing/2014/main" id="{78DFFEAB-4521-D98E-E4B4-AC95EA004494}"/>
              </a:ext>
            </a:extLst>
          </p:cNvPr>
          <p:cNvSpPr txBox="1">
            <a:spLocks/>
          </p:cNvSpPr>
          <p:nvPr/>
        </p:nvSpPr>
        <p:spPr>
          <a:xfrm>
            <a:off x="10175668" y="2981235"/>
            <a:ext cx="2133602" cy="21824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>
                <a:latin typeface="+mn-ea"/>
              </a:rPr>
              <a:t>删除员工</a:t>
            </a:r>
            <a:endParaRPr lang="en-US" altLang="zh-CN">
              <a:latin typeface="+mn-ea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>
                <a:latin typeface="+mn-ea"/>
              </a:rPr>
              <a:t>修改员工</a:t>
            </a:r>
            <a:endParaRPr lang="en-US" altLang="zh-CN">
              <a:latin typeface="+mn-ea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>
                <a:latin typeface="+mn-ea"/>
              </a:rPr>
              <a:t>异常处理</a:t>
            </a:r>
            <a:endParaRPr lang="en-US" altLang="zh-CN">
              <a:latin typeface="+mn-ea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>
                <a:latin typeface="+mn-ea"/>
              </a:rPr>
              <a:t>员工信息统计</a:t>
            </a:r>
            <a:endParaRPr lang="en-US" altLang="zh-CN">
              <a:latin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B71F3A0-1B75-DDF8-D7E0-33315A722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20" y="1365844"/>
            <a:ext cx="8875058" cy="5037516"/>
          </a:xfrm>
          <a:prstGeom prst="rect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  <a:effectLst/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643745D-6303-8A77-88FD-6FA52BDCA4B5}"/>
              </a:ext>
            </a:extLst>
          </p:cNvPr>
          <p:cNvSpPr/>
          <p:nvPr/>
        </p:nvSpPr>
        <p:spPr>
          <a:xfrm>
            <a:off x="528920" y="1365844"/>
            <a:ext cx="8875058" cy="5037516"/>
          </a:xfrm>
          <a:prstGeom prst="rect">
            <a:avLst/>
          </a:prstGeom>
          <a:solidFill>
            <a:srgbClr val="262626">
              <a:alpha val="49020"/>
            </a:srgbClr>
          </a:solidFill>
          <a:ln>
            <a:solidFill>
              <a:schemeClr val="tx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98FC6AD-AE35-640E-9EC6-CFB053761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473" y="1967381"/>
            <a:ext cx="4643351" cy="3834441"/>
          </a:xfrm>
          <a:prstGeom prst="roundRect">
            <a:avLst>
              <a:gd name="adj" fmla="val 1237"/>
            </a:avLst>
          </a:prstGeom>
          <a:ln>
            <a:solidFill>
              <a:schemeClr val="tx1">
                <a:lumMod val="40000"/>
                <a:lumOff val="60000"/>
              </a:schemeClr>
            </a:solidFill>
          </a:ln>
          <a:effectLst/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4D0EDBB-216B-1D13-FA56-A69D321900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5377" y="3301897"/>
            <a:ext cx="3334677" cy="1339879"/>
          </a:xfrm>
          <a:prstGeom prst="roundRect">
            <a:avLst>
              <a:gd name="adj" fmla="val 4582"/>
            </a:avLst>
          </a:prstGeom>
          <a:ln>
            <a:solidFill>
              <a:schemeClr val="tx1">
                <a:lumMod val="40000"/>
                <a:lumOff val="60000"/>
              </a:schemeClr>
            </a:solidFill>
          </a:ln>
          <a:effectLst/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8D678AC-25CA-F3C2-E26B-8E71E48532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277" y="1365844"/>
            <a:ext cx="9473838" cy="5046482"/>
          </a:xfrm>
          <a:prstGeom prst="rect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42544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文本占位符 17">
            <a:extLst>
              <a:ext uri="{FF2B5EF4-FFF2-40B4-BE49-F238E27FC236}">
                <a16:creationId xmlns:a16="http://schemas.microsoft.com/office/drawing/2014/main" id="{AE022404-BBAB-A2F2-CC41-462893812B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删除员工</a:t>
            </a:r>
          </a:p>
          <a:p>
            <a:r>
              <a:rPr lang="zh-CN" altLang="en-US"/>
              <a:t>修改员工</a:t>
            </a:r>
            <a:endParaRPr lang="en-US" altLang="zh-CN"/>
          </a:p>
          <a:p>
            <a:r>
              <a:rPr lang="zh-CN" altLang="en-US"/>
              <a:t>异常处理</a:t>
            </a:r>
          </a:p>
          <a:p>
            <a:r>
              <a:rPr lang="zh-CN" altLang="en-US"/>
              <a:t>员工信息统计</a:t>
            </a:r>
          </a:p>
        </p:txBody>
      </p:sp>
    </p:spTree>
    <p:extLst>
      <p:ext uri="{BB962C8B-B14F-4D97-AF65-F5344CB8AC3E}">
        <p14:creationId xmlns:p14="http://schemas.microsoft.com/office/powerpoint/2010/main" val="405452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BC38AAA-FBF4-7B60-7D10-7E44A7D557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删除员工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EBAD82-7950-79DB-0D9D-3FB314D59B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373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9B4205-56F7-E56A-A094-C0ABA0D6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70129A-5E05-6A03-0B22-39BF68AEF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144" y="5730845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其实，删除单条数据也是一种特殊的批量删除，所以，删除员工的功能，我们只需要开发一个接口就可以了。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F499966-9426-D80A-55FE-592FF99C0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44" y="1166743"/>
            <a:ext cx="10515600" cy="2433302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90F141F2-DCBF-E07C-9902-4773C8BBD1A1}"/>
              </a:ext>
            </a:extLst>
          </p:cNvPr>
          <p:cNvSpPr/>
          <p:nvPr/>
        </p:nvSpPr>
        <p:spPr>
          <a:xfrm>
            <a:off x="10425507" y="2169457"/>
            <a:ext cx="493059" cy="268941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97E53FF-E411-90A2-A25E-C490BD2BD1AD}"/>
              </a:ext>
            </a:extLst>
          </p:cNvPr>
          <p:cNvSpPr/>
          <p:nvPr/>
        </p:nvSpPr>
        <p:spPr>
          <a:xfrm>
            <a:off x="2079364" y="1239221"/>
            <a:ext cx="1046559" cy="371736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EF096B3-6269-37F2-085F-C0929A44BA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29" y="2202516"/>
            <a:ext cx="215265" cy="21526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14EC366-4F91-5B62-D67D-A74B26A82E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28" y="2540336"/>
            <a:ext cx="215265" cy="2152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53C9FB4-2588-EF6E-97FB-7F7C03799B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587" y="2896200"/>
            <a:ext cx="215265" cy="215265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32B67C11-2F75-CC88-A83B-DF7CDCF4385F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0672037" y="2438398"/>
            <a:ext cx="0" cy="1454427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37705126-1271-24BD-9F67-2FAA2F42B3E9}"/>
              </a:ext>
            </a:extLst>
          </p:cNvPr>
          <p:cNvSpPr txBox="1"/>
          <p:nvPr/>
        </p:nvSpPr>
        <p:spPr>
          <a:xfrm>
            <a:off x="9871864" y="4023266"/>
            <a:ext cx="2175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</a:t>
            </a:r>
            <a:r>
              <a:rPr lang="en-US" altLang="zh-CN" sz="14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ID</a:t>
            </a: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删除单个员工信息</a:t>
            </a:r>
            <a:endParaRPr lang="zh-CN" altLang="en-US" sz="1400" dirty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2D108CD-8541-1ABE-BF4F-24977EFCB146}"/>
              </a:ext>
            </a:extLst>
          </p:cNvPr>
          <p:cNvCxnSpPr>
            <a:cxnSpLocks/>
          </p:cNvCxnSpPr>
          <p:nvPr/>
        </p:nvCxnSpPr>
        <p:spPr>
          <a:xfrm>
            <a:off x="3125923" y="1425089"/>
            <a:ext cx="1021976" cy="0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560E3406-2981-77C3-2E12-2846C3700B6B}"/>
              </a:ext>
            </a:extLst>
          </p:cNvPr>
          <p:cNvSpPr txBox="1"/>
          <p:nvPr/>
        </p:nvSpPr>
        <p:spPr>
          <a:xfrm>
            <a:off x="4172482" y="1286590"/>
            <a:ext cx="2192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</a:t>
            </a:r>
            <a:r>
              <a:rPr lang="en-US" altLang="zh-CN" sz="14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ID</a:t>
            </a: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批量</a:t>
            </a: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删除员工信息</a:t>
            </a:r>
            <a:endParaRPr lang="zh-CN" altLang="en-US" sz="1400" dirty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2755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11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F88C9E7-598C-E027-F358-897E2C4C4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删除员工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0D2992D-BB6C-4AC9-0C92-C286CECA6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550" y="1069346"/>
            <a:ext cx="7236900" cy="167461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B22DF97-7DD8-D1F3-D58C-B16253F9E8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7984" y="1781104"/>
            <a:ext cx="148147" cy="14814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4652650-6935-71AD-25DE-22C7A4A11D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7984" y="2013343"/>
            <a:ext cx="148147" cy="14814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D5BA025-F98C-0872-A58F-92EA6BEEE6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8499" y="2256882"/>
            <a:ext cx="148147" cy="14814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0072DE8-161D-A009-9806-2CFF82144E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5993" y="4457125"/>
            <a:ext cx="932333" cy="1302786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A84B1267-8418-FEC8-9093-236F171D9D99}"/>
              </a:ext>
            </a:extLst>
          </p:cNvPr>
          <p:cNvGrpSpPr/>
          <p:nvPr/>
        </p:nvGrpSpPr>
        <p:grpSpPr>
          <a:xfrm>
            <a:off x="768600" y="4792973"/>
            <a:ext cx="780070" cy="786974"/>
            <a:chOff x="1288572" y="3466291"/>
            <a:chExt cx="1076475" cy="1086002"/>
          </a:xfrm>
        </p:grpSpPr>
        <p:pic>
          <p:nvPicPr>
            <p:cNvPr id="10" name="图片 0">
              <a:extLst>
                <a:ext uri="{FF2B5EF4-FFF2-40B4-BE49-F238E27FC236}">
                  <a16:creationId xmlns:a16="http://schemas.microsoft.com/office/drawing/2014/main" id="{997CB68F-18F8-1DC7-8C96-DE673843407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88572" y="3466291"/>
              <a:ext cx="1076475" cy="1086002"/>
            </a:xfrm>
            <a:prstGeom prst="rect">
              <a:avLst/>
            </a:prstGeom>
          </p:spPr>
        </p:pic>
        <p:pic>
          <p:nvPicPr>
            <p:cNvPr id="11" name="图片 1">
              <a:extLst>
                <a:ext uri="{FF2B5EF4-FFF2-40B4-BE49-F238E27FC236}">
                  <a16:creationId xmlns:a16="http://schemas.microsoft.com/office/drawing/2014/main" id="{296036D2-A88C-C463-6D19-10F4C336CF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02940" y="3784462"/>
              <a:ext cx="447737" cy="447737"/>
            </a:xfrm>
            <a:prstGeom prst="rect">
              <a:avLst/>
            </a:prstGeom>
          </p:spPr>
        </p:pic>
      </p:grpSp>
      <p:sp>
        <p:nvSpPr>
          <p:cNvPr id="12" name="箭头: 右 11">
            <a:extLst>
              <a:ext uri="{FF2B5EF4-FFF2-40B4-BE49-F238E27FC236}">
                <a16:creationId xmlns:a16="http://schemas.microsoft.com/office/drawing/2014/main" id="{6C0BD278-7C14-3BBE-DAD2-B7A28D2E1864}"/>
              </a:ext>
            </a:extLst>
          </p:cNvPr>
          <p:cNvSpPr/>
          <p:nvPr/>
        </p:nvSpPr>
        <p:spPr>
          <a:xfrm>
            <a:off x="1716227" y="4990698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3E61059B-198C-D940-2789-C41CB7FD3F80}"/>
              </a:ext>
            </a:extLst>
          </p:cNvPr>
          <p:cNvSpPr/>
          <p:nvPr/>
        </p:nvSpPr>
        <p:spPr>
          <a:xfrm>
            <a:off x="4432533" y="4990698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D15EA0A2-C788-3081-8250-E152A1F84378}"/>
              </a:ext>
            </a:extLst>
          </p:cNvPr>
          <p:cNvSpPr/>
          <p:nvPr/>
        </p:nvSpPr>
        <p:spPr>
          <a:xfrm>
            <a:off x="7229520" y="4990698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D1B645BE-A7C9-4848-D4FE-2FE37DCD07DD}"/>
              </a:ext>
            </a:extLst>
          </p:cNvPr>
          <p:cNvSpPr/>
          <p:nvPr/>
        </p:nvSpPr>
        <p:spPr>
          <a:xfrm>
            <a:off x="9945826" y="4990698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916F69C-D2C6-AFA9-FCB1-858E32796F2E}"/>
              </a:ext>
            </a:extLst>
          </p:cNvPr>
          <p:cNvGrpSpPr/>
          <p:nvPr/>
        </p:nvGrpSpPr>
        <p:grpSpPr>
          <a:xfrm>
            <a:off x="2346394" y="3955515"/>
            <a:ext cx="1900517" cy="2611635"/>
            <a:chOff x="2303931" y="2912210"/>
            <a:chExt cx="1900517" cy="2611635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6DCAA82-E687-1BDB-4210-7A39CA0BB751}"/>
                </a:ext>
              </a:extLst>
            </p:cNvPr>
            <p:cNvSpPr/>
            <p:nvPr/>
          </p:nvSpPr>
          <p:spPr>
            <a:xfrm>
              <a:off x="2303931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Controller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流程图: 文档 17">
              <a:extLst>
                <a:ext uri="{FF2B5EF4-FFF2-40B4-BE49-F238E27FC236}">
                  <a16:creationId xmlns:a16="http://schemas.microsoft.com/office/drawing/2014/main" id="{04F8F8A9-9A18-9D30-BDDF-F920F41F32BE}"/>
                </a:ext>
              </a:extLst>
            </p:cNvPr>
            <p:cNvSpPr/>
            <p:nvPr/>
          </p:nvSpPr>
          <p:spPr>
            <a:xfrm>
              <a:off x="2303931" y="3316712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9" name="!!流程图: 文档 1">
            <a:extLst>
              <a:ext uri="{FF2B5EF4-FFF2-40B4-BE49-F238E27FC236}">
                <a16:creationId xmlns:a16="http://schemas.microsoft.com/office/drawing/2014/main" id="{56F4E049-5904-CA8F-0027-1EF86DD1713F}"/>
              </a:ext>
            </a:extLst>
          </p:cNvPr>
          <p:cNvSpPr/>
          <p:nvPr/>
        </p:nvSpPr>
        <p:spPr>
          <a:xfrm>
            <a:off x="2346393" y="4356207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接收请求参数</a:t>
            </a: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(ID</a:t>
            </a: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值</a:t>
            </a: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en-US" altLang="zh-CN" sz="11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</a:t>
            </a: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Service</a:t>
            </a:r>
            <a:r>
              <a:rPr lang="zh-CN" altLang="en-US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方法</a:t>
            </a:r>
            <a:endParaRPr lang="en-US" altLang="zh-CN" sz="11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响应结果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DF3188B-1A64-D1B1-E08D-B7ABC3D0CDBD}"/>
              </a:ext>
            </a:extLst>
          </p:cNvPr>
          <p:cNvGrpSpPr/>
          <p:nvPr/>
        </p:nvGrpSpPr>
        <p:grpSpPr>
          <a:xfrm>
            <a:off x="5143381" y="3955515"/>
            <a:ext cx="1900517" cy="2615624"/>
            <a:chOff x="5100918" y="2912210"/>
            <a:chExt cx="1900517" cy="2615624"/>
          </a:xfrm>
        </p:grpSpPr>
        <p:sp>
          <p:nvSpPr>
            <p:cNvPr id="21" name="流程图: 文档 20">
              <a:extLst>
                <a:ext uri="{FF2B5EF4-FFF2-40B4-BE49-F238E27FC236}">
                  <a16:creationId xmlns:a16="http://schemas.microsoft.com/office/drawing/2014/main" id="{A5B77336-AF3E-2B03-A2FF-3E07B8503C2C}"/>
                </a:ext>
              </a:extLst>
            </p:cNvPr>
            <p:cNvSpPr/>
            <p:nvPr/>
          </p:nvSpPr>
          <p:spPr>
            <a:xfrm>
              <a:off x="5100918" y="3320701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E1AC3FC-6070-8DB9-49F8-CBC43BA750BF}"/>
                </a:ext>
              </a:extLst>
            </p:cNvPr>
            <p:cNvSpPr/>
            <p:nvPr/>
          </p:nvSpPr>
          <p:spPr>
            <a:xfrm>
              <a:off x="5100918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Service</a:t>
              </a:r>
              <a:endParaRPr lang="zh-CN" altLang="en-US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3" name="流程图: 文档 22">
            <a:extLst>
              <a:ext uri="{FF2B5EF4-FFF2-40B4-BE49-F238E27FC236}">
                <a16:creationId xmlns:a16="http://schemas.microsoft.com/office/drawing/2014/main" id="{73C5D1B6-B041-ABD4-AB4F-A95EA4FB2C99}"/>
              </a:ext>
            </a:extLst>
          </p:cNvPr>
          <p:cNvSpPr/>
          <p:nvPr/>
        </p:nvSpPr>
        <p:spPr>
          <a:xfrm>
            <a:off x="5143381" y="4358926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批量删除员工基本信息</a:t>
            </a:r>
            <a:endParaRPr lang="en-US" altLang="zh-CN" sz="1100">
              <a:solidFill>
                <a:srgbClr val="FF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批量删除员工的工作经历信息</a:t>
            </a:r>
            <a:endParaRPr lang="en-US" altLang="zh-CN" sz="1100">
              <a:solidFill>
                <a:srgbClr val="FF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005631E-406E-8513-2BEC-21BCD5DF7012}"/>
              </a:ext>
            </a:extLst>
          </p:cNvPr>
          <p:cNvGrpSpPr/>
          <p:nvPr/>
        </p:nvGrpSpPr>
        <p:grpSpPr>
          <a:xfrm>
            <a:off x="7940367" y="3955515"/>
            <a:ext cx="1900518" cy="2607825"/>
            <a:chOff x="7897904" y="2912210"/>
            <a:chExt cx="1900518" cy="2607825"/>
          </a:xfrm>
        </p:grpSpPr>
        <p:sp>
          <p:nvSpPr>
            <p:cNvPr id="25" name="流程图: 文档 24">
              <a:extLst>
                <a:ext uri="{FF2B5EF4-FFF2-40B4-BE49-F238E27FC236}">
                  <a16:creationId xmlns:a16="http://schemas.microsoft.com/office/drawing/2014/main" id="{67AAD3C7-3589-181C-2A4E-8FDA1E602709}"/>
                </a:ext>
              </a:extLst>
            </p:cNvPr>
            <p:cNvSpPr/>
            <p:nvPr/>
          </p:nvSpPr>
          <p:spPr>
            <a:xfrm>
              <a:off x="7897904" y="3312902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D947A95D-D554-9596-2C82-BB38E56505DE}"/>
                </a:ext>
              </a:extLst>
            </p:cNvPr>
            <p:cNvSpPr/>
            <p:nvPr/>
          </p:nvSpPr>
          <p:spPr>
            <a:xfrm>
              <a:off x="7897905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Mapper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7" name="!!流程图: 文档 22">
            <a:extLst>
              <a:ext uri="{FF2B5EF4-FFF2-40B4-BE49-F238E27FC236}">
                <a16:creationId xmlns:a16="http://schemas.microsoft.com/office/drawing/2014/main" id="{6D9EF768-8682-BC93-6162-18CA4D7FE10F}"/>
              </a:ext>
            </a:extLst>
          </p:cNvPr>
          <p:cNvSpPr/>
          <p:nvPr/>
        </p:nvSpPr>
        <p:spPr>
          <a:xfrm>
            <a:off x="7940366" y="4356206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altLang="zh-CN" sz="1200" b="1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SQL: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sz="10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delete emp where id in (?,?,?);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sz="10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delete emp_expr where emp_id in(?,?,?); </a:t>
            </a:r>
            <a:endParaRPr lang="zh-CN" altLang="en-US" sz="10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255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9" grpId="0" animBg="1"/>
      <p:bldP spid="23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9B4205-56F7-E56A-A094-C0ABA0D6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删除员工</a:t>
            </a:r>
            <a:r>
              <a:rPr lang="en-US" altLang="zh-CN"/>
              <a:t>-Controller</a:t>
            </a:r>
            <a:r>
              <a:rPr lang="zh-CN" altLang="en-US"/>
              <a:t>接收请求参数</a:t>
            </a:r>
          </a:p>
        </p:txBody>
      </p:sp>
      <p:grpSp>
        <p:nvGrpSpPr>
          <p:cNvPr id="4" name="组合 2">
            <a:extLst>
              <a:ext uri="{FF2B5EF4-FFF2-40B4-BE49-F238E27FC236}">
                <a16:creationId xmlns:a16="http://schemas.microsoft.com/office/drawing/2014/main" id="{012EF7B8-DF1F-8AA5-E7B7-9EBA994EE496}"/>
              </a:ext>
            </a:extLst>
          </p:cNvPr>
          <p:cNvGrpSpPr/>
          <p:nvPr/>
        </p:nvGrpSpPr>
        <p:grpSpPr>
          <a:xfrm>
            <a:off x="936658" y="2816244"/>
            <a:ext cx="4971025" cy="1712510"/>
            <a:chOff x="2297721" y="3660322"/>
            <a:chExt cx="5477147" cy="1712612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09D4613F-C7B3-F2D6-68EC-5616EDA9976F}"/>
                </a:ext>
              </a:extLst>
            </p:cNvPr>
            <p:cNvSpPr/>
            <p:nvPr/>
          </p:nvSpPr>
          <p:spPr>
            <a:xfrm>
              <a:off x="2297728" y="3660324"/>
              <a:ext cx="5477140" cy="1712610"/>
            </a:xfrm>
            <a:prstGeom prst="roundRect">
              <a:avLst>
                <a:gd name="adj" fmla="val 414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9E880D"/>
                  </a:solidFill>
                  <a:effectLst/>
                </a:rPr>
                <a:t>@DeleteMapping</a:t>
              </a:r>
              <a:br>
                <a:rPr lang="en-US" altLang="zh-CN" sz="1200">
                  <a:solidFill>
                    <a:srgbClr val="9E880D"/>
                  </a:solidFill>
                  <a:effectLst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</a:rPr>
                <a:t>public 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Result </a:t>
              </a:r>
              <a:r>
                <a:rPr lang="en-US" altLang="zh-CN" sz="1200">
                  <a:solidFill>
                    <a:srgbClr val="00627A"/>
                  </a:solidFill>
                  <a:effectLst/>
                </a:rPr>
                <a:t>delete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(Integer[] ids){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200" i="1">
                  <a:solidFill>
                    <a:srgbClr val="871094"/>
                  </a:solidFill>
                  <a:effectLst/>
                </a:rPr>
                <a:t>log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.info(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根据</a:t>
              </a:r>
              <a:r>
                <a:rPr lang="en-US" altLang="zh-CN" sz="12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id</a:t>
              </a:r>
              <a:r>
                <a:rPr lang="zh-CN" altLang="en-US" sz="12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批量删除员工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:{} "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, ids);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</a:rPr>
                <a:t>return 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Result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.</a:t>
              </a:r>
              <a:r>
                <a:rPr lang="en-US" altLang="zh-CN" sz="1200" i="1">
                  <a:solidFill>
                    <a:srgbClr val="080808"/>
                  </a:solidFill>
                  <a:effectLst/>
                </a:rPr>
                <a:t>success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();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}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37284D32-D233-6A10-FFF5-D72F72976A90}"/>
                </a:ext>
              </a:extLst>
            </p:cNvPr>
            <p:cNvSpPr/>
            <p:nvPr/>
          </p:nvSpPr>
          <p:spPr>
            <a:xfrm>
              <a:off x="2297721" y="3660322"/>
              <a:ext cx="5477140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EmpController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55B29F7B-CC9F-2520-A60D-548725BE0A38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A3151AE8-F5D1-B5EC-A7D7-F291C2E79E02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43732D02-8B4C-6339-26F3-6B6662DCA649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文本占位符 4">
            <a:extLst>
              <a:ext uri="{FF2B5EF4-FFF2-40B4-BE49-F238E27FC236}">
                <a16:creationId xmlns:a16="http://schemas.microsoft.com/office/drawing/2014/main" id="{5EAFFBC2-4052-C3D6-D78A-3135FBEFC05F}"/>
              </a:ext>
            </a:extLst>
          </p:cNvPr>
          <p:cNvSpPr txBox="1">
            <a:spLocks/>
          </p:cNvSpPr>
          <p:nvPr/>
        </p:nvSpPr>
        <p:spPr>
          <a:xfrm>
            <a:off x="638965" y="2329245"/>
            <a:ext cx="5268712" cy="347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方式一：在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Controller</a:t>
            </a:r>
            <a:r>
              <a:rPr lang="zh-CN" altLang="en-US">
                <a:latin typeface="Fira Code" panose="020B0809050000020004" pitchFamily="49" charset="0"/>
              </a:rPr>
              <a:t>方法中通过数组来接收</a:t>
            </a:r>
          </a:p>
        </p:txBody>
      </p:sp>
      <p:sp>
        <p:nvSpPr>
          <p:cNvPr id="11" name="!!流程图: 文档 1">
            <a:extLst>
              <a:ext uri="{FF2B5EF4-FFF2-40B4-BE49-F238E27FC236}">
                <a16:creationId xmlns:a16="http://schemas.microsoft.com/office/drawing/2014/main" id="{AFF3FD33-5EBA-C05F-EA52-102350BDC4BF}"/>
              </a:ext>
            </a:extLst>
          </p:cNvPr>
          <p:cNvSpPr/>
          <p:nvPr/>
        </p:nvSpPr>
        <p:spPr>
          <a:xfrm>
            <a:off x="654210" y="1161374"/>
            <a:ext cx="10620786" cy="685356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bg1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接收请求参数：</a:t>
            </a:r>
            <a:r>
              <a:rPr lang="en-US" altLang="zh-CN" sz="1400">
                <a:solidFill>
                  <a:schemeClr val="bg1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DELETE </a:t>
            </a:r>
            <a:r>
              <a:rPr lang="en-US" altLang="zh-CN" sz="1200">
                <a:solidFill>
                  <a:schemeClr val="bg1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/emps?ids=1,2,3</a:t>
            </a:r>
            <a:endParaRPr lang="en-US" altLang="zh-CN" sz="1400">
              <a:solidFill>
                <a:schemeClr val="bg1"/>
              </a:solidFill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文本占位符 4">
            <a:extLst>
              <a:ext uri="{FF2B5EF4-FFF2-40B4-BE49-F238E27FC236}">
                <a16:creationId xmlns:a16="http://schemas.microsoft.com/office/drawing/2014/main" id="{1473E83C-0AB9-AFB5-EE1D-7B4958CAEC74}"/>
              </a:ext>
            </a:extLst>
          </p:cNvPr>
          <p:cNvSpPr txBox="1">
            <a:spLocks/>
          </p:cNvSpPr>
          <p:nvPr/>
        </p:nvSpPr>
        <p:spPr>
          <a:xfrm>
            <a:off x="6173671" y="2255561"/>
            <a:ext cx="5268712" cy="517191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方式二：在</a:t>
            </a:r>
            <a:r>
              <a:rPr 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Controller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方法中通过集合来接收</a:t>
            </a:r>
          </a:p>
        </p:txBody>
      </p:sp>
      <p:grpSp>
        <p:nvGrpSpPr>
          <p:cNvPr id="13" name="组合 2">
            <a:extLst>
              <a:ext uri="{FF2B5EF4-FFF2-40B4-BE49-F238E27FC236}">
                <a16:creationId xmlns:a16="http://schemas.microsoft.com/office/drawing/2014/main" id="{F286B6D7-5C18-6D9E-1D5E-169097D3A224}"/>
              </a:ext>
            </a:extLst>
          </p:cNvPr>
          <p:cNvGrpSpPr/>
          <p:nvPr/>
        </p:nvGrpSpPr>
        <p:grpSpPr>
          <a:xfrm>
            <a:off x="6322514" y="2853436"/>
            <a:ext cx="5368877" cy="1712510"/>
            <a:chOff x="2297721" y="3660322"/>
            <a:chExt cx="5915506" cy="1712612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09AF0E4D-EC8A-D928-7B83-92B82AFC8F2B}"/>
                </a:ext>
              </a:extLst>
            </p:cNvPr>
            <p:cNvSpPr/>
            <p:nvPr/>
          </p:nvSpPr>
          <p:spPr>
            <a:xfrm>
              <a:off x="2297728" y="3660324"/>
              <a:ext cx="5915499" cy="1712610"/>
            </a:xfrm>
            <a:prstGeom prst="roundRect">
              <a:avLst>
                <a:gd name="adj" fmla="val 414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9E880D"/>
                  </a:solidFill>
                  <a:effectLst/>
                </a:rPr>
                <a:t>@DeleteMapping</a:t>
              </a:r>
              <a:br>
                <a:rPr lang="en-US" altLang="zh-CN" sz="1200">
                  <a:solidFill>
                    <a:srgbClr val="9E880D"/>
                  </a:solidFill>
                  <a:effectLst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</a:rPr>
                <a:t>public 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Result </a:t>
              </a:r>
              <a:r>
                <a:rPr lang="en-US" altLang="zh-CN" sz="1200">
                  <a:solidFill>
                    <a:srgbClr val="00627A"/>
                  </a:solidFill>
                  <a:effectLst/>
                </a:rPr>
                <a:t>delete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200">
                  <a:solidFill>
                    <a:srgbClr val="9E880D"/>
                  </a:solidFill>
                  <a:effectLst/>
                </a:rPr>
                <a:t>@RequestParam 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List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&lt;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Integer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&gt; ids){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200" i="1">
                  <a:solidFill>
                    <a:srgbClr val="871094"/>
                  </a:solidFill>
                  <a:effectLst/>
                </a:rPr>
                <a:t>log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.info(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根据</a:t>
              </a:r>
              <a:r>
                <a:rPr lang="en-US" altLang="zh-CN" sz="12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id</a:t>
              </a:r>
              <a:r>
                <a:rPr lang="zh-CN" altLang="en-US" sz="12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批量删除员工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:{} "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, ids);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</a:rPr>
                <a:t>return 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Result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.</a:t>
              </a:r>
              <a:r>
                <a:rPr lang="en-US" altLang="zh-CN" sz="1200" i="1">
                  <a:solidFill>
                    <a:srgbClr val="080808"/>
                  </a:solidFill>
                  <a:effectLst/>
                </a:rPr>
                <a:t>success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();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}</a:t>
              </a:r>
            </a:p>
          </p:txBody>
        </p:sp>
        <p:sp>
          <p:nvSpPr>
            <p:cNvPr id="15" name="矩形: 圆顶角 14">
              <a:extLst>
                <a:ext uri="{FF2B5EF4-FFF2-40B4-BE49-F238E27FC236}">
                  <a16:creationId xmlns:a16="http://schemas.microsoft.com/office/drawing/2014/main" id="{29282099-C502-1C6C-6805-D61D94A7E6B3}"/>
                </a:ext>
              </a:extLst>
            </p:cNvPr>
            <p:cNvSpPr/>
            <p:nvPr/>
          </p:nvSpPr>
          <p:spPr>
            <a:xfrm>
              <a:off x="2297721" y="3660322"/>
              <a:ext cx="5915499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EmpController</a:t>
              </a: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6C041A6-5171-2091-2C87-F925E73EE1FA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9919B39-D4B2-AEE9-F9C0-33AFB52F3AD8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BD422905-6F03-7A5E-4CD5-F39A9442D223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658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F88C9E7-598C-E027-F358-897E2C4C4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删除员工</a:t>
            </a:r>
            <a:r>
              <a:rPr lang="en-US" altLang="zh-CN"/>
              <a:t>-Service&amp;Mapper</a:t>
            </a:r>
            <a:endParaRPr lang="zh-CN" altLang="en-US"/>
          </a:p>
        </p:txBody>
      </p:sp>
      <p:grpSp>
        <p:nvGrpSpPr>
          <p:cNvPr id="2" name="组合 2">
            <a:extLst>
              <a:ext uri="{FF2B5EF4-FFF2-40B4-BE49-F238E27FC236}">
                <a16:creationId xmlns:a16="http://schemas.microsoft.com/office/drawing/2014/main" id="{E91040C2-B24B-D855-86AB-21105C304BF0}"/>
              </a:ext>
            </a:extLst>
          </p:cNvPr>
          <p:cNvGrpSpPr/>
          <p:nvPr/>
        </p:nvGrpSpPr>
        <p:grpSpPr>
          <a:xfrm>
            <a:off x="576197" y="2510573"/>
            <a:ext cx="4408179" cy="2294508"/>
            <a:chOff x="2297722" y="3660322"/>
            <a:chExt cx="4856995" cy="2294644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68C613C3-FB13-E583-F5BC-A157FD9F53D4}"/>
                </a:ext>
              </a:extLst>
            </p:cNvPr>
            <p:cNvSpPr/>
            <p:nvPr/>
          </p:nvSpPr>
          <p:spPr>
            <a:xfrm>
              <a:off x="2297729" y="3660323"/>
              <a:ext cx="4856988" cy="2294643"/>
            </a:xfrm>
            <a:prstGeom prst="roundRect">
              <a:avLst>
                <a:gd name="adj" fmla="val 3749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9E880D"/>
                  </a:solidFill>
                  <a:effectLst/>
                </a:rPr>
                <a:t>@Transactional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(rollbackFor = {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Exception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class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})</a:t>
              </a:r>
              <a:br>
                <a:rPr lang="en-US" altLang="zh-CN" sz="1100">
                  <a:solidFill>
                    <a:srgbClr val="9E880D"/>
                  </a:solidFill>
                  <a:effectLst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</a:rPr>
                <a:t>public void </a:t>
              </a:r>
              <a:r>
                <a:rPr lang="en-US" altLang="zh-CN" sz="1200">
                  <a:solidFill>
                    <a:srgbClr val="00627A"/>
                  </a:solidFill>
                  <a:effectLst/>
                </a:rPr>
                <a:t>deleteByIds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List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&lt;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Integer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&gt; ids) {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20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//1. </a:t>
              </a:r>
              <a:r>
                <a:rPr lang="zh-CN" altLang="en-US" sz="120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根据</a:t>
              </a:r>
              <a:r>
                <a:rPr lang="en-US" altLang="zh-CN" sz="120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ID</a:t>
              </a:r>
              <a:r>
                <a:rPr lang="zh-CN" altLang="en-US" sz="120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删除员工基本信息</a:t>
              </a:r>
              <a:br>
                <a:rPr lang="zh-CN" altLang="en-US" sz="120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</a:br>
              <a:r>
                <a:rPr lang="zh-CN" altLang="en-US" sz="120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  <a:t>    </a:t>
              </a:r>
              <a:r>
                <a:rPr lang="en-US" altLang="zh-CN" sz="1200">
                  <a:solidFill>
                    <a:srgbClr val="871094"/>
                  </a:solidFill>
                  <a:effectLst/>
                </a:rPr>
                <a:t>empMapper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.deleteByIds(ids);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20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//2. </a:t>
              </a:r>
              <a:r>
                <a:rPr lang="zh-CN" altLang="en-US" sz="120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根据</a:t>
              </a:r>
              <a:r>
                <a:rPr lang="en-US" altLang="zh-CN" sz="120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ID</a:t>
              </a:r>
              <a:r>
                <a:rPr lang="zh-CN" altLang="en-US" sz="120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删除员工的工作经历信息</a:t>
              </a:r>
              <a:br>
                <a:rPr lang="zh-CN" altLang="en-US" sz="120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</a:br>
              <a:r>
                <a:rPr lang="zh-CN" altLang="en-US" sz="120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  <a:t>    </a:t>
              </a:r>
              <a:r>
                <a:rPr lang="en-US" altLang="zh-CN" sz="1200">
                  <a:solidFill>
                    <a:srgbClr val="871094"/>
                  </a:solidFill>
                  <a:effectLst/>
                </a:rPr>
                <a:t>empExprMapper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.deleteByEmpIds(ids);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}</a:t>
              </a:r>
              <a:endParaRPr lang="en-US" altLang="zh-CN" sz="1100">
                <a:solidFill>
                  <a:srgbClr val="080808"/>
                </a:solidFill>
                <a:effectLst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BDD1D288-2DBA-F867-4DDC-CF7E684A66CC}"/>
                </a:ext>
              </a:extLst>
            </p:cNvPr>
            <p:cNvSpPr/>
            <p:nvPr/>
          </p:nvSpPr>
          <p:spPr>
            <a:xfrm>
              <a:off x="2297722" y="3660322"/>
              <a:ext cx="4856988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EmpServiceImpl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8169C99B-0A3E-3734-E049-D9539E828734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33B90438-A1FD-F78B-2843-A19CC8343BE8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B933A432-6112-1F01-FE06-AC8C1CA9BD9F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2">
            <a:extLst>
              <a:ext uri="{FF2B5EF4-FFF2-40B4-BE49-F238E27FC236}">
                <a16:creationId xmlns:a16="http://schemas.microsoft.com/office/drawing/2014/main" id="{683F5A8E-0E72-C213-B616-5D4D0D73DFC5}"/>
              </a:ext>
            </a:extLst>
          </p:cNvPr>
          <p:cNvGrpSpPr/>
          <p:nvPr/>
        </p:nvGrpSpPr>
        <p:grpSpPr>
          <a:xfrm>
            <a:off x="5115832" y="1172744"/>
            <a:ext cx="6636900" cy="2270841"/>
            <a:chOff x="2297721" y="3660322"/>
            <a:chExt cx="7312631" cy="2270975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B975EC20-3068-8B21-DA01-4B478AAEFAC1}"/>
                </a:ext>
              </a:extLst>
            </p:cNvPr>
            <p:cNvSpPr/>
            <p:nvPr/>
          </p:nvSpPr>
          <p:spPr>
            <a:xfrm>
              <a:off x="2297728" y="3660324"/>
              <a:ext cx="7312624" cy="2270973"/>
            </a:xfrm>
            <a:prstGeom prst="roundRect">
              <a:avLst>
                <a:gd name="adj" fmla="val 311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100" i="1">
                  <a:solidFill>
                    <a:srgbClr val="8C8C8C"/>
                  </a:solidFill>
                  <a:effectLst/>
                </a:rPr>
                <a:t>&lt;!-- </a:t>
              </a:r>
              <a:r>
                <a:rPr lang="zh-CN" altLang="en-US" sz="110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根据</a:t>
              </a:r>
              <a:r>
                <a:rPr lang="en-US" altLang="zh-CN" sz="110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ID</a:t>
              </a:r>
              <a:r>
                <a:rPr lang="zh-CN" altLang="en-US" sz="110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批量删除员工信息 </a:t>
              </a:r>
              <a:r>
                <a:rPr lang="en-US" altLang="zh-CN" sz="1100" i="1">
                  <a:solidFill>
                    <a:srgbClr val="8C8C8C"/>
                  </a:solidFill>
                  <a:effectLst/>
                </a:rPr>
                <a:t>--&gt;</a:t>
              </a:r>
              <a:br>
                <a:rPr lang="en-US" altLang="zh-CN" sz="1100" i="1">
                  <a:solidFill>
                    <a:srgbClr val="8C8C8C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&lt;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delete </a:t>
              </a:r>
              <a:r>
                <a:rPr lang="en-US" altLang="zh-CN" sz="1100">
                  <a:solidFill>
                    <a:srgbClr val="174AD4"/>
                  </a:solidFill>
                  <a:effectLst/>
                </a:rPr>
                <a:t>id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="deleteByIds"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delete from emp where id in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&lt;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foreach </a:t>
              </a:r>
              <a:r>
                <a:rPr lang="en-US" altLang="zh-CN" sz="1100">
                  <a:solidFill>
                    <a:srgbClr val="174AD4"/>
                  </a:solidFill>
                  <a:effectLst/>
                </a:rPr>
                <a:t>collection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="ids" </a:t>
              </a:r>
              <a:r>
                <a:rPr lang="en-US" altLang="zh-CN" sz="1100">
                  <a:solidFill>
                    <a:srgbClr val="174AD4"/>
                  </a:solidFill>
                  <a:effectLst/>
                </a:rPr>
                <a:t>item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="id" </a:t>
              </a:r>
              <a:r>
                <a:rPr lang="en-US" altLang="zh-CN" sz="1100">
                  <a:solidFill>
                    <a:srgbClr val="174AD4"/>
                  </a:solidFill>
                  <a:effectLst/>
                </a:rPr>
                <a:t>separator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="," </a:t>
              </a:r>
              <a:r>
                <a:rPr lang="en-US" altLang="zh-CN" sz="1100">
                  <a:solidFill>
                    <a:srgbClr val="174AD4"/>
                  </a:solidFill>
                  <a:effectLst/>
                </a:rPr>
                <a:t>open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="(" </a:t>
              </a:r>
              <a:r>
                <a:rPr lang="en-US" altLang="zh-CN" sz="1100">
                  <a:solidFill>
                    <a:srgbClr val="174AD4"/>
                  </a:solidFill>
                  <a:effectLst/>
                </a:rPr>
                <a:t>close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=")"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 #{id}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&lt;/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foreach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&lt;/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delete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</a:t>
              </a: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6E42C8AB-18B6-C012-90D2-FEC849AFF37A}"/>
                </a:ext>
              </a:extLst>
            </p:cNvPr>
            <p:cNvSpPr/>
            <p:nvPr/>
          </p:nvSpPr>
          <p:spPr>
            <a:xfrm>
              <a:off x="2297721" y="3660322"/>
              <a:ext cx="7312624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EmpMapper.xml</a:t>
              </a: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8C8D8121-0B56-6C7E-80FE-C6CACDAF68A9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2A1953C3-A1A9-57E5-BB86-7F571EC06CEE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912DA3A4-0C74-CCD1-792C-8BEB15FBA472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2">
            <a:extLst>
              <a:ext uri="{FF2B5EF4-FFF2-40B4-BE49-F238E27FC236}">
                <a16:creationId xmlns:a16="http://schemas.microsoft.com/office/drawing/2014/main" id="{1D5A9247-F721-9092-B207-2B2394BC2889}"/>
              </a:ext>
            </a:extLst>
          </p:cNvPr>
          <p:cNvGrpSpPr/>
          <p:nvPr/>
        </p:nvGrpSpPr>
        <p:grpSpPr>
          <a:xfrm>
            <a:off x="5115832" y="3922058"/>
            <a:ext cx="6636894" cy="2154369"/>
            <a:chOff x="2297721" y="3660322"/>
            <a:chExt cx="7312625" cy="2154496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2AE743F5-E85F-733C-6661-0951C86C90A7}"/>
                </a:ext>
              </a:extLst>
            </p:cNvPr>
            <p:cNvSpPr/>
            <p:nvPr/>
          </p:nvSpPr>
          <p:spPr>
            <a:xfrm>
              <a:off x="2297728" y="3660324"/>
              <a:ext cx="7312618" cy="2154494"/>
            </a:xfrm>
            <a:prstGeom prst="roundRect">
              <a:avLst>
                <a:gd name="adj" fmla="val 311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100" i="1">
                  <a:solidFill>
                    <a:srgbClr val="8C8C8C"/>
                  </a:solidFill>
                  <a:effectLst/>
                </a:rPr>
                <a:t>&lt;!--</a:t>
              </a:r>
              <a:r>
                <a:rPr lang="zh-CN" altLang="en-US" sz="110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根据员工</a:t>
              </a:r>
              <a:r>
                <a:rPr lang="en-US" altLang="zh-CN" sz="110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ID</a:t>
              </a:r>
              <a:r>
                <a:rPr lang="zh-CN" altLang="en-US" sz="110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批量删除员工工作经历信息</a:t>
              </a:r>
              <a:r>
                <a:rPr lang="en-US" altLang="zh-CN" sz="1100" i="1">
                  <a:solidFill>
                    <a:srgbClr val="8C8C8C"/>
                  </a:solidFill>
                  <a:effectLst/>
                </a:rPr>
                <a:t>--&gt;</a:t>
              </a:r>
              <a:br>
                <a:rPr lang="en-US" altLang="zh-CN" sz="1100" i="1">
                  <a:solidFill>
                    <a:srgbClr val="8C8C8C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&lt;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delete </a:t>
              </a:r>
              <a:r>
                <a:rPr lang="en-US" altLang="zh-CN" sz="1100">
                  <a:solidFill>
                    <a:srgbClr val="174AD4"/>
                  </a:solidFill>
                  <a:effectLst/>
                </a:rPr>
                <a:t>id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="deleteByEmpIds"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delete from emp_expr where emp_id in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&lt;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foreach </a:t>
              </a:r>
              <a:r>
                <a:rPr lang="en-US" altLang="zh-CN" sz="1100">
                  <a:solidFill>
                    <a:srgbClr val="174AD4"/>
                  </a:solidFill>
                  <a:effectLst/>
                </a:rPr>
                <a:t>collection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="empIds" </a:t>
              </a:r>
              <a:r>
                <a:rPr lang="en-US" altLang="zh-CN" sz="1100">
                  <a:solidFill>
                    <a:srgbClr val="174AD4"/>
                  </a:solidFill>
                  <a:effectLst/>
                </a:rPr>
                <a:t>item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="empId" </a:t>
              </a:r>
              <a:r>
                <a:rPr lang="en-US" altLang="zh-CN" sz="1100">
                  <a:solidFill>
                    <a:srgbClr val="174AD4"/>
                  </a:solidFill>
                  <a:effectLst/>
                </a:rPr>
                <a:t>separator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="," </a:t>
              </a:r>
              <a:r>
                <a:rPr lang="en-US" altLang="zh-CN" sz="1100">
                  <a:solidFill>
                    <a:srgbClr val="174AD4"/>
                  </a:solidFill>
                  <a:effectLst/>
                </a:rPr>
                <a:t>open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="(" </a:t>
              </a:r>
              <a:r>
                <a:rPr lang="en-US" altLang="zh-CN" sz="1100">
                  <a:solidFill>
                    <a:srgbClr val="174AD4"/>
                  </a:solidFill>
                  <a:effectLst/>
                </a:rPr>
                <a:t>close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=")"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  #{empId}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&lt;/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foreach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&lt;/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delete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</a:t>
              </a:r>
            </a:p>
          </p:txBody>
        </p:sp>
        <p:sp>
          <p:nvSpPr>
            <p:cNvPr id="18" name="矩形: 圆顶角 17">
              <a:extLst>
                <a:ext uri="{FF2B5EF4-FFF2-40B4-BE49-F238E27FC236}">
                  <a16:creationId xmlns:a16="http://schemas.microsoft.com/office/drawing/2014/main" id="{549DF7D0-995B-D18E-7747-460F6C01D130}"/>
                </a:ext>
              </a:extLst>
            </p:cNvPr>
            <p:cNvSpPr/>
            <p:nvPr/>
          </p:nvSpPr>
          <p:spPr>
            <a:xfrm>
              <a:off x="2297721" y="3660322"/>
              <a:ext cx="7312618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EmpExprMapper.xml</a:t>
              </a: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2B0AB427-C48E-187C-B014-8FCFBA3637DF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5FAE8230-D5FB-3EBC-D1E6-A62DF05B8A7F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3FFF8BBC-1062-FD0D-838B-6858C44010B8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Rectangle 1">
            <a:extLst>
              <a:ext uri="{FF2B5EF4-FFF2-40B4-BE49-F238E27FC236}">
                <a16:creationId xmlns:a16="http://schemas.microsoft.com/office/drawing/2014/main" id="{AB60D0AB-D650-7E5C-3192-F450DA395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840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022404-BBAB-A2F2-CC41-462893812B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删除员工</a:t>
            </a:r>
          </a:p>
          <a:p>
            <a:r>
              <a:rPr lang="zh-CN" altLang="en-US">
                <a:solidFill>
                  <a:srgbClr val="C00000"/>
                </a:solidFill>
              </a:rPr>
              <a:t>修改员工</a:t>
            </a:r>
          </a:p>
          <a:p>
            <a:r>
              <a:rPr lang="zh-CN" altLang="en-US"/>
              <a:t>异常处理</a:t>
            </a:r>
            <a:endParaRPr lang="en-US" altLang="zh-CN"/>
          </a:p>
          <a:p>
            <a:r>
              <a:rPr lang="zh-CN" altLang="en-US"/>
              <a:t>员工信息统计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096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7D1F5E-651D-1513-ADD0-67A3B63FB3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修改员工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14A9C44-B0CE-52FA-A8B2-8CF48EC92E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5039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F88C9E7-598C-E027-F358-897E2C4C4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</a:t>
            </a:r>
          </a:p>
        </p:txBody>
      </p:sp>
      <p:sp>
        <p:nvSpPr>
          <p:cNvPr id="2" name="!!文本占位符 4">
            <a:extLst>
              <a:ext uri="{FF2B5EF4-FFF2-40B4-BE49-F238E27FC236}">
                <a16:creationId xmlns:a16="http://schemas.microsoft.com/office/drawing/2014/main" id="{FC2B7F86-828A-2CBD-2A40-2BF7B6379F2C}"/>
              </a:ext>
            </a:extLst>
          </p:cNvPr>
          <p:cNvSpPr txBox="1">
            <a:spLocks/>
          </p:cNvSpPr>
          <p:nvPr/>
        </p:nvSpPr>
        <p:spPr>
          <a:xfrm>
            <a:off x="9708775" y="2979168"/>
            <a:ext cx="1900517" cy="10818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  <a:ea typeface="Fira Code" panose="020B0809050000020004" pitchFamily="49" charset="0"/>
              </a:rPr>
              <a:t>查询回显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修改数据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1AA1B5B-4CF4-A5A6-1575-C7A2601C6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09" y="1267233"/>
            <a:ext cx="8875058" cy="50375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6496F73-9385-E33C-4B3F-2F80FBE5AFA4}"/>
              </a:ext>
            </a:extLst>
          </p:cNvPr>
          <p:cNvSpPr/>
          <p:nvPr/>
        </p:nvSpPr>
        <p:spPr>
          <a:xfrm>
            <a:off x="735109" y="1267233"/>
            <a:ext cx="8875058" cy="5037516"/>
          </a:xfrm>
          <a:prstGeom prst="rect">
            <a:avLst/>
          </a:prstGeom>
          <a:solidFill>
            <a:srgbClr val="262626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94A6C98-E3CF-0719-581E-3D73ABF7C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4445" y="1868770"/>
            <a:ext cx="4643351" cy="3834441"/>
          </a:xfrm>
          <a:prstGeom prst="roundRect">
            <a:avLst>
              <a:gd name="adj" fmla="val 1237"/>
            </a:avLst>
          </a:prstGeom>
        </p:spPr>
      </p:pic>
    </p:spTree>
    <p:extLst>
      <p:ext uri="{BB962C8B-B14F-4D97-AF65-F5344CB8AC3E}">
        <p14:creationId xmlns:p14="http://schemas.microsoft.com/office/powerpoint/2010/main" val="1865131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FDDFE1A3-D066-CFC6-0889-F328E917C5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修改员工</a:t>
            </a:r>
          </a:p>
        </p:txBody>
      </p:sp>
      <p:sp>
        <p:nvSpPr>
          <p:cNvPr id="4" name="!!文本占位符 4">
            <a:extLst>
              <a:ext uri="{FF2B5EF4-FFF2-40B4-BE49-F238E27FC236}">
                <a16:creationId xmlns:a16="http://schemas.microsoft.com/office/drawing/2014/main" id="{ABC6E200-969B-611C-8123-247A977AF2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1060909"/>
          </a:xfrm>
        </p:spPr>
        <p:txBody>
          <a:bodyPr/>
          <a:lstStyle/>
          <a:p>
            <a:r>
              <a:rPr lang="zh-CN" altLang="en-US"/>
              <a:t>查询回显</a:t>
            </a:r>
            <a:endParaRPr lang="en-US" altLang="zh-CN"/>
          </a:p>
          <a:p>
            <a:r>
              <a:rPr lang="zh-CN" altLang="en-US"/>
              <a:t>修改数据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ECDF456F-0D47-7954-F6C1-67BB966AEF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287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F88C9E7-598C-E027-F358-897E2C4C4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查询回显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5E6590F-E086-1964-08A1-40D40B6A1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954" y="810814"/>
            <a:ext cx="3748015" cy="3095080"/>
          </a:xfrm>
          <a:prstGeom prst="roundRect">
            <a:avLst>
              <a:gd name="adj" fmla="val 1237"/>
            </a:avLst>
          </a:prstGeom>
          <a:ln w="6350">
            <a:solidFill>
              <a:schemeClr val="bg1">
                <a:lumMod val="65000"/>
              </a:schemeClr>
            </a:solidFill>
            <a:prstDash val="dash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BD43D67-7525-E2C9-936E-B57EC6CF27FA}"/>
              </a:ext>
            </a:extLst>
          </p:cNvPr>
          <p:cNvSpPr txBox="1"/>
          <p:nvPr/>
        </p:nvSpPr>
        <p:spPr>
          <a:xfrm>
            <a:off x="7189970" y="1684692"/>
            <a:ext cx="17782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员工基本信息（表：</a:t>
            </a:r>
            <a:r>
              <a:rPr lang="en-US" altLang="zh-CN" sz="11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emp</a:t>
            </a:r>
            <a:r>
              <a:rPr lang="zh-CN" altLang="en-US" sz="11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lang="zh-CN" altLang="en-US" sz="1100" dirty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09D4EB8-3473-489D-A6CD-A41A75552C62}"/>
              </a:ext>
            </a:extLst>
          </p:cNvPr>
          <p:cNvSpPr txBox="1"/>
          <p:nvPr/>
        </p:nvSpPr>
        <p:spPr>
          <a:xfrm>
            <a:off x="7189969" y="3065367"/>
            <a:ext cx="24070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员工工作经历信息（表：</a:t>
            </a:r>
            <a:r>
              <a:rPr lang="en-US" altLang="zh-CN" sz="11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emp_expr</a:t>
            </a:r>
            <a:r>
              <a:rPr lang="zh-CN" altLang="en-US" sz="11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lang="zh-CN" altLang="en-US" sz="1100" dirty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D6BDC57-E9CE-F117-467E-5B9C9339A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381" y="4702465"/>
            <a:ext cx="932333" cy="1302786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8628E04F-D653-BFB0-AD36-5B61E037C5B9}"/>
              </a:ext>
            </a:extLst>
          </p:cNvPr>
          <p:cNvGrpSpPr/>
          <p:nvPr/>
        </p:nvGrpSpPr>
        <p:grpSpPr>
          <a:xfrm>
            <a:off x="669988" y="5038313"/>
            <a:ext cx="780070" cy="786974"/>
            <a:chOff x="1288572" y="3466291"/>
            <a:chExt cx="1076475" cy="1086002"/>
          </a:xfrm>
        </p:grpSpPr>
        <p:pic>
          <p:nvPicPr>
            <p:cNvPr id="9" name="图片 0">
              <a:extLst>
                <a:ext uri="{FF2B5EF4-FFF2-40B4-BE49-F238E27FC236}">
                  <a16:creationId xmlns:a16="http://schemas.microsoft.com/office/drawing/2014/main" id="{616F18C5-9700-3CAC-A44D-E37EB844C3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88572" y="3466291"/>
              <a:ext cx="1076475" cy="1086002"/>
            </a:xfrm>
            <a:prstGeom prst="rect">
              <a:avLst/>
            </a:prstGeom>
          </p:spPr>
        </p:pic>
        <p:pic>
          <p:nvPicPr>
            <p:cNvPr id="10" name="图片 1">
              <a:extLst>
                <a:ext uri="{FF2B5EF4-FFF2-40B4-BE49-F238E27FC236}">
                  <a16:creationId xmlns:a16="http://schemas.microsoft.com/office/drawing/2014/main" id="{858B3EA2-3DD7-DCCC-BC2E-010CC13608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02940" y="3784462"/>
              <a:ext cx="447737" cy="447737"/>
            </a:xfrm>
            <a:prstGeom prst="rect">
              <a:avLst/>
            </a:prstGeom>
          </p:spPr>
        </p:pic>
      </p:grpSp>
      <p:sp>
        <p:nvSpPr>
          <p:cNvPr id="11" name="箭头: 右 10">
            <a:extLst>
              <a:ext uri="{FF2B5EF4-FFF2-40B4-BE49-F238E27FC236}">
                <a16:creationId xmlns:a16="http://schemas.microsoft.com/office/drawing/2014/main" id="{8942AE35-4B17-16CB-80B9-BAC63F9AEA53}"/>
              </a:ext>
            </a:extLst>
          </p:cNvPr>
          <p:cNvSpPr/>
          <p:nvPr/>
        </p:nvSpPr>
        <p:spPr>
          <a:xfrm>
            <a:off x="1617615" y="5236038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4755D92A-C0E6-0BEA-856F-23544FB0999D}"/>
              </a:ext>
            </a:extLst>
          </p:cNvPr>
          <p:cNvSpPr/>
          <p:nvPr/>
        </p:nvSpPr>
        <p:spPr>
          <a:xfrm>
            <a:off x="4333921" y="5236038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1E08D58D-4A4E-7088-EABB-C5B234C7F9D1}"/>
              </a:ext>
            </a:extLst>
          </p:cNvPr>
          <p:cNvSpPr/>
          <p:nvPr/>
        </p:nvSpPr>
        <p:spPr>
          <a:xfrm>
            <a:off x="7130908" y="5236038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17CAE33C-017D-DD4A-9400-13E412F267A5}"/>
              </a:ext>
            </a:extLst>
          </p:cNvPr>
          <p:cNvSpPr/>
          <p:nvPr/>
        </p:nvSpPr>
        <p:spPr>
          <a:xfrm>
            <a:off x="9847214" y="5236038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3553CA0-B6B6-2829-B0C9-D761ADDE1210}"/>
              </a:ext>
            </a:extLst>
          </p:cNvPr>
          <p:cNvGrpSpPr/>
          <p:nvPr/>
        </p:nvGrpSpPr>
        <p:grpSpPr>
          <a:xfrm>
            <a:off x="2247782" y="4200855"/>
            <a:ext cx="1900517" cy="2611635"/>
            <a:chOff x="2303931" y="2912210"/>
            <a:chExt cx="1900517" cy="2611635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B4B2BDB-BA36-C27D-0B83-E67428610302}"/>
                </a:ext>
              </a:extLst>
            </p:cNvPr>
            <p:cNvSpPr/>
            <p:nvPr/>
          </p:nvSpPr>
          <p:spPr>
            <a:xfrm>
              <a:off x="2303931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Controller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流程图: 文档 16">
              <a:extLst>
                <a:ext uri="{FF2B5EF4-FFF2-40B4-BE49-F238E27FC236}">
                  <a16:creationId xmlns:a16="http://schemas.microsoft.com/office/drawing/2014/main" id="{23E4D0BE-2AC8-376D-CD2B-DA955B2AECFA}"/>
                </a:ext>
              </a:extLst>
            </p:cNvPr>
            <p:cNvSpPr/>
            <p:nvPr/>
          </p:nvSpPr>
          <p:spPr>
            <a:xfrm>
              <a:off x="2303931" y="3316712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8" name="!!流程图: 文档 1">
            <a:extLst>
              <a:ext uri="{FF2B5EF4-FFF2-40B4-BE49-F238E27FC236}">
                <a16:creationId xmlns:a16="http://schemas.microsoft.com/office/drawing/2014/main" id="{F9B9BD99-A013-FFAB-2A40-7521116D0DF7}"/>
              </a:ext>
            </a:extLst>
          </p:cNvPr>
          <p:cNvSpPr/>
          <p:nvPr/>
        </p:nvSpPr>
        <p:spPr>
          <a:xfrm>
            <a:off x="2247781" y="4601547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接收请求参数</a:t>
            </a: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(ID</a:t>
            </a: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值</a:t>
            </a: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en-US" altLang="zh-CN" sz="11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</a:t>
            </a: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Service</a:t>
            </a:r>
            <a:r>
              <a:rPr lang="zh-CN" altLang="en-US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方法</a:t>
            </a:r>
            <a:endParaRPr lang="en-US" altLang="zh-CN" sz="11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响应结果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DC5DAB2-A4B1-A454-12E2-336D7C01DB87}"/>
              </a:ext>
            </a:extLst>
          </p:cNvPr>
          <p:cNvGrpSpPr/>
          <p:nvPr/>
        </p:nvGrpSpPr>
        <p:grpSpPr>
          <a:xfrm>
            <a:off x="5044769" y="4200855"/>
            <a:ext cx="1900517" cy="2615624"/>
            <a:chOff x="5100918" y="2912210"/>
            <a:chExt cx="1900517" cy="2615624"/>
          </a:xfrm>
        </p:grpSpPr>
        <p:sp>
          <p:nvSpPr>
            <p:cNvPr id="20" name="流程图: 文档 19">
              <a:extLst>
                <a:ext uri="{FF2B5EF4-FFF2-40B4-BE49-F238E27FC236}">
                  <a16:creationId xmlns:a16="http://schemas.microsoft.com/office/drawing/2014/main" id="{3E41B0F7-229E-6D6A-AAB4-D5C18786BBCD}"/>
                </a:ext>
              </a:extLst>
            </p:cNvPr>
            <p:cNvSpPr/>
            <p:nvPr/>
          </p:nvSpPr>
          <p:spPr>
            <a:xfrm>
              <a:off x="5100918" y="3320701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372CEC33-15B4-BDDE-5A6D-D3995FCF4434}"/>
                </a:ext>
              </a:extLst>
            </p:cNvPr>
            <p:cNvSpPr/>
            <p:nvPr/>
          </p:nvSpPr>
          <p:spPr>
            <a:xfrm>
              <a:off x="5100918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Service</a:t>
              </a:r>
              <a:endParaRPr lang="zh-CN" altLang="en-US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2" name="流程图: 文档 21">
            <a:extLst>
              <a:ext uri="{FF2B5EF4-FFF2-40B4-BE49-F238E27FC236}">
                <a16:creationId xmlns:a16="http://schemas.microsoft.com/office/drawing/2014/main" id="{F30C9D59-19B7-E7C3-846F-416CB2717395}"/>
              </a:ext>
            </a:extLst>
          </p:cNvPr>
          <p:cNvSpPr/>
          <p:nvPr/>
        </p:nvSpPr>
        <p:spPr>
          <a:xfrm>
            <a:off x="5044769" y="4604266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</a:t>
            </a: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mapper</a:t>
            </a: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查询员工详细信息</a:t>
            </a: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基本信息、工作经历信息</a:t>
            </a: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en-US" altLang="zh-CN" sz="1100">
              <a:solidFill>
                <a:srgbClr val="FF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EC8A8BB4-D986-0347-AD69-F27A6FA69F86}"/>
              </a:ext>
            </a:extLst>
          </p:cNvPr>
          <p:cNvGrpSpPr/>
          <p:nvPr/>
        </p:nvGrpSpPr>
        <p:grpSpPr>
          <a:xfrm>
            <a:off x="7841755" y="4200855"/>
            <a:ext cx="1900518" cy="2607825"/>
            <a:chOff x="7897904" y="2912210"/>
            <a:chExt cx="1900518" cy="2607825"/>
          </a:xfrm>
        </p:grpSpPr>
        <p:sp>
          <p:nvSpPr>
            <p:cNvPr id="24" name="流程图: 文档 23">
              <a:extLst>
                <a:ext uri="{FF2B5EF4-FFF2-40B4-BE49-F238E27FC236}">
                  <a16:creationId xmlns:a16="http://schemas.microsoft.com/office/drawing/2014/main" id="{BDDC0682-19E0-21A4-E3A7-D1C267F10AF9}"/>
                </a:ext>
              </a:extLst>
            </p:cNvPr>
            <p:cNvSpPr/>
            <p:nvPr/>
          </p:nvSpPr>
          <p:spPr>
            <a:xfrm>
              <a:off x="7897904" y="3312902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3C352BE-9B9A-D491-19EA-312283669E3D}"/>
                </a:ext>
              </a:extLst>
            </p:cNvPr>
            <p:cNvSpPr/>
            <p:nvPr/>
          </p:nvSpPr>
          <p:spPr>
            <a:xfrm>
              <a:off x="7897905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Mapper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6" name="!!流程图: 文档 22">
            <a:extLst>
              <a:ext uri="{FF2B5EF4-FFF2-40B4-BE49-F238E27FC236}">
                <a16:creationId xmlns:a16="http://schemas.microsoft.com/office/drawing/2014/main" id="{3CC100EB-F748-860F-AB14-B73B15FF0E9C}"/>
              </a:ext>
            </a:extLst>
          </p:cNvPr>
          <p:cNvSpPr/>
          <p:nvPr/>
        </p:nvSpPr>
        <p:spPr>
          <a:xfrm>
            <a:off x="7841754" y="4601546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altLang="zh-CN" sz="1200" b="1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SQL:</a:t>
            </a:r>
            <a:endParaRPr lang="en-US" altLang="zh-CN" sz="1000" b="1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0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select ... from emp e left join emp_expr ee on e.id = ee.emp_id where e.id = ?</a:t>
            </a:r>
          </a:p>
          <a:p>
            <a:pPr>
              <a:spcBef>
                <a:spcPts val="600"/>
              </a:spcBef>
            </a:pPr>
            <a:endParaRPr lang="en-US" altLang="zh-CN" sz="1000" b="1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10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</a:t>
            </a:r>
            <a:endParaRPr lang="zh-CN" altLang="en-US" sz="10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0160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11" grpId="0" animBg="1"/>
      <p:bldP spid="12" grpId="0" animBg="1"/>
      <p:bldP spid="13" grpId="0" animBg="1"/>
      <p:bldP spid="14" grpId="0" animBg="1"/>
      <p:bldP spid="18" grpId="0" animBg="1"/>
      <p:bldP spid="22" grpId="0" animBg="1"/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9B4205-56F7-E56A-A094-C0ABA0D6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查询回显</a:t>
            </a:r>
          </a:p>
        </p:txBody>
      </p:sp>
      <p:grpSp>
        <p:nvGrpSpPr>
          <p:cNvPr id="4" name="组合 2">
            <a:extLst>
              <a:ext uri="{FF2B5EF4-FFF2-40B4-BE49-F238E27FC236}">
                <a16:creationId xmlns:a16="http://schemas.microsoft.com/office/drawing/2014/main" id="{2599CD97-B342-7719-2034-D770BBE423E4}"/>
              </a:ext>
            </a:extLst>
          </p:cNvPr>
          <p:cNvGrpSpPr/>
          <p:nvPr/>
        </p:nvGrpSpPr>
        <p:grpSpPr>
          <a:xfrm>
            <a:off x="784841" y="1623065"/>
            <a:ext cx="4531231" cy="1734214"/>
            <a:chOff x="2297722" y="3660322"/>
            <a:chExt cx="4992575" cy="1734317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B81CADBF-01D7-04C0-B971-D80B66B94154}"/>
                </a:ext>
              </a:extLst>
            </p:cNvPr>
            <p:cNvSpPr/>
            <p:nvPr/>
          </p:nvSpPr>
          <p:spPr>
            <a:xfrm>
              <a:off x="2297728" y="3660324"/>
              <a:ext cx="4992569" cy="1734315"/>
            </a:xfrm>
            <a:prstGeom prst="roundRect">
              <a:avLst>
                <a:gd name="adj" fmla="val 414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rgbClr val="9E880D"/>
                  </a:solidFill>
                  <a:effectLst/>
                </a:rPr>
                <a:t>@GetMapping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"/{id}"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)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033B3"/>
                  </a:solidFill>
                  <a:effectLst/>
                </a:rPr>
                <a:t>public </a:t>
              </a:r>
              <a:r>
                <a:rPr lang="en-US" altLang="zh-CN" sz="1000">
                  <a:solidFill>
                    <a:srgbClr val="000000"/>
                  </a:solidFill>
                  <a:effectLst/>
                </a:rPr>
                <a:t>Result </a:t>
              </a:r>
              <a:r>
                <a:rPr lang="en-US" altLang="zh-CN" sz="1000">
                  <a:solidFill>
                    <a:srgbClr val="00627A"/>
                  </a:solidFill>
                  <a:effectLst/>
                </a:rPr>
                <a:t>getInfo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000">
                  <a:solidFill>
                    <a:srgbClr val="9E880D"/>
                  </a:solidFill>
                  <a:effectLst/>
                </a:rPr>
                <a:t>@PathVariable </a:t>
              </a:r>
              <a:r>
                <a:rPr lang="en-US" altLang="zh-CN" sz="1000">
                  <a:solidFill>
                    <a:srgbClr val="000000"/>
                  </a:solidFill>
                  <a:effectLst/>
                </a:rPr>
                <a:t>Integer 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id){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000" i="1">
                  <a:solidFill>
                    <a:srgbClr val="871094"/>
                  </a:solidFill>
                  <a:effectLst/>
                </a:rPr>
                <a:t>log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.info(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"</a:t>
              </a:r>
              <a:r>
                <a:rPr lang="zh-CN" altLang="en-US" sz="10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根据</a:t>
              </a:r>
              <a:r>
                <a:rPr lang="en-US" altLang="zh-CN" sz="10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id</a:t>
              </a:r>
              <a:r>
                <a:rPr lang="zh-CN" altLang="en-US" sz="10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查询员工信息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, id: {}"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, id);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000">
                  <a:solidFill>
                    <a:srgbClr val="000000"/>
                  </a:solidFill>
                  <a:effectLst/>
                </a:rPr>
                <a:t>Emp emp 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= </a:t>
              </a:r>
              <a:r>
                <a:rPr lang="en-US" altLang="zh-CN" sz="1000">
                  <a:solidFill>
                    <a:srgbClr val="871094"/>
                  </a:solidFill>
                  <a:effectLst/>
                </a:rPr>
                <a:t>empService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.getInfo(id);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return </a:t>
              </a:r>
              <a:r>
                <a:rPr lang="en-US" altLang="zh-CN" sz="1000">
                  <a:solidFill>
                    <a:srgbClr val="000000"/>
                  </a:solidFill>
                  <a:effectLst/>
                </a:rPr>
                <a:t>Result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.</a:t>
              </a:r>
              <a:r>
                <a:rPr lang="en-US" altLang="zh-CN" sz="1000" i="1">
                  <a:solidFill>
                    <a:srgbClr val="080808"/>
                  </a:solidFill>
                  <a:effectLst/>
                </a:rPr>
                <a:t>success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000">
                  <a:solidFill>
                    <a:srgbClr val="000000"/>
                  </a:solidFill>
                  <a:effectLst/>
                </a:rPr>
                <a:t>emp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);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}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2E9CFD14-7778-9150-BD35-3479B3F4DE3C}"/>
                </a:ext>
              </a:extLst>
            </p:cNvPr>
            <p:cNvSpPr/>
            <p:nvPr/>
          </p:nvSpPr>
          <p:spPr>
            <a:xfrm>
              <a:off x="2297722" y="3660322"/>
              <a:ext cx="4992569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EmpController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8C24731B-5FA4-DE35-6689-FA08BA076D71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BBD5B8AE-867B-3290-5903-950F54BBADC7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6C4C423B-7DF5-6A71-8114-6AA8332FBC35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2">
            <a:extLst>
              <a:ext uri="{FF2B5EF4-FFF2-40B4-BE49-F238E27FC236}">
                <a16:creationId xmlns:a16="http://schemas.microsoft.com/office/drawing/2014/main" id="{77D6A7CF-7BF5-05F0-3D50-54650DADF19D}"/>
              </a:ext>
            </a:extLst>
          </p:cNvPr>
          <p:cNvGrpSpPr/>
          <p:nvPr/>
        </p:nvGrpSpPr>
        <p:grpSpPr>
          <a:xfrm>
            <a:off x="6096000" y="1146633"/>
            <a:ext cx="5630474" cy="5433461"/>
            <a:chOff x="2297722" y="3660322"/>
            <a:chExt cx="6203736" cy="5433782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76A202B4-52FD-072B-96BD-14AE5950FF69}"/>
                </a:ext>
              </a:extLst>
            </p:cNvPr>
            <p:cNvSpPr/>
            <p:nvPr/>
          </p:nvSpPr>
          <p:spPr>
            <a:xfrm>
              <a:off x="2297729" y="3660325"/>
              <a:ext cx="6203729" cy="5433779"/>
            </a:xfrm>
            <a:prstGeom prst="roundRect">
              <a:avLst>
                <a:gd name="adj" fmla="val 143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000" i="1">
                  <a:solidFill>
                    <a:srgbClr val="8C8C8C"/>
                  </a:solidFill>
                  <a:effectLst/>
                </a:rPr>
                <a:t>&lt;!--</a:t>
              </a:r>
              <a:r>
                <a:rPr lang="zh-CN" altLang="en-US" sz="100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自定义结果集</a:t>
              </a:r>
              <a:r>
                <a:rPr lang="en-US" altLang="zh-CN" sz="1000">
                  <a:solidFill>
                    <a:srgbClr val="8C8C8C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ResultMap</a:t>
              </a:r>
              <a:r>
                <a:rPr lang="en-US" altLang="zh-CN" sz="1000" i="1">
                  <a:solidFill>
                    <a:srgbClr val="8C8C8C"/>
                  </a:solidFill>
                  <a:effectLst/>
                </a:rPr>
                <a:t>--&gt;</a:t>
              </a:r>
              <a:br>
                <a:rPr lang="en-US" altLang="zh-CN" sz="1000" i="1">
                  <a:solidFill>
                    <a:srgbClr val="8C8C8C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&lt;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resultMap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id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="empResultMap"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type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="com.itheima.pojo.Emp"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&lt;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id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column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="id"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property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="id" 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/&gt;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&lt;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result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column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="username"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property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="username" 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/&gt;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&lt;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result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column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="password"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property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="password" 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/&gt;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&lt;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result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column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="name"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property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="name" 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/&gt;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&lt;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result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column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="gender"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property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="gender" 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/&gt;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&lt;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result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column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="image"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property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="image" 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/&gt;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&lt;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result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column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="entry_date"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property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="entryDate" 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/&gt;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&lt;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result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column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="dept_id"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property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="deptId" 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/&gt;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&lt;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result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column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="create_time"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property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="createTime" 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/&gt;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&lt;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result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column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="update_time"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property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="updateTime" 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/&gt;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000" i="1">
                  <a:solidFill>
                    <a:srgbClr val="8C8C8C"/>
                  </a:solidFill>
                  <a:effectLst/>
                </a:rPr>
                <a:t>&lt;!--</a:t>
              </a:r>
              <a:r>
                <a:rPr lang="zh-CN" altLang="en-US" sz="100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封装</a:t>
              </a:r>
              <a:r>
                <a:rPr lang="en-US" altLang="zh-CN" sz="1000">
                  <a:solidFill>
                    <a:srgbClr val="8C8C8C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exprList</a:t>
              </a:r>
              <a:r>
                <a:rPr lang="en-US" altLang="zh-CN" sz="1000" i="1">
                  <a:solidFill>
                    <a:srgbClr val="8C8C8C"/>
                  </a:solidFill>
                  <a:effectLst/>
                </a:rPr>
                <a:t>--&gt;</a:t>
              </a:r>
              <a:br>
                <a:rPr lang="en-US" altLang="zh-CN" sz="1000" i="1">
                  <a:solidFill>
                    <a:srgbClr val="8C8C8C"/>
                  </a:solidFill>
                  <a:effectLst/>
                </a:rPr>
              </a:br>
              <a:r>
                <a:rPr lang="en-US" altLang="zh-CN" sz="1000" i="1">
                  <a:solidFill>
                    <a:srgbClr val="8C8C8C"/>
                  </a:solidFill>
                  <a:effectLst/>
                </a:rPr>
                <a:t>    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&lt;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collection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property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="exprList"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ofType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="com.itheima.pojo.EmpExpr"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    &lt;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id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column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="ee_id"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property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="id"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/&gt;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    &lt;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result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column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="ee_company"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property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="company"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/&gt;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    &lt;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result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column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="ee_job"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property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="job"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/&gt;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    &lt;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result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column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="ee_begin"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property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="begin"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/&gt;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    &lt;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result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column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="ee_end"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property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="end"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/&gt;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    &lt;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result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column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="ee_empid"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property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="empId"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/&gt;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&lt;/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collection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&lt;/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resultMap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&gt;</a:t>
              </a: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FA30A291-E3F8-E9BF-54C6-08952202FEFE}"/>
                </a:ext>
              </a:extLst>
            </p:cNvPr>
            <p:cNvSpPr/>
            <p:nvPr/>
          </p:nvSpPr>
          <p:spPr>
            <a:xfrm>
              <a:off x="2297722" y="3660322"/>
              <a:ext cx="6203728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EmpMapper.xml</a:t>
              </a: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CD82B813-66BD-9DE5-ED81-AA67977CB1FD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A40BA9C9-BFA5-2FC5-4E84-F3655BC9E3C9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1953BBCB-D512-832F-9338-241B931A555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2">
            <a:extLst>
              <a:ext uri="{FF2B5EF4-FFF2-40B4-BE49-F238E27FC236}">
                <a16:creationId xmlns:a16="http://schemas.microsoft.com/office/drawing/2014/main" id="{9B2334A3-3DF4-BB10-CFE0-21C05081936D}"/>
              </a:ext>
            </a:extLst>
          </p:cNvPr>
          <p:cNvGrpSpPr/>
          <p:nvPr/>
        </p:nvGrpSpPr>
        <p:grpSpPr>
          <a:xfrm>
            <a:off x="784842" y="3427412"/>
            <a:ext cx="4531227" cy="3326729"/>
            <a:chOff x="2297723" y="3660322"/>
            <a:chExt cx="4992570" cy="3326925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184B4651-FDEA-3689-8621-2F68E6D05644}"/>
                </a:ext>
              </a:extLst>
            </p:cNvPr>
            <p:cNvSpPr/>
            <p:nvPr/>
          </p:nvSpPr>
          <p:spPr>
            <a:xfrm>
              <a:off x="2297730" y="3660324"/>
              <a:ext cx="4992563" cy="3326923"/>
            </a:xfrm>
            <a:prstGeom prst="roundRect">
              <a:avLst>
                <a:gd name="adj" fmla="val 216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000" i="1">
                  <a:solidFill>
                    <a:srgbClr val="8C8C8C"/>
                  </a:solidFill>
                  <a:effectLst/>
                </a:rPr>
                <a:t>&lt;!-- </a:t>
              </a:r>
              <a:r>
                <a:rPr lang="zh-CN" altLang="en-US" sz="100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  <a:t>根据</a:t>
              </a:r>
              <a:r>
                <a:rPr lang="en-US" altLang="zh-CN" sz="1000" i="1">
                  <a:solidFill>
                    <a:srgbClr val="8C8C8C"/>
                  </a:solidFill>
                  <a:effectLst/>
                </a:rPr>
                <a:t>ID</a:t>
              </a:r>
              <a:r>
                <a:rPr lang="zh-CN" altLang="en-US" sz="100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  <a:t>查询员工的详细信息 </a:t>
              </a:r>
              <a:r>
                <a:rPr lang="en-US" altLang="zh-CN" sz="1000" i="1">
                  <a:solidFill>
                    <a:srgbClr val="8C8C8C"/>
                  </a:solidFill>
                  <a:effectLst/>
                </a:rPr>
                <a:t>--&gt;</a:t>
              </a:r>
              <a:br>
                <a:rPr lang="en-US" altLang="zh-CN" sz="1000" i="1">
                  <a:solidFill>
                    <a:srgbClr val="8C8C8C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&lt;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select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id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="getById"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resultMap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="empResultMap"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000">
                  <a:solidFill>
                    <a:srgbClr val="0E0EFF"/>
                  </a:solidFill>
                  <a:effectLst/>
                </a:rPr>
                <a:t>select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    e.*,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    ee.</a:t>
              </a:r>
              <a:r>
                <a:rPr lang="en-US" altLang="zh-CN" sz="1000">
                  <a:solidFill>
                    <a:srgbClr val="7030A0"/>
                  </a:solidFill>
                  <a:effectLst/>
                </a:rPr>
                <a:t>id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 ee_id,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    ee.</a:t>
              </a:r>
              <a:r>
                <a:rPr lang="en-US" altLang="zh-CN" sz="1000">
                  <a:solidFill>
                    <a:srgbClr val="7030A0"/>
                  </a:solidFill>
                  <a:effectLst/>
                </a:rPr>
                <a:t>company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 ee_company,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    ee.</a:t>
              </a:r>
              <a:r>
                <a:rPr lang="en-US" altLang="zh-CN" sz="1000">
                  <a:solidFill>
                    <a:srgbClr val="7030A0"/>
                  </a:solidFill>
                  <a:effectLst/>
                </a:rPr>
                <a:t>job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 ee_job,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    ee.</a:t>
              </a:r>
              <a:r>
                <a:rPr lang="en-US" altLang="zh-CN" sz="1000">
                  <a:solidFill>
                    <a:srgbClr val="7030A0"/>
                  </a:solidFill>
                  <a:effectLst/>
                </a:rPr>
                <a:t>begin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 ee_begin,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    ee.</a:t>
              </a:r>
              <a:r>
                <a:rPr lang="en-US" altLang="zh-CN" sz="1000">
                  <a:solidFill>
                    <a:srgbClr val="7030A0"/>
                  </a:solidFill>
                  <a:effectLst/>
                </a:rPr>
                <a:t>end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 ee_end,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    ee.</a:t>
              </a:r>
              <a:r>
                <a:rPr lang="en-US" altLang="zh-CN" sz="1000">
                  <a:solidFill>
                    <a:srgbClr val="7030A0"/>
                  </a:solidFill>
                  <a:effectLst/>
                </a:rPr>
                <a:t>emp_id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 ee_empid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000">
                  <a:solidFill>
                    <a:srgbClr val="0E0EFF"/>
                  </a:solidFill>
                  <a:effectLst/>
                </a:rPr>
                <a:t>from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 emp e </a:t>
              </a:r>
              <a:r>
                <a:rPr lang="en-US" altLang="zh-CN" sz="1000">
                  <a:solidFill>
                    <a:srgbClr val="0E0EFF"/>
                  </a:solidFill>
                  <a:effectLst/>
                </a:rPr>
                <a:t>left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 </a:t>
              </a:r>
              <a:r>
                <a:rPr lang="en-US" altLang="zh-CN" sz="1000">
                  <a:solidFill>
                    <a:srgbClr val="0E0EFF"/>
                  </a:solidFill>
                  <a:effectLst/>
                </a:rPr>
                <a:t>join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 emp_expr ee </a:t>
              </a:r>
              <a:r>
                <a:rPr lang="en-US" altLang="zh-CN" sz="1000">
                  <a:solidFill>
                    <a:srgbClr val="0E0EFF"/>
                  </a:solidFill>
                  <a:effectLst/>
                </a:rPr>
                <a:t>on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 e.</a:t>
              </a:r>
              <a:r>
                <a:rPr lang="en-US" altLang="zh-CN" sz="1000">
                  <a:solidFill>
                    <a:srgbClr val="7030A0"/>
                  </a:solidFill>
                  <a:effectLst/>
                </a:rPr>
                <a:t>id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 = ee.</a:t>
              </a:r>
              <a:r>
                <a:rPr lang="en-US" altLang="zh-CN" sz="1000">
                  <a:solidFill>
                    <a:srgbClr val="7030A0"/>
                  </a:solidFill>
                  <a:effectLst/>
                </a:rPr>
                <a:t>emp_id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000">
                  <a:solidFill>
                    <a:srgbClr val="0E0EFF"/>
                  </a:solidFill>
                  <a:effectLst/>
                </a:rPr>
                <a:t>where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 e.</a:t>
              </a:r>
              <a:r>
                <a:rPr lang="en-US" altLang="zh-CN" sz="1000">
                  <a:solidFill>
                    <a:srgbClr val="7030A0"/>
                  </a:solidFill>
                  <a:effectLst/>
                </a:rPr>
                <a:t>id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 = #{id}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&lt;/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select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&gt;</a:t>
              </a:r>
            </a:p>
          </p:txBody>
        </p:sp>
        <p:sp>
          <p:nvSpPr>
            <p:cNvPr id="18" name="矩形: 圆顶角 17">
              <a:extLst>
                <a:ext uri="{FF2B5EF4-FFF2-40B4-BE49-F238E27FC236}">
                  <a16:creationId xmlns:a16="http://schemas.microsoft.com/office/drawing/2014/main" id="{08FEC361-0FFE-8948-B692-23180619348E}"/>
                </a:ext>
              </a:extLst>
            </p:cNvPr>
            <p:cNvSpPr/>
            <p:nvPr/>
          </p:nvSpPr>
          <p:spPr>
            <a:xfrm>
              <a:off x="2297723" y="3660322"/>
              <a:ext cx="4992563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EmpMapper</a:t>
              </a: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31F9F44C-232F-CA90-0B93-70E7DD93731F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748E6E90-2C86-A05A-4AE4-9F96D4514D30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773BD6CE-AE6D-D19C-6A9A-9834CEA5E01D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8EDD7A2E-B8FF-AFAA-FE1C-525FB0CFD68B}"/>
              </a:ext>
            </a:extLst>
          </p:cNvPr>
          <p:cNvSpPr/>
          <p:nvPr/>
        </p:nvSpPr>
        <p:spPr>
          <a:xfrm>
            <a:off x="0" y="0"/>
            <a:ext cx="6018330" cy="6858000"/>
          </a:xfrm>
          <a:prstGeom prst="rect">
            <a:avLst/>
          </a:prstGeom>
          <a:solidFill>
            <a:srgbClr val="26262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2C20C999-F7C5-0312-139B-161A518EB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914" y="106826"/>
            <a:ext cx="3635725" cy="3590760"/>
          </a:xfrm>
          <a:prstGeom prst="roundRect">
            <a:avLst>
              <a:gd name="adj" fmla="val 1937"/>
            </a:avLst>
          </a:prstGeom>
        </p:spPr>
      </p:pic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AB6290F-9E55-06F8-E679-28ADB06F7FD0}"/>
              </a:ext>
            </a:extLst>
          </p:cNvPr>
          <p:cNvSpPr/>
          <p:nvPr/>
        </p:nvSpPr>
        <p:spPr>
          <a:xfrm>
            <a:off x="3218329" y="3971366"/>
            <a:ext cx="1084730" cy="270174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4E448D68-1C17-405C-3DA1-254E1A1BEFE8}"/>
              </a:ext>
            </a:extLst>
          </p:cNvPr>
          <p:cNvSpPr/>
          <p:nvPr/>
        </p:nvSpPr>
        <p:spPr>
          <a:xfrm>
            <a:off x="6950335" y="1696898"/>
            <a:ext cx="1371601" cy="230961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0CFB280-C0C2-D038-6D5D-4F43ABC27C66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4303059" y="1812379"/>
            <a:ext cx="2647276" cy="2317661"/>
          </a:xfrm>
          <a:prstGeom prst="line">
            <a:avLst/>
          </a:prstGeom>
          <a:ln w="19050">
            <a:solidFill>
              <a:srgbClr val="C0000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F255138-37DF-5105-6818-5FBB4AF62D15}"/>
              </a:ext>
            </a:extLst>
          </p:cNvPr>
          <p:cNvCxnSpPr/>
          <p:nvPr/>
        </p:nvCxnSpPr>
        <p:spPr>
          <a:xfrm>
            <a:off x="2415540" y="4233920"/>
            <a:ext cx="772309" cy="0"/>
          </a:xfrm>
          <a:prstGeom prst="line">
            <a:avLst/>
          </a:prstGeom>
          <a:ln w="190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5417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5714F10-D286-6988-855A-34D5B10F96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69567" y="1359878"/>
            <a:ext cx="8422433" cy="39623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Mybatis</a:t>
            </a:r>
            <a:r>
              <a:rPr lang="zh-CN" altLang="en-US">
                <a:latin typeface="Fira Code" panose="020B0809050000020004" pitchFamily="49" charset="0"/>
              </a:rPr>
              <a:t>中封装查询结果，什么时候用 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resultType</a:t>
            </a:r>
            <a:r>
              <a:rPr lang="zh-CN" altLang="en-US">
                <a:latin typeface="Fira Code" panose="020B0809050000020004" pitchFamily="49" charset="0"/>
              </a:rPr>
              <a:t>，什么时候用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resultMap</a:t>
            </a:r>
            <a:r>
              <a:rPr lang="zh-CN" altLang="en-US">
                <a:latin typeface="Fira Code" panose="020B0809050000020004" pitchFamily="49" charset="0"/>
              </a:rPr>
              <a:t>？</a:t>
            </a:r>
            <a:endParaRPr lang="en-US" altLang="zh-CN">
              <a:latin typeface="Fira Code" panose="020B0809050000020004" pitchFamily="49" charset="0"/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如果查询返回的字段名与实体的属性名可以直接对应上，用</a:t>
            </a:r>
            <a:r>
              <a:rPr lang="en-US" altLang="zh-CN" sz="14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resultType</a:t>
            </a:r>
            <a:r>
              <a:rPr lang="zh-CN" altLang="en-US" sz="14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en-US" altLang="zh-CN" sz="1400" b="0">
              <a:solidFill>
                <a:srgbClr val="C00000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如果查询返回的字段名与实体的属性名对应不上，或实体属性比较复杂，可以通过</a:t>
            </a:r>
            <a:r>
              <a:rPr lang="en-US" altLang="zh-CN" sz="14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resultMap</a:t>
            </a:r>
            <a:r>
              <a:rPr lang="zh-CN" altLang="en-US" sz="14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手动封装。</a:t>
            </a:r>
            <a:endParaRPr lang="zh-CN" altLang="en-US" b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4645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FDDFE1A3-D066-CFC6-0889-F328E917C5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修改员工</a:t>
            </a:r>
          </a:p>
        </p:txBody>
      </p:sp>
      <p:sp>
        <p:nvSpPr>
          <p:cNvPr id="4" name="!!文本占位符 4">
            <a:extLst>
              <a:ext uri="{FF2B5EF4-FFF2-40B4-BE49-F238E27FC236}">
                <a16:creationId xmlns:a16="http://schemas.microsoft.com/office/drawing/2014/main" id="{ABC6E200-969B-611C-8123-247A977AF2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1060909"/>
          </a:xfrm>
        </p:spPr>
        <p:txBody>
          <a:bodyPr/>
          <a:lstStyle/>
          <a:p>
            <a:r>
              <a:rPr lang="zh-CN" altLang="en-US"/>
              <a:t>查询回显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修改数据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ECDF456F-0D47-7954-F6C1-67BB966AEF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591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9B4205-56F7-E56A-A094-C0ABA0D6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5D58E3F-F705-EFF9-02A1-30CE0CCBC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1992" y="788402"/>
            <a:ext cx="3748015" cy="3095080"/>
          </a:xfrm>
          <a:prstGeom prst="roundRect">
            <a:avLst>
              <a:gd name="adj" fmla="val 1237"/>
            </a:avLst>
          </a:prstGeom>
          <a:ln w="6350">
            <a:solidFill>
              <a:schemeClr val="bg1">
                <a:lumMod val="65000"/>
              </a:schemeClr>
            </a:solidFill>
            <a:prstDash val="dash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C6C378C-D215-74D1-04BF-2C6056FBA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9975" y="4511167"/>
            <a:ext cx="932333" cy="1302786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2E98A62A-6512-5988-E153-FD96270AD275}"/>
              </a:ext>
            </a:extLst>
          </p:cNvPr>
          <p:cNvGrpSpPr/>
          <p:nvPr/>
        </p:nvGrpSpPr>
        <p:grpSpPr>
          <a:xfrm>
            <a:off x="778921" y="4865352"/>
            <a:ext cx="780070" cy="786974"/>
            <a:chOff x="1288572" y="3466291"/>
            <a:chExt cx="1076475" cy="1086002"/>
          </a:xfrm>
        </p:grpSpPr>
        <p:pic>
          <p:nvPicPr>
            <p:cNvPr id="7" name="图片 0">
              <a:extLst>
                <a:ext uri="{FF2B5EF4-FFF2-40B4-BE49-F238E27FC236}">
                  <a16:creationId xmlns:a16="http://schemas.microsoft.com/office/drawing/2014/main" id="{984BDF0E-2458-9247-97DD-CA683E04D3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88572" y="3466291"/>
              <a:ext cx="1076475" cy="1086002"/>
            </a:xfrm>
            <a:prstGeom prst="rect">
              <a:avLst/>
            </a:prstGeom>
          </p:spPr>
        </p:pic>
        <p:pic>
          <p:nvPicPr>
            <p:cNvPr id="8" name="图片 1">
              <a:extLst>
                <a:ext uri="{FF2B5EF4-FFF2-40B4-BE49-F238E27FC236}">
                  <a16:creationId xmlns:a16="http://schemas.microsoft.com/office/drawing/2014/main" id="{50271183-04E0-07C0-7157-3D9BEB3ED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02940" y="3784462"/>
              <a:ext cx="447737" cy="447737"/>
            </a:xfrm>
            <a:prstGeom prst="rect">
              <a:avLst/>
            </a:prstGeom>
          </p:spPr>
        </p:pic>
      </p:grpSp>
      <p:sp>
        <p:nvSpPr>
          <p:cNvPr id="9" name="箭头: 右 8">
            <a:extLst>
              <a:ext uri="{FF2B5EF4-FFF2-40B4-BE49-F238E27FC236}">
                <a16:creationId xmlns:a16="http://schemas.microsoft.com/office/drawing/2014/main" id="{2ADE0993-7F32-43D1-186C-EBA85100BB21}"/>
              </a:ext>
            </a:extLst>
          </p:cNvPr>
          <p:cNvSpPr/>
          <p:nvPr/>
        </p:nvSpPr>
        <p:spPr>
          <a:xfrm>
            <a:off x="1726548" y="5063077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8AD23846-A015-85A2-F021-689F141BD019}"/>
              </a:ext>
            </a:extLst>
          </p:cNvPr>
          <p:cNvSpPr/>
          <p:nvPr/>
        </p:nvSpPr>
        <p:spPr>
          <a:xfrm>
            <a:off x="4442854" y="5063077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4D4F0AF3-831C-4EF8-0EBA-87B41576E8A0}"/>
              </a:ext>
            </a:extLst>
          </p:cNvPr>
          <p:cNvSpPr/>
          <p:nvPr/>
        </p:nvSpPr>
        <p:spPr>
          <a:xfrm>
            <a:off x="7168721" y="5063077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03CF7667-29FD-7816-2C1E-ADF7DE6BA06A}"/>
              </a:ext>
            </a:extLst>
          </p:cNvPr>
          <p:cNvSpPr/>
          <p:nvPr/>
        </p:nvSpPr>
        <p:spPr>
          <a:xfrm>
            <a:off x="9979807" y="5063077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F052ED7-63C8-BBEA-228E-59EE1292574C}"/>
              </a:ext>
            </a:extLst>
          </p:cNvPr>
          <p:cNvGrpSpPr/>
          <p:nvPr/>
        </p:nvGrpSpPr>
        <p:grpSpPr>
          <a:xfrm>
            <a:off x="2356715" y="4027894"/>
            <a:ext cx="1900517" cy="2611635"/>
            <a:chOff x="2303931" y="2912210"/>
            <a:chExt cx="1900517" cy="261163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3176FC3-A689-2454-DC9C-D9EE172A4D69}"/>
                </a:ext>
              </a:extLst>
            </p:cNvPr>
            <p:cNvSpPr/>
            <p:nvPr/>
          </p:nvSpPr>
          <p:spPr>
            <a:xfrm>
              <a:off x="2303931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Controller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5" name="流程图: 文档 14">
              <a:extLst>
                <a:ext uri="{FF2B5EF4-FFF2-40B4-BE49-F238E27FC236}">
                  <a16:creationId xmlns:a16="http://schemas.microsoft.com/office/drawing/2014/main" id="{1302EE8F-8E8F-8E37-C40D-A7F07723A23F}"/>
                </a:ext>
              </a:extLst>
            </p:cNvPr>
            <p:cNvSpPr/>
            <p:nvPr/>
          </p:nvSpPr>
          <p:spPr>
            <a:xfrm>
              <a:off x="2303931" y="3316712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6" name="!!流程图: 文档 1">
            <a:extLst>
              <a:ext uri="{FF2B5EF4-FFF2-40B4-BE49-F238E27FC236}">
                <a16:creationId xmlns:a16="http://schemas.microsoft.com/office/drawing/2014/main" id="{EEF1A98D-F750-417D-FC70-71DE3F6071EB}"/>
              </a:ext>
            </a:extLst>
          </p:cNvPr>
          <p:cNvSpPr/>
          <p:nvPr/>
        </p:nvSpPr>
        <p:spPr>
          <a:xfrm>
            <a:off x="2356714" y="4428586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接收请求参数</a:t>
            </a:r>
            <a:endParaRPr lang="en-US" altLang="zh-CN" sz="11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</a:t>
            </a: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Service</a:t>
            </a:r>
            <a:r>
              <a:rPr lang="zh-CN" altLang="en-US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方法</a:t>
            </a:r>
            <a:endParaRPr lang="en-US" altLang="zh-CN" sz="11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响应结果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C4E367B-D480-19D8-1318-E5EF3ABF01DC}"/>
              </a:ext>
            </a:extLst>
          </p:cNvPr>
          <p:cNvGrpSpPr/>
          <p:nvPr/>
        </p:nvGrpSpPr>
        <p:grpSpPr>
          <a:xfrm>
            <a:off x="5153702" y="4027894"/>
            <a:ext cx="1900517" cy="2615624"/>
            <a:chOff x="5100918" y="2912210"/>
            <a:chExt cx="1900517" cy="2615624"/>
          </a:xfrm>
        </p:grpSpPr>
        <p:sp>
          <p:nvSpPr>
            <p:cNvPr id="18" name="流程图: 文档 17">
              <a:extLst>
                <a:ext uri="{FF2B5EF4-FFF2-40B4-BE49-F238E27FC236}">
                  <a16:creationId xmlns:a16="http://schemas.microsoft.com/office/drawing/2014/main" id="{1C70A612-3269-4D51-9A7E-3519088CA018}"/>
                </a:ext>
              </a:extLst>
            </p:cNvPr>
            <p:cNvSpPr/>
            <p:nvPr/>
          </p:nvSpPr>
          <p:spPr>
            <a:xfrm>
              <a:off x="5100918" y="3320701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A49BAC0A-2549-0789-0CA4-CF2C56D9149E}"/>
                </a:ext>
              </a:extLst>
            </p:cNvPr>
            <p:cNvSpPr/>
            <p:nvPr/>
          </p:nvSpPr>
          <p:spPr>
            <a:xfrm>
              <a:off x="5100918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Service</a:t>
              </a:r>
              <a:endParaRPr lang="zh-CN" altLang="en-US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0" name="流程图: 文档 19">
            <a:extLst>
              <a:ext uri="{FF2B5EF4-FFF2-40B4-BE49-F238E27FC236}">
                <a16:creationId xmlns:a16="http://schemas.microsoft.com/office/drawing/2014/main" id="{AC0AE801-DC75-21AF-B8E0-DC246F41B0B1}"/>
              </a:ext>
            </a:extLst>
          </p:cNvPr>
          <p:cNvSpPr/>
          <p:nvPr/>
        </p:nvSpPr>
        <p:spPr>
          <a:xfrm>
            <a:off x="5153702" y="4431305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</a:t>
            </a:r>
            <a:r>
              <a:rPr lang="en-US" altLang="zh-CN" sz="110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lang="zh-CN" altLang="en-US" sz="110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修改员工的基本信息</a:t>
            </a:r>
            <a:endParaRPr lang="en-US" altLang="zh-CN" sz="1100">
              <a:solidFill>
                <a:schemeClr val="bg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</a:t>
            </a:r>
            <a:r>
              <a:rPr lang="en-US" altLang="zh-CN" sz="110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lang="zh-CN" altLang="en-US" sz="110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修改工作经历信息</a:t>
            </a:r>
            <a:endParaRPr lang="en-US" altLang="zh-CN" sz="1100">
              <a:solidFill>
                <a:schemeClr val="bg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DC8BA74-645C-1A77-1144-B44BA86A6B66}"/>
              </a:ext>
            </a:extLst>
          </p:cNvPr>
          <p:cNvGrpSpPr/>
          <p:nvPr/>
        </p:nvGrpSpPr>
        <p:grpSpPr>
          <a:xfrm>
            <a:off x="7798288" y="4027894"/>
            <a:ext cx="2005457" cy="2617985"/>
            <a:chOff x="7897904" y="2912210"/>
            <a:chExt cx="2005457" cy="2617985"/>
          </a:xfrm>
        </p:grpSpPr>
        <p:sp>
          <p:nvSpPr>
            <p:cNvPr id="22" name="流程图: 文档 21">
              <a:extLst>
                <a:ext uri="{FF2B5EF4-FFF2-40B4-BE49-F238E27FC236}">
                  <a16:creationId xmlns:a16="http://schemas.microsoft.com/office/drawing/2014/main" id="{4790A80C-0A89-09B8-9C12-60174676B2C9}"/>
                </a:ext>
              </a:extLst>
            </p:cNvPr>
            <p:cNvSpPr/>
            <p:nvPr/>
          </p:nvSpPr>
          <p:spPr>
            <a:xfrm>
              <a:off x="7897904" y="3323062"/>
              <a:ext cx="200545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8F0CDE7F-D5D8-69B8-32B2-D02869D52716}"/>
                </a:ext>
              </a:extLst>
            </p:cNvPr>
            <p:cNvSpPr/>
            <p:nvPr/>
          </p:nvSpPr>
          <p:spPr>
            <a:xfrm>
              <a:off x="7897905" y="2912210"/>
              <a:ext cx="2005455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Mapper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4" name="!!流程图: 文档 22">
            <a:extLst>
              <a:ext uri="{FF2B5EF4-FFF2-40B4-BE49-F238E27FC236}">
                <a16:creationId xmlns:a16="http://schemas.microsoft.com/office/drawing/2014/main" id="{3139E851-4F88-5F51-4009-62FC391B649C}"/>
              </a:ext>
            </a:extLst>
          </p:cNvPr>
          <p:cNvSpPr/>
          <p:nvPr/>
        </p:nvSpPr>
        <p:spPr>
          <a:xfrm>
            <a:off x="7798287" y="4428585"/>
            <a:ext cx="200545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altLang="zh-CN" sz="1200" b="1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SQL:</a:t>
            </a:r>
            <a:endParaRPr lang="en-US" altLang="zh-CN" sz="1000" b="1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10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update emp set ....</a:t>
            </a:r>
          </a:p>
          <a:p>
            <a:pPr>
              <a:spcBef>
                <a:spcPts val="600"/>
              </a:spcBef>
            </a:pPr>
            <a:endParaRPr lang="en-US" altLang="zh-CN" sz="10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10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delete emp_expr where...</a:t>
            </a:r>
          </a:p>
          <a:p>
            <a:pPr>
              <a:spcBef>
                <a:spcPts val="600"/>
              </a:spcBef>
            </a:pPr>
            <a:endParaRPr lang="en-US" altLang="zh-CN" sz="10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10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insert into emp_expr...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85CD158-5ED8-04B2-6CCD-3830D93B2E9C}"/>
              </a:ext>
            </a:extLst>
          </p:cNvPr>
          <p:cNvSpPr/>
          <p:nvPr/>
        </p:nvSpPr>
        <p:spPr>
          <a:xfrm>
            <a:off x="5672331" y="5615407"/>
            <a:ext cx="932333" cy="295707"/>
          </a:xfrm>
          <a:prstGeom prst="rec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</a:t>
            </a:r>
            <a:r>
              <a:rPr lang="zh-CN" altLang="en-US" sz="1050" b="1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先删除再添加</a:t>
            </a:r>
            <a:r>
              <a:rPr lang="zh-CN" altLang="en-US" sz="105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9779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6" grpId="0" animBg="1"/>
      <p:bldP spid="20" grpId="0" animBg="1"/>
      <p:bldP spid="24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96DF8-1ED0-F66C-EE41-5E2C076E3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9022327-AE8E-54B8-6337-2EECC0F38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修改员工</a:t>
            </a:r>
          </a:p>
        </p:txBody>
      </p:sp>
      <p:grpSp>
        <p:nvGrpSpPr>
          <p:cNvPr id="2" name="组合 2">
            <a:extLst>
              <a:ext uri="{FF2B5EF4-FFF2-40B4-BE49-F238E27FC236}">
                <a16:creationId xmlns:a16="http://schemas.microsoft.com/office/drawing/2014/main" id="{CC3995C6-0689-6E92-0429-29265EDCD464}"/>
              </a:ext>
            </a:extLst>
          </p:cNvPr>
          <p:cNvGrpSpPr/>
          <p:nvPr/>
        </p:nvGrpSpPr>
        <p:grpSpPr>
          <a:xfrm>
            <a:off x="713593" y="1034616"/>
            <a:ext cx="4934174" cy="1814156"/>
            <a:chOff x="2297724" y="3660322"/>
            <a:chExt cx="5436542" cy="1814263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66FBBA30-64C0-2D72-3A65-4E0CFA0A8A0F}"/>
                </a:ext>
              </a:extLst>
            </p:cNvPr>
            <p:cNvSpPr/>
            <p:nvPr/>
          </p:nvSpPr>
          <p:spPr>
            <a:xfrm>
              <a:off x="2297730" y="3660325"/>
              <a:ext cx="5436536" cy="1814260"/>
            </a:xfrm>
            <a:prstGeom prst="roundRect">
              <a:avLst>
                <a:gd name="adj" fmla="val 4668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16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9E880D"/>
                  </a:solidFill>
                  <a:effectLst/>
                  <a:ea typeface="Fira Code" panose="020B0809050000020004" pitchFamily="49" charset="0"/>
                </a:rPr>
                <a:t>@PutMapping</a:t>
              </a:r>
              <a:br>
                <a:rPr lang="en-US" altLang="zh-CN" sz="1100">
                  <a:solidFill>
                    <a:srgbClr val="9E880D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ea typeface="Fira Code" panose="020B0809050000020004" pitchFamily="49" charset="0"/>
                </a:rPr>
                <a:t>public </a:t>
              </a:r>
              <a:r>
                <a:rPr lang="en-US" altLang="zh-CN" sz="110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Result </a:t>
              </a:r>
              <a:r>
                <a:rPr lang="en-US" altLang="zh-CN" sz="1100">
                  <a:solidFill>
                    <a:srgbClr val="00627A"/>
                  </a:solidFill>
                  <a:effectLst/>
                  <a:ea typeface="Fira Code" panose="020B0809050000020004" pitchFamily="49" charset="0"/>
                </a:rPr>
                <a:t>update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9E880D"/>
                  </a:solidFill>
                  <a:effectLst/>
                  <a:ea typeface="Fira Code" panose="020B0809050000020004" pitchFamily="49" charset="0"/>
                </a:rPr>
                <a:t>@RequestBody </a:t>
              </a:r>
              <a:r>
                <a:rPr lang="en-US" altLang="zh-CN" sz="110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Emp 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emp){</a:t>
              </a:r>
              <a:b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    </a:t>
              </a:r>
              <a:r>
                <a:rPr lang="en-US" altLang="zh-CN" sz="1100" i="1">
                  <a:solidFill>
                    <a:srgbClr val="871094"/>
                  </a:solidFill>
                  <a:effectLst/>
                  <a:ea typeface="Fira Code" panose="020B0809050000020004" pitchFamily="49" charset="0"/>
                </a:rPr>
                <a:t>log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.info(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修改员工信息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</a:rPr>
                <a:t>, {}"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, emp);</a:t>
              </a:r>
              <a:b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871094"/>
                  </a:solidFill>
                  <a:effectLst/>
                  <a:ea typeface="Fira Code" panose="020B0809050000020004" pitchFamily="49" charset="0"/>
                </a:rPr>
                <a:t>empService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.update(emp);</a:t>
              </a:r>
              <a:b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ea typeface="Fira Code" panose="020B0809050000020004" pitchFamily="49" charset="0"/>
                </a:rPr>
                <a:t>return </a:t>
              </a:r>
              <a:r>
                <a:rPr lang="en-US" altLang="zh-CN" sz="110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Result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.</a:t>
              </a:r>
              <a:r>
                <a:rPr lang="en-US" altLang="zh-CN" sz="1100" i="1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success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();</a:t>
              </a:r>
              <a:b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}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7ACEB44A-9C33-AAE4-5382-22DB1600A112}"/>
                </a:ext>
              </a:extLst>
            </p:cNvPr>
            <p:cNvSpPr/>
            <p:nvPr/>
          </p:nvSpPr>
          <p:spPr>
            <a:xfrm>
              <a:off x="2297724" y="3660322"/>
              <a:ext cx="5436536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EmpController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43148A26-3511-670F-EC73-0FBBB5567261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EFF16066-6A9B-21FC-FC31-45625ECD169F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2D61077E-CD64-A767-99C3-4D0957FEF91D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2">
            <a:extLst>
              <a:ext uri="{FF2B5EF4-FFF2-40B4-BE49-F238E27FC236}">
                <a16:creationId xmlns:a16="http://schemas.microsoft.com/office/drawing/2014/main" id="{2E35B855-F966-F4C3-E56D-1367123FFD27}"/>
              </a:ext>
            </a:extLst>
          </p:cNvPr>
          <p:cNvGrpSpPr/>
          <p:nvPr/>
        </p:nvGrpSpPr>
        <p:grpSpPr>
          <a:xfrm>
            <a:off x="713588" y="2934828"/>
            <a:ext cx="4934174" cy="3887312"/>
            <a:chOff x="2297723" y="3660322"/>
            <a:chExt cx="5436542" cy="3887540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12906D12-EFBA-E8B1-6033-EB54EA8300AB}"/>
                </a:ext>
              </a:extLst>
            </p:cNvPr>
            <p:cNvSpPr/>
            <p:nvPr/>
          </p:nvSpPr>
          <p:spPr>
            <a:xfrm>
              <a:off x="2297731" y="3660324"/>
              <a:ext cx="5436534" cy="3887538"/>
            </a:xfrm>
            <a:prstGeom prst="roundRect">
              <a:avLst>
                <a:gd name="adj" fmla="val 1917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16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050">
                  <a:solidFill>
                    <a:srgbClr val="9E880D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@Transactional</a:t>
              </a:r>
              <a:r>
                <a:rPr lang="en-US" altLang="zh-CN" sz="1050">
                  <a:solidFill>
                    <a:schemeClr val="tx1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(rollbackFor=Exception.class)</a:t>
              </a:r>
              <a:br>
                <a:rPr lang="en-US" altLang="zh-CN" sz="1050">
                  <a:solidFill>
                    <a:srgbClr val="9E880D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5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public void </a:t>
              </a:r>
              <a:r>
                <a:rPr lang="en-US" altLang="zh-CN" sz="1050">
                  <a:solidFill>
                    <a:srgbClr val="00627A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update</a:t>
              </a: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05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Emp </a:t>
              </a: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emp) {</a:t>
              </a:r>
              <a:b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050">
                  <a:solidFill>
                    <a:srgbClr val="8C8C8C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//1. </a:t>
              </a:r>
              <a:r>
                <a:rPr lang="zh-CN" altLang="en-US" sz="105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根据</a:t>
              </a:r>
              <a:r>
                <a:rPr lang="en-US" altLang="zh-CN" sz="1050">
                  <a:solidFill>
                    <a:srgbClr val="8C8C8C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ID</a:t>
              </a:r>
              <a:r>
                <a:rPr lang="zh-CN" altLang="en-US" sz="105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更新员工基本信息</a:t>
              </a:r>
              <a:br>
                <a:rPr lang="zh-CN" altLang="en-US" sz="105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</a:br>
              <a:r>
                <a:rPr lang="zh-CN" altLang="en-US" sz="105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emp.setUpdateTime(</a:t>
              </a:r>
              <a:r>
                <a:rPr lang="en-US" altLang="zh-CN" sz="105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LocalDateTime</a:t>
              </a: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.now());</a:t>
              </a:r>
              <a:b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050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empMapper</a:t>
              </a: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.updateById(emp);</a:t>
              </a:r>
              <a:b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050">
                  <a:solidFill>
                    <a:srgbClr val="8C8C8C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//2. </a:t>
              </a:r>
              <a:r>
                <a:rPr lang="zh-CN" altLang="en-US" sz="105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根据员工</a:t>
              </a:r>
              <a:r>
                <a:rPr lang="en-US" altLang="zh-CN" sz="1050">
                  <a:solidFill>
                    <a:srgbClr val="8C8C8C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ID</a:t>
              </a:r>
              <a:r>
                <a:rPr lang="zh-CN" altLang="en-US" sz="105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删除员工的工作经历信息 </a:t>
              </a:r>
              <a:r>
                <a:rPr lang="en-US" altLang="zh-CN" sz="1050">
                  <a:solidFill>
                    <a:srgbClr val="8C8C8C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【</a:t>
              </a:r>
              <a:r>
                <a:rPr lang="zh-CN" altLang="en-US" sz="105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删除老的</a:t>
              </a:r>
              <a:r>
                <a:rPr lang="en-US" altLang="zh-CN" sz="1050">
                  <a:solidFill>
                    <a:srgbClr val="8C8C8C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】</a:t>
              </a:r>
              <a:br>
                <a:rPr lang="en-US" altLang="zh-CN" sz="1050">
                  <a:solidFill>
                    <a:srgbClr val="8C8C8C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50">
                  <a:solidFill>
                    <a:srgbClr val="8C8C8C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050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empExprMapper</a:t>
              </a: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.deleteByEmpIds(</a:t>
              </a:r>
              <a:r>
                <a:rPr lang="en-US" altLang="zh-CN" sz="105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Arrays</a:t>
              </a: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.asList(emp.getId()));</a:t>
              </a:r>
              <a:b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050">
                  <a:solidFill>
                    <a:srgbClr val="8C8C8C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//3. </a:t>
              </a:r>
              <a:r>
                <a:rPr lang="zh-CN" altLang="en-US" sz="105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新增员工的工作经历数据 </a:t>
              </a:r>
              <a:r>
                <a:rPr lang="en-US" altLang="zh-CN" sz="1050">
                  <a:solidFill>
                    <a:srgbClr val="8C8C8C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【</a:t>
              </a:r>
              <a:r>
                <a:rPr lang="zh-CN" altLang="en-US" sz="105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新增新的</a:t>
              </a:r>
              <a:r>
                <a:rPr lang="en-US" altLang="zh-CN" sz="1050">
                  <a:solidFill>
                    <a:srgbClr val="8C8C8C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】</a:t>
              </a:r>
              <a:br>
                <a:rPr lang="en-US" altLang="zh-CN" sz="1050">
                  <a:solidFill>
                    <a:srgbClr val="8C8C8C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50">
                  <a:solidFill>
                    <a:srgbClr val="8C8C8C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05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Integer empId </a:t>
              </a: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= emp.getId();</a:t>
              </a:r>
              <a:b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05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List</a:t>
              </a: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&lt;</a:t>
              </a:r>
              <a:r>
                <a:rPr lang="en-US" altLang="zh-CN" sz="105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EmpExpr</a:t>
              </a: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&gt; </a:t>
              </a:r>
              <a:r>
                <a:rPr lang="en-US" altLang="zh-CN" sz="105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exprList </a:t>
              </a: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= emp.getExprList();</a:t>
              </a:r>
              <a:b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05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if</a:t>
              </a: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(!</a:t>
              </a:r>
              <a:r>
                <a:rPr lang="en-US" altLang="zh-CN" sz="105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CollectionUtils</a:t>
              </a: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.isEmpty(</a:t>
              </a:r>
              <a:r>
                <a:rPr lang="en-US" altLang="zh-CN" sz="105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exprList</a:t>
              </a: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)){</a:t>
              </a:r>
              <a:b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 </a:t>
              </a:r>
              <a:r>
                <a:rPr lang="en-US" altLang="zh-CN" sz="105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exprList</a:t>
              </a: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.forEach(empExpr -&gt; empExpr.setEmpId(</a:t>
              </a:r>
              <a:r>
                <a:rPr lang="en-US" altLang="zh-CN" sz="1050">
                  <a:solidFill>
                    <a:srgbClr val="851691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empId</a:t>
              </a: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));</a:t>
              </a:r>
              <a:b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 </a:t>
              </a:r>
              <a:r>
                <a:rPr lang="en-US" altLang="zh-CN" sz="1050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empExprMapper</a:t>
              </a: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.insertBatch(</a:t>
              </a:r>
              <a:r>
                <a:rPr lang="en-US" altLang="zh-CN" sz="105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exprList</a:t>
              </a: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);</a:t>
              </a:r>
              <a:b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}</a:t>
              </a:r>
              <a:b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}</a:t>
              </a: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178FEE40-EC84-F96C-B28F-AFB8404A864C}"/>
                </a:ext>
              </a:extLst>
            </p:cNvPr>
            <p:cNvSpPr/>
            <p:nvPr/>
          </p:nvSpPr>
          <p:spPr>
            <a:xfrm>
              <a:off x="2297723" y="3660322"/>
              <a:ext cx="5436534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EmpServiceImpl</a:t>
              </a: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15A1F2C6-2808-AB37-31B6-8F49EEA9D942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6259C52F-E35D-4F79-73A8-B6D14E6D44A0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B9CDD1C-152A-742F-C1D4-E1480FD99F92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2">
            <a:extLst>
              <a:ext uri="{FF2B5EF4-FFF2-40B4-BE49-F238E27FC236}">
                <a16:creationId xmlns:a16="http://schemas.microsoft.com/office/drawing/2014/main" id="{D837AE14-5145-E3BB-4A83-44ABC1E84FF8}"/>
              </a:ext>
            </a:extLst>
          </p:cNvPr>
          <p:cNvGrpSpPr/>
          <p:nvPr/>
        </p:nvGrpSpPr>
        <p:grpSpPr>
          <a:xfrm>
            <a:off x="5806113" y="1034616"/>
            <a:ext cx="6152810" cy="4426818"/>
            <a:chOff x="2297722" y="3660322"/>
            <a:chExt cx="6105682" cy="4427078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D2190072-7042-66BF-B31D-51F6BC1E3094}"/>
                </a:ext>
              </a:extLst>
            </p:cNvPr>
            <p:cNvSpPr/>
            <p:nvPr/>
          </p:nvSpPr>
          <p:spPr>
            <a:xfrm>
              <a:off x="2297730" y="3660323"/>
              <a:ext cx="6105674" cy="4427077"/>
            </a:xfrm>
            <a:prstGeom prst="roundRect">
              <a:avLst>
                <a:gd name="adj" fmla="val 1917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16000" rIns="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&lt;!--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根据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ID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更新员工基本信息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--&gt;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&lt;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update 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174AD4"/>
                  </a:solidFill>
                  <a:effectLst/>
                  <a:latin typeface="Fira Code" panose="020B0809050000020004" pitchFamily="49" charset="0"/>
                </a:rPr>
                <a:t>id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="updateById"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UPDATE emp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SET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username = #{username},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password = #{password},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name = #{name},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gender = #{gender},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phone = #{phone},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job = #{job},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salary = #{salary},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image = #{image},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entry_date = #{entryDate},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dept_id = #{deptId},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update_time = #{updateTime}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WHERE id = #{id}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&lt;/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update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</a:t>
              </a:r>
              <a:endPara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矩形: 圆顶角 17">
              <a:extLst>
                <a:ext uri="{FF2B5EF4-FFF2-40B4-BE49-F238E27FC236}">
                  <a16:creationId xmlns:a16="http://schemas.microsoft.com/office/drawing/2014/main" id="{056541E4-ECA9-7165-9EA7-6FC0003BEF83}"/>
                </a:ext>
              </a:extLst>
            </p:cNvPr>
            <p:cNvSpPr/>
            <p:nvPr/>
          </p:nvSpPr>
          <p:spPr>
            <a:xfrm>
              <a:off x="2297722" y="3660322"/>
              <a:ext cx="6105673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EmpMapper.xml</a:t>
              </a: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1192A52B-F8A3-5DC2-9F8D-43BE8810A514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0EDCCFBB-D539-49AB-14BD-C52E21B2756D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5AA2D384-F774-7404-F0A4-11E98E793456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Rectangle 1">
            <a:extLst>
              <a:ext uri="{FF2B5EF4-FFF2-40B4-BE49-F238E27FC236}">
                <a16:creationId xmlns:a16="http://schemas.microsoft.com/office/drawing/2014/main" id="{4E18B392-EB6A-D904-7D68-5267CCE11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098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内容占位符 21">
            <a:extLst>
              <a:ext uri="{FF2B5EF4-FFF2-40B4-BE49-F238E27FC236}">
                <a16:creationId xmlns:a16="http://schemas.microsoft.com/office/drawing/2014/main" id="{72FE5D0A-5CD0-7AAB-672C-8DA151007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6433" y="6228289"/>
            <a:ext cx="6152800" cy="510988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400" b="1">
                <a:solidFill>
                  <a:srgbClr val="C00000"/>
                </a:solidFill>
              </a:rPr>
              <a:t>&lt;set&gt;</a:t>
            </a:r>
            <a:r>
              <a:rPr lang="zh-CN" altLang="en-US" sz="1400" b="1">
                <a:solidFill>
                  <a:srgbClr val="C00000"/>
                </a:solidFill>
              </a:rPr>
              <a:t>：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替换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set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关键字，去除字段之后多余的逗号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(,)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6F88C9E7-598C-E027-F358-897E2C4C4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修改员工</a:t>
            </a:r>
            <a:r>
              <a:rPr lang="en-US" altLang="zh-CN"/>
              <a:t>-</a:t>
            </a:r>
            <a:r>
              <a:rPr lang="zh-CN" altLang="en-US"/>
              <a:t>程序优化</a:t>
            </a:r>
          </a:p>
        </p:txBody>
      </p:sp>
      <p:grpSp>
        <p:nvGrpSpPr>
          <p:cNvPr id="16" name="组合 2">
            <a:extLst>
              <a:ext uri="{FF2B5EF4-FFF2-40B4-BE49-F238E27FC236}">
                <a16:creationId xmlns:a16="http://schemas.microsoft.com/office/drawing/2014/main" id="{702DCC23-4643-F7F1-F45B-8F32ABC916DD}"/>
              </a:ext>
            </a:extLst>
          </p:cNvPr>
          <p:cNvGrpSpPr/>
          <p:nvPr/>
        </p:nvGrpSpPr>
        <p:grpSpPr>
          <a:xfrm>
            <a:off x="5826433" y="1695016"/>
            <a:ext cx="6152810" cy="4426818"/>
            <a:chOff x="2297722" y="3660322"/>
            <a:chExt cx="6105682" cy="4427078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BEA8232C-6574-E5C2-80B3-BDA968C9A41A}"/>
                </a:ext>
              </a:extLst>
            </p:cNvPr>
            <p:cNvSpPr/>
            <p:nvPr/>
          </p:nvSpPr>
          <p:spPr>
            <a:xfrm>
              <a:off x="2297730" y="3660323"/>
              <a:ext cx="6105674" cy="4427077"/>
            </a:xfrm>
            <a:prstGeom prst="roundRect">
              <a:avLst>
                <a:gd name="adj" fmla="val 1917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16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000" i="1">
                  <a:solidFill>
                    <a:srgbClr val="8C8C8C"/>
                  </a:solidFill>
                  <a:effectLst/>
                  <a:ea typeface="Fira Code" panose="020B0809050000020004" pitchFamily="49" charset="0"/>
                </a:rPr>
                <a:t>&lt;!-- </a:t>
              </a:r>
              <a:r>
                <a:rPr lang="zh-CN" altLang="en-US" sz="100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根据</a:t>
              </a:r>
              <a:r>
                <a:rPr lang="en-US" altLang="zh-CN" sz="1000">
                  <a:solidFill>
                    <a:srgbClr val="8C8C8C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ID</a:t>
              </a:r>
              <a:r>
                <a:rPr lang="zh-CN" altLang="en-US" sz="100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修改员工基本信息</a:t>
              </a:r>
              <a:r>
                <a:rPr lang="zh-CN" altLang="en-US" sz="100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  <a:t> </a:t>
              </a:r>
              <a:r>
                <a:rPr lang="en-US" altLang="zh-CN" sz="1000" i="1">
                  <a:solidFill>
                    <a:srgbClr val="8C8C8C"/>
                  </a:solidFill>
                  <a:effectLst/>
                  <a:ea typeface="Fira Code" panose="020B0809050000020004" pitchFamily="49" charset="0"/>
                </a:rPr>
                <a:t>--&gt;</a:t>
              </a:r>
              <a:br>
                <a:rPr lang="en-US" altLang="zh-CN" sz="1000" i="1">
                  <a:solidFill>
                    <a:srgbClr val="8C8C8C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&lt;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update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id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="updateById"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update emp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</a:t>
              </a:r>
              <a:r>
                <a:rPr lang="en-US" altLang="zh-CN" sz="1000">
                  <a:solidFill>
                    <a:srgbClr val="080808"/>
                  </a:solidFill>
                </a:rPr>
                <a:t>set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&lt;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if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test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="username != null and username != ''"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&gt;username=#{username},&lt;/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if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&lt;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if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test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="password != null and password != ''"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&gt;password #{password},&lt;/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if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&lt;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if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test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="name != null and name != ''"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&gt;name = #{name},&lt;/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if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&lt;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if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test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="gender != null"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&gt;gender = #{gender},&lt;/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if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&lt;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if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test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="phone != null and phone != ''"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&gt;phone = #{phone},&lt;/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if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&lt;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if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test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="job != null"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&gt;job = #{job},&lt;/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if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&lt;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if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test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="salary != null"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&gt;salary = #{salary},&lt;/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if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&lt;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if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test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="image != null and image != ''"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&gt;image = #{image},&lt;/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if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&lt;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if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test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="entryDate != null"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&gt;entry_date = #{entryDate},&lt;/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if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&lt;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if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test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="deptId != null"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&gt;dept_id = #{deptId},&lt;/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if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&lt;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if </a:t>
              </a:r>
              <a:r>
                <a:rPr lang="en-US" altLang="zh-CN" sz="1000">
                  <a:solidFill>
                    <a:srgbClr val="174AD4"/>
                  </a:solidFill>
                  <a:effectLst/>
                </a:rPr>
                <a:t>test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="updateTime != null"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&gt;update_time = #{updateTime}&lt;/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if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where id = #{id}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&lt;/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update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&gt;</a:t>
              </a:r>
            </a:p>
          </p:txBody>
        </p:sp>
        <p:sp>
          <p:nvSpPr>
            <p:cNvPr id="18" name="矩形: 圆顶角 17">
              <a:extLst>
                <a:ext uri="{FF2B5EF4-FFF2-40B4-BE49-F238E27FC236}">
                  <a16:creationId xmlns:a16="http://schemas.microsoft.com/office/drawing/2014/main" id="{6FB1C883-D6BC-1571-2F1C-AE47917EE64D}"/>
                </a:ext>
              </a:extLst>
            </p:cNvPr>
            <p:cNvSpPr/>
            <p:nvPr/>
          </p:nvSpPr>
          <p:spPr>
            <a:xfrm>
              <a:off x="2297722" y="3660322"/>
              <a:ext cx="6105673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EmpMapper.xml</a:t>
              </a: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9F0C6F07-C1C6-2654-BC3D-E4140CA02802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0CC37E9A-F307-1FA7-791B-ED455AB99C93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006CF407-5FFC-77B4-CDFC-31B012F9C9A0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2">
            <a:extLst>
              <a:ext uri="{FF2B5EF4-FFF2-40B4-BE49-F238E27FC236}">
                <a16:creationId xmlns:a16="http://schemas.microsoft.com/office/drawing/2014/main" id="{943C4E59-C98A-9C7F-7D1F-E009DC062949}"/>
              </a:ext>
            </a:extLst>
          </p:cNvPr>
          <p:cNvGrpSpPr/>
          <p:nvPr/>
        </p:nvGrpSpPr>
        <p:grpSpPr>
          <a:xfrm>
            <a:off x="774425" y="2353099"/>
            <a:ext cx="4695050" cy="4426818"/>
            <a:chOff x="2297723" y="3660322"/>
            <a:chExt cx="4659088" cy="4427078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0AA97445-B916-8558-707E-E9ED33DEC78C}"/>
                </a:ext>
              </a:extLst>
            </p:cNvPr>
            <p:cNvSpPr/>
            <p:nvPr/>
          </p:nvSpPr>
          <p:spPr>
            <a:xfrm>
              <a:off x="2297730" y="3660323"/>
              <a:ext cx="4659081" cy="4427077"/>
            </a:xfrm>
            <a:prstGeom prst="roundRect">
              <a:avLst>
                <a:gd name="adj" fmla="val 1917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16000" rIns="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&lt;!--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根据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ID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更新员工基本信息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--&gt;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&lt;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update 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174AD4"/>
                  </a:solidFill>
                  <a:effectLst/>
                  <a:latin typeface="Fira Code" panose="020B0809050000020004" pitchFamily="49" charset="0"/>
                </a:rPr>
                <a:t>id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="updateById"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UPDATE emp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SET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username = #{username},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password = #{password},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name = #{name},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gender = #{gender},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phone = #{phone},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job = #{job},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salary = #{salary},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image = #{image},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entry_date = #{entryDate},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dept_id = #{deptId},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update_time = #{updateTime}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WHERE id = #{id}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&lt;/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update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</a:t>
              </a:r>
              <a:endPara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矩形: 圆顶角 23">
              <a:extLst>
                <a:ext uri="{FF2B5EF4-FFF2-40B4-BE49-F238E27FC236}">
                  <a16:creationId xmlns:a16="http://schemas.microsoft.com/office/drawing/2014/main" id="{AA3ECB0E-A564-C54D-2412-13913A79ABEF}"/>
                </a:ext>
              </a:extLst>
            </p:cNvPr>
            <p:cNvSpPr/>
            <p:nvPr/>
          </p:nvSpPr>
          <p:spPr>
            <a:xfrm>
              <a:off x="2297723" y="3660322"/>
              <a:ext cx="4659082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EmpMapper.xml</a:t>
              </a: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A854D90C-7144-BBD8-A2EB-E97B848FD55E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4EFB93D8-55F8-A758-B725-CA188A3F57C6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561EABD9-6DCB-F3B9-9E8E-917FCCD61461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EF323900-B6FD-C402-6304-B62807C74ED3}"/>
              </a:ext>
            </a:extLst>
          </p:cNvPr>
          <p:cNvSpPr txBox="1"/>
          <p:nvPr/>
        </p:nvSpPr>
        <p:spPr>
          <a:xfrm>
            <a:off x="3850640" y="4612640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不灵活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5D8F99A-50EA-A550-2AF5-A3946CC158D7}"/>
              </a:ext>
            </a:extLst>
          </p:cNvPr>
          <p:cNvSpPr txBox="1"/>
          <p:nvPr/>
        </p:nvSpPr>
        <p:spPr>
          <a:xfrm>
            <a:off x="3850640" y="536638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扩展性差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E646604C-2255-44DE-1D6E-814C2DC25335}"/>
              </a:ext>
            </a:extLst>
          </p:cNvPr>
          <p:cNvSpPr/>
          <p:nvPr/>
        </p:nvSpPr>
        <p:spPr>
          <a:xfrm>
            <a:off x="5970264" y="2639776"/>
            <a:ext cx="1294188" cy="238912"/>
          </a:xfrm>
          <a:prstGeom prst="roundRect">
            <a:avLst>
              <a:gd name="adj" fmla="val 1917"/>
            </a:avLst>
          </a:prstGeom>
          <a:solidFill>
            <a:srgbClr val="F6F6F6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zh-CN" sz="1000">
                <a:solidFill>
                  <a:srgbClr val="080808"/>
                </a:solidFill>
                <a:effectLst/>
              </a:rPr>
              <a:t>&lt;</a:t>
            </a:r>
            <a:r>
              <a:rPr lang="en-US" altLang="zh-CN" sz="1000">
                <a:solidFill>
                  <a:srgbClr val="0033B3"/>
                </a:solidFill>
                <a:effectLst/>
              </a:rPr>
              <a:t>set</a:t>
            </a:r>
            <a:r>
              <a:rPr lang="en-US" altLang="zh-CN" sz="1000">
                <a:solidFill>
                  <a:srgbClr val="080808"/>
                </a:solidFill>
                <a:effectLst/>
              </a:rPr>
              <a:t>&gt;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34DEA35E-4518-B3CC-B8A9-CFEEE9B9BB64}"/>
              </a:ext>
            </a:extLst>
          </p:cNvPr>
          <p:cNvSpPr/>
          <p:nvPr/>
        </p:nvSpPr>
        <p:spPr>
          <a:xfrm>
            <a:off x="5970264" y="5366385"/>
            <a:ext cx="885412" cy="220625"/>
          </a:xfrm>
          <a:prstGeom prst="roundRect">
            <a:avLst>
              <a:gd name="adj" fmla="val 1917"/>
            </a:avLst>
          </a:prstGeom>
          <a:solidFill>
            <a:srgbClr val="F6F6F6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zh-CN" sz="1000">
                <a:solidFill>
                  <a:srgbClr val="080808"/>
                </a:solidFill>
                <a:effectLst/>
              </a:rPr>
              <a:t>&lt;/</a:t>
            </a:r>
            <a:r>
              <a:rPr lang="en-US" altLang="zh-CN" sz="1000">
                <a:solidFill>
                  <a:srgbClr val="0033B3"/>
                </a:solidFill>
                <a:effectLst/>
              </a:rPr>
              <a:t>set</a:t>
            </a:r>
            <a:r>
              <a:rPr lang="en-US" altLang="zh-CN" sz="1000">
                <a:solidFill>
                  <a:srgbClr val="080808"/>
                </a:solidFill>
                <a:effectLst/>
              </a:rPr>
              <a:t>&gt;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5A613B1E-C068-68E2-3C43-67EB91854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868" y="361798"/>
            <a:ext cx="1897544" cy="403895"/>
          </a:xfrm>
          <a:prstGeom prst="rect">
            <a:avLst/>
          </a:prstGeom>
        </p:spPr>
      </p:pic>
      <p:grpSp>
        <p:nvGrpSpPr>
          <p:cNvPr id="34" name="组合 2">
            <a:extLst>
              <a:ext uri="{FF2B5EF4-FFF2-40B4-BE49-F238E27FC236}">
                <a16:creationId xmlns:a16="http://schemas.microsoft.com/office/drawing/2014/main" id="{41270D94-76CB-9E67-C1BD-11BC5CE2A742}"/>
              </a:ext>
            </a:extLst>
          </p:cNvPr>
          <p:cNvGrpSpPr/>
          <p:nvPr/>
        </p:nvGrpSpPr>
        <p:grpSpPr>
          <a:xfrm>
            <a:off x="754099" y="953231"/>
            <a:ext cx="4695050" cy="1354748"/>
            <a:chOff x="2297723" y="3660322"/>
            <a:chExt cx="4659088" cy="1354827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D207BDFD-EFCF-D89A-9D05-862AB3283A89}"/>
                </a:ext>
              </a:extLst>
            </p:cNvPr>
            <p:cNvSpPr/>
            <p:nvPr/>
          </p:nvSpPr>
          <p:spPr>
            <a:xfrm>
              <a:off x="2297730" y="3660323"/>
              <a:ext cx="4659081" cy="1354826"/>
            </a:xfrm>
            <a:prstGeom prst="roundRect">
              <a:avLst>
                <a:gd name="adj" fmla="val 5048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16000" rIns="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/**</a:t>
              </a:r>
              <a:br>
                <a:rPr kumimoji="0" lang="zh-CN" altLang="zh-CN" sz="11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1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 * </a:t>
              </a:r>
              <a:r>
                <a:rPr kumimoji="0" lang="zh-CN" altLang="zh-CN" sz="11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根据</a:t>
              </a:r>
              <a:r>
                <a:rPr kumimoji="0" lang="zh-CN" altLang="zh-CN" sz="11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ID</a:t>
              </a:r>
              <a:r>
                <a:rPr kumimoji="0" lang="zh-CN" altLang="zh-CN" sz="11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更新员工基本信息</a:t>
              </a:r>
              <a:br>
                <a:rPr kumimoji="0" lang="zh-CN" altLang="zh-CN" sz="11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</a:br>
              <a:r>
                <a:rPr kumimoji="0" lang="zh-CN" altLang="zh-CN" sz="11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kumimoji="0" lang="zh-CN" altLang="zh-CN" sz="11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*/</a:t>
              </a:r>
              <a:br>
                <a:rPr kumimoji="0" lang="zh-CN" altLang="zh-CN" sz="11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void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updateById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Emp emp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);</a:t>
              </a:r>
              <a:endPara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" name="矩形: 圆顶角 35">
              <a:extLst>
                <a:ext uri="{FF2B5EF4-FFF2-40B4-BE49-F238E27FC236}">
                  <a16:creationId xmlns:a16="http://schemas.microsoft.com/office/drawing/2014/main" id="{69EEA13F-1C99-B6BD-D461-D4C3B97CED74}"/>
                </a:ext>
              </a:extLst>
            </p:cNvPr>
            <p:cNvSpPr/>
            <p:nvPr/>
          </p:nvSpPr>
          <p:spPr>
            <a:xfrm>
              <a:off x="2297723" y="3660322"/>
              <a:ext cx="4659082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EmpMapper.java</a:t>
              </a:r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E0ED0909-38A8-A69C-27F5-613CDC2FB5FD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8843FE31-1120-3D68-D1FB-C7EC0DFEDF76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A06F1C24-7AFB-4145-EF7A-EDC5F05576EE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0" name="Rectangle 1">
            <a:extLst>
              <a:ext uri="{FF2B5EF4-FFF2-40B4-BE49-F238E27FC236}">
                <a16:creationId xmlns:a16="http://schemas.microsoft.com/office/drawing/2014/main" id="{970DBF62-73E3-EC9B-56F3-0A9CD0FFC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19E00FA-3B67-46CE-A1C6-A3D0AE1C835A}"/>
              </a:ext>
            </a:extLst>
          </p:cNvPr>
          <p:cNvSpPr txBox="1"/>
          <p:nvPr/>
        </p:nvSpPr>
        <p:spPr>
          <a:xfrm>
            <a:off x="3121947" y="1937600"/>
            <a:ext cx="2230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>
                <a:solidFill>
                  <a:srgbClr val="C00000"/>
                </a:solidFill>
              </a:rPr>
              <a:t>id,username,updateTime</a:t>
            </a:r>
            <a:endParaRPr lang="zh-CN" altLang="en-US" sz="12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820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uild="p"/>
      <p:bldP spid="28" grpId="0"/>
      <p:bldP spid="29" grpId="0"/>
      <p:bldP spid="30" grpId="0" animBg="1"/>
      <p:bldP spid="31" grpId="0" animBg="1"/>
      <p:bldP spid="4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A70509B-0CD3-81CB-CCF6-015A8D8A6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/>
              <a:t>项目开发及运行过程中，不可避免的会出现各种异常。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1B06A97-091C-2936-D7ED-6ADC77063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功能测试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E376EA3-D77E-BE1D-C33D-90A2D6886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850" y="1430658"/>
            <a:ext cx="10592117" cy="2653308"/>
          </a:xfrm>
          <a:prstGeom prst="rect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35B03FE-5A47-95E9-6331-BF3ADFEF7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974" y="2910061"/>
            <a:ext cx="9627661" cy="3854135"/>
          </a:xfrm>
          <a:prstGeom prst="rect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8" name="思想气泡: 云 7">
            <a:extLst>
              <a:ext uri="{FF2B5EF4-FFF2-40B4-BE49-F238E27FC236}">
                <a16:creationId xmlns:a16="http://schemas.microsoft.com/office/drawing/2014/main" id="{A45D6798-7DA2-A548-BA17-DD19018DD6D7}"/>
              </a:ext>
            </a:extLst>
          </p:cNvPr>
          <p:cNvSpPr/>
          <p:nvPr/>
        </p:nvSpPr>
        <p:spPr>
          <a:xfrm>
            <a:off x="8624047" y="4670612"/>
            <a:ext cx="2048780" cy="737003"/>
          </a:xfrm>
          <a:prstGeom prst="cloudCallout">
            <a:avLst>
              <a:gd name="adj1" fmla="val -39970"/>
              <a:gd name="adj2" fmla="val 10677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出现异常时，默认返回的结果不符合规范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6AF1F74-29E7-F0CC-BF69-F0720E8A27E7}"/>
              </a:ext>
            </a:extLst>
          </p:cNvPr>
          <p:cNvSpPr/>
          <p:nvPr/>
        </p:nvSpPr>
        <p:spPr>
          <a:xfrm>
            <a:off x="3956180" y="5901758"/>
            <a:ext cx="4907902" cy="86243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57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022404-BBAB-A2F2-CC41-462893812B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删除员工</a:t>
            </a: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修改员工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异常处理</a:t>
            </a:r>
          </a:p>
          <a:p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员工信息统计</a:t>
            </a:r>
          </a:p>
        </p:txBody>
      </p:sp>
    </p:spTree>
    <p:extLst>
      <p:ext uri="{BB962C8B-B14F-4D97-AF65-F5344CB8AC3E}">
        <p14:creationId xmlns:p14="http://schemas.microsoft.com/office/powerpoint/2010/main" val="18815809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AA0878C-224C-5BA1-24FF-8921FFE17D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异常处理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6CE18A3-A797-B237-A897-7D2D296344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0196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FC4480-8914-B8AD-1DCC-0645FDC78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现在项目中各层出现的异常</a:t>
            </a:r>
            <a:r>
              <a:rPr lang="en-US" altLang="zh-CN"/>
              <a:t>,</a:t>
            </a:r>
            <a:r>
              <a:rPr lang="zh-CN" altLang="en-US"/>
              <a:t>是如何处理</a:t>
            </a:r>
            <a:r>
              <a:rPr lang="en-US" altLang="zh-CN"/>
              <a:t>?</a:t>
            </a:r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3D9D0EC-756B-CFA1-534C-B15AA47D9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异常处理</a:t>
            </a:r>
          </a:p>
        </p:txBody>
      </p:sp>
      <p:sp>
        <p:nvSpPr>
          <p:cNvPr id="2" name="矩形: 对角圆角 1">
            <a:extLst>
              <a:ext uri="{FF2B5EF4-FFF2-40B4-BE49-F238E27FC236}">
                <a16:creationId xmlns:a16="http://schemas.microsoft.com/office/drawing/2014/main" id="{EC72DF52-135A-841C-2D95-3F53F247AFCF}"/>
              </a:ext>
            </a:extLst>
          </p:cNvPr>
          <p:cNvSpPr/>
          <p:nvPr/>
        </p:nvSpPr>
        <p:spPr>
          <a:xfrm>
            <a:off x="891499" y="2388517"/>
            <a:ext cx="2584939" cy="594613"/>
          </a:xfrm>
          <a:prstGeom prst="round2DiagRect">
            <a:avLst>
              <a:gd name="adj1" fmla="val 16667"/>
              <a:gd name="adj2" fmla="val 15692"/>
            </a:avLst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Controller</a:t>
            </a:r>
            <a:endParaRPr lang="zh-CN" altLang="en-US" sz="14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矩形: 对角圆角 4">
            <a:extLst>
              <a:ext uri="{FF2B5EF4-FFF2-40B4-BE49-F238E27FC236}">
                <a16:creationId xmlns:a16="http://schemas.microsoft.com/office/drawing/2014/main" id="{A1347961-D52A-E2A6-CAFB-19FED7CFA779}"/>
              </a:ext>
            </a:extLst>
          </p:cNvPr>
          <p:cNvSpPr/>
          <p:nvPr/>
        </p:nvSpPr>
        <p:spPr>
          <a:xfrm>
            <a:off x="891496" y="3842389"/>
            <a:ext cx="2584939" cy="573625"/>
          </a:xfrm>
          <a:prstGeom prst="round2DiagRect">
            <a:avLst>
              <a:gd name="adj1" fmla="val 16667"/>
              <a:gd name="adj2" fmla="val 14612"/>
            </a:avLst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Service</a:t>
            </a:r>
            <a:endParaRPr lang="zh-CN" altLang="en-US" sz="1400">
              <a:latin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6" name="矩形: 对角圆角 5">
            <a:extLst>
              <a:ext uri="{FF2B5EF4-FFF2-40B4-BE49-F238E27FC236}">
                <a16:creationId xmlns:a16="http://schemas.microsoft.com/office/drawing/2014/main" id="{34127B8F-E6C6-F75A-CDD1-3DB521D888F0}"/>
              </a:ext>
            </a:extLst>
          </p:cNvPr>
          <p:cNvSpPr/>
          <p:nvPr/>
        </p:nvSpPr>
        <p:spPr>
          <a:xfrm>
            <a:off x="891497" y="5341073"/>
            <a:ext cx="2584939" cy="594613"/>
          </a:xfrm>
          <a:prstGeom prst="round2DiagRect">
            <a:avLst>
              <a:gd name="adj1" fmla="val 16667"/>
              <a:gd name="adj2" fmla="val 14097"/>
            </a:avLst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Mapper</a:t>
            </a:r>
            <a:endParaRPr lang="zh-CN" altLang="en-US" sz="1400">
              <a:latin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3" name="!!文本框 13">
            <a:extLst>
              <a:ext uri="{FF2B5EF4-FFF2-40B4-BE49-F238E27FC236}">
                <a16:creationId xmlns:a16="http://schemas.microsoft.com/office/drawing/2014/main" id="{DCAAE5D6-16F4-4703-A3F5-D27E3589C42F}"/>
              </a:ext>
            </a:extLst>
          </p:cNvPr>
          <p:cNvSpPr txBox="1"/>
          <p:nvPr/>
        </p:nvSpPr>
        <p:spPr>
          <a:xfrm>
            <a:off x="3476434" y="5538280"/>
            <a:ext cx="131016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>
                <a:solidFill>
                  <a:srgbClr val="C00000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Exception</a:t>
            </a:r>
            <a:endParaRPr lang="zh-CN" altLang="en-US" sz="1600" b="1" dirty="0">
              <a:solidFill>
                <a:srgbClr val="C00000"/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0C60F2D-AC56-6207-BEB7-73E483AC2B6C}"/>
              </a:ext>
            </a:extLst>
          </p:cNvPr>
          <p:cNvSpPr txBox="1"/>
          <p:nvPr/>
        </p:nvSpPr>
        <p:spPr>
          <a:xfrm>
            <a:off x="4786603" y="1056556"/>
            <a:ext cx="992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solidFill>
                  <a:srgbClr val="C00000"/>
                </a:solidFill>
              </a:rPr>
              <a:t>未做处理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C494E1F-F6D6-0EE4-4E28-741142CB5DB1}"/>
              </a:ext>
            </a:extLst>
          </p:cNvPr>
          <p:cNvSpPr/>
          <p:nvPr/>
        </p:nvSpPr>
        <p:spPr>
          <a:xfrm>
            <a:off x="6412821" y="0"/>
            <a:ext cx="5779180" cy="6858000"/>
          </a:xfrm>
          <a:prstGeom prst="rect">
            <a:avLst/>
          </a:prstGeom>
          <a:solidFill>
            <a:srgbClr val="26262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0689EF6E-8951-50A0-A27D-CCB705694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779" y="1276283"/>
            <a:ext cx="4661897" cy="4625476"/>
          </a:xfrm>
          <a:prstGeom prst="roundRect">
            <a:avLst>
              <a:gd name="adj" fmla="val 1550"/>
            </a:avLst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6F69ECD-3F2E-9F76-63CE-C7088A6FC016}"/>
              </a:ext>
            </a:extLst>
          </p:cNvPr>
          <p:cNvCxnSpPr>
            <a:cxnSpLocks/>
          </p:cNvCxnSpPr>
          <p:nvPr/>
        </p:nvCxnSpPr>
        <p:spPr>
          <a:xfrm>
            <a:off x="1532963" y="1685365"/>
            <a:ext cx="0" cy="670912"/>
          </a:xfrm>
          <a:prstGeom prst="straightConnector1">
            <a:avLst/>
          </a:prstGeom>
          <a:ln w="28575">
            <a:solidFill>
              <a:srgbClr val="00206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6EDCFEC-F816-8212-ED5C-F92AE7F8C6AE}"/>
              </a:ext>
            </a:extLst>
          </p:cNvPr>
          <p:cNvCxnSpPr>
            <a:cxnSpLocks/>
          </p:cNvCxnSpPr>
          <p:nvPr/>
        </p:nvCxnSpPr>
        <p:spPr>
          <a:xfrm>
            <a:off x="1532963" y="3070412"/>
            <a:ext cx="0" cy="695777"/>
          </a:xfrm>
          <a:prstGeom prst="straightConnector1">
            <a:avLst/>
          </a:prstGeom>
          <a:ln w="28575">
            <a:solidFill>
              <a:srgbClr val="00206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2A10DED2-E7E4-4A3D-E376-7D33A3A43F14}"/>
              </a:ext>
            </a:extLst>
          </p:cNvPr>
          <p:cNvCxnSpPr>
            <a:cxnSpLocks/>
          </p:cNvCxnSpPr>
          <p:nvPr/>
        </p:nvCxnSpPr>
        <p:spPr>
          <a:xfrm>
            <a:off x="1532964" y="4527176"/>
            <a:ext cx="0" cy="749565"/>
          </a:xfrm>
          <a:prstGeom prst="straightConnector1">
            <a:avLst/>
          </a:prstGeom>
          <a:ln w="28575">
            <a:solidFill>
              <a:srgbClr val="00206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9ED3E50-66E1-2000-45DF-F69139163706}"/>
              </a:ext>
            </a:extLst>
          </p:cNvPr>
          <p:cNvCxnSpPr>
            <a:cxnSpLocks/>
          </p:cNvCxnSpPr>
          <p:nvPr/>
        </p:nvCxnSpPr>
        <p:spPr>
          <a:xfrm>
            <a:off x="2859740" y="4509246"/>
            <a:ext cx="0" cy="767495"/>
          </a:xfrm>
          <a:prstGeom prst="straightConnector1">
            <a:avLst/>
          </a:prstGeom>
          <a:ln w="28575">
            <a:solidFill>
              <a:srgbClr val="002060"/>
            </a:solidFill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A9DBC017-041E-443A-9DDC-96ED823A47ED}"/>
              </a:ext>
            </a:extLst>
          </p:cNvPr>
          <p:cNvCxnSpPr>
            <a:cxnSpLocks/>
          </p:cNvCxnSpPr>
          <p:nvPr/>
        </p:nvCxnSpPr>
        <p:spPr>
          <a:xfrm>
            <a:off x="2859740" y="3036570"/>
            <a:ext cx="0" cy="729619"/>
          </a:xfrm>
          <a:prstGeom prst="straightConnector1">
            <a:avLst/>
          </a:prstGeom>
          <a:ln w="28575">
            <a:solidFill>
              <a:srgbClr val="002060"/>
            </a:solidFill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EDDDE78D-C34D-846A-70D3-34B5C4D7ACBD}"/>
              </a:ext>
            </a:extLst>
          </p:cNvPr>
          <p:cNvCxnSpPr>
            <a:cxnSpLocks/>
          </p:cNvCxnSpPr>
          <p:nvPr/>
        </p:nvCxnSpPr>
        <p:spPr>
          <a:xfrm>
            <a:off x="2886633" y="1685365"/>
            <a:ext cx="0" cy="670912"/>
          </a:xfrm>
          <a:prstGeom prst="straightConnector1">
            <a:avLst/>
          </a:prstGeom>
          <a:ln w="28575">
            <a:solidFill>
              <a:srgbClr val="002060"/>
            </a:solidFill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图片 34">
            <a:extLst>
              <a:ext uri="{FF2B5EF4-FFF2-40B4-BE49-F238E27FC236}">
                <a16:creationId xmlns:a16="http://schemas.microsoft.com/office/drawing/2014/main" id="{AC63504C-B50A-317D-D2AD-DD7784DFE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580" y="1471310"/>
            <a:ext cx="3064046" cy="967237"/>
          </a:xfrm>
          <a:prstGeom prst="roundRect">
            <a:avLst>
              <a:gd name="adj" fmla="val 3816"/>
            </a:avLst>
          </a:prstGeom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95E2B59A-D2B3-ABC5-5207-6683E28D6042}"/>
              </a:ext>
            </a:extLst>
          </p:cNvPr>
          <p:cNvSpPr txBox="1"/>
          <p:nvPr/>
        </p:nvSpPr>
        <p:spPr>
          <a:xfrm>
            <a:off x="8339683" y="5474021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代码臃肿，不推荐</a:t>
            </a:r>
          </a:p>
        </p:txBody>
      </p:sp>
    </p:spTree>
    <p:extLst>
      <p:ext uri="{BB962C8B-B14F-4D97-AF65-F5344CB8AC3E}">
        <p14:creationId xmlns:p14="http://schemas.microsoft.com/office/powerpoint/2010/main" val="716767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4.07407E-6 L -0.00065 -0.24306 " pathEditMode="relative" rAng="0" ptsTypes="AA">
                                      <p:cBhvr>
                                        <p:cTn id="4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116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5 -0.24306 L -0.00052 -0.44977 " pathEditMode="relative" rAng="0" ptsTypes="AA">
                                      <p:cBhvr>
                                        <p:cTn id="5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0" y="-122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44977 L 0.00183 -0.58195 " pathEditMode="relative" rAng="0" ptsTypes="AA">
                                      <p:cBhvr>
                                        <p:cTn id="5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" y="-6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50"/>
                            </p:stCondLst>
                            <p:childTnLst>
                              <p:par>
                                <p:cTn id="56" presetID="9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#ppt_w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right)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#ppt_w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right)">
                                      <p:cBhvr>
                                        <p:cTn id="9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#ppt_w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right)">
                                      <p:cBhvr>
                                        <p:cTn id="9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13" grpId="0"/>
      <p:bldP spid="13" grpId="1"/>
      <p:bldP spid="13" grpId="2"/>
      <p:bldP spid="13" grpId="3"/>
      <p:bldP spid="13" grpId="4"/>
      <p:bldP spid="15" grpId="0"/>
      <p:bldP spid="18" grpId="0" animBg="1"/>
      <p:bldP spid="18" grpId="1" animBg="1"/>
      <p:bldP spid="36" grpId="0"/>
      <p:bldP spid="36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FC4480-8914-B8AD-1DCC-0645FDC78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全局异常处理器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3D9D0EC-756B-CFA1-534C-B15AA47D9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异常处理</a:t>
            </a:r>
          </a:p>
        </p:txBody>
      </p:sp>
      <p:sp>
        <p:nvSpPr>
          <p:cNvPr id="2" name="矩形: 对角圆角 1">
            <a:extLst>
              <a:ext uri="{FF2B5EF4-FFF2-40B4-BE49-F238E27FC236}">
                <a16:creationId xmlns:a16="http://schemas.microsoft.com/office/drawing/2014/main" id="{EC72DF52-135A-841C-2D95-3F53F247AFCF}"/>
              </a:ext>
            </a:extLst>
          </p:cNvPr>
          <p:cNvSpPr/>
          <p:nvPr/>
        </p:nvSpPr>
        <p:spPr>
          <a:xfrm>
            <a:off x="891499" y="2487127"/>
            <a:ext cx="2584939" cy="594613"/>
          </a:xfrm>
          <a:prstGeom prst="round2DiagRect">
            <a:avLst>
              <a:gd name="adj1" fmla="val 16667"/>
              <a:gd name="adj2" fmla="val 15692"/>
            </a:avLst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Controller</a:t>
            </a:r>
            <a:endParaRPr lang="zh-CN" altLang="en-US" sz="14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矩形: 对角圆角 4">
            <a:extLst>
              <a:ext uri="{FF2B5EF4-FFF2-40B4-BE49-F238E27FC236}">
                <a16:creationId xmlns:a16="http://schemas.microsoft.com/office/drawing/2014/main" id="{A1347961-D52A-E2A6-CAFB-19FED7CFA779}"/>
              </a:ext>
            </a:extLst>
          </p:cNvPr>
          <p:cNvSpPr/>
          <p:nvPr/>
        </p:nvSpPr>
        <p:spPr>
          <a:xfrm>
            <a:off x="891496" y="3940999"/>
            <a:ext cx="2584939" cy="573625"/>
          </a:xfrm>
          <a:prstGeom prst="round2DiagRect">
            <a:avLst>
              <a:gd name="adj1" fmla="val 16667"/>
              <a:gd name="adj2" fmla="val 14612"/>
            </a:avLst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Service</a:t>
            </a:r>
            <a:endParaRPr lang="zh-CN" altLang="en-US" sz="1400">
              <a:latin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6" name="矩形: 对角圆角 5">
            <a:extLst>
              <a:ext uri="{FF2B5EF4-FFF2-40B4-BE49-F238E27FC236}">
                <a16:creationId xmlns:a16="http://schemas.microsoft.com/office/drawing/2014/main" id="{34127B8F-E6C6-F75A-CDD1-3DB521D888F0}"/>
              </a:ext>
            </a:extLst>
          </p:cNvPr>
          <p:cNvSpPr/>
          <p:nvPr/>
        </p:nvSpPr>
        <p:spPr>
          <a:xfrm>
            <a:off x="891497" y="5439683"/>
            <a:ext cx="2584939" cy="594613"/>
          </a:xfrm>
          <a:prstGeom prst="round2DiagRect">
            <a:avLst>
              <a:gd name="adj1" fmla="val 16667"/>
              <a:gd name="adj2" fmla="val 14097"/>
            </a:avLst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Mapper</a:t>
            </a:r>
            <a:endParaRPr lang="zh-CN" altLang="en-US" sz="1400">
              <a:latin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6F69ECD-3F2E-9F76-63CE-C7088A6FC016}"/>
              </a:ext>
            </a:extLst>
          </p:cNvPr>
          <p:cNvCxnSpPr>
            <a:cxnSpLocks/>
          </p:cNvCxnSpPr>
          <p:nvPr/>
        </p:nvCxnSpPr>
        <p:spPr>
          <a:xfrm>
            <a:off x="1532963" y="1783975"/>
            <a:ext cx="0" cy="670912"/>
          </a:xfrm>
          <a:prstGeom prst="straightConnector1">
            <a:avLst/>
          </a:prstGeom>
          <a:ln w="28575">
            <a:solidFill>
              <a:srgbClr val="00206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6EDCFEC-F816-8212-ED5C-F92AE7F8C6AE}"/>
              </a:ext>
            </a:extLst>
          </p:cNvPr>
          <p:cNvCxnSpPr>
            <a:cxnSpLocks/>
          </p:cNvCxnSpPr>
          <p:nvPr/>
        </p:nvCxnSpPr>
        <p:spPr>
          <a:xfrm>
            <a:off x="1532963" y="3169022"/>
            <a:ext cx="0" cy="695777"/>
          </a:xfrm>
          <a:prstGeom prst="straightConnector1">
            <a:avLst/>
          </a:prstGeom>
          <a:ln w="28575">
            <a:solidFill>
              <a:srgbClr val="00206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2A10DED2-E7E4-4A3D-E376-7D33A3A43F14}"/>
              </a:ext>
            </a:extLst>
          </p:cNvPr>
          <p:cNvCxnSpPr>
            <a:cxnSpLocks/>
          </p:cNvCxnSpPr>
          <p:nvPr/>
        </p:nvCxnSpPr>
        <p:spPr>
          <a:xfrm>
            <a:off x="1532964" y="4625786"/>
            <a:ext cx="0" cy="749565"/>
          </a:xfrm>
          <a:prstGeom prst="straightConnector1">
            <a:avLst/>
          </a:prstGeom>
          <a:ln w="28575">
            <a:solidFill>
              <a:srgbClr val="00206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9ED3E50-66E1-2000-45DF-F69139163706}"/>
              </a:ext>
            </a:extLst>
          </p:cNvPr>
          <p:cNvCxnSpPr>
            <a:cxnSpLocks/>
          </p:cNvCxnSpPr>
          <p:nvPr/>
        </p:nvCxnSpPr>
        <p:spPr>
          <a:xfrm>
            <a:off x="2859740" y="4607856"/>
            <a:ext cx="0" cy="767495"/>
          </a:xfrm>
          <a:prstGeom prst="straightConnector1">
            <a:avLst/>
          </a:prstGeom>
          <a:ln w="28575">
            <a:solidFill>
              <a:srgbClr val="002060"/>
            </a:solidFill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A9DBC017-041E-443A-9DDC-96ED823A47ED}"/>
              </a:ext>
            </a:extLst>
          </p:cNvPr>
          <p:cNvCxnSpPr>
            <a:cxnSpLocks/>
          </p:cNvCxnSpPr>
          <p:nvPr/>
        </p:nvCxnSpPr>
        <p:spPr>
          <a:xfrm>
            <a:off x="2859740" y="3135180"/>
            <a:ext cx="0" cy="729619"/>
          </a:xfrm>
          <a:prstGeom prst="straightConnector1">
            <a:avLst/>
          </a:prstGeom>
          <a:ln w="28575">
            <a:solidFill>
              <a:srgbClr val="002060"/>
            </a:solidFill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EDDDE78D-C34D-846A-70D3-34B5C4D7ACBD}"/>
              </a:ext>
            </a:extLst>
          </p:cNvPr>
          <p:cNvCxnSpPr>
            <a:cxnSpLocks/>
          </p:cNvCxnSpPr>
          <p:nvPr/>
        </p:nvCxnSpPr>
        <p:spPr>
          <a:xfrm>
            <a:off x="2886633" y="1783975"/>
            <a:ext cx="0" cy="670912"/>
          </a:xfrm>
          <a:prstGeom prst="straightConnector1">
            <a:avLst/>
          </a:prstGeom>
          <a:ln w="28575">
            <a:solidFill>
              <a:srgbClr val="002060"/>
            </a:solidFill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图: 文档 6">
            <a:extLst>
              <a:ext uri="{FF2B5EF4-FFF2-40B4-BE49-F238E27FC236}">
                <a16:creationId xmlns:a16="http://schemas.microsoft.com/office/drawing/2014/main" id="{68763414-F3A7-1897-9426-EFF113A2C379}"/>
              </a:ext>
            </a:extLst>
          </p:cNvPr>
          <p:cNvSpPr/>
          <p:nvPr/>
        </p:nvSpPr>
        <p:spPr>
          <a:xfrm>
            <a:off x="4757374" y="2487127"/>
            <a:ext cx="1849614" cy="594613"/>
          </a:xfrm>
          <a:prstGeom prst="flowChartDocument">
            <a:avLst/>
          </a:prstGeom>
          <a:solidFill>
            <a:srgbClr val="871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全局异常处理器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053CDAD8-6691-E7C8-1C9D-E0E0867B5B3E}"/>
              </a:ext>
            </a:extLst>
          </p:cNvPr>
          <p:cNvCxnSpPr>
            <a:cxnSpLocks/>
          </p:cNvCxnSpPr>
          <p:nvPr/>
        </p:nvCxnSpPr>
        <p:spPr>
          <a:xfrm flipH="1">
            <a:off x="3541056" y="2741758"/>
            <a:ext cx="1147485" cy="0"/>
          </a:xfrm>
          <a:prstGeom prst="straightConnector1">
            <a:avLst/>
          </a:prstGeom>
          <a:ln w="28575">
            <a:solidFill>
              <a:srgbClr val="002060"/>
            </a:solidFill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6D42C09C-6035-1846-7F8B-7A36CC3C9070}"/>
              </a:ext>
            </a:extLst>
          </p:cNvPr>
          <p:cNvCxnSpPr>
            <a:cxnSpLocks/>
          </p:cNvCxnSpPr>
          <p:nvPr/>
        </p:nvCxnSpPr>
        <p:spPr>
          <a:xfrm>
            <a:off x="5504327" y="1783975"/>
            <a:ext cx="0" cy="670912"/>
          </a:xfrm>
          <a:prstGeom prst="straightConnector1">
            <a:avLst/>
          </a:prstGeom>
          <a:ln w="28575">
            <a:solidFill>
              <a:srgbClr val="002060"/>
            </a:solidFill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A8FD9754-9F94-E9B0-6CE0-90F09115B7D7}"/>
              </a:ext>
            </a:extLst>
          </p:cNvPr>
          <p:cNvSpPr txBox="1"/>
          <p:nvPr/>
        </p:nvSpPr>
        <p:spPr>
          <a:xfrm>
            <a:off x="2441639" y="1475691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rgbClr val="00B05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正常结果</a:t>
            </a:r>
            <a:endParaRPr lang="zh-CN" altLang="en-US" sz="1400" dirty="0">
              <a:solidFill>
                <a:srgbClr val="00B05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577A3A5-BD35-3C94-30C9-73EC1B454E0C}"/>
              </a:ext>
            </a:extLst>
          </p:cNvPr>
          <p:cNvSpPr txBox="1"/>
          <p:nvPr/>
        </p:nvSpPr>
        <p:spPr>
          <a:xfrm>
            <a:off x="5064161" y="1475691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异常结果</a:t>
            </a:r>
            <a:endParaRPr lang="zh-CN" altLang="en-US" sz="14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7" name="组合 2">
            <a:extLst>
              <a:ext uri="{FF2B5EF4-FFF2-40B4-BE49-F238E27FC236}">
                <a16:creationId xmlns:a16="http://schemas.microsoft.com/office/drawing/2014/main" id="{1F965F61-8104-403D-8148-0B1F93496367}"/>
              </a:ext>
            </a:extLst>
          </p:cNvPr>
          <p:cNvGrpSpPr/>
          <p:nvPr/>
        </p:nvGrpSpPr>
        <p:grpSpPr>
          <a:xfrm>
            <a:off x="4757374" y="3294527"/>
            <a:ext cx="5044260" cy="2662518"/>
            <a:chOff x="2297721" y="3660322"/>
            <a:chExt cx="5557838" cy="2662676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45DE26D3-4D3C-CC08-1D0E-1D6A53119087}"/>
                </a:ext>
              </a:extLst>
            </p:cNvPr>
            <p:cNvSpPr/>
            <p:nvPr/>
          </p:nvSpPr>
          <p:spPr>
            <a:xfrm>
              <a:off x="2297729" y="3660323"/>
              <a:ext cx="5557830" cy="2662675"/>
            </a:xfrm>
            <a:prstGeom prst="roundRect">
              <a:avLst>
                <a:gd name="adj" fmla="val 245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9E880D"/>
                  </a:solidFill>
                  <a:effectLst/>
                </a:rPr>
                <a:t>@Slf4j</a:t>
              </a:r>
              <a:br>
                <a:rPr lang="en-US" altLang="zh-CN" sz="1100">
                  <a:solidFill>
                    <a:srgbClr val="9E880D"/>
                  </a:solidFill>
                  <a:effectLst/>
                </a:rPr>
              </a:br>
              <a:r>
                <a:rPr lang="en-US" altLang="zh-CN" sz="1100">
                  <a:solidFill>
                    <a:srgbClr val="9E880D"/>
                  </a:solidFill>
                  <a:effectLst/>
                </a:rPr>
                <a:t>@RestControllerAdvice</a:t>
              </a:r>
              <a:br>
                <a:rPr lang="en-US" altLang="zh-CN" sz="1100">
                  <a:solidFill>
                    <a:srgbClr val="9E880D"/>
                  </a:solidFill>
                  <a:effectLst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</a:rPr>
                <a:t>public class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GlobalExceptionHandler 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{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100">
                  <a:solidFill>
                    <a:srgbClr val="9E880D"/>
                  </a:solidFill>
                  <a:effectLst/>
                </a:rPr>
                <a:t>@ExceptionHandler</a:t>
              </a:r>
              <a:br>
                <a:rPr lang="en-US" altLang="zh-CN" sz="1100">
                  <a:solidFill>
                    <a:srgbClr val="9E880D"/>
                  </a:solidFill>
                  <a:effectLst/>
                </a:rPr>
              </a:br>
              <a:r>
                <a:rPr lang="en-US" altLang="zh-CN" sz="1100">
                  <a:solidFill>
                    <a:srgbClr val="9E880D"/>
                  </a:solidFill>
                  <a:effectLst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public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Result </a:t>
              </a:r>
              <a:r>
                <a:rPr lang="en-US" altLang="zh-CN" sz="1100">
                  <a:solidFill>
                    <a:srgbClr val="00627A"/>
                  </a:solidFill>
                  <a:effectLst/>
                </a:rPr>
                <a:t>handleException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Exception 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e){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    </a:t>
              </a:r>
              <a:r>
                <a:rPr lang="en-US" altLang="zh-CN" sz="1100" i="1">
                  <a:solidFill>
                    <a:srgbClr val="871094"/>
                  </a:solidFill>
                  <a:effectLst/>
                </a:rPr>
                <a:t>log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.error(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全局异常处理器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, 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拦截到异常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e);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   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return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Result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</a:t>
              </a:r>
              <a:r>
                <a:rPr lang="en-US" altLang="zh-CN" sz="1100" i="1">
                  <a:solidFill>
                    <a:srgbClr val="080808"/>
                  </a:solidFill>
                  <a:effectLst/>
                </a:rPr>
                <a:t>error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对不起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,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服务器异常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,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请稍后重试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);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}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}</a:t>
              </a:r>
            </a:p>
          </p:txBody>
        </p:sp>
        <p:sp>
          <p:nvSpPr>
            <p:cNvPr id="27" name="矩形: 圆顶角 26">
              <a:extLst>
                <a:ext uri="{FF2B5EF4-FFF2-40B4-BE49-F238E27FC236}">
                  <a16:creationId xmlns:a16="http://schemas.microsoft.com/office/drawing/2014/main" id="{7130AC2C-A174-DEB8-9DBD-6593F1CAAB08}"/>
                </a:ext>
              </a:extLst>
            </p:cNvPr>
            <p:cNvSpPr/>
            <p:nvPr/>
          </p:nvSpPr>
          <p:spPr>
            <a:xfrm>
              <a:off x="2297721" y="3660322"/>
              <a:ext cx="5557827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>
                  <a:solidFill>
                    <a:schemeClr val="bg1"/>
                  </a:solidFill>
                  <a:effectLst/>
                  <a:latin typeface="Fira Code" panose="020B0809050000020004" pitchFamily="49" charset="0"/>
                </a:rPr>
                <a:t>GlobalExceptionHandler</a:t>
              </a:r>
              <a:endParaRPr lang="en-US" altLang="zh-CN" sz="1800">
                <a:solidFill>
                  <a:schemeClr val="bg1"/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E586A080-046F-CF0B-32EE-8621293E80E4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A99F82F9-04FD-5BB6-72F3-B996CF7A55EC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1C6A63BE-75E8-0C88-73E7-F4E978F7C1B1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!!文本框 13">
            <a:extLst>
              <a:ext uri="{FF2B5EF4-FFF2-40B4-BE49-F238E27FC236}">
                <a16:creationId xmlns:a16="http://schemas.microsoft.com/office/drawing/2014/main" id="{E0EF2B49-89F0-66DE-A781-AE4DCD2A00EE}"/>
              </a:ext>
            </a:extLst>
          </p:cNvPr>
          <p:cNvSpPr txBox="1"/>
          <p:nvPr/>
        </p:nvSpPr>
        <p:spPr>
          <a:xfrm>
            <a:off x="3476434" y="5538280"/>
            <a:ext cx="131016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>
                <a:solidFill>
                  <a:srgbClr val="C00000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Exception</a:t>
            </a:r>
            <a:endParaRPr lang="zh-CN" altLang="en-US" sz="1600" b="1" dirty="0">
              <a:solidFill>
                <a:srgbClr val="C00000"/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005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4.07407E-6 L -2.08333E-6 -0.20579 " pathEditMode="relative" rAng="0" ptsTypes="AA">
                                      <p:cBhvr>
                                        <p:cTn id="17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0579 L -0.00052 -0.44977 " pathEditMode="relative" rAng="0" ptsTypes="AA">
                                      <p:cBhvr>
                                        <p:cTn id="21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199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44977 L 0.11263 -0.43473 " pathEditMode="relative" rAng="0" ptsTypes="AA">
                                      <p:cBhvr>
                                        <p:cTn id="28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51" y="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"/>
                            </p:stCondLst>
                            <p:childTnLst>
                              <p:par>
                                <p:cTn id="30" presetID="9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32" grpId="0"/>
      <p:bldP spid="32" grpId="1"/>
      <p:bldP spid="32" grpId="2"/>
      <p:bldP spid="32" grpId="3"/>
      <p:bldP spid="32" grpId="4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0B97C1B-B916-AAC9-CC9C-14D15F46C1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01617" y="1359878"/>
            <a:ext cx="8052318" cy="39623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50000"/>
                  </a:schemeClr>
                </a:solidFill>
              </a:rPr>
              <a:t>如何定义一个全局异常处理器？</a:t>
            </a:r>
            <a:endParaRPr lang="en-US" altLang="zh-CN" sz="1800">
              <a:solidFill>
                <a:schemeClr val="tx1">
                  <a:lumMod val="50000"/>
                </a:schemeClr>
              </a:solidFill>
            </a:endParaRPr>
          </a:p>
          <a:p>
            <a:pPr marL="68400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600">
                <a:solidFill>
                  <a:schemeClr val="tx1">
                    <a:lumMod val="50000"/>
                  </a:schemeClr>
                </a:solidFill>
              </a:rPr>
              <a:t>@RestControllerAdvice = @ControllerAdvice + @ResponseBody</a:t>
            </a:r>
          </a:p>
          <a:p>
            <a:pPr marL="68400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600">
                <a:solidFill>
                  <a:schemeClr val="tx1">
                    <a:lumMod val="50000"/>
                  </a:schemeClr>
                </a:solidFill>
              </a:rPr>
              <a:t>@ExceptionHandler</a:t>
            </a:r>
            <a:endParaRPr lang="zh-CN" altLang="en-US" sz="160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4115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022404-BBAB-A2F2-CC41-462893812B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删除员工</a:t>
            </a: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修改员工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异常处理</a:t>
            </a:r>
          </a:p>
          <a:p>
            <a:r>
              <a:rPr lang="zh-CN" altLang="en-US">
                <a:solidFill>
                  <a:srgbClr val="C00000"/>
                </a:solidFill>
              </a:rPr>
              <a:t>员工信息统计</a:t>
            </a:r>
          </a:p>
        </p:txBody>
      </p:sp>
    </p:spTree>
    <p:extLst>
      <p:ext uri="{BB962C8B-B14F-4D97-AF65-F5344CB8AC3E}">
        <p14:creationId xmlns:p14="http://schemas.microsoft.com/office/powerpoint/2010/main" val="38790115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BC5190-C078-9126-5E6A-184A4D8F69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员工信息统计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3F86F3-0EBB-6794-40BE-0F95053FEA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职位统计</a:t>
            </a:r>
            <a:endParaRPr lang="en-US" altLang="zh-CN"/>
          </a:p>
          <a:p>
            <a:r>
              <a:rPr lang="zh-CN" altLang="en-US"/>
              <a:t>性别统计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CE6A448-925D-F354-CF2E-43A1053A52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587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F88C9E7-598C-E027-F358-897E2C4C4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职位统计</a:t>
            </a:r>
          </a:p>
        </p:txBody>
      </p:sp>
      <p:pic>
        <p:nvPicPr>
          <p:cNvPr id="2" name="内容占位符 1">
            <a:extLst>
              <a:ext uri="{FF2B5EF4-FFF2-40B4-BE49-F238E27FC236}">
                <a16:creationId xmlns:a16="http://schemas.microsoft.com/office/drawing/2014/main" id="{CABCBDBC-CAB8-A437-F880-7004A9973C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7188" y="1537860"/>
            <a:ext cx="5003272" cy="3921356"/>
          </a:xfrm>
          <a:prstGeom prst="roundRect">
            <a:avLst>
              <a:gd name="adj" fmla="val 1819"/>
            </a:avLst>
          </a:prstGeom>
          <a:ln w="6350">
            <a:solidFill>
              <a:schemeClr val="bg1">
                <a:lumMod val="65000"/>
              </a:schemeClr>
            </a:solidFill>
            <a:prstDash val="dash"/>
          </a:ln>
          <a:effectLst/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4CFDCBA3-D521-BC4B-ECAA-E475EF5B03DF}"/>
              </a:ext>
            </a:extLst>
          </p:cNvPr>
          <p:cNvGrpSpPr/>
          <p:nvPr/>
        </p:nvGrpSpPr>
        <p:grpSpPr>
          <a:xfrm>
            <a:off x="5867618" y="1267686"/>
            <a:ext cx="5813394" cy="2396858"/>
            <a:chOff x="2297721" y="3660322"/>
            <a:chExt cx="6405281" cy="2397000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5BE438A8-93DE-2644-2A81-07FCEC266906}"/>
                </a:ext>
              </a:extLst>
            </p:cNvPr>
            <p:cNvSpPr/>
            <p:nvPr/>
          </p:nvSpPr>
          <p:spPr>
            <a:xfrm>
              <a:off x="2297728" y="3660323"/>
              <a:ext cx="6405274" cy="2396999"/>
            </a:xfrm>
            <a:prstGeom prst="roundRect">
              <a:avLst>
                <a:gd name="adj" fmla="val 414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rPr>
                <a:t>{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rPr>
                <a:t>  </a:t>
              </a:r>
              <a:r>
                <a:rPr lang="en-US" altLang="zh-CN" sz="1100">
                  <a:solidFill>
                    <a:srgbClr val="00B050"/>
                  </a:solidFill>
                  <a:effectLst/>
                </a:rPr>
                <a:t>"code"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rPr>
                <a:t>: 1,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rPr>
                <a:t>  </a:t>
              </a:r>
              <a:r>
                <a:rPr lang="en-US" altLang="zh-CN" sz="1100">
                  <a:solidFill>
                    <a:srgbClr val="00B050"/>
                  </a:solidFill>
                  <a:effectLst/>
                </a:rPr>
                <a:t>"msg": "success"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rPr>
                <a:t>,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rPr>
                <a:t>  </a:t>
              </a:r>
              <a:r>
                <a:rPr lang="en-US" altLang="zh-CN" sz="1100">
                  <a:solidFill>
                    <a:srgbClr val="00B050"/>
                  </a:solidFill>
                  <a:effectLst/>
                </a:rPr>
                <a:t>"data"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rPr>
                <a:t>: {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rPr>
                <a:t>    </a:t>
              </a:r>
              <a:r>
                <a:rPr lang="en-US" altLang="zh-CN" sz="1100">
                  <a:solidFill>
                    <a:srgbClr val="00B050"/>
                  </a:solidFill>
                  <a:effectLst/>
                </a:rPr>
                <a:t>"jobList"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[</a:t>
              </a:r>
              <a:r>
                <a:rPr lang="en-US" altLang="zh-CN" sz="1100">
                  <a:solidFill>
                    <a:srgbClr val="00B05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"</a:t>
              </a:r>
              <a:r>
                <a:rPr lang="zh-CN" altLang="en-US" sz="110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教研主管</a:t>
              </a:r>
              <a:r>
                <a:rPr lang="en-US" altLang="zh-CN" sz="1100">
                  <a:solidFill>
                    <a:srgbClr val="00B05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"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,</a:t>
              </a:r>
              <a:r>
                <a:rPr lang="en-US" altLang="zh-CN" sz="1100">
                  <a:solidFill>
                    <a:srgbClr val="00B05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"</a:t>
              </a:r>
              <a:r>
                <a:rPr lang="zh-CN" altLang="en-US" sz="110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学工主管</a:t>
              </a:r>
              <a:r>
                <a:rPr lang="en-US" altLang="zh-CN" sz="1100">
                  <a:solidFill>
                    <a:srgbClr val="00B05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"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,</a:t>
              </a:r>
              <a:r>
                <a:rPr lang="en-US" altLang="zh-CN" sz="1100">
                  <a:solidFill>
                    <a:srgbClr val="00B05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"</a:t>
              </a:r>
              <a:r>
                <a:rPr lang="zh-CN" altLang="en-US" sz="110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其他</a:t>
              </a:r>
              <a:r>
                <a:rPr lang="en-US" altLang="zh-CN" sz="1100">
                  <a:solidFill>
                    <a:srgbClr val="00B05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"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,</a:t>
              </a:r>
              <a:r>
                <a:rPr lang="en-US" altLang="zh-CN" sz="1100">
                  <a:solidFill>
                    <a:srgbClr val="00B05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"</a:t>
              </a:r>
              <a:r>
                <a:rPr lang="zh-CN" altLang="en-US" sz="110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班主任</a:t>
              </a:r>
              <a:r>
                <a:rPr lang="en-US" altLang="zh-CN" sz="1100">
                  <a:solidFill>
                    <a:srgbClr val="00B05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"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,</a:t>
              </a:r>
              <a:r>
                <a:rPr lang="en-US" altLang="zh-CN" sz="1100">
                  <a:solidFill>
                    <a:srgbClr val="00B05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"</a:t>
              </a:r>
              <a:r>
                <a:rPr lang="zh-CN" altLang="en-US" sz="110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咨询师</a:t>
              </a:r>
              <a:r>
                <a:rPr lang="en-US" altLang="zh-CN" sz="1100">
                  <a:solidFill>
                    <a:srgbClr val="00B05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"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,</a:t>
              </a:r>
              <a:r>
                <a:rPr lang="en-US" altLang="zh-CN" sz="1100">
                  <a:solidFill>
                    <a:srgbClr val="00B05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"</a:t>
              </a:r>
              <a:r>
                <a:rPr lang="zh-CN" altLang="en-US" sz="110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讲师</a:t>
              </a:r>
              <a:r>
                <a:rPr lang="en-US" altLang="zh-CN" sz="1100">
                  <a:solidFill>
                    <a:srgbClr val="00B05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"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],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rPr>
                <a:t>    </a:t>
              </a:r>
              <a:r>
                <a:rPr lang="en-US" altLang="zh-CN" sz="1100">
                  <a:solidFill>
                    <a:srgbClr val="00B050"/>
                  </a:solidFill>
                  <a:effectLst/>
                </a:rPr>
                <a:t>"dataList"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rPr>
                <a:t>: [1,1,2,6,8,13]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rPr>
                <a:t>  }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rPr>
                <a:t>}</a:t>
              </a:r>
            </a:p>
          </p:txBody>
        </p:sp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FF00929E-6819-9644-CEB4-94A50EAA29F4}"/>
                </a:ext>
              </a:extLst>
            </p:cNvPr>
            <p:cNvSpPr/>
            <p:nvPr/>
          </p:nvSpPr>
          <p:spPr>
            <a:xfrm>
              <a:off x="2297721" y="3660322"/>
              <a:ext cx="6405274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响应数据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0366BC3A-3A9E-8A22-4268-3CB323078E31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43851F84-F3B6-3BB1-20FC-594731C01653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9242EF1A-7993-2C1B-1FE8-56F6C4DC6757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BF7EFED9-5CFA-D553-CD54-E3E8D35B5604}"/>
              </a:ext>
            </a:extLst>
          </p:cNvPr>
          <p:cNvSpPr/>
          <p:nvPr/>
        </p:nvSpPr>
        <p:spPr>
          <a:xfrm>
            <a:off x="5867618" y="2588779"/>
            <a:ext cx="5813388" cy="510988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2" name="组合 2">
            <a:extLst>
              <a:ext uri="{FF2B5EF4-FFF2-40B4-BE49-F238E27FC236}">
                <a16:creationId xmlns:a16="http://schemas.microsoft.com/office/drawing/2014/main" id="{98DD43B9-9A1F-F83A-F40D-2DF6AA2302F7}"/>
              </a:ext>
            </a:extLst>
          </p:cNvPr>
          <p:cNvGrpSpPr/>
          <p:nvPr/>
        </p:nvGrpSpPr>
        <p:grpSpPr>
          <a:xfrm>
            <a:off x="5867617" y="3827804"/>
            <a:ext cx="5813390" cy="2023460"/>
            <a:chOff x="2297720" y="3660322"/>
            <a:chExt cx="6405276" cy="2023580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7A8DE593-0679-8EB3-6FB0-37BD53D1AA0D}"/>
                </a:ext>
              </a:extLst>
            </p:cNvPr>
            <p:cNvSpPr/>
            <p:nvPr/>
          </p:nvSpPr>
          <p:spPr>
            <a:xfrm>
              <a:off x="2297728" y="3660324"/>
              <a:ext cx="6405268" cy="2023578"/>
            </a:xfrm>
            <a:prstGeom prst="roundRect">
              <a:avLst>
                <a:gd name="adj" fmla="val 3818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050">
                  <a:solidFill>
                    <a:srgbClr val="9E880D"/>
                  </a:solidFill>
                  <a:effectLst/>
                  <a:ea typeface="Fira Code" panose="020B0809050000020004" pitchFamily="49" charset="0"/>
                </a:rPr>
                <a:t>@Data</a:t>
              </a:r>
              <a:br>
                <a:rPr lang="en-US" altLang="zh-CN" sz="1050">
                  <a:solidFill>
                    <a:srgbClr val="9E880D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050">
                  <a:solidFill>
                    <a:srgbClr val="9E880D"/>
                  </a:solidFill>
                  <a:effectLst/>
                  <a:ea typeface="Fira Code" panose="020B0809050000020004" pitchFamily="49" charset="0"/>
                </a:rPr>
                <a:t>@NoArgsConstructor</a:t>
              </a:r>
              <a:br>
                <a:rPr lang="en-US" altLang="zh-CN" sz="1050">
                  <a:solidFill>
                    <a:srgbClr val="9E880D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050">
                  <a:solidFill>
                    <a:srgbClr val="9E880D"/>
                  </a:solidFill>
                  <a:effectLst/>
                  <a:ea typeface="Fira Code" panose="020B0809050000020004" pitchFamily="49" charset="0"/>
                </a:rPr>
                <a:t>@AllArgsConstructor</a:t>
              </a:r>
              <a:br>
                <a:rPr lang="en-US" altLang="zh-CN" sz="1050">
                  <a:solidFill>
                    <a:srgbClr val="9E880D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050">
                  <a:solidFill>
                    <a:srgbClr val="0033B3"/>
                  </a:solidFill>
                  <a:effectLst/>
                  <a:ea typeface="Fira Code" panose="020B0809050000020004" pitchFamily="49" charset="0"/>
                </a:rPr>
                <a:t>public class </a:t>
              </a:r>
              <a:r>
                <a:rPr lang="en-US" altLang="zh-CN" sz="105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JobOption </a:t>
              </a: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{</a:t>
              </a:r>
              <a:b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    </a:t>
              </a:r>
              <a:r>
                <a:rPr lang="en-US" altLang="zh-CN" sz="1050">
                  <a:solidFill>
                    <a:srgbClr val="0033B3"/>
                  </a:solidFill>
                  <a:effectLst/>
                  <a:ea typeface="Fira Code" panose="020B0809050000020004" pitchFamily="49" charset="0"/>
                </a:rPr>
                <a:t>private </a:t>
              </a:r>
              <a:r>
                <a:rPr lang="en-US" altLang="zh-CN" sz="105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List </a:t>
              </a:r>
              <a:r>
                <a:rPr lang="en-US" altLang="zh-CN" sz="1050">
                  <a:solidFill>
                    <a:srgbClr val="871094"/>
                  </a:solidFill>
                  <a:effectLst/>
                  <a:ea typeface="Fira Code" panose="020B0809050000020004" pitchFamily="49" charset="0"/>
                </a:rPr>
                <a:t>jobList</a:t>
              </a: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; </a:t>
              </a:r>
              <a:r>
                <a:rPr lang="en-US" altLang="zh-CN" sz="1050" i="1">
                  <a:solidFill>
                    <a:srgbClr val="8C8C8C"/>
                  </a:solidFill>
                  <a:effectLst/>
                  <a:ea typeface="Fira Code" panose="020B0809050000020004" pitchFamily="49" charset="0"/>
                </a:rPr>
                <a:t>//</a:t>
              </a:r>
              <a:r>
                <a:rPr lang="zh-CN" altLang="en-US" sz="105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  <a:t>职位列表</a:t>
              </a:r>
              <a:br>
                <a:rPr lang="zh-CN" altLang="en-US" sz="105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</a:br>
              <a:r>
                <a:rPr lang="zh-CN" altLang="en-US" sz="105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  <a:t>    </a:t>
              </a:r>
              <a:r>
                <a:rPr lang="en-US" altLang="zh-CN" sz="1050">
                  <a:solidFill>
                    <a:srgbClr val="0033B3"/>
                  </a:solidFill>
                  <a:effectLst/>
                  <a:ea typeface="Fira Code" panose="020B0809050000020004" pitchFamily="49" charset="0"/>
                </a:rPr>
                <a:t>private </a:t>
              </a:r>
              <a:r>
                <a:rPr lang="en-US" altLang="zh-CN" sz="105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List </a:t>
              </a:r>
              <a:r>
                <a:rPr lang="en-US" altLang="zh-CN" sz="1050">
                  <a:solidFill>
                    <a:srgbClr val="871094"/>
                  </a:solidFill>
                  <a:effectLst/>
                  <a:ea typeface="Fira Code" panose="020B0809050000020004" pitchFamily="49" charset="0"/>
                </a:rPr>
                <a:t>dataList</a:t>
              </a: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; </a:t>
              </a:r>
              <a:r>
                <a:rPr lang="en-US" altLang="zh-CN" sz="1050" i="1">
                  <a:solidFill>
                    <a:srgbClr val="8C8C8C"/>
                  </a:solidFill>
                  <a:effectLst/>
                  <a:ea typeface="Fira Code" panose="020B0809050000020004" pitchFamily="49" charset="0"/>
                </a:rPr>
                <a:t>//</a:t>
              </a:r>
              <a:r>
                <a:rPr lang="zh-CN" altLang="en-US" sz="105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  <a:t>人数列表</a:t>
              </a:r>
              <a:br>
                <a:rPr lang="zh-CN" altLang="en-US" sz="105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}</a:t>
              </a:r>
            </a:p>
          </p:txBody>
        </p:sp>
        <p:sp>
          <p:nvSpPr>
            <p:cNvPr id="14" name="矩形: 圆顶角 13">
              <a:extLst>
                <a:ext uri="{FF2B5EF4-FFF2-40B4-BE49-F238E27FC236}">
                  <a16:creationId xmlns:a16="http://schemas.microsoft.com/office/drawing/2014/main" id="{C2C9251D-88B2-03A6-9800-7A6BBC186501}"/>
                </a:ext>
              </a:extLst>
            </p:cNvPr>
            <p:cNvSpPr/>
            <p:nvPr/>
          </p:nvSpPr>
          <p:spPr>
            <a:xfrm>
              <a:off x="2297720" y="3660322"/>
              <a:ext cx="6405268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JobOption</a:t>
              </a: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689F7422-4A2C-4DAE-8FAB-AC3FE6F1C628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3095E19F-7F6C-2EF3-1EC5-EE1282BC2681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39EE8F66-04B6-AF3A-96CE-41475FE8C410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89360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9B4205-56F7-E56A-A094-C0ABA0D6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职位统计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DD1EC51-2E18-25C3-1A6D-3C38ECF7E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324" y="1095968"/>
            <a:ext cx="2785355" cy="2333032"/>
          </a:xfrm>
          <a:prstGeom prst="roundRect">
            <a:avLst>
              <a:gd name="adj" fmla="val 1819"/>
            </a:avLst>
          </a:prstGeom>
          <a:ln w="6350">
            <a:solidFill>
              <a:schemeClr val="bg1">
                <a:lumMod val="65000"/>
              </a:schemeClr>
            </a:solidFill>
            <a:prstDash val="dash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grpSp>
        <p:nvGrpSpPr>
          <p:cNvPr id="5" name="组合 2">
            <a:extLst>
              <a:ext uri="{FF2B5EF4-FFF2-40B4-BE49-F238E27FC236}">
                <a16:creationId xmlns:a16="http://schemas.microsoft.com/office/drawing/2014/main" id="{09660105-A8FB-EA79-0EEB-60237B13526A}"/>
              </a:ext>
            </a:extLst>
          </p:cNvPr>
          <p:cNvGrpSpPr/>
          <p:nvPr/>
        </p:nvGrpSpPr>
        <p:grpSpPr>
          <a:xfrm>
            <a:off x="6257588" y="1458882"/>
            <a:ext cx="3623760" cy="1828925"/>
            <a:chOff x="2297721" y="3660322"/>
            <a:chExt cx="3992710" cy="1829033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A8426D6D-30F5-56D7-A52D-493BBCCC3AE0}"/>
                </a:ext>
              </a:extLst>
            </p:cNvPr>
            <p:cNvSpPr/>
            <p:nvPr/>
          </p:nvSpPr>
          <p:spPr>
            <a:xfrm>
              <a:off x="2297728" y="3660324"/>
              <a:ext cx="3992703" cy="1829031"/>
            </a:xfrm>
            <a:prstGeom prst="roundRect">
              <a:avLst>
                <a:gd name="adj" fmla="val 3818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900">
                  <a:solidFill>
                    <a:srgbClr val="9E880D"/>
                  </a:solidFill>
                  <a:effectLst/>
                  <a:ea typeface="Fira Code" panose="020B0809050000020004" pitchFamily="49" charset="0"/>
                </a:rPr>
                <a:t>@Data</a:t>
              </a:r>
              <a:br>
                <a:rPr lang="en-US" altLang="zh-CN" sz="900">
                  <a:solidFill>
                    <a:srgbClr val="9E880D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900">
                  <a:solidFill>
                    <a:srgbClr val="9E880D"/>
                  </a:solidFill>
                  <a:effectLst/>
                  <a:ea typeface="Fira Code" panose="020B0809050000020004" pitchFamily="49" charset="0"/>
                </a:rPr>
                <a:t>@NoArgsConstructor</a:t>
              </a:r>
              <a:br>
                <a:rPr lang="en-US" altLang="zh-CN" sz="900">
                  <a:solidFill>
                    <a:srgbClr val="9E880D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900">
                  <a:solidFill>
                    <a:srgbClr val="9E880D"/>
                  </a:solidFill>
                  <a:effectLst/>
                  <a:ea typeface="Fira Code" panose="020B0809050000020004" pitchFamily="49" charset="0"/>
                </a:rPr>
                <a:t>@AllArgsConstructor</a:t>
              </a:r>
              <a:br>
                <a:rPr lang="en-US" altLang="zh-CN" sz="900">
                  <a:solidFill>
                    <a:srgbClr val="9E880D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900">
                  <a:solidFill>
                    <a:srgbClr val="0033B3"/>
                  </a:solidFill>
                  <a:effectLst/>
                  <a:ea typeface="Fira Code" panose="020B0809050000020004" pitchFamily="49" charset="0"/>
                </a:rPr>
                <a:t>public class </a:t>
              </a:r>
              <a:r>
                <a:rPr lang="en-US" altLang="zh-CN" sz="90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JobOption </a:t>
              </a:r>
              <a: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{</a:t>
              </a:r>
              <a:b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    </a:t>
              </a:r>
              <a:r>
                <a:rPr lang="en-US" altLang="zh-CN" sz="900">
                  <a:solidFill>
                    <a:srgbClr val="0033B3"/>
                  </a:solidFill>
                  <a:effectLst/>
                  <a:ea typeface="Fira Code" panose="020B0809050000020004" pitchFamily="49" charset="0"/>
                </a:rPr>
                <a:t>private </a:t>
              </a:r>
              <a:r>
                <a:rPr lang="en-US" altLang="zh-CN" sz="90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List </a:t>
              </a:r>
              <a:r>
                <a:rPr lang="en-US" altLang="zh-CN" sz="900">
                  <a:solidFill>
                    <a:srgbClr val="871094"/>
                  </a:solidFill>
                  <a:effectLst/>
                  <a:ea typeface="Fira Code" panose="020B0809050000020004" pitchFamily="49" charset="0"/>
                </a:rPr>
                <a:t>jobList</a:t>
              </a:r>
              <a: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; </a:t>
              </a:r>
              <a:r>
                <a:rPr lang="en-US" altLang="zh-CN" sz="900" i="1">
                  <a:solidFill>
                    <a:srgbClr val="8C8C8C"/>
                  </a:solidFill>
                  <a:effectLst/>
                  <a:ea typeface="Fira Code" panose="020B0809050000020004" pitchFamily="49" charset="0"/>
                </a:rPr>
                <a:t>//</a:t>
              </a:r>
              <a:r>
                <a:rPr lang="zh-CN" altLang="en-US" sz="90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  <a:t>职位列表</a:t>
              </a:r>
              <a:br>
                <a:rPr lang="zh-CN" altLang="en-US" sz="90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</a:br>
              <a:r>
                <a:rPr lang="zh-CN" altLang="en-US" sz="90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  <a:t>    </a:t>
              </a:r>
              <a:r>
                <a:rPr lang="en-US" altLang="zh-CN" sz="900">
                  <a:solidFill>
                    <a:srgbClr val="0033B3"/>
                  </a:solidFill>
                  <a:effectLst/>
                  <a:ea typeface="Fira Code" panose="020B0809050000020004" pitchFamily="49" charset="0"/>
                </a:rPr>
                <a:t>private </a:t>
              </a:r>
              <a:r>
                <a:rPr lang="en-US" altLang="zh-CN" sz="90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List </a:t>
              </a:r>
              <a:r>
                <a:rPr lang="en-US" altLang="zh-CN" sz="900">
                  <a:solidFill>
                    <a:srgbClr val="871094"/>
                  </a:solidFill>
                  <a:effectLst/>
                  <a:ea typeface="Fira Code" panose="020B0809050000020004" pitchFamily="49" charset="0"/>
                </a:rPr>
                <a:t>dataList</a:t>
              </a:r>
              <a: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; </a:t>
              </a:r>
              <a:r>
                <a:rPr lang="en-US" altLang="zh-CN" sz="900" i="1">
                  <a:solidFill>
                    <a:srgbClr val="8C8C8C"/>
                  </a:solidFill>
                  <a:effectLst/>
                  <a:ea typeface="Fira Code" panose="020B0809050000020004" pitchFamily="49" charset="0"/>
                </a:rPr>
                <a:t>//</a:t>
              </a:r>
              <a:r>
                <a:rPr lang="zh-CN" altLang="en-US" sz="90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  <a:t>人数列表</a:t>
              </a:r>
              <a:br>
                <a:rPr lang="zh-CN" altLang="en-US" sz="90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</a:br>
              <a: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}</a:t>
              </a:r>
            </a:p>
          </p:txBody>
        </p:sp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EA387F83-BE01-A644-58AC-43DE81562193}"/>
                </a:ext>
              </a:extLst>
            </p:cNvPr>
            <p:cNvSpPr/>
            <p:nvPr/>
          </p:nvSpPr>
          <p:spPr>
            <a:xfrm>
              <a:off x="2297721" y="3660322"/>
              <a:ext cx="3992703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JobOption</a:t>
              </a: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FF0737B3-9A93-A271-58E0-90C0E7680078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844A49EA-EE05-A116-4C18-4991769358BE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2D425B74-34C9-BEB1-2189-B2DC79167799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16610C32-BDEE-2C74-7E8B-CE74041EE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4170" y="4546501"/>
            <a:ext cx="932333" cy="1302786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061A5C30-69ED-EC38-D9E6-262702F51278}"/>
              </a:ext>
            </a:extLst>
          </p:cNvPr>
          <p:cNvGrpSpPr/>
          <p:nvPr/>
        </p:nvGrpSpPr>
        <p:grpSpPr>
          <a:xfrm>
            <a:off x="713116" y="4900686"/>
            <a:ext cx="780070" cy="786974"/>
            <a:chOff x="1288572" y="3466291"/>
            <a:chExt cx="1076475" cy="1086002"/>
          </a:xfrm>
        </p:grpSpPr>
        <p:pic>
          <p:nvPicPr>
            <p:cNvPr id="13" name="图片 0">
              <a:extLst>
                <a:ext uri="{FF2B5EF4-FFF2-40B4-BE49-F238E27FC236}">
                  <a16:creationId xmlns:a16="http://schemas.microsoft.com/office/drawing/2014/main" id="{9EABE1B9-1CE4-B8EF-8368-F91FCDF4E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88572" y="3466291"/>
              <a:ext cx="1076475" cy="1086002"/>
            </a:xfrm>
            <a:prstGeom prst="rect">
              <a:avLst/>
            </a:prstGeom>
          </p:spPr>
        </p:pic>
        <p:pic>
          <p:nvPicPr>
            <p:cNvPr id="14" name="图片 1">
              <a:extLst>
                <a:ext uri="{FF2B5EF4-FFF2-40B4-BE49-F238E27FC236}">
                  <a16:creationId xmlns:a16="http://schemas.microsoft.com/office/drawing/2014/main" id="{59C007EE-D3D4-8FE6-1D2D-E0D8E92A458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02940" y="3784462"/>
              <a:ext cx="447737" cy="447737"/>
            </a:xfrm>
            <a:prstGeom prst="rect">
              <a:avLst/>
            </a:prstGeom>
          </p:spPr>
        </p:pic>
      </p:grpSp>
      <p:sp>
        <p:nvSpPr>
          <p:cNvPr id="15" name="箭头: 右 14">
            <a:extLst>
              <a:ext uri="{FF2B5EF4-FFF2-40B4-BE49-F238E27FC236}">
                <a16:creationId xmlns:a16="http://schemas.microsoft.com/office/drawing/2014/main" id="{DDE92B3D-E31B-C51E-B790-E3852EF13CEF}"/>
              </a:ext>
            </a:extLst>
          </p:cNvPr>
          <p:cNvSpPr/>
          <p:nvPr/>
        </p:nvSpPr>
        <p:spPr>
          <a:xfrm>
            <a:off x="1660743" y="5098411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FBFFE418-95E0-BFBD-A3FB-295DD13BE7B2}"/>
              </a:ext>
            </a:extLst>
          </p:cNvPr>
          <p:cNvSpPr/>
          <p:nvPr/>
        </p:nvSpPr>
        <p:spPr>
          <a:xfrm>
            <a:off x="4377049" y="5098411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156F09D5-AE49-7AD6-649E-536AEB14EE61}"/>
              </a:ext>
            </a:extLst>
          </p:cNvPr>
          <p:cNvSpPr/>
          <p:nvPr/>
        </p:nvSpPr>
        <p:spPr>
          <a:xfrm>
            <a:off x="7102916" y="5098411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54BDCD8B-D31C-4E83-E6C8-170A7DB5913C}"/>
              </a:ext>
            </a:extLst>
          </p:cNvPr>
          <p:cNvSpPr/>
          <p:nvPr/>
        </p:nvSpPr>
        <p:spPr>
          <a:xfrm>
            <a:off x="9914002" y="5098411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4B571B8-C5D0-D143-F412-41AE6A9606B7}"/>
              </a:ext>
            </a:extLst>
          </p:cNvPr>
          <p:cNvGrpSpPr/>
          <p:nvPr/>
        </p:nvGrpSpPr>
        <p:grpSpPr>
          <a:xfrm>
            <a:off x="2290910" y="4063228"/>
            <a:ext cx="1900517" cy="2611635"/>
            <a:chOff x="2303931" y="2912210"/>
            <a:chExt cx="1900517" cy="2611635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8E0EF139-842C-D05A-D67F-BDA14A17BB57}"/>
                </a:ext>
              </a:extLst>
            </p:cNvPr>
            <p:cNvSpPr/>
            <p:nvPr/>
          </p:nvSpPr>
          <p:spPr>
            <a:xfrm>
              <a:off x="2303931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Controller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流程图: 文档 20">
              <a:extLst>
                <a:ext uri="{FF2B5EF4-FFF2-40B4-BE49-F238E27FC236}">
                  <a16:creationId xmlns:a16="http://schemas.microsoft.com/office/drawing/2014/main" id="{E0C64E90-371C-A035-6622-962B95A4A2F5}"/>
                </a:ext>
              </a:extLst>
            </p:cNvPr>
            <p:cNvSpPr/>
            <p:nvPr/>
          </p:nvSpPr>
          <p:spPr>
            <a:xfrm>
              <a:off x="2303931" y="3316712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2" name="!!流程图: 文档 1">
            <a:extLst>
              <a:ext uri="{FF2B5EF4-FFF2-40B4-BE49-F238E27FC236}">
                <a16:creationId xmlns:a16="http://schemas.microsoft.com/office/drawing/2014/main" id="{56182030-7172-46CE-5B34-933C7F11CDE1}"/>
              </a:ext>
            </a:extLst>
          </p:cNvPr>
          <p:cNvSpPr/>
          <p:nvPr/>
        </p:nvSpPr>
        <p:spPr>
          <a:xfrm>
            <a:off x="2290909" y="4463918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接收请求</a:t>
            </a:r>
            <a:endParaRPr lang="en-US" altLang="zh-CN" sz="11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</a:t>
            </a: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Service</a:t>
            </a:r>
            <a:r>
              <a:rPr lang="zh-CN" altLang="en-US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方法</a:t>
            </a:r>
            <a:endParaRPr lang="en-US" altLang="zh-CN" sz="11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响应结果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0112953B-2075-E744-4E6B-25091F4F38DB}"/>
              </a:ext>
            </a:extLst>
          </p:cNvPr>
          <p:cNvGrpSpPr/>
          <p:nvPr/>
        </p:nvGrpSpPr>
        <p:grpSpPr>
          <a:xfrm>
            <a:off x="5087897" y="4063228"/>
            <a:ext cx="1900517" cy="2615624"/>
            <a:chOff x="5100918" y="2912210"/>
            <a:chExt cx="1900517" cy="2615624"/>
          </a:xfrm>
        </p:grpSpPr>
        <p:sp>
          <p:nvSpPr>
            <p:cNvPr id="24" name="流程图: 文档 23">
              <a:extLst>
                <a:ext uri="{FF2B5EF4-FFF2-40B4-BE49-F238E27FC236}">
                  <a16:creationId xmlns:a16="http://schemas.microsoft.com/office/drawing/2014/main" id="{4F67E9BB-2C7B-999A-7171-4A9ACC236FF7}"/>
                </a:ext>
              </a:extLst>
            </p:cNvPr>
            <p:cNvSpPr/>
            <p:nvPr/>
          </p:nvSpPr>
          <p:spPr>
            <a:xfrm>
              <a:off x="5100918" y="3320701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72CDF61-37CD-8246-FF48-62418A8F223E}"/>
                </a:ext>
              </a:extLst>
            </p:cNvPr>
            <p:cNvSpPr/>
            <p:nvPr/>
          </p:nvSpPr>
          <p:spPr>
            <a:xfrm>
              <a:off x="5100918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Service</a:t>
              </a:r>
              <a:endParaRPr lang="zh-CN" altLang="en-US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6" name="流程图: 文档 25">
            <a:extLst>
              <a:ext uri="{FF2B5EF4-FFF2-40B4-BE49-F238E27FC236}">
                <a16:creationId xmlns:a16="http://schemas.microsoft.com/office/drawing/2014/main" id="{A4C7D72B-82E1-1E5A-1AFC-580E5C6E2C1A}"/>
              </a:ext>
            </a:extLst>
          </p:cNvPr>
          <p:cNvSpPr/>
          <p:nvPr/>
        </p:nvSpPr>
        <p:spPr>
          <a:xfrm>
            <a:off x="5087897" y="4466639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</a:t>
            </a:r>
            <a:r>
              <a:rPr lang="en-US" altLang="zh-CN" sz="110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mapper</a:t>
            </a:r>
            <a:r>
              <a:rPr lang="zh-CN" altLang="en-US" sz="110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方法获取职位统计数据</a:t>
            </a:r>
            <a:endParaRPr lang="en-US" altLang="zh-CN" sz="1100">
              <a:solidFill>
                <a:schemeClr val="bg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解析数据封装统计结果</a:t>
            </a:r>
            <a:r>
              <a:rPr lang="en-US" altLang="zh-CN" sz="110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(JobOption)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56835E2-E12B-BC08-AE5A-8172227C94F6}"/>
              </a:ext>
            </a:extLst>
          </p:cNvPr>
          <p:cNvGrpSpPr/>
          <p:nvPr/>
        </p:nvGrpSpPr>
        <p:grpSpPr>
          <a:xfrm>
            <a:off x="7732483" y="4063228"/>
            <a:ext cx="2005457" cy="2617985"/>
            <a:chOff x="7897904" y="2912210"/>
            <a:chExt cx="2005457" cy="2617985"/>
          </a:xfrm>
        </p:grpSpPr>
        <p:sp>
          <p:nvSpPr>
            <p:cNvPr id="28" name="流程图: 文档 27">
              <a:extLst>
                <a:ext uri="{FF2B5EF4-FFF2-40B4-BE49-F238E27FC236}">
                  <a16:creationId xmlns:a16="http://schemas.microsoft.com/office/drawing/2014/main" id="{816AADDF-A332-B21A-5869-851E0EA0D9DE}"/>
                </a:ext>
              </a:extLst>
            </p:cNvPr>
            <p:cNvSpPr/>
            <p:nvPr/>
          </p:nvSpPr>
          <p:spPr>
            <a:xfrm>
              <a:off x="7897904" y="3323062"/>
              <a:ext cx="200545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42F2D218-F865-1304-8D42-710E1BF5E497}"/>
                </a:ext>
              </a:extLst>
            </p:cNvPr>
            <p:cNvSpPr/>
            <p:nvPr/>
          </p:nvSpPr>
          <p:spPr>
            <a:xfrm>
              <a:off x="7897905" y="2912210"/>
              <a:ext cx="2005455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Mapper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30" name="!!流程图: 文档 22">
            <a:extLst>
              <a:ext uri="{FF2B5EF4-FFF2-40B4-BE49-F238E27FC236}">
                <a16:creationId xmlns:a16="http://schemas.microsoft.com/office/drawing/2014/main" id="{36A5C44B-4D24-1EEF-9D36-EBA176C5F6A2}"/>
              </a:ext>
            </a:extLst>
          </p:cNvPr>
          <p:cNvSpPr/>
          <p:nvPr/>
        </p:nvSpPr>
        <p:spPr>
          <a:xfrm>
            <a:off x="7732482" y="4463919"/>
            <a:ext cx="200545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altLang="zh-CN" sz="1200" b="1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SQL:</a:t>
            </a:r>
          </a:p>
          <a:p>
            <a:pPr>
              <a:spcBef>
                <a:spcPts val="600"/>
              </a:spcBef>
            </a:pPr>
            <a:endParaRPr lang="en-US" altLang="zh-CN" sz="1000" b="1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10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select ...</a:t>
            </a:r>
          </a:p>
        </p:txBody>
      </p:sp>
    </p:spTree>
    <p:extLst>
      <p:ext uri="{BB962C8B-B14F-4D97-AF65-F5344CB8AC3E}">
        <p14:creationId xmlns:p14="http://schemas.microsoft.com/office/powerpoint/2010/main" val="5752423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22" grpId="0" animBg="1"/>
      <p:bldP spid="26" grpId="0" animBg="1"/>
      <p:bldP spid="3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2">
            <a:extLst>
              <a:ext uri="{FF2B5EF4-FFF2-40B4-BE49-F238E27FC236}">
                <a16:creationId xmlns:a16="http://schemas.microsoft.com/office/drawing/2014/main" id="{2A5CA2F0-717C-3C55-8F0C-396DA1A8F6E0}"/>
              </a:ext>
            </a:extLst>
          </p:cNvPr>
          <p:cNvGrpSpPr/>
          <p:nvPr/>
        </p:nvGrpSpPr>
        <p:grpSpPr>
          <a:xfrm>
            <a:off x="6303854" y="1005390"/>
            <a:ext cx="5413182" cy="3706569"/>
            <a:chOff x="2297721" y="3660322"/>
            <a:chExt cx="5964320" cy="3503049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EB258B52-9507-A1BA-E7CE-B6270A03F0EE}"/>
                </a:ext>
              </a:extLst>
            </p:cNvPr>
            <p:cNvSpPr/>
            <p:nvPr/>
          </p:nvSpPr>
          <p:spPr>
            <a:xfrm>
              <a:off x="2297727" y="3660323"/>
              <a:ext cx="5964314" cy="3503048"/>
            </a:xfrm>
            <a:prstGeom prst="roundRect">
              <a:avLst>
                <a:gd name="adj" fmla="val 1938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&lt;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select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174AD4"/>
                  </a:solidFill>
                  <a:effectLst/>
                  <a:latin typeface="Fira Code" panose="020B0809050000020004" pitchFamily="49" charset="0"/>
                </a:rPr>
                <a:t>id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="countEmpJobData"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174AD4"/>
                  </a:solidFill>
                  <a:effectLst/>
                  <a:latin typeface="Fira Code" panose="020B0809050000020004" pitchFamily="49" charset="0"/>
                </a:rPr>
                <a:t>resultType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="java.util.Map"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  <a:latin typeface="Fira Code" panose="020B0809050000020004" pitchFamily="49" charset="0"/>
                </a:rPr>
                <a:t>select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  <a:latin typeface="Fira Code" panose="020B0809050000020004" pitchFamily="49" charset="0"/>
                </a:rPr>
                <a:t>case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  <a:latin typeface="Fira Code" panose="020B0809050000020004" pitchFamily="49" charset="0"/>
                </a:rPr>
                <a:t>when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job = 1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  <a:latin typeface="Fira Code" panose="020B0809050000020004" pitchFamily="49" charset="0"/>
                </a:rPr>
                <a:t>then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'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班主任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'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  <a:latin typeface="Fira Code" panose="020B0809050000020004" pitchFamily="49" charset="0"/>
                </a:rPr>
                <a:t>when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job = 2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  <a:latin typeface="Fira Code" panose="020B0809050000020004" pitchFamily="49" charset="0"/>
                </a:rPr>
                <a:t>then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'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讲师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'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  <a:latin typeface="Fira Code" panose="020B0809050000020004" pitchFamily="49" charset="0"/>
                </a:rPr>
                <a:t>when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job = 3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  <a:latin typeface="Fira Code" panose="020B0809050000020004" pitchFamily="49" charset="0"/>
                </a:rPr>
                <a:t>then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'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学工主管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'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  <a:latin typeface="Fira Code" panose="020B0809050000020004" pitchFamily="49" charset="0"/>
                </a:rPr>
                <a:t>when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job = 4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  <a:latin typeface="Fira Code" panose="020B0809050000020004" pitchFamily="49" charset="0"/>
                </a:rPr>
                <a:t>then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'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教研主管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'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  <a:latin typeface="Fira Code" panose="020B0809050000020004" pitchFamily="49" charset="0"/>
                </a:rPr>
                <a:t>when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job = 5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  <a:latin typeface="Fira Code" panose="020B0809050000020004" pitchFamily="49" charset="0"/>
                </a:rPr>
                <a:t>then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'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咨询师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'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  <a:latin typeface="Fira Code" panose="020B0809050000020004" pitchFamily="49" charset="0"/>
                </a:rPr>
                <a:t>else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'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其他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'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  <a:latin typeface="Fira Code" panose="020B0809050000020004" pitchFamily="49" charset="0"/>
                </a:rPr>
                <a:t>end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  <a:latin typeface="Fira Code" panose="020B0809050000020004" pitchFamily="49" charset="0"/>
                </a:rPr>
                <a:t>as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pos,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  <a:latin typeface="Fira Code" panose="020B0809050000020004" pitchFamily="49" charset="0"/>
                </a:rPr>
                <a:t>count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(*)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  <a:latin typeface="Fira Code" panose="020B0809050000020004" pitchFamily="49" charset="0"/>
                </a:rPr>
                <a:t>as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num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  <a:latin typeface="Fira Code" panose="020B0809050000020004" pitchFamily="49" charset="0"/>
                </a:rPr>
                <a:t>from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emp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  <a:latin typeface="Fira Code" panose="020B0809050000020004" pitchFamily="49" charset="0"/>
                </a:rPr>
                <a:t>group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  <a:latin typeface="Fira Code" panose="020B0809050000020004" pitchFamily="49" charset="0"/>
                </a:rPr>
                <a:t>by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job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  <a:latin typeface="Fira Code" panose="020B0809050000020004" pitchFamily="49" charset="0"/>
                </a:rPr>
                <a:t>order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  <a:latin typeface="Fira Code" panose="020B0809050000020004" pitchFamily="49" charset="0"/>
                </a:rPr>
                <a:t>by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num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&lt;/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select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</a:t>
              </a:r>
              <a:endPara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矩形: 圆顶角 17">
              <a:extLst>
                <a:ext uri="{FF2B5EF4-FFF2-40B4-BE49-F238E27FC236}">
                  <a16:creationId xmlns:a16="http://schemas.microsoft.com/office/drawing/2014/main" id="{8E1AE3EE-4367-E1E1-EB0E-ADB0B6DA4371}"/>
                </a:ext>
              </a:extLst>
            </p:cNvPr>
            <p:cNvSpPr/>
            <p:nvPr/>
          </p:nvSpPr>
          <p:spPr>
            <a:xfrm>
              <a:off x="2297721" y="3660322"/>
              <a:ext cx="5964314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ReportMapper</a:t>
              </a: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1F607B89-8BBD-7AA8-B4D8-A51F94F64B9A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80C10349-A66E-82F7-7272-94159221CF70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B5B84DC0-2667-2337-4387-ED52F146700B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标题 3">
            <a:extLst>
              <a:ext uri="{FF2B5EF4-FFF2-40B4-BE49-F238E27FC236}">
                <a16:creationId xmlns:a16="http://schemas.microsoft.com/office/drawing/2014/main" id="{6F88C9E7-598C-E027-F358-897E2C4C4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职位统计</a:t>
            </a:r>
          </a:p>
        </p:txBody>
      </p:sp>
      <p:grpSp>
        <p:nvGrpSpPr>
          <p:cNvPr id="2" name="组合 2">
            <a:extLst>
              <a:ext uri="{FF2B5EF4-FFF2-40B4-BE49-F238E27FC236}">
                <a16:creationId xmlns:a16="http://schemas.microsoft.com/office/drawing/2014/main" id="{C46CB81F-D5DE-1B90-31F9-72FA464BC2B5}"/>
              </a:ext>
            </a:extLst>
          </p:cNvPr>
          <p:cNvGrpSpPr/>
          <p:nvPr/>
        </p:nvGrpSpPr>
        <p:grpSpPr>
          <a:xfrm>
            <a:off x="686019" y="1005390"/>
            <a:ext cx="5540174" cy="2127340"/>
            <a:chOff x="2297721" y="3660322"/>
            <a:chExt cx="6104242" cy="2127466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088A2C14-908F-0D21-C037-F09380F842BC}"/>
                </a:ext>
              </a:extLst>
            </p:cNvPr>
            <p:cNvSpPr/>
            <p:nvPr/>
          </p:nvSpPr>
          <p:spPr>
            <a:xfrm>
              <a:off x="2297728" y="3660323"/>
              <a:ext cx="6104235" cy="2127465"/>
            </a:xfrm>
            <a:prstGeom prst="roundRect">
              <a:avLst>
                <a:gd name="adj" fmla="val 414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200">
                  <a:solidFill>
                    <a:srgbClr val="9E880D"/>
                  </a:solidFill>
                  <a:effectLst/>
                </a:rPr>
                <a:t>@GetMapping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"/empJobData"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</a:rPr>
                <a:t>public 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Result </a:t>
              </a:r>
              <a:r>
                <a:rPr lang="en-US" altLang="zh-CN" sz="1200">
                  <a:solidFill>
                    <a:srgbClr val="00627A"/>
                  </a:solidFill>
                  <a:effectLst/>
                </a:rPr>
                <a:t>getEmpJobData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(){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200" i="1">
                  <a:solidFill>
                    <a:srgbClr val="871094"/>
                  </a:solidFill>
                  <a:effectLst/>
                </a:rPr>
                <a:t>log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.info(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统计各个职位的员工人数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);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JobOption jobOption 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= </a:t>
              </a:r>
              <a:r>
                <a:rPr lang="en-US" altLang="zh-CN" sz="1200">
                  <a:solidFill>
                    <a:srgbClr val="871094"/>
                  </a:solidFill>
                  <a:effectLst/>
                </a:rPr>
                <a:t>reportService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.getEmpJobData();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</a:rPr>
                <a:t>return 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Result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.</a:t>
              </a:r>
              <a:r>
                <a:rPr lang="en-US" altLang="zh-CN" sz="1200" i="1">
                  <a:solidFill>
                    <a:srgbClr val="080808"/>
                  </a:solidFill>
                  <a:effectLst/>
                </a:rPr>
                <a:t>success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jobOption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);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}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9F3885BA-8A8F-4858-F04E-A5C55EFB286C}"/>
                </a:ext>
              </a:extLst>
            </p:cNvPr>
            <p:cNvSpPr/>
            <p:nvPr/>
          </p:nvSpPr>
          <p:spPr>
            <a:xfrm>
              <a:off x="2297721" y="3660322"/>
              <a:ext cx="6104235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ReportController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837058B5-D433-C1E5-AFA8-A0812C32D1A8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3CAF3785-AFA4-2F49-36AB-25124F8BAF5C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C47D8B14-429E-777B-43E5-7AD022CEAB2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2">
            <a:extLst>
              <a:ext uri="{FF2B5EF4-FFF2-40B4-BE49-F238E27FC236}">
                <a16:creationId xmlns:a16="http://schemas.microsoft.com/office/drawing/2014/main" id="{1ECF22D1-3960-3FD9-9FD1-2D472FDBB517}"/>
              </a:ext>
            </a:extLst>
          </p:cNvPr>
          <p:cNvGrpSpPr/>
          <p:nvPr/>
        </p:nvGrpSpPr>
        <p:grpSpPr>
          <a:xfrm>
            <a:off x="686007" y="4860278"/>
            <a:ext cx="11031024" cy="1997722"/>
            <a:chOff x="2297720" y="3660322"/>
            <a:chExt cx="12154137" cy="1997841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9654B5C4-1451-75D9-A27D-98BAE4B2F422}"/>
                </a:ext>
              </a:extLst>
            </p:cNvPr>
            <p:cNvSpPr/>
            <p:nvPr/>
          </p:nvSpPr>
          <p:spPr>
            <a:xfrm>
              <a:off x="2297727" y="3660324"/>
              <a:ext cx="12154130" cy="1997839"/>
            </a:xfrm>
            <a:prstGeom prst="roundRect">
              <a:avLst>
                <a:gd name="adj" fmla="val 3777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public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JobOption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getEmpJobData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 {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List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&lt;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Map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&lt;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String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Object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&gt;&gt;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list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200">
                  <a:solidFill>
                    <a:srgbClr val="871094"/>
                  </a:solidFill>
                  <a:effectLst/>
                  <a:latin typeface="Fira Code" panose="020B0809050000020004" pitchFamily="49" charset="0"/>
                </a:rPr>
                <a:t>empMapper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.countEmpJobData();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List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&lt;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Object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jobList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list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.stream().map(dataMap -&gt; dataMap.get(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"pos"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)).toList();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List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&lt;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Object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dataList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list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.stream().map(dataMap -&gt; dataMap.get(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"num"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)).toList();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new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JobOption(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jobList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dataList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);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</a:t>
              </a: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B390E2FA-4746-6B7B-40F9-24DBDF748575}"/>
                </a:ext>
              </a:extLst>
            </p:cNvPr>
            <p:cNvSpPr/>
            <p:nvPr/>
          </p:nvSpPr>
          <p:spPr>
            <a:xfrm>
              <a:off x="2297720" y="3660322"/>
              <a:ext cx="12154130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ReportServiceImpl</a:t>
              </a: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213442EE-42FF-12EC-4705-4A0BCA178DD5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A43B446B-F43E-F91F-837A-CB480A71FE45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471B42F2-4A31-B51C-1536-2AFC0F577D09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Rectangle 1">
            <a:extLst>
              <a:ext uri="{FF2B5EF4-FFF2-40B4-BE49-F238E27FC236}">
                <a16:creationId xmlns:a16="http://schemas.microsoft.com/office/drawing/2014/main" id="{6647D59B-BCF6-604F-014A-924A383EE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306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273823-48AB-F4A1-B31E-F3B04D544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6220" y="1359878"/>
            <a:ext cx="8257591" cy="39623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/>
              <a:t>case</a:t>
            </a:r>
            <a:r>
              <a:rPr lang="zh-CN" altLang="en-US" sz="1800"/>
              <a:t>流程控制函数</a:t>
            </a:r>
            <a:endParaRPr lang="en-US" altLang="zh-CN" sz="1800"/>
          </a:p>
          <a:p>
            <a:pPr marL="540000"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400"/>
              <a:t>语法一：</a:t>
            </a:r>
            <a:endParaRPr lang="en-US" altLang="zh-CN" sz="1400"/>
          </a:p>
          <a:p>
            <a:pPr marL="311400" lvl="1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1400">
                <a:solidFill>
                  <a:srgbClr val="0000FF"/>
                </a:solidFill>
              </a:rPr>
              <a:t>   case when </a:t>
            </a:r>
            <a:r>
              <a:rPr lang="en-US" altLang="zh-CN" sz="1400">
                <a:solidFill>
                  <a:srgbClr val="080808"/>
                </a:solidFill>
              </a:rPr>
              <a:t>cond1 </a:t>
            </a:r>
            <a:r>
              <a:rPr lang="en-US" altLang="zh-CN" sz="1400">
                <a:solidFill>
                  <a:srgbClr val="0000FF"/>
                </a:solidFill>
              </a:rPr>
              <a:t>then</a:t>
            </a:r>
            <a:r>
              <a:rPr lang="en-US" altLang="zh-CN" sz="1400">
                <a:solidFill>
                  <a:srgbClr val="080808"/>
                </a:solidFill>
              </a:rPr>
              <a:t> res1 [</a:t>
            </a:r>
            <a:r>
              <a:rPr lang="en-US" altLang="zh-CN" sz="1400">
                <a:solidFill>
                  <a:srgbClr val="0000FF"/>
                </a:solidFill>
              </a:rPr>
              <a:t>when</a:t>
            </a:r>
            <a:r>
              <a:rPr lang="en-US" altLang="zh-CN" sz="1400">
                <a:solidFill>
                  <a:srgbClr val="080808"/>
                </a:solidFill>
              </a:rPr>
              <a:t> cond2 </a:t>
            </a:r>
            <a:r>
              <a:rPr lang="en-US" altLang="zh-CN" sz="1400">
                <a:solidFill>
                  <a:srgbClr val="0000FF"/>
                </a:solidFill>
              </a:rPr>
              <a:t>then</a:t>
            </a:r>
            <a:r>
              <a:rPr lang="en-US" altLang="zh-CN" sz="1400">
                <a:solidFill>
                  <a:srgbClr val="080808"/>
                </a:solidFill>
              </a:rPr>
              <a:t> res2] </a:t>
            </a:r>
            <a:r>
              <a:rPr lang="en-US" altLang="zh-CN" sz="1400">
                <a:solidFill>
                  <a:srgbClr val="0000FF"/>
                </a:solidFill>
              </a:rPr>
              <a:t>else</a:t>
            </a:r>
            <a:r>
              <a:rPr lang="en-US" altLang="zh-CN" sz="1400">
                <a:solidFill>
                  <a:srgbClr val="080808"/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</a:rPr>
              <a:t>res</a:t>
            </a:r>
            <a:r>
              <a:rPr lang="en-US" altLang="zh-CN" sz="1400">
                <a:solidFill>
                  <a:srgbClr val="0000FF"/>
                </a:solidFill>
              </a:rPr>
              <a:t> end </a:t>
            </a:r>
            <a:r>
              <a:rPr lang="en-US" altLang="zh-CN" sz="1400">
                <a:solidFill>
                  <a:srgbClr val="080808"/>
                </a:solidFill>
              </a:rPr>
              <a:t>;</a:t>
            </a:r>
            <a:endParaRPr lang="en-US" altLang="zh-CN" sz="1400"/>
          </a:p>
          <a:p>
            <a:pPr marL="540000"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400"/>
              <a:t>语法二</a:t>
            </a:r>
            <a:r>
              <a:rPr lang="en-US" altLang="zh-CN" sz="1400"/>
              <a:t>(</a:t>
            </a:r>
            <a:r>
              <a:rPr lang="zh-CN" altLang="en-US" sz="1400"/>
              <a:t>适用于等值匹配</a:t>
            </a:r>
            <a:r>
              <a:rPr lang="en-US" altLang="zh-CN" sz="1400"/>
              <a:t>)</a:t>
            </a:r>
            <a:r>
              <a:rPr lang="zh-CN" altLang="en-US" sz="1400"/>
              <a:t>：</a:t>
            </a:r>
            <a:endParaRPr lang="en-US" altLang="zh-CN" sz="1400"/>
          </a:p>
          <a:p>
            <a:pPr marL="311400" lvl="1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1400">
                <a:solidFill>
                  <a:srgbClr val="0000FF"/>
                </a:solidFill>
              </a:rPr>
              <a:t>   case 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</a:rPr>
              <a:t>expr</a:t>
            </a:r>
            <a:r>
              <a:rPr lang="en-US" altLang="zh-CN" sz="1400">
                <a:solidFill>
                  <a:srgbClr val="0000FF"/>
                </a:solidFill>
              </a:rPr>
              <a:t> when </a:t>
            </a:r>
            <a:r>
              <a:rPr lang="en-US" altLang="zh-CN" sz="1400">
                <a:solidFill>
                  <a:srgbClr val="080808"/>
                </a:solidFill>
              </a:rPr>
              <a:t>val1 </a:t>
            </a:r>
            <a:r>
              <a:rPr lang="en-US" altLang="zh-CN" sz="1400">
                <a:solidFill>
                  <a:srgbClr val="0000FF"/>
                </a:solidFill>
              </a:rPr>
              <a:t>then</a:t>
            </a:r>
            <a:r>
              <a:rPr lang="en-US" altLang="zh-CN" sz="1400">
                <a:solidFill>
                  <a:srgbClr val="080808"/>
                </a:solidFill>
              </a:rPr>
              <a:t> res1 [</a:t>
            </a:r>
            <a:r>
              <a:rPr lang="en-US" altLang="zh-CN" sz="1400">
                <a:solidFill>
                  <a:srgbClr val="0000FF"/>
                </a:solidFill>
              </a:rPr>
              <a:t>when</a:t>
            </a:r>
            <a:r>
              <a:rPr lang="en-US" altLang="zh-CN" sz="1400">
                <a:solidFill>
                  <a:srgbClr val="080808"/>
                </a:solidFill>
              </a:rPr>
              <a:t> val2 </a:t>
            </a:r>
            <a:r>
              <a:rPr lang="en-US" altLang="zh-CN" sz="1400">
                <a:solidFill>
                  <a:srgbClr val="0000FF"/>
                </a:solidFill>
              </a:rPr>
              <a:t>then</a:t>
            </a:r>
            <a:r>
              <a:rPr lang="en-US" altLang="zh-CN" sz="1400">
                <a:solidFill>
                  <a:srgbClr val="080808"/>
                </a:solidFill>
              </a:rPr>
              <a:t> res2] </a:t>
            </a:r>
            <a:r>
              <a:rPr lang="en-US" altLang="zh-CN" sz="1400">
                <a:solidFill>
                  <a:srgbClr val="0000FF"/>
                </a:solidFill>
              </a:rPr>
              <a:t>else</a:t>
            </a:r>
            <a:r>
              <a:rPr lang="en-US" altLang="zh-CN" sz="1400">
                <a:solidFill>
                  <a:srgbClr val="080808"/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</a:rPr>
              <a:t>res</a:t>
            </a:r>
            <a:r>
              <a:rPr lang="en-US" altLang="zh-CN" sz="1400">
                <a:solidFill>
                  <a:srgbClr val="0000FF"/>
                </a:solidFill>
              </a:rPr>
              <a:t> end </a:t>
            </a:r>
            <a:r>
              <a:rPr lang="en-US" altLang="zh-CN" sz="1400">
                <a:solidFill>
                  <a:srgbClr val="080808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63755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BC5190-C078-9126-5E6A-184A4D8F69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员工信息统计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3F86F3-0EBB-6794-40BE-0F95053FEA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1060909"/>
          </a:xfrm>
        </p:spPr>
        <p:txBody>
          <a:bodyPr/>
          <a:lstStyle/>
          <a:p>
            <a:r>
              <a:rPr lang="zh-CN" altLang="en-US"/>
              <a:t>职位统计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性别统计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CE6A448-925D-F354-CF2E-43A1053A52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8504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9B4205-56F7-E56A-A094-C0ABA0D6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性别统计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D2D3EB7-E534-C818-74C7-3845B661F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709" y="1690649"/>
            <a:ext cx="4557656" cy="3835183"/>
          </a:xfrm>
          <a:prstGeom prst="roundRect">
            <a:avLst>
              <a:gd name="adj" fmla="val 1819"/>
            </a:avLst>
          </a:prstGeom>
          <a:ln w="6350">
            <a:solidFill>
              <a:schemeClr val="bg1">
                <a:lumMod val="65000"/>
              </a:schemeClr>
            </a:solidFill>
            <a:prstDash val="dash"/>
          </a:ln>
          <a:effectLst/>
        </p:spPr>
      </p:pic>
      <p:grpSp>
        <p:nvGrpSpPr>
          <p:cNvPr id="5" name="组合 2">
            <a:extLst>
              <a:ext uri="{FF2B5EF4-FFF2-40B4-BE49-F238E27FC236}">
                <a16:creationId xmlns:a16="http://schemas.microsoft.com/office/drawing/2014/main" id="{31D187DC-A60D-E27E-A535-2ABB24E8ABB4}"/>
              </a:ext>
            </a:extLst>
          </p:cNvPr>
          <p:cNvGrpSpPr/>
          <p:nvPr/>
        </p:nvGrpSpPr>
        <p:grpSpPr>
          <a:xfrm>
            <a:off x="5831760" y="2462012"/>
            <a:ext cx="5813394" cy="2396858"/>
            <a:chOff x="2297721" y="3660322"/>
            <a:chExt cx="6405281" cy="2397000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B3BBE8B6-86D4-2E88-97A3-DEE86D95BC36}"/>
                </a:ext>
              </a:extLst>
            </p:cNvPr>
            <p:cNvSpPr/>
            <p:nvPr/>
          </p:nvSpPr>
          <p:spPr>
            <a:xfrm>
              <a:off x="2297728" y="3660323"/>
              <a:ext cx="6405274" cy="2396999"/>
            </a:xfrm>
            <a:prstGeom prst="roundRect">
              <a:avLst>
                <a:gd name="adj" fmla="val 414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Fira Code" panose="020B0809050000020004" pitchFamily="49" charset="0"/>
                </a:rPr>
                <a:t>{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Fira Code" panose="020B0809050000020004" pitchFamily="49" charset="0"/>
                </a:rPr>
                <a:t>  </a:t>
              </a:r>
              <a:r>
                <a:rPr lang="en-US" altLang="zh-CN" sz="1100">
                  <a:solidFill>
                    <a:srgbClr val="00B050"/>
                  </a:solidFill>
                  <a:effectLst/>
                  <a:latin typeface="Fira Code" panose="020B0809050000020004" pitchFamily="49" charset="0"/>
                </a:rPr>
                <a:t>"code"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Fira Code" panose="020B0809050000020004" pitchFamily="49" charset="0"/>
                </a:rPr>
                <a:t>: 1,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Fira Code" panose="020B0809050000020004" pitchFamily="49" charset="0"/>
                </a:rPr>
                <a:t>  </a:t>
              </a:r>
              <a:r>
                <a:rPr lang="en-US" altLang="zh-CN" sz="1100">
                  <a:solidFill>
                    <a:srgbClr val="00B050"/>
                  </a:solidFill>
                  <a:effectLst/>
                  <a:latin typeface="Fira Code" panose="020B0809050000020004" pitchFamily="49" charset="0"/>
                </a:rPr>
                <a:t>"msg"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0B050"/>
                  </a:solidFill>
                  <a:effectLst/>
                  <a:latin typeface="Fira Code" panose="020B0809050000020004" pitchFamily="49" charset="0"/>
                </a:rPr>
                <a:t>"success"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Fira Code" panose="020B0809050000020004" pitchFamily="49" charset="0"/>
                </a:rPr>
                <a:t>,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Fira Code" panose="020B0809050000020004" pitchFamily="49" charset="0"/>
                </a:rPr>
                <a:t>  </a:t>
              </a:r>
              <a:r>
                <a:rPr lang="en-US" altLang="zh-CN" sz="1100">
                  <a:solidFill>
                    <a:srgbClr val="00B050"/>
                  </a:solidFill>
                  <a:effectLst/>
                  <a:latin typeface="Fira Code" panose="020B0809050000020004" pitchFamily="49" charset="0"/>
                </a:rPr>
                <a:t>"data"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Fira Code" panose="020B0809050000020004" pitchFamily="49" charset="0"/>
                </a:rPr>
                <a:t>: [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Fira Code" panose="020B0809050000020004" pitchFamily="49" charset="0"/>
                </a:rPr>
                <a:t>    {</a:t>
              </a:r>
              <a:r>
                <a:rPr lang="en-US" altLang="zh-CN" sz="1100">
                  <a:solidFill>
                    <a:srgbClr val="00B050"/>
                  </a:solidFill>
                  <a:effectLst/>
                  <a:latin typeface="Fira Code" panose="020B0809050000020004" pitchFamily="49" charset="0"/>
                </a:rPr>
                <a:t>"name"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0B050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0B050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男性员工</a:t>
              </a:r>
              <a:r>
                <a:rPr lang="en-US" altLang="zh-CN" sz="1100">
                  <a:solidFill>
                    <a:srgbClr val="00B050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Fira Code" panose="020B0809050000020004" pitchFamily="49" charset="0"/>
                </a:rPr>
                <a:t>,</a:t>
              </a:r>
              <a:r>
                <a:rPr lang="en-US" altLang="zh-CN" sz="1100">
                  <a:solidFill>
                    <a:srgbClr val="00B050"/>
                  </a:solidFill>
                  <a:effectLst/>
                  <a:latin typeface="Fira Code" panose="020B0809050000020004" pitchFamily="49" charset="0"/>
                </a:rPr>
                <a:t>"value"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Fira Code" panose="020B0809050000020004" pitchFamily="49" charset="0"/>
                </a:rPr>
                <a:t>: 5},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Fira Code" panose="020B0809050000020004" pitchFamily="49" charset="0"/>
                </a:rPr>
                <a:t>    {</a:t>
              </a:r>
              <a:r>
                <a:rPr lang="en-US" altLang="zh-CN" sz="1100">
                  <a:solidFill>
                    <a:srgbClr val="00B050"/>
                  </a:solidFill>
                  <a:effectLst/>
                  <a:latin typeface="Fira Code" panose="020B0809050000020004" pitchFamily="49" charset="0"/>
                </a:rPr>
                <a:t>"name"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0B050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0B050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女性员工</a:t>
              </a:r>
              <a:r>
                <a:rPr lang="en-US" altLang="zh-CN" sz="1100">
                  <a:solidFill>
                    <a:srgbClr val="00B050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Fira Code" panose="020B0809050000020004" pitchFamily="49" charset="0"/>
                </a:rPr>
                <a:t>,</a:t>
              </a:r>
              <a:r>
                <a:rPr lang="en-US" altLang="zh-CN" sz="1100">
                  <a:solidFill>
                    <a:srgbClr val="00B050"/>
                  </a:solidFill>
                  <a:effectLst/>
                  <a:latin typeface="Fira Code" panose="020B0809050000020004" pitchFamily="49" charset="0"/>
                </a:rPr>
                <a:t>"value"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Fira Code" panose="020B0809050000020004" pitchFamily="49" charset="0"/>
                </a:rPr>
                <a:t>: 6}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Fira Code" panose="020B0809050000020004" pitchFamily="49" charset="0"/>
                </a:rPr>
                <a:t>  ]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Fira Code" panose="020B0809050000020004" pitchFamily="49" charset="0"/>
                </a:rPr>
                <a:t>}</a:t>
              </a:r>
            </a:p>
          </p:txBody>
        </p:sp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D78A61BD-E9D9-F0F8-0590-F8A14B59D971}"/>
                </a:ext>
              </a:extLst>
            </p:cNvPr>
            <p:cNvSpPr/>
            <p:nvPr/>
          </p:nvSpPr>
          <p:spPr>
            <a:xfrm>
              <a:off x="2297721" y="3660322"/>
              <a:ext cx="6405274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响应数据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92D08869-43B0-00C8-0CC7-C0AB587B9EE2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19E14897-661E-9EF9-ED7F-3072A32393EC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6EA36D6-6133-D695-5A57-B424BB78C0BB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C95C22BA-04CC-A24E-A642-EE1FCEFBD625}"/>
              </a:ext>
            </a:extLst>
          </p:cNvPr>
          <p:cNvSpPr/>
          <p:nvPr/>
        </p:nvSpPr>
        <p:spPr>
          <a:xfrm>
            <a:off x="5831759" y="3783818"/>
            <a:ext cx="5813388" cy="510988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69754AF9-885A-7A71-658B-231606E675F6}"/>
              </a:ext>
            </a:extLst>
          </p:cNvPr>
          <p:cNvSpPr txBox="1">
            <a:spLocks/>
          </p:cNvSpPr>
          <p:nvPr/>
        </p:nvSpPr>
        <p:spPr>
          <a:xfrm>
            <a:off x="10040471" y="3869339"/>
            <a:ext cx="1604676" cy="3399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List&lt;Map&gt;</a:t>
            </a:r>
            <a:endParaRPr lang="zh-CN" altLang="en-US">
              <a:solidFill>
                <a:srgbClr val="C00000"/>
              </a:solidFill>
              <a:latin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427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F88C9E7-598C-E027-F358-897E2C4C4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性别统计</a:t>
            </a:r>
          </a:p>
        </p:txBody>
      </p:sp>
      <p:grpSp>
        <p:nvGrpSpPr>
          <p:cNvPr id="2" name="组合 2">
            <a:extLst>
              <a:ext uri="{FF2B5EF4-FFF2-40B4-BE49-F238E27FC236}">
                <a16:creationId xmlns:a16="http://schemas.microsoft.com/office/drawing/2014/main" id="{E911139B-7630-67E1-D5D2-414FECBCAB19}"/>
              </a:ext>
            </a:extLst>
          </p:cNvPr>
          <p:cNvGrpSpPr/>
          <p:nvPr/>
        </p:nvGrpSpPr>
        <p:grpSpPr>
          <a:xfrm>
            <a:off x="721879" y="1099377"/>
            <a:ext cx="5194381" cy="1922626"/>
            <a:chOff x="2297722" y="3660322"/>
            <a:chExt cx="5723243" cy="1922740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39E826EA-54E5-F5D8-0738-3A07A0BEC428}"/>
                </a:ext>
              </a:extLst>
            </p:cNvPr>
            <p:cNvSpPr/>
            <p:nvPr/>
          </p:nvSpPr>
          <p:spPr>
            <a:xfrm>
              <a:off x="2297729" y="3660323"/>
              <a:ext cx="5723236" cy="1922739"/>
            </a:xfrm>
            <a:prstGeom prst="roundRect">
              <a:avLst>
                <a:gd name="adj" fmla="val 453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9E880D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@GetMapping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"/empGenderData"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public </a:t>
              </a:r>
              <a:r>
                <a:rPr lang="en-US" altLang="zh-CN" sz="11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Result </a:t>
              </a:r>
              <a:r>
                <a:rPr lang="en-US" altLang="zh-CN" sz="1100">
                  <a:solidFill>
                    <a:srgbClr val="00627A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getEmpGenderData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(){</a:t>
              </a:r>
              <a:b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100" i="1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log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.info(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统计员工性别信息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);</a:t>
              </a:r>
              <a:b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1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List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&lt;</a:t>
              </a:r>
              <a:r>
                <a:rPr lang="en-US" altLang="zh-CN" sz="11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Map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&gt; </a:t>
              </a:r>
              <a:r>
                <a:rPr lang="en-US" altLang="zh-CN" sz="11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genderList 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= </a:t>
              </a:r>
              <a:r>
                <a:rPr lang="en-US" altLang="zh-CN" sz="1100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reportService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.getEmpGenderData();</a:t>
              </a:r>
              <a:b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return </a:t>
              </a:r>
              <a:r>
                <a:rPr lang="en-US" altLang="zh-CN" sz="11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Result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.</a:t>
              </a:r>
              <a:r>
                <a:rPr lang="en-US" altLang="zh-CN" sz="1100" i="1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success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genderList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);</a:t>
              </a:r>
              <a:b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}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458C226A-6FA4-D01A-83AE-B2DEEC76D48A}"/>
                </a:ext>
              </a:extLst>
            </p:cNvPr>
            <p:cNvSpPr/>
            <p:nvPr/>
          </p:nvSpPr>
          <p:spPr>
            <a:xfrm>
              <a:off x="2297722" y="3660322"/>
              <a:ext cx="5723237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ReportController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3C24E509-AC4C-9DEB-3CC9-FF49AC145962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9E06B44D-372E-A64C-599D-5E3C898D16B9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ADD7888-C139-7C83-DA4A-B02D9540FEB9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2">
            <a:extLst>
              <a:ext uri="{FF2B5EF4-FFF2-40B4-BE49-F238E27FC236}">
                <a16:creationId xmlns:a16="http://schemas.microsoft.com/office/drawing/2014/main" id="{382E2600-3498-9BAA-8FEA-ECEB1EA03E53}"/>
              </a:ext>
            </a:extLst>
          </p:cNvPr>
          <p:cNvGrpSpPr/>
          <p:nvPr/>
        </p:nvGrpSpPr>
        <p:grpSpPr>
          <a:xfrm>
            <a:off x="6428141" y="1099377"/>
            <a:ext cx="5194381" cy="1922626"/>
            <a:chOff x="2297722" y="3660322"/>
            <a:chExt cx="5723243" cy="1922740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C0CE2B9C-DCBC-9C03-7F24-24D7D52E9CBA}"/>
                </a:ext>
              </a:extLst>
            </p:cNvPr>
            <p:cNvSpPr/>
            <p:nvPr/>
          </p:nvSpPr>
          <p:spPr>
            <a:xfrm>
              <a:off x="2297729" y="3660323"/>
              <a:ext cx="5723236" cy="1922739"/>
            </a:xfrm>
            <a:prstGeom prst="roundRect">
              <a:avLst>
                <a:gd name="adj" fmla="val 453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9E880D"/>
                  </a:solidFill>
                  <a:effectLst/>
                </a:rPr>
                <a:t>@Override</a:t>
              </a:r>
              <a:br>
                <a:rPr lang="en-US" altLang="zh-CN" sz="1100">
                  <a:solidFill>
                    <a:srgbClr val="9E880D"/>
                  </a:solidFill>
                  <a:effectLst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</a:rPr>
                <a:t>public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List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&lt;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Map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 </a:t>
              </a:r>
              <a:r>
                <a:rPr lang="en-US" altLang="zh-CN" sz="1100">
                  <a:solidFill>
                    <a:srgbClr val="00627A"/>
                  </a:solidFill>
                  <a:effectLst/>
                </a:rPr>
                <a:t>getEmpGenderData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() {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return </a:t>
              </a:r>
              <a:r>
                <a:rPr lang="en-US" altLang="zh-CN" sz="1100">
                  <a:solidFill>
                    <a:srgbClr val="871094"/>
                  </a:solidFill>
                  <a:effectLst/>
                </a:rPr>
                <a:t>empMapper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.countEmpGenderData();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}</a:t>
              </a: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F4C7E78E-F70F-AAF3-89C3-E96C77FF0CC6}"/>
                </a:ext>
              </a:extLst>
            </p:cNvPr>
            <p:cNvSpPr/>
            <p:nvPr/>
          </p:nvSpPr>
          <p:spPr>
            <a:xfrm>
              <a:off x="2297722" y="3660322"/>
              <a:ext cx="5723237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ReportServiceImpl</a:t>
              </a: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9BF7B1C6-64B7-A997-8B45-D874AE9CA906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1C8CDD4B-0D43-F3C3-B790-4D9FAD699D80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DAF715EF-580A-5972-287B-2AEF4DFD2E49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2">
            <a:extLst>
              <a:ext uri="{FF2B5EF4-FFF2-40B4-BE49-F238E27FC236}">
                <a16:creationId xmlns:a16="http://schemas.microsoft.com/office/drawing/2014/main" id="{A9BC9ED7-04EA-CB8D-5015-12700F3AED4F}"/>
              </a:ext>
            </a:extLst>
          </p:cNvPr>
          <p:cNvGrpSpPr/>
          <p:nvPr/>
        </p:nvGrpSpPr>
        <p:grpSpPr>
          <a:xfrm>
            <a:off x="721874" y="3152293"/>
            <a:ext cx="5194381" cy="1213518"/>
            <a:chOff x="2297722" y="3660322"/>
            <a:chExt cx="5723243" cy="1213590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EA35FFA8-3E8C-6DCF-A19D-345EF1A41446}"/>
                </a:ext>
              </a:extLst>
            </p:cNvPr>
            <p:cNvSpPr/>
            <p:nvPr/>
          </p:nvSpPr>
          <p:spPr>
            <a:xfrm>
              <a:off x="2297729" y="3660323"/>
              <a:ext cx="5723236" cy="1213589"/>
            </a:xfrm>
            <a:prstGeom prst="roundRect">
              <a:avLst>
                <a:gd name="adj" fmla="val 641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</a:pP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00000"/>
                  </a:solidFill>
                  <a:effectLst/>
                </a:rPr>
                <a:t>List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&lt;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Map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&gt; </a:t>
              </a:r>
              <a:r>
                <a:rPr lang="en-US" altLang="zh-CN" sz="1200">
                  <a:solidFill>
                    <a:srgbClr val="00627A"/>
                  </a:solidFill>
                  <a:effectLst/>
                </a:rPr>
                <a:t>countEmpGenderData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();</a:t>
              </a:r>
            </a:p>
          </p:txBody>
        </p:sp>
        <p:sp>
          <p:nvSpPr>
            <p:cNvPr id="18" name="矩形: 圆顶角 17">
              <a:extLst>
                <a:ext uri="{FF2B5EF4-FFF2-40B4-BE49-F238E27FC236}">
                  <a16:creationId xmlns:a16="http://schemas.microsoft.com/office/drawing/2014/main" id="{6421E8E5-C8D7-C6E5-AD3A-A5A87EB6A76A}"/>
                </a:ext>
              </a:extLst>
            </p:cNvPr>
            <p:cNvSpPr/>
            <p:nvPr/>
          </p:nvSpPr>
          <p:spPr>
            <a:xfrm>
              <a:off x="2297722" y="3660322"/>
              <a:ext cx="5723237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EmpMapper</a:t>
              </a: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23C0B764-3F50-A371-99FB-6C19110D1DC2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A3BFD17-0EFC-46F2-6A97-ABB82BF11BA7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8E1F968F-EAC2-3AFA-6CDB-99D0EB98D778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">
            <a:extLst>
              <a:ext uri="{FF2B5EF4-FFF2-40B4-BE49-F238E27FC236}">
                <a16:creationId xmlns:a16="http://schemas.microsoft.com/office/drawing/2014/main" id="{179D6BB6-A680-9C9D-7995-F90E1E0513DE}"/>
              </a:ext>
            </a:extLst>
          </p:cNvPr>
          <p:cNvGrpSpPr/>
          <p:nvPr/>
        </p:nvGrpSpPr>
        <p:grpSpPr>
          <a:xfrm>
            <a:off x="6428141" y="3152293"/>
            <a:ext cx="5194381" cy="2172741"/>
            <a:chOff x="2297722" y="3660322"/>
            <a:chExt cx="5723243" cy="2172870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07FB702D-B61D-B70B-A7CD-CBF7F80797AD}"/>
                </a:ext>
              </a:extLst>
            </p:cNvPr>
            <p:cNvSpPr/>
            <p:nvPr/>
          </p:nvSpPr>
          <p:spPr>
            <a:xfrm>
              <a:off x="2297729" y="3660323"/>
              <a:ext cx="5723236" cy="2172869"/>
            </a:xfrm>
            <a:prstGeom prst="roundRect">
              <a:avLst>
                <a:gd name="adj" fmla="val 3298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100" i="1">
                  <a:solidFill>
                    <a:srgbClr val="8C8C8C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&lt;!-- </a:t>
              </a:r>
              <a:r>
                <a:rPr lang="zh-CN" altLang="en-US" sz="110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统计员工的性别信息</a:t>
              </a:r>
              <a:r>
                <a:rPr lang="zh-CN" altLang="en-US" sz="1100" i="1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</a:t>
              </a:r>
              <a:r>
                <a:rPr lang="en-US" altLang="zh-CN" sz="1100" i="1">
                  <a:solidFill>
                    <a:srgbClr val="8C8C8C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--&gt;</a:t>
              </a:r>
              <a:br>
                <a:rPr lang="en-US" altLang="zh-CN" sz="1100" i="1">
                  <a:solidFill>
                    <a:srgbClr val="8C8C8C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&lt;</a:t>
              </a:r>
              <a:r>
                <a:rPr lang="en-US" altLang="zh-CN" sz="11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select </a:t>
              </a:r>
              <a:r>
                <a:rPr lang="en-US" altLang="zh-CN" sz="1100">
                  <a:solidFill>
                    <a:srgbClr val="174AD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id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="countEmpGenderData" </a:t>
              </a:r>
              <a:r>
                <a:rPr lang="en-US" altLang="zh-CN" sz="1100">
                  <a:solidFill>
                    <a:srgbClr val="174AD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resultType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="java.util.Map"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&gt;</a:t>
              </a:r>
              <a:b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10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select</a:t>
              </a:r>
              <a:b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 </a:t>
              </a:r>
              <a:r>
                <a:rPr lang="en-US" altLang="zh-CN" sz="1100">
                  <a:solidFill>
                    <a:srgbClr val="7030A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if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(gender = 1, '</a:t>
              </a:r>
              <a:r>
                <a:rPr lang="zh-CN" altLang="en-US" sz="1100">
                  <a:solidFill>
                    <a:srgbClr val="080808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男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', '</a:t>
              </a:r>
              <a:r>
                <a:rPr lang="zh-CN" altLang="en-US" sz="1100">
                  <a:solidFill>
                    <a:srgbClr val="080808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女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') </a:t>
              </a:r>
              <a:r>
                <a:rPr lang="en-US" altLang="zh-CN" sz="110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as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name,</a:t>
              </a:r>
              <a:b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 </a:t>
              </a:r>
              <a:r>
                <a:rPr lang="en-US" altLang="zh-CN" sz="1100">
                  <a:solidFill>
                    <a:srgbClr val="7030A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count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(*) </a:t>
              </a:r>
              <a:r>
                <a:rPr lang="en-US" altLang="zh-CN" sz="110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as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value</a:t>
              </a:r>
              <a:b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10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from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emp </a:t>
              </a:r>
              <a:r>
                <a:rPr lang="en-US" altLang="zh-CN" sz="110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group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en-US" altLang="zh-CN" sz="110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by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gender ;</a:t>
              </a:r>
              <a:b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&lt;/</a:t>
              </a:r>
              <a:r>
                <a:rPr lang="en-US" altLang="zh-CN" sz="11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select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&gt;</a:t>
              </a:r>
            </a:p>
          </p:txBody>
        </p:sp>
        <p:sp>
          <p:nvSpPr>
            <p:cNvPr id="24" name="矩形: 圆顶角 23">
              <a:extLst>
                <a:ext uri="{FF2B5EF4-FFF2-40B4-BE49-F238E27FC236}">
                  <a16:creationId xmlns:a16="http://schemas.microsoft.com/office/drawing/2014/main" id="{588C8A43-40B7-617A-21B2-F2F9324358D1}"/>
                </a:ext>
              </a:extLst>
            </p:cNvPr>
            <p:cNvSpPr/>
            <p:nvPr/>
          </p:nvSpPr>
          <p:spPr>
            <a:xfrm>
              <a:off x="2297722" y="3660322"/>
              <a:ext cx="5723237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EmpMapper.xml</a:t>
              </a: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F263C401-8BAF-0927-AA4C-62E1E42FEFB8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4C24C0DB-C61B-B97C-6EEF-C4C6163093DC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24A953BD-2844-2326-3B5E-A24EDDA290A5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317495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04EF5F-662E-9DC4-670C-2F87E7F2B7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/>
              <a:t>if</a:t>
            </a:r>
            <a:r>
              <a:rPr lang="zh-CN" altLang="en-US" sz="1800"/>
              <a:t>流程控制函数</a:t>
            </a:r>
            <a:endParaRPr lang="en-US" altLang="zh-CN" sz="1800"/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 b="0">
                <a:ea typeface="Fira Code" panose="020B0809050000020004" pitchFamily="49" charset="0"/>
                <a:cs typeface="阿里巴巴普惠体" panose="00020600040101010101" pitchFamily="18" charset="-122"/>
              </a:rPr>
              <a:t>if(expr,val1,val2)</a:t>
            </a:r>
            <a:r>
              <a:rPr lang="zh-CN" altLang="en-US" sz="14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：如果表达式</a:t>
            </a:r>
            <a:r>
              <a:rPr lang="en-US" altLang="zh-CN" sz="1400" b="0">
                <a:ea typeface="Fira Code" panose="020B0809050000020004" pitchFamily="49" charset="0"/>
                <a:cs typeface="阿里巴巴普惠体" panose="00020600040101010101" pitchFamily="18" charset="-122"/>
              </a:rPr>
              <a:t>expr</a:t>
            </a:r>
            <a:r>
              <a:rPr lang="zh-CN" altLang="en-US" sz="14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成立，取</a:t>
            </a:r>
            <a:r>
              <a:rPr lang="en-US" altLang="zh-CN" sz="1400" b="0">
                <a:ea typeface="Fira Code" panose="020B0809050000020004" pitchFamily="49" charset="0"/>
                <a:cs typeface="阿里巴巴普惠体" panose="00020600040101010101" pitchFamily="18" charset="-122"/>
              </a:rPr>
              <a:t>val1</a:t>
            </a:r>
            <a:r>
              <a:rPr lang="zh-CN" altLang="en-US" sz="14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，否则取</a:t>
            </a:r>
            <a:r>
              <a:rPr lang="en-US" altLang="zh-CN" sz="1400" b="0">
                <a:ea typeface="Fira Code" panose="020B0809050000020004" pitchFamily="49" charset="0"/>
                <a:cs typeface="阿里巴巴普惠体" panose="00020600040101010101" pitchFamily="18" charset="-122"/>
              </a:rPr>
              <a:t>val2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 b="0">
                <a:ea typeface="Fira Code" panose="020B0809050000020004" pitchFamily="49" charset="0"/>
                <a:cs typeface="阿里巴巴普惠体" panose="00020600040101010101" pitchFamily="18" charset="-122"/>
              </a:rPr>
              <a:t>ifnull(expr,val1)</a:t>
            </a:r>
            <a:r>
              <a:rPr lang="zh-CN" altLang="en-US" sz="14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：如果</a:t>
            </a:r>
            <a:r>
              <a:rPr lang="en-US" altLang="zh-CN" sz="1400" b="0">
                <a:ea typeface="Fira Code" panose="020B0809050000020004" pitchFamily="49" charset="0"/>
                <a:cs typeface="阿里巴巴普惠体" panose="00020600040101010101" pitchFamily="18" charset="-122"/>
              </a:rPr>
              <a:t>expr</a:t>
            </a:r>
            <a:r>
              <a:rPr lang="zh-CN" altLang="en-US" sz="14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不为</a:t>
            </a:r>
            <a:r>
              <a:rPr lang="en-US" altLang="zh-CN" sz="1400" b="0">
                <a:ea typeface="Fira Code" panose="020B0809050000020004" pitchFamily="49" charset="0"/>
                <a:cs typeface="阿里巴巴普惠体" panose="00020600040101010101" pitchFamily="18" charset="-122"/>
              </a:rPr>
              <a:t>null</a:t>
            </a:r>
            <a:r>
              <a:rPr lang="zh-CN" altLang="en-US" sz="14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，取自身，否则取</a:t>
            </a:r>
            <a:r>
              <a:rPr lang="en-US" altLang="zh-CN" sz="1400" b="0">
                <a:ea typeface="Fira Code" panose="020B0809050000020004" pitchFamily="49" charset="0"/>
                <a:cs typeface="阿里巴巴普惠体" panose="00020600040101010101" pitchFamily="18" charset="-122"/>
              </a:rPr>
              <a:t>val1</a:t>
            </a:r>
            <a:endParaRPr lang="en-US" altLang="zh-CN" b="0"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0692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18270</TotalTime>
  <Words>2692</Words>
  <Application>Microsoft Office PowerPoint</Application>
  <PresentationFormat>宽屏</PresentationFormat>
  <Paragraphs>225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36</vt:i4>
      </vt:variant>
    </vt:vector>
  </HeadingPairs>
  <TitlesOfParts>
    <vt:vector size="54" baseType="lpstr">
      <vt:lpstr>Alibaba PuHuiTi B</vt:lpstr>
      <vt:lpstr>阿里巴巴普惠体</vt:lpstr>
      <vt:lpstr>阿里巴巴普惠体 Heavy</vt:lpstr>
      <vt:lpstr>阿里巴巴普惠体 Medium</vt:lpstr>
      <vt:lpstr>等线</vt:lpstr>
      <vt:lpstr>汉仪尚巍流云体简</vt:lpstr>
      <vt:lpstr>楷体</vt:lpstr>
      <vt:lpstr>宋体</vt:lpstr>
      <vt:lpstr>Arial</vt:lpstr>
      <vt:lpstr>Calisto MT</vt:lpstr>
      <vt:lpstr>Fira Code</vt:lpstr>
      <vt:lpstr>Source Code Pro</vt:lpstr>
      <vt:lpstr>Wingdings</vt:lpstr>
      <vt:lpstr>内容模板</vt:lpstr>
      <vt:lpstr>封面</vt:lpstr>
      <vt:lpstr>章节目录模板</vt:lpstr>
      <vt:lpstr>小结思考模板</vt:lpstr>
      <vt:lpstr>小结思考模板2</vt:lpstr>
      <vt:lpstr>Web后端开发</vt:lpstr>
      <vt:lpstr>需求</vt:lpstr>
      <vt:lpstr>PowerPoint 演示文稿</vt:lpstr>
      <vt:lpstr>PowerPoint 演示文稿</vt:lpstr>
      <vt:lpstr>需求分析</vt:lpstr>
      <vt:lpstr>删除员工</vt:lpstr>
      <vt:lpstr>删除员工-Controller接收请求参数</vt:lpstr>
      <vt:lpstr>删除员工-Service&amp;Mapper</vt:lpstr>
      <vt:lpstr>PowerPoint 演示文稿</vt:lpstr>
      <vt:lpstr>PowerPoint 演示文稿</vt:lpstr>
      <vt:lpstr>需求分析</vt:lpstr>
      <vt:lpstr>PowerPoint 演示文稿</vt:lpstr>
      <vt:lpstr>查询回显</vt:lpstr>
      <vt:lpstr>查询回显</vt:lpstr>
      <vt:lpstr>PowerPoint 演示文稿</vt:lpstr>
      <vt:lpstr>PowerPoint 演示文稿</vt:lpstr>
      <vt:lpstr>需求分析</vt:lpstr>
      <vt:lpstr>修改员工</vt:lpstr>
      <vt:lpstr>修改员工-程序优化</vt:lpstr>
      <vt:lpstr>功能测试</vt:lpstr>
      <vt:lpstr>PowerPoint 演示文稿</vt:lpstr>
      <vt:lpstr>PowerPoint 演示文稿</vt:lpstr>
      <vt:lpstr>异常处理</vt:lpstr>
      <vt:lpstr>异常处理</vt:lpstr>
      <vt:lpstr>PowerPoint 演示文稿</vt:lpstr>
      <vt:lpstr>PowerPoint 演示文稿</vt:lpstr>
      <vt:lpstr>PowerPoint 演示文稿</vt:lpstr>
      <vt:lpstr>职位统计</vt:lpstr>
      <vt:lpstr>职位统计</vt:lpstr>
      <vt:lpstr>职位统计</vt:lpstr>
      <vt:lpstr>PowerPoint 演示文稿</vt:lpstr>
      <vt:lpstr>PowerPoint 演示文稿</vt:lpstr>
      <vt:lpstr>性别统计</vt:lpstr>
      <vt:lpstr>性别统计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M8242</cp:lastModifiedBy>
  <cp:revision>1302</cp:revision>
  <cp:lastPrinted>2022-05-29T16:00:00Z</cp:lastPrinted>
  <dcterms:created xsi:type="dcterms:W3CDTF">2022-05-29T16:00:00Z</dcterms:created>
  <dcterms:modified xsi:type="dcterms:W3CDTF">2024-11-20T09:08:35Z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