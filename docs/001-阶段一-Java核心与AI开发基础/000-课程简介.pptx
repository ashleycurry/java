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12"/>
  </p:notesMasterIdLst>
  <p:handoutMasterIdLst>
    <p:handoutMasterId r:id="rId13"/>
  </p:handoutMasterIdLst>
  <p:sldIdLst>
    <p:sldId id="280" r:id="rId6"/>
    <p:sldId id="308" r:id="rId7"/>
    <p:sldId id="440" r:id="rId8"/>
    <p:sldId id="2660" r:id="rId9"/>
    <p:sldId id="2661" r:id="rId10"/>
    <p:sldId id="288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5" autoAdjust="0"/>
    <p:restoredTop sz="94676" autoAdjust="0"/>
  </p:normalViewPr>
  <p:slideViewPr>
    <p:cSldViewPr snapToGrid="0" showGuides="1">
      <p:cViewPr varScale="1">
        <p:scale>
          <a:sx n="91" d="100"/>
          <a:sy n="91" d="100"/>
        </p:scale>
        <p:origin x="6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204" y="956249"/>
            <a:ext cx="11060481" cy="53318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02" y="336408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7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9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7" y="335212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7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9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3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9" y="316679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81" y="423789"/>
            <a:ext cx="201683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3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7" y="308775"/>
            <a:ext cx="1212683" cy="453280"/>
            <a:chOff x="532462" y="1628775"/>
            <a:chExt cx="1212682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3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9" y="316679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81" y="423789"/>
            <a:ext cx="201683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3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7" y="308775"/>
            <a:ext cx="1212683" cy="453280"/>
            <a:chOff x="532462" y="1628775"/>
            <a:chExt cx="1212682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3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9" y="316679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81" y="423789"/>
            <a:ext cx="201683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3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7" y="308775"/>
            <a:ext cx="1212683" cy="453280"/>
            <a:chOff x="532462" y="1628775"/>
            <a:chExt cx="1212682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6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7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9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31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3" y="2220695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288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9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7" y="2547366"/>
            <a:ext cx="132735" cy="1327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1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5" y="1962438"/>
            <a:ext cx="350435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7"/>
            <a:ext cx="8065704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1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9" y="5942537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8" y="2124884"/>
            <a:ext cx="129159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11" y="2124884"/>
            <a:ext cx="308527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7" y="152246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7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6" y="1847890"/>
            <a:ext cx="1366080" cy="307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1" b="1">
                <a:solidFill>
                  <a:schemeClr val="accent1"/>
                </a:solidFill>
              </a:rPr>
              <a:t>AI Copilot </a:t>
            </a:r>
            <a:endParaRPr lang="zh-CN" altLang="en-US" sz="1401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31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3" y="516759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5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8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31" y="2916806"/>
            <a:ext cx="4953839" cy="853923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1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 sz="1801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 sz="1801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 sz="1801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 sz="1801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1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1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3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7" y="381112"/>
            <a:ext cx="4016079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43" y="2356361"/>
            <a:ext cx="1119535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1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41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1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1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3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7" y="381112"/>
            <a:ext cx="4016079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5" y="2203928"/>
            <a:ext cx="3484715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36"/>
            <a:ext cx="3692525" cy="2206679"/>
          </a:xfrm>
          <a:prstGeom prst="rect">
            <a:avLst/>
          </a:prstGeom>
        </p:spPr>
        <p:txBody>
          <a:bodyPr anchor="t"/>
          <a:lstStyle>
            <a:lvl1pPr marL="342874" indent="-342874" algn="l">
              <a:lnSpc>
                <a:spcPct val="150000"/>
              </a:lnSpc>
              <a:buFont typeface="Wingdings" panose="05000000000000000000" pitchFamily="2" charset="2"/>
              <a:buChar char="u"/>
              <a:defRPr sz="1801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5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7001" y="2360165"/>
            <a:ext cx="1119535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7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1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1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3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7" y="381112"/>
            <a:ext cx="4016079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7" y="2334724"/>
            <a:ext cx="216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4" y="1662412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874" indent="-342874" algn="l">
              <a:lnSpc>
                <a:spcPct val="150000"/>
              </a:lnSpc>
              <a:buFont typeface="Wingdings" panose="05000000000000000000" pitchFamily="2" charset="2"/>
              <a:buChar char="u"/>
              <a:defRPr sz="1801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36" y="2704256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9" y="1720320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9" y="2862328"/>
            <a:ext cx="216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 sz="2800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304" y="311366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6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9" y="2862326"/>
            <a:ext cx="216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 sz="2800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304" y="311366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35" y="1359887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30" indent="-285730">
              <a:lnSpc>
                <a:spcPct val="150000"/>
              </a:lnSpc>
              <a:buFont typeface="Wingdings" panose="05000000000000000000" pitchFamily="2" charset="2"/>
              <a:buChar char="l"/>
              <a:defRPr sz="1801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30" y="2861146"/>
            <a:ext cx="216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 sz="2800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44" y="3112480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22" y="2901910"/>
            <a:ext cx="216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6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8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22" y="2901908"/>
            <a:ext cx="216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6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8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22" y="2901910"/>
            <a:ext cx="216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6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8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7" y="152246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1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3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1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3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7" y="152246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1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3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7" y="152246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61" y="2336539"/>
            <a:ext cx="2111503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1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56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0" y="-114517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9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1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3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42" y="4742376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3" y="4027164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89" y="1512575"/>
            <a:ext cx="804339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6" y="1787724"/>
            <a:ext cx="314325" cy="314326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9" y="2155528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3002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1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3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Java </a:t>
            </a:r>
            <a:r>
              <a:rPr lang="zh-CN" altLang="en-US" dirty="0"/>
              <a:t>课程介绍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/>
              <a:t>培养</a:t>
            </a:r>
            <a:r>
              <a:rPr lang="en-US" altLang="zh-CN" sz="2000" dirty="0"/>
              <a:t>AI</a:t>
            </a:r>
            <a:r>
              <a:rPr lang="zh-CN" altLang="en-US" sz="2000" dirty="0"/>
              <a:t>新时代</a:t>
            </a:r>
            <a:r>
              <a:rPr lang="en-US" altLang="zh-CN" sz="2000" dirty="0"/>
              <a:t>Java</a:t>
            </a:r>
            <a:r>
              <a:rPr lang="zh-CN" altLang="en-US" sz="2000" dirty="0"/>
              <a:t>工程师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F51169B3-F0AF-FDF7-6599-60B534708B78}"/>
              </a:ext>
            </a:extLst>
          </p:cNvPr>
          <p:cNvSpPr/>
          <p:nvPr/>
        </p:nvSpPr>
        <p:spPr>
          <a:xfrm>
            <a:off x="6509090" y="2174718"/>
            <a:ext cx="3795964" cy="944479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j-ea"/>
                <a:ea typeface="+mj-ea"/>
              </a:rPr>
              <a:t>Java SE </a:t>
            </a:r>
            <a:r>
              <a:rPr lang="zh-CN" altLang="en-US" sz="2400" dirty="0">
                <a:latin typeface="+mj-ea"/>
                <a:ea typeface="+mj-ea"/>
              </a:rPr>
              <a:t>基础篇</a:t>
            </a:r>
          </a:p>
        </p:txBody>
      </p:sp>
    </p:spTree>
    <p:extLst>
      <p:ext uri="{BB962C8B-B14F-4D97-AF65-F5344CB8AC3E}">
        <p14:creationId xmlns:p14="http://schemas.microsoft.com/office/powerpoint/2010/main" val="278383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7DDC-B304-D2F8-C50D-C468CAE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4A627EB-EA7B-CC4E-5D7D-22BC584E8DC0}"/>
              </a:ext>
            </a:extLst>
          </p:cNvPr>
          <p:cNvSpPr/>
          <p:nvPr/>
        </p:nvSpPr>
        <p:spPr>
          <a:xfrm>
            <a:off x="253764" y="325127"/>
            <a:ext cx="2677900" cy="665476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j-ea"/>
                <a:ea typeface="+mj-ea"/>
              </a:rPr>
              <a:t>Java SE </a:t>
            </a:r>
            <a:r>
              <a:rPr lang="zh-CN" altLang="en-US" sz="2400" dirty="0">
                <a:latin typeface="+mj-ea"/>
                <a:ea typeface="+mj-ea"/>
              </a:rPr>
              <a:t>基础篇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17C168-398E-E50B-652E-EF8887C83938}"/>
              </a:ext>
            </a:extLst>
          </p:cNvPr>
          <p:cNvSpPr txBox="1"/>
          <p:nvPr/>
        </p:nvSpPr>
        <p:spPr>
          <a:xfrm>
            <a:off x="1852723" y="1732552"/>
            <a:ext cx="223971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/>
              <a:t>Java </a:t>
            </a:r>
            <a:r>
              <a:rPr lang="zh-CN" altLang="en-US" sz="1801" dirty="0"/>
              <a:t>开发环境搭建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DC3ED2-94D4-C58D-7D2E-195E5A6D7F8D}"/>
              </a:ext>
            </a:extLst>
          </p:cNvPr>
          <p:cNvSpPr txBox="1"/>
          <p:nvPr/>
        </p:nvSpPr>
        <p:spPr>
          <a:xfrm>
            <a:off x="1852722" y="2440958"/>
            <a:ext cx="178446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/>
              <a:t>IDEA </a:t>
            </a:r>
            <a:r>
              <a:rPr lang="zh-CN" altLang="en-US" sz="1801" dirty="0"/>
              <a:t>开发工具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4DAC92-11D0-4ABE-25F6-E4F0BD0162CB}"/>
              </a:ext>
            </a:extLst>
          </p:cNvPr>
          <p:cNvSpPr txBox="1"/>
          <p:nvPr/>
        </p:nvSpPr>
        <p:spPr>
          <a:xfrm>
            <a:off x="1852722" y="3149362"/>
            <a:ext cx="178446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/>
              <a:t>Java</a:t>
            </a:r>
            <a:r>
              <a:rPr lang="zh-CN" altLang="en-US" sz="1801" dirty="0"/>
              <a:t> 基础语法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45A5E5-50AD-9CD9-3FF1-2EC360E166EC}"/>
              </a:ext>
            </a:extLst>
          </p:cNvPr>
          <p:cNvSpPr txBox="1"/>
          <p:nvPr/>
        </p:nvSpPr>
        <p:spPr>
          <a:xfrm>
            <a:off x="1852719" y="3856674"/>
            <a:ext cx="15504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1" dirty="0"/>
              <a:t>面向对象思想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D1B1E6-FCBA-8549-7B49-B75645D088DF}"/>
              </a:ext>
            </a:extLst>
          </p:cNvPr>
          <p:cNvSpPr txBox="1"/>
          <p:nvPr/>
        </p:nvSpPr>
        <p:spPr>
          <a:xfrm>
            <a:off x="1852724" y="4510570"/>
            <a:ext cx="359906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1" dirty="0"/>
              <a:t>封装、继承、多态、抽象类、接口</a:t>
            </a:r>
          </a:p>
        </p:txBody>
      </p:sp>
    </p:spTree>
    <p:extLst>
      <p:ext uri="{BB962C8B-B14F-4D97-AF65-F5344CB8AC3E}">
        <p14:creationId xmlns:p14="http://schemas.microsoft.com/office/powerpoint/2010/main" val="1077351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22D38-C133-1F36-3C64-57971D08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课程背景</a:t>
            </a: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55ECAB61-B4CF-21C9-75B5-4B9AAD7BC3D9}"/>
              </a:ext>
            </a:extLst>
          </p:cNvPr>
          <p:cNvSpPr txBox="1">
            <a:spLocks/>
          </p:cNvSpPr>
          <p:nvPr/>
        </p:nvSpPr>
        <p:spPr>
          <a:xfrm>
            <a:off x="576203" y="956246"/>
            <a:ext cx="11476468" cy="5331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30" indent="-285730">
              <a:buFont typeface="Wingdings" panose="05000000000000000000" pitchFamily="2" charset="2"/>
              <a:buChar char="l"/>
            </a:pPr>
            <a:r>
              <a:rPr lang="en-US" altLang="zh-CN" sz="1600" dirty="0"/>
              <a:t>AI</a:t>
            </a:r>
            <a:r>
              <a:rPr lang="zh-CN" altLang="en-US" sz="1600" dirty="0"/>
              <a:t>（</a:t>
            </a:r>
            <a:r>
              <a:rPr lang="en-US" altLang="zh-CN" sz="1600" dirty="0"/>
              <a:t>Artificial Intelligence</a:t>
            </a:r>
            <a:r>
              <a:rPr lang="zh-CN" altLang="en-US" sz="1600" dirty="0"/>
              <a:t>）大模型</a:t>
            </a:r>
            <a:r>
              <a:rPr lang="zh-CN" altLang="en-US" sz="1600" dirty="0">
                <a:solidFill>
                  <a:srgbClr val="262626"/>
                </a:solidFill>
                <a:latin typeface="+mn-ea"/>
              </a:rPr>
              <a:t>：是指具有极大规模、高度复杂性和强大能力的人工智能系统</a:t>
            </a:r>
            <a:endParaRPr lang="en-US" altLang="zh-CN" sz="1600" dirty="0">
              <a:solidFill>
                <a:schemeClr val="accent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503208-1634-3803-1ADD-D92CE6036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82398" y="1592960"/>
            <a:ext cx="4463289" cy="3967369"/>
          </a:xfrm>
          <a:prstGeom prst="rect">
            <a:avLst/>
          </a:prstGeom>
        </p:spPr>
      </p:pic>
      <p:sp>
        <p:nvSpPr>
          <p:cNvPr id="13" name="弧形 12"/>
          <p:cNvSpPr/>
          <p:nvPr/>
        </p:nvSpPr>
        <p:spPr>
          <a:xfrm>
            <a:off x="-1152366" y="1297671"/>
            <a:ext cx="5137018" cy="5137018"/>
          </a:xfrm>
          <a:prstGeom prst="arc">
            <a:avLst>
              <a:gd name="adj1" fmla="val 18743766"/>
              <a:gd name="adj2" fmla="val 2405686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造字工房悦黑（非商用）常规体"/>
            </a:endParaRP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E234850C-78BC-884E-9CC8-EF83086EE05D}"/>
              </a:ext>
            </a:extLst>
          </p:cNvPr>
          <p:cNvCxnSpPr>
            <a:cxnSpLocks/>
          </p:cNvCxnSpPr>
          <p:nvPr/>
        </p:nvCxnSpPr>
        <p:spPr>
          <a:xfrm>
            <a:off x="3567119" y="2427447"/>
            <a:ext cx="1335812" cy="0"/>
          </a:xfrm>
          <a:prstGeom prst="line">
            <a:avLst/>
          </a:prstGeom>
          <a:ln cap="rnd">
            <a:solidFill>
              <a:srgbClr val="1F3F6E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49">
            <a:extLst>
              <a:ext uri="{FF2B5EF4-FFF2-40B4-BE49-F238E27FC236}">
                <a16:creationId xmlns:a16="http://schemas.microsoft.com/office/drawing/2014/main" id="{913EE9F2-D9DA-D66D-57E5-CABAE995EAA2}"/>
              </a:ext>
            </a:extLst>
          </p:cNvPr>
          <p:cNvCxnSpPr>
            <a:cxnSpLocks/>
          </p:cNvCxnSpPr>
          <p:nvPr/>
        </p:nvCxnSpPr>
        <p:spPr>
          <a:xfrm>
            <a:off x="3984655" y="3337491"/>
            <a:ext cx="1335812" cy="0"/>
          </a:xfrm>
          <a:prstGeom prst="line">
            <a:avLst/>
          </a:prstGeom>
          <a:ln cap="rnd">
            <a:solidFill>
              <a:srgbClr val="1F3F6E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8DDE7CA-638F-2591-6B06-6456B5738785}"/>
              </a:ext>
            </a:extLst>
          </p:cNvPr>
          <p:cNvSpPr txBox="1"/>
          <p:nvPr/>
        </p:nvSpPr>
        <p:spPr>
          <a:xfrm>
            <a:off x="4159761" y="2901120"/>
            <a:ext cx="6383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开发大模型</a:t>
            </a:r>
            <a:r>
              <a:rPr lang="zh-CN" altLang="en-US" sz="1600" dirty="0"/>
              <a:t>：通过开发大模型，开发智能产品</a:t>
            </a:r>
          </a:p>
        </p:txBody>
      </p:sp>
      <p:cxnSp>
        <p:nvCxnSpPr>
          <p:cNvPr id="28" name="直线连接符 49">
            <a:extLst>
              <a:ext uri="{FF2B5EF4-FFF2-40B4-BE49-F238E27FC236}">
                <a16:creationId xmlns:a16="http://schemas.microsoft.com/office/drawing/2014/main" id="{956DD74E-C918-EE1F-E4F5-B7994A778A1C}"/>
              </a:ext>
            </a:extLst>
          </p:cNvPr>
          <p:cNvCxnSpPr>
            <a:cxnSpLocks/>
          </p:cNvCxnSpPr>
          <p:nvPr/>
        </p:nvCxnSpPr>
        <p:spPr>
          <a:xfrm>
            <a:off x="3984655" y="4360748"/>
            <a:ext cx="1335812" cy="0"/>
          </a:xfrm>
          <a:prstGeom prst="line">
            <a:avLst/>
          </a:prstGeom>
          <a:ln cap="rnd">
            <a:solidFill>
              <a:srgbClr val="1F3F6E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FDC8E61-844C-66C5-7DDA-B7558DE3C462}"/>
              </a:ext>
            </a:extLst>
          </p:cNvPr>
          <p:cNvSpPr txBox="1"/>
          <p:nvPr/>
        </p:nvSpPr>
        <p:spPr>
          <a:xfrm>
            <a:off x="4235033" y="3924379"/>
            <a:ext cx="6383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微调大模型</a:t>
            </a:r>
            <a:r>
              <a:rPr lang="zh-CN" altLang="en-US" sz="1600" dirty="0"/>
              <a:t>：通过行业数据，优化大模型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8C026D-3FC9-03E4-E85D-8E216D99F82C}"/>
              </a:ext>
            </a:extLst>
          </p:cNvPr>
          <p:cNvSpPr txBox="1"/>
          <p:nvPr/>
        </p:nvSpPr>
        <p:spPr>
          <a:xfrm>
            <a:off x="3685145" y="2005951"/>
            <a:ext cx="8299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应用大模型</a:t>
            </a:r>
            <a:r>
              <a:rPr lang="zh-CN" altLang="en-US" sz="1600" dirty="0"/>
              <a:t>：信息检索、内容分析、生成、辅助编程（自动补全代码、生成代码片段等）</a:t>
            </a:r>
          </a:p>
        </p:txBody>
      </p:sp>
      <p:cxnSp>
        <p:nvCxnSpPr>
          <p:cNvPr id="32" name="直线连接符 49">
            <a:extLst>
              <a:ext uri="{FF2B5EF4-FFF2-40B4-BE49-F238E27FC236}">
                <a16:creationId xmlns:a16="http://schemas.microsoft.com/office/drawing/2014/main" id="{4C376A5D-6324-BBFE-1672-801642106291}"/>
              </a:ext>
            </a:extLst>
          </p:cNvPr>
          <p:cNvCxnSpPr>
            <a:cxnSpLocks/>
          </p:cNvCxnSpPr>
          <p:nvPr/>
        </p:nvCxnSpPr>
        <p:spPr>
          <a:xfrm>
            <a:off x="3685135" y="5321176"/>
            <a:ext cx="1335812" cy="0"/>
          </a:xfrm>
          <a:prstGeom prst="line">
            <a:avLst/>
          </a:prstGeom>
          <a:ln cap="rnd">
            <a:solidFill>
              <a:srgbClr val="1F3F6E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CA900F8-F0F2-A483-E289-BDB39C9F4B2E}"/>
              </a:ext>
            </a:extLst>
          </p:cNvPr>
          <p:cNvSpPr txBox="1"/>
          <p:nvPr/>
        </p:nvSpPr>
        <p:spPr>
          <a:xfrm>
            <a:off x="4159761" y="4840498"/>
            <a:ext cx="1274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...</a:t>
            </a:r>
            <a:endParaRPr lang="zh-CN" altLang="en-US" sz="160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59F3F3C-0D1B-A788-4C11-DBA7CEC09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718" y="4816679"/>
            <a:ext cx="1257007" cy="657071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0ED4209-213F-06EA-D57B-9FA087E0C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942" y="4842449"/>
            <a:ext cx="1648711" cy="43305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8CBBE4B8-284B-D195-6B3F-7ECD643D8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831" y="6128833"/>
            <a:ext cx="1257007" cy="318487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FB3AF96-D239-F6B0-B9EF-C7B475EDC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4613" y="6086854"/>
            <a:ext cx="1115279" cy="3812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095BA6B-2BE1-274A-5369-D660736680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846" y="5560338"/>
            <a:ext cx="1571511" cy="44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8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7" grpId="0"/>
      <p:bldP spid="30" grpId="0"/>
      <p:bldP spid="31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A792-386D-AC11-F0EA-EAFFA3E1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形状4">
            <a:extLst>
              <a:ext uri="{FF2B5EF4-FFF2-40B4-BE49-F238E27FC236}">
                <a16:creationId xmlns:a16="http://schemas.microsoft.com/office/drawing/2014/main" id="{1ECD9CC3-BF7A-3440-157D-31C242EC44EC}"/>
              </a:ext>
            </a:extLst>
          </p:cNvPr>
          <p:cNvSpPr/>
          <p:nvPr/>
        </p:nvSpPr>
        <p:spPr>
          <a:xfrm>
            <a:off x="10" y="2273418"/>
            <a:ext cx="9544449" cy="334927"/>
          </a:xfrm>
          <a:prstGeom prst="rightArrow">
            <a:avLst>
              <a:gd name="adj1" fmla="val 59701"/>
              <a:gd name="adj2" fmla="val 50000"/>
            </a:avLst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1" rIns="91440" bIns="45721" anchor="ctr">
            <a:normAutofit fontScale="40000" lnSpcReduction="20000"/>
          </a:bodyPr>
          <a:lstStyle/>
          <a:p>
            <a:pPr algn="ctr"/>
            <a:endParaRPr sz="1801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0E1A880-A948-ADC2-92A5-F94FC636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课程背景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EC17D41-B0E4-D32C-477F-E586581C9114}"/>
              </a:ext>
            </a:extLst>
          </p:cNvPr>
          <p:cNvGrpSpPr/>
          <p:nvPr/>
        </p:nvGrpSpPr>
        <p:grpSpPr>
          <a:xfrm>
            <a:off x="1021159" y="1751906"/>
            <a:ext cx="1652012" cy="2059135"/>
            <a:chOff x="2285732" y="3716686"/>
            <a:chExt cx="2763946" cy="34463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3077933-6402-63CA-44B6-86455DAC9341}"/>
                </a:ext>
              </a:extLst>
            </p:cNvPr>
            <p:cNvGrpSpPr/>
            <p:nvPr/>
          </p:nvGrpSpPr>
          <p:grpSpPr>
            <a:xfrm>
              <a:off x="2285732" y="3716686"/>
              <a:ext cx="2763946" cy="3446339"/>
              <a:chOff x="3295850" y="1908877"/>
              <a:chExt cx="3738030" cy="4660916"/>
            </a:xfrm>
          </p:grpSpPr>
          <p:sp>
            <p:nvSpPr>
              <p:cNvPr id="11" name="圆角矩形 17">
                <a:extLst>
                  <a:ext uri="{FF2B5EF4-FFF2-40B4-BE49-F238E27FC236}">
                    <a16:creationId xmlns:a16="http://schemas.microsoft.com/office/drawing/2014/main" id="{9A6C2118-2337-2295-2B3E-5B33B5EDB4E6}"/>
                  </a:ext>
                </a:extLst>
              </p:cNvPr>
              <p:cNvSpPr/>
              <p:nvPr/>
            </p:nvSpPr>
            <p:spPr>
              <a:xfrm rot="2760000">
                <a:off x="3098889" y="2634801"/>
                <a:ext cx="4660916" cy="32090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1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91A09B5B-D5F2-DF39-1162-9F545DE60F1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01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圆角矩形 21">
                <a:extLst>
                  <a:ext uri="{FF2B5EF4-FFF2-40B4-BE49-F238E27FC236}">
                    <a16:creationId xmlns:a16="http://schemas.microsoft.com/office/drawing/2014/main" id="{02167F4A-D92F-43D4-4642-4789F7DED027}"/>
                  </a:ext>
                </a:extLst>
              </p:cNvPr>
              <p:cNvSpPr/>
              <p:nvPr/>
            </p:nvSpPr>
            <p:spPr>
              <a:xfrm rot="2760000">
                <a:off x="3358628" y="2852802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1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1C6FCA4A-AF51-8060-D398-9C931044EDC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203F6E"/>
              </a:solidFill>
              <a:ln w="25400">
                <a:solidFill>
                  <a:srgbClr val="203F6E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01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E188786-BDEC-EEDB-3F1A-4A4967628D4F}"/>
                </a:ext>
              </a:extLst>
            </p:cNvPr>
            <p:cNvGrpSpPr/>
            <p:nvPr/>
          </p:nvGrpSpPr>
          <p:grpSpPr>
            <a:xfrm>
              <a:off x="2728219" y="4347491"/>
              <a:ext cx="1068358" cy="1027113"/>
              <a:chOff x="2711519" y="4342226"/>
              <a:chExt cx="1068358" cy="1027113"/>
            </a:xfrm>
          </p:grpSpPr>
          <p:sp>
            <p:nvSpPr>
              <p:cNvPr id="9" name="文本框 26">
                <a:extLst>
                  <a:ext uri="{FF2B5EF4-FFF2-40B4-BE49-F238E27FC236}">
                    <a16:creationId xmlns:a16="http://schemas.microsoft.com/office/drawing/2014/main" id="{661D675A-F519-7866-B3D0-4AEFFA1DE1AD}"/>
                  </a:ext>
                </a:extLst>
              </p:cNvPr>
              <p:cNvSpPr txBox="1"/>
              <p:nvPr/>
            </p:nvSpPr>
            <p:spPr>
              <a:xfrm>
                <a:off x="2711519" y="4342226"/>
                <a:ext cx="1031436" cy="772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24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" name="文本框 27">
                <a:extLst>
                  <a:ext uri="{FF2B5EF4-FFF2-40B4-BE49-F238E27FC236}">
                    <a16:creationId xmlns:a16="http://schemas.microsoft.com/office/drawing/2014/main" id="{35E6CBC1-6B5A-10C5-360F-FBB2EC34A48D}"/>
                  </a:ext>
                </a:extLst>
              </p:cNvPr>
              <p:cNvSpPr txBox="1"/>
              <p:nvPr/>
            </p:nvSpPr>
            <p:spPr>
              <a:xfrm>
                <a:off x="2738817" y="4957029"/>
                <a:ext cx="1041060" cy="412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1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001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7C9908D-820E-5EDC-9F95-491AE36C796A}"/>
              </a:ext>
            </a:extLst>
          </p:cNvPr>
          <p:cNvGrpSpPr/>
          <p:nvPr/>
        </p:nvGrpSpPr>
        <p:grpSpPr>
          <a:xfrm>
            <a:off x="5877247" y="1707799"/>
            <a:ext cx="1646319" cy="2059135"/>
            <a:chOff x="3885937" y="2769115"/>
            <a:chExt cx="2754422" cy="34463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D9A6F51-4FE6-A8F6-C085-977349C531FD}"/>
                </a:ext>
              </a:extLst>
            </p:cNvPr>
            <p:cNvGrpSpPr/>
            <p:nvPr/>
          </p:nvGrpSpPr>
          <p:grpSpPr>
            <a:xfrm>
              <a:off x="3885937" y="2769115"/>
              <a:ext cx="2754422" cy="3446339"/>
              <a:chOff x="3295850" y="1895995"/>
              <a:chExt cx="3725149" cy="4660916"/>
            </a:xfrm>
          </p:grpSpPr>
          <p:sp>
            <p:nvSpPr>
              <p:cNvPr id="21" name="圆角矩形 28">
                <a:extLst>
                  <a:ext uri="{FF2B5EF4-FFF2-40B4-BE49-F238E27FC236}">
                    <a16:creationId xmlns:a16="http://schemas.microsoft.com/office/drawing/2014/main" id="{D6571DF9-1449-C2FB-830D-84098C9ABD8A}"/>
                  </a:ext>
                </a:extLst>
              </p:cNvPr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1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2" name="Freeform 5">
                <a:extLst>
                  <a:ext uri="{FF2B5EF4-FFF2-40B4-BE49-F238E27FC236}">
                    <a16:creationId xmlns:a16="http://schemas.microsoft.com/office/drawing/2014/main" id="{8AAD8401-9EBF-3B12-A8EC-6195968333E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01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3" name="圆角矩形 35">
                <a:extLst>
                  <a:ext uri="{FF2B5EF4-FFF2-40B4-BE49-F238E27FC236}">
                    <a16:creationId xmlns:a16="http://schemas.microsoft.com/office/drawing/2014/main" id="{261D0C55-FB42-4682-C3F9-C821342D07AB}"/>
                  </a:ext>
                </a:extLst>
              </p:cNvPr>
              <p:cNvSpPr/>
              <p:nvPr/>
            </p:nvSpPr>
            <p:spPr>
              <a:xfrm rot="2760000">
                <a:off x="3384391" y="2878566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1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4" name="Freeform 5">
                <a:extLst>
                  <a:ext uri="{FF2B5EF4-FFF2-40B4-BE49-F238E27FC236}">
                    <a16:creationId xmlns:a16="http://schemas.microsoft.com/office/drawing/2014/main" id="{7122FE72-52DA-41E6-5240-BF158BC5A78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203F6E"/>
              </a:solidFill>
              <a:ln w="25400">
                <a:solidFill>
                  <a:srgbClr val="203F6E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01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14A33E0-7E95-6FAE-7F75-7E2D40CC7429}"/>
                </a:ext>
              </a:extLst>
            </p:cNvPr>
            <p:cNvGrpSpPr/>
            <p:nvPr/>
          </p:nvGrpSpPr>
          <p:grpSpPr>
            <a:xfrm>
              <a:off x="4352303" y="3414855"/>
              <a:ext cx="1045498" cy="1027119"/>
              <a:chOff x="2734379" y="4342226"/>
              <a:chExt cx="1045498" cy="1027119"/>
            </a:xfrm>
          </p:grpSpPr>
          <p:sp>
            <p:nvSpPr>
              <p:cNvPr id="19" name="文本框 32">
                <a:extLst>
                  <a:ext uri="{FF2B5EF4-FFF2-40B4-BE49-F238E27FC236}">
                    <a16:creationId xmlns:a16="http://schemas.microsoft.com/office/drawing/2014/main" id="{A7921664-2A74-B9DD-9873-8B0091ABB930}"/>
                  </a:ext>
                </a:extLst>
              </p:cNvPr>
              <p:cNvSpPr txBox="1"/>
              <p:nvPr/>
            </p:nvSpPr>
            <p:spPr>
              <a:xfrm>
                <a:off x="2734379" y="4342226"/>
                <a:ext cx="1031437" cy="772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0" name="文本框 33">
                <a:extLst>
                  <a:ext uri="{FF2B5EF4-FFF2-40B4-BE49-F238E27FC236}">
                    <a16:creationId xmlns:a16="http://schemas.microsoft.com/office/drawing/2014/main" id="{A7006579-2368-0138-7511-8F5911467694}"/>
                  </a:ext>
                </a:extLst>
              </p:cNvPr>
              <p:cNvSpPr txBox="1"/>
              <p:nvPr/>
            </p:nvSpPr>
            <p:spPr>
              <a:xfrm>
                <a:off x="2738816" y="4957035"/>
                <a:ext cx="1041061" cy="412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1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STEP</a:t>
                </a:r>
                <a:endParaRPr lang="zh-CN" altLang="en-US" sz="1001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6B9CCC8-B563-A0A6-B17D-034EB6D30813}"/>
              </a:ext>
            </a:extLst>
          </p:cNvPr>
          <p:cNvGrpSpPr/>
          <p:nvPr/>
        </p:nvGrpSpPr>
        <p:grpSpPr>
          <a:xfrm>
            <a:off x="3452047" y="1707799"/>
            <a:ext cx="1646319" cy="2059135"/>
            <a:chOff x="5489223" y="1837839"/>
            <a:chExt cx="2754422" cy="3446339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A616B5D-CA75-DA48-B275-E36F36C310F4}"/>
                </a:ext>
              </a:extLst>
            </p:cNvPr>
            <p:cNvGrpSpPr/>
            <p:nvPr/>
          </p:nvGrpSpPr>
          <p:grpSpPr>
            <a:xfrm>
              <a:off x="5489223" y="1837839"/>
              <a:ext cx="2754422" cy="3446339"/>
              <a:chOff x="3295850" y="1895995"/>
              <a:chExt cx="3725149" cy="4660916"/>
            </a:xfrm>
          </p:grpSpPr>
          <p:sp>
            <p:nvSpPr>
              <p:cNvPr id="38" name="圆角矩形 42">
                <a:extLst>
                  <a:ext uri="{FF2B5EF4-FFF2-40B4-BE49-F238E27FC236}">
                    <a16:creationId xmlns:a16="http://schemas.microsoft.com/office/drawing/2014/main" id="{3CBB9D37-DD8C-F208-5AFD-D8E137FFEE0D}"/>
                  </a:ext>
                </a:extLst>
              </p:cNvPr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1">
                  <a:solidFill>
                    <a:prstClr val="white"/>
                  </a:solidFill>
                </a:endParaRPr>
              </a:p>
            </p:txBody>
          </p:sp>
          <p:sp>
            <p:nvSpPr>
              <p:cNvPr id="39" name="Freeform 5">
                <a:extLst>
                  <a:ext uri="{FF2B5EF4-FFF2-40B4-BE49-F238E27FC236}">
                    <a16:creationId xmlns:a16="http://schemas.microsoft.com/office/drawing/2014/main" id="{BFA6FD9A-B3D6-0AF7-93F5-D2CE0B3481E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01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圆角矩形 45">
                <a:extLst>
                  <a:ext uri="{FF2B5EF4-FFF2-40B4-BE49-F238E27FC236}">
                    <a16:creationId xmlns:a16="http://schemas.microsoft.com/office/drawing/2014/main" id="{6D5C3CA2-F755-34FF-3B89-B96B69559B88}"/>
                  </a:ext>
                </a:extLst>
              </p:cNvPr>
              <p:cNvSpPr/>
              <p:nvPr/>
            </p:nvSpPr>
            <p:spPr>
              <a:xfrm rot="2760000">
                <a:off x="3371510" y="2878566"/>
                <a:ext cx="3953505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1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Freeform 5">
                <a:extLst>
                  <a:ext uri="{FF2B5EF4-FFF2-40B4-BE49-F238E27FC236}">
                    <a16:creationId xmlns:a16="http://schemas.microsoft.com/office/drawing/2014/main" id="{A151E029-1B84-1F86-94B5-B6A03EBFE95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203F6E"/>
              </a:solidFill>
              <a:ln w="25400">
                <a:solidFill>
                  <a:srgbClr val="203F6E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1" rIns="91440" bIns="4572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001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6071134-DB57-822B-BB8F-C2645FF8658A}"/>
                </a:ext>
              </a:extLst>
            </p:cNvPr>
            <p:cNvGrpSpPr/>
            <p:nvPr/>
          </p:nvGrpSpPr>
          <p:grpSpPr>
            <a:xfrm>
              <a:off x="5937544" y="2483578"/>
              <a:ext cx="1045498" cy="1027114"/>
              <a:chOff x="2734379" y="4342226"/>
              <a:chExt cx="1045498" cy="1027114"/>
            </a:xfrm>
          </p:grpSpPr>
          <p:sp>
            <p:nvSpPr>
              <p:cNvPr id="35" name="文本框 35">
                <a:extLst>
                  <a:ext uri="{FF2B5EF4-FFF2-40B4-BE49-F238E27FC236}">
                    <a16:creationId xmlns:a16="http://schemas.microsoft.com/office/drawing/2014/main" id="{3C9A55CC-EF08-A5B4-E7F4-8AEFA1CA4E36}"/>
                  </a:ext>
                </a:extLst>
              </p:cNvPr>
              <p:cNvSpPr txBox="1"/>
              <p:nvPr/>
            </p:nvSpPr>
            <p:spPr>
              <a:xfrm>
                <a:off x="2734379" y="4342226"/>
                <a:ext cx="1031437" cy="772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24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36" name="文本框 36">
                <a:extLst>
                  <a:ext uri="{FF2B5EF4-FFF2-40B4-BE49-F238E27FC236}">
                    <a16:creationId xmlns:a16="http://schemas.microsoft.com/office/drawing/2014/main" id="{E32645B7-7AB0-0310-D12E-40C2BD942FDD}"/>
                  </a:ext>
                </a:extLst>
              </p:cNvPr>
              <p:cNvSpPr txBox="1"/>
              <p:nvPr/>
            </p:nvSpPr>
            <p:spPr>
              <a:xfrm>
                <a:off x="2738816" y="4957030"/>
                <a:ext cx="1041061" cy="412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1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001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pic>
        <p:nvPicPr>
          <p:cNvPr id="60" name="图片 59">
            <a:extLst>
              <a:ext uri="{FF2B5EF4-FFF2-40B4-BE49-F238E27FC236}">
                <a16:creationId xmlns:a16="http://schemas.microsoft.com/office/drawing/2014/main" id="{B1566ADB-1C55-5730-2A2C-471966259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405" y="1291897"/>
            <a:ext cx="2337407" cy="2268267"/>
          </a:xfrm>
          <a:prstGeom prst="rect">
            <a:avLst/>
          </a:prstGeom>
        </p:spPr>
      </p:pic>
      <p:grpSp>
        <p:nvGrpSpPr>
          <p:cNvPr id="80" name="组合 79">
            <a:extLst>
              <a:ext uri="{FF2B5EF4-FFF2-40B4-BE49-F238E27FC236}">
                <a16:creationId xmlns:a16="http://schemas.microsoft.com/office/drawing/2014/main" id="{B38ADED9-72C0-DB66-9ECD-F12CE9D608E9}"/>
              </a:ext>
            </a:extLst>
          </p:cNvPr>
          <p:cNvGrpSpPr/>
          <p:nvPr/>
        </p:nvGrpSpPr>
        <p:grpSpPr>
          <a:xfrm>
            <a:off x="751395" y="2966786"/>
            <a:ext cx="1723348" cy="1570361"/>
            <a:chOff x="751388" y="2966779"/>
            <a:chExt cx="1723347" cy="1570361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D7179281-26BB-A2F5-5EB6-EA05A5F2B04D}"/>
                </a:ext>
              </a:extLst>
            </p:cNvPr>
            <p:cNvCxnSpPr>
              <a:cxnSpLocks/>
            </p:cNvCxnSpPr>
            <p:nvPr/>
          </p:nvCxnSpPr>
          <p:spPr>
            <a:xfrm>
              <a:off x="1609576" y="2966779"/>
              <a:ext cx="0" cy="924441"/>
            </a:xfrm>
            <a:prstGeom prst="line">
              <a:avLst/>
            </a:prstGeom>
            <a:ln w="38100" cap="rnd">
              <a:solidFill>
                <a:schemeClr val="bg1">
                  <a:lumMod val="50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AF06D588-C41F-AB60-0C02-FDEB084103D8}"/>
                </a:ext>
              </a:extLst>
            </p:cNvPr>
            <p:cNvSpPr/>
            <p:nvPr/>
          </p:nvSpPr>
          <p:spPr>
            <a:xfrm>
              <a:off x="751388" y="3979156"/>
              <a:ext cx="1723347" cy="55798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1" dirty="0"/>
                <a:t>扎实的基本功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9B41696-5167-C1F5-5751-0DEAF0526806}"/>
              </a:ext>
            </a:extLst>
          </p:cNvPr>
          <p:cNvGrpSpPr/>
          <p:nvPr/>
        </p:nvGrpSpPr>
        <p:grpSpPr>
          <a:xfrm>
            <a:off x="3088854" y="2966786"/>
            <a:ext cx="1906641" cy="1570361"/>
            <a:chOff x="3088847" y="2966779"/>
            <a:chExt cx="1906641" cy="1570361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8F6A2C7F-D4FD-F295-E1EE-965466C7A593}"/>
                </a:ext>
              </a:extLst>
            </p:cNvPr>
            <p:cNvSpPr/>
            <p:nvPr/>
          </p:nvSpPr>
          <p:spPr>
            <a:xfrm>
              <a:off x="3088847" y="3979156"/>
              <a:ext cx="1906641" cy="55798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1" dirty="0"/>
                <a:t>建立编程思维</a:t>
              </a: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9CFB9CB7-47F5-B530-7B6A-0CB6245B501F}"/>
                </a:ext>
              </a:extLst>
            </p:cNvPr>
            <p:cNvCxnSpPr>
              <a:cxnSpLocks/>
            </p:cNvCxnSpPr>
            <p:nvPr/>
          </p:nvCxnSpPr>
          <p:spPr>
            <a:xfrm>
              <a:off x="4021383" y="2966779"/>
              <a:ext cx="0" cy="924441"/>
            </a:xfrm>
            <a:prstGeom prst="line">
              <a:avLst/>
            </a:prstGeom>
            <a:ln w="38100" cap="rnd">
              <a:solidFill>
                <a:schemeClr val="bg1">
                  <a:lumMod val="50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89F54D3-4267-C851-C8EB-56F2343274D2}"/>
              </a:ext>
            </a:extLst>
          </p:cNvPr>
          <p:cNvGrpSpPr/>
          <p:nvPr/>
        </p:nvGrpSpPr>
        <p:grpSpPr>
          <a:xfrm>
            <a:off x="5609610" y="2966786"/>
            <a:ext cx="1723348" cy="1570361"/>
            <a:chOff x="5609600" y="2966779"/>
            <a:chExt cx="1723347" cy="157036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6A6000E7-A581-89FA-FD93-9D6D4740C290}"/>
                </a:ext>
              </a:extLst>
            </p:cNvPr>
            <p:cNvSpPr/>
            <p:nvPr/>
          </p:nvSpPr>
          <p:spPr>
            <a:xfrm>
              <a:off x="5609600" y="3979156"/>
              <a:ext cx="1723347" cy="55798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1" dirty="0"/>
                <a:t>结合</a:t>
              </a:r>
              <a:r>
                <a:rPr lang="en-US" altLang="zh-CN" sz="1801" dirty="0"/>
                <a:t>AI</a:t>
              </a:r>
              <a:r>
                <a:rPr lang="zh-CN" altLang="en-US" sz="1801" dirty="0"/>
                <a:t>编码</a:t>
              </a:r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4480CE3F-219B-41CC-730A-AF1B3A8775D6}"/>
                </a:ext>
              </a:extLst>
            </p:cNvPr>
            <p:cNvCxnSpPr>
              <a:cxnSpLocks/>
            </p:cNvCxnSpPr>
            <p:nvPr/>
          </p:nvCxnSpPr>
          <p:spPr>
            <a:xfrm>
              <a:off x="6494559" y="2966779"/>
              <a:ext cx="0" cy="924441"/>
            </a:xfrm>
            <a:prstGeom prst="line">
              <a:avLst/>
            </a:prstGeom>
            <a:ln w="38100" cap="rnd">
              <a:solidFill>
                <a:schemeClr val="bg1">
                  <a:lumMod val="50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732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9007</TotalTime>
  <Words>126</Words>
  <Application>Microsoft Office PowerPoint</Application>
  <PresentationFormat>宽屏</PresentationFormat>
  <Paragraphs>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Alibaba PuHuiTi B</vt:lpstr>
      <vt:lpstr>阿里巴巴普惠体 Heavy</vt:lpstr>
      <vt:lpstr>阿里巴巴普惠体 Medium</vt:lpstr>
      <vt:lpstr>等线</vt:lpstr>
      <vt:lpstr>楷体</vt:lpstr>
      <vt:lpstr>时尚中黑简体</vt:lpstr>
      <vt:lpstr>Microsoft YaHei</vt:lpstr>
      <vt:lpstr>造字工房悦黑（非商用）常规体</vt:lpstr>
      <vt:lpstr>Arial</vt:lpstr>
      <vt:lpstr>Calisto MT</vt:lpstr>
      <vt:lpstr>Impact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Java 课程介绍</vt:lpstr>
      <vt:lpstr>PowerPoint 演示文稿</vt:lpstr>
      <vt:lpstr>PowerPoint 演示文稿</vt:lpstr>
      <vt:lpstr>课程背景</vt:lpstr>
      <vt:lpstr>课程背景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370</cp:revision>
  <cp:lastPrinted>2022-05-29T16:00:00Z</cp:lastPrinted>
  <dcterms:created xsi:type="dcterms:W3CDTF">2022-05-29T16:00:00Z</dcterms:created>
  <dcterms:modified xsi:type="dcterms:W3CDTF">2025-02-08T14:03:13Z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