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4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  <p:sldMasterId id="2147483660" r:id="rId3"/>
    <p:sldMasterId id="2147483672" r:id="rId4"/>
    <p:sldMasterId id="2147483679" r:id="rId5"/>
  </p:sldMasterIdLst>
  <p:notesMasterIdLst>
    <p:notesMasterId r:id="rId24"/>
  </p:notesMasterIdLst>
  <p:handoutMasterIdLst>
    <p:handoutMasterId r:id="rId25"/>
  </p:handoutMasterIdLst>
  <p:sldIdLst>
    <p:sldId id="280" r:id="rId6"/>
    <p:sldId id="308" r:id="rId7"/>
    <p:sldId id="440" r:id="rId8"/>
    <p:sldId id="317" r:id="rId9"/>
    <p:sldId id="2666" r:id="rId10"/>
    <p:sldId id="1536" r:id="rId11"/>
    <p:sldId id="2667" r:id="rId12"/>
    <p:sldId id="2668" r:id="rId13"/>
    <p:sldId id="2669" r:id="rId14"/>
    <p:sldId id="2670" r:id="rId15"/>
    <p:sldId id="2671" r:id="rId16"/>
    <p:sldId id="2672" r:id="rId17"/>
    <p:sldId id="2673" r:id="rId18"/>
    <p:sldId id="2676" r:id="rId19"/>
    <p:sldId id="2674" r:id="rId20"/>
    <p:sldId id="2675" r:id="rId21"/>
    <p:sldId id="1016" r:id="rId22"/>
    <p:sldId id="288" r:id="rId23"/>
  </p:sldIdLst>
  <p:sldSz cx="12192000" cy="6858000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D8D2"/>
    <a:srgbClr val="EC2025"/>
    <a:srgbClr val="F22126"/>
    <a:srgbClr val="E5E5E5"/>
    <a:srgbClr val="0067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16" autoAdjust="0"/>
    <p:restoredTop sz="94676" autoAdjust="0"/>
  </p:normalViewPr>
  <p:slideViewPr>
    <p:cSldViewPr snapToGrid="0" showGuides="1">
      <p:cViewPr varScale="1">
        <p:scale>
          <a:sx n="91" d="100"/>
          <a:sy n="91" d="100"/>
        </p:scale>
        <p:origin x="56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18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gs" Target="tags/tag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23121D-534D-C18D-86F2-F8B084E7F1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4E421-5F99-33C1-6C60-3D67F5BBC3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1D20C-92F4-4D32-92CD-1278806BF344}" type="datetimeFigureOut">
              <a:rPr lang="zh-CN" altLang="en-US" smtClean="0"/>
              <a:t>2025/2/14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CEAC0C-2766-8EA5-AFAC-04E2AE7E12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69A8BD-4CEA-8355-A923-3DE76C669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7DA4C-D0A3-441A-A01E-F1F72C62F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079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2025/2/14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>
            <a:extLst>
              <a:ext uri="{FF2B5EF4-FFF2-40B4-BE49-F238E27FC236}">
                <a16:creationId xmlns:a16="http://schemas.microsoft.com/office/drawing/2014/main" id="{67808F41-F14C-4E4D-A95C-18F4FC8AB28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备注占位符 2">
            <a:extLst>
              <a:ext uri="{FF2B5EF4-FFF2-40B4-BE49-F238E27FC236}">
                <a16:creationId xmlns:a16="http://schemas.microsoft.com/office/drawing/2014/main" id="{09F2842E-82FC-4783-ACA9-2C56B7286EF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30724" name="灯片编号占位符 3">
            <a:extLst>
              <a:ext uri="{FF2B5EF4-FFF2-40B4-BE49-F238E27FC236}">
                <a16:creationId xmlns:a16="http://schemas.microsoft.com/office/drawing/2014/main" id="{C3FE3E45-AC92-44C4-AAEF-C9ACF1728C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E4CA675A-7CB1-4758-83C3-8A56947F5A34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69C0D-57C1-973B-910A-BA04E2EE6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>
            <a:extLst>
              <a:ext uri="{FF2B5EF4-FFF2-40B4-BE49-F238E27FC236}">
                <a16:creationId xmlns:a16="http://schemas.microsoft.com/office/drawing/2014/main" id="{7BAD8BA1-BEE8-E9F6-17B8-56EC06A75F0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备注占位符 2">
            <a:extLst>
              <a:ext uri="{FF2B5EF4-FFF2-40B4-BE49-F238E27FC236}">
                <a16:creationId xmlns:a16="http://schemas.microsoft.com/office/drawing/2014/main" id="{8944EAD2-3112-DCA3-B746-5715206135D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30724" name="灯片编号占位符 3">
            <a:extLst>
              <a:ext uri="{FF2B5EF4-FFF2-40B4-BE49-F238E27FC236}">
                <a16:creationId xmlns:a16="http://schemas.microsoft.com/office/drawing/2014/main" id="{8B3AAC18-5E56-0F1A-D4AC-213ADB21EA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E4CA675A-7CB1-4758-83C3-8A56947F5A34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2351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1AA51-BE97-4455-92B6-DF262718A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>
            <a:extLst>
              <a:ext uri="{FF2B5EF4-FFF2-40B4-BE49-F238E27FC236}">
                <a16:creationId xmlns:a16="http://schemas.microsoft.com/office/drawing/2014/main" id="{E1B36C33-EB0A-8E2C-AD28-02C4C85F060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备注占位符 2">
            <a:extLst>
              <a:ext uri="{FF2B5EF4-FFF2-40B4-BE49-F238E27FC236}">
                <a16:creationId xmlns:a16="http://schemas.microsoft.com/office/drawing/2014/main" id="{2BBE9DE1-F9F9-FA26-8D12-58F77F0CBAE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30724" name="灯片编号占位符 3">
            <a:extLst>
              <a:ext uri="{FF2B5EF4-FFF2-40B4-BE49-F238E27FC236}">
                <a16:creationId xmlns:a16="http://schemas.microsoft.com/office/drawing/2014/main" id="{ED188FB8-E80D-E484-C129-393A05DD7C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E4CA675A-7CB1-4758-83C3-8A56947F5A34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99008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EACA3-2771-162B-ACE0-6438C852D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>
            <a:extLst>
              <a:ext uri="{FF2B5EF4-FFF2-40B4-BE49-F238E27FC236}">
                <a16:creationId xmlns:a16="http://schemas.microsoft.com/office/drawing/2014/main" id="{38974C8A-09B6-91CB-6BB3-FB8D737651A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备注占位符 2">
            <a:extLst>
              <a:ext uri="{FF2B5EF4-FFF2-40B4-BE49-F238E27FC236}">
                <a16:creationId xmlns:a16="http://schemas.microsoft.com/office/drawing/2014/main" id="{3CFA0234-8B9C-BC88-BC7D-54C4944674D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30724" name="灯片编号占位符 3">
            <a:extLst>
              <a:ext uri="{FF2B5EF4-FFF2-40B4-BE49-F238E27FC236}">
                <a16:creationId xmlns:a16="http://schemas.microsoft.com/office/drawing/2014/main" id="{6B9419E6-7DE9-6048-90FC-222ADFBE9A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E4CA675A-7CB1-4758-83C3-8A56947F5A34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17100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932D5-6CA1-03BA-FDE8-BE849ECEF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>
            <a:extLst>
              <a:ext uri="{FF2B5EF4-FFF2-40B4-BE49-F238E27FC236}">
                <a16:creationId xmlns:a16="http://schemas.microsoft.com/office/drawing/2014/main" id="{701A502C-D5FB-C397-2B5F-D943F23C8AF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备注占位符 2">
            <a:extLst>
              <a:ext uri="{FF2B5EF4-FFF2-40B4-BE49-F238E27FC236}">
                <a16:creationId xmlns:a16="http://schemas.microsoft.com/office/drawing/2014/main" id="{8EB15BA8-1822-7A95-6026-E420D901950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30724" name="灯片编号占位符 3">
            <a:extLst>
              <a:ext uri="{FF2B5EF4-FFF2-40B4-BE49-F238E27FC236}">
                <a16:creationId xmlns:a16="http://schemas.microsoft.com/office/drawing/2014/main" id="{4D7D8569-2B4F-10E3-F3EC-D6C2B0ECD0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E4CA675A-7CB1-4758-83C3-8A56947F5A34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3342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71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67163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ea typeface="Alibaba PuHuiTi B" pitchFamily="18" charset="-122"/>
                </a:rPr>
                <a:t>步骤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180155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39810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E2BBC2-772E-7EE4-D242-D42D4DA45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68446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97969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lnSpc>
                <a:spcPct val="150000"/>
              </a:lnSpc>
              <a:buFont typeface="Wingdings" pitchFamily="2" charset="2"/>
              <a:buChar char="l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9FCFB1A-E1EE-3245-9778-ABB7ACB14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>
            <a:extLst>
              <a:ext uri="{FF2B5EF4-FFF2-40B4-BE49-F238E27FC236}">
                <a16:creationId xmlns:a16="http://schemas.microsoft.com/office/drawing/2014/main" id="{2DD40269-A2A6-814E-991D-1DBB128738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356537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3136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7188863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3976812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>
            <a:extLst>
              <a:ext uri="{FF2B5EF4-FFF2-40B4-BE49-F238E27FC236}">
                <a16:creationId xmlns:a16="http://schemas.microsoft.com/office/drawing/2014/main" id="{A2C6D317-56F4-9711-5A26-95000236D36F}"/>
              </a:ext>
            </a:extLst>
          </p:cNvPr>
          <p:cNvSpPr/>
          <p:nvPr userDrawn="1"/>
        </p:nvSpPr>
        <p:spPr>
          <a:xfrm>
            <a:off x="375011" y="1961115"/>
            <a:ext cx="220344" cy="2203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200C4C-3F9D-867C-E497-ADCB7E43A5BB}"/>
              </a:ext>
            </a:extLst>
          </p:cNvPr>
          <p:cNvSpPr/>
          <p:nvPr userDrawn="1"/>
        </p:nvSpPr>
        <p:spPr>
          <a:xfrm>
            <a:off x="2838084" y="-2028162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824A05E-CCAC-E012-444F-D8238FD3ABEF}"/>
              </a:ext>
            </a:extLst>
          </p:cNvPr>
          <p:cNvSpPr/>
          <p:nvPr userDrawn="1"/>
        </p:nvSpPr>
        <p:spPr>
          <a:xfrm>
            <a:off x="4568596" y="-297650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C93AF0E-4B39-C67D-D03D-00737E937EE7}"/>
              </a:ext>
            </a:extLst>
          </p:cNvPr>
          <p:cNvSpPr/>
          <p:nvPr userDrawn="1"/>
        </p:nvSpPr>
        <p:spPr>
          <a:xfrm>
            <a:off x="6170528" y="1304282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220686"/>
            <a:ext cx="10858500" cy="8690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 b="1" dirty="0">
                <a:solidFill>
                  <a:schemeClr val="accent1"/>
                </a:solidFill>
              </a:defRPr>
            </a:lvl1pPr>
          </a:lstStyle>
          <a:p>
            <a:pPr lvl="0" defTabSz="914354"/>
            <a:r>
              <a:rPr lang="zh-CN" altLang="en-US"/>
              <a:t>点击输入一级标题</a:t>
            </a:r>
            <a:endParaRPr lang="zh-CN" altLang="en-US" dirty="0"/>
          </a:p>
        </p:txBody>
      </p:sp>
      <p:sp>
        <p:nvSpPr>
          <p:cNvPr id="11" name="圆心2">
            <a:extLst>
              <a:ext uri="{FF2B5EF4-FFF2-40B4-BE49-F238E27FC236}">
                <a16:creationId xmlns:a16="http://schemas.microsoft.com/office/drawing/2014/main" id="{6F73DB22-8BD9-67FD-6EBE-B56D6BF83FC2}"/>
              </a:ext>
            </a:extLst>
          </p:cNvPr>
          <p:cNvSpPr/>
          <p:nvPr/>
        </p:nvSpPr>
        <p:spPr>
          <a:xfrm>
            <a:off x="7262969" y="2396723"/>
            <a:ext cx="435738" cy="435738"/>
          </a:xfrm>
          <a:prstGeom prst="ellipse">
            <a:avLst/>
          </a:prstGeom>
          <a:solidFill>
            <a:schemeClr val="accent1"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心">
            <a:extLst>
              <a:ext uri="{FF2B5EF4-FFF2-40B4-BE49-F238E27FC236}">
                <a16:creationId xmlns:a16="http://schemas.microsoft.com/office/drawing/2014/main" id="{82339D60-0D0F-E0A8-9FEF-57B1B018D0C7}"/>
              </a:ext>
            </a:extLst>
          </p:cNvPr>
          <p:cNvSpPr/>
          <p:nvPr userDrawn="1"/>
        </p:nvSpPr>
        <p:spPr>
          <a:xfrm>
            <a:off x="7414470" y="2547358"/>
            <a:ext cx="132735" cy="13273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241F82-E1B0-0249-A9D6-2656A3C64CB7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60400" y="3586894"/>
            <a:ext cx="4486275" cy="563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/>
              <a:t>点击输入副标题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F4E1EF7-DD7F-C77D-A571-C682C80AC047}"/>
              </a:ext>
            </a:extLst>
          </p:cNvPr>
          <p:cNvSpPr/>
          <p:nvPr userDrawn="1"/>
        </p:nvSpPr>
        <p:spPr>
          <a:xfrm>
            <a:off x="485183" y="1962438"/>
            <a:ext cx="350434" cy="3504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C9B1B7-3BA3-1D3F-637E-1B77EAD927E4}"/>
              </a:ext>
            </a:extLst>
          </p:cNvPr>
          <p:cNvSpPr txBox="1"/>
          <p:nvPr userDrawn="1"/>
        </p:nvSpPr>
        <p:spPr>
          <a:xfrm>
            <a:off x="660399" y="6111671"/>
            <a:ext cx="80657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6DEFC5-AB31-715D-5481-255694BCA629}"/>
              </a:ext>
            </a:extLst>
          </p:cNvPr>
          <p:cNvSpPr/>
          <p:nvPr userDrawn="1"/>
        </p:nvSpPr>
        <p:spPr>
          <a:xfrm>
            <a:off x="720618" y="5942536"/>
            <a:ext cx="2001676" cy="636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长直线">
            <a:extLst>
              <a:ext uri="{FF2B5EF4-FFF2-40B4-BE49-F238E27FC236}">
                <a16:creationId xmlns:a16="http://schemas.microsoft.com/office/drawing/2014/main" id="{29F34751-B9FF-378D-D7A3-B7B27A91478D}"/>
              </a:ext>
            </a:extLst>
          </p:cNvPr>
          <p:cNvCxnSpPr>
            <a:cxnSpLocks/>
          </p:cNvCxnSpPr>
          <p:nvPr userDrawn="1"/>
        </p:nvCxnSpPr>
        <p:spPr>
          <a:xfrm>
            <a:off x="7858832" y="2124884"/>
            <a:ext cx="129159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短直线">
            <a:extLst>
              <a:ext uri="{FF2B5EF4-FFF2-40B4-BE49-F238E27FC236}">
                <a16:creationId xmlns:a16="http://schemas.microsoft.com/office/drawing/2014/main" id="{E9D012F5-DFB7-A078-3B1C-F9FE02E47E91}"/>
              </a:ext>
            </a:extLst>
          </p:cNvPr>
          <p:cNvCxnSpPr/>
          <p:nvPr userDrawn="1"/>
        </p:nvCxnSpPr>
        <p:spPr>
          <a:xfrm flipV="1">
            <a:off x="7550306" y="2124884"/>
            <a:ext cx="308526" cy="26631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形 8">
            <a:extLst>
              <a:ext uri="{FF2B5EF4-FFF2-40B4-BE49-F238E27FC236}">
                <a16:creationId xmlns:a16="http://schemas.microsoft.com/office/drawing/2014/main" id="{EA3F6F4D-08CF-9E00-D954-69D3520E64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1E490B8-2AEA-ACCD-9526-01BED78DEB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4276" flipH="1" flipV="1">
            <a:off x="3592764" y="481454"/>
            <a:ext cx="9317253" cy="6210881"/>
          </a:xfrm>
          <a:prstGeom prst="rect">
            <a:avLst/>
          </a:prstGeom>
        </p:spPr>
      </p:pic>
      <p:sp>
        <p:nvSpPr>
          <p:cNvPr id="14" name="文本框">
            <a:extLst>
              <a:ext uri="{FF2B5EF4-FFF2-40B4-BE49-F238E27FC236}">
                <a16:creationId xmlns:a16="http://schemas.microsoft.com/office/drawing/2014/main" id="{C37184BC-D315-706A-20DF-529BAFF1993E}"/>
              </a:ext>
            </a:extLst>
          </p:cNvPr>
          <p:cNvSpPr txBox="1"/>
          <p:nvPr userDrawn="1"/>
        </p:nvSpPr>
        <p:spPr>
          <a:xfrm>
            <a:off x="8399534" y="1847885"/>
            <a:ext cx="1366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solidFill>
                  <a:schemeClr val="accent1"/>
                </a:solidFill>
              </a:rPr>
              <a:t>AI Copilot 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3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7" grpId="0" animBg="1"/>
      <p:bldP spid="16" grpId="0" animBg="1"/>
      <p:bldP spid="11" grpId="0" animBg="1"/>
      <p:bldP spid="12" grpId="0" animBg="1"/>
      <p:bldP spid="14" grpId="0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完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9C7E64E7-1F0A-79D2-A263-3605467F0B51}"/>
              </a:ext>
            </a:extLst>
          </p:cNvPr>
          <p:cNvSpPr/>
          <p:nvPr userDrawn="1"/>
        </p:nvSpPr>
        <p:spPr>
          <a:xfrm>
            <a:off x="1367628" y="-121375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8A0D84D-155A-2194-ED3A-5A7CB9A4B72A}"/>
              </a:ext>
            </a:extLst>
          </p:cNvPr>
          <p:cNvSpPr/>
          <p:nvPr userDrawn="1"/>
        </p:nvSpPr>
        <p:spPr>
          <a:xfrm>
            <a:off x="3098140" y="51675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F7740DA-4F67-1648-9FE7-BA25A7F2910D}"/>
              </a:ext>
            </a:extLst>
          </p:cNvPr>
          <p:cNvSpPr/>
          <p:nvPr userDrawn="1"/>
        </p:nvSpPr>
        <p:spPr>
          <a:xfrm>
            <a:off x="4700072" y="211869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iṩ1iḍé">
            <a:extLst>
              <a:ext uri="{FF2B5EF4-FFF2-40B4-BE49-F238E27FC236}">
                <a16:creationId xmlns:a16="http://schemas.microsoft.com/office/drawing/2014/main" id="{7F87E56D-6D24-DF28-4A8B-DD94A5588CCD}"/>
              </a:ext>
            </a:extLst>
          </p:cNvPr>
          <p:cNvSpPr/>
          <p:nvPr userDrawn="1"/>
        </p:nvSpPr>
        <p:spPr>
          <a:xfrm>
            <a:off x="0" y="2689964"/>
            <a:ext cx="12192000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outerShdw blurRad="139700" dist="76200" dir="4560000" algn="t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7CD92EE-FE45-4CC1-22A5-2D2AFAEDCC3F}"/>
              </a:ext>
            </a:extLst>
          </p:cNvPr>
          <p:cNvGrpSpPr/>
          <p:nvPr userDrawn="1"/>
        </p:nvGrpSpPr>
        <p:grpSpPr>
          <a:xfrm>
            <a:off x="3131925" y="2916806"/>
            <a:ext cx="4953838" cy="853924"/>
            <a:chOff x="3131925" y="2844887"/>
            <a:chExt cx="4953838" cy="853924"/>
          </a:xfrm>
        </p:grpSpPr>
        <p:pic>
          <p:nvPicPr>
            <p:cNvPr id="33" name="图片 1">
              <a:extLst>
                <a:ext uri="{FF2B5EF4-FFF2-40B4-BE49-F238E27FC236}">
                  <a16:creationId xmlns:a16="http://schemas.microsoft.com/office/drawing/2014/main" id="{C64F9D38-0ED4-99F8-903A-45555ADF80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627"/>
            <a:stretch/>
          </p:blipFill>
          <p:spPr bwMode="auto">
            <a:xfrm>
              <a:off x="3131925" y="2844887"/>
              <a:ext cx="2948463" cy="853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2C68E28-2375-6922-E133-284E7821B4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10382" y="3154751"/>
              <a:ext cx="0" cy="3801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7DE38E-8849-1998-75E8-89E432D90EBE}"/>
                </a:ext>
              </a:extLst>
            </p:cNvPr>
            <p:cNvSpPr txBox="1"/>
            <p:nvPr userDrawn="1"/>
          </p:nvSpPr>
          <p:spPr>
            <a:xfrm>
              <a:off x="6096001" y="3021658"/>
              <a:ext cx="19897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传智教育旗下</a:t>
              </a:r>
              <a:endParaRPr lang="en-US" altLang="zh-CN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高端</a:t>
              </a:r>
              <a:r>
                <a:rPr lang="en-US" altLang="zh-CN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IT</a:t>
              </a:r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教育品牌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0038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>
            <a:extLst>
              <a:ext uri="{FF2B5EF4-FFF2-40B4-BE49-F238E27FC236}">
                <a16:creationId xmlns:a16="http://schemas.microsoft.com/office/drawing/2014/main" id="{34FB0A6B-66AE-D2A8-FCAE-415D3251A19B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539A05-556B-81A4-0795-3B191CB53943}"/>
              </a:ext>
            </a:extLst>
          </p:cNvPr>
          <p:cNvSpPr/>
          <p:nvPr userDrawn="1"/>
        </p:nvSpPr>
        <p:spPr>
          <a:xfrm>
            <a:off x="1832990" y="-2841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0CECE50-264B-8294-A89A-D0F8A1907A78}"/>
              </a:ext>
            </a:extLst>
          </p:cNvPr>
          <p:cNvSpPr/>
          <p:nvPr userDrawn="1"/>
        </p:nvSpPr>
        <p:spPr>
          <a:xfrm>
            <a:off x="3434922" y="1599091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87C0C2E-27D7-4123-B01F-3144FCE1E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568416">
            <a:off x="90962" y="381112"/>
            <a:ext cx="4016078" cy="572022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F041D8F-DCC0-35B8-2AA2-F0A7BAB253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20629034">
            <a:off x="-3526421" y="-821074"/>
            <a:ext cx="4016077" cy="5720225"/>
          </a:xfrm>
          <a:prstGeom prst="rect">
            <a:avLst/>
          </a:prstGeom>
        </p:spPr>
      </p:pic>
      <p:sp>
        <p:nvSpPr>
          <p:cNvPr id="19" name="椭圆 18">
            <a:extLst>
              <a:ext uri="{FF2B5EF4-FFF2-40B4-BE49-F238E27FC236}">
                <a16:creationId xmlns:a16="http://schemas.microsoft.com/office/drawing/2014/main" id="{C3296A99-F5C4-3E6A-FF6E-4852C12DEE94}"/>
              </a:ext>
            </a:extLst>
          </p:cNvPr>
          <p:cNvSpPr/>
          <p:nvPr userDrawn="1"/>
        </p:nvSpPr>
        <p:spPr>
          <a:xfrm>
            <a:off x="4631217" y="3066159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圆心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184938" y="2356361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C6ED1A-7B72-CBE7-8DC0-8CA41549B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34081" y="2465278"/>
            <a:ext cx="3397250" cy="901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3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F3EC600-D80B-73CA-E06E-8768FDEAA4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2239" y="2675622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029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01 0.175297 E" pathEditMode="relative" ptsTypes="">
                                      <p:cBhvr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701 -0.175297 L 0 0 E" pathEditMode="relative" ptsTypes="">
                                      <p:cBhvr>
                                        <p:cTn id="14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0" to="1539382">
                                      <p:cBhvr>
                                        <p:cTn id="2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-1539382" to="0">
                                      <p:cBhvr>
                                        <p:cTn id="22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-1.85185E-6 L 0.0168 0.02986 " pathEditMode="relative" rAng="0" ptsTypes="AA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3" y="1481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animBg="1"/>
      <p:bldP spid="5" grpId="0" animBg="1"/>
      <p:bldP spid="19" grpId="0" animBg="1"/>
      <p:bldP spid="19" grpId="1" animBg="1"/>
      <p:bldP spid="17" grpId="0" animBg="1"/>
      <p:bldP spid="4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0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6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目录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椭圆 15">
            <a:extLst>
              <a:ext uri="{FF2B5EF4-FFF2-40B4-BE49-F238E27FC236}">
                <a16:creationId xmlns:a16="http://schemas.microsoft.com/office/drawing/2014/main" id="{B46198AC-367B-0D53-9173-FC8CA63C085D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EB1B61C-49CF-BE5E-D897-0E6165887E9C}"/>
              </a:ext>
            </a:extLst>
          </p:cNvPr>
          <p:cNvSpPr/>
          <p:nvPr userDrawn="1"/>
        </p:nvSpPr>
        <p:spPr>
          <a:xfrm>
            <a:off x="1832990" y="-2841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2399A25-BD86-E6C4-1B6C-5E720BE7951F}"/>
              </a:ext>
            </a:extLst>
          </p:cNvPr>
          <p:cNvSpPr/>
          <p:nvPr userDrawn="1"/>
        </p:nvSpPr>
        <p:spPr>
          <a:xfrm>
            <a:off x="3434922" y="1599091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5BB57A5-2F78-87EC-D302-EA186869EB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568416">
            <a:off x="90962" y="381112"/>
            <a:ext cx="4016078" cy="572022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56F742F-78A8-9974-FA4F-56396F38C2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20629034">
            <a:off x="-3526421" y="-821074"/>
            <a:ext cx="4016077" cy="5720225"/>
          </a:xfrm>
          <a:prstGeom prst="rect">
            <a:avLst/>
          </a:prstGeom>
        </p:spPr>
      </p:pic>
      <p:sp>
        <p:nvSpPr>
          <p:cNvPr id="5" name="文本占位符 3">
            <a:extLst>
              <a:ext uri="{FF2B5EF4-FFF2-40B4-BE49-F238E27FC236}">
                <a16:creationId xmlns:a16="http://schemas.microsoft.com/office/drawing/2014/main" id="{3AF24492-4E99-231B-3CC0-5126876878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37223" y="2203928"/>
            <a:ext cx="3484714" cy="668338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2" name="文本占位符 25">
            <a:extLst>
              <a:ext uri="{FF2B5EF4-FFF2-40B4-BE49-F238E27FC236}">
                <a16:creationId xmlns:a16="http://schemas.microsoft.com/office/drawing/2014/main" id="{16A7C205-45D1-F79D-939F-C8FE0D7B4E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73412" y="2924828"/>
            <a:ext cx="3692525" cy="2206679"/>
          </a:xfrm>
          <a:prstGeom prst="rect">
            <a:avLst/>
          </a:prstGeom>
        </p:spPr>
        <p:txBody>
          <a:bodyPr anchor="t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2249AA4E-BDC6-696B-EF7C-D82E9F67C155}"/>
              </a:ext>
            </a:extLst>
          </p:cNvPr>
          <p:cNvSpPr/>
          <p:nvPr userDrawn="1"/>
        </p:nvSpPr>
        <p:spPr>
          <a:xfrm>
            <a:off x="4633274" y="3069963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心">
            <a:extLst>
              <a:ext uri="{FF2B5EF4-FFF2-40B4-BE49-F238E27FC236}">
                <a16:creationId xmlns:a16="http://schemas.microsoft.com/office/drawing/2014/main" id="{187CDF87-71AD-62FA-465E-4563734A654E}"/>
              </a:ext>
            </a:extLst>
          </p:cNvPr>
          <p:cNvSpPr/>
          <p:nvPr userDrawn="1"/>
        </p:nvSpPr>
        <p:spPr>
          <a:xfrm>
            <a:off x="4186995" y="2360165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0FA4BC60-2E49-93DC-4C3E-CA7B70C33E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4296" y="2679426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867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01 0.175297 E" pathEditMode="relative" ptsTypes="">
                                      <p:cBhvr>
                                        <p:cTn id="1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701 -0.175297 L 0 0 E" pathEditMode="relative" ptsTypes="">
                                      <p:cBhvr>
                                        <p:cTn id="14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14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12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0" to="1539382">
                                      <p:cBhvr>
                                        <p:cTn id="20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-1539382" to="0">
                                      <p:cBhvr>
                                        <p:cTn id="2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5E-6 3.7037E-6 L 0.0168 0.02986 " pathEditMode="relative" rAng="0" ptsTypes="AA">
                                      <p:cBhvr>
                                        <p:cTn id="5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3" y="1481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6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0" grpId="0" animBg="1"/>
      <p:bldP spid="11" grpId="0" animBg="1"/>
      <p:bldP spid="5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0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750"/>
                  </p:stCondLst>
                  <p:iterate type="wd">
                    <p:tmPct val="8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5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" grpId="0" animBg="1"/>
      <p:bldP spid="4" grpId="1" animBg="1"/>
      <p:bldP spid="6" grpId="0" animBg="1"/>
      <p:bldP spid="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6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>
            <a:extLst>
              <a:ext uri="{FF2B5EF4-FFF2-40B4-BE49-F238E27FC236}">
                <a16:creationId xmlns:a16="http://schemas.microsoft.com/office/drawing/2014/main" id="{E9A4C940-17A0-EAF5-1288-423099172492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0B0CBC4C-0370-FC83-EFE2-A4655072B969}"/>
              </a:ext>
            </a:extLst>
          </p:cNvPr>
          <p:cNvSpPr/>
          <p:nvPr userDrawn="1"/>
        </p:nvSpPr>
        <p:spPr>
          <a:xfrm>
            <a:off x="1832990" y="-2841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48C111F-EC00-73CD-D78D-B90FCF65990B}"/>
              </a:ext>
            </a:extLst>
          </p:cNvPr>
          <p:cNvSpPr/>
          <p:nvPr userDrawn="1"/>
        </p:nvSpPr>
        <p:spPr>
          <a:xfrm>
            <a:off x="3434922" y="1599091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EF8D094-C09B-FA07-5E8E-6D0A34E8E2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568416">
            <a:off x="90962" y="381112"/>
            <a:ext cx="4016078" cy="572022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50503D8-4014-AE09-8F7D-F2C94ED602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20629034">
            <a:off x="-3526421" y="-821074"/>
            <a:ext cx="4016077" cy="5720225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06715BF8-0A12-5796-1551-488CA6BA7E8B}"/>
              </a:ext>
            </a:extLst>
          </p:cNvPr>
          <p:cNvSpPr txBox="1"/>
          <p:nvPr userDrawn="1"/>
        </p:nvSpPr>
        <p:spPr>
          <a:xfrm>
            <a:off x="3768481" y="2334719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accent1">
                        <a:alpha val="15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CONTENT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6B50EE85-71F0-6A4A-F2C6-2ACBA4D846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58201" y="1662411"/>
            <a:ext cx="3692525" cy="2631150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27" name="标题文本">
            <a:extLst>
              <a:ext uri="{FF2B5EF4-FFF2-40B4-BE49-F238E27FC236}">
                <a16:creationId xmlns:a16="http://schemas.microsoft.com/office/drawing/2014/main" id="{32B4F824-6998-DCF1-0043-E682C565BE4E}"/>
              </a:ext>
            </a:extLst>
          </p:cNvPr>
          <p:cNvSpPr txBox="1"/>
          <p:nvPr userDrawn="1"/>
        </p:nvSpPr>
        <p:spPr>
          <a:xfrm flipH="1">
            <a:off x="4207329" y="2704247"/>
            <a:ext cx="109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accent1"/>
                </a:solidFill>
                <a:latin typeface="+mj-ea"/>
                <a:ea typeface="+mj-ea"/>
              </a:rPr>
              <a:t>目录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01 0.175297 E" pathEditMode="relative" ptsTypes="">
                                      <p:cBhvr>
                                        <p:cTn id="1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701 -0.175297 L 0 0 E" pathEditMode="relative" ptsTypes="">
                                      <p:cBhvr>
                                        <p:cTn id="1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11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10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0" to="1539382">
                                      <p:cBhvr>
                                        <p:cTn id="2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-1539382" to="0">
                                      <p:cBhvr>
                                        <p:cTn id="22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decel="10000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4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6" grpId="0" animBg="1"/>
      <p:bldP spid="7" grpId="0" animBg="1"/>
      <p:bldP spid="29" grpId="0"/>
      <p:bldP spid="26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8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0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/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0556" y="1720312"/>
            <a:ext cx="711411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82D0547-D899-4028-C68F-1B7E5E17FCC5}"/>
              </a:ext>
            </a:extLst>
          </p:cNvPr>
          <p:cNvSpPr txBox="1"/>
          <p:nvPr userDrawn="1"/>
        </p:nvSpPr>
        <p:spPr>
          <a:xfrm>
            <a:off x="720983" y="2862323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1" i="0">
                <a:gradFill flip="none" rotWithShape="1"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  <a:tileRect/>
                </a:gradFill>
                <a:effectLst/>
                <a:latin typeface="Calisto MT" panose="02040603050505030304" pitchFamily="18" charset="0"/>
              </a:defRPr>
            </a:lvl1pPr>
          </a:lstStyle>
          <a:p>
            <a:pPr lvl="0"/>
            <a:r>
              <a:rPr lang="en-US" altLang="zh-CN"/>
              <a:t>QUESTION</a:t>
            </a:r>
          </a:p>
        </p:txBody>
      </p:sp>
      <p:sp>
        <p:nvSpPr>
          <p:cNvPr id="12" name="íşľíďe">
            <a:extLst>
              <a:ext uri="{FF2B5EF4-FFF2-40B4-BE49-F238E27FC236}">
                <a16:creationId xmlns:a16="http://schemas.microsoft.com/office/drawing/2014/main" id="{66992E28-34C1-82B0-BBD1-9DB821AEB09B}"/>
              </a:ext>
            </a:extLst>
          </p:cNvPr>
          <p:cNvSpPr txBox="1"/>
          <p:nvPr userDrawn="1"/>
        </p:nvSpPr>
        <p:spPr>
          <a:xfrm flipH="1">
            <a:off x="1204297" y="3113661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63038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36569" y="1483864"/>
            <a:ext cx="7402227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2B1B9D1-DEFE-AB9B-7D57-D4044AED1257}"/>
              </a:ext>
            </a:extLst>
          </p:cNvPr>
          <p:cNvSpPr txBox="1"/>
          <p:nvPr userDrawn="1"/>
        </p:nvSpPr>
        <p:spPr>
          <a:xfrm>
            <a:off x="720983" y="2862323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1" i="0">
                <a:gradFill flip="none" rotWithShape="1"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  <a:tileRect/>
                </a:gradFill>
                <a:effectLst/>
                <a:latin typeface="Calisto MT" panose="02040603050505030304" pitchFamily="18" charset="0"/>
              </a:defRPr>
            </a:lvl1pPr>
          </a:lstStyle>
          <a:p>
            <a:pPr lvl="0"/>
            <a:r>
              <a:rPr lang="en-US" altLang="zh-CN"/>
              <a:t>BRIEF</a:t>
            </a:r>
          </a:p>
        </p:txBody>
      </p:sp>
      <p:sp>
        <p:nvSpPr>
          <p:cNvPr id="8" name="íşľíďe">
            <a:extLst>
              <a:ext uri="{FF2B5EF4-FFF2-40B4-BE49-F238E27FC236}">
                <a16:creationId xmlns:a16="http://schemas.microsoft.com/office/drawing/2014/main" id="{0A58CF2E-C9AD-567D-B72D-E69212797F03}"/>
              </a:ext>
            </a:extLst>
          </p:cNvPr>
          <p:cNvSpPr txBox="1"/>
          <p:nvPr userDrawn="1"/>
        </p:nvSpPr>
        <p:spPr>
          <a:xfrm flipH="1">
            <a:off x="1204297" y="3113661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4872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0229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 sz="1800" b="1"/>
            </a:lvl1pPr>
          </a:lstStyle>
          <a:p>
            <a:pPr lvl="0"/>
            <a:r>
              <a:rPr lang="zh-CN" altLang="en-US"/>
              <a:t>点击输入学习目标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3F17914-8286-2740-0111-F53CC3BDDD9A}"/>
              </a:ext>
            </a:extLst>
          </p:cNvPr>
          <p:cNvSpPr txBox="1"/>
          <p:nvPr userDrawn="1"/>
        </p:nvSpPr>
        <p:spPr>
          <a:xfrm>
            <a:off x="698224" y="2861141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1" i="0">
                <a:gradFill flip="none" rotWithShape="1"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  <a:tileRect/>
                </a:gradFill>
                <a:effectLst/>
                <a:latin typeface="Calisto MT" panose="02040603050505030304" pitchFamily="18" charset="0"/>
              </a:defRPr>
            </a:lvl1pPr>
          </a:lstStyle>
          <a:p>
            <a:pPr lvl="0"/>
            <a:r>
              <a:rPr lang="en-US" altLang="zh-CN"/>
              <a:t>TARGET</a:t>
            </a:r>
          </a:p>
        </p:txBody>
      </p:sp>
      <p:sp>
        <p:nvSpPr>
          <p:cNvPr id="8" name="íşľíďe">
            <a:extLst>
              <a:ext uri="{FF2B5EF4-FFF2-40B4-BE49-F238E27FC236}">
                <a16:creationId xmlns:a16="http://schemas.microsoft.com/office/drawing/2014/main" id="{FB3F6AA9-BBC1-E326-ABE9-AC067A990D01}"/>
              </a:ext>
            </a:extLst>
          </p:cNvPr>
          <p:cNvSpPr txBox="1"/>
          <p:nvPr userDrawn="1"/>
        </p:nvSpPr>
        <p:spPr>
          <a:xfrm flipH="1">
            <a:off x="1181538" y="3112479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5133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41842820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tx1">
                        <a:lumMod val="20000"/>
                        <a:lumOff val="80000"/>
                      </a:schemeClr>
                    </a:gs>
                    <a:gs pos="0">
                      <a:schemeClr val="tx1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tx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tx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2083421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tx1">
                        <a:lumMod val="20000"/>
                        <a:lumOff val="80000"/>
                      </a:schemeClr>
                    </a:gs>
                    <a:gs pos="0">
                      <a:schemeClr val="tx1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tx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tx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23706713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标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tx1">
                        <a:lumMod val="20000"/>
                        <a:lumOff val="80000"/>
                      </a:schemeClr>
                    </a:gs>
                    <a:gs pos="0">
                      <a:schemeClr val="tx1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tx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tx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28057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.png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21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 1">
            <a:extLst>
              <a:ext uri="{FF2B5EF4-FFF2-40B4-BE49-F238E27FC236}">
                <a16:creationId xmlns:a16="http://schemas.microsoft.com/office/drawing/2014/main" id="{2AF40A4C-1FC6-C591-0585-7320B21E30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91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9" r:id="rId3"/>
    <p:sldLayoutId id="2147483666" r:id="rId4"/>
    <p:sldLayoutId id="2147483677" r:id="rId5"/>
    <p:sldLayoutId id="2147483678" r:id="rId6"/>
    <p:sldLayoutId id="2147483686" r:id="rId7"/>
    <p:sldLayoutId id="2147483687" r:id="rId8"/>
    <p:sldLayoutId id="2147483689" r:id="rId9"/>
    <p:sldLayoutId id="2147483690" r:id="rId10"/>
    <p:sldLayoutId id="2147483691" r:id="rId11"/>
    <p:sldLayoutId id="214748369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5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>
            <a:extLst>
              <a:ext uri="{FF2B5EF4-FFF2-40B4-BE49-F238E27FC236}">
                <a16:creationId xmlns:a16="http://schemas.microsoft.com/office/drawing/2014/main" id="{D5FC8854-8C90-CD00-F013-8034EF541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30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形 8">
            <a:extLst>
              <a:ext uri="{FF2B5EF4-FFF2-40B4-BE49-F238E27FC236}">
                <a16:creationId xmlns:a16="http://schemas.microsoft.com/office/drawing/2014/main" id="{BCFD639D-1352-0D42-CD8B-5023302854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sp>
        <p:nvSpPr>
          <p:cNvPr id="32" name="椭圆 31">
            <a:extLst>
              <a:ext uri="{FF2B5EF4-FFF2-40B4-BE49-F238E27FC236}">
                <a16:creationId xmlns:a16="http://schemas.microsoft.com/office/drawing/2014/main" id="{3B0EC498-20A1-566B-4915-5207C059B018}"/>
              </a:ext>
            </a:extLst>
          </p:cNvPr>
          <p:cNvSpPr/>
          <p:nvPr userDrawn="1"/>
        </p:nvSpPr>
        <p:spPr>
          <a:xfrm>
            <a:off x="751355" y="2336538"/>
            <a:ext cx="2111502" cy="2111502"/>
          </a:xfrm>
          <a:prstGeom prst="ellipse">
            <a:avLst/>
          </a:prstGeom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558725F1-EF53-00F4-5D5F-187168DD6A01}"/>
              </a:ext>
            </a:extLst>
          </p:cNvPr>
          <p:cNvSpPr/>
          <p:nvPr userDrawn="1"/>
        </p:nvSpPr>
        <p:spPr>
          <a:xfrm>
            <a:off x="-625683" y="959500"/>
            <a:ext cx="4865579" cy="4865579"/>
          </a:xfrm>
          <a:prstGeom prst="ellipse">
            <a:avLst/>
          </a:prstGeom>
          <a:noFill/>
          <a:ln w="12700" cap="flat" cmpd="sng" algn="ctr">
            <a:solidFill>
              <a:schemeClr val="accent1">
                <a:alpha val="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E0CB1513-F0AF-DFD8-F01B-E3C9C30338CD}"/>
              </a:ext>
            </a:extLst>
          </p:cNvPr>
          <p:cNvSpPr/>
          <p:nvPr userDrawn="1"/>
        </p:nvSpPr>
        <p:spPr>
          <a:xfrm>
            <a:off x="255264" y="1840447"/>
            <a:ext cx="3103685" cy="3103685"/>
          </a:xfrm>
          <a:prstGeom prst="ellipse">
            <a:avLst/>
          </a:prstGeom>
          <a:noFill/>
          <a:ln>
            <a:solidFill>
              <a:schemeClr val="accent1">
                <a:alpha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068B7EDE-A4CF-8360-8241-A673D650AA78}"/>
              </a:ext>
            </a:extLst>
          </p:cNvPr>
          <p:cNvSpPr/>
          <p:nvPr userDrawn="1"/>
        </p:nvSpPr>
        <p:spPr>
          <a:xfrm>
            <a:off x="-1544721" y="-114518"/>
            <a:ext cx="7013615" cy="7013615"/>
          </a:xfrm>
          <a:prstGeom prst="ellipse">
            <a:avLst/>
          </a:prstGeom>
          <a:noFill/>
          <a:ln w="12700" cap="flat" cmpd="sng" algn="ctr">
            <a:solidFill>
              <a:schemeClr val="accent1">
                <a:alpha val="3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D51DB15-8344-2ACA-142F-30B0A0200C56}"/>
              </a:ext>
            </a:extLst>
          </p:cNvPr>
          <p:cNvSpPr/>
          <p:nvPr userDrawn="1"/>
        </p:nvSpPr>
        <p:spPr>
          <a:xfrm>
            <a:off x="3015513" y="0"/>
            <a:ext cx="6784703" cy="6858000"/>
          </a:xfrm>
          <a:prstGeom prst="rect">
            <a:avLst/>
          </a:prstGeom>
          <a:gradFill flip="none" rotWithShape="1">
            <a:gsLst>
              <a:gs pos="27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41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8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椭圆 10">
            <a:extLst>
              <a:ext uri="{FF2B5EF4-FFF2-40B4-BE49-F238E27FC236}">
                <a16:creationId xmlns:a16="http://schemas.microsoft.com/office/drawing/2014/main" id="{40922FA6-892F-6E62-25A7-4EFD4311B4B7}"/>
              </a:ext>
            </a:extLst>
          </p:cNvPr>
          <p:cNvSpPr/>
          <p:nvPr userDrawn="1"/>
        </p:nvSpPr>
        <p:spPr>
          <a:xfrm>
            <a:off x="573736" y="4742367"/>
            <a:ext cx="588089" cy="588089"/>
          </a:xfrm>
          <a:prstGeom prst="ellipse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89EB921-EFFD-8A13-0578-9909E3F67A28}"/>
              </a:ext>
            </a:extLst>
          </p:cNvPr>
          <p:cNvSpPr/>
          <p:nvPr userDrawn="1"/>
        </p:nvSpPr>
        <p:spPr>
          <a:xfrm>
            <a:off x="2449602" y="4027163"/>
            <a:ext cx="926888" cy="926888"/>
          </a:xfrm>
          <a:prstGeom prst="ellipse">
            <a:avLst/>
          </a:prstGeom>
          <a:solidFill>
            <a:schemeClr val="accent1">
              <a:lumMod val="20000"/>
              <a:lumOff val="80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0DBB1E70-A6B4-325D-7E84-2D8D403E507E}"/>
              </a:ext>
            </a:extLst>
          </p:cNvPr>
          <p:cNvSpPr/>
          <p:nvPr userDrawn="1"/>
        </p:nvSpPr>
        <p:spPr>
          <a:xfrm>
            <a:off x="2274547" y="2102046"/>
            <a:ext cx="1590676" cy="1590676"/>
          </a:xfrm>
          <a:prstGeom prst="ellipse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38C16E6-FCD9-2FF6-E0D9-862FBA97E38E}"/>
              </a:ext>
            </a:extLst>
          </p:cNvPr>
          <p:cNvSpPr/>
          <p:nvPr userDrawn="1"/>
        </p:nvSpPr>
        <p:spPr>
          <a:xfrm>
            <a:off x="320390" y="1512575"/>
            <a:ext cx="804338" cy="804338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90B5C771-860C-6FE3-9141-296A747F7EC0}"/>
              </a:ext>
            </a:extLst>
          </p:cNvPr>
          <p:cNvSpPr/>
          <p:nvPr userDrawn="1"/>
        </p:nvSpPr>
        <p:spPr>
          <a:xfrm>
            <a:off x="2745115" y="1787721"/>
            <a:ext cx="314325" cy="314325"/>
          </a:xfrm>
          <a:prstGeom prst="ellipse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C734A62-48DA-F6ED-AF10-0C9224E0A0EE}"/>
              </a:ext>
            </a:extLst>
          </p:cNvPr>
          <p:cNvSpPr/>
          <p:nvPr userDrawn="1"/>
        </p:nvSpPr>
        <p:spPr>
          <a:xfrm>
            <a:off x="594793" y="2155519"/>
            <a:ext cx="2544671" cy="254467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: 空心 2">
            <a:extLst>
              <a:ext uri="{FF2B5EF4-FFF2-40B4-BE49-F238E27FC236}">
                <a16:creationId xmlns:a16="http://schemas.microsoft.com/office/drawing/2014/main" id="{D9836D2B-C9DD-3FC5-793A-4907096EF00C}"/>
              </a:ext>
            </a:extLst>
          </p:cNvPr>
          <p:cNvSpPr/>
          <p:nvPr userDrawn="1"/>
        </p:nvSpPr>
        <p:spPr>
          <a:xfrm>
            <a:off x="445476" y="2002997"/>
            <a:ext cx="2852005" cy="2852005"/>
          </a:xfrm>
          <a:prstGeom prst="donut">
            <a:avLst>
              <a:gd name="adj" fmla="val 649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9827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3" r:id="rId2"/>
    <p:sldLayoutId id="214748368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jetbrains.com/idea/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114D5-9D49-7225-E5E2-41EB2357C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/>
              <a:t>第二章：</a:t>
            </a:r>
            <a:r>
              <a:rPr lang="en-US" altLang="zh-CN" sz="4000" dirty="0"/>
              <a:t>IDEA </a:t>
            </a:r>
            <a:r>
              <a:rPr lang="zh-CN" altLang="en-US" sz="4000" dirty="0"/>
              <a:t>开发工具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966428-CCB2-BA20-6795-2C913DCE3A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2000" dirty="0"/>
              <a:t>工欲善其事必先利其器</a:t>
            </a:r>
          </a:p>
        </p:txBody>
      </p:sp>
    </p:spTree>
    <p:extLst>
      <p:ext uri="{BB962C8B-B14F-4D97-AF65-F5344CB8AC3E}">
        <p14:creationId xmlns:p14="http://schemas.microsoft.com/office/powerpoint/2010/main" val="1535538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A4F0A2A7-A667-0512-816A-DB7E34D3A2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58201" y="1662411"/>
            <a:ext cx="3692525" cy="3917934"/>
          </a:xfrm>
        </p:spPr>
        <p:txBody>
          <a:bodyPr/>
          <a:lstStyle/>
          <a:p>
            <a:r>
              <a:rPr lang="en-US" altLang="zh-CN" dirty="0"/>
              <a:t>IDEA </a:t>
            </a:r>
            <a:r>
              <a:rPr lang="zh-CN" altLang="en-US" dirty="0"/>
              <a:t>介绍和安装</a:t>
            </a:r>
            <a:endParaRPr lang="en-US" altLang="zh-CN" dirty="0"/>
          </a:p>
          <a:p>
            <a:r>
              <a:rPr lang="en-US" altLang="zh-CN" dirty="0"/>
              <a:t>IDEA </a:t>
            </a:r>
            <a:r>
              <a:rPr lang="zh-CN" altLang="en-US" dirty="0"/>
              <a:t>中的第一个代码</a:t>
            </a:r>
            <a:endParaRPr lang="en-US" altLang="zh-CN" dirty="0"/>
          </a:p>
          <a:p>
            <a:r>
              <a:rPr lang="en-US" altLang="zh-CN" dirty="0"/>
              <a:t>IDEA </a:t>
            </a:r>
            <a:r>
              <a:rPr lang="zh-CN" altLang="en-US" dirty="0"/>
              <a:t>使用操作</a:t>
            </a:r>
          </a:p>
        </p:txBody>
      </p:sp>
    </p:spTree>
    <p:extLst>
      <p:ext uri="{BB962C8B-B14F-4D97-AF65-F5344CB8AC3E}">
        <p14:creationId xmlns:p14="http://schemas.microsoft.com/office/powerpoint/2010/main" val="27838392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37DDC-B304-D2F8-C50D-C468CAE97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C56A1B4-6E31-ED4D-D6C5-3EE095D6F7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en-US" altLang="zh-CN" dirty="0"/>
              <a:t>IDEA </a:t>
            </a:r>
            <a:r>
              <a:rPr lang="zh-CN" altLang="en-US" dirty="0"/>
              <a:t>的介绍和安装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391EBC4B-6042-4B46-31F8-98A2350602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73510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872EA71-DD08-9F73-0FB5-0E0B8E980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69" y="1477431"/>
            <a:ext cx="10850062" cy="358276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D6051BFB-A073-803B-E53F-5CD4E0BED4AC}"/>
              </a:ext>
            </a:extLst>
          </p:cNvPr>
          <p:cNvSpPr txBox="1"/>
          <p:nvPr/>
        </p:nvSpPr>
        <p:spPr>
          <a:xfrm>
            <a:off x="670969" y="574016"/>
            <a:ext cx="8787138" cy="467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8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IDE </a:t>
            </a:r>
            <a:r>
              <a:rPr lang="zh-CN" altLang="en-US" sz="18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集成环境</a:t>
            </a: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：把代码编写，编译，执行，调试等多种功能综合到一起的开发工具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52198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8B52D56-BB7A-3BAB-CAA6-F19C58BA6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998123"/>
          </a:xfrm>
        </p:spPr>
        <p:txBody>
          <a:bodyPr/>
          <a:lstStyle/>
          <a:p>
            <a:r>
              <a:rPr lang="zh-CN" altLang="en-US" dirty="0"/>
              <a:t>高级开发工具可以帮助我们编写程序、提高开发效率。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IDEA</a:t>
            </a:r>
            <a:r>
              <a:rPr lang="zh-CN" altLang="en-US" dirty="0"/>
              <a:t>的官方网站：</a:t>
            </a:r>
            <a:r>
              <a:rPr lang="en-US" altLang="zh-CN" dirty="0">
                <a:hlinkClick r:id="rId2"/>
              </a:rPr>
              <a:t>IntelliJ IDEA – the Leading Java and Kotlin IDE (jetbrains.com)</a:t>
            </a:r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6593041-BE64-90FC-69A3-0560843A5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安装开发工具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C30A982-4A65-5136-CAB9-C80176DB49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7196" y="2283987"/>
            <a:ext cx="1283244" cy="128324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2F8A54C4-DA4E-3054-662A-C0F4652BC1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6976" y="2283987"/>
            <a:ext cx="1283244" cy="1283244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E4887AB-4AA2-7A9D-829B-1A5214190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6756" y="2291693"/>
            <a:ext cx="1283243" cy="1283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185715B0-0F94-820E-FD3A-6149C436718E}"/>
              </a:ext>
            </a:extLst>
          </p:cNvPr>
          <p:cNvSpPr txBox="1"/>
          <p:nvPr/>
        </p:nvSpPr>
        <p:spPr>
          <a:xfrm>
            <a:off x="1988288" y="3750096"/>
            <a:ext cx="1626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latin typeface="+mn-ea"/>
              </a:rPr>
              <a:t>Intellij IDEA</a:t>
            </a:r>
            <a:endParaRPr lang="zh-CN" altLang="en-US" b="1">
              <a:latin typeface="+mn-ea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93C271F-4D43-4F45-AC46-81E198289366}"/>
              </a:ext>
            </a:extLst>
          </p:cNvPr>
          <p:cNvSpPr txBox="1"/>
          <p:nvPr/>
        </p:nvSpPr>
        <p:spPr>
          <a:xfrm>
            <a:off x="5005207" y="3750096"/>
            <a:ext cx="1626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latin typeface="+mn-ea"/>
              </a:rPr>
              <a:t>NetBeans</a:t>
            </a:r>
            <a:endParaRPr lang="zh-CN" altLang="en-US" b="1">
              <a:latin typeface="+mn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D5BECD6-AE1A-5F50-AC11-A11C1CDEDF60}"/>
              </a:ext>
            </a:extLst>
          </p:cNvPr>
          <p:cNvSpPr txBox="1"/>
          <p:nvPr/>
        </p:nvSpPr>
        <p:spPr>
          <a:xfrm>
            <a:off x="7994986" y="3750096"/>
            <a:ext cx="1626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latin typeface="+mn-ea"/>
              </a:rPr>
              <a:t>Eclipse</a:t>
            </a:r>
            <a:endParaRPr lang="zh-CN" altLang="en-US" b="1">
              <a:latin typeface="+mn-ea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3E76055-1FA2-66E8-60E9-5AC6A4C1C93C}"/>
              </a:ext>
            </a:extLst>
          </p:cNvPr>
          <p:cNvSpPr/>
          <p:nvPr/>
        </p:nvSpPr>
        <p:spPr>
          <a:xfrm>
            <a:off x="4359349" y="1855247"/>
            <a:ext cx="5844363" cy="2556615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3826257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by x="100000" y="100000"/>
                                      <p:from x="0" y="0"/>
                                      <p:to x="120000" y="105000"/>
                                    </p:animScale>
                                    <p:animScale>
                                      <p:cBhvr>
                                        <p:cTn id="8" dur="187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by x="100000" y="100000"/>
                                      <p:from x="120000" y="105000"/>
                                      <p:to x="100000" y="115000"/>
                                    </p:animScale>
                                    <p:animScale>
                                      <p:cBhvr>
                                        <p:cTn id="9" dur="313" fill="hold">
                                          <p:stCondLst>
                                            <p:cond delay="437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by x="100000" y="100000"/>
                                      <p:from x="100000" y="115000"/>
                                      <p:to x="110000" y="100000"/>
                                    </p:animScale>
                                    <p:animScale>
                                      <p:cBhvr>
                                        <p:cTn id="10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by x="100000" y="100000"/>
                                      <p:from x="110000" y="100000"/>
                                      <p:to x="100000" y="110000"/>
                                    </p:animScale>
                                    <p:animScale>
                                      <p:cBhvr>
                                        <p:cTn id="11" dur="25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by x="100000" y="100000"/>
                                      <p:from x="10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10" presetClass="entr" presetSubtype="0" decel="10000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decel="100000" fill="hold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8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by x="100000" y="100000"/>
                                      <p:from x="0" y="0"/>
                                      <p:to x="120000" y="105000"/>
                                    </p:animScale>
                                    <p:animScale>
                                      <p:cBhvr>
                                        <p:cTn id="19" dur="187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by x="100000" y="100000"/>
                                      <p:from x="120000" y="105000"/>
                                      <p:to x="100000" y="115000"/>
                                    </p:animScale>
                                    <p:animScale>
                                      <p:cBhvr>
                                        <p:cTn id="20" dur="313" fill="hold">
                                          <p:stCondLst>
                                            <p:cond delay="437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by x="100000" y="100000"/>
                                      <p:from x="100000" y="115000"/>
                                      <p:to x="110000" y="100000"/>
                                    </p:animScale>
                                    <p:animScale>
                                      <p:cBhvr>
                                        <p:cTn id="21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by x="100000" y="100000"/>
                                      <p:from x="110000" y="100000"/>
                                      <p:to x="100000" y="110000"/>
                                    </p:animScale>
                                    <p:animScale>
                                      <p:cBhvr>
                                        <p:cTn id="22" dur="25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by x="100000" y="100000"/>
                                      <p:from x="10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10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2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decel="100000" fill="hold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9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</p:cBhvr>
                                      <p:by x="100000" y="100000"/>
                                      <p:from x="0" y="0"/>
                                      <p:to x="120000" y="105000"/>
                                    </p:animScale>
                                    <p:animScale>
                                      <p:cBhvr>
                                        <p:cTn id="30" dur="187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</p:cBhvr>
                                      <p:by x="100000" y="100000"/>
                                      <p:from x="120000" y="105000"/>
                                      <p:to x="100000" y="115000"/>
                                    </p:animScale>
                                    <p:animScale>
                                      <p:cBhvr>
                                        <p:cTn id="31" dur="313" fill="hold">
                                          <p:stCondLst>
                                            <p:cond delay="437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</p:cBhvr>
                                      <p:by x="100000" y="100000"/>
                                      <p:from x="100000" y="115000"/>
                                      <p:to x="110000" y="100000"/>
                                    </p:animScale>
                                    <p:animScale>
                                      <p:cBhvr>
                                        <p:cTn id="32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</p:cBhvr>
                                      <p:by x="100000" y="100000"/>
                                      <p:from x="110000" y="100000"/>
                                      <p:to x="100000" y="110000"/>
                                    </p:animScale>
                                    <p:animScale>
                                      <p:cBhvr>
                                        <p:cTn id="33" dur="25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</p:cBhvr>
                                      <p:by x="100000" y="100000"/>
                                      <p:from x="10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10" presetClass="entr" presetSubtype="0" decel="10000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3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BDC6769-6FB2-16C2-0A07-550872A3C2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36569" y="1483864"/>
            <a:ext cx="7950631" cy="3962399"/>
          </a:xfrm>
        </p:spPr>
        <p:txBody>
          <a:bodyPr/>
          <a:lstStyle/>
          <a:p>
            <a:r>
              <a:rPr lang="en-US" altLang="zh-CN" dirty="0"/>
              <a:t>IDEA</a:t>
            </a:r>
            <a:r>
              <a:rPr lang="zh-CN" altLang="en-US" dirty="0"/>
              <a:t>全称 </a:t>
            </a:r>
            <a:r>
              <a:rPr lang="en-US" altLang="zh-CN" b="1" dirty="0"/>
              <a:t>IntelliJ IDEA</a:t>
            </a:r>
            <a:r>
              <a:rPr lang="en-US" altLang="zh-CN" dirty="0"/>
              <a:t> </a:t>
            </a:r>
            <a:r>
              <a:rPr lang="zh-CN" altLang="en-US" dirty="0"/>
              <a:t>是目前使用最多的 </a:t>
            </a:r>
            <a:r>
              <a:rPr lang="en-US" altLang="zh-CN" dirty="0"/>
              <a:t>Java </a:t>
            </a:r>
            <a:r>
              <a:rPr lang="zh-CN" altLang="en-US" dirty="0"/>
              <a:t>开发集成环境</a:t>
            </a:r>
            <a:endParaRPr lang="en-US" altLang="zh-CN" dirty="0"/>
          </a:p>
          <a:p>
            <a:r>
              <a:rPr lang="en-US" altLang="zh-CN" dirty="0"/>
              <a:t>IDE </a:t>
            </a:r>
            <a:r>
              <a:rPr lang="zh-CN" altLang="en-US" dirty="0"/>
              <a:t>集成环境 </a:t>
            </a:r>
            <a:r>
              <a:rPr lang="en-US" altLang="zh-CN" dirty="0"/>
              <a:t>: </a:t>
            </a:r>
            <a:r>
              <a:rPr lang="zh-CN" altLang="en-US" dirty="0"/>
              <a:t>把代码的编写，编译，运行，调试等多种功能综合到一起的开发工具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EEFCA-9B16-E915-04C9-BAAB3E86C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BB83AA0-55C9-19D8-4A83-A97D4D5F20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58201" y="1662411"/>
            <a:ext cx="3692525" cy="3917934"/>
          </a:xfrm>
        </p:spPr>
        <p:txBody>
          <a:bodyPr/>
          <a:lstStyle/>
          <a:p>
            <a:r>
              <a:rPr lang="en-US" altLang="zh-CN" dirty="0"/>
              <a:t>IDEA </a:t>
            </a:r>
            <a:r>
              <a:rPr lang="zh-CN" altLang="en-US" dirty="0"/>
              <a:t>介绍和安装</a:t>
            </a:r>
            <a:endParaRPr lang="en-US" altLang="zh-CN" dirty="0"/>
          </a:p>
          <a:p>
            <a:r>
              <a:rPr lang="en-US" altLang="zh-CN" dirty="0"/>
              <a:t>IDEA </a:t>
            </a:r>
            <a:r>
              <a:rPr lang="zh-CN" altLang="en-US" dirty="0"/>
              <a:t>中的第一个代码</a:t>
            </a:r>
            <a:endParaRPr lang="en-US" altLang="zh-CN" dirty="0"/>
          </a:p>
          <a:p>
            <a:r>
              <a:rPr lang="en-US" altLang="zh-CN" dirty="0"/>
              <a:t>IDEA </a:t>
            </a:r>
            <a:r>
              <a:rPr lang="zh-CN" altLang="en-US" dirty="0"/>
              <a:t>使用操作</a:t>
            </a:r>
          </a:p>
        </p:txBody>
      </p:sp>
    </p:spTree>
    <p:extLst>
      <p:ext uri="{BB962C8B-B14F-4D97-AF65-F5344CB8AC3E}">
        <p14:creationId xmlns:p14="http://schemas.microsoft.com/office/powerpoint/2010/main" val="15293763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C973D-F911-2EA4-6665-2FD3928C5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FE0EBCD-F377-C77A-B008-C9876F0058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en-US" altLang="zh-CN" dirty="0"/>
              <a:t>IDEA </a:t>
            </a:r>
            <a:r>
              <a:rPr lang="zh-CN" altLang="en-US" dirty="0"/>
              <a:t>中的第一个代码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9170DCFE-C7A2-536B-229B-CE8217D63E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213473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片 37">
            <a:extLst>
              <a:ext uri="{FF2B5EF4-FFF2-40B4-BE49-F238E27FC236}">
                <a16:creationId xmlns:a16="http://schemas.microsoft.com/office/drawing/2014/main" id="{49B20DAE-1936-BD3B-1DE6-ADD7DBEEA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380" y="2288674"/>
            <a:ext cx="513283" cy="463929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225C4037-103A-3CDF-43F7-1DBCA20DD4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1520" y="3301076"/>
            <a:ext cx="431833" cy="431833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32B779FE-9E54-B399-73A6-8A94B50C61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5105" y="2389329"/>
            <a:ext cx="725768" cy="391014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63E1C6B7-9E65-A3C0-B24F-CBA1486C50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8231" y="3421851"/>
            <a:ext cx="706346" cy="367188"/>
          </a:xfrm>
          <a:prstGeom prst="rect">
            <a:avLst/>
          </a:prstGeom>
        </p:spPr>
      </p:pic>
      <p:sp>
        <p:nvSpPr>
          <p:cNvPr id="2" name="任意多边形 4">
            <a:extLst>
              <a:ext uri="{FF2B5EF4-FFF2-40B4-BE49-F238E27FC236}">
                <a16:creationId xmlns:a16="http://schemas.microsoft.com/office/drawing/2014/main" id="{1F1C68D8-46E1-1B1E-6C23-1BBFFA283DAA}"/>
              </a:ext>
            </a:extLst>
          </p:cNvPr>
          <p:cNvSpPr/>
          <p:nvPr/>
        </p:nvSpPr>
        <p:spPr>
          <a:xfrm>
            <a:off x="1407709" y="1796897"/>
            <a:ext cx="5074045" cy="841374"/>
          </a:xfrm>
          <a:custGeom>
            <a:avLst/>
            <a:gdLst>
              <a:gd name="connsiteX0" fmla="*/ 0 w 5689600"/>
              <a:gd name="connsiteY0" fmla="*/ 1079512 h 1079512"/>
              <a:gd name="connsiteX1" fmla="*/ 1917700 w 5689600"/>
              <a:gd name="connsiteY1" fmla="*/ 12 h 1079512"/>
              <a:gd name="connsiteX2" fmla="*/ 3810000 w 5689600"/>
              <a:gd name="connsiteY2" fmla="*/ 1054112 h 1079512"/>
              <a:gd name="connsiteX3" fmla="*/ 5689600 w 5689600"/>
              <a:gd name="connsiteY3" fmla="*/ 12712 h 1079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89600" h="1079512">
                <a:moveTo>
                  <a:pt x="0" y="1079512"/>
                </a:moveTo>
                <a:cubicBezTo>
                  <a:pt x="641350" y="541878"/>
                  <a:pt x="1282700" y="4245"/>
                  <a:pt x="1917700" y="12"/>
                </a:cubicBezTo>
                <a:cubicBezTo>
                  <a:pt x="2552700" y="-4221"/>
                  <a:pt x="3181350" y="1051995"/>
                  <a:pt x="3810000" y="1054112"/>
                </a:cubicBezTo>
                <a:cubicBezTo>
                  <a:pt x="4438650" y="1056229"/>
                  <a:pt x="5372100" y="158762"/>
                  <a:pt x="5689600" y="12712"/>
                </a:cubicBezTo>
              </a:path>
            </a:pathLst>
          </a:custGeom>
          <a:ln w="762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印品黑体" panose="00000500000000000000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DC51201-73F1-0432-24D9-B2E2FD8F2B4D}"/>
              </a:ext>
            </a:extLst>
          </p:cNvPr>
          <p:cNvGrpSpPr/>
          <p:nvPr/>
        </p:nvGrpSpPr>
        <p:grpSpPr>
          <a:xfrm>
            <a:off x="764826" y="2244573"/>
            <a:ext cx="1083815" cy="1083814"/>
            <a:chOff x="1008115" y="2542722"/>
            <a:chExt cx="1360493" cy="1360493"/>
          </a:xfrm>
          <a:solidFill>
            <a:schemeClr val="bg2">
              <a:lumMod val="10000"/>
            </a:schemeClr>
          </a:solidFill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AF6F2C33-E1A2-E5CD-FBC2-3CEB319CEE56}"/>
                </a:ext>
              </a:extLst>
            </p:cNvPr>
            <p:cNvGrpSpPr/>
            <p:nvPr/>
          </p:nvGrpSpPr>
          <p:grpSpPr>
            <a:xfrm>
              <a:off x="1008115" y="2542722"/>
              <a:ext cx="1360493" cy="1360493"/>
              <a:chOff x="304800" y="673100"/>
              <a:chExt cx="4000500" cy="4000500"/>
            </a:xfrm>
            <a:grpFill/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9" name="同心圆 20">
                <a:extLst>
                  <a:ext uri="{FF2B5EF4-FFF2-40B4-BE49-F238E27FC236}">
                    <a16:creationId xmlns:a16="http://schemas.microsoft.com/office/drawing/2014/main" id="{5E9FC7F3-D041-C108-3365-4BE03B3BFB72}"/>
                  </a:ext>
                </a:extLst>
              </p:cNvPr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bg1"/>
                  </a:solidFill>
                  <a:latin typeface="印品黑体" panose="00000500000000000000" pitchFamily="2" charset="-122"/>
                </a:endParaRPr>
              </a:p>
            </p:txBody>
          </p:sp>
          <p:sp>
            <p:nvSpPr>
              <p:cNvPr id="10" name="椭圆 9">
                <a:extLst>
                  <a:ext uri="{FF2B5EF4-FFF2-40B4-BE49-F238E27FC236}">
                    <a16:creationId xmlns:a16="http://schemas.microsoft.com/office/drawing/2014/main" id="{D7624F8B-33A5-F8C0-0206-82395F64D375}"/>
                  </a:ext>
                </a:extLst>
              </p:cNvPr>
              <p:cNvSpPr/>
              <p:nvPr/>
            </p:nvSpPr>
            <p:spPr>
              <a:xfrm>
                <a:off x="392113" y="760413"/>
                <a:ext cx="3825874" cy="382587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bg1"/>
                  </a:solidFill>
                  <a:latin typeface="印品黑体" panose="00000500000000000000" pitchFamily="2" charset="-122"/>
                </a:endParaRPr>
              </a:p>
            </p:txBody>
          </p:sp>
        </p:grpSp>
        <p:sp>
          <p:nvSpPr>
            <p:cNvPr id="8" name="TextBox 107">
              <a:extLst>
                <a:ext uri="{FF2B5EF4-FFF2-40B4-BE49-F238E27FC236}">
                  <a16:creationId xmlns:a16="http://schemas.microsoft.com/office/drawing/2014/main" id="{8CAA312B-D64B-2900-4265-49B13B831C03}"/>
                </a:ext>
              </a:extLst>
            </p:cNvPr>
            <p:cNvSpPr txBox="1"/>
            <p:nvPr/>
          </p:nvSpPr>
          <p:spPr>
            <a:xfrm>
              <a:off x="1073551" y="3013266"/>
              <a:ext cx="1229618" cy="4524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  <a:latin typeface="印品黑体" panose="00000500000000000000" pitchFamily="2" charset="-122"/>
                  <a:ea typeface="造字工房劲黑（非商用）常规体" pitchFamily="50" charset="-122"/>
                </a:rPr>
                <a:t>Project</a:t>
              </a:r>
              <a:endParaRPr lang="zh-CN" altLang="en-US" sz="1400" b="1" dirty="0">
                <a:solidFill>
                  <a:schemeClr val="bg1"/>
                </a:solidFill>
                <a:latin typeface="印品黑体" panose="00000500000000000000" pitchFamily="2" charset="-122"/>
                <a:ea typeface="造字工房劲黑（非商用）常规体" pitchFamily="50" charset="-122"/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0495A7AE-0CF9-CB0C-7065-C158672DE8E3}"/>
              </a:ext>
            </a:extLst>
          </p:cNvPr>
          <p:cNvGrpSpPr/>
          <p:nvPr/>
        </p:nvGrpSpPr>
        <p:grpSpPr>
          <a:xfrm>
            <a:off x="4430304" y="2131693"/>
            <a:ext cx="1083815" cy="1083814"/>
            <a:chOff x="4770261" y="2542722"/>
            <a:chExt cx="1360493" cy="1360493"/>
          </a:xfrm>
          <a:solidFill>
            <a:schemeClr val="bg2">
              <a:lumMod val="10000"/>
            </a:schemeClr>
          </a:solidFill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903141A8-1B01-B52E-3148-E23C20A49B9A}"/>
                </a:ext>
              </a:extLst>
            </p:cNvPr>
            <p:cNvGrpSpPr/>
            <p:nvPr/>
          </p:nvGrpSpPr>
          <p:grpSpPr>
            <a:xfrm>
              <a:off x="4770261" y="2542722"/>
              <a:ext cx="1360493" cy="1360493"/>
              <a:chOff x="304800" y="673100"/>
              <a:chExt cx="4000500" cy="4000500"/>
            </a:xfrm>
            <a:grpFill/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15" name="同心圆 25">
                <a:extLst>
                  <a:ext uri="{FF2B5EF4-FFF2-40B4-BE49-F238E27FC236}">
                    <a16:creationId xmlns:a16="http://schemas.microsoft.com/office/drawing/2014/main" id="{49DE45E2-0F51-473C-9969-ABA2E5B8F95B}"/>
                  </a:ext>
                </a:extLst>
              </p:cNvPr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p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bg1"/>
                  </a:solidFill>
                  <a:latin typeface="印品黑体" panose="00000500000000000000" pitchFamily="2" charset="-122"/>
                </a:endParaRPr>
              </a:p>
            </p:txBody>
          </p:sp>
          <p:sp>
            <p:nvSpPr>
              <p:cNvPr id="16" name="椭圆 15">
                <a:extLst>
                  <a:ext uri="{FF2B5EF4-FFF2-40B4-BE49-F238E27FC236}">
                    <a16:creationId xmlns:a16="http://schemas.microsoft.com/office/drawing/2014/main" id="{8F13B0FB-7E71-C905-0473-489C1256042E}"/>
                  </a:ext>
                </a:extLst>
              </p:cNvPr>
              <p:cNvSpPr/>
              <p:nvPr/>
            </p:nvSpPr>
            <p:spPr>
              <a:xfrm>
                <a:off x="392110" y="760414"/>
                <a:ext cx="3825874" cy="382587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bg1"/>
                  </a:solidFill>
                  <a:latin typeface="印品黑体" panose="00000500000000000000" pitchFamily="2" charset="-122"/>
                </a:endParaRPr>
              </a:p>
            </p:txBody>
          </p:sp>
        </p:grpSp>
        <p:sp>
          <p:nvSpPr>
            <p:cNvPr id="14" name="TextBox 108">
              <a:extLst>
                <a:ext uri="{FF2B5EF4-FFF2-40B4-BE49-F238E27FC236}">
                  <a16:creationId xmlns:a16="http://schemas.microsoft.com/office/drawing/2014/main" id="{6EC91925-7CF2-BA5C-4BE0-D5778FA5B542}"/>
                </a:ext>
              </a:extLst>
            </p:cNvPr>
            <p:cNvSpPr txBox="1"/>
            <p:nvPr/>
          </p:nvSpPr>
          <p:spPr>
            <a:xfrm>
              <a:off x="4784664" y="3029129"/>
              <a:ext cx="1316395" cy="424981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bg1"/>
                  </a:solidFill>
                  <a:ea typeface="造字工房劲黑（非商用）常规体" pitchFamily="50" charset="-122"/>
                </a:rPr>
                <a:t>Package</a:t>
              </a:r>
              <a:endParaRPr lang="zh-CN" altLang="en-US" b="1" dirty="0">
                <a:solidFill>
                  <a:schemeClr val="bg1"/>
                </a:solidFill>
                <a:ea typeface="造字工房劲黑（非商用）常规体" pitchFamily="50" charset="-122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F12C9B66-AE2D-8314-EE8B-4E68FEC83E66}"/>
              </a:ext>
            </a:extLst>
          </p:cNvPr>
          <p:cNvGrpSpPr/>
          <p:nvPr/>
        </p:nvGrpSpPr>
        <p:grpSpPr>
          <a:xfrm>
            <a:off x="2493656" y="1254990"/>
            <a:ext cx="1083815" cy="1083814"/>
            <a:chOff x="2889188" y="1494971"/>
            <a:chExt cx="1360493" cy="1360493"/>
          </a:xfrm>
          <a:solidFill>
            <a:schemeClr val="bg2">
              <a:lumMod val="10000"/>
            </a:schemeClr>
          </a:solidFill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12D952E7-01EC-4FA4-20C2-1BBF28B14129}"/>
                </a:ext>
              </a:extLst>
            </p:cNvPr>
            <p:cNvGrpSpPr/>
            <p:nvPr/>
          </p:nvGrpSpPr>
          <p:grpSpPr>
            <a:xfrm>
              <a:off x="2889188" y="1494971"/>
              <a:ext cx="1360493" cy="1360493"/>
              <a:chOff x="304800" y="673100"/>
              <a:chExt cx="4000500" cy="4000500"/>
            </a:xfrm>
            <a:grpFill/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20" name="同心圆 30">
                <a:extLst>
                  <a:ext uri="{FF2B5EF4-FFF2-40B4-BE49-F238E27FC236}">
                    <a16:creationId xmlns:a16="http://schemas.microsoft.com/office/drawing/2014/main" id="{B27CB799-F967-3B78-2024-EAB004EDC2E9}"/>
                  </a:ext>
                </a:extLst>
              </p:cNvPr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bg1"/>
                  </a:solidFill>
                  <a:latin typeface="印品黑体" panose="00000500000000000000" pitchFamily="2" charset="-122"/>
                </a:endParaRPr>
              </a:p>
            </p:txBody>
          </p:sp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06FEA623-8A53-1705-95FA-BC5C18096D29}"/>
                  </a:ext>
                </a:extLst>
              </p:cNvPr>
              <p:cNvSpPr/>
              <p:nvPr/>
            </p:nvSpPr>
            <p:spPr>
              <a:xfrm>
                <a:off x="392113" y="760413"/>
                <a:ext cx="3825874" cy="382587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bg1"/>
                  </a:solidFill>
                  <a:latin typeface="印品黑体" panose="00000500000000000000" pitchFamily="2" charset="-122"/>
                </a:endParaRPr>
              </a:p>
            </p:txBody>
          </p:sp>
        </p:grpSp>
        <p:sp>
          <p:nvSpPr>
            <p:cNvPr id="19" name="TextBox 109">
              <a:extLst>
                <a:ext uri="{FF2B5EF4-FFF2-40B4-BE49-F238E27FC236}">
                  <a16:creationId xmlns:a16="http://schemas.microsoft.com/office/drawing/2014/main" id="{3D33344C-456B-3D79-6E58-8641FAD4B7E4}"/>
                </a:ext>
              </a:extLst>
            </p:cNvPr>
            <p:cNvSpPr txBox="1"/>
            <p:nvPr/>
          </p:nvSpPr>
          <p:spPr>
            <a:xfrm>
              <a:off x="2945223" y="1949008"/>
              <a:ext cx="1137327" cy="4524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  <a:ea typeface="造字工房劲黑（非商用）常规体" pitchFamily="50" charset="-122"/>
                </a:rPr>
                <a:t>Module</a:t>
              </a:r>
              <a:endParaRPr lang="zh-CN" altLang="en-US" sz="1600" b="1" dirty="0">
                <a:solidFill>
                  <a:schemeClr val="bg1"/>
                </a:solidFill>
                <a:ea typeface="造字工房劲黑（非商用）常规体" pitchFamily="50" charset="-122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04FC0017-C716-24B7-BB5E-B8A0BD971817}"/>
              </a:ext>
            </a:extLst>
          </p:cNvPr>
          <p:cNvGrpSpPr/>
          <p:nvPr/>
        </p:nvGrpSpPr>
        <p:grpSpPr>
          <a:xfrm>
            <a:off x="6183255" y="1096420"/>
            <a:ext cx="1083814" cy="1083814"/>
            <a:chOff x="6651335" y="1494971"/>
            <a:chExt cx="1360493" cy="1360493"/>
          </a:xfrm>
          <a:solidFill>
            <a:schemeClr val="bg2">
              <a:lumMod val="10000"/>
            </a:schemeClr>
          </a:solidFill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33AA6F6A-A339-D0F5-0C48-CDEE7A9F1994}"/>
                </a:ext>
              </a:extLst>
            </p:cNvPr>
            <p:cNvGrpSpPr/>
            <p:nvPr/>
          </p:nvGrpSpPr>
          <p:grpSpPr>
            <a:xfrm>
              <a:off x="6651335" y="1494971"/>
              <a:ext cx="1360493" cy="1360493"/>
              <a:chOff x="304800" y="673100"/>
              <a:chExt cx="4000500" cy="4000500"/>
            </a:xfrm>
            <a:grpFill/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25" name="同心圆 35">
                <a:extLst>
                  <a:ext uri="{FF2B5EF4-FFF2-40B4-BE49-F238E27FC236}">
                    <a16:creationId xmlns:a16="http://schemas.microsoft.com/office/drawing/2014/main" id="{50AEF5CB-00D3-4ED4-2B62-F04A1ED360E2}"/>
                  </a:ext>
                </a:extLst>
              </p:cNvPr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p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bg1"/>
                  </a:solidFill>
                  <a:latin typeface="印品黑体" panose="00000500000000000000" pitchFamily="2" charset="-122"/>
                </a:endParaRPr>
              </a:p>
            </p:txBody>
          </p:sp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032C5A5B-42E1-E48B-77E2-E45A72EB125C}"/>
                  </a:ext>
                </a:extLst>
              </p:cNvPr>
              <p:cNvSpPr/>
              <p:nvPr/>
            </p:nvSpPr>
            <p:spPr>
              <a:xfrm>
                <a:off x="392113" y="760413"/>
                <a:ext cx="3825874" cy="382587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bg1"/>
                  </a:solidFill>
                  <a:latin typeface="印品黑体" panose="00000500000000000000" pitchFamily="2" charset="-122"/>
                </a:endParaRPr>
              </a:p>
            </p:txBody>
          </p:sp>
        </p:grpSp>
        <p:sp>
          <p:nvSpPr>
            <p:cNvPr id="24" name="TextBox 110">
              <a:extLst>
                <a:ext uri="{FF2B5EF4-FFF2-40B4-BE49-F238E27FC236}">
                  <a16:creationId xmlns:a16="http://schemas.microsoft.com/office/drawing/2014/main" id="{C9D93E5F-0F1D-368B-A76F-26B233A978BC}"/>
                </a:ext>
              </a:extLst>
            </p:cNvPr>
            <p:cNvSpPr txBox="1"/>
            <p:nvPr/>
          </p:nvSpPr>
          <p:spPr>
            <a:xfrm>
              <a:off x="6768342" y="1984194"/>
              <a:ext cx="807441" cy="45241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  <a:ea typeface="造字工房劲黑（非商用）常规体" pitchFamily="50" charset="-122"/>
                </a:rPr>
                <a:t>Class</a:t>
              </a:r>
              <a:endParaRPr lang="zh-CN" altLang="en-US" b="1" dirty="0">
                <a:solidFill>
                  <a:schemeClr val="bg1"/>
                </a:solidFill>
                <a:ea typeface="造字工房劲黑（非商用）常规体" pitchFamily="50" charset="-122"/>
              </a:endParaRPr>
            </a:p>
          </p:txBody>
        </p:sp>
      </p:grpSp>
      <p:sp>
        <p:nvSpPr>
          <p:cNvPr id="27" name="标题 26">
            <a:extLst>
              <a:ext uri="{FF2B5EF4-FFF2-40B4-BE49-F238E27FC236}">
                <a16:creationId xmlns:a16="http://schemas.microsoft.com/office/drawing/2014/main" id="{79F46928-CFE7-6233-9AA9-2906535C2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IDEA</a:t>
            </a:r>
            <a:r>
              <a:rPr lang="zh-CN" altLang="en-US" dirty="0"/>
              <a:t>创建</a:t>
            </a:r>
            <a:r>
              <a:rPr lang="en-US" altLang="zh-CN" dirty="0"/>
              <a:t>Java</a:t>
            </a:r>
            <a:r>
              <a:rPr lang="zh-CN" altLang="en-US" dirty="0"/>
              <a:t>项目的代码结构</a:t>
            </a:r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F264BEFF-E275-ECBB-4EEA-D53124EE09F0}"/>
              </a:ext>
            </a:extLst>
          </p:cNvPr>
          <p:cNvSpPr/>
          <p:nvPr/>
        </p:nvSpPr>
        <p:spPr>
          <a:xfrm>
            <a:off x="1116918" y="4357208"/>
            <a:ext cx="9628816" cy="2164393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dirty="0"/>
              <a:t>Project </a:t>
            </a:r>
            <a:r>
              <a:rPr lang="zh-CN" altLang="en-US" dirty="0"/>
              <a:t>项目</a:t>
            </a:r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9E58E5CE-A236-9122-C372-F37E47194633}"/>
              </a:ext>
            </a:extLst>
          </p:cNvPr>
          <p:cNvSpPr/>
          <p:nvPr/>
        </p:nvSpPr>
        <p:spPr>
          <a:xfrm>
            <a:off x="1571050" y="4475824"/>
            <a:ext cx="1873278" cy="166789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商品模块</a:t>
            </a:r>
          </a:p>
        </p:txBody>
      </p:sp>
      <p:sp>
        <p:nvSpPr>
          <p:cNvPr id="77" name="椭圆 76">
            <a:extLst>
              <a:ext uri="{FF2B5EF4-FFF2-40B4-BE49-F238E27FC236}">
                <a16:creationId xmlns:a16="http://schemas.microsoft.com/office/drawing/2014/main" id="{1B2C8795-FBD1-0C35-C7C5-A35973BDC047}"/>
              </a:ext>
            </a:extLst>
          </p:cNvPr>
          <p:cNvSpPr/>
          <p:nvPr/>
        </p:nvSpPr>
        <p:spPr>
          <a:xfrm>
            <a:off x="3889407" y="4475824"/>
            <a:ext cx="1873278" cy="166789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搜索模块</a:t>
            </a:r>
          </a:p>
        </p:txBody>
      </p:sp>
      <p:sp>
        <p:nvSpPr>
          <p:cNvPr id="78" name="椭圆 77">
            <a:extLst>
              <a:ext uri="{FF2B5EF4-FFF2-40B4-BE49-F238E27FC236}">
                <a16:creationId xmlns:a16="http://schemas.microsoft.com/office/drawing/2014/main" id="{16EE46AC-BEE7-286B-02D4-18FB86280F2C}"/>
              </a:ext>
            </a:extLst>
          </p:cNvPr>
          <p:cNvSpPr/>
          <p:nvPr/>
        </p:nvSpPr>
        <p:spPr>
          <a:xfrm>
            <a:off x="8526122" y="4475824"/>
            <a:ext cx="1873278" cy="166789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购物车模块</a:t>
            </a:r>
          </a:p>
        </p:txBody>
      </p:sp>
      <p:sp>
        <p:nvSpPr>
          <p:cNvPr id="79" name="椭圆 78">
            <a:extLst>
              <a:ext uri="{FF2B5EF4-FFF2-40B4-BE49-F238E27FC236}">
                <a16:creationId xmlns:a16="http://schemas.microsoft.com/office/drawing/2014/main" id="{8EA05C5E-3FB1-CED8-9816-85510EE8FF00}"/>
              </a:ext>
            </a:extLst>
          </p:cNvPr>
          <p:cNvSpPr/>
          <p:nvPr/>
        </p:nvSpPr>
        <p:spPr>
          <a:xfrm>
            <a:off x="6207764" y="4475824"/>
            <a:ext cx="1873278" cy="166789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订单模块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3" grpId="0" animBg="1"/>
      <p:bldP spid="74" grpId="0" animBg="1"/>
      <p:bldP spid="77" grpId="0" animBg="1"/>
      <p:bldP spid="78" grpId="0" animBg="1"/>
      <p:bldP spid="7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F544B-7B89-3C5E-4AAC-861186EF5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椭圆 73">
            <a:extLst>
              <a:ext uri="{FF2B5EF4-FFF2-40B4-BE49-F238E27FC236}">
                <a16:creationId xmlns:a16="http://schemas.microsoft.com/office/drawing/2014/main" id="{42CD5BE2-97E5-D714-3245-7466DEFEEFE4}"/>
              </a:ext>
            </a:extLst>
          </p:cNvPr>
          <p:cNvSpPr/>
          <p:nvPr/>
        </p:nvSpPr>
        <p:spPr>
          <a:xfrm>
            <a:off x="576196" y="1477796"/>
            <a:ext cx="1873278" cy="166789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商品模块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3E97E053-212D-8F31-4241-C5A911271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IDEA</a:t>
            </a:r>
            <a:r>
              <a:rPr lang="zh-CN" altLang="en-US" dirty="0"/>
              <a:t>创建</a:t>
            </a:r>
            <a:r>
              <a:rPr lang="en-US" altLang="zh-CN" dirty="0"/>
              <a:t>Java</a:t>
            </a:r>
            <a:r>
              <a:rPr lang="zh-CN" altLang="en-US" dirty="0"/>
              <a:t>项目的代码结构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D0E3D3A2-C885-73A9-B9A2-91EB5F5B62BA}"/>
              </a:ext>
            </a:extLst>
          </p:cNvPr>
          <p:cNvSpPr/>
          <p:nvPr/>
        </p:nvSpPr>
        <p:spPr>
          <a:xfrm>
            <a:off x="2841391" y="2006770"/>
            <a:ext cx="2546818" cy="632102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前端交互代码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5DFE1D6F-6FC8-D968-B2EA-7DD98F4EACBD}"/>
              </a:ext>
            </a:extLst>
          </p:cNvPr>
          <p:cNvSpPr/>
          <p:nvPr/>
        </p:nvSpPr>
        <p:spPr>
          <a:xfrm>
            <a:off x="5774835" y="1995693"/>
            <a:ext cx="2546818" cy="632102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业务代码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59E6CD9C-EC64-C2D8-824A-0F3ADB8B8A66}"/>
              </a:ext>
            </a:extLst>
          </p:cNvPr>
          <p:cNvSpPr/>
          <p:nvPr/>
        </p:nvSpPr>
        <p:spPr>
          <a:xfrm>
            <a:off x="8708279" y="1995693"/>
            <a:ext cx="2546818" cy="632102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数据访问代码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E0AEE606-1A66-D52C-C4F2-76586F49B7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3045" y="2999416"/>
            <a:ext cx="632102" cy="632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4D28711D-7E16-45C6-8832-442BC895C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9161" y="2999416"/>
            <a:ext cx="632102" cy="632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EC6FA327-40F7-0B43-D132-FB819E87BD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6103" y="2999416"/>
            <a:ext cx="632102" cy="632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7992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1A6DD-F6A3-0B3A-2196-4EA089268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45BC6EF3-5367-1025-07FC-DA679C3B9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IDEA</a:t>
            </a:r>
            <a:r>
              <a:rPr lang="zh-CN" altLang="en-US" dirty="0"/>
              <a:t>创建</a:t>
            </a:r>
            <a:r>
              <a:rPr lang="en-US" altLang="zh-CN" dirty="0"/>
              <a:t>Java</a:t>
            </a:r>
            <a:r>
              <a:rPr lang="zh-CN" altLang="en-US" dirty="0"/>
              <a:t>项目的代码结构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0603BBA-65F6-F177-8AD1-170A0DABC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196" y="1025471"/>
            <a:ext cx="4261069" cy="2076557"/>
          </a:xfrm>
          <a:prstGeom prst="rect">
            <a:avLst/>
          </a:prstGeom>
          <a:ln w="25400">
            <a:solidFill>
              <a:schemeClr val="bg1"/>
            </a:solidFill>
            <a:prstDash val="dash"/>
          </a:ln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7FA6527-207F-3AAE-89C9-B4B2CA200E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3399" y="1581055"/>
            <a:ext cx="4229317" cy="3695890"/>
          </a:xfrm>
          <a:prstGeom prst="rect">
            <a:avLst/>
          </a:prstGeom>
          <a:ln w="25400">
            <a:solidFill>
              <a:schemeClr val="bg1"/>
            </a:solidFill>
            <a:prstDash val="dash"/>
          </a:ln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8CB8108-FC57-AE05-65EC-D712256876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0363" y="2063749"/>
            <a:ext cx="4483330" cy="4692891"/>
          </a:xfrm>
          <a:prstGeom prst="rect">
            <a:avLst/>
          </a:prstGeom>
          <a:ln w="25400">
            <a:solidFill>
              <a:schemeClr val="bg1"/>
            </a:solidFill>
            <a:prstDash val="dash"/>
          </a:ln>
        </p:spPr>
      </p:pic>
    </p:spTree>
    <p:extLst>
      <p:ext uri="{BB962C8B-B14F-4D97-AF65-F5344CB8AC3E}">
        <p14:creationId xmlns:p14="http://schemas.microsoft.com/office/powerpoint/2010/main" val="300051775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B7C1A-EC72-6010-8B17-EAFFE770E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4A193075-5F05-CA65-5BE9-5D423528C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IDEA</a:t>
            </a:r>
            <a:r>
              <a:rPr lang="zh-CN" altLang="en-US" dirty="0"/>
              <a:t>创建</a:t>
            </a:r>
            <a:r>
              <a:rPr lang="en-US" altLang="zh-CN" dirty="0"/>
              <a:t>Java</a:t>
            </a:r>
            <a:r>
              <a:rPr lang="zh-CN" altLang="en-US" dirty="0"/>
              <a:t>项目的代码结构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3D1994F-634E-19AC-99D8-C96276145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15" y="1184215"/>
            <a:ext cx="4261069" cy="231786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1679EDF4-A164-EBC4-C060-76F80C62D0ED}"/>
              </a:ext>
            </a:extLst>
          </p:cNvPr>
          <p:cNvSpPr txBox="1"/>
          <p:nvPr/>
        </p:nvSpPr>
        <p:spPr>
          <a:xfrm>
            <a:off x="631715" y="4064000"/>
            <a:ext cx="97433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整个基础篇创建一个</a:t>
            </a:r>
            <a:r>
              <a:rPr lang="en-US" altLang="zh-CN" sz="2800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Project</a:t>
            </a:r>
            <a:r>
              <a:rPr lang="zh-CN" altLang="en-US" sz="2800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，今后每一天都创建一个新的</a:t>
            </a:r>
            <a:r>
              <a:rPr lang="en-US" altLang="zh-CN" sz="2800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Module</a:t>
            </a:r>
            <a:endParaRPr lang="zh-CN" altLang="en-US" sz="2800" dirty="0">
              <a:latin typeface="杨任东竹石体-Heavy" panose="02000000000000000000" pitchFamily="2" charset="-122"/>
              <a:ea typeface="杨任东竹石体-Heavy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299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5B8A1-4B1E-C78B-CF1D-AAD49BE04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F94D235E-2EF9-6995-7A7D-816FBA9C5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IDEA </a:t>
            </a:r>
            <a:r>
              <a:rPr lang="zh-CN" altLang="en-US" dirty="0"/>
              <a:t>中的第一个代码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C238978-A82B-1D9C-2A65-0FEA1EF34F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196" y="1377913"/>
            <a:ext cx="1225613" cy="142247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F5F6E2E-5AB3-D4B9-ED69-18AFC7140986}"/>
              </a:ext>
            </a:extLst>
          </p:cNvPr>
          <p:cNvSpPr txBox="1"/>
          <p:nvPr/>
        </p:nvSpPr>
        <p:spPr>
          <a:xfrm>
            <a:off x="1946165" y="1377913"/>
            <a:ext cx="54585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英文看不习惯的同学，可以考虑</a:t>
            </a:r>
            <a:r>
              <a:rPr lang="zh-CN" altLang="en-US" dirty="0">
                <a:solidFill>
                  <a:schemeClr val="accent1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暂时</a:t>
            </a:r>
            <a:r>
              <a:rPr lang="zh-CN" altLang="en-US" dirty="0"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安装个中文插件</a:t>
            </a:r>
            <a:endParaRPr lang="en-US" altLang="zh-CN" dirty="0"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  <a:p>
            <a:r>
              <a:rPr lang="zh-CN" altLang="en-US" dirty="0"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实际工作中是英文界面</a:t>
            </a:r>
            <a:endParaRPr lang="en-US" altLang="zh-CN" dirty="0"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A46F0B5-E096-3C87-A907-E641DF954D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6836" y="2146300"/>
            <a:ext cx="2702014" cy="449838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C29EA41-DFBB-7B46-A292-60D21D96D4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2725" y="2146300"/>
            <a:ext cx="6049126" cy="4520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50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by x="100000" y="100000"/>
                                      <p:from x="0" y="0"/>
                                      <p:to x="120000" y="105000"/>
                                    </p:animScale>
                                    <p:animScale>
                                      <p:cBhvr>
                                        <p:cTn id="13" dur="187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by x="100000" y="100000"/>
                                      <p:from x="120000" y="105000"/>
                                      <p:to x="100000" y="115000"/>
                                    </p:animScale>
                                    <p:animScale>
                                      <p:cBhvr>
                                        <p:cTn id="14" dur="313" fill="hold">
                                          <p:stCondLst>
                                            <p:cond delay="437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by x="100000" y="100000"/>
                                      <p:from x="100000" y="115000"/>
                                      <p:to x="110000" y="100000"/>
                                    </p:animScale>
                                    <p:animScale>
                                      <p:cBhvr>
                                        <p:cTn id="15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by x="100000" y="100000"/>
                                      <p:from x="110000" y="100000"/>
                                      <p:to x="100000" y="110000"/>
                                    </p:animScale>
                                    <p:animScale>
                                      <p:cBhvr>
                                        <p:cTn id="16" dur="25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by x="100000" y="100000"/>
                                      <p:from x="10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by x="100000" y="100000"/>
                                      <p:from x="0" y="0"/>
                                      <p:to x="120000" y="105000"/>
                                    </p:animScale>
                                    <p:animScale>
                                      <p:cBhvr>
                                        <p:cTn id="22" dur="187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by x="100000" y="100000"/>
                                      <p:from x="120000" y="105000"/>
                                      <p:to x="100000" y="115000"/>
                                    </p:animScale>
                                    <p:animScale>
                                      <p:cBhvr>
                                        <p:cTn id="23" dur="313" fill="hold">
                                          <p:stCondLst>
                                            <p:cond delay="437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by x="100000" y="100000"/>
                                      <p:from x="100000" y="115000"/>
                                      <p:to x="110000" y="100000"/>
                                    </p:animScale>
                                    <p:animScale>
                                      <p:cBhvr>
                                        <p:cTn id="24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by x="100000" y="100000"/>
                                      <p:from x="110000" y="100000"/>
                                      <p:to x="100000" y="110000"/>
                                    </p:animScale>
                                    <p:animScale>
                                      <p:cBhvr>
                                        <p:cTn id="25" dur="25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by x="100000" y="100000"/>
                                      <p:from x="10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93579-D87C-18E7-7AF2-AA61E1498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F6BC134-3EBB-9EFC-4804-420979327D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IDEA</a:t>
            </a:r>
            <a:r>
              <a:rPr lang="zh-CN" altLang="en-US" dirty="0"/>
              <a:t>中的层级结构是</a:t>
            </a:r>
            <a:r>
              <a:rPr lang="en-US" altLang="zh-CN" dirty="0"/>
              <a:t>?</a:t>
            </a:r>
          </a:p>
          <a:p>
            <a:r>
              <a:rPr lang="en-US" altLang="zh-CN" dirty="0"/>
              <a:t>	project</a:t>
            </a:r>
            <a:r>
              <a:rPr lang="zh-CN" altLang="en-US" dirty="0"/>
              <a:t>、</a:t>
            </a:r>
            <a:r>
              <a:rPr lang="en-US" altLang="zh-CN" dirty="0"/>
              <a:t>module</a:t>
            </a:r>
            <a:r>
              <a:rPr lang="zh-CN" altLang="en-US" dirty="0"/>
              <a:t>、</a:t>
            </a:r>
            <a:r>
              <a:rPr lang="en-US" altLang="zh-CN" dirty="0"/>
              <a:t>package</a:t>
            </a:r>
            <a:r>
              <a:rPr lang="zh-CN" altLang="en-US" dirty="0"/>
              <a:t>、</a:t>
            </a:r>
            <a:r>
              <a:rPr lang="en-US" altLang="zh-CN" dirty="0"/>
              <a:t>class</a:t>
            </a:r>
          </a:p>
          <a:p>
            <a:r>
              <a:rPr lang="en-US" altLang="zh-CN" dirty="0"/>
              <a:t>Project</a:t>
            </a:r>
            <a:r>
              <a:rPr lang="zh-CN" altLang="en-US" dirty="0"/>
              <a:t>、</a:t>
            </a:r>
            <a:r>
              <a:rPr lang="en-US" altLang="zh-CN" dirty="0"/>
              <a:t>Module</a:t>
            </a:r>
            <a:r>
              <a:rPr lang="zh-CN" altLang="en-US" dirty="0"/>
              <a:t>、</a:t>
            </a:r>
            <a:r>
              <a:rPr lang="en-US" altLang="zh-CN" dirty="0"/>
              <a:t>Package </a:t>
            </a:r>
            <a:r>
              <a:rPr lang="zh-CN" altLang="en-US" dirty="0"/>
              <a:t>本质来讲是什么？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文件夹，管理类文件的</a:t>
            </a:r>
            <a:endParaRPr lang="en-US" altLang="zh-CN" dirty="0"/>
          </a:p>
          <a:p>
            <a:r>
              <a:rPr lang="zh-CN" altLang="en-US" dirty="0"/>
              <a:t>生成 </a:t>
            </a:r>
            <a:r>
              <a:rPr lang="en-US" altLang="zh-CN" dirty="0"/>
              <a:t>main </a:t>
            </a:r>
            <a:r>
              <a:rPr lang="zh-CN" altLang="en-US" dirty="0"/>
              <a:t>方法的快捷键是？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psvm</a:t>
            </a:r>
            <a:r>
              <a:rPr lang="zh-CN" altLang="en-US" dirty="0"/>
              <a:t>、</a:t>
            </a:r>
            <a:r>
              <a:rPr lang="en-US" altLang="zh-CN" dirty="0"/>
              <a:t>main</a:t>
            </a:r>
          </a:p>
          <a:p>
            <a:r>
              <a:rPr lang="zh-CN" altLang="en-US" dirty="0"/>
              <a:t>生产打印数据的快捷键是？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sout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0381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8F979-27A7-023C-42DD-FD4CC22A7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70D6222-85DD-8A27-DA8C-CC86E56501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58201" y="1662411"/>
            <a:ext cx="3692525" cy="3917934"/>
          </a:xfrm>
        </p:spPr>
        <p:txBody>
          <a:bodyPr/>
          <a:lstStyle/>
          <a:p>
            <a:r>
              <a:rPr lang="en-US" altLang="zh-CN" dirty="0"/>
              <a:t>IDEA </a:t>
            </a:r>
            <a:r>
              <a:rPr lang="zh-CN" altLang="en-US" dirty="0"/>
              <a:t>介绍和安装</a:t>
            </a:r>
            <a:endParaRPr lang="en-US" altLang="zh-CN" dirty="0"/>
          </a:p>
          <a:p>
            <a:r>
              <a:rPr lang="en-US" altLang="zh-CN" dirty="0"/>
              <a:t>IDEA </a:t>
            </a:r>
            <a:r>
              <a:rPr lang="zh-CN" altLang="en-US" dirty="0"/>
              <a:t>中的第一个代码</a:t>
            </a:r>
            <a:endParaRPr lang="en-US" altLang="zh-CN" dirty="0"/>
          </a:p>
          <a:p>
            <a:r>
              <a:rPr lang="en-US" altLang="zh-CN" dirty="0"/>
              <a:t>IDEA </a:t>
            </a:r>
            <a:r>
              <a:rPr lang="zh-CN" altLang="en-US" dirty="0"/>
              <a:t>使用操作</a:t>
            </a:r>
          </a:p>
        </p:txBody>
      </p:sp>
    </p:spTree>
    <p:extLst>
      <p:ext uri="{BB962C8B-B14F-4D97-AF65-F5344CB8AC3E}">
        <p14:creationId xmlns:p14="http://schemas.microsoft.com/office/powerpoint/2010/main" val="31148502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E6D1B-74A8-138B-22C1-EE6EDB556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2CEC29E-D072-C2C8-7A2C-D90BA64075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en-US" altLang="zh-CN" dirty="0"/>
              <a:t>IDEA </a:t>
            </a:r>
            <a:r>
              <a:rPr lang="zh-CN" altLang="en-US" dirty="0"/>
              <a:t>的使用操作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6C19BBB3-3601-EBD9-7D7B-6CA1746B33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757530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54E87F-A4D9-DC57-5D11-C388385E4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IDEA </a:t>
            </a:r>
            <a:r>
              <a:rPr lang="zh-CN" altLang="en-US" dirty="0"/>
              <a:t>使用操作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4638937E-244E-ACBA-AEF9-132BBF66F846}"/>
              </a:ext>
            </a:extLst>
          </p:cNvPr>
          <p:cNvSpPr txBox="1"/>
          <p:nvPr/>
        </p:nvSpPr>
        <p:spPr>
          <a:xfrm>
            <a:off x="576626" y="1267673"/>
            <a:ext cx="2585674" cy="116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7708" lvl="4" indent="-357708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新建类文件</a:t>
            </a: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57708" lvl="4" indent="-357708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删除类文件</a:t>
            </a: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57708" lvl="4" indent="-357708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修改类文件</a:t>
            </a: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6652D5C3-3DF7-8E07-82B9-B9EB0075EB7D}"/>
              </a:ext>
            </a:extLst>
          </p:cNvPr>
          <p:cNvSpPr txBox="1"/>
          <p:nvPr/>
        </p:nvSpPr>
        <p:spPr>
          <a:xfrm>
            <a:off x="576626" y="2665906"/>
            <a:ext cx="2630124" cy="1526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7708" lvl="4" indent="-357708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新建模块</a:t>
            </a: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57708" lvl="4" indent="-357708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删除模块</a:t>
            </a: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57708" lvl="4" indent="-357708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修改模块</a:t>
            </a: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57708" lvl="4" indent="-357708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导入模块</a:t>
            </a: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AE08C9FA-333B-6A91-EF79-148CC224B669}"/>
              </a:ext>
            </a:extLst>
          </p:cNvPr>
          <p:cNvSpPr txBox="1"/>
          <p:nvPr/>
        </p:nvSpPr>
        <p:spPr>
          <a:xfrm>
            <a:off x="576626" y="4531573"/>
            <a:ext cx="2998424" cy="1526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7708" lvl="4" indent="-357708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关闭项目</a:t>
            </a: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57708" lvl="4" indent="-357708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打开项目</a:t>
            </a: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57708" lvl="4" indent="-357708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修改项目</a:t>
            </a: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57708" lvl="4" indent="-357708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新建项目</a:t>
            </a: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C3B8461-BEE0-736E-03E8-E699FF686FFC}"/>
              </a:ext>
            </a:extLst>
          </p:cNvPr>
          <p:cNvSpPr txBox="1"/>
          <p:nvPr/>
        </p:nvSpPr>
        <p:spPr>
          <a:xfrm>
            <a:off x="4453470" y="2091886"/>
            <a:ext cx="44759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不急于一时，慢慢熟练就好</a:t>
            </a:r>
          </a:p>
        </p:txBody>
      </p:sp>
      <p:pic>
        <p:nvPicPr>
          <p:cNvPr id="1026" name="Picture 2" descr="猫咪表情包 加油！ - 堆糖，美图壁纸兴趣社区">
            <a:extLst>
              <a:ext uri="{FF2B5EF4-FFF2-40B4-BE49-F238E27FC236}">
                <a16:creationId xmlns:a16="http://schemas.microsoft.com/office/drawing/2014/main" id="{249A369F-7924-315D-0D5E-AB932CC664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4886" y="3010748"/>
            <a:ext cx="2940050" cy="294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9870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1f6b6247-00f9-4185-bb3e-6a09396f8e3b"/>
</p:tagLst>
</file>

<file path=ppt/theme/theme1.xml><?xml version="1.0" encoding="utf-8"?>
<a:theme xmlns:a="http://schemas.openxmlformats.org/drawingml/2006/main" name="内容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封面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目录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Seven</Template>
  <TotalTime>9151</TotalTime>
  <Words>351</Words>
  <Application>Microsoft Office PowerPoint</Application>
  <PresentationFormat>宽屏</PresentationFormat>
  <Paragraphs>80</Paragraphs>
  <Slides>18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18</vt:i4>
      </vt:variant>
    </vt:vector>
  </HeadingPairs>
  <TitlesOfParts>
    <vt:vector size="40" baseType="lpstr">
      <vt:lpstr>Alibaba PuHuiTi B</vt:lpstr>
      <vt:lpstr>Alibaba PuHuiTi Medium</vt:lpstr>
      <vt:lpstr>Alibaba PuHuiTi R</vt:lpstr>
      <vt:lpstr>阿里巴巴普惠体</vt:lpstr>
      <vt:lpstr>阿里巴巴普惠体 Heavy</vt:lpstr>
      <vt:lpstr>阿里巴巴普惠体 Medium</vt:lpstr>
      <vt:lpstr>等线</vt:lpstr>
      <vt:lpstr>楷体</vt:lpstr>
      <vt:lpstr>杨任东竹石体-Bold</vt:lpstr>
      <vt:lpstr>杨任东竹石体-Heavy</vt:lpstr>
      <vt:lpstr>印品黑体</vt:lpstr>
      <vt:lpstr>造字工房劲黑（非商用）常规体</vt:lpstr>
      <vt:lpstr>Arial</vt:lpstr>
      <vt:lpstr>Calisto MT</vt:lpstr>
      <vt:lpstr>Consolas</vt:lpstr>
      <vt:lpstr>Source Code Pro</vt:lpstr>
      <vt:lpstr>Wingdings</vt:lpstr>
      <vt:lpstr>内容模板</vt:lpstr>
      <vt:lpstr>封面</vt:lpstr>
      <vt:lpstr>章节目录模板</vt:lpstr>
      <vt:lpstr>小结思考模板2</vt:lpstr>
      <vt:lpstr>1_小结思考模板2</vt:lpstr>
      <vt:lpstr>第二章：IDEA 开发工具</vt:lpstr>
      <vt:lpstr>PowerPoint 演示文稿</vt:lpstr>
      <vt:lpstr>PowerPoint 演示文稿</vt:lpstr>
      <vt:lpstr>PowerPoint 演示文稿</vt:lpstr>
      <vt:lpstr>安装开发工具</vt:lpstr>
      <vt:lpstr>PowerPoint 演示文稿</vt:lpstr>
      <vt:lpstr>PowerPoint 演示文稿</vt:lpstr>
      <vt:lpstr>PowerPoint 演示文稿</vt:lpstr>
      <vt:lpstr>IDEA创建Java项目的代码结构</vt:lpstr>
      <vt:lpstr>IDEA创建Java项目的代码结构</vt:lpstr>
      <vt:lpstr>IDEA创建Java项目的代码结构</vt:lpstr>
      <vt:lpstr>IDEA创建Java项目的代码结构</vt:lpstr>
      <vt:lpstr>IDEA 中的第一个代码</vt:lpstr>
      <vt:lpstr>PowerPoint 演示文稿</vt:lpstr>
      <vt:lpstr>PowerPoint 演示文稿</vt:lpstr>
      <vt:lpstr>PowerPoint 演示文稿</vt:lpstr>
      <vt:lpstr>IDEA 使用操作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Seven</dc:creator>
  <cp:lastModifiedBy>ys h</cp:lastModifiedBy>
  <cp:revision>463</cp:revision>
  <cp:lastPrinted>2022-05-29T16:00:00Z</cp:lastPrinted>
  <dcterms:created xsi:type="dcterms:W3CDTF">2022-05-29T16:00:00Z</dcterms:created>
  <dcterms:modified xsi:type="dcterms:W3CDTF">2025-02-14T09:12:18Z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1f6b6247-00f9-4185-bb3e-6a09396f8e3b</vt:lpwstr>
  </property>
</Properties>
</file>