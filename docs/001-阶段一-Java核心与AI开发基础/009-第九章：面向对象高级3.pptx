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29"/>
  </p:notesMasterIdLst>
  <p:handoutMasterIdLst>
    <p:handoutMasterId r:id="rId30"/>
  </p:handoutMasterIdLst>
  <p:sldIdLst>
    <p:sldId id="280" r:id="rId6"/>
    <p:sldId id="2805" r:id="rId7"/>
    <p:sldId id="2769" r:id="rId8"/>
    <p:sldId id="637" r:id="rId9"/>
    <p:sldId id="2848" r:id="rId10"/>
    <p:sldId id="682" r:id="rId11"/>
    <p:sldId id="1882" r:id="rId12"/>
    <p:sldId id="1329" r:id="rId13"/>
    <p:sldId id="2846" r:id="rId14"/>
    <p:sldId id="1848" r:id="rId15"/>
    <p:sldId id="1873" r:id="rId16"/>
    <p:sldId id="1849" r:id="rId17"/>
    <p:sldId id="2837" r:id="rId18"/>
    <p:sldId id="709" r:id="rId19"/>
    <p:sldId id="684" r:id="rId20"/>
    <p:sldId id="691" r:id="rId21"/>
    <p:sldId id="528" r:id="rId22"/>
    <p:sldId id="2838" r:id="rId23"/>
    <p:sldId id="780" r:id="rId24"/>
    <p:sldId id="1315" r:id="rId25"/>
    <p:sldId id="1314" r:id="rId26"/>
    <p:sldId id="2849" r:id="rId27"/>
    <p:sldId id="288" r:id="rId28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79" autoAdjust="0"/>
    <p:restoredTop sz="94349" autoAdjust="0"/>
  </p:normalViewPr>
  <p:slideViewPr>
    <p:cSldViewPr snapToGrid="0" showGuides="1">
      <p:cViewPr varScale="1">
        <p:scale>
          <a:sx n="75" d="100"/>
          <a:sy n="75" d="100"/>
        </p:scale>
        <p:origin x="115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2025/4/16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2025/4/16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14A6-3C2E-46C9-90F4-D41FFA7A8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795829-3F8A-F260-B557-7A8D89320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AFF8C0-DB9A-5616-AFF6-9EC6B0542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71C233-701B-E36D-B12C-A352FA8D7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506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9F16C362-E4C0-4FFC-98D2-179B19335FA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A0F5F43B-2626-48D2-9D23-E20B2FD88F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37F470A7-6D97-4F33-A7DB-2D064A81C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5010CB-9196-482F-8179-7290298C7288}" type="slidenum">
              <a:rPr altLang="en-US" sz="1800" smtClean="0"/>
              <a:pPr/>
              <a:t>4</a:t>
            </a:fld>
            <a:endParaRPr lang="zh-CN" altLang="en-US" sz="18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6A13C956-96D8-40DA-9B4C-2242621B3D8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2E41B7D1-67B8-49C4-879F-60B327521AF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507FB824-9C06-4B56-A127-5CB6CDC57C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5957C07-582A-443B-891B-5FA5C62DF537}" type="slidenum">
              <a:rPr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6A13C956-96D8-40DA-9B4C-2242621B3D8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2E41B7D1-67B8-49C4-879F-60B327521AF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507FB824-9C06-4B56-A127-5CB6CDC57C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5957C07-582A-443B-891B-5FA5C62DF537}" type="slidenum">
              <a:rPr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046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9B2E0C3A-575E-4CD2-8D21-E5D4EFDF5A5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72A91698-6D0D-4450-BB33-2CC9C39368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CC7BDEDD-17FA-4883-ABB7-CCF3A4DCDE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BB310C3B-2A0C-4537-8FE1-F1D8E6FD2540}" type="slidenum">
              <a:rPr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103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22D2D-230E-CA8D-7416-6513F93B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C7AC4608-A887-BEAE-C222-30CF66A7F8A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390B30B1-4CA7-9CBD-AB55-68E08B525A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24326F67-0D14-2271-3466-84F2DA5BAA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BB310C3B-2A0C-4537-8FE1-F1D8E6FD2540}" type="slidenum">
              <a:rPr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864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355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744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81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9153B-2DFC-C9A7-3FF3-A0C24620D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7A5A75-FEC9-FED1-A1FC-8FBDCDB0E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EC01B7-25C4-AF9C-D7DC-6EE6D9F5D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BE9D4A-5D3E-4AD1-CC47-19F9233FF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252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6A13C956-96D8-40DA-9B4C-2242621B3D8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2E41B7D1-67B8-49C4-879F-60B327521AF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接下来，我们来学习内部类，学完内部类之后，要求大家知道内部类的格式和使用。</a:t>
            </a:r>
            <a:endParaRPr lang="en-US" altLang="zh-CN"/>
          </a:p>
          <a:p>
            <a:r>
              <a:rPr lang="zh-CN" altLang="en-US"/>
              <a:t>在讲解内部类之前，我们先对内部类做一个简单的描述。</a:t>
            </a:r>
            <a:endParaRPr lang="en-US" altLang="zh-CN"/>
          </a:p>
          <a:p>
            <a:r>
              <a:rPr lang="zh-CN" altLang="en-US"/>
              <a:t>内部类，顾名思义，就是在一个类中定义一个类。</a:t>
            </a:r>
            <a:endParaRPr lang="en-US" altLang="zh-CN"/>
          </a:p>
          <a:p>
            <a:r>
              <a:rPr lang="zh-CN" altLang="en-US"/>
              <a:t>我们来看一下格式，这就是内部类的定义格式。</a:t>
            </a:r>
            <a:endParaRPr lang="en-US" altLang="zh-CN"/>
          </a:p>
          <a:p>
            <a:r>
              <a:rPr lang="zh-CN" altLang="en-US"/>
              <a:t>讲解完毕格式和和针对格式给出的范例，以及访问特点后，我们到代码中演示一下。</a:t>
            </a:r>
            <a:endParaRPr lang="en-US" altLang="zh-CN"/>
          </a:p>
          <a:p>
            <a:endParaRPr lang="zh-CN" altLang="en-US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507FB824-9C06-4B56-A127-5CB6CDC57C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5957C07-582A-443B-891B-5FA5C62DF537}" type="slidenum">
              <a:rPr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0367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9B2E0C3A-575E-4CD2-8D21-E5D4EFDF5A5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72A91698-6D0D-4450-BB33-2CC9C39368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CC7BDEDD-17FA-4883-ABB7-CCF3A4DCDE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BB310C3B-2A0C-4537-8FE1-F1D8E6FD2540}" type="slidenum">
              <a:rPr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0A9B55F5-E1AA-48A1-AF7F-8F749E8FEC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FEA35700-FACA-4C22-B4CF-7EE7B2FD99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023854FA-6D19-42B9-B2E8-E30B5A16B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11F0E1EB-CF5C-4D9A-BEB0-5ACB38B749B7}" type="slidenum">
              <a:rPr lang="zh-CN" altLang="en-US"/>
              <a:pPr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0E97A355-211B-418D-B3A6-4D8C8E4FE8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AAD47850-A142-4C89-A0E5-12754457F4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99B90E40-3A7A-4D0F-9CF7-00177D32B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B5675650-BFD4-4AF8-8334-98278CDBB829}" type="slidenum">
              <a:rPr lang="zh-CN" altLang="en-US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28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45E9225F-C91A-4F8C-BFF1-55D2F66491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备注占位符 2">
            <a:extLst>
              <a:ext uri="{FF2B5EF4-FFF2-40B4-BE49-F238E27FC236}">
                <a16:creationId xmlns:a16="http://schemas.microsoft.com/office/drawing/2014/main" id="{DD1C8E51-6998-48E2-A428-0D1A27B9B9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AB0E1555-286D-440B-A0EB-60159DF17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51F253A-5CFD-4D70-8A8B-C17C08C398C2}" type="slidenum">
              <a:rPr lang="zh-CN" altLang="en-US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81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45E9225F-C91A-4F8C-BFF1-55D2F66491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备注占位符 2">
            <a:extLst>
              <a:ext uri="{FF2B5EF4-FFF2-40B4-BE49-F238E27FC236}">
                <a16:creationId xmlns:a16="http://schemas.microsoft.com/office/drawing/2014/main" id="{DD1C8E51-6998-48E2-A428-0D1A27B9B9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AB0E1555-286D-440B-A0EB-60159DF17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51F253A-5CFD-4D70-8A8B-C17C08C398C2}" type="slidenum">
              <a:rPr lang="zh-CN" altLang="en-US"/>
              <a:pPr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06289-B465-0985-8F85-E0E982748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E2F224-6962-B81F-4143-1EFE16DA4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F0B1FA-DC4C-3DFD-313D-E2FFAB4D8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94C25F-5377-94F3-1F6F-131D77D1B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087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1888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4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329653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703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22555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3149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598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2934960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0940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6" r:id="rId14"/>
    <p:sldLayoutId id="2147483699" r:id="rId15"/>
    <p:sldLayoutId id="2147483700" r:id="rId16"/>
    <p:sldLayoutId id="2147483702" r:id="rId17"/>
    <p:sldLayoutId id="2147483703" r:id="rId18"/>
    <p:sldLayoutId id="2147483705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  <p:sldLayoutId id="214748370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  <p:sldLayoutId id="21474837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第九章：面向对象高级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5057820" cy="563562"/>
          </a:xfrm>
        </p:spPr>
        <p:txBody>
          <a:bodyPr/>
          <a:lstStyle/>
          <a:p>
            <a:pPr algn="l"/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万物皆对象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9520F1A-77B2-0C7D-E557-AC00D33E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>
            <a:extLst>
              <a:ext uri="{FF2B5EF4-FFF2-40B4-BE49-F238E27FC236}">
                <a16:creationId xmlns:a16="http://schemas.microsoft.com/office/drawing/2014/main" id="{0CAA349F-3D47-6C40-096A-E418D3771E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3732" y="2042336"/>
            <a:ext cx="2164582" cy="1956553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R"/>
              </a:rPr>
              <a:t>继承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R"/>
              </a:rPr>
              <a:t>Object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R"/>
              </a:rPr>
              <a:t>类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R"/>
              </a:rPr>
              <a:t>final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R"/>
              </a:rPr>
              <a:t>关键字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R"/>
              </a:rPr>
              <a:t>抽象类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Alibaba PuHuiTi R"/>
            </a:endParaRPr>
          </a:p>
        </p:txBody>
      </p:sp>
      <p:sp>
        <p:nvSpPr>
          <p:cNvPr id="9" name="文本占位符 1">
            <a:extLst>
              <a:ext uri="{FF2B5EF4-FFF2-40B4-BE49-F238E27FC236}">
                <a16:creationId xmlns:a16="http://schemas.microsoft.com/office/drawing/2014/main" id="{E1DBE1D1-D463-6239-39F7-C5E2C81B06F2}"/>
              </a:ext>
            </a:extLst>
          </p:cNvPr>
          <p:cNvSpPr txBox="1">
            <a:spLocks/>
          </p:cNvSpPr>
          <p:nvPr/>
        </p:nvSpPr>
        <p:spPr>
          <a:xfrm>
            <a:off x="7940574" y="2042336"/>
            <a:ext cx="2164581" cy="1956553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R"/>
              </a:rPr>
              <a:t>接口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R"/>
              </a:rPr>
              <a:t>多态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R"/>
              </a:rPr>
              <a:t>代码块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Alibaba PuHuiTi R"/>
            </a:endParaRPr>
          </a:p>
        </p:txBody>
      </p:sp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BD1D9DE5-1696-0A6F-8D3D-A1702F02A9DC}"/>
              </a:ext>
            </a:extLst>
          </p:cNvPr>
          <p:cNvSpPr txBox="1">
            <a:spLocks/>
          </p:cNvSpPr>
          <p:nvPr/>
        </p:nvSpPr>
        <p:spPr>
          <a:xfrm>
            <a:off x="9616043" y="2309035"/>
            <a:ext cx="2164581" cy="1956553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ea typeface="Alibaba PuHuiTi R"/>
              </a:rPr>
              <a:t>内部类</a:t>
            </a:r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ea typeface="Alibaba PuHuiTi R"/>
              </a:rPr>
              <a:t>Lambda 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ea typeface="Alibaba PuHuiTi R"/>
              </a:rPr>
              <a:t>表达式</a:t>
            </a:r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  <a:ea typeface="Alibaba PuHuiTi R"/>
            </a:endParaRPr>
          </a:p>
          <a:p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  <a:ea typeface="Alibaba PuHuiTi R"/>
            </a:endParaRPr>
          </a:p>
        </p:txBody>
      </p:sp>
    </p:spTree>
    <p:extLst>
      <p:ext uri="{BB962C8B-B14F-4D97-AF65-F5344CB8AC3E}">
        <p14:creationId xmlns:p14="http://schemas.microsoft.com/office/powerpoint/2010/main" val="174074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C3DF-11CE-B144-710F-27354C02F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A5E05D-3A8E-4642-F501-C32FC05F34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包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858D89A2-9AAF-34B7-31D9-E0D8FB0771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437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3FD290-2438-47FF-A687-AC5CF3505398}"/>
              </a:ext>
            </a:extLst>
          </p:cNvPr>
          <p:cNvSpPr txBox="1"/>
          <p:nvPr/>
        </p:nvSpPr>
        <p:spPr>
          <a:xfrm>
            <a:off x="679451" y="1032716"/>
            <a:ext cx="9906000" cy="352750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>
              <a:lnSpc>
                <a:spcPct val="200000"/>
              </a:lnSpc>
              <a:buFont typeface="Wingdings" panose="05000000000000000000" charset="0"/>
              <a:buChar char="l"/>
              <a:defRPr/>
            </a:pPr>
            <a:r>
              <a:rPr lang="zh-CN" altLang="en-US" sz="1600" noProof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包本质来说就是文件夹</a:t>
            </a:r>
            <a:r>
              <a:rPr lang="en-US" altLang="zh-CN" sz="1600" noProof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sz="1600" noProof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用来管理类文件的</a:t>
            </a:r>
          </a:p>
          <a:p>
            <a:pPr marL="228594" indent="-228594">
              <a:lnSpc>
                <a:spcPct val="200000"/>
              </a:lnSpc>
              <a:buFont typeface="Wingdings" panose="05000000000000000000" charset="0"/>
              <a:buChar char="l"/>
              <a:defRPr/>
            </a:pPr>
            <a:r>
              <a:rPr lang="zh-CN" altLang="en-US" sz="1600" noProof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建包的语法格式：</a:t>
            </a:r>
            <a:r>
              <a:rPr lang="en-US" altLang="zh-CN" sz="1600" noProof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package </a:t>
            </a:r>
            <a:r>
              <a:rPr lang="zh-CN" altLang="en-US" sz="1600" noProof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公司域名倒写</a:t>
            </a:r>
            <a:r>
              <a:rPr lang="en-US" altLang="zh-CN" sz="1600" noProof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en-US" sz="1600" noProof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技术名称。包名建议全部英文小写，且具备意义</a:t>
            </a:r>
          </a:p>
          <a:p>
            <a:pPr>
              <a:lnSpc>
                <a:spcPct val="200000"/>
              </a:lnSpc>
              <a:defRPr/>
            </a:pPr>
            <a:endParaRPr lang="en-US" altLang="zh-CN" sz="1600" noProof="1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defRPr/>
            </a:pPr>
            <a:endParaRPr lang="en-US" altLang="zh-CN" sz="1600" noProof="1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defRPr/>
            </a:pPr>
            <a:endParaRPr lang="zh-CN" altLang="en-US" sz="1600" noProof="1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200000"/>
              </a:lnSpc>
              <a:buFont typeface="Wingdings" panose="05000000000000000000" charset="0"/>
              <a:buChar char="l"/>
              <a:defRPr/>
            </a:pPr>
            <a:r>
              <a:rPr lang="zh-CN" altLang="en-US" sz="1600" noProof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建包语句必须在第一行，一般</a:t>
            </a:r>
            <a:r>
              <a:rPr lang="en-US" altLang="zh-CN" sz="1600" noProof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IDEA</a:t>
            </a:r>
            <a:r>
              <a:rPr lang="zh-CN" altLang="en-US" sz="1600" noProof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工具会帮助创建</a:t>
            </a:r>
          </a:p>
          <a:p>
            <a:pPr marL="228594" indent="-228594">
              <a:lnSpc>
                <a:spcPct val="200000"/>
              </a:lnSpc>
              <a:defRPr/>
            </a:pPr>
            <a:endParaRPr lang="zh-CN" altLang="en-US" noProof="1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D7DF4A8E-F7FC-4EB1-8A6D-14095724E9CA}"/>
              </a:ext>
            </a:extLst>
          </p:cNvPr>
          <p:cNvSpPr txBox="1"/>
          <p:nvPr/>
        </p:nvSpPr>
        <p:spPr>
          <a:xfrm>
            <a:off x="1127991" y="2282866"/>
            <a:ext cx="3983066" cy="1027204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package</a:t>
            </a:r>
            <a:r>
              <a:rPr lang="en-US" altLang="zh-CN" sz="14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com.itheima.pojo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;</a:t>
            </a:r>
            <a:endParaRPr lang="zh-CN" altLang="zh-CN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00E8CA-3849-4518-8056-7773F305E25C}"/>
              </a:ext>
            </a:extLst>
          </p:cNvPr>
          <p:cNvSpPr txBox="1"/>
          <p:nvPr/>
        </p:nvSpPr>
        <p:spPr>
          <a:xfrm>
            <a:off x="679451" y="4371579"/>
            <a:ext cx="10833098" cy="205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导包</a:t>
            </a:r>
            <a:r>
              <a:rPr lang="en-US" altLang="zh-CN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</a:p>
          <a:p>
            <a:pPr marL="228594" indent="-228594">
              <a:lnSpc>
                <a:spcPct val="200000"/>
              </a:lnSpc>
              <a:buFont typeface="Wingdings" panose="05000000000000000000" charset="0"/>
              <a:buChar char="l"/>
              <a:defRPr/>
            </a:pP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相同包下的类可以直接访问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6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不同包下的类必须导包,才可以使用！导包格式：</a:t>
            </a:r>
            <a:r>
              <a:rPr lang="en-US" altLang="zh-CN" sz="1600" b="1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</a:t>
            </a:r>
            <a:r>
              <a:rPr lang="en-US" altLang="zh-CN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600" b="1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包名.类名</a:t>
            </a:r>
            <a:r>
              <a:rPr lang="en-US" altLang="zh-CN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 marL="228594" indent="-228594">
              <a:lnSpc>
                <a:spcPct val="200000"/>
              </a:lnSpc>
              <a:buFont typeface="Wingdings" panose="05000000000000000000" charset="0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如果导入的类在 </a:t>
            </a:r>
            <a:r>
              <a:rPr lang="en-US" altLang="zh-CN" sz="1600" b="1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java.lang</a:t>
            </a:r>
            <a:r>
              <a:rPr lang="en-US" altLang="zh-CN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 </a:t>
            </a:r>
            <a:r>
              <a:rPr lang="en-US" altLang="zh-CN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核心包</a:t>
            </a:r>
            <a:r>
              <a:rPr lang="en-US" altLang="zh-CN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就不需要编写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导包代码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200000"/>
              </a:lnSpc>
              <a:buFont typeface="Wingdings" panose="05000000000000000000" charset="0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假如一个类中需要用到不同类，而这个两个类的名称是一样的，那么默认只能导入一个类，另一个类要带包名访问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E52D383-EB7C-0299-FE61-87B8E467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package </a:t>
            </a:r>
            <a:r>
              <a:rPr lang="zh-CN" altLang="en-US" dirty="0"/>
              <a:t>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22C67-157A-AAE0-2CAB-7B19C3E9E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E0CAA1-DD9A-7189-85D9-3BD1AD8FB1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内部类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7AB08CA4-B395-FDDF-B816-B472073B6D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9219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F6949478-6691-4E37-8F11-4064D1E7C5CE}"/>
              </a:ext>
            </a:extLst>
          </p:cNvPr>
          <p:cNvSpPr txBox="1"/>
          <p:nvPr/>
        </p:nvSpPr>
        <p:spPr>
          <a:xfrm>
            <a:off x="654674" y="963583"/>
            <a:ext cx="11426264" cy="10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内部类就是定义在一个类里面的类</a:t>
            </a:r>
            <a:endParaRPr lang="en-US" altLang="zh-CN" sz="1600" b="1" noProof="1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>
              <a:lnSpc>
                <a:spcPct val="200000"/>
              </a:lnSpc>
              <a:defRPr/>
            </a:pPr>
            <a:endParaRPr lang="en-US" altLang="zh-CN" sz="1600" b="1" noProof="1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485450C-F0A9-4A43-B273-554560F010C9}"/>
              </a:ext>
            </a:extLst>
          </p:cNvPr>
          <p:cNvSpPr txBox="1"/>
          <p:nvPr/>
        </p:nvSpPr>
        <p:spPr>
          <a:xfrm>
            <a:off x="747583" y="2259449"/>
            <a:ext cx="2934730" cy="1169551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Outer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内部类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en-US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Inner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7BB06F0-471E-446E-B253-5BFCF990E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545" y="4550885"/>
            <a:ext cx="7853182" cy="1009379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格式：外部类名.内部类名 对象名 = </a:t>
            </a:r>
            <a:r>
              <a:rPr lang="en-US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外部类对象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().</a:t>
            </a:r>
            <a:r>
              <a:rPr lang="en-US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内部类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r>
              <a:rPr lang="zh-CN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范例：Outer.Inner in = </a:t>
            </a:r>
            <a:r>
              <a:rPr lang="en-US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</a:t>
            </a:r>
            <a:r>
              <a:rPr lang="zh-CN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Outer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().</a:t>
            </a:r>
            <a:r>
              <a:rPr lang="en-US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Inner();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19B797-A6E4-46A1-ACF0-1C094A726C6F}"/>
              </a:ext>
            </a:extLst>
          </p:cNvPr>
          <p:cNvSpPr txBox="1"/>
          <p:nvPr/>
        </p:nvSpPr>
        <p:spPr>
          <a:xfrm>
            <a:off x="654674" y="3836098"/>
            <a:ext cx="9972137" cy="51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8131" indent="-358131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创建对象的格式 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518FA8-6098-6C29-A769-5A96532AD85B}"/>
              </a:ext>
            </a:extLst>
          </p:cNvPr>
          <p:cNvSpPr txBox="1"/>
          <p:nvPr/>
        </p:nvSpPr>
        <p:spPr>
          <a:xfrm>
            <a:off x="4377191" y="2259449"/>
            <a:ext cx="2934730" cy="1169551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Test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内部类</a:t>
            </a:r>
            <a:b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en-US" altLang="zh-CN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Inner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3446A62-4DC4-E3DF-E207-E7412557B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2113" y="2288582"/>
            <a:ext cx="3021985" cy="338554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Inner </a:t>
            </a:r>
            <a:r>
              <a:rPr lang="en-US" altLang="zh-CN" sz="16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Inner();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68AF76B4-8022-62A7-971B-9FCFF9D67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内部类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F6949478-6691-4E37-8F11-4064D1E7C5CE}"/>
              </a:ext>
            </a:extLst>
          </p:cNvPr>
          <p:cNvSpPr txBox="1"/>
          <p:nvPr/>
        </p:nvSpPr>
        <p:spPr>
          <a:xfrm>
            <a:off x="626683" y="944922"/>
            <a:ext cx="11426264" cy="1504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内部类中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访问外部类成员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直接访问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包括私有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外部类中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访问内部类成员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需要创建对象访问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  <a:defRPr/>
            </a:pPr>
            <a:endParaRPr lang="en-US" altLang="zh-CN" sz="1600" b="1" noProof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BE96C6-1ADD-A0C6-0AA5-269C3F55E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内部类对象访问特点</a:t>
            </a:r>
          </a:p>
        </p:txBody>
      </p:sp>
    </p:spTree>
    <p:extLst>
      <p:ext uri="{BB962C8B-B14F-4D97-AF65-F5344CB8AC3E}">
        <p14:creationId xmlns:p14="http://schemas.microsoft.com/office/powerpoint/2010/main" val="1104774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C57F4F-0E71-4BCB-8CCC-6F0CF81B6F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78DC77-DB89-447A-8168-678C920AE34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978150" y="1743075"/>
            <a:ext cx="9213850" cy="37623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2000" dirty="0"/>
              <a:t>请观察如下代码，写出合适的代码对应其注释要求输出的结果。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D18FB6B-7273-427F-9881-D5679CBB7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4601" y="2425882"/>
            <a:ext cx="5429249" cy="3386633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Outer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num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150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Inner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num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110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show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num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78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.println(??);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 78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.println(??);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 110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.println(??);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 150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056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FBA31-A4EC-4E37-6495-1F3BC2BF8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E5980-1491-436E-EB2A-09FF6111A7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4DA6D6-5547-627E-F267-742BB912846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978150" y="1743075"/>
            <a:ext cx="9213850" cy="37623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2000" dirty="0"/>
              <a:t>请观察如下代码，写出合适的代码对应其注释要求输出的结果。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140CDF-7558-147B-FB52-6A4AB5E7A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0556" y="2535352"/>
            <a:ext cx="5429249" cy="3386633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Outer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num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150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Inner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num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110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show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JetBrains Mono"/>
              </a:rPr>
              <a:t>num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78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JetBrains Mono"/>
              </a:rPr>
              <a:t>num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 78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this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num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 110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Outer.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this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num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// 150</a:t>
            </a:r>
            <a:b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26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98F70401-D216-1E7C-26E9-F2F35E8E4959}"/>
              </a:ext>
            </a:extLst>
          </p:cNvPr>
          <p:cNvSpPr txBox="1"/>
          <p:nvPr/>
        </p:nvSpPr>
        <p:spPr>
          <a:xfrm>
            <a:off x="576626" y="1197450"/>
            <a:ext cx="7660585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需求：写一个</a:t>
            </a:r>
            <a:r>
              <a:rPr lang="en-US" altLang="zh-CN" sz="1600" dirty="0" err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Javabean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类描述汽车。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属性：汽车的品牌，车龄，颜色，发动机的品牌，使用年限。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412C49B7-90B0-4A5D-A14D-9B0E0ECDD2CE}"/>
              </a:ext>
            </a:extLst>
          </p:cNvPr>
          <p:cNvSpPr txBox="1"/>
          <p:nvPr/>
        </p:nvSpPr>
        <p:spPr>
          <a:xfrm>
            <a:off x="576626" y="2309150"/>
            <a:ext cx="5401884" cy="295632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95E0DA-DA61-BE56-79AF-6433ED739FFE}"/>
              </a:ext>
            </a:extLst>
          </p:cNvPr>
          <p:cNvSpPr txBox="1"/>
          <p:nvPr/>
        </p:nvSpPr>
        <p:spPr>
          <a:xfrm>
            <a:off x="593385" y="2309150"/>
            <a:ext cx="2936701" cy="463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80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Car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4B6BEBB-E322-7656-FAE3-6C86099F397C}"/>
              </a:ext>
            </a:extLst>
          </p:cNvPr>
          <p:cNvSpPr txBox="1"/>
          <p:nvPr/>
        </p:nvSpPr>
        <p:spPr>
          <a:xfrm>
            <a:off x="576686" y="4831940"/>
            <a:ext cx="395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2FDA78C-AA26-2277-8525-36F880ACDF30}"/>
              </a:ext>
            </a:extLst>
          </p:cNvPr>
          <p:cNvSpPr txBox="1"/>
          <p:nvPr/>
        </p:nvSpPr>
        <p:spPr>
          <a:xfrm>
            <a:off x="1120228" y="2706615"/>
            <a:ext cx="4018743" cy="1294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carName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carAge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carColor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CFA28B5-2119-9370-B9E7-0E6711B02A54}"/>
              </a:ext>
            </a:extLst>
          </p:cNvPr>
          <p:cNvSpPr txBox="1"/>
          <p:nvPr/>
        </p:nvSpPr>
        <p:spPr>
          <a:xfrm>
            <a:off x="1120227" y="3941535"/>
            <a:ext cx="4018743" cy="87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engineName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engineAge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6F28CA40-AF2D-DD28-9460-522B6A70FD19}"/>
              </a:ext>
            </a:extLst>
          </p:cNvPr>
          <p:cNvSpPr txBox="1"/>
          <p:nvPr/>
        </p:nvSpPr>
        <p:spPr>
          <a:xfrm>
            <a:off x="12452297" y="3263511"/>
            <a:ext cx="4160277" cy="1709827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CE748D1-882A-D423-CBF3-A0CC05F75FEE}"/>
              </a:ext>
            </a:extLst>
          </p:cNvPr>
          <p:cNvSpPr txBox="1"/>
          <p:nvPr/>
        </p:nvSpPr>
        <p:spPr>
          <a:xfrm>
            <a:off x="12469056" y="3263511"/>
            <a:ext cx="2936701" cy="463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80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Engine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F83D7D9-BBED-B823-4C23-4342961DF71B}"/>
              </a:ext>
            </a:extLst>
          </p:cNvPr>
          <p:cNvSpPr txBox="1"/>
          <p:nvPr/>
        </p:nvSpPr>
        <p:spPr>
          <a:xfrm>
            <a:off x="12432469" y="4585973"/>
            <a:ext cx="395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D1DBBE6-B255-DEC5-E21B-5E1B5EBE3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为什么学习内部类？</a:t>
            </a:r>
          </a:p>
        </p:txBody>
      </p:sp>
    </p:spTree>
    <p:extLst>
      <p:ext uri="{BB962C8B-B14F-4D97-AF65-F5344CB8AC3E}">
        <p14:creationId xmlns:p14="http://schemas.microsoft.com/office/powerpoint/2010/main" val="9718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500"/>
                                            <p:tgtEl>
                                              <p:spTgt spid="1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2" presetClass="entr" presetSubtype="8" fill="hold" grpId="0" nodeType="clickEffect" p14:presetBounceEnd="4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857">
                                          <p:cBhvr additive="base">
                                            <p:cTn id="15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857">
                                          <p:cBhvr additive="base">
                                            <p:cTn id="16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p14:presetBounceEnd="4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857">
                                          <p:cBhvr additive="base">
                                            <p:cTn id="19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857">
                                          <p:cBhvr additive="base">
                                            <p:cTn id="20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p14:presetBounceEnd="4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857">
                                          <p:cBhvr additive="base">
                                            <p:cTn id="23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857">
                                          <p:cBhvr additive="base">
                                            <p:cTn id="24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2" dur="500"/>
                                            <p:tgtEl>
                                              <p:spTgt spid="1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5" dur="500"/>
                                            <p:tgtEl>
                                              <p:spTgt spid="1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1" dur="500"/>
                                            <p:tgtEl>
                                              <p:spTgt spid="20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6" grpId="0"/>
          <p:bldP spid="1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1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500"/>
                                            <p:tgtEl>
                                              <p:spTgt spid="1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2" dur="500"/>
                                            <p:tgtEl>
                                              <p:spTgt spid="1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5" dur="500"/>
                                            <p:tgtEl>
                                              <p:spTgt spid="1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1" dur="500"/>
                                            <p:tgtEl>
                                              <p:spTgt spid="20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6" grpId="0"/>
          <p:bldP spid="17" grpId="0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>
            <a:extLst>
              <a:ext uri="{FF2B5EF4-FFF2-40B4-BE49-F238E27FC236}">
                <a16:creationId xmlns:a16="http://schemas.microsoft.com/office/drawing/2014/main" id="{8F0AE6A2-2794-DFBF-FE93-3B2538124226}"/>
              </a:ext>
            </a:extLst>
          </p:cNvPr>
          <p:cNvSpPr txBox="1"/>
          <p:nvPr/>
        </p:nvSpPr>
        <p:spPr>
          <a:xfrm>
            <a:off x="7350908" y="3263511"/>
            <a:ext cx="4160277" cy="170982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0AC860-834D-ECAB-A37F-BC64AB72B302}"/>
              </a:ext>
            </a:extLst>
          </p:cNvPr>
          <p:cNvSpPr txBox="1"/>
          <p:nvPr/>
        </p:nvSpPr>
        <p:spPr>
          <a:xfrm>
            <a:off x="7367667" y="3263511"/>
            <a:ext cx="2936701" cy="463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80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Engine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E3CF3AF-54B3-B1F1-34EC-998F55B0AF88}"/>
              </a:ext>
            </a:extLst>
          </p:cNvPr>
          <p:cNvSpPr txBox="1"/>
          <p:nvPr/>
        </p:nvSpPr>
        <p:spPr>
          <a:xfrm>
            <a:off x="7331080" y="4585973"/>
            <a:ext cx="395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412C49B7-90B0-4A5D-A14D-9B0E0ECDD2CE}"/>
              </a:ext>
            </a:extLst>
          </p:cNvPr>
          <p:cNvSpPr txBox="1"/>
          <p:nvPr/>
        </p:nvSpPr>
        <p:spPr>
          <a:xfrm>
            <a:off x="1224998" y="2631122"/>
            <a:ext cx="5401884" cy="212532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95E0DA-DA61-BE56-79AF-6433ED739FFE}"/>
              </a:ext>
            </a:extLst>
          </p:cNvPr>
          <p:cNvSpPr txBox="1"/>
          <p:nvPr/>
        </p:nvSpPr>
        <p:spPr>
          <a:xfrm>
            <a:off x="1241757" y="2631122"/>
            <a:ext cx="2936701" cy="463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80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Car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4B6BEBB-E322-7656-FAE3-6C86099F397C}"/>
              </a:ext>
            </a:extLst>
          </p:cNvPr>
          <p:cNvSpPr txBox="1"/>
          <p:nvPr/>
        </p:nvSpPr>
        <p:spPr>
          <a:xfrm>
            <a:off x="1225058" y="4322916"/>
            <a:ext cx="395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2FDA78C-AA26-2277-8525-36F880ACDF30}"/>
              </a:ext>
            </a:extLst>
          </p:cNvPr>
          <p:cNvSpPr txBox="1"/>
          <p:nvPr/>
        </p:nvSpPr>
        <p:spPr>
          <a:xfrm>
            <a:off x="1768600" y="3028587"/>
            <a:ext cx="4018743" cy="1294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carName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carAge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carColor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1DA800-1E5F-FA97-4B4D-1AA3E7B7987C}"/>
              </a:ext>
            </a:extLst>
          </p:cNvPr>
          <p:cNvSpPr txBox="1"/>
          <p:nvPr/>
        </p:nvSpPr>
        <p:spPr>
          <a:xfrm>
            <a:off x="7894509" y="3667291"/>
            <a:ext cx="4018743" cy="87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engineName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engineAge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CD8AC3-FBD6-2C30-4D2A-D7AA98A2B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为什么学习内部类？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FB99CE-00A9-3F45-6185-70678C112949}"/>
              </a:ext>
            </a:extLst>
          </p:cNvPr>
          <p:cNvSpPr txBox="1"/>
          <p:nvPr/>
        </p:nvSpPr>
        <p:spPr>
          <a:xfrm>
            <a:off x="576626" y="1197450"/>
            <a:ext cx="7660585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需求：写一个</a:t>
            </a:r>
            <a:r>
              <a:rPr lang="en-US" altLang="zh-CN" sz="1600" dirty="0" err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Javabean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类描述汽车。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属性：汽车的品牌，车龄，颜色，发动机的品牌，使用年限。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999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3">
            <a:extLst>
              <a:ext uri="{FF2B5EF4-FFF2-40B4-BE49-F238E27FC236}">
                <a16:creationId xmlns:a16="http://schemas.microsoft.com/office/drawing/2014/main" id="{412C49B7-90B0-4A5D-A14D-9B0E0ECDD2CE}"/>
              </a:ext>
            </a:extLst>
          </p:cNvPr>
          <p:cNvSpPr txBox="1"/>
          <p:nvPr/>
        </p:nvSpPr>
        <p:spPr>
          <a:xfrm>
            <a:off x="1224998" y="2631122"/>
            <a:ext cx="5401884" cy="3787319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95E0DA-DA61-BE56-79AF-6433ED739FFE}"/>
              </a:ext>
            </a:extLst>
          </p:cNvPr>
          <p:cNvSpPr txBox="1"/>
          <p:nvPr/>
        </p:nvSpPr>
        <p:spPr>
          <a:xfrm>
            <a:off x="1241757" y="2631122"/>
            <a:ext cx="2936701" cy="463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80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Car</a:t>
            </a: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4B6BEBB-E322-7656-FAE3-6C86099F397C}"/>
              </a:ext>
            </a:extLst>
          </p:cNvPr>
          <p:cNvSpPr txBox="1"/>
          <p:nvPr/>
        </p:nvSpPr>
        <p:spPr>
          <a:xfrm>
            <a:off x="1225058" y="5952566"/>
            <a:ext cx="395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2FDA78C-AA26-2277-8525-36F880ACDF30}"/>
              </a:ext>
            </a:extLst>
          </p:cNvPr>
          <p:cNvSpPr txBox="1"/>
          <p:nvPr/>
        </p:nvSpPr>
        <p:spPr>
          <a:xfrm>
            <a:off x="1768600" y="3028587"/>
            <a:ext cx="4018743" cy="1294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carName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carAge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carColor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CFA28B5-2119-9370-B9E7-0E6711B02A54}"/>
              </a:ext>
            </a:extLst>
          </p:cNvPr>
          <p:cNvSpPr txBox="1"/>
          <p:nvPr/>
        </p:nvSpPr>
        <p:spPr>
          <a:xfrm>
            <a:off x="2301344" y="4742007"/>
            <a:ext cx="4018743" cy="87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engineName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engineAge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67E7D5-3600-5FDE-2D5E-A0B48C7E4948}"/>
              </a:ext>
            </a:extLst>
          </p:cNvPr>
          <p:cNvSpPr txBox="1"/>
          <p:nvPr/>
        </p:nvSpPr>
        <p:spPr>
          <a:xfrm>
            <a:off x="1898296" y="4453514"/>
            <a:ext cx="6128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Engine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D4D08F7-90E2-77F4-E13A-53B9AB08A394}"/>
              </a:ext>
            </a:extLst>
          </p:cNvPr>
          <p:cNvSpPr txBox="1"/>
          <p:nvPr/>
        </p:nvSpPr>
        <p:spPr>
          <a:xfrm>
            <a:off x="1915944" y="5603307"/>
            <a:ext cx="38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!!!对象背景">
            <a:extLst>
              <a:ext uri="{FF2B5EF4-FFF2-40B4-BE49-F238E27FC236}">
                <a16:creationId xmlns:a16="http://schemas.microsoft.com/office/drawing/2014/main" id="{B805C34A-A382-D98F-E886-2B1F312BD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627" y="3506146"/>
            <a:ext cx="4037557" cy="444791"/>
          </a:xfrm>
          <a:prstGeom prst="roundRect">
            <a:avLst>
              <a:gd name="adj" fmla="val 16667"/>
            </a:avLst>
          </a:prstGeom>
          <a:solidFill>
            <a:srgbClr val="265C9E"/>
          </a:solidFill>
          <a:ln w="9525">
            <a:noFill/>
            <a:round/>
            <a:headEnd/>
            <a:tailEnd/>
          </a:ln>
          <a:effectLst>
            <a:outerShdw dist="63500" dir="5400000" algn="ctr" rotWithShape="0">
              <a:srgbClr val="000000">
                <a:alpha val="10999"/>
              </a:srgbClr>
            </a:outerShdw>
          </a:effectLst>
        </p:spPr>
        <p:txBody>
          <a:bodyPr anchor="ctr"/>
          <a:lstStyle/>
          <a:p>
            <a:pPr lvl="0" algn="ctr">
              <a:defRPr/>
            </a:pPr>
            <a:r>
              <a:rPr lang="zh-CN" altLang="en-US" kern="0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封装性更好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AAE3E3D-A27E-CF3B-DB57-392AD002BC59}"/>
              </a:ext>
            </a:extLst>
          </p:cNvPr>
          <p:cNvSpPr txBox="1"/>
          <p:nvPr/>
        </p:nvSpPr>
        <p:spPr>
          <a:xfrm>
            <a:off x="7191855" y="7263120"/>
            <a:ext cx="4753803" cy="116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内部类的访问特点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内部类可以直接访问外部类的成员，包括私有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外部类要访问内部类的成员，必须创建对象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3914F4B-A6B7-AFC4-E86B-6E709D65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为什么学习内部类？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A66177-E51E-2E64-7678-3902FC3B9B95}"/>
              </a:ext>
            </a:extLst>
          </p:cNvPr>
          <p:cNvSpPr txBox="1"/>
          <p:nvPr/>
        </p:nvSpPr>
        <p:spPr>
          <a:xfrm>
            <a:off x="576626" y="1197450"/>
            <a:ext cx="7660585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需求：写一个</a:t>
            </a:r>
            <a:r>
              <a:rPr lang="en-US" altLang="zh-CN" sz="1600" dirty="0" err="1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Javabean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类描述汽车。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属性：汽车的品牌，车龄，颜色，发动机的品牌，使用年限。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4003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 p14:presetBounceEnd="4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857">
                                          <p:cBhvr additive="base">
                                            <p:cTn id="7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857">
                                          <p:cBhvr additive="base">
                                            <p:cTn id="8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8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" grpId="0" animBg="1"/>
          <p:bldP spid="22" grpId="0" animBg="1"/>
          <p:bldP spid="23" grpId="0" animBg="1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C70F5-03C9-0887-57CF-013BC7EA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D7DA3BE-DA58-E3D3-0F54-8E49AE49C3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内部类指定义在一个类中的类</a:t>
            </a:r>
            <a:endParaRPr lang="en-US" altLang="zh-CN" dirty="0"/>
          </a:p>
          <a:p>
            <a:r>
              <a:rPr lang="zh-CN" altLang="en-US" sz="1600" b="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创建对象格式：</a:t>
            </a:r>
            <a:endParaRPr lang="en-US" altLang="zh-CN" sz="1600" b="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外部类名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内部类名 对象名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new 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外部类对象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().new 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内部类对象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();</a:t>
            </a:r>
          </a:p>
          <a:p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访问特点：</a:t>
            </a:r>
            <a:endParaRPr lang="en-US" altLang="zh-CN" sz="1600" b="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内访外：直接访问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外访内：创建对象访问</a:t>
            </a:r>
            <a:endParaRPr lang="en-US" altLang="zh-CN" sz="1600" b="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优势：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封装性更好（但是使用起来较为麻烦，建议少用）</a:t>
            </a:r>
            <a:endParaRPr lang="en-US" altLang="zh-CN" sz="1600" b="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92A88A1-5A8D-9C4D-3184-63AA5B27A0E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4475"/>
            <a:ext cx="8770938" cy="5175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592609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4ACDE4A2-4DF9-4F5F-82F5-69667A2A6323}"/>
              </a:ext>
            </a:extLst>
          </p:cNvPr>
          <p:cNvSpPr txBox="1"/>
          <p:nvPr/>
        </p:nvSpPr>
        <p:spPr>
          <a:xfrm>
            <a:off x="576626" y="994354"/>
            <a:ext cx="6854455" cy="3701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成员内部类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静态内部类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局部内部类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匿名内部类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  <a:p>
            <a:pPr>
              <a:lnSpc>
                <a:spcPct val="250000"/>
              </a:lnSpc>
              <a:defRPr/>
            </a:pPr>
            <a:endParaRPr lang="en-US" altLang="zh-CN" b="1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>
              <a:lnSpc>
                <a:spcPct val="250000"/>
              </a:lnSpc>
              <a:defRPr/>
            </a:pPr>
            <a:endParaRPr lang="zh-CN" altLang="en-US" sz="1400" noProof="1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191B048-9319-A8B7-A1D6-941CDEA4A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内部类的分类</a:t>
            </a:r>
          </a:p>
        </p:txBody>
      </p:sp>
    </p:spTree>
    <p:extLst>
      <p:ext uri="{BB962C8B-B14F-4D97-AF65-F5344CB8AC3E}">
        <p14:creationId xmlns:p14="http://schemas.microsoft.com/office/powerpoint/2010/main" val="213182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397AB941-011B-44BA-813F-9B589880D808}"/>
              </a:ext>
            </a:extLst>
          </p:cNvPr>
          <p:cNvSpPr txBox="1"/>
          <p:nvPr/>
        </p:nvSpPr>
        <p:spPr>
          <a:xfrm>
            <a:off x="576626" y="1028633"/>
            <a:ext cx="11157881" cy="1619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 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修饰的成员内部类</a:t>
            </a:r>
            <a:endParaRPr lang="zh-CN" altLang="en-US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indent="-609585">
              <a:lnSpc>
                <a:spcPct val="200000"/>
              </a:lnSpc>
              <a:defRPr/>
            </a:pPr>
            <a:endParaRPr lang="zh-CN" altLang="en-US" b="1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indent="-609585">
              <a:lnSpc>
                <a:spcPct val="200000"/>
              </a:lnSpc>
              <a:defRPr/>
            </a:pPr>
            <a:endParaRPr lang="zh-CN" altLang="en-US" b="1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E14D8D-5FDE-46D6-85F8-9A962BFB7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626" y="1882872"/>
            <a:ext cx="4474554" cy="1530099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Fira Code Medium"/>
              </a:rPr>
              <a:t>class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Fira Code Medium"/>
              </a:rPr>
              <a:t>Outer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Fira Code Medium"/>
              </a:rPr>
              <a:t>{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Fira Code Medium"/>
              </a:rPr>
            </a:b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Fira Code Medium"/>
              </a:rPr>
              <a:t>	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Fira Code Medium"/>
              </a:rPr>
              <a:t>static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Fira Code Medium"/>
              </a:rPr>
              <a:t>class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Fira Code Medium"/>
              </a:rPr>
              <a:t>Inner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Fira Code Medium"/>
              </a:rPr>
              <a:t>{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Fira Code Medium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Fira Code Medium"/>
              </a:rPr>
              <a:t>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Fira Code Medium"/>
              </a:rPr>
              <a:t>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Fira Code Medium"/>
              </a:rPr>
              <a:t>}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Fira Code Medium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Fira Code Medium"/>
              </a:rPr>
              <a:t>}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F5212E-4501-4AE4-BCF4-716A62990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369" y="4719607"/>
            <a:ext cx="6960696" cy="1010726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格式：外部类名.内部类名 对象名 = new 外部类名.内部类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r>
              <a:rPr lang="zh-CN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范例：Outer.Inner in = </a:t>
            </a:r>
            <a:r>
              <a:rPr lang="en-US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</a:t>
            </a:r>
            <a:r>
              <a:rPr lang="zh-CN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Outer.Inner();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A4FA7C-2AFC-316E-5616-A3ABB07856C9}"/>
              </a:ext>
            </a:extLst>
          </p:cNvPr>
          <p:cNvSpPr txBox="1"/>
          <p:nvPr/>
        </p:nvSpPr>
        <p:spPr>
          <a:xfrm>
            <a:off x="576626" y="3896243"/>
            <a:ext cx="9832934" cy="1126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609585">
              <a:lnSpc>
                <a:spcPct val="200000"/>
              </a:lnSpc>
              <a:defRPr/>
            </a:pP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静态内部类创建对象的格式：</a:t>
            </a:r>
            <a:r>
              <a:rPr lang="zh-CN" altLang="en-US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</a:t>
            </a:r>
          </a:p>
          <a:p>
            <a:pPr indent="-609585">
              <a:lnSpc>
                <a:spcPct val="200000"/>
              </a:lnSpc>
              <a:defRPr/>
            </a:pPr>
            <a:endParaRPr lang="zh-CN" altLang="en-US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4B1282D6-51A4-BD86-AAF8-7128A9A23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静态内部类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AEDF442-8EB8-4614-9C2B-BACB1B3F1847}"/>
              </a:ext>
            </a:extLst>
          </p:cNvPr>
          <p:cNvSpPr txBox="1"/>
          <p:nvPr/>
        </p:nvSpPr>
        <p:spPr>
          <a:xfrm>
            <a:off x="576626" y="809618"/>
            <a:ext cx="8515955" cy="152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  <a:defRPr/>
            </a:pPr>
            <a:r>
              <a:rPr lang="zh-CN" altLang="en-US" b="1" noProof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zh-CN" altLang="en-US" b="1" noProof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鸡肋语法，了解即可</a:t>
            </a:r>
            <a:r>
              <a:rPr lang="zh-CN" altLang="en-US" b="1" noProof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zh-CN" altLang="en-US" sz="1600" noProof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Alibaba PuHuiTi R"/>
            </a:endParaRPr>
          </a:p>
          <a:p>
            <a:pPr marL="228594" indent="-228594">
              <a:lnSpc>
                <a:spcPct val="30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noProof="1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Alibaba PuHuiTi R"/>
              </a:rPr>
              <a:t>局部内部类放在方法、代码块、构造器等执行体中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CF73CFA-57D1-DC30-755C-14130A31B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局部内部类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0">
            <a:extLst>
              <a:ext uri="{FF2B5EF4-FFF2-40B4-BE49-F238E27FC236}">
                <a16:creationId xmlns:a16="http://schemas.microsoft.com/office/drawing/2014/main" id="{EB4B63DF-BAFB-4777-A880-35D936A0AF98}"/>
              </a:ext>
            </a:extLst>
          </p:cNvPr>
          <p:cNvSpPr txBox="1"/>
          <p:nvPr/>
        </p:nvSpPr>
        <p:spPr>
          <a:xfrm>
            <a:off x="576626" y="2061395"/>
            <a:ext cx="5204883" cy="1724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</a:t>
            </a: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589B2D92-216B-4097-ACE1-46AD04F5B9F5}"/>
              </a:ext>
            </a:extLst>
          </p:cNvPr>
          <p:cNvSpPr txBox="1"/>
          <p:nvPr/>
        </p:nvSpPr>
        <p:spPr>
          <a:xfrm>
            <a:off x="576626" y="1115817"/>
            <a:ext cx="10464800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概述：匿名内部类本质上是一个特殊的局部内部类（定义在方法内部）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前提：需要存在一个接口或类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D4AACB66-0545-4C50-99EC-4F975F07E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244" y="2599855"/>
            <a:ext cx="5429249" cy="893643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new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类名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/ 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接口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()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0825707-FE41-3155-8C83-0F18222EE58A}"/>
              </a:ext>
            </a:extLst>
          </p:cNvPr>
          <p:cNvSpPr/>
          <p:nvPr/>
        </p:nvSpPr>
        <p:spPr>
          <a:xfrm>
            <a:off x="715773" y="3934663"/>
            <a:ext cx="7765214" cy="79643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匿名内部类可以使代码更加简洁，定义一个类的同时对其进行实例化</a:t>
            </a:r>
            <a:endParaRPr lang="en-US" altLang="zh-CN" sz="1600" b="1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904CAEB-00F2-F79E-BD51-BA90FAB17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匿名内部类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 animBg="1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2EB06-32E6-54B3-D506-BEEF8E49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12F7E7-05A9-AB41-BC4E-CF1918E931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Lambda </a:t>
            </a:r>
            <a:r>
              <a:rPr lang="zh-CN" altLang="en-US" dirty="0"/>
              <a:t>表达式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05EBC266-94F5-3BD2-1574-CA2C416F2E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6014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F2152AA-4F9F-4C38-92C8-CB111188A035}"/>
              </a:ext>
            </a:extLst>
          </p:cNvPr>
          <p:cNvSpPr txBox="1"/>
          <p:nvPr/>
        </p:nvSpPr>
        <p:spPr>
          <a:xfrm>
            <a:off x="576626" y="734347"/>
            <a:ext cx="8722359" cy="1335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Lambda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表达式是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JDK8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开始后的一种新语法形式。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171450" indent="-1714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作用：简化匿名内部类的代码写法。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2BA593-36A9-4154-9FAB-3D3546B8326A}"/>
              </a:ext>
            </a:extLst>
          </p:cNvPr>
          <p:cNvSpPr txBox="1"/>
          <p:nvPr/>
        </p:nvSpPr>
        <p:spPr>
          <a:xfrm>
            <a:off x="576626" y="471156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什么是函数式接口？</a:t>
            </a:r>
            <a:endParaRPr lang="en-US" altLang="zh-CN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93DE3F-AAAA-4BD8-9122-E4687B77A2AB}"/>
              </a:ext>
            </a:extLst>
          </p:cNvPr>
          <p:cNvSpPr txBox="1"/>
          <p:nvPr/>
        </p:nvSpPr>
        <p:spPr>
          <a:xfrm>
            <a:off x="583744" y="5101929"/>
            <a:ext cx="9180718" cy="1010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首先必须是接口、其次接口中有且仅有一个抽象方法的形式</a:t>
            </a: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通常我们会在接口上加上一个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@FunctionalInterface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注解，标记该接口必须是满足函数式接口。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27BF0A-753F-4F32-A8A3-908C350E4E56}"/>
              </a:ext>
            </a:extLst>
          </p:cNvPr>
          <p:cNvSpPr txBox="1"/>
          <p:nvPr/>
        </p:nvSpPr>
        <p:spPr>
          <a:xfrm>
            <a:off x="576626" y="2233369"/>
            <a:ext cx="2765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Lambda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表达式的简化格式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C7476A-EAE2-464B-BCD6-4CDC142C34E8}"/>
              </a:ext>
            </a:extLst>
          </p:cNvPr>
          <p:cNvSpPr txBox="1"/>
          <p:nvPr/>
        </p:nvSpPr>
        <p:spPr>
          <a:xfrm>
            <a:off x="6435169" y="2680033"/>
            <a:ext cx="4009725" cy="1010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注意：</a:t>
            </a:r>
            <a:r>
              <a:rPr lang="en-US" altLang="zh-CN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Lambda 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表达式只能简化函数式接口的匿名内部类的写法形式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52A8CC42-D915-45EF-9347-CB36EC1D0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44" y="3190086"/>
            <a:ext cx="5262135" cy="1354794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(匿名内部类被重写方法的形参列表) -&gt; {</a:t>
            </a:r>
            <a:br>
              <a:rPr kumimoji="0" lang="zh-CN" altLang="zh-CN" sz="14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被重写方法的方法体代码。</a:t>
            </a:r>
            <a:br>
              <a:rPr kumimoji="0" lang="zh-CN" altLang="zh-CN" sz="14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kumimoji="0" lang="en-US" altLang="zh-CN" sz="1400" b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注：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-&gt;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是语法形式，无实际含义</a:t>
            </a:r>
            <a:endParaRPr kumimoji="0" lang="zh-CN" altLang="zh-CN" sz="1400" b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9C2833A-FA1B-4C53-42F9-235CAE65F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44" y="2648105"/>
            <a:ext cx="5262135" cy="380873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 -&gt; {}</a:t>
            </a:r>
            <a:endParaRPr kumimoji="0" lang="en-US" altLang="zh-CN" sz="1400" b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CFBBEF7C-18E5-2A91-3AE7-D872DE7E7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Lambda </a:t>
            </a:r>
            <a:r>
              <a:rPr lang="zh-CN" altLang="en-US" dirty="0"/>
              <a:t>概述</a:t>
            </a:r>
          </a:p>
        </p:txBody>
      </p:sp>
    </p:spTree>
    <p:extLst>
      <p:ext uri="{BB962C8B-B14F-4D97-AF65-F5344CB8AC3E}">
        <p14:creationId xmlns:p14="http://schemas.microsoft.com/office/powerpoint/2010/main" val="131160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A6A1D7-4B0C-426B-913D-79D63FC88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1249798"/>
            <a:ext cx="9479280" cy="29766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参数类型可以省略不写。</a:t>
            </a:r>
            <a:endParaRPr kumimoji="0" lang="en-US" altLang="zh-CN" sz="1600" b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如果只有一个参数，参数类型可以省略，同时</a:t>
            </a:r>
            <a:r>
              <a:rPr kumimoji="0" lang="en-US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r>
              <a:rPr kumimoji="0" lang="en-US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也可以省略。</a:t>
            </a:r>
            <a:endParaRPr kumimoji="0" lang="en-US" altLang="zh-CN" sz="1600" b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如果Lambda表达式的方法体代码只有一行代码</a:t>
            </a:r>
            <a:endParaRPr kumimoji="0" lang="en-US" altLang="zh-CN" sz="1600" b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可以省略大括号不写,同时要省略分号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此时，如果这行代码是return语句，必须省略return不写，同时也必须省略</a:t>
            </a:r>
            <a:r>
              <a:rPr kumimoji="0" lang="en-US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";"</a:t>
            </a:r>
            <a:r>
              <a:rPr kumimoji="0" lang="en-US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不写</a:t>
            </a:r>
            <a:b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endParaRPr kumimoji="0" lang="zh-CN" altLang="zh-CN" sz="1600" b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C0F97B4-4222-0E77-4B66-2866B9755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Lambda </a:t>
            </a:r>
            <a:r>
              <a:rPr lang="zh-CN" altLang="en-US" dirty="0"/>
              <a:t>表达式的省略写法</a:t>
            </a:r>
          </a:p>
        </p:txBody>
      </p:sp>
    </p:spTree>
    <p:extLst>
      <p:ext uri="{BB962C8B-B14F-4D97-AF65-F5344CB8AC3E}">
        <p14:creationId xmlns:p14="http://schemas.microsoft.com/office/powerpoint/2010/main" val="1846986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A6A1D7-4B0C-426B-913D-79D63FC88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626" y="1125370"/>
            <a:ext cx="9957293" cy="26419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使用限制不同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Wingdings" pitchFamily="2" charset="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匿名内部类 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可以操作类、接口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Lambda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表达式 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只能操作函数式接口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实现原理不同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Wingdings" pitchFamily="2" charset="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匿名内部类：编译之后，产生一个单独的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.class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字节码文件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Lambda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表达式：编译之后，没有一个单独的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.class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字节码文件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3407942-A0EA-A0F5-BE6F-7666FC6D1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Lambda </a:t>
            </a:r>
            <a:r>
              <a:rPr lang="zh-CN" altLang="en-US" dirty="0"/>
              <a:t>表达式和匿名内部类的区别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825FF-ED30-C4A5-83D7-7480445C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A624F1B-E254-BB46-FFED-98579FA64A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5206" y="2211521"/>
            <a:ext cx="7402227" cy="3962399"/>
          </a:xfrm>
        </p:spPr>
        <p:txBody>
          <a:bodyPr/>
          <a:lstStyle/>
          <a:p>
            <a:r>
              <a:rPr lang="en-US" altLang="zh-CN" dirty="0">
                <a:latin typeface="+mn-ea"/>
              </a:rPr>
              <a:t>Lambda</a:t>
            </a:r>
            <a:r>
              <a:rPr lang="zh-CN" altLang="en-US" dirty="0">
                <a:latin typeface="+mn-ea"/>
              </a:rPr>
              <a:t>表达式是</a:t>
            </a:r>
            <a:r>
              <a:rPr lang="en-US" altLang="zh-CN" dirty="0">
                <a:latin typeface="+mn-ea"/>
              </a:rPr>
              <a:t>jdk8</a:t>
            </a:r>
            <a:r>
              <a:rPr lang="zh-CN" altLang="en-US" dirty="0">
                <a:latin typeface="+mn-ea"/>
              </a:rPr>
              <a:t>版本开始出现的新语法，可以简化匿名内部类的写法</a:t>
            </a:r>
            <a:endParaRPr lang="en-US" altLang="zh-CN" dirty="0">
              <a:latin typeface="+mn-ea"/>
            </a:endParaRPr>
          </a:p>
          <a:p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格式：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() -&gt; {}</a:t>
            </a: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前提：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Lambda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只能操作函数式接口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  <a:p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细节：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Lambda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表达式不会产生单独的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.class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文件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  <a:p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省略规则：</a:t>
            </a:r>
            <a:endParaRPr lang="en-US" altLang="zh-CN" sz="1600" b="0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参数类型可以省略不写。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如果只有一个参数，参数类型可以省略，同时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()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也可以省略。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如果Lambda表达式的方法体代码只有一行代码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	</a:t>
            </a:r>
            <a:r>
              <a:rPr lang="zh-CN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可以省略大括号不写,同时要省略分号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	</a:t>
            </a:r>
            <a:r>
              <a:rPr lang="zh-CN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此时，如果这行代码是return语句，必须省略return不写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	</a:t>
            </a:r>
            <a:r>
              <a:rPr lang="zh-CN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同时也必须省略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";"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  <a:t>不写</a:t>
            </a:r>
            <a:br>
              <a:rPr lang="zh-CN" altLang="zh-CN" sz="1400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" panose="00020600040101010101" pitchFamily="18" charset="-122"/>
              </a:rPr>
            </a:br>
            <a:endParaRPr lang="zh-CN" altLang="zh-CN" sz="1400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  <a:p>
            <a:endParaRPr lang="en-US" altLang="zh-CN" sz="1600" b="0" dirty="0">
              <a:solidFill>
                <a:schemeClr val="tx1">
                  <a:lumMod val="50000"/>
                </a:schemeClr>
              </a:solidFill>
              <a:latin typeface="+mn-ea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DD0128D-8186-403A-B7F3-D4DA361FD54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4475"/>
            <a:ext cx="8770938" cy="5175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77359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11124</TotalTime>
  <Words>1460</Words>
  <Application>Microsoft Office PowerPoint</Application>
  <PresentationFormat>宽屏</PresentationFormat>
  <Paragraphs>195</Paragraphs>
  <Slides>23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23</vt:i4>
      </vt:variant>
    </vt:vector>
  </HeadingPairs>
  <TitlesOfParts>
    <vt:vector size="44" baseType="lpstr">
      <vt:lpstr>Alibaba PuHuiTi B</vt:lpstr>
      <vt:lpstr>Alibaba PuHuiTi M</vt:lpstr>
      <vt:lpstr>Alibaba PuHuiTi Medium</vt:lpstr>
      <vt:lpstr>Alibaba PuHuiTi R</vt:lpstr>
      <vt:lpstr>Inter</vt:lpstr>
      <vt:lpstr>阿里巴巴普惠体</vt:lpstr>
      <vt:lpstr>阿里巴巴普惠体 Heavy</vt:lpstr>
      <vt:lpstr>阿里巴巴普惠体 Medium</vt:lpstr>
      <vt:lpstr>等线</vt:lpstr>
      <vt:lpstr>楷体</vt:lpstr>
      <vt:lpstr>微软雅黑</vt:lpstr>
      <vt:lpstr>Arial</vt:lpstr>
      <vt:lpstr>Calisto MT</vt:lpstr>
      <vt:lpstr>Consolas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第九章：面向对象高级</vt:lpstr>
      <vt:lpstr>PowerPoint 演示文稿</vt:lpstr>
      <vt:lpstr>PowerPoint 演示文稿</vt:lpstr>
      <vt:lpstr>package 包</vt:lpstr>
      <vt:lpstr>PowerPoint 演示文稿</vt:lpstr>
      <vt:lpstr>内部类</vt:lpstr>
      <vt:lpstr>内部类对象访问特点</vt:lpstr>
      <vt:lpstr>PowerPoint 演示文稿</vt:lpstr>
      <vt:lpstr>PowerPoint 演示文稿</vt:lpstr>
      <vt:lpstr>为什么学习内部类？</vt:lpstr>
      <vt:lpstr>为什么学习内部类？</vt:lpstr>
      <vt:lpstr>为什么学习内部类？</vt:lpstr>
      <vt:lpstr> </vt:lpstr>
      <vt:lpstr>内部类的分类</vt:lpstr>
      <vt:lpstr>静态内部类</vt:lpstr>
      <vt:lpstr>局部内部类</vt:lpstr>
      <vt:lpstr>匿名内部类</vt:lpstr>
      <vt:lpstr>PowerPoint 演示文稿</vt:lpstr>
      <vt:lpstr>Lambda 概述</vt:lpstr>
      <vt:lpstr>Lambda 表达式的省略写法</vt:lpstr>
      <vt:lpstr>Lambda 表达式和匿名内部类的区别</vt:lpstr>
      <vt:lpstr> 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1234</cp:revision>
  <cp:lastPrinted>2022-05-29T16:00:00Z</cp:lastPrinted>
  <dcterms:created xsi:type="dcterms:W3CDTF">2022-05-29T16:00:00Z</dcterms:created>
  <dcterms:modified xsi:type="dcterms:W3CDTF">2025-04-17T01:31:06Z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