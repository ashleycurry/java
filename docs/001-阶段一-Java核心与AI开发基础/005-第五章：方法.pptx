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63"/>
  </p:notesMasterIdLst>
  <p:handoutMasterIdLst>
    <p:handoutMasterId r:id="rId64"/>
  </p:handoutMasterIdLst>
  <p:sldIdLst>
    <p:sldId id="280" r:id="rId6"/>
    <p:sldId id="308" r:id="rId7"/>
    <p:sldId id="440" r:id="rId8"/>
    <p:sldId id="1006" r:id="rId9"/>
    <p:sldId id="2723" r:id="rId10"/>
    <p:sldId id="2724" r:id="rId11"/>
    <p:sldId id="2725" r:id="rId12"/>
    <p:sldId id="1437" r:id="rId13"/>
    <p:sldId id="2726" r:id="rId14"/>
    <p:sldId id="2727" r:id="rId15"/>
    <p:sldId id="1075" r:id="rId16"/>
    <p:sldId id="1176" r:id="rId17"/>
    <p:sldId id="2728" r:id="rId18"/>
    <p:sldId id="2729" r:id="rId19"/>
    <p:sldId id="1519" r:id="rId20"/>
    <p:sldId id="1520" r:id="rId21"/>
    <p:sldId id="1521" r:id="rId22"/>
    <p:sldId id="1542" r:id="rId23"/>
    <p:sldId id="1185" r:id="rId24"/>
    <p:sldId id="2730" r:id="rId25"/>
    <p:sldId id="2731" r:id="rId26"/>
    <p:sldId id="2732" r:id="rId27"/>
    <p:sldId id="1523" r:id="rId28"/>
    <p:sldId id="1527" r:id="rId29"/>
    <p:sldId id="1525" r:id="rId30"/>
    <p:sldId id="1528" r:id="rId31"/>
    <p:sldId id="1529" r:id="rId32"/>
    <p:sldId id="1531" r:id="rId33"/>
    <p:sldId id="1532" r:id="rId34"/>
    <p:sldId id="2740" r:id="rId35"/>
    <p:sldId id="2733" r:id="rId36"/>
    <p:sldId id="2734" r:id="rId37"/>
    <p:sldId id="1534" r:id="rId38"/>
    <p:sldId id="1535" r:id="rId39"/>
    <p:sldId id="1536" r:id="rId40"/>
    <p:sldId id="2741" r:id="rId41"/>
    <p:sldId id="2735" r:id="rId42"/>
    <p:sldId id="2736" r:id="rId43"/>
    <p:sldId id="2738" r:id="rId44"/>
    <p:sldId id="2739" r:id="rId45"/>
    <p:sldId id="2742" r:id="rId46"/>
    <p:sldId id="2743" r:id="rId47"/>
    <p:sldId id="2744" r:id="rId48"/>
    <p:sldId id="1136" r:id="rId49"/>
    <p:sldId id="2745" r:id="rId50"/>
    <p:sldId id="2746" r:id="rId51"/>
    <p:sldId id="1137" r:id="rId52"/>
    <p:sldId id="1208" r:id="rId53"/>
    <p:sldId id="1209" r:id="rId54"/>
    <p:sldId id="1210" r:id="rId55"/>
    <p:sldId id="1211" r:id="rId56"/>
    <p:sldId id="1212" r:id="rId57"/>
    <p:sldId id="2747" r:id="rId58"/>
    <p:sldId id="2748" r:id="rId59"/>
    <p:sldId id="2749" r:id="rId60"/>
    <p:sldId id="2634" r:id="rId61"/>
    <p:sldId id="288" r:id="rId62"/>
  </p:sldIdLst>
  <p:sldSz cx="12192000" cy="6858000"/>
  <p:notesSz cx="6858000" cy="9144000"/>
  <p:custDataLst>
    <p:tags r:id="rId6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86" autoAdjust="0"/>
    <p:restoredTop sz="94676" autoAdjust="0"/>
  </p:normalViewPr>
  <p:slideViewPr>
    <p:cSldViewPr snapToGrid="0" showGuides="1">
      <p:cViewPr varScale="1">
        <p:scale>
          <a:sx n="91" d="100"/>
          <a:sy n="91" d="100"/>
        </p:scale>
        <p:origin x="53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notesMaster" Target="notesMasters/notesMaster1.xml"/><Relationship Id="rId68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handoutMaster" Target="handoutMasters/handoutMaster1.xml"/><Relationship Id="rId69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viewProps" Target="view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2025/2/15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9732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148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345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244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115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998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35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0828623-64C3-3CF5-C1AD-7CC5E8CC7C5A}"/>
              </a:ext>
            </a:extLst>
          </p:cNvPr>
          <p:cNvSpPr txBox="1"/>
          <p:nvPr userDrawn="1"/>
        </p:nvSpPr>
        <p:spPr>
          <a:xfrm>
            <a:off x="534625" y="2905780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bg1">
                        <a:alpha val="30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4" name="íşľíďe">
            <a:extLst>
              <a:ext uri="{FF2B5EF4-FFF2-40B4-BE49-F238E27FC236}">
                <a16:creationId xmlns:a16="http://schemas.microsoft.com/office/drawing/2014/main" id="{0D071958-1775-F474-3CD5-C9E1DEDF630A}"/>
              </a:ext>
            </a:extLst>
          </p:cNvPr>
          <p:cNvSpPr txBox="1"/>
          <p:nvPr userDrawn="1"/>
        </p:nvSpPr>
        <p:spPr>
          <a:xfrm flipH="1">
            <a:off x="1017939" y="3075057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7969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>
            <a:extLst>
              <a:ext uri="{FF2B5EF4-FFF2-40B4-BE49-F238E27FC236}">
                <a16:creationId xmlns:a16="http://schemas.microsoft.com/office/drawing/2014/main" id="{052D8D2A-DC76-4246-B7A3-897EC59804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00" indent="-360000">
              <a:lnSpc>
                <a:spcPct val="150000"/>
              </a:lnSpc>
              <a:buClr>
                <a:srgbClr val="404040"/>
              </a:buClr>
              <a:buSzPct val="85000"/>
              <a:buFont typeface="Wingdings" pitchFamily="2" charset="2"/>
              <a:buChar char="l"/>
              <a:tabLst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138" indent="-358775">
              <a:lnSpc>
                <a:spcPct val="150000"/>
              </a:lnSpc>
              <a:buFont typeface="Wingdings" pitchFamily="2" charset="2"/>
              <a:buChar char="l"/>
              <a:tabLst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tabLst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FB1A-E1EE-3245-9778-ABB7ACB14F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>
            <a:extLst>
              <a:ext uri="{FF2B5EF4-FFF2-40B4-BE49-F238E27FC236}">
                <a16:creationId xmlns:a16="http://schemas.microsoft.com/office/drawing/2014/main" id="{2DD40269-A2A6-814E-991D-1DBB128738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35653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3"/>
            <a:ext cx="10748057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18707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3136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744805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7188863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397681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2551-88ED-4239-96A2-7F3C49A205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880" y="1002232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0F12D90F-BB49-421D-A9D1-C25C2A378E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24204"/>
            <a:ext cx="10698800" cy="386122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  <p:extLst>
      <p:ext uri="{BB962C8B-B14F-4D97-AF65-F5344CB8AC3E}">
        <p14:creationId xmlns:p14="http://schemas.microsoft.com/office/powerpoint/2010/main" val="161095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4782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1968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1808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1FD7787D-704C-E74D-B53E-A392EAB480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5476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295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EDBCAEF0-27E1-194C-B5F4-08826E264FF7}"/>
              </a:ext>
            </a:extLst>
          </p:cNvPr>
          <p:cNvGrpSpPr/>
          <p:nvPr userDrawn="1"/>
        </p:nvGrpSpPr>
        <p:grpSpPr>
          <a:xfrm>
            <a:off x="806306" y="1056254"/>
            <a:ext cx="1228476" cy="528956"/>
            <a:chOff x="852891" y="1026849"/>
            <a:chExt cx="1228476" cy="528956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F233A09-E322-CB4D-81FE-B2170A097F20}"/>
                </a:ext>
              </a:extLst>
            </p:cNvPr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>
              <a:extLst>
                <a:ext uri="{FF2B5EF4-FFF2-40B4-BE49-F238E27FC236}">
                  <a16:creationId xmlns:a16="http://schemas.microsoft.com/office/drawing/2014/main" id="{58F0AF60-824F-A447-B933-34D6D8A0DBD6}"/>
                </a:ext>
              </a:extLst>
            </p:cNvPr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TextBox 2">
              <a:extLst>
                <a:ext uri="{FF2B5EF4-FFF2-40B4-BE49-F238E27FC236}">
                  <a16:creationId xmlns:a16="http://schemas.microsoft.com/office/drawing/2014/main" id="{A22AFB91-263F-054D-81BE-7D38A372C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</a:p>
          </p:txBody>
        </p:sp>
      </p:grpSp>
      <p:sp>
        <p:nvSpPr>
          <p:cNvPr id="11" name="文本占位符 9">
            <a:extLst>
              <a:ext uri="{FF2B5EF4-FFF2-40B4-BE49-F238E27FC236}">
                <a16:creationId xmlns:a16="http://schemas.microsoft.com/office/drawing/2014/main" id="{D44EE2D5-15F6-2E42-8B3D-F0F3139D0AA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10344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000" b="0" i="0" dirty="0">
                <a:solidFill>
                  <a:srgbClr val="AD2A26"/>
                </a:solidFill>
                <a:latin typeface="Alibaba PuHuiTi Medium" pitchFamily="18" charset="-122"/>
                <a:ea typeface="Alibaba PuHuiTi Medium" pitchFamily="18" charset="-122"/>
                <a:cs typeface="Alibaba PuHuiTi Medium" pitchFamily="18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20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F5EA2F1C-E1D5-B44C-AB78-F1D96E0D74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743280"/>
            <a:ext cx="9214230" cy="376237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455DD043-453D-F04F-965C-A5E686829A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9623" y="1246948"/>
            <a:ext cx="201682" cy="20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24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41842820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.png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  <p:sldLayoutId id="2147483687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6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8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lingma.aliyun.com/lingma/download" TargetMode="Externa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4000" dirty="0"/>
              <a:t>第五章：方法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600" b="0" i="0" dirty="0">
                <a:effectLst/>
                <a:latin typeface="Inter"/>
              </a:rPr>
              <a:t>函数，实现特定功能的操作步骤集合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4F0A2A7-A667-0512-816A-DB7E34D3A2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/>
              <a:t>方法的介绍</a:t>
            </a:r>
            <a:endParaRPr lang="en-US" altLang="zh-CN" dirty="0"/>
          </a:p>
          <a:p>
            <a:r>
              <a:rPr lang="zh-CN" altLang="en-US" dirty="0"/>
              <a:t>方法的基本定义和调用</a:t>
            </a:r>
            <a:endParaRPr lang="en-US" altLang="zh-CN" dirty="0"/>
          </a:p>
          <a:p>
            <a:r>
              <a:rPr lang="zh-CN" altLang="en-US" dirty="0"/>
              <a:t>方法的执行流程</a:t>
            </a:r>
            <a:endParaRPr lang="en-US" altLang="zh-CN" dirty="0"/>
          </a:p>
          <a:p>
            <a:r>
              <a:rPr lang="zh-CN" altLang="en-US" dirty="0"/>
              <a:t>带参数的方法</a:t>
            </a:r>
            <a:endParaRPr lang="en-US" altLang="zh-CN" dirty="0"/>
          </a:p>
          <a:p>
            <a:r>
              <a:rPr lang="zh-CN" altLang="en-US" dirty="0"/>
              <a:t>带返回值的方法</a:t>
            </a:r>
            <a:endParaRPr lang="en-US" altLang="zh-CN" dirty="0"/>
          </a:p>
          <a:p>
            <a:r>
              <a:rPr lang="zh-CN" altLang="en-US" dirty="0"/>
              <a:t>方法通用定义格式</a:t>
            </a:r>
            <a:endParaRPr lang="en-US" altLang="zh-CN" dirty="0"/>
          </a:p>
          <a:p>
            <a:r>
              <a:rPr lang="zh-CN" altLang="en-US" dirty="0"/>
              <a:t>方法注意事项</a:t>
            </a:r>
            <a:endParaRPr lang="en-US" altLang="zh-CN" dirty="0"/>
          </a:p>
          <a:p>
            <a:r>
              <a:rPr lang="zh-CN" altLang="en-US" dirty="0"/>
              <a:t>方法重载</a:t>
            </a:r>
            <a:endParaRPr lang="en-US" altLang="zh-CN" dirty="0"/>
          </a:p>
          <a:p>
            <a:r>
              <a:rPr lang="en-US" altLang="zh-CN" dirty="0"/>
              <a:t>IDEA </a:t>
            </a:r>
            <a:r>
              <a:rPr lang="zh-CN" altLang="en-US" dirty="0"/>
              <a:t>安装</a:t>
            </a:r>
            <a:r>
              <a:rPr lang="en-US" altLang="zh-CN" dirty="0"/>
              <a:t> AI </a:t>
            </a:r>
            <a:r>
              <a:rPr lang="zh-CN" altLang="en-US" dirty="0"/>
              <a:t>插件</a:t>
            </a:r>
          </a:p>
        </p:txBody>
      </p:sp>
    </p:spTree>
    <p:extLst>
      <p:ext uri="{BB962C8B-B14F-4D97-AF65-F5344CB8AC3E}">
        <p14:creationId xmlns:p14="http://schemas.microsoft.com/office/powerpoint/2010/main" val="2783839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37DDC-B304-D2F8-C50D-C468CAE97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56A1B4-6E31-ED4D-D6C5-3EE095D6F7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方法的介绍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391EBC4B-6042-4B46-31F8-98A2350602C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7351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方法的介绍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D5F5DF5B-2EFB-ADCA-78F9-CA19C5E92FAE}"/>
              </a:ext>
            </a:extLst>
          </p:cNvPr>
          <p:cNvSpPr/>
          <p:nvPr/>
        </p:nvSpPr>
        <p:spPr>
          <a:xfrm>
            <a:off x="576626" y="1180631"/>
            <a:ext cx="4617674" cy="5240779"/>
          </a:xfrm>
          <a:custGeom>
            <a:avLst/>
            <a:gdLst>
              <a:gd name="connsiteX0" fmla="*/ 0 w 4617674"/>
              <a:gd name="connsiteY0" fmla="*/ 769628 h 5240779"/>
              <a:gd name="connsiteX1" fmla="*/ 769628 w 4617674"/>
              <a:gd name="connsiteY1" fmla="*/ 0 h 5240779"/>
              <a:gd name="connsiteX2" fmla="*/ 1344266 w 4617674"/>
              <a:gd name="connsiteY2" fmla="*/ 0 h 5240779"/>
              <a:gd name="connsiteX3" fmla="*/ 1826552 w 4617674"/>
              <a:gd name="connsiteY3" fmla="*/ 0 h 5240779"/>
              <a:gd name="connsiteX4" fmla="*/ 2278053 w 4617674"/>
              <a:gd name="connsiteY4" fmla="*/ 0 h 5240779"/>
              <a:gd name="connsiteX5" fmla="*/ 2821907 w 4617674"/>
              <a:gd name="connsiteY5" fmla="*/ 0 h 5240779"/>
              <a:gd name="connsiteX6" fmla="*/ 3304192 w 4617674"/>
              <a:gd name="connsiteY6" fmla="*/ 0 h 5240779"/>
              <a:gd name="connsiteX7" fmla="*/ 3848046 w 4617674"/>
              <a:gd name="connsiteY7" fmla="*/ 0 h 5240779"/>
              <a:gd name="connsiteX8" fmla="*/ 4617674 w 4617674"/>
              <a:gd name="connsiteY8" fmla="*/ 769628 h 5240779"/>
              <a:gd name="connsiteX9" fmla="*/ 4617674 w 4617674"/>
              <a:gd name="connsiteY9" fmla="*/ 1224387 h 5240779"/>
              <a:gd name="connsiteX10" fmla="*/ 4617674 w 4617674"/>
              <a:gd name="connsiteY10" fmla="*/ 1753176 h 5240779"/>
              <a:gd name="connsiteX11" fmla="*/ 4617674 w 4617674"/>
              <a:gd name="connsiteY11" fmla="*/ 2281965 h 5240779"/>
              <a:gd name="connsiteX12" fmla="*/ 4617674 w 4617674"/>
              <a:gd name="connsiteY12" fmla="*/ 2773738 h 5240779"/>
              <a:gd name="connsiteX13" fmla="*/ 4617674 w 4617674"/>
              <a:gd name="connsiteY13" fmla="*/ 3376558 h 5240779"/>
              <a:gd name="connsiteX14" fmla="*/ 4617674 w 4617674"/>
              <a:gd name="connsiteY14" fmla="*/ 3979377 h 5240779"/>
              <a:gd name="connsiteX15" fmla="*/ 4617674 w 4617674"/>
              <a:gd name="connsiteY15" fmla="*/ 4471151 h 5240779"/>
              <a:gd name="connsiteX16" fmla="*/ 3848046 w 4617674"/>
              <a:gd name="connsiteY16" fmla="*/ 5240779 h 5240779"/>
              <a:gd name="connsiteX17" fmla="*/ 3304192 w 4617674"/>
              <a:gd name="connsiteY17" fmla="*/ 5240779 h 5240779"/>
              <a:gd name="connsiteX18" fmla="*/ 2883475 w 4617674"/>
              <a:gd name="connsiteY18" fmla="*/ 5240779 h 5240779"/>
              <a:gd name="connsiteX19" fmla="*/ 2431974 w 4617674"/>
              <a:gd name="connsiteY19" fmla="*/ 5240779 h 5240779"/>
              <a:gd name="connsiteX20" fmla="*/ 1857336 w 4617674"/>
              <a:gd name="connsiteY20" fmla="*/ 5240779 h 5240779"/>
              <a:gd name="connsiteX21" fmla="*/ 1344266 w 4617674"/>
              <a:gd name="connsiteY21" fmla="*/ 5240779 h 5240779"/>
              <a:gd name="connsiteX22" fmla="*/ 769628 w 4617674"/>
              <a:gd name="connsiteY22" fmla="*/ 5240779 h 5240779"/>
              <a:gd name="connsiteX23" fmla="*/ 0 w 4617674"/>
              <a:gd name="connsiteY23" fmla="*/ 4471151 h 5240779"/>
              <a:gd name="connsiteX24" fmla="*/ 0 w 4617674"/>
              <a:gd name="connsiteY24" fmla="*/ 3942362 h 5240779"/>
              <a:gd name="connsiteX25" fmla="*/ 0 w 4617674"/>
              <a:gd name="connsiteY25" fmla="*/ 3413573 h 5240779"/>
              <a:gd name="connsiteX26" fmla="*/ 0 w 4617674"/>
              <a:gd name="connsiteY26" fmla="*/ 2958814 h 5240779"/>
              <a:gd name="connsiteX27" fmla="*/ 0 w 4617674"/>
              <a:gd name="connsiteY27" fmla="*/ 2393010 h 5240779"/>
              <a:gd name="connsiteX28" fmla="*/ 0 w 4617674"/>
              <a:gd name="connsiteY28" fmla="*/ 1938252 h 5240779"/>
              <a:gd name="connsiteX29" fmla="*/ 0 w 4617674"/>
              <a:gd name="connsiteY29" fmla="*/ 1372447 h 5240779"/>
              <a:gd name="connsiteX30" fmla="*/ 0 w 4617674"/>
              <a:gd name="connsiteY30" fmla="*/ 769628 h 5240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617674" h="5240779" extrusionOk="0">
                <a:moveTo>
                  <a:pt x="0" y="769628"/>
                </a:moveTo>
                <a:cubicBezTo>
                  <a:pt x="-73210" y="299417"/>
                  <a:pt x="299267" y="17005"/>
                  <a:pt x="769628" y="0"/>
                </a:cubicBezTo>
                <a:cubicBezTo>
                  <a:pt x="1054070" y="-31016"/>
                  <a:pt x="1103309" y="11140"/>
                  <a:pt x="1344266" y="0"/>
                </a:cubicBezTo>
                <a:cubicBezTo>
                  <a:pt x="1585223" y="-11140"/>
                  <a:pt x="1614755" y="47340"/>
                  <a:pt x="1826552" y="0"/>
                </a:cubicBezTo>
                <a:cubicBezTo>
                  <a:pt x="2038349" y="-47340"/>
                  <a:pt x="2176914" y="44002"/>
                  <a:pt x="2278053" y="0"/>
                </a:cubicBezTo>
                <a:cubicBezTo>
                  <a:pt x="2379192" y="-44002"/>
                  <a:pt x="2604573" y="15016"/>
                  <a:pt x="2821907" y="0"/>
                </a:cubicBezTo>
                <a:cubicBezTo>
                  <a:pt x="3039241" y="-15016"/>
                  <a:pt x="3176286" y="4562"/>
                  <a:pt x="3304192" y="0"/>
                </a:cubicBezTo>
                <a:cubicBezTo>
                  <a:pt x="3432098" y="-4562"/>
                  <a:pt x="3682958" y="42834"/>
                  <a:pt x="3848046" y="0"/>
                </a:cubicBezTo>
                <a:cubicBezTo>
                  <a:pt x="4266875" y="-59365"/>
                  <a:pt x="4561365" y="422828"/>
                  <a:pt x="4617674" y="769628"/>
                </a:cubicBezTo>
                <a:cubicBezTo>
                  <a:pt x="4671934" y="955213"/>
                  <a:pt x="4585696" y="1100005"/>
                  <a:pt x="4617674" y="1224387"/>
                </a:cubicBezTo>
                <a:cubicBezTo>
                  <a:pt x="4649652" y="1348769"/>
                  <a:pt x="4581928" y="1638363"/>
                  <a:pt x="4617674" y="1753176"/>
                </a:cubicBezTo>
                <a:cubicBezTo>
                  <a:pt x="4653420" y="1867989"/>
                  <a:pt x="4577833" y="2058776"/>
                  <a:pt x="4617674" y="2281965"/>
                </a:cubicBezTo>
                <a:cubicBezTo>
                  <a:pt x="4657515" y="2505154"/>
                  <a:pt x="4604347" y="2562896"/>
                  <a:pt x="4617674" y="2773738"/>
                </a:cubicBezTo>
                <a:cubicBezTo>
                  <a:pt x="4631001" y="2984580"/>
                  <a:pt x="4565581" y="3085359"/>
                  <a:pt x="4617674" y="3376558"/>
                </a:cubicBezTo>
                <a:cubicBezTo>
                  <a:pt x="4669767" y="3667757"/>
                  <a:pt x="4552529" y="3815575"/>
                  <a:pt x="4617674" y="3979377"/>
                </a:cubicBezTo>
                <a:cubicBezTo>
                  <a:pt x="4682819" y="4143179"/>
                  <a:pt x="4606365" y="4339087"/>
                  <a:pt x="4617674" y="4471151"/>
                </a:cubicBezTo>
                <a:cubicBezTo>
                  <a:pt x="4546774" y="4829405"/>
                  <a:pt x="4239152" y="5190030"/>
                  <a:pt x="3848046" y="5240779"/>
                </a:cubicBezTo>
                <a:cubicBezTo>
                  <a:pt x="3682390" y="5256541"/>
                  <a:pt x="3539309" y="5235974"/>
                  <a:pt x="3304192" y="5240779"/>
                </a:cubicBezTo>
                <a:cubicBezTo>
                  <a:pt x="3069075" y="5245584"/>
                  <a:pt x="3005963" y="5223521"/>
                  <a:pt x="2883475" y="5240779"/>
                </a:cubicBezTo>
                <a:cubicBezTo>
                  <a:pt x="2760987" y="5258037"/>
                  <a:pt x="2604420" y="5209491"/>
                  <a:pt x="2431974" y="5240779"/>
                </a:cubicBezTo>
                <a:cubicBezTo>
                  <a:pt x="2259528" y="5272067"/>
                  <a:pt x="2017621" y="5218267"/>
                  <a:pt x="1857336" y="5240779"/>
                </a:cubicBezTo>
                <a:cubicBezTo>
                  <a:pt x="1697051" y="5263291"/>
                  <a:pt x="1522589" y="5202549"/>
                  <a:pt x="1344266" y="5240779"/>
                </a:cubicBezTo>
                <a:cubicBezTo>
                  <a:pt x="1165943" y="5279009"/>
                  <a:pt x="984255" y="5199208"/>
                  <a:pt x="769628" y="5240779"/>
                </a:cubicBezTo>
                <a:cubicBezTo>
                  <a:pt x="340284" y="5125079"/>
                  <a:pt x="34641" y="4903428"/>
                  <a:pt x="0" y="4471151"/>
                </a:cubicBezTo>
                <a:cubicBezTo>
                  <a:pt x="-807" y="4225243"/>
                  <a:pt x="8733" y="4055301"/>
                  <a:pt x="0" y="3942362"/>
                </a:cubicBezTo>
                <a:cubicBezTo>
                  <a:pt x="-8733" y="3829423"/>
                  <a:pt x="44965" y="3653002"/>
                  <a:pt x="0" y="3413573"/>
                </a:cubicBezTo>
                <a:cubicBezTo>
                  <a:pt x="-44965" y="3174144"/>
                  <a:pt x="43913" y="3172029"/>
                  <a:pt x="0" y="2958814"/>
                </a:cubicBezTo>
                <a:cubicBezTo>
                  <a:pt x="-43913" y="2745599"/>
                  <a:pt x="20498" y="2660550"/>
                  <a:pt x="0" y="2393010"/>
                </a:cubicBezTo>
                <a:cubicBezTo>
                  <a:pt x="-20498" y="2125470"/>
                  <a:pt x="27158" y="2086895"/>
                  <a:pt x="0" y="1938252"/>
                </a:cubicBezTo>
                <a:cubicBezTo>
                  <a:pt x="-27158" y="1789609"/>
                  <a:pt x="20069" y="1498122"/>
                  <a:pt x="0" y="1372447"/>
                </a:cubicBezTo>
                <a:cubicBezTo>
                  <a:pt x="-20069" y="1246773"/>
                  <a:pt x="13085" y="993719"/>
                  <a:pt x="0" y="769628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50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ADB6F4-0BD6-56C8-4AE9-ED09B820154B}"/>
              </a:ext>
            </a:extLst>
          </p:cNvPr>
          <p:cNvSpPr txBox="1"/>
          <p:nvPr/>
        </p:nvSpPr>
        <p:spPr>
          <a:xfrm>
            <a:off x="2038676" y="1291689"/>
            <a:ext cx="169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黑马商城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7344167-80DA-4A8E-C26F-EA2225205079}"/>
              </a:ext>
            </a:extLst>
          </p:cNvPr>
          <p:cNvSpPr/>
          <p:nvPr/>
        </p:nvSpPr>
        <p:spPr>
          <a:xfrm>
            <a:off x="1126689" y="2017937"/>
            <a:ext cx="3642161" cy="706213"/>
          </a:xfrm>
          <a:custGeom>
            <a:avLst/>
            <a:gdLst>
              <a:gd name="connsiteX0" fmla="*/ 0 w 3642161"/>
              <a:gd name="connsiteY0" fmla="*/ 117705 h 706213"/>
              <a:gd name="connsiteX1" fmla="*/ 117705 w 3642161"/>
              <a:gd name="connsiteY1" fmla="*/ 0 h 706213"/>
              <a:gd name="connsiteX2" fmla="*/ 753632 w 3642161"/>
              <a:gd name="connsiteY2" fmla="*/ 0 h 706213"/>
              <a:gd name="connsiteX3" fmla="*/ 1287356 w 3642161"/>
              <a:gd name="connsiteY3" fmla="*/ 0 h 706213"/>
              <a:gd name="connsiteX4" fmla="*/ 1787013 w 3642161"/>
              <a:gd name="connsiteY4" fmla="*/ 0 h 706213"/>
              <a:gd name="connsiteX5" fmla="*/ 2388872 w 3642161"/>
              <a:gd name="connsiteY5" fmla="*/ 0 h 706213"/>
              <a:gd name="connsiteX6" fmla="*/ 2922597 w 3642161"/>
              <a:gd name="connsiteY6" fmla="*/ 0 h 706213"/>
              <a:gd name="connsiteX7" fmla="*/ 3524456 w 3642161"/>
              <a:gd name="connsiteY7" fmla="*/ 0 h 706213"/>
              <a:gd name="connsiteX8" fmla="*/ 3642161 w 3642161"/>
              <a:gd name="connsiteY8" fmla="*/ 117705 h 706213"/>
              <a:gd name="connsiteX9" fmla="*/ 3642161 w 3642161"/>
              <a:gd name="connsiteY9" fmla="*/ 588508 h 706213"/>
              <a:gd name="connsiteX10" fmla="*/ 3524456 w 3642161"/>
              <a:gd name="connsiteY10" fmla="*/ 706213 h 706213"/>
              <a:gd name="connsiteX11" fmla="*/ 2922597 w 3642161"/>
              <a:gd name="connsiteY11" fmla="*/ 706213 h 706213"/>
              <a:gd name="connsiteX12" fmla="*/ 2286670 w 3642161"/>
              <a:gd name="connsiteY12" fmla="*/ 706213 h 706213"/>
              <a:gd name="connsiteX13" fmla="*/ 1650743 w 3642161"/>
              <a:gd name="connsiteY13" fmla="*/ 706213 h 706213"/>
              <a:gd name="connsiteX14" fmla="*/ 1151086 w 3642161"/>
              <a:gd name="connsiteY14" fmla="*/ 706213 h 706213"/>
              <a:gd name="connsiteX15" fmla="*/ 117705 w 3642161"/>
              <a:gd name="connsiteY15" fmla="*/ 706213 h 706213"/>
              <a:gd name="connsiteX16" fmla="*/ 0 w 3642161"/>
              <a:gd name="connsiteY16" fmla="*/ 588508 h 706213"/>
              <a:gd name="connsiteX17" fmla="*/ 0 w 3642161"/>
              <a:gd name="connsiteY17" fmla="*/ 117705 h 70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642161" h="706213" extrusionOk="0">
                <a:moveTo>
                  <a:pt x="0" y="117705"/>
                </a:moveTo>
                <a:cubicBezTo>
                  <a:pt x="-9426" y="46884"/>
                  <a:pt x="37344" y="5763"/>
                  <a:pt x="117705" y="0"/>
                </a:cubicBezTo>
                <a:cubicBezTo>
                  <a:pt x="312654" y="-11419"/>
                  <a:pt x="553466" y="64196"/>
                  <a:pt x="753632" y="0"/>
                </a:cubicBezTo>
                <a:cubicBezTo>
                  <a:pt x="953798" y="-64196"/>
                  <a:pt x="1154839" y="25775"/>
                  <a:pt x="1287356" y="0"/>
                </a:cubicBezTo>
                <a:cubicBezTo>
                  <a:pt x="1419873" y="-25775"/>
                  <a:pt x="1584232" y="43301"/>
                  <a:pt x="1787013" y="0"/>
                </a:cubicBezTo>
                <a:cubicBezTo>
                  <a:pt x="1989794" y="-43301"/>
                  <a:pt x="2244896" y="57443"/>
                  <a:pt x="2388872" y="0"/>
                </a:cubicBezTo>
                <a:cubicBezTo>
                  <a:pt x="2532848" y="-57443"/>
                  <a:pt x="2764390" y="62062"/>
                  <a:pt x="2922597" y="0"/>
                </a:cubicBezTo>
                <a:cubicBezTo>
                  <a:pt x="3080804" y="-62062"/>
                  <a:pt x="3225638" y="43153"/>
                  <a:pt x="3524456" y="0"/>
                </a:cubicBezTo>
                <a:cubicBezTo>
                  <a:pt x="3588813" y="-6200"/>
                  <a:pt x="3636267" y="60888"/>
                  <a:pt x="3642161" y="117705"/>
                </a:cubicBezTo>
                <a:cubicBezTo>
                  <a:pt x="3660858" y="305990"/>
                  <a:pt x="3613702" y="428688"/>
                  <a:pt x="3642161" y="588508"/>
                </a:cubicBezTo>
                <a:cubicBezTo>
                  <a:pt x="3633515" y="653021"/>
                  <a:pt x="3594356" y="692796"/>
                  <a:pt x="3524456" y="706213"/>
                </a:cubicBezTo>
                <a:cubicBezTo>
                  <a:pt x="3349285" y="709707"/>
                  <a:pt x="3169522" y="692919"/>
                  <a:pt x="2922597" y="706213"/>
                </a:cubicBezTo>
                <a:cubicBezTo>
                  <a:pt x="2675672" y="719507"/>
                  <a:pt x="2417708" y="643707"/>
                  <a:pt x="2286670" y="706213"/>
                </a:cubicBezTo>
                <a:cubicBezTo>
                  <a:pt x="2155632" y="768719"/>
                  <a:pt x="1853983" y="658582"/>
                  <a:pt x="1650743" y="706213"/>
                </a:cubicBezTo>
                <a:cubicBezTo>
                  <a:pt x="1447503" y="753844"/>
                  <a:pt x="1394093" y="688187"/>
                  <a:pt x="1151086" y="706213"/>
                </a:cubicBezTo>
                <a:cubicBezTo>
                  <a:pt x="908079" y="724239"/>
                  <a:pt x="627086" y="671075"/>
                  <a:pt x="117705" y="706213"/>
                </a:cubicBezTo>
                <a:cubicBezTo>
                  <a:pt x="48548" y="697754"/>
                  <a:pt x="824" y="642372"/>
                  <a:pt x="0" y="588508"/>
                </a:cubicBezTo>
                <a:cubicBezTo>
                  <a:pt x="-44614" y="437422"/>
                  <a:pt x="35869" y="307905"/>
                  <a:pt x="0" y="117705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50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查看全部商品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7379F64-6470-83EE-1144-374318BB3737}"/>
              </a:ext>
            </a:extLst>
          </p:cNvPr>
          <p:cNvSpPr/>
          <p:nvPr/>
        </p:nvSpPr>
        <p:spPr>
          <a:xfrm>
            <a:off x="1126688" y="3154587"/>
            <a:ext cx="3642161" cy="706213"/>
          </a:xfrm>
          <a:custGeom>
            <a:avLst/>
            <a:gdLst>
              <a:gd name="connsiteX0" fmla="*/ 0 w 3642161"/>
              <a:gd name="connsiteY0" fmla="*/ 117705 h 706213"/>
              <a:gd name="connsiteX1" fmla="*/ 117705 w 3642161"/>
              <a:gd name="connsiteY1" fmla="*/ 0 h 706213"/>
              <a:gd name="connsiteX2" fmla="*/ 753632 w 3642161"/>
              <a:gd name="connsiteY2" fmla="*/ 0 h 706213"/>
              <a:gd name="connsiteX3" fmla="*/ 1287356 w 3642161"/>
              <a:gd name="connsiteY3" fmla="*/ 0 h 706213"/>
              <a:gd name="connsiteX4" fmla="*/ 1787013 w 3642161"/>
              <a:gd name="connsiteY4" fmla="*/ 0 h 706213"/>
              <a:gd name="connsiteX5" fmla="*/ 2388872 w 3642161"/>
              <a:gd name="connsiteY5" fmla="*/ 0 h 706213"/>
              <a:gd name="connsiteX6" fmla="*/ 2922597 w 3642161"/>
              <a:gd name="connsiteY6" fmla="*/ 0 h 706213"/>
              <a:gd name="connsiteX7" fmla="*/ 3524456 w 3642161"/>
              <a:gd name="connsiteY7" fmla="*/ 0 h 706213"/>
              <a:gd name="connsiteX8" fmla="*/ 3642161 w 3642161"/>
              <a:gd name="connsiteY8" fmla="*/ 117705 h 706213"/>
              <a:gd name="connsiteX9" fmla="*/ 3642161 w 3642161"/>
              <a:gd name="connsiteY9" fmla="*/ 588508 h 706213"/>
              <a:gd name="connsiteX10" fmla="*/ 3524456 w 3642161"/>
              <a:gd name="connsiteY10" fmla="*/ 706213 h 706213"/>
              <a:gd name="connsiteX11" fmla="*/ 2922597 w 3642161"/>
              <a:gd name="connsiteY11" fmla="*/ 706213 h 706213"/>
              <a:gd name="connsiteX12" fmla="*/ 2286670 w 3642161"/>
              <a:gd name="connsiteY12" fmla="*/ 706213 h 706213"/>
              <a:gd name="connsiteX13" fmla="*/ 1650743 w 3642161"/>
              <a:gd name="connsiteY13" fmla="*/ 706213 h 706213"/>
              <a:gd name="connsiteX14" fmla="*/ 1151086 w 3642161"/>
              <a:gd name="connsiteY14" fmla="*/ 706213 h 706213"/>
              <a:gd name="connsiteX15" fmla="*/ 117705 w 3642161"/>
              <a:gd name="connsiteY15" fmla="*/ 706213 h 706213"/>
              <a:gd name="connsiteX16" fmla="*/ 0 w 3642161"/>
              <a:gd name="connsiteY16" fmla="*/ 588508 h 706213"/>
              <a:gd name="connsiteX17" fmla="*/ 0 w 3642161"/>
              <a:gd name="connsiteY17" fmla="*/ 117705 h 70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642161" h="706213" extrusionOk="0">
                <a:moveTo>
                  <a:pt x="0" y="117705"/>
                </a:moveTo>
                <a:cubicBezTo>
                  <a:pt x="-9426" y="46884"/>
                  <a:pt x="37344" y="5763"/>
                  <a:pt x="117705" y="0"/>
                </a:cubicBezTo>
                <a:cubicBezTo>
                  <a:pt x="312654" y="-11419"/>
                  <a:pt x="553466" y="64196"/>
                  <a:pt x="753632" y="0"/>
                </a:cubicBezTo>
                <a:cubicBezTo>
                  <a:pt x="953798" y="-64196"/>
                  <a:pt x="1154839" y="25775"/>
                  <a:pt x="1287356" y="0"/>
                </a:cubicBezTo>
                <a:cubicBezTo>
                  <a:pt x="1419873" y="-25775"/>
                  <a:pt x="1584232" y="43301"/>
                  <a:pt x="1787013" y="0"/>
                </a:cubicBezTo>
                <a:cubicBezTo>
                  <a:pt x="1989794" y="-43301"/>
                  <a:pt x="2244896" y="57443"/>
                  <a:pt x="2388872" y="0"/>
                </a:cubicBezTo>
                <a:cubicBezTo>
                  <a:pt x="2532848" y="-57443"/>
                  <a:pt x="2764390" y="62062"/>
                  <a:pt x="2922597" y="0"/>
                </a:cubicBezTo>
                <a:cubicBezTo>
                  <a:pt x="3080804" y="-62062"/>
                  <a:pt x="3225638" y="43153"/>
                  <a:pt x="3524456" y="0"/>
                </a:cubicBezTo>
                <a:cubicBezTo>
                  <a:pt x="3588813" y="-6200"/>
                  <a:pt x="3636267" y="60888"/>
                  <a:pt x="3642161" y="117705"/>
                </a:cubicBezTo>
                <a:cubicBezTo>
                  <a:pt x="3660858" y="305990"/>
                  <a:pt x="3613702" y="428688"/>
                  <a:pt x="3642161" y="588508"/>
                </a:cubicBezTo>
                <a:cubicBezTo>
                  <a:pt x="3633515" y="653021"/>
                  <a:pt x="3594356" y="692796"/>
                  <a:pt x="3524456" y="706213"/>
                </a:cubicBezTo>
                <a:cubicBezTo>
                  <a:pt x="3349285" y="709707"/>
                  <a:pt x="3169522" y="692919"/>
                  <a:pt x="2922597" y="706213"/>
                </a:cubicBezTo>
                <a:cubicBezTo>
                  <a:pt x="2675672" y="719507"/>
                  <a:pt x="2417708" y="643707"/>
                  <a:pt x="2286670" y="706213"/>
                </a:cubicBezTo>
                <a:cubicBezTo>
                  <a:pt x="2155632" y="768719"/>
                  <a:pt x="1853983" y="658582"/>
                  <a:pt x="1650743" y="706213"/>
                </a:cubicBezTo>
                <a:cubicBezTo>
                  <a:pt x="1447503" y="753844"/>
                  <a:pt x="1394093" y="688187"/>
                  <a:pt x="1151086" y="706213"/>
                </a:cubicBezTo>
                <a:cubicBezTo>
                  <a:pt x="908079" y="724239"/>
                  <a:pt x="627086" y="671075"/>
                  <a:pt x="117705" y="706213"/>
                </a:cubicBezTo>
                <a:cubicBezTo>
                  <a:pt x="48548" y="697754"/>
                  <a:pt x="824" y="642372"/>
                  <a:pt x="0" y="588508"/>
                </a:cubicBezTo>
                <a:cubicBezTo>
                  <a:pt x="-44614" y="437422"/>
                  <a:pt x="35869" y="307905"/>
                  <a:pt x="0" y="117705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50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上架商品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48B9E82-B50E-887B-FEA9-C32C059503E4}"/>
              </a:ext>
            </a:extLst>
          </p:cNvPr>
          <p:cNvSpPr/>
          <p:nvPr/>
        </p:nvSpPr>
        <p:spPr>
          <a:xfrm>
            <a:off x="1126687" y="4227835"/>
            <a:ext cx="3642161" cy="706213"/>
          </a:xfrm>
          <a:custGeom>
            <a:avLst/>
            <a:gdLst>
              <a:gd name="connsiteX0" fmla="*/ 0 w 3642161"/>
              <a:gd name="connsiteY0" fmla="*/ 117705 h 706213"/>
              <a:gd name="connsiteX1" fmla="*/ 117705 w 3642161"/>
              <a:gd name="connsiteY1" fmla="*/ 0 h 706213"/>
              <a:gd name="connsiteX2" fmla="*/ 753632 w 3642161"/>
              <a:gd name="connsiteY2" fmla="*/ 0 h 706213"/>
              <a:gd name="connsiteX3" fmla="*/ 1287356 w 3642161"/>
              <a:gd name="connsiteY3" fmla="*/ 0 h 706213"/>
              <a:gd name="connsiteX4" fmla="*/ 1787013 w 3642161"/>
              <a:gd name="connsiteY4" fmla="*/ 0 h 706213"/>
              <a:gd name="connsiteX5" fmla="*/ 2388872 w 3642161"/>
              <a:gd name="connsiteY5" fmla="*/ 0 h 706213"/>
              <a:gd name="connsiteX6" fmla="*/ 2922597 w 3642161"/>
              <a:gd name="connsiteY6" fmla="*/ 0 h 706213"/>
              <a:gd name="connsiteX7" fmla="*/ 3524456 w 3642161"/>
              <a:gd name="connsiteY7" fmla="*/ 0 h 706213"/>
              <a:gd name="connsiteX8" fmla="*/ 3642161 w 3642161"/>
              <a:gd name="connsiteY8" fmla="*/ 117705 h 706213"/>
              <a:gd name="connsiteX9" fmla="*/ 3642161 w 3642161"/>
              <a:gd name="connsiteY9" fmla="*/ 588508 h 706213"/>
              <a:gd name="connsiteX10" fmla="*/ 3524456 w 3642161"/>
              <a:gd name="connsiteY10" fmla="*/ 706213 h 706213"/>
              <a:gd name="connsiteX11" fmla="*/ 2922597 w 3642161"/>
              <a:gd name="connsiteY11" fmla="*/ 706213 h 706213"/>
              <a:gd name="connsiteX12" fmla="*/ 2286670 w 3642161"/>
              <a:gd name="connsiteY12" fmla="*/ 706213 h 706213"/>
              <a:gd name="connsiteX13" fmla="*/ 1650743 w 3642161"/>
              <a:gd name="connsiteY13" fmla="*/ 706213 h 706213"/>
              <a:gd name="connsiteX14" fmla="*/ 1151086 w 3642161"/>
              <a:gd name="connsiteY14" fmla="*/ 706213 h 706213"/>
              <a:gd name="connsiteX15" fmla="*/ 117705 w 3642161"/>
              <a:gd name="connsiteY15" fmla="*/ 706213 h 706213"/>
              <a:gd name="connsiteX16" fmla="*/ 0 w 3642161"/>
              <a:gd name="connsiteY16" fmla="*/ 588508 h 706213"/>
              <a:gd name="connsiteX17" fmla="*/ 0 w 3642161"/>
              <a:gd name="connsiteY17" fmla="*/ 117705 h 70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642161" h="706213" extrusionOk="0">
                <a:moveTo>
                  <a:pt x="0" y="117705"/>
                </a:moveTo>
                <a:cubicBezTo>
                  <a:pt x="-9426" y="46884"/>
                  <a:pt x="37344" y="5763"/>
                  <a:pt x="117705" y="0"/>
                </a:cubicBezTo>
                <a:cubicBezTo>
                  <a:pt x="312654" y="-11419"/>
                  <a:pt x="553466" y="64196"/>
                  <a:pt x="753632" y="0"/>
                </a:cubicBezTo>
                <a:cubicBezTo>
                  <a:pt x="953798" y="-64196"/>
                  <a:pt x="1154839" y="25775"/>
                  <a:pt x="1287356" y="0"/>
                </a:cubicBezTo>
                <a:cubicBezTo>
                  <a:pt x="1419873" y="-25775"/>
                  <a:pt x="1584232" y="43301"/>
                  <a:pt x="1787013" y="0"/>
                </a:cubicBezTo>
                <a:cubicBezTo>
                  <a:pt x="1989794" y="-43301"/>
                  <a:pt x="2244896" y="57443"/>
                  <a:pt x="2388872" y="0"/>
                </a:cubicBezTo>
                <a:cubicBezTo>
                  <a:pt x="2532848" y="-57443"/>
                  <a:pt x="2764390" y="62062"/>
                  <a:pt x="2922597" y="0"/>
                </a:cubicBezTo>
                <a:cubicBezTo>
                  <a:pt x="3080804" y="-62062"/>
                  <a:pt x="3225638" y="43153"/>
                  <a:pt x="3524456" y="0"/>
                </a:cubicBezTo>
                <a:cubicBezTo>
                  <a:pt x="3588813" y="-6200"/>
                  <a:pt x="3636267" y="60888"/>
                  <a:pt x="3642161" y="117705"/>
                </a:cubicBezTo>
                <a:cubicBezTo>
                  <a:pt x="3660858" y="305990"/>
                  <a:pt x="3613702" y="428688"/>
                  <a:pt x="3642161" y="588508"/>
                </a:cubicBezTo>
                <a:cubicBezTo>
                  <a:pt x="3633515" y="653021"/>
                  <a:pt x="3594356" y="692796"/>
                  <a:pt x="3524456" y="706213"/>
                </a:cubicBezTo>
                <a:cubicBezTo>
                  <a:pt x="3349285" y="709707"/>
                  <a:pt x="3169522" y="692919"/>
                  <a:pt x="2922597" y="706213"/>
                </a:cubicBezTo>
                <a:cubicBezTo>
                  <a:pt x="2675672" y="719507"/>
                  <a:pt x="2417708" y="643707"/>
                  <a:pt x="2286670" y="706213"/>
                </a:cubicBezTo>
                <a:cubicBezTo>
                  <a:pt x="2155632" y="768719"/>
                  <a:pt x="1853983" y="658582"/>
                  <a:pt x="1650743" y="706213"/>
                </a:cubicBezTo>
                <a:cubicBezTo>
                  <a:pt x="1447503" y="753844"/>
                  <a:pt x="1394093" y="688187"/>
                  <a:pt x="1151086" y="706213"/>
                </a:cubicBezTo>
                <a:cubicBezTo>
                  <a:pt x="908079" y="724239"/>
                  <a:pt x="627086" y="671075"/>
                  <a:pt x="117705" y="706213"/>
                </a:cubicBezTo>
                <a:cubicBezTo>
                  <a:pt x="48548" y="697754"/>
                  <a:pt x="824" y="642372"/>
                  <a:pt x="0" y="588508"/>
                </a:cubicBezTo>
                <a:cubicBezTo>
                  <a:pt x="-44614" y="437422"/>
                  <a:pt x="35869" y="307905"/>
                  <a:pt x="0" y="117705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50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下架商品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CC34A58-E932-F988-3A4B-8E34BC5D1707}"/>
              </a:ext>
            </a:extLst>
          </p:cNvPr>
          <p:cNvSpPr/>
          <p:nvPr/>
        </p:nvSpPr>
        <p:spPr>
          <a:xfrm>
            <a:off x="1126686" y="5235260"/>
            <a:ext cx="3642161" cy="706213"/>
          </a:xfrm>
          <a:custGeom>
            <a:avLst/>
            <a:gdLst>
              <a:gd name="connsiteX0" fmla="*/ 0 w 3642161"/>
              <a:gd name="connsiteY0" fmla="*/ 117705 h 706213"/>
              <a:gd name="connsiteX1" fmla="*/ 117705 w 3642161"/>
              <a:gd name="connsiteY1" fmla="*/ 0 h 706213"/>
              <a:gd name="connsiteX2" fmla="*/ 753632 w 3642161"/>
              <a:gd name="connsiteY2" fmla="*/ 0 h 706213"/>
              <a:gd name="connsiteX3" fmla="*/ 1287356 w 3642161"/>
              <a:gd name="connsiteY3" fmla="*/ 0 h 706213"/>
              <a:gd name="connsiteX4" fmla="*/ 1787013 w 3642161"/>
              <a:gd name="connsiteY4" fmla="*/ 0 h 706213"/>
              <a:gd name="connsiteX5" fmla="*/ 2388872 w 3642161"/>
              <a:gd name="connsiteY5" fmla="*/ 0 h 706213"/>
              <a:gd name="connsiteX6" fmla="*/ 2922597 w 3642161"/>
              <a:gd name="connsiteY6" fmla="*/ 0 h 706213"/>
              <a:gd name="connsiteX7" fmla="*/ 3524456 w 3642161"/>
              <a:gd name="connsiteY7" fmla="*/ 0 h 706213"/>
              <a:gd name="connsiteX8" fmla="*/ 3642161 w 3642161"/>
              <a:gd name="connsiteY8" fmla="*/ 117705 h 706213"/>
              <a:gd name="connsiteX9" fmla="*/ 3642161 w 3642161"/>
              <a:gd name="connsiteY9" fmla="*/ 588508 h 706213"/>
              <a:gd name="connsiteX10" fmla="*/ 3524456 w 3642161"/>
              <a:gd name="connsiteY10" fmla="*/ 706213 h 706213"/>
              <a:gd name="connsiteX11" fmla="*/ 2922597 w 3642161"/>
              <a:gd name="connsiteY11" fmla="*/ 706213 h 706213"/>
              <a:gd name="connsiteX12" fmla="*/ 2286670 w 3642161"/>
              <a:gd name="connsiteY12" fmla="*/ 706213 h 706213"/>
              <a:gd name="connsiteX13" fmla="*/ 1650743 w 3642161"/>
              <a:gd name="connsiteY13" fmla="*/ 706213 h 706213"/>
              <a:gd name="connsiteX14" fmla="*/ 1151086 w 3642161"/>
              <a:gd name="connsiteY14" fmla="*/ 706213 h 706213"/>
              <a:gd name="connsiteX15" fmla="*/ 117705 w 3642161"/>
              <a:gd name="connsiteY15" fmla="*/ 706213 h 706213"/>
              <a:gd name="connsiteX16" fmla="*/ 0 w 3642161"/>
              <a:gd name="connsiteY16" fmla="*/ 588508 h 706213"/>
              <a:gd name="connsiteX17" fmla="*/ 0 w 3642161"/>
              <a:gd name="connsiteY17" fmla="*/ 117705 h 70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642161" h="706213" extrusionOk="0">
                <a:moveTo>
                  <a:pt x="0" y="117705"/>
                </a:moveTo>
                <a:cubicBezTo>
                  <a:pt x="-9426" y="46884"/>
                  <a:pt x="37344" y="5763"/>
                  <a:pt x="117705" y="0"/>
                </a:cubicBezTo>
                <a:cubicBezTo>
                  <a:pt x="312654" y="-11419"/>
                  <a:pt x="553466" y="64196"/>
                  <a:pt x="753632" y="0"/>
                </a:cubicBezTo>
                <a:cubicBezTo>
                  <a:pt x="953798" y="-64196"/>
                  <a:pt x="1154839" y="25775"/>
                  <a:pt x="1287356" y="0"/>
                </a:cubicBezTo>
                <a:cubicBezTo>
                  <a:pt x="1419873" y="-25775"/>
                  <a:pt x="1584232" y="43301"/>
                  <a:pt x="1787013" y="0"/>
                </a:cubicBezTo>
                <a:cubicBezTo>
                  <a:pt x="1989794" y="-43301"/>
                  <a:pt x="2244896" y="57443"/>
                  <a:pt x="2388872" y="0"/>
                </a:cubicBezTo>
                <a:cubicBezTo>
                  <a:pt x="2532848" y="-57443"/>
                  <a:pt x="2764390" y="62062"/>
                  <a:pt x="2922597" y="0"/>
                </a:cubicBezTo>
                <a:cubicBezTo>
                  <a:pt x="3080804" y="-62062"/>
                  <a:pt x="3225638" y="43153"/>
                  <a:pt x="3524456" y="0"/>
                </a:cubicBezTo>
                <a:cubicBezTo>
                  <a:pt x="3588813" y="-6200"/>
                  <a:pt x="3636267" y="60888"/>
                  <a:pt x="3642161" y="117705"/>
                </a:cubicBezTo>
                <a:cubicBezTo>
                  <a:pt x="3660858" y="305990"/>
                  <a:pt x="3613702" y="428688"/>
                  <a:pt x="3642161" y="588508"/>
                </a:cubicBezTo>
                <a:cubicBezTo>
                  <a:pt x="3633515" y="653021"/>
                  <a:pt x="3594356" y="692796"/>
                  <a:pt x="3524456" y="706213"/>
                </a:cubicBezTo>
                <a:cubicBezTo>
                  <a:pt x="3349285" y="709707"/>
                  <a:pt x="3169522" y="692919"/>
                  <a:pt x="2922597" y="706213"/>
                </a:cubicBezTo>
                <a:cubicBezTo>
                  <a:pt x="2675672" y="719507"/>
                  <a:pt x="2417708" y="643707"/>
                  <a:pt x="2286670" y="706213"/>
                </a:cubicBezTo>
                <a:cubicBezTo>
                  <a:pt x="2155632" y="768719"/>
                  <a:pt x="1853983" y="658582"/>
                  <a:pt x="1650743" y="706213"/>
                </a:cubicBezTo>
                <a:cubicBezTo>
                  <a:pt x="1447503" y="753844"/>
                  <a:pt x="1394093" y="688187"/>
                  <a:pt x="1151086" y="706213"/>
                </a:cubicBezTo>
                <a:cubicBezTo>
                  <a:pt x="908079" y="724239"/>
                  <a:pt x="627086" y="671075"/>
                  <a:pt x="117705" y="706213"/>
                </a:cubicBezTo>
                <a:cubicBezTo>
                  <a:pt x="48548" y="697754"/>
                  <a:pt x="824" y="642372"/>
                  <a:pt x="0" y="588508"/>
                </a:cubicBezTo>
                <a:cubicBezTo>
                  <a:pt x="-44614" y="437422"/>
                  <a:pt x="35869" y="307905"/>
                  <a:pt x="0" y="117705"/>
                </a:cubicBezTo>
                <a:close/>
              </a:path>
            </a:pathLst>
          </a:custGeom>
          <a:noFill/>
          <a:ln w="25400">
            <a:solidFill>
              <a:schemeClr val="tx1">
                <a:lumMod val="50000"/>
              </a:schemeClr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修改商品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0488AA7-633F-35AD-F7C7-4D4B1A662CC1}"/>
              </a:ext>
            </a:extLst>
          </p:cNvPr>
          <p:cNvGrpSpPr/>
          <p:nvPr/>
        </p:nvGrpSpPr>
        <p:grpSpPr>
          <a:xfrm>
            <a:off x="5644408" y="1180630"/>
            <a:ext cx="6268192" cy="4394669"/>
            <a:chOff x="1351992" y="3006664"/>
            <a:chExt cx="9572519" cy="3966505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3076F04E-7B89-CAA5-4769-9D7151A7AA66}"/>
                </a:ext>
              </a:extLst>
            </p:cNvPr>
            <p:cNvSpPr/>
            <p:nvPr/>
          </p:nvSpPr>
          <p:spPr>
            <a:xfrm>
              <a:off x="1351994" y="3006664"/>
              <a:ext cx="9572517" cy="3966505"/>
            </a:xfrm>
            <a:prstGeom prst="roundRect">
              <a:avLst>
                <a:gd name="adj" fmla="val 3590"/>
              </a:avLst>
            </a:prstGeom>
            <a:solidFill>
              <a:srgbClr val="F9FBF9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43D9FE9-89E0-B7AF-3D53-F7BA9FA6464C}"/>
                </a:ext>
              </a:extLst>
            </p:cNvPr>
            <p:cNvSpPr txBox="1"/>
            <p:nvPr/>
          </p:nvSpPr>
          <p:spPr>
            <a:xfrm>
              <a:off x="1351992" y="3466463"/>
              <a:ext cx="7890779" cy="3139032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200" b="1" i="0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</a:rPr>
                <a:t>public class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</a:rPr>
                <a:t>VariableDemo {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</a:rPr>
                <a:t>    </a:t>
              </a:r>
              <a:r>
                <a:rPr kumimoji="0" lang="zh-CN" altLang="zh-CN" sz="1200" b="1" i="0" u="none" strike="noStrike" cap="none" normalizeH="0" baseline="0" dirty="0">
                  <a:ln>
                    <a:noFill/>
                  </a:ln>
                  <a:solidFill>
                    <a:srgbClr val="000080"/>
                  </a:solidFill>
                  <a:effectLst/>
                </a:rPr>
                <a:t>public static void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</a:rPr>
                <a:t>main(String[] args) {</a:t>
              </a:r>
              <a:endPara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</a:rPr>
                <a:t> </a:t>
              </a:r>
              <a:endParaRPr lang="en-US" altLang="zh-CN" sz="1200" dirty="0">
                <a:solidFill>
                  <a:srgbClr val="000000"/>
                </a:solidFill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1600" dirty="0">
                  <a:solidFill>
                    <a:srgbClr val="000000"/>
                  </a:solidFill>
                </a:rPr>
                <a:t>	</a:t>
              </a:r>
              <a:r>
                <a:rPr lang="zh-CN" altLang="en-US" sz="1600" dirty="0">
                  <a:solidFill>
                    <a:srgbClr val="000000"/>
                  </a:solidFill>
                </a:rPr>
                <a:t>查看全部商品 </a:t>
              </a:r>
              <a:r>
                <a:rPr lang="en-US" altLang="zh-CN" sz="1600" dirty="0">
                  <a:solidFill>
                    <a:srgbClr val="000000"/>
                  </a:solidFill>
                </a:rPr>
                <a:t>(50</a:t>
              </a:r>
              <a:r>
                <a:rPr lang="zh-CN" altLang="en-US" sz="1600" dirty="0">
                  <a:solidFill>
                    <a:srgbClr val="000000"/>
                  </a:solidFill>
                </a:rPr>
                <a:t>行代码</a:t>
              </a:r>
              <a:r>
                <a:rPr lang="en-US" altLang="zh-CN" sz="1600" dirty="0">
                  <a:solidFill>
                    <a:srgbClr val="000000"/>
                  </a:solidFill>
                </a:rPr>
                <a:t>)</a:t>
              </a:r>
              <a:endPara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zh-CN" sz="1600" dirty="0">
                <a:solidFill>
                  <a:srgbClr val="000000"/>
                </a:solidFill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</a:rPr>
                <a:t>	</a:t>
              </a:r>
              <a:r>
                <a:rPr lang="zh-CN" altLang="en-US" sz="1600" dirty="0">
                  <a:solidFill>
                    <a:srgbClr val="000000"/>
                  </a:solidFill>
                </a:rPr>
                <a:t>上架商品 </a:t>
              </a:r>
              <a:r>
                <a:rPr lang="en-US" altLang="zh-CN" sz="1600" dirty="0">
                  <a:solidFill>
                    <a:srgbClr val="000000"/>
                  </a:solidFill>
                </a:rPr>
                <a:t>(50</a:t>
              </a:r>
              <a:r>
                <a:rPr lang="zh-CN" altLang="en-US" sz="1600" dirty="0">
                  <a:solidFill>
                    <a:srgbClr val="000000"/>
                  </a:solidFill>
                </a:rPr>
                <a:t>行代码</a:t>
              </a:r>
              <a:r>
                <a:rPr lang="en-US" altLang="zh-CN" sz="1600" dirty="0">
                  <a:solidFill>
                    <a:srgbClr val="000000"/>
                  </a:solidFill>
                </a:rPr>
                <a:t>)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1600" dirty="0">
                <a:solidFill>
                  <a:srgbClr val="000000"/>
                </a:solidFill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</a:rPr>
                <a:t>	</a:t>
              </a:r>
              <a:r>
                <a:rPr lang="zh-CN" altLang="en-US" sz="1600" dirty="0">
                  <a:solidFill>
                    <a:srgbClr val="000000"/>
                  </a:solidFill>
                </a:rPr>
                <a:t>下架商品 </a:t>
              </a:r>
              <a:r>
                <a:rPr lang="en-US" altLang="zh-CN" sz="1600" dirty="0">
                  <a:solidFill>
                    <a:srgbClr val="000000"/>
                  </a:solidFill>
                </a:rPr>
                <a:t>(50</a:t>
              </a:r>
              <a:r>
                <a:rPr lang="zh-CN" altLang="en-US" sz="1600" dirty="0">
                  <a:solidFill>
                    <a:srgbClr val="000000"/>
                  </a:solidFill>
                </a:rPr>
                <a:t>行代码</a:t>
              </a:r>
              <a:r>
                <a:rPr lang="en-US" altLang="zh-CN" sz="1600" dirty="0">
                  <a:solidFill>
                    <a:srgbClr val="000000"/>
                  </a:solidFill>
                </a:rPr>
                <a:t>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dirty="0">
                  <a:solidFill>
                    <a:srgbClr val="000000"/>
                  </a:solidFill>
                </a:rPr>
                <a:t>	</a:t>
              </a:r>
              <a:r>
                <a:rPr lang="zh-CN" altLang="en-US" sz="1600" dirty="0">
                  <a:solidFill>
                    <a:srgbClr val="000000"/>
                  </a:solidFill>
                </a:rPr>
                <a:t>修改商品 </a:t>
              </a:r>
              <a:r>
                <a:rPr lang="en-US" altLang="zh-CN" sz="1600" dirty="0">
                  <a:solidFill>
                    <a:srgbClr val="000000"/>
                  </a:solidFill>
                </a:rPr>
                <a:t>(50</a:t>
              </a:r>
              <a:r>
                <a:rPr lang="zh-CN" altLang="en-US" sz="1600" dirty="0">
                  <a:solidFill>
                    <a:srgbClr val="000000"/>
                  </a:solidFill>
                </a:rPr>
                <a:t>行代码</a:t>
              </a:r>
              <a:r>
                <a:rPr lang="en-US" altLang="zh-CN" sz="1600" dirty="0">
                  <a:solidFill>
                    <a:srgbClr val="000000"/>
                  </a:solidFill>
                </a:rPr>
                <a:t>)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zh-CN" sz="1200" dirty="0">
                <a:solidFill>
                  <a:srgbClr val="000000"/>
                </a:solidFill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</a:rPr>
                <a:t>    </a:t>
              </a: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</a:rPr>
                <a:t>}</a:t>
              </a:r>
              <a:b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</a:rPr>
              </a:br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</a:rPr>
                <a:t>}</a:t>
              </a:r>
              <a:endPara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8D6C5358-FF65-A857-FEDE-3A31BF6A1659}"/>
                </a:ext>
              </a:extLst>
            </p:cNvPr>
            <p:cNvSpPr/>
            <p:nvPr/>
          </p:nvSpPr>
          <p:spPr>
            <a:xfrm>
              <a:off x="1351995" y="3028401"/>
              <a:ext cx="9572516" cy="243057"/>
            </a:xfrm>
            <a:custGeom>
              <a:avLst/>
              <a:gdLst>
                <a:gd name="connsiteX0" fmla="*/ 89432 w 8960426"/>
                <a:gd name="connsiteY0" fmla="*/ 0 h 243057"/>
                <a:gd name="connsiteX1" fmla="*/ 8870994 w 8960426"/>
                <a:gd name="connsiteY1" fmla="*/ 0 h 243057"/>
                <a:gd name="connsiteX2" fmla="*/ 8960426 w 8960426"/>
                <a:gd name="connsiteY2" fmla="*/ 89432 h 243057"/>
                <a:gd name="connsiteX3" fmla="*/ 8960426 w 8960426"/>
                <a:gd name="connsiteY3" fmla="*/ 243057 h 243057"/>
                <a:gd name="connsiteX4" fmla="*/ 0 w 8960426"/>
                <a:gd name="connsiteY4" fmla="*/ 243057 h 243057"/>
                <a:gd name="connsiteX5" fmla="*/ 0 w 8960426"/>
                <a:gd name="connsiteY5" fmla="*/ 89432 h 243057"/>
                <a:gd name="connsiteX6" fmla="*/ 89432 w 8960426"/>
                <a:gd name="connsiteY6" fmla="*/ 0 h 24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60426" h="243057">
                  <a:moveTo>
                    <a:pt x="89432" y="0"/>
                  </a:moveTo>
                  <a:lnTo>
                    <a:pt x="8870994" y="0"/>
                  </a:lnTo>
                  <a:cubicBezTo>
                    <a:pt x="8920386" y="0"/>
                    <a:pt x="8960426" y="40040"/>
                    <a:pt x="8960426" y="89432"/>
                  </a:cubicBezTo>
                  <a:lnTo>
                    <a:pt x="8960426" y="243057"/>
                  </a:lnTo>
                  <a:lnTo>
                    <a:pt x="0" y="243057"/>
                  </a:lnTo>
                  <a:lnTo>
                    <a:pt x="0" y="89432"/>
                  </a:lnTo>
                  <a:cubicBezTo>
                    <a:pt x="0" y="40040"/>
                    <a:pt x="40040" y="0"/>
                    <a:pt x="89432" y="0"/>
                  </a:cubicBezTo>
                  <a:close/>
                </a:path>
              </a:pathLst>
            </a:custGeom>
            <a:solidFill>
              <a:srgbClr val="F2F2F2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216000" bIns="45720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4A57B733-CA8B-DF87-7E72-F6689FF70993}"/>
                </a:ext>
              </a:extLst>
            </p:cNvPr>
            <p:cNvGrpSpPr/>
            <p:nvPr/>
          </p:nvGrpSpPr>
          <p:grpSpPr>
            <a:xfrm>
              <a:off x="1508863" y="3083391"/>
              <a:ext cx="730275" cy="133081"/>
              <a:chOff x="2016841" y="2556932"/>
              <a:chExt cx="730275" cy="133081"/>
            </a:xfrm>
          </p:grpSpPr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42992C3B-06E7-B33C-BB93-332D47CD06AC}"/>
                  </a:ext>
                </a:extLst>
              </p:cNvPr>
              <p:cNvSpPr/>
              <p:nvPr/>
            </p:nvSpPr>
            <p:spPr>
              <a:xfrm>
                <a:off x="2016841" y="2556934"/>
                <a:ext cx="133079" cy="133079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448A36F1-D856-C7AF-842F-BDBBA3BB36D8}"/>
                  </a:ext>
                </a:extLst>
              </p:cNvPr>
              <p:cNvSpPr/>
              <p:nvPr/>
            </p:nvSpPr>
            <p:spPr>
              <a:xfrm>
                <a:off x="2315439" y="2556933"/>
                <a:ext cx="133079" cy="133079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DE750970-EF4E-53F6-C471-F3A228EFDA0D}"/>
                  </a:ext>
                </a:extLst>
              </p:cNvPr>
              <p:cNvSpPr/>
              <p:nvPr/>
            </p:nvSpPr>
            <p:spPr>
              <a:xfrm>
                <a:off x="2614037" y="2556932"/>
                <a:ext cx="133079" cy="133079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2CD68B06-82F8-21ED-2C8F-ED66071DB9F2}"/>
              </a:ext>
            </a:extLst>
          </p:cNvPr>
          <p:cNvSpPr txBox="1"/>
          <p:nvPr/>
        </p:nvSpPr>
        <p:spPr>
          <a:xfrm>
            <a:off x="9505488" y="3477854"/>
            <a:ext cx="18565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600" dirty="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臃肿</a:t>
            </a:r>
            <a:r>
              <a:rPr lang="en-US" altLang="zh-CN" sz="3600" dirty="0">
                <a:solidFill>
                  <a:srgbClr val="C00000"/>
                </a:solidFill>
                <a:latin typeface="汉仪尚巍流云体简" panose="00020600040101010101" pitchFamily="18" charset="-122"/>
                <a:ea typeface="汉仪尚巍流云体简" panose="00020600040101010101" pitchFamily="18" charset="-122"/>
              </a:rPr>
              <a:t>!!!</a:t>
            </a:r>
            <a:endParaRPr lang="zh-CN" altLang="en-US" sz="3600" dirty="0">
              <a:solidFill>
                <a:srgbClr val="C00000"/>
              </a:solidFill>
              <a:latin typeface="汉仪尚巍流云体简" panose="00020600040101010101" pitchFamily="18" charset="-122"/>
              <a:ea typeface="汉仪尚巍流云体简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603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CFD0A-1A51-CA97-4F28-D3A7258DD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AEE8A4F-D071-6147-E2A7-C9E11AA20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方法的介绍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D4C0E44-57E3-5BC7-7ED8-6CDB7E48A2BA}"/>
              </a:ext>
            </a:extLst>
          </p:cNvPr>
          <p:cNvGrpSpPr/>
          <p:nvPr/>
        </p:nvGrpSpPr>
        <p:grpSpPr>
          <a:xfrm>
            <a:off x="576626" y="938541"/>
            <a:ext cx="11405824" cy="5706164"/>
            <a:chOff x="1351994" y="3006664"/>
            <a:chExt cx="9572517" cy="4138809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8D84F050-3768-5CBD-2481-394477853FFD}"/>
                </a:ext>
              </a:extLst>
            </p:cNvPr>
            <p:cNvSpPr/>
            <p:nvPr/>
          </p:nvSpPr>
          <p:spPr>
            <a:xfrm>
              <a:off x="1351994" y="3006664"/>
              <a:ext cx="9572517" cy="3966505"/>
            </a:xfrm>
            <a:prstGeom prst="roundRect">
              <a:avLst>
                <a:gd name="adj" fmla="val 3590"/>
              </a:avLst>
            </a:prstGeom>
            <a:solidFill>
              <a:srgbClr val="F9FBF9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D2C9FF2A-BFDA-F545-4AB2-0DBB503D1D2F}"/>
                </a:ext>
              </a:extLst>
            </p:cNvPr>
            <p:cNvSpPr txBox="1"/>
            <p:nvPr/>
          </p:nvSpPr>
          <p:spPr>
            <a:xfrm>
              <a:off x="1351995" y="3328116"/>
              <a:ext cx="7890778" cy="3817357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class </a:t>
              </a:r>
              <a:r>
                <a:rPr lang="zh-CN" altLang="zh-CN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Test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{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static void </a:t>
              </a:r>
              <a:r>
                <a:rPr lang="zh-CN" altLang="zh-CN" sz="1200" dirty="0">
                  <a:solidFill>
                    <a:srgbClr val="00627A"/>
                  </a:solidFill>
                  <a:latin typeface="Consolas" panose="020B0609020204030204" pitchFamily="49" charset="0"/>
                </a:rPr>
                <a:t>main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</a:t>
              </a:r>
              <a:r>
                <a:rPr lang="zh-CN" altLang="zh-CN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String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[] args) {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	</a:t>
              </a:r>
              <a:endParaRPr lang="en-US" altLang="zh-CN" sz="12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12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12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12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12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12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12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12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}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/**</a:t>
              </a:r>
              <a:r>
                <a:rPr lang="en-US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查看全部商品</a:t>
              </a:r>
              <a:r>
                <a:rPr lang="en-US" altLang="zh-CN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*/</a:t>
              </a:r>
              <a:b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static void </a:t>
              </a:r>
              <a:r>
                <a:rPr lang="en-US" altLang="zh-CN" sz="1200" dirty="0" err="1">
                  <a:solidFill>
                    <a:srgbClr val="00627A"/>
                  </a:solidFill>
                  <a:latin typeface="Consolas" panose="020B0609020204030204" pitchFamily="49" charset="0"/>
                </a:rPr>
                <a:t>showGoodsInfo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(){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12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</a:rPr>
                <a:t>...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/**</a:t>
              </a:r>
              <a:r>
                <a:rPr lang="en-US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上架商品</a:t>
              </a:r>
              <a:r>
                <a:rPr lang="en-US" altLang="zh-CN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*/</a:t>
              </a:r>
              <a:b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static void </a:t>
              </a:r>
              <a:r>
                <a:rPr lang="en-US" altLang="zh-CN" sz="1200" dirty="0" err="1">
                  <a:solidFill>
                    <a:srgbClr val="00627A"/>
                  </a:solidFill>
                  <a:latin typeface="Consolas" panose="020B0609020204030204" pitchFamily="49" charset="0"/>
                </a:rPr>
                <a:t>addGoods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(){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12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</a:rPr>
                <a:t>...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/**</a:t>
              </a:r>
              <a:r>
                <a:rPr lang="en-US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下架商品</a:t>
              </a:r>
              <a:r>
                <a:rPr lang="en-US" altLang="zh-CN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*/</a:t>
              </a:r>
              <a:b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static void </a:t>
              </a:r>
              <a:r>
                <a:rPr lang="en-US" altLang="zh-CN" sz="1200" dirty="0" err="1">
                  <a:solidFill>
                    <a:srgbClr val="00627A"/>
                  </a:solidFill>
                  <a:latin typeface="Consolas" panose="020B0609020204030204" pitchFamily="49" charset="0"/>
                </a:rPr>
                <a:t>deleteGoods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(){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12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</a:rPr>
                <a:t>...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/**</a:t>
              </a:r>
              <a:r>
                <a:rPr lang="en-US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修改商品</a:t>
              </a:r>
              <a:r>
                <a:rPr lang="en-US" altLang="zh-CN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*/</a:t>
              </a:r>
              <a:b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static void </a:t>
              </a:r>
              <a:r>
                <a:rPr lang="en-US" altLang="zh-CN" sz="1200" dirty="0" err="1">
                  <a:solidFill>
                    <a:srgbClr val="00627A"/>
                  </a:solidFill>
                  <a:latin typeface="Consolas" panose="020B0609020204030204" pitchFamily="49" charset="0"/>
                </a:rPr>
                <a:t>updateGoods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(){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12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</a:rPr>
                <a:t>...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endParaRPr lang="zh-CN" altLang="zh-CN" sz="12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AA2CB8A9-AA45-9E3B-3356-BADC0635482F}"/>
                </a:ext>
              </a:extLst>
            </p:cNvPr>
            <p:cNvSpPr/>
            <p:nvPr/>
          </p:nvSpPr>
          <p:spPr>
            <a:xfrm>
              <a:off x="1351995" y="3028401"/>
              <a:ext cx="9572516" cy="243057"/>
            </a:xfrm>
            <a:custGeom>
              <a:avLst/>
              <a:gdLst>
                <a:gd name="connsiteX0" fmla="*/ 89432 w 8960426"/>
                <a:gd name="connsiteY0" fmla="*/ 0 h 243057"/>
                <a:gd name="connsiteX1" fmla="*/ 8870994 w 8960426"/>
                <a:gd name="connsiteY1" fmla="*/ 0 h 243057"/>
                <a:gd name="connsiteX2" fmla="*/ 8960426 w 8960426"/>
                <a:gd name="connsiteY2" fmla="*/ 89432 h 243057"/>
                <a:gd name="connsiteX3" fmla="*/ 8960426 w 8960426"/>
                <a:gd name="connsiteY3" fmla="*/ 243057 h 243057"/>
                <a:gd name="connsiteX4" fmla="*/ 0 w 8960426"/>
                <a:gd name="connsiteY4" fmla="*/ 243057 h 243057"/>
                <a:gd name="connsiteX5" fmla="*/ 0 w 8960426"/>
                <a:gd name="connsiteY5" fmla="*/ 89432 h 243057"/>
                <a:gd name="connsiteX6" fmla="*/ 89432 w 8960426"/>
                <a:gd name="connsiteY6" fmla="*/ 0 h 24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60426" h="243057">
                  <a:moveTo>
                    <a:pt x="89432" y="0"/>
                  </a:moveTo>
                  <a:lnTo>
                    <a:pt x="8870994" y="0"/>
                  </a:lnTo>
                  <a:cubicBezTo>
                    <a:pt x="8920386" y="0"/>
                    <a:pt x="8960426" y="40040"/>
                    <a:pt x="8960426" y="89432"/>
                  </a:cubicBezTo>
                  <a:lnTo>
                    <a:pt x="8960426" y="243057"/>
                  </a:lnTo>
                  <a:lnTo>
                    <a:pt x="0" y="243057"/>
                  </a:lnTo>
                  <a:lnTo>
                    <a:pt x="0" y="89432"/>
                  </a:lnTo>
                  <a:cubicBezTo>
                    <a:pt x="0" y="40040"/>
                    <a:pt x="40040" y="0"/>
                    <a:pt x="89432" y="0"/>
                  </a:cubicBezTo>
                  <a:close/>
                </a:path>
              </a:pathLst>
            </a:custGeom>
            <a:solidFill>
              <a:srgbClr val="F2F2F2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216000" bIns="45720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EFAB887F-365E-21D6-4C48-316E5EC0C885}"/>
                </a:ext>
              </a:extLst>
            </p:cNvPr>
            <p:cNvGrpSpPr/>
            <p:nvPr/>
          </p:nvGrpSpPr>
          <p:grpSpPr>
            <a:xfrm>
              <a:off x="1508863" y="3083391"/>
              <a:ext cx="730275" cy="133081"/>
              <a:chOff x="2016841" y="2556932"/>
              <a:chExt cx="730275" cy="133081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6435FED9-5A95-9D7C-0876-8B834D8D583A}"/>
                  </a:ext>
                </a:extLst>
              </p:cNvPr>
              <p:cNvSpPr/>
              <p:nvPr/>
            </p:nvSpPr>
            <p:spPr>
              <a:xfrm>
                <a:off x="2016841" y="2556934"/>
                <a:ext cx="133079" cy="133079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63BD53D4-3F8F-EFC3-799C-8EFBE6E532EE}"/>
                  </a:ext>
                </a:extLst>
              </p:cNvPr>
              <p:cNvSpPr/>
              <p:nvPr/>
            </p:nvSpPr>
            <p:spPr>
              <a:xfrm>
                <a:off x="2315439" y="2556933"/>
                <a:ext cx="133079" cy="133079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E3558500-A591-F26F-A16A-DE8F065D6723}"/>
                  </a:ext>
                </a:extLst>
              </p:cNvPr>
              <p:cNvSpPr/>
              <p:nvPr/>
            </p:nvSpPr>
            <p:spPr>
              <a:xfrm>
                <a:off x="2614037" y="2556932"/>
                <a:ext cx="133079" cy="133079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68967525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C4BCB-30C1-99FB-1EDA-6E37FAAD1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E274C1C6-053D-7616-972C-BDD7B7F38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方法的介绍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B773CB18-DD10-9E52-EC7E-09101423565F}"/>
              </a:ext>
            </a:extLst>
          </p:cNvPr>
          <p:cNvGrpSpPr/>
          <p:nvPr/>
        </p:nvGrpSpPr>
        <p:grpSpPr>
          <a:xfrm>
            <a:off x="576626" y="938541"/>
            <a:ext cx="11405824" cy="5521498"/>
            <a:chOff x="1351994" y="3006664"/>
            <a:chExt cx="9572517" cy="4004867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AE0516F0-CE62-4BEC-687A-E1DD57B02A93}"/>
                </a:ext>
              </a:extLst>
            </p:cNvPr>
            <p:cNvSpPr/>
            <p:nvPr/>
          </p:nvSpPr>
          <p:spPr>
            <a:xfrm>
              <a:off x="1351994" y="3006664"/>
              <a:ext cx="9572517" cy="3966505"/>
            </a:xfrm>
            <a:prstGeom prst="roundRect">
              <a:avLst>
                <a:gd name="adj" fmla="val 3590"/>
              </a:avLst>
            </a:prstGeom>
            <a:solidFill>
              <a:srgbClr val="F9FBF9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50041677-64C6-60F0-59A3-131D641B67B7}"/>
                </a:ext>
              </a:extLst>
            </p:cNvPr>
            <p:cNvSpPr txBox="1"/>
            <p:nvPr/>
          </p:nvSpPr>
          <p:spPr>
            <a:xfrm>
              <a:off x="1351995" y="3328116"/>
              <a:ext cx="7890778" cy="3683415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class </a:t>
              </a:r>
              <a:r>
                <a:rPr lang="zh-CN" altLang="zh-CN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Test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{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static void </a:t>
              </a:r>
              <a:r>
                <a:rPr lang="zh-CN" altLang="zh-CN" sz="1200" dirty="0">
                  <a:solidFill>
                    <a:srgbClr val="00627A"/>
                  </a:solidFill>
                  <a:latin typeface="Consolas" panose="020B0609020204030204" pitchFamily="49" charset="0"/>
                </a:rPr>
                <a:t>main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</a:t>
              </a:r>
              <a:r>
                <a:rPr lang="zh-CN" altLang="zh-CN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String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[] args) {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zh-CN" sz="1200" dirty="0" err="1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showGoodsInfo</a:t>
              </a: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();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12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zh-CN" sz="1200" dirty="0" err="1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addGoods</a:t>
              </a: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();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12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zh-CN" sz="1200" dirty="0" err="1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deleteGoods</a:t>
              </a: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();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12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zh-CN" sz="1200" dirty="0" err="1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updateGoods</a:t>
              </a: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();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}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/**</a:t>
              </a:r>
              <a:r>
                <a:rPr lang="en-US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查看全部商品</a:t>
              </a:r>
              <a:r>
                <a:rPr lang="en-US" altLang="zh-CN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*/</a:t>
              </a:r>
              <a:b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static void </a:t>
              </a:r>
              <a:r>
                <a:rPr lang="en-US" altLang="zh-CN" sz="1200" dirty="0" err="1">
                  <a:solidFill>
                    <a:srgbClr val="00627A"/>
                  </a:solidFill>
                  <a:latin typeface="Consolas" panose="020B0609020204030204" pitchFamily="49" charset="0"/>
                </a:rPr>
                <a:t>showGoodsInfo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(){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12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</a:rPr>
                <a:t>...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/**</a:t>
              </a:r>
              <a:r>
                <a:rPr lang="en-US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上架商品</a:t>
              </a:r>
              <a:r>
                <a:rPr lang="en-US" altLang="zh-CN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*/</a:t>
              </a:r>
              <a:b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static void </a:t>
              </a:r>
              <a:r>
                <a:rPr lang="en-US" altLang="zh-CN" sz="1200" dirty="0" err="1">
                  <a:solidFill>
                    <a:srgbClr val="00627A"/>
                  </a:solidFill>
                  <a:latin typeface="Consolas" panose="020B0609020204030204" pitchFamily="49" charset="0"/>
                </a:rPr>
                <a:t>addGoods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(){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12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</a:rPr>
                <a:t>...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/**</a:t>
              </a:r>
              <a:r>
                <a:rPr lang="en-US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下架商品</a:t>
              </a:r>
              <a:r>
                <a:rPr lang="en-US" altLang="zh-CN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*/</a:t>
              </a:r>
              <a:b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static void </a:t>
              </a:r>
              <a:r>
                <a:rPr lang="en-US" altLang="zh-CN" sz="1200" dirty="0" err="1">
                  <a:solidFill>
                    <a:srgbClr val="00627A"/>
                  </a:solidFill>
                  <a:latin typeface="Consolas" panose="020B0609020204030204" pitchFamily="49" charset="0"/>
                </a:rPr>
                <a:t>deleteGoods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(){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12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</a:rPr>
                <a:t>...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/**</a:t>
              </a:r>
              <a:r>
                <a:rPr lang="en-US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修改商品</a:t>
              </a:r>
              <a:r>
                <a:rPr lang="en-US" altLang="zh-CN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*/</a:t>
              </a:r>
              <a:b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static void </a:t>
              </a:r>
              <a:r>
                <a:rPr lang="en-US" altLang="zh-CN" sz="1200" dirty="0" err="1">
                  <a:solidFill>
                    <a:srgbClr val="00627A"/>
                  </a:solidFill>
                  <a:latin typeface="Consolas" panose="020B0609020204030204" pitchFamily="49" charset="0"/>
                </a:rPr>
                <a:t>updateGoods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(){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12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</a:rPr>
                <a:t>...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endParaRPr lang="zh-CN" altLang="zh-CN" sz="12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F5A1574C-573F-D751-8B64-2178C3E311B0}"/>
                </a:ext>
              </a:extLst>
            </p:cNvPr>
            <p:cNvSpPr/>
            <p:nvPr/>
          </p:nvSpPr>
          <p:spPr>
            <a:xfrm>
              <a:off x="1351995" y="3028401"/>
              <a:ext cx="9572516" cy="243057"/>
            </a:xfrm>
            <a:custGeom>
              <a:avLst/>
              <a:gdLst>
                <a:gd name="connsiteX0" fmla="*/ 89432 w 8960426"/>
                <a:gd name="connsiteY0" fmla="*/ 0 h 243057"/>
                <a:gd name="connsiteX1" fmla="*/ 8870994 w 8960426"/>
                <a:gd name="connsiteY1" fmla="*/ 0 h 243057"/>
                <a:gd name="connsiteX2" fmla="*/ 8960426 w 8960426"/>
                <a:gd name="connsiteY2" fmla="*/ 89432 h 243057"/>
                <a:gd name="connsiteX3" fmla="*/ 8960426 w 8960426"/>
                <a:gd name="connsiteY3" fmla="*/ 243057 h 243057"/>
                <a:gd name="connsiteX4" fmla="*/ 0 w 8960426"/>
                <a:gd name="connsiteY4" fmla="*/ 243057 h 243057"/>
                <a:gd name="connsiteX5" fmla="*/ 0 w 8960426"/>
                <a:gd name="connsiteY5" fmla="*/ 89432 h 243057"/>
                <a:gd name="connsiteX6" fmla="*/ 89432 w 8960426"/>
                <a:gd name="connsiteY6" fmla="*/ 0 h 24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60426" h="243057">
                  <a:moveTo>
                    <a:pt x="89432" y="0"/>
                  </a:moveTo>
                  <a:lnTo>
                    <a:pt x="8870994" y="0"/>
                  </a:lnTo>
                  <a:cubicBezTo>
                    <a:pt x="8920386" y="0"/>
                    <a:pt x="8960426" y="40040"/>
                    <a:pt x="8960426" y="89432"/>
                  </a:cubicBezTo>
                  <a:lnTo>
                    <a:pt x="8960426" y="243057"/>
                  </a:lnTo>
                  <a:lnTo>
                    <a:pt x="0" y="243057"/>
                  </a:lnTo>
                  <a:lnTo>
                    <a:pt x="0" y="89432"/>
                  </a:lnTo>
                  <a:cubicBezTo>
                    <a:pt x="0" y="40040"/>
                    <a:pt x="40040" y="0"/>
                    <a:pt x="89432" y="0"/>
                  </a:cubicBezTo>
                  <a:close/>
                </a:path>
              </a:pathLst>
            </a:custGeom>
            <a:solidFill>
              <a:srgbClr val="F2F2F2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216000" bIns="45720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60064604-C102-C41E-19BE-3A56F572D67A}"/>
                </a:ext>
              </a:extLst>
            </p:cNvPr>
            <p:cNvGrpSpPr/>
            <p:nvPr/>
          </p:nvGrpSpPr>
          <p:grpSpPr>
            <a:xfrm>
              <a:off x="1508863" y="3083391"/>
              <a:ext cx="730275" cy="133081"/>
              <a:chOff x="2016841" y="2556932"/>
              <a:chExt cx="730275" cy="133081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0880AC57-7192-7D6F-D40E-A992E0E3A855}"/>
                  </a:ext>
                </a:extLst>
              </p:cNvPr>
              <p:cNvSpPr/>
              <p:nvPr/>
            </p:nvSpPr>
            <p:spPr>
              <a:xfrm>
                <a:off x="2016841" y="2556934"/>
                <a:ext cx="133079" cy="133079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CAC6E42E-7E14-FA6B-01F9-5164A785D2EE}"/>
                  </a:ext>
                </a:extLst>
              </p:cNvPr>
              <p:cNvSpPr/>
              <p:nvPr/>
            </p:nvSpPr>
            <p:spPr>
              <a:xfrm>
                <a:off x="2315439" y="2556933"/>
                <a:ext cx="133079" cy="133079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0E8CE9B0-B7C7-02B5-D5EB-FF969408899B}"/>
                  </a:ext>
                </a:extLst>
              </p:cNvPr>
              <p:cNvSpPr/>
              <p:nvPr/>
            </p:nvSpPr>
            <p:spPr>
              <a:xfrm>
                <a:off x="2614037" y="2556932"/>
                <a:ext cx="133079" cy="133079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3562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E1545-E314-8DE6-EA68-C8B554B4A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0EF6E60-7F4D-DAA6-C1BD-F8752A0DA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方法的介绍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F1F78DEB-B3D4-53BD-62BC-8039ED0CA121}"/>
              </a:ext>
            </a:extLst>
          </p:cNvPr>
          <p:cNvGrpSpPr/>
          <p:nvPr/>
        </p:nvGrpSpPr>
        <p:grpSpPr>
          <a:xfrm>
            <a:off x="576626" y="938541"/>
            <a:ext cx="11405824" cy="5521498"/>
            <a:chOff x="1351994" y="3006664"/>
            <a:chExt cx="9572517" cy="4004867"/>
          </a:xfrm>
        </p:grpSpPr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B53EEC4F-403E-B79B-78CC-AFDBF3E688C0}"/>
                </a:ext>
              </a:extLst>
            </p:cNvPr>
            <p:cNvSpPr/>
            <p:nvPr/>
          </p:nvSpPr>
          <p:spPr>
            <a:xfrm>
              <a:off x="1351994" y="3006664"/>
              <a:ext cx="9572517" cy="3966505"/>
            </a:xfrm>
            <a:prstGeom prst="roundRect">
              <a:avLst>
                <a:gd name="adj" fmla="val 3590"/>
              </a:avLst>
            </a:prstGeom>
            <a:solidFill>
              <a:srgbClr val="F9FBF9"/>
            </a:solidFill>
            <a:ln w="3175">
              <a:noFill/>
            </a:ln>
            <a:effectLst>
              <a:outerShdw blurRad="50800" dist="38100" dir="5400000" algn="t" rotWithShape="0">
                <a:prstClr val="black">
                  <a:alpha val="34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F2B1E10-0E07-C5EF-AF84-D7EE107D2430}"/>
                </a:ext>
              </a:extLst>
            </p:cNvPr>
            <p:cNvSpPr txBox="1"/>
            <p:nvPr/>
          </p:nvSpPr>
          <p:spPr>
            <a:xfrm>
              <a:off x="1351995" y="3328116"/>
              <a:ext cx="7890778" cy="3683415"/>
            </a:xfrm>
            <a:prstGeom prst="rect">
              <a:avLst/>
            </a:prstGeom>
            <a:noFill/>
          </p:spPr>
          <p:txBody>
            <a:bodyPr wrap="square" lIns="217440" tIns="45720" rIns="216000" bIns="45720" rtlCol="0"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class </a:t>
              </a:r>
              <a:r>
                <a:rPr lang="zh-CN" altLang="zh-CN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Test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{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static void </a:t>
              </a:r>
              <a:r>
                <a:rPr lang="zh-CN" altLang="zh-CN" sz="1200" dirty="0">
                  <a:solidFill>
                    <a:srgbClr val="00627A"/>
                  </a:solidFill>
                  <a:latin typeface="Consolas" panose="020B0609020204030204" pitchFamily="49" charset="0"/>
                </a:rPr>
                <a:t>main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</a:t>
              </a:r>
              <a:r>
                <a:rPr lang="zh-CN" altLang="zh-CN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String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[] args) {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zh-CN" sz="1200" dirty="0" err="1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showGoodsInfo</a:t>
              </a: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();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12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zh-CN" sz="1200" dirty="0" err="1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addGoods</a:t>
              </a: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();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12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zh-CN" sz="1200" dirty="0" err="1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deleteGoods</a:t>
              </a: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();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zh-CN" sz="12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endParaRP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	</a:t>
              </a:r>
              <a:r>
                <a:rPr lang="en-US" altLang="zh-CN" sz="1200" dirty="0" err="1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updateGoods</a:t>
              </a:r>
              <a:r>
                <a:rPr lang="en-US" altLang="zh-CN" sz="1200" dirty="0">
                  <a:solidFill>
                    <a:schemeClr val="tx1">
                      <a:lumMod val="50000"/>
                    </a:schemeClr>
                  </a:solidFill>
                  <a:latin typeface="Consolas" panose="020B0609020204030204" pitchFamily="49" charset="0"/>
                </a:rPr>
                <a:t>();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}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/**</a:t>
              </a:r>
              <a:r>
                <a:rPr lang="en-US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查看全部商品</a:t>
              </a:r>
              <a:r>
                <a:rPr lang="en-US" altLang="zh-CN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*/</a:t>
              </a:r>
              <a:b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static void </a:t>
              </a:r>
              <a:r>
                <a:rPr lang="en-US" altLang="zh-CN" sz="1200" dirty="0" err="1">
                  <a:solidFill>
                    <a:srgbClr val="00627A"/>
                  </a:solidFill>
                  <a:latin typeface="Consolas" panose="020B0609020204030204" pitchFamily="49" charset="0"/>
                </a:rPr>
                <a:t>showGoodsInfo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(){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12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</a:rPr>
                <a:t>...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/**</a:t>
              </a:r>
              <a:r>
                <a:rPr lang="en-US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上架商品</a:t>
              </a:r>
              <a:r>
                <a:rPr lang="en-US" altLang="zh-CN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*/</a:t>
              </a:r>
              <a:b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static void </a:t>
              </a:r>
              <a:r>
                <a:rPr lang="en-US" altLang="zh-CN" sz="1200" dirty="0" err="1">
                  <a:solidFill>
                    <a:srgbClr val="00627A"/>
                  </a:solidFill>
                  <a:latin typeface="Consolas" panose="020B0609020204030204" pitchFamily="49" charset="0"/>
                </a:rPr>
                <a:t>addGoods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(){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12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</a:rPr>
                <a:t>...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/**</a:t>
              </a:r>
              <a:r>
                <a:rPr lang="en-US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下架商品</a:t>
              </a:r>
              <a:r>
                <a:rPr lang="en-US" altLang="zh-CN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*/</a:t>
              </a:r>
              <a:b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static void </a:t>
              </a:r>
              <a:r>
                <a:rPr lang="en-US" altLang="zh-CN" sz="1200" dirty="0" err="1">
                  <a:solidFill>
                    <a:srgbClr val="00627A"/>
                  </a:solidFill>
                  <a:latin typeface="Consolas" panose="020B0609020204030204" pitchFamily="49" charset="0"/>
                </a:rPr>
                <a:t>deleteGoods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(){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12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</a:rPr>
                <a:t>...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/**</a:t>
              </a:r>
              <a:r>
                <a:rPr lang="en-US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en-US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修改商品</a:t>
              </a:r>
              <a:r>
                <a:rPr lang="en-US" altLang="zh-CN" sz="1200" dirty="0">
                  <a:solidFill>
                    <a:srgbClr val="458C2F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*/</a:t>
              </a:r>
              <a:b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458C2F"/>
                  </a:solidFill>
                  <a:latin typeface="Consolas" panose="020B0609020204030204" pitchFamily="49" charset="0"/>
                </a:rPr>
                <a:t>    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static void </a:t>
              </a:r>
              <a:r>
                <a:rPr lang="en-US" altLang="zh-CN" sz="1200" dirty="0" err="1">
                  <a:solidFill>
                    <a:srgbClr val="00627A"/>
                  </a:solidFill>
                  <a:latin typeface="Consolas" panose="020B0609020204030204" pitchFamily="49" charset="0"/>
                </a:rPr>
                <a:t>updateGoods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(){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12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</a:rPr>
                <a:t>...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endParaRPr lang="zh-CN" altLang="zh-CN" sz="1200" dirty="0"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CF6DED58-B5B3-877E-BC2B-307C9E155485}"/>
                </a:ext>
              </a:extLst>
            </p:cNvPr>
            <p:cNvSpPr/>
            <p:nvPr/>
          </p:nvSpPr>
          <p:spPr>
            <a:xfrm>
              <a:off x="1351995" y="3028401"/>
              <a:ext cx="9572516" cy="243057"/>
            </a:xfrm>
            <a:custGeom>
              <a:avLst/>
              <a:gdLst>
                <a:gd name="connsiteX0" fmla="*/ 89432 w 8960426"/>
                <a:gd name="connsiteY0" fmla="*/ 0 h 243057"/>
                <a:gd name="connsiteX1" fmla="*/ 8870994 w 8960426"/>
                <a:gd name="connsiteY1" fmla="*/ 0 h 243057"/>
                <a:gd name="connsiteX2" fmla="*/ 8960426 w 8960426"/>
                <a:gd name="connsiteY2" fmla="*/ 89432 h 243057"/>
                <a:gd name="connsiteX3" fmla="*/ 8960426 w 8960426"/>
                <a:gd name="connsiteY3" fmla="*/ 243057 h 243057"/>
                <a:gd name="connsiteX4" fmla="*/ 0 w 8960426"/>
                <a:gd name="connsiteY4" fmla="*/ 243057 h 243057"/>
                <a:gd name="connsiteX5" fmla="*/ 0 w 8960426"/>
                <a:gd name="connsiteY5" fmla="*/ 89432 h 243057"/>
                <a:gd name="connsiteX6" fmla="*/ 89432 w 8960426"/>
                <a:gd name="connsiteY6" fmla="*/ 0 h 243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60426" h="243057">
                  <a:moveTo>
                    <a:pt x="89432" y="0"/>
                  </a:moveTo>
                  <a:lnTo>
                    <a:pt x="8870994" y="0"/>
                  </a:lnTo>
                  <a:cubicBezTo>
                    <a:pt x="8920386" y="0"/>
                    <a:pt x="8960426" y="40040"/>
                    <a:pt x="8960426" y="89432"/>
                  </a:cubicBezTo>
                  <a:lnTo>
                    <a:pt x="8960426" y="243057"/>
                  </a:lnTo>
                  <a:lnTo>
                    <a:pt x="0" y="243057"/>
                  </a:lnTo>
                  <a:lnTo>
                    <a:pt x="0" y="89432"/>
                  </a:lnTo>
                  <a:cubicBezTo>
                    <a:pt x="0" y="40040"/>
                    <a:pt x="40040" y="0"/>
                    <a:pt x="89432" y="0"/>
                  </a:cubicBezTo>
                  <a:close/>
                </a:path>
              </a:pathLst>
            </a:custGeom>
            <a:solidFill>
              <a:srgbClr val="F2F2F2"/>
            </a:solidFill>
            <a:ln w="3175">
              <a:noFill/>
            </a:ln>
            <a:effectLst>
              <a:outerShdw blurRad="12700" dist="127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216000" bIns="45720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AB236EE5-EB88-46B9-FF14-A4F4CC8677A1}"/>
                </a:ext>
              </a:extLst>
            </p:cNvPr>
            <p:cNvGrpSpPr/>
            <p:nvPr/>
          </p:nvGrpSpPr>
          <p:grpSpPr>
            <a:xfrm>
              <a:off x="1508863" y="3083391"/>
              <a:ext cx="730275" cy="133081"/>
              <a:chOff x="2016841" y="2556932"/>
              <a:chExt cx="730275" cy="133081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0FD28376-6EF5-5678-679D-7562FAFB37BE}"/>
                  </a:ext>
                </a:extLst>
              </p:cNvPr>
              <p:cNvSpPr/>
              <p:nvPr/>
            </p:nvSpPr>
            <p:spPr>
              <a:xfrm>
                <a:off x="2016841" y="2556934"/>
                <a:ext cx="133079" cy="133079"/>
              </a:xfrm>
              <a:prstGeom prst="ellipse">
                <a:avLst/>
              </a:prstGeom>
              <a:solidFill>
                <a:srgbClr val="FF5F56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56A1BAC0-1427-85E6-9F40-E9352630391B}"/>
                  </a:ext>
                </a:extLst>
              </p:cNvPr>
              <p:cNvSpPr/>
              <p:nvPr/>
            </p:nvSpPr>
            <p:spPr>
              <a:xfrm>
                <a:off x="2315439" y="2556933"/>
                <a:ext cx="133079" cy="133079"/>
              </a:xfrm>
              <a:prstGeom prst="ellipse">
                <a:avLst/>
              </a:prstGeom>
              <a:solidFill>
                <a:srgbClr val="FFBD2E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E09DFBAE-AFEE-5051-C036-F23870AC55D8}"/>
                  </a:ext>
                </a:extLst>
              </p:cNvPr>
              <p:cNvSpPr/>
              <p:nvPr/>
            </p:nvSpPr>
            <p:spPr>
              <a:xfrm>
                <a:off x="2614037" y="2556932"/>
                <a:ext cx="133079" cy="133079"/>
              </a:xfrm>
              <a:prstGeom prst="ellipse">
                <a:avLst/>
              </a:prstGeom>
              <a:solidFill>
                <a:srgbClr val="27C93F"/>
              </a:solidFill>
              <a:ln>
                <a:noFill/>
              </a:ln>
              <a:effectLst>
                <a:innerShdw blurRad="25400">
                  <a:prstClr val="black">
                    <a:alpha val="6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TextBox 3">
            <a:extLst>
              <a:ext uri="{FF2B5EF4-FFF2-40B4-BE49-F238E27FC236}">
                <a16:creationId xmlns:a16="http://schemas.microsoft.com/office/drawing/2014/main" id="{9C1478EF-2D79-D59D-67B2-950924AE5911}"/>
              </a:ext>
            </a:extLst>
          </p:cNvPr>
          <p:cNvSpPr txBox="1"/>
          <p:nvPr/>
        </p:nvSpPr>
        <p:spPr>
          <a:xfrm>
            <a:off x="5148921" y="1498168"/>
            <a:ext cx="6977182" cy="425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方法（</a:t>
            </a:r>
            <a:r>
              <a:rPr lang="en-US" altLang="zh-CN" sz="1600" dirty="0"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method</a:t>
            </a:r>
            <a:r>
              <a:rPr lang="zh-CN" altLang="en-US" sz="1600" dirty="0">
                <a:latin typeface="杨任东竹石体-Bold" panose="02000000000000000000" pitchFamily="2" charset="-122"/>
                <a:ea typeface="杨任东竹石体-Bold" panose="02000000000000000000" pitchFamily="2" charset="-122"/>
                <a:cs typeface="阿里巴巴普惠体" panose="00020600040101010101" pitchFamily="18" charset="-122"/>
              </a:rPr>
              <a:t>）一段具有独立功能的代码块，不调用就不执行</a:t>
            </a:r>
            <a:endParaRPr lang="en-US" altLang="zh-CN" sz="1600" dirty="0">
              <a:solidFill>
                <a:srgbClr val="047FFD"/>
              </a:solidFill>
              <a:latin typeface="杨任东竹石体-Bold" panose="02000000000000000000" pitchFamily="2" charset="-122"/>
              <a:ea typeface="杨任东竹石体-Bold" panose="02000000000000000000" pitchFamily="2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991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7A685B-F94D-194F-BA07-9413F6ABF7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方法（函数）：一段具有独立功能的代码块，不调用就不执行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方法的出现：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可以将挤在一起的臃肿代码，按照功能进行分类管理，提高维护性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提高代码的复用性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A9BDEB07-9BCA-4130-9D72-B5B8146020EC}"/>
              </a:ext>
            </a:extLst>
          </p:cNvPr>
          <p:cNvSpPr txBox="1">
            <a:spLocks/>
          </p:cNvSpPr>
          <p:nvPr/>
        </p:nvSpPr>
        <p:spPr>
          <a:xfrm>
            <a:off x="627753" y="244189"/>
            <a:ext cx="8771021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endParaRPr kumimoji="1"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Alibaba PuHuiTi B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926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30634-DA3E-7D8C-5A6F-08D407940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AB5B4AD-5DAB-C432-D786-62931C8704F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/>
              <a:t>方法的介绍</a:t>
            </a:r>
            <a:endParaRPr lang="en-US" altLang="zh-CN" dirty="0"/>
          </a:p>
          <a:p>
            <a:r>
              <a:rPr lang="zh-CN" altLang="en-US" dirty="0"/>
              <a:t>方法的基本定义和调用</a:t>
            </a:r>
            <a:endParaRPr lang="en-US" altLang="zh-CN" dirty="0"/>
          </a:p>
          <a:p>
            <a:r>
              <a:rPr lang="zh-CN" altLang="en-US" dirty="0"/>
              <a:t>方法的执行流程</a:t>
            </a:r>
            <a:endParaRPr lang="en-US" altLang="zh-CN" dirty="0"/>
          </a:p>
          <a:p>
            <a:r>
              <a:rPr lang="zh-CN" altLang="en-US" dirty="0"/>
              <a:t>带参数的方法</a:t>
            </a:r>
            <a:endParaRPr lang="en-US" altLang="zh-CN" dirty="0"/>
          </a:p>
          <a:p>
            <a:r>
              <a:rPr lang="zh-CN" altLang="en-US" dirty="0"/>
              <a:t>带返回值的方法</a:t>
            </a:r>
            <a:endParaRPr lang="en-US" altLang="zh-CN" dirty="0"/>
          </a:p>
          <a:p>
            <a:r>
              <a:rPr lang="zh-CN" altLang="en-US" dirty="0"/>
              <a:t>方法通用定义格式</a:t>
            </a:r>
            <a:endParaRPr lang="en-US" altLang="zh-CN" dirty="0"/>
          </a:p>
          <a:p>
            <a:r>
              <a:rPr lang="zh-CN" altLang="en-US" dirty="0"/>
              <a:t>方法注意事项</a:t>
            </a:r>
            <a:endParaRPr lang="en-US" altLang="zh-CN" dirty="0"/>
          </a:p>
          <a:p>
            <a:r>
              <a:rPr lang="zh-CN" altLang="en-US" dirty="0"/>
              <a:t>方法重载</a:t>
            </a:r>
            <a:endParaRPr lang="en-US" altLang="zh-CN" dirty="0"/>
          </a:p>
          <a:p>
            <a:r>
              <a:rPr lang="en-US" altLang="zh-CN" dirty="0"/>
              <a:t>IDEA </a:t>
            </a:r>
            <a:r>
              <a:rPr lang="zh-CN" altLang="en-US" dirty="0"/>
              <a:t>安装</a:t>
            </a:r>
            <a:r>
              <a:rPr lang="en-US" altLang="zh-CN" dirty="0"/>
              <a:t> AI </a:t>
            </a:r>
            <a:r>
              <a:rPr lang="zh-CN" altLang="en-US" dirty="0"/>
              <a:t>插件</a:t>
            </a:r>
          </a:p>
        </p:txBody>
      </p:sp>
    </p:spTree>
    <p:extLst>
      <p:ext uri="{BB962C8B-B14F-4D97-AF65-F5344CB8AC3E}">
        <p14:creationId xmlns:p14="http://schemas.microsoft.com/office/powerpoint/2010/main" val="1530065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E58B2-DF34-D4E0-08DD-F5F58B049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B9B5F2-8C80-CC33-6116-6C87C4519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方法的基本定义和调用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C600BF5B-CA6D-A1BB-CA46-E9793DE9AD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0586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方法的定义和调用格式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1B56F74D-B82D-49D6-B9FF-13C27172E6DE}"/>
              </a:ext>
            </a:extLst>
          </p:cNvPr>
          <p:cNvSpPr txBox="1"/>
          <p:nvPr/>
        </p:nvSpPr>
        <p:spPr>
          <a:xfrm>
            <a:off x="1430016" y="2287165"/>
            <a:ext cx="3776466" cy="102720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 void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方法名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  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// 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方法体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FEBA70-1FBC-4BDD-8991-55492E182B58}"/>
              </a:ext>
            </a:extLst>
          </p:cNvPr>
          <p:cNvSpPr txBox="1"/>
          <p:nvPr/>
        </p:nvSpPr>
        <p:spPr>
          <a:xfrm>
            <a:off x="710880" y="1871177"/>
            <a:ext cx="1439862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定义格式：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1FF749-8CB9-4686-B952-CAC1575291E1}"/>
              </a:ext>
            </a:extLst>
          </p:cNvPr>
          <p:cNvSpPr txBox="1"/>
          <p:nvPr/>
        </p:nvSpPr>
        <p:spPr>
          <a:xfrm>
            <a:off x="710880" y="3704740"/>
            <a:ext cx="1439862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举例：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30C61405-46DB-4043-B134-017077A1723F}"/>
              </a:ext>
            </a:extLst>
          </p:cNvPr>
          <p:cNvSpPr txBox="1"/>
          <p:nvPr/>
        </p:nvSpPr>
        <p:spPr>
          <a:xfrm>
            <a:off x="1430017" y="4144263"/>
            <a:ext cx="3776465" cy="102720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 void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show()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  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...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42F2F29-6BC3-4973-BE82-8416F84F0EE1}"/>
              </a:ext>
            </a:extLst>
          </p:cNvPr>
          <p:cNvSpPr txBox="1"/>
          <p:nvPr/>
        </p:nvSpPr>
        <p:spPr>
          <a:xfrm>
            <a:off x="5702753" y="1871177"/>
            <a:ext cx="1439862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调用格式：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FE4DF0C-1358-466E-AF3E-6A7231998C1C}"/>
              </a:ext>
            </a:extLst>
          </p:cNvPr>
          <p:cNvSpPr txBox="1"/>
          <p:nvPr/>
        </p:nvSpPr>
        <p:spPr>
          <a:xfrm>
            <a:off x="5702753" y="3704740"/>
            <a:ext cx="1439862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举例：</a:t>
            </a: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B71E2672-48D3-4424-B32D-D9EF6AC16DCD}"/>
              </a:ext>
            </a:extLst>
          </p:cNvPr>
          <p:cNvSpPr txBox="1"/>
          <p:nvPr/>
        </p:nvSpPr>
        <p:spPr>
          <a:xfrm>
            <a:off x="6499648" y="2287165"/>
            <a:ext cx="3776466" cy="38427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方法名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();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9880D829-2437-4AC5-A695-0F8A1D16AAE4}"/>
              </a:ext>
            </a:extLst>
          </p:cNvPr>
          <p:cNvSpPr txBox="1"/>
          <p:nvPr/>
        </p:nvSpPr>
        <p:spPr>
          <a:xfrm>
            <a:off x="6499649" y="4144263"/>
            <a:ext cx="3776465" cy="380873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show();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4979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/>
      <p:bldP spid="14" grpId="0" animBg="1"/>
      <p:bldP spid="16" grpId="0"/>
      <p:bldP spid="17" grpId="0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方法计算两个整数最大值</a:t>
            </a: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ACAE7D-996F-4497-8B3D-2AB6C3D112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需求：定义一个方法，方法中定义两个整数变量，求出最大值并打印在控制台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zh-CN" altLang="en-US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分析：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根据格式编写方法，方法名自己给出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见名知意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小驼峰命名法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方法内部定义出两个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int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类型变量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使用三元运算符求出最大值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228600" indent="-2286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</a:rPr>
              <a:t> 调用该方法，让内部的逻辑执行起来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endParaRPr lang="zh-CN" altLang="en-US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0" name="文本占位符 3">
            <a:extLst>
              <a:ext uri="{FF2B5EF4-FFF2-40B4-BE49-F238E27FC236}">
                <a16:creationId xmlns:a16="http://schemas.microsoft.com/office/drawing/2014/main" id="{94BD971D-1CCE-434A-93D8-27924E600FFE}"/>
              </a:ext>
            </a:extLst>
          </p:cNvPr>
          <p:cNvSpPr txBox="1">
            <a:spLocks/>
          </p:cNvSpPr>
          <p:nvPr/>
        </p:nvSpPr>
        <p:spPr>
          <a:xfrm>
            <a:off x="2195450" y="2404792"/>
            <a:ext cx="9214230" cy="2721989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755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64B66-EABF-8B60-B7FA-B83A6B509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708FD67-FE4E-0D61-C00A-7BC082EB98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/>
              <a:t>方法的介绍</a:t>
            </a:r>
            <a:endParaRPr lang="en-US" altLang="zh-CN" dirty="0"/>
          </a:p>
          <a:p>
            <a:r>
              <a:rPr lang="zh-CN" altLang="en-US" dirty="0"/>
              <a:t>方法的基本定义和调用</a:t>
            </a:r>
            <a:endParaRPr lang="en-US" altLang="zh-CN" dirty="0"/>
          </a:p>
          <a:p>
            <a:r>
              <a:rPr lang="zh-CN" altLang="en-US" dirty="0"/>
              <a:t>方法的执行流程</a:t>
            </a:r>
            <a:endParaRPr lang="en-US" altLang="zh-CN" dirty="0"/>
          </a:p>
          <a:p>
            <a:r>
              <a:rPr lang="zh-CN" altLang="en-US" dirty="0"/>
              <a:t>带参数的方法</a:t>
            </a:r>
            <a:endParaRPr lang="en-US" altLang="zh-CN" dirty="0"/>
          </a:p>
          <a:p>
            <a:r>
              <a:rPr lang="zh-CN" altLang="en-US" dirty="0"/>
              <a:t>带返回值的方法</a:t>
            </a:r>
            <a:endParaRPr lang="en-US" altLang="zh-CN" dirty="0"/>
          </a:p>
          <a:p>
            <a:r>
              <a:rPr lang="zh-CN" altLang="en-US" dirty="0"/>
              <a:t>方法通用定义格式</a:t>
            </a:r>
            <a:endParaRPr lang="en-US" altLang="zh-CN" dirty="0"/>
          </a:p>
          <a:p>
            <a:r>
              <a:rPr lang="zh-CN" altLang="en-US" dirty="0"/>
              <a:t>方法注意事项</a:t>
            </a:r>
            <a:endParaRPr lang="en-US" altLang="zh-CN" dirty="0"/>
          </a:p>
          <a:p>
            <a:r>
              <a:rPr lang="zh-CN" altLang="en-US" dirty="0"/>
              <a:t>方法重载</a:t>
            </a:r>
            <a:endParaRPr lang="en-US" altLang="zh-CN" dirty="0"/>
          </a:p>
          <a:p>
            <a:r>
              <a:rPr lang="en-US" altLang="zh-CN" dirty="0"/>
              <a:t>IDEA </a:t>
            </a:r>
            <a:r>
              <a:rPr lang="zh-CN" altLang="en-US" dirty="0"/>
              <a:t>安装</a:t>
            </a:r>
            <a:r>
              <a:rPr lang="en-US" altLang="zh-CN" dirty="0"/>
              <a:t> AI </a:t>
            </a:r>
            <a:r>
              <a:rPr lang="zh-CN" altLang="en-US" dirty="0"/>
              <a:t>插件</a:t>
            </a:r>
          </a:p>
        </p:txBody>
      </p:sp>
    </p:spTree>
    <p:extLst>
      <p:ext uri="{BB962C8B-B14F-4D97-AF65-F5344CB8AC3E}">
        <p14:creationId xmlns:p14="http://schemas.microsoft.com/office/powerpoint/2010/main" val="4006965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CBCF9-F4D2-378D-B01C-F0EA90B2E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CD6406-3D0A-6CAF-901C-39A66CFD9F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方法的执行流程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2084B329-21C0-B056-4D58-5E83EE3269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5015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方法的调用流程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0C8925-8F01-3C82-49B1-2F57B5D655AF}"/>
              </a:ext>
            </a:extLst>
          </p:cNvPr>
          <p:cNvSpPr txBox="1"/>
          <p:nvPr/>
        </p:nvSpPr>
        <p:spPr>
          <a:xfrm>
            <a:off x="710880" y="1626026"/>
            <a:ext cx="5522666" cy="7952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没有被调用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的时候，在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方法区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中的字节码文件中存放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被调用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的时候，需要进入到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栈内存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中运行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E964553-6313-B69D-03D2-07A2A15DD036}"/>
              </a:ext>
            </a:extLst>
          </p:cNvPr>
          <p:cNvGrpSpPr>
            <a:grpSpLocks/>
          </p:cNvGrpSpPr>
          <p:nvPr/>
        </p:nvGrpSpPr>
        <p:grpSpPr bwMode="auto">
          <a:xfrm>
            <a:off x="8715164" y="1635973"/>
            <a:ext cx="2360083" cy="4800601"/>
            <a:chOff x="4441895" y="1347668"/>
            <a:chExt cx="1771200" cy="3600177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0C9A1B6-1DEF-0A4B-B4A8-2A93B6797300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9950E8DD-BFDC-96DF-8EC1-10C4697F77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1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栈内存</a:t>
              </a:r>
              <a:endParaRPr lang="en-US" altLang="zh-CN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334DC33D-D973-2DBE-81C5-947590F074CE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79BCFDE-26E1-9347-784F-BD118C445EF1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DD8C332-03E8-601C-EEE6-633775E85EE5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4E95003-AD29-ACF4-474B-0277F16E9641}"/>
              </a:ext>
            </a:extLst>
          </p:cNvPr>
          <p:cNvGrpSpPr>
            <a:grpSpLocks/>
          </p:cNvGrpSpPr>
          <p:nvPr/>
        </p:nvGrpSpPr>
        <p:grpSpPr bwMode="auto">
          <a:xfrm>
            <a:off x="5445859" y="4569674"/>
            <a:ext cx="2816339" cy="1869016"/>
            <a:chOff x="1828154" y="3579862"/>
            <a:chExt cx="2442792" cy="140064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1D6E000-EA6C-2C5F-1D4E-5B1DCF6738B1}"/>
                </a:ext>
              </a:extLst>
            </p:cNvPr>
            <p:cNvSpPr/>
            <p:nvPr/>
          </p:nvSpPr>
          <p:spPr bwMode="auto">
            <a:xfrm>
              <a:off x="1837147" y="3579862"/>
              <a:ext cx="2400828" cy="1400643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 w="38100">
              <a:solidFill>
                <a:srgbClr val="92D05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rgbClr val="92D05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17" name="TextBox 2">
              <a:extLst>
                <a:ext uri="{FF2B5EF4-FFF2-40B4-BE49-F238E27FC236}">
                  <a16:creationId xmlns:a16="http://schemas.microsoft.com/office/drawing/2014/main" id="{F11B15B7-2C24-15B4-72C0-0BD431E801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154" y="4521848"/>
              <a:ext cx="2442792" cy="440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92D05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方法区</a:t>
              </a:r>
            </a:p>
          </p:txBody>
        </p:sp>
      </p:grpSp>
      <p:sp>
        <p:nvSpPr>
          <p:cNvPr id="18" name="TextBox 3">
            <a:extLst>
              <a:ext uri="{FF2B5EF4-FFF2-40B4-BE49-F238E27FC236}">
                <a16:creationId xmlns:a16="http://schemas.microsoft.com/office/drawing/2014/main" id="{6F82C0D3-0FCC-E763-7466-FD53D92465BF}"/>
              </a:ext>
            </a:extLst>
          </p:cNvPr>
          <p:cNvSpPr txBox="1"/>
          <p:nvPr/>
        </p:nvSpPr>
        <p:spPr>
          <a:xfrm>
            <a:off x="5579024" y="4724190"/>
            <a:ext cx="2522307" cy="83099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字节码文件中的方法</a:t>
            </a:r>
            <a:endParaRPr lang="en-US" altLang="zh-CN" sz="1200" kern="1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例如：</a:t>
            </a: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</a:t>
            </a: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E6DEBB6E-A395-C048-D3F9-A09CAE1ECBD8}"/>
              </a:ext>
            </a:extLst>
          </p:cNvPr>
          <p:cNvSpPr txBox="1"/>
          <p:nvPr/>
        </p:nvSpPr>
        <p:spPr>
          <a:xfrm>
            <a:off x="8791364" y="1231690"/>
            <a:ext cx="2207683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b="1" kern="0" dirty="0">
                <a:solidFill>
                  <a:srgbClr val="00008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宋体" panose="02010600030101010101" pitchFamily="2" charset="-122"/>
              </a:rPr>
              <a:t>……</a:t>
            </a:r>
            <a:endParaRPr lang="zh-CN" altLang="zh-CN" sz="1200" kern="100" dirty="0"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9C51859B-5EDB-C8CE-A900-21019AF23588}"/>
              </a:ext>
            </a:extLst>
          </p:cNvPr>
          <p:cNvSpPr txBox="1"/>
          <p:nvPr/>
        </p:nvSpPr>
        <p:spPr>
          <a:xfrm>
            <a:off x="8791364" y="5587790"/>
            <a:ext cx="2207683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b="1" kern="0" dirty="0">
                <a:solidFill>
                  <a:srgbClr val="00008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宋体" panose="02010600030101010101" pitchFamily="2" charset="-122"/>
              </a:rPr>
              <a:t>……</a:t>
            </a:r>
            <a:endParaRPr lang="zh-CN" altLang="zh-CN" sz="1200" kern="100" dirty="0"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AA5EEDDE-C77F-2C29-40F8-C4661C7BFECA}"/>
              </a:ext>
            </a:extLst>
          </p:cNvPr>
          <p:cNvSpPr txBox="1"/>
          <p:nvPr/>
        </p:nvSpPr>
        <p:spPr>
          <a:xfrm>
            <a:off x="8900040" y="3102701"/>
            <a:ext cx="2012949" cy="114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方法运行时所进入的内存</a:t>
            </a:r>
          </a:p>
        </p:txBody>
      </p:sp>
      <p:cxnSp>
        <p:nvCxnSpPr>
          <p:cNvPr id="23" name="肘形连接符 56">
            <a:extLst>
              <a:ext uri="{FF2B5EF4-FFF2-40B4-BE49-F238E27FC236}">
                <a16:creationId xmlns:a16="http://schemas.microsoft.com/office/drawing/2014/main" id="{02A036F7-F2CC-7C35-5D08-78D0550BEC5C}"/>
              </a:ext>
            </a:extLst>
          </p:cNvPr>
          <p:cNvCxnSpPr>
            <a:cxnSpLocks/>
            <a:stCxn id="18" idx="0"/>
            <a:endCxn id="19" idx="1"/>
          </p:cNvCxnSpPr>
          <p:nvPr/>
        </p:nvCxnSpPr>
        <p:spPr>
          <a:xfrm rot="5400000" flipH="1" flipV="1">
            <a:off x="6146466" y="2079292"/>
            <a:ext cx="3338611" cy="1951186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4">
            <a:extLst>
              <a:ext uri="{FF2B5EF4-FFF2-40B4-BE49-F238E27FC236}">
                <a16:creationId xmlns:a16="http://schemas.microsoft.com/office/drawing/2014/main" id="{6F417AC9-2331-A10F-9928-695E22B49BEC}"/>
              </a:ext>
            </a:extLst>
          </p:cNvPr>
          <p:cNvSpPr txBox="1"/>
          <p:nvPr/>
        </p:nvSpPr>
        <p:spPr>
          <a:xfrm>
            <a:off x="5462791" y="5554071"/>
            <a:ext cx="2816339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schemeClr val="bg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字节码文件加载时进入的内存</a:t>
            </a:r>
          </a:p>
        </p:txBody>
      </p:sp>
      <p:pic>
        <p:nvPicPr>
          <p:cNvPr id="25" name="图片 12">
            <a:extLst>
              <a:ext uri="{FF2B5EF4-FFF2-40B4-BE49-F238E27FC236}">
                <a16:creationId xmlns:a16="http://schemas.microsoft.com/office/drawing/2014/main" id="{16038B00-E194-B60E-13AD-FEA80F95B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561" y="3095417"/>
            <a:ext cx="3359939" cy="2682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712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3.33333E-6 L 1.45833E-6 0.63519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759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4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1.48148E-6 L 1.45833E-6 -0.63519 " pathEditMode="relative" rAng="0" ptsTypes="AA">
                                      <p:cBhvr>
                                        <p:cTn id="6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1759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1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 animBg="1"/>
      <p:bldP spid="19" grpId="0" animBg="1"/>
      <p:bldP spid="19" grpId="1" animBg="1"/>
      <p:bldP spid="19" grpId="2" animBg="1"/>
      <p:bldP spid="20" grpId="0" animBg="1"/>
      <p:bldP spid="20" grpId="1" animBg="1"/>
      <p:bldP spid="20" grpId="2" animBg="1"/>
      <p:bldP spid="22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方法的调用流程</a:t>
            </a:r>
            <a:endParaRPr kumimoji="1" lang="zh-CN" altLang="en-US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5AF515B6-BE61-8587-1069-E7126FD4028C}"/>
              </a:ext>
            </a:extLst>
          </p:cNvPr>
          <p:cNvSpPr txBox="1"/>
          <p:nvPr/>
        </p:nvSpPr>
        <p:spPr>
          <a:xfrm>
            <a:off x="263989" y="1635973"/>
            <a:ext cx="4962132" cy="3940631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MethodDemo1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开始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getMax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结束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getMax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max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&gt;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?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: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max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54C1939-9B35-809E-F34E-D16F2D6899D4}"/>
              </a:ext>
            </a:extLst>
          </p:cNvPr>
          <p:cNvGrpSpPr>
            <a:grpSpLocks/>
          </p:cNvGrpSpPr>
          <p:nvPr/>
        </p:nvGrpSpPr>
        <p:grpSpPr bwMode="auto">
          <a:xfrm>
            <a:off x="8336936" y="1749101"/>
            <a:ext cx="3827880" cy="4800601"/>
            <a:chOff x="4441895" y="1347668"/>
            <a:chExt cx="1771200" cy="360017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A973C07-C4DA-8054-8E15-2D18F477DE3B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8" name="TextBox 2">
              <a:extLst>
                <a:ext uri="{FF2B5EF4-FFF2-40B4-BE49-F238E27FC236}">
                  <a16:creationId xmlns:a16="http://schemas.microsoft.com/office/drawing/2014/main" id="{6E94F29D-DE6C-33C5-4542-B9857F44A6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1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栈内存</a:t>
              </a:r>
              <a:endParaRPr lang="en-US" altLang="zh-CN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1C897502-9F8B-76D3-8E37-3F4259D4D10D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E4E887E4-70FB-7907-B67C-589565593546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4FCEDBCA-A56D-3269-2EEF-7BA49F3CA5BA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388B4F8-A823-1D83-AD5E-179F2A4CAE93}"/>
              </a:ext>
            </a:extLst>
          </p:cNvPr>
          <p:cNvGrpSpPr>
            <a:grpSpLocks/>
          </p:cNvGrpSpPr>
          <p:nvPr/>
        </p:nvGrpSpPr>
        <p:grpSpPr bwMode="auto">
          <a:xfrm>
            <a:off x="5435813" y="4704672"/>
            <a:ext cx="2816339" cy="1869016"/>
            <a:chOff x="1828154" y="3579862"/>
            <a:chExt cx="2442792" cy="1400643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F4A6107-B70D-56F2-65DD-A802EA430322}"/>
                </a:ext>
              </a:extLst>
            </p:cNvPr>
            <p:cNvSpPr/>
            <p:nvPr/>
          </p:nvSpPr>
          <p:spPr bwMode="auto">
            <a:xfrm>
              <a:off x="1837147" y="3579862"/>
              <a:ext cx="2400828" cy="1400643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 w="38100">
              <a:solidFill>
                <a:srgbClr val="92D05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rgbClr val="92D05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30" name="TextBox 2">
              <a:extLst>
                <a:ext uri="{FF2B5EF4-FFF2-40B4-BE49-F238E27FC236}">
                  <a16:creationId xmlns:a16="http://schemas.microsoft.com/office/drawing/2014/main" id="{0698ACFF-3FB8-4FAD-1BC4-A674DBE67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154" y="4521848"/>
              <a:ext cx="2442792" cy="440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92D05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方法区</a:t>
              </a:r>
            </a:p>
          </p:txBody>
        </p: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7A01F37E-7D2D-6713-5BC1-627F24E6C7A8}"/>
              </a:ext>
            </a:extLst>
          </p:cNvPr>
          <p:cNvSpPr txBox="1"/>
          <p:nvPr/>
        </p:nvSpPr>
        <p:spPr>
          <a:xfrm>
            <a:off x="5568978" y="4859188"/>
            <a:ext cx="2522307" cy="1015663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MethodDemo1.class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getMax</a:t>
            </a: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TextBox 3">
            <a:extLst>
              <a:ext uri="{FF2B5EF4-FFF2-40B4-BE49-F238E27FC236}">
                <a16:creationId xmlns:a16="http://schemas.microsoft.com/office/drawing/2014/main" id="{DEC1FA39-5B33-C248-2D62-110269FC018B}"/>
              </a:ext>
            </a:extLst>
          </p:cNvPr>
          <p:cNvSpPr txBox="1"/>
          <p:nvPr/>
        </p:nvSpPr>
        <p:spPr>
          <a:xfrm>
            <a:off x="8489185" y="4391997"/>
            <a:ext cx="3526814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EF3420B-F86B-6ED6-2A77-25E018EDDF1A}"/>
              </a:ext>
            </a:extLst>
          </p:cNvPr>
          <p:cNvSpPr txBox="1"/>
          <p:nvPr/>
        </p:nvSpPr>
        <p:spPr>
          <a:xfrm>
            <a:off x="5448561" y="1849087"/>
            <a:ext cx="1930161" cy="338554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</a:t>
            </a:r>
            <a:endParaRPr lang="en-US" altLang="zh-CN" sz="1600" b="1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9362072-920D-CB76-E2E7-0A1B5F80C385}"/>
              </a:ext>
            </a:extLst>
          </p:cNvPr>
          <p:cNvSpPr txBox="1"/>
          <p:nvPr/>
        </p:nvSpPr>
        <p:spPr>
          <a:xfrm>
            <a:off x="8471030" y="4704672"/>
            <a:ext cx="2829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开始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67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4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方法的调用流程</a:t>
            </a:r>
            <a:endParaRPr kumimoji="1" lang="zh-CN" altLang="en-US"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5AF515B6-BE61-8587-1069-E7126FD4028C}"/>
              </a:ext>
            </a:extLst>
          </p:cNvPr>
          <p:cNvSpPr txBox="1"/>
          <p:nvPr/>
        </p:nvSpPr>
        <p:spPr>
          <a:xfrm>
            <a:off x="263989" y="1635973"/>
            <a:ext cx="4962132" cy="3940631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MethodDemo1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开始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getMax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结束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getMax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max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&gt;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?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: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max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B54C1939-9B35-809E-F34E-D16F2D6899D4}"/>
              </a:ext>
            </a:extLst>
          </p:cNvPr>
          <p:cNvGrpSpPr>
            <a:grpSpLocks/>
          </p:cNvGrpSpPr>
          <p:nvPr/>
        </p:nvGrpSpPr>
        <p:grpSpPr bwMode="auto">
          <a:xfrm>
            <a:off x="8336936" y="1749101"/>
            <a:ext cx="3827880" cy="4800601"/>
            <a:chOff x="4441895" y="1347668"/>
            <a:chExt cx="1771200" cy="360017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5A973C07-C4DA-8054-8E15-2D18F477DE3B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8" name="TextBox 2">
              <a:extLst>
                <a:ext uri="{FF2B5EF4-FFF2-40B4-BE49-F238E27FC236}">
                  <a16:creationId xmlns:a16="http://schemas.microsoft.com/office/drawing/2014/main" id="{6E94F29D-DE6C-33C5-4542-B9857F44A6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1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栈内存</a:t>
              </a:r>
              <a:endParaRPr lang="en-US" altLang="zh-CN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1C897502-9F8B-76D3-8E37-3F4259D4D10D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E4E887E4-70FB-7907-B67C-589565593546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4FCEDBCA-A56D-3269-2EEF-7BA49F3CA5BA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388B4F8-A823-1D83-AD5E-179F2A4CAE93}"/>
              </a:ext>
            </a:extLst>
          </p:cNvPr>
          <p:cNvGrpSpPr>
            <a:grpSpLocks/>
          </p:cNvGrpSpPr>
          <p:nvPr/>
        </p:nvGrpSpPr>
        <p:grpSpPr bwMode="auto">
          <a:xfrm>
            <a:off x="5435813" y="4704672"/>
            <a:ext cx="2816339" cy="1869016"/>
            <a:chOff x="1828154" y="3579862"/>
            <a:chExt cx="2442792" cy="1400643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F4A6107-B70D-56F2-65DD-A802EA430322}"/>
                </a:ext>
              </a:extLst>
            </p:cNvPr>
            <p:cNvSpPr/>
            <p:nvPr/>
          </p:nvSpPr>
          <p:spPr bwMode="auto">
            <a:xfrm>
              <a:off x="1837147" y="3579862"/>
              <a:ext cx="2400828" cy="1400643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 w="38100">
              <a:solidFill>
                <a:srgbClr val="92D05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rgbClr val="92D05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30" name="TextBox 2">
              <a:extLst>
                <a:ext uri="{FF2B5EF4-FFF2-40B4-BE49-F238E27FC236}">
                  <a16:creationId xmlns:a16="http://schemas.microsoft.com/office/drawing/2014/main" id="{0698ACFF-3FB8-4FAD-1BC4-A674DBE670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154" y="4521848"/>
              <a:ext cx="2442792" cy="440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92D05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方法区</a:t>
              </a:r>
            </a:p>
          </p:txBody>
        </p: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7A01F37E-7D2D-6713-5BC1-627F24E6C7A8}"/>
              </a:ext>
            </a:extLst>
          </p:cNvPr>
          <p:cNvSpPr txBox="1"/>
          <p:nvPr/>
        </p:nvSpPr>
        <p:spPr>
          <a:xfrm>
            <a:off x="5568978" y="4859188"/>
            <a:ext cx="2522307" cy="1015663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MethodDemo1.class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getMax</a:t>
            </a: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TextBox 3">
            <a:extLst>
              <a:ext uri="{FF2B5EF4-FFF2-40B4-BE49-F238E27FC236}">
                <a16:creationId xmlns:a16="http://schemas.microsoft.com/office/drawing/2014/main" id="{DEC1FA39-5B33-C248-2D62-110269FC018B}"/>
              </a:ext>
            </a:extLst>
          </p:cNvPr>
          <p:cNvSpPr txBox="1"/>
          <p:nvPr/>
        </p:nvSpPr>
        <p:spPr>
          <a:xfrm>
            <a:off x="8489185" y="4391997"/>
            <a:ext cx="3526814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EF3420B-F86B-6ED6-2A77-25E018EDDF1A}"/>
              </a:ext>
            </a:extLst>
          </p:cNvPr>
          <p:cNvSpPr txBox="1"/>
          <p:nvPr/>
        </p:nvSpPr>
        <p:spPr>
          <a:xfrm>
            <a:off x="5448561" y="1849087"/>
            <a:ext cx="1930161" cy="338554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</a:t>
            </a:r>
            <a:endParaRPr lang="en-US" altLang="zh-CN" sz="1600" b="1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9362072-920D-CB76-E2E7-0A1B5F80C385}"/>
              </a:ext>
            </a:extLst>
          </p:cNvPr>
          <p:cNvSpPr txBox="1"/>
          <p:nvPr/>
        </p:nvSpPr>
        <p:spPr>
          <a:xfrm>
            <a:off x="8471030" y="4704672"/>
            <a:ext cx="2829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开始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BBDD034-EA78-8BE3-95C4-1F42FA667BC0}"/>
              </a:ext>
            </a:extLst>
          </p:cNvPr>
          <p:cNvSpPr txBox="1"/>
          <p:nvPr/>
        </p:nvSpPr>
        <p:spPr>
          <a:xfrm>
            <a:off x="8471030" y="5059242"/>
            <a:ext cx="10791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getMax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();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B79BF584-790F-02F1-4B00-7054EDA1805B}"/>
              </a:ext>
            </a:extLst>
          </p:cNvPr>
          <p:cNvSpPr txBox="1"/>
          <p:nvPr/>
        </p:nvSpPr>
        <p:spPr>
          <a:xfrm>
            <a:off x="8439925" y="2293215"/>
            <a:ext cx="3526814" cy="196977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getMax</a:t>
            </a: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BA8B6E77-E861-3796-1668-B2F647B61FAC}"/>
              </a:ext>
            </a:extLst>
          </p:cNvPr>
          <p:cNvSpPr/>
          <p:nvPr/>
        </p:nvSpPr>
        <p:spPr>
          <a:xfrm>
            <a:off x="8543678" y="3454967"/>
            <a:ext cx="3243161" cy="299938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max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JetBrains Mono"/>
              </a:rPr>
              <a:t>num1 &gt; num2 ? num1 : num2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5C33BE4-8800-2212-603C-7996973B2EA5}"/>
              </a:ext>
            </a:extLst>
          </p:cNvPr>
          <p:cNvSpPr txBox="1"/>
          <p:nvPr/>
        </p:nvSpPr>
        <p:spPr>
          <a:xfrm>
            <a:off x="8543678" y="3845675"/>
            <a:ext cx="2569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max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7A56E92-DBC4-2AF6-B313-65B6E83C0010}"/>
              </a:ext>
            </a:extLst>
          </p:cNvPr>
          <p:cNvSpPr/>
          <p:nvPr/>
        </p:nvSpPr>
        <p:spPr>
          <a:xfrm>
            <a:off x="8543678" y="3045496"/>
            <a:ext cx="3243161" cy="299938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A81CED0-0534-5A30-D11F-7F87EDF8CB08}"/>
              </a:ext>
            </a:extLst>
          </p:cNvPr>
          <p:cNvSpPr/>
          <p:nvPr/>
        </p:nvSpPr>
        <p:spPr>
          <a:xfrm>
            <a:off x="8543678" y="2651961"/>
            <a:ext cx="3243161" cy="299938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69471CD-D8D6-2C5E-0712-01D97591B10A}"/>
              </a:ext>
            </a:extLst>
          </p:cNvPr>
          <p:cNvSpPr txBox="1"/>
          <p:nvPr/>
        </p:nvSpPr>
        <p:spPr>
          <a:xfrm>
            <a:off x="5448561" y="1849087"/>
            <a:ext cx="1930161" cy="584775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</a:t>
            </a:r>
            <a:endParaRPr lang="en-US" altLang="zh-CN" sz="1600" b="1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b="1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79E2D2-B59D-6587-E463-6E53A8015FCC}"/>
              </a:ext>
            </a:extLst>
          </p:cNvPr>
          <p:cNvSpPr txBox="1"/>
          <p:nvPr/>
        </p:nvSpPr>
        <p:spPr>
          <a:xfrm>
            <a:off x="8471030" y="5411593"/>
            <a:ext cx="2829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结束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24FDDB7-4B4D-5AD6-00BB-CB8895C3032E}"/>
              </a:ext>
            </a:extLst>
          </p:cNvPr>
          <p:cNvSpPr txBox="1"/>
          <p:nvPr/>
        </p:nvSpPr>
        <p:spPr>
          <a:xfrm>
            <a:off x="5448561" y="1849087"/>
            <a:ext cx="1930161" cy="830997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开始</a:t>
            </a:r>
            <a:endParaRPr lang="en-US" altLang="zh-CN" sz="1600" b="1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b="1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</a:t>
            </a:r>
          </a:p>
          <a:p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结束</a:t>
            </a:r>
            <a:endParaRPr lang="en-US" altLang="zh-CN" sz="1600" b="1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523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  <p:bldP spid="31" grpId="2" animBg="1"/>
      <p:bldP spid="32" grpId="0" animBg="1"/>
      <p:bldP spid="32" grpId="1" animBg="1"/>
      <p:bldP spid="41" grpId="0"/>
      <p:bldP spid="41" grpId="1"/>
      <p:bldP spid="2" grpId="0"/>
      <p:bldP spid="2" grpId="1"/>
      <p:bldP spid="2" grpId="2"/>
      <p:bldP spid="9" grpId="0" animBg="1"/>
      <p:bldP spid="9" grpId="1" animBg="1"/>
      <p:bldP spid="9" grpId="2" animBg="1"/>
      <p:bldP spid="13" grpId="0" animBg="1"/>
      <p:bldP spid="13" grpId="1" animBg="1"/>
      <p:bldP spid="13" grpId="2" animBg="1"/>
      <p:bldP spid="14" grpId="0"/>
      <p:bldP spid="14" grpId="1"/>
      <p:bldP spid="14" grpId="2"/>
      <p:bldP spid="15" grpId="0" animBg="1"/>
      <p:bldP spid="15" grpId="1" animBg="1"/>
      <p:bldP spid="15" grpId="2" animBg="1"/>
      <p:bldP spid="16" grpId="0" animBg="1"/>
      <p:bldP spid="16" grpId="1" animBg="1"/>
      <p:bldP spid="16" grpId="2" animBg="1"/>
      <p:bldP spid="18" grpId="0" animBg="1"/>
      <p:bldP spid="22" grpId="0"/>
      <p:bldP spid="22" grpId="1"/>
      <p:bldP spid="22" grpId="2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方法的调用流程</a:t>
            </a:r>
            <a:endParaRPr kumimoji="1"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90C8925-8F01-3C82-49B1-2F57B5D655AF}"/>
              </a:ext>
            </a:extLst>
          </p:cNvPr>
          <p:cNvSpPr txBox="1"/>
          <p:nvPr/>
        </p:nvSpPr>
        <p:spPr>
          <a:xfrm>
            <a:off x="710880" y="1626026"/>
            <a:ext cx="5522666" cy="7952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没有被调用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的时候，在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方法区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中的字节码文件中存放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285750" indent="-28575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r>
              <a:rPr lang="zh-CN" altLang="en-US" sz="1600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被调用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的时候，需要进入到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栈内存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中运行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E964553-6313-B69D-03D2-07A2A15DD036}"/>
              </a:ext>
            </a:extLst>
          </p:cNvPr>
          <p:cNvGrpSpPr>
            <a:grpSpLocks/>
          </p:cNvGrpSpPr>
          <p:nvPr/>
        </p:nvGrpSpPr>
        <p:grpSpPr bwMode="auto">
          <a:xfrm>
            <a:off x="8715164" y="1635973"/>
            <a:ext cx="2360083" cy="4800601"/>
            <a:chOff x="4441895" y="1347668"/>
            <a:chExt cx="1771200" cy="3600177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0C9A1B6-1DEF-0A4B-B4A8-2A93B6797300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11" name="TextBox 2">
              <a:extLst>
                <a:ext uri="{FF2B5EF4-FFF2-40B4-BE49-F238E27FC236}">
                  <a16:creationId xmlns:a16="http://schemas.microsoft.com/office/drawing/2014/main" id="{9950E8DD-BFDC-96DF-8EC1-10C4697F77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1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栈内存</a:t>
              </a:r>
              <a:endParaRPr lang="en-US" altLang="zh-CN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334DC33D-D973-2DBE-81C5-947590F074CE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79BCFDE-26E1-9347-784F-BD118C445EF1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5DD8C332-03E8-601C-EEE6-633775E85EE5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4E95003-AD29-ACF4-474B-0277F16E9641}"/>
              </a:ext>
            </a:extLst>
          </p:cNvPr>
          <p:cNvGrpSpPr>
            <a:grpSpLocks/>
          </p:cNvGrpSpPr>
          <p:nvPr/>
        </p:nvGrpSpPr>
        <p:grpSpPr bwMode="auto">
          <a:xfrm>
            <a:off x="5445859" y="4569674"/>
            <a:ext cx="2816339" cy="1869016"/>
            <a:chOff x="1828154" y="3579862"/>
            <a:chExt cx="2442792" cy="1400643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1D6E000-EA6C-2C5F-1D4E-5B1DCF6738B1}"/>
                </a:ext>
              </a:extLst>
            </p:cNvPr>
            <p:cNvSpPr/>
            <p:nvPr/>
          </p:nvSpPr>
          <p:spPr bwMode="auto">
            <a:xfrm>
              <a:off x="1837147" y="3579862"/>
              <a:ext cx="2400828" cy="1400643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 w="38100">
              <a:solidFill>
                <a:srgbClr val="92D05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rgbClr val="92D05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17" name="TextBox 2">
              <a:extLst>
                <a:ext uri="{FF2B5EF4-FFF2-40B4-BE49-F238E27FC236}">
                  <a16:creationId xmlns:a16="http://schemas.microsoft.com/office/drawing/2014/main" id="{F11B15B7-2C24-15B4-72C0-0BD431E801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154" y="4521848"/>
              <a:ext cx="2442792" cy="440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92D05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方法区</a:t>
              </a:r>
            </a:p>
          </p:txBody>
        </p:sp>
      </p:grpSp>
      <p:sp>
        <p:nvSpPr>
          <p:cNvPr id="18" name="TextBox 3">
            <a:extLst>
              <a:ext uri="{FF2B5EF4-FFF2-40B4-BE49-F238E27FC236}">
                <a16:creationId xmlns:a16="http://schemas.microsoft.com/office/drawing/2014/main" id="{6F82C0D3-0FCC-E763-7466-FD53D92465BF}"/>
              </a:ext>
            </a:extLst>
          </p:cNvPr>
          <p:cNvSpPr txBox="1"/>
          <p:nvPr/>
        </p:nvSpPr>
        <p:spPr>
          <a:xfrm>
            <a:off x="5579024" y="4724190"/>
            <a:ext cx="2522307" cy="83099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字节码文件中的方法</a:t>
            </a:r>
            <a:endParaRPr lang="en-US" altLang="zh-CN" sz="1200" kern="1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zh-CN" altLang="en-US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例如：</a:t>
            </a: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</a:t>
            </a: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E6DEBB6E-A395-C048-D3F9-A09CAE1ECBD8}"/>
              </a:ext>
            </a:extLst>
          </p:cNvPr>
          <p:cNvSpPr txBox="1"/>
          <p:nvPr/>
        </p:nvSpPr>
        <p:spPr>
          <a:xfrm>
            <a:off x="8791364" y="1231690"/>
            <a:ext cx="2207683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b="1" kern="0" dirty="0">
                <a:solidFill>
                  <a:srgbClr val="00008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宋体" panose="02010600030101010101" pitchFamily="2" charset="-122"/>
              </a:rPr>
              <a:t>……</a:t>
            </a:r>
            <a:endParaRPr lang="zh-CN" altLang="zh-CN" sz="1200" kern="100" dirty="0"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TextBox 3">
            <a:extLst>
              <a:ext uri="{FF2B5EF4-FFF2-40B4-BE49-F238E27FC236}">
                <a16:creationId xmlns:a16="http://schemas.microsoft.com/office/drawing/2014/main" id="{9C51859B-5EDB-C8CE-A900-21019AF23588}"/>
              </a:ext>
            </a:extLst>
          </p:cNvPr>
          <p:cNvSpPr txBox="1"/>
          <p:nvPr/>
        </p:nvSpPr>
        <p:spPr>
          <a:xfrm>
            <a:off x="8791364" y="5587790"/>
            <a:ext cx="2207683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b="1" kern="0" dirty="0">
                <a:solidFill>
                  <a:srgbClr val="00008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  <a:cs typeface="宋体" panose="02010600030101010101" pitchFamily="2" charset="-122"/>
              </a:rPr>
              <a:t>……</a:t>
            </a:r>
            <a:endParaRPr lang="zh-CN" altLang="zh-CN" sz="1200" kern="100" dirty="0">
              <a:latin typeface="思源黑体 CN Bold" panose="020B0800000000000000" pitchFamily="34" charset="-122"/>
              <a:ea typeface="思源黑体 CN Bold" panose="020B08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AA5EEDDE-C77F-2C29-40F8-C4661C7BFECA}"/>
              </a:ext>
            </a:extLst>
          </p:cNvPr>
          <p:cNvSpPr txBox="1"/>
          <p:nvPr/>
        </p:nvSpPr>
        <p:spPr>
          <a:xfrm>
            <a:off x="8900040" y="3102701"/>
            <a:ext cx="2012949" cy="1142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b="1" dirty="0">
                <a:solidFill>
                  <a:schemeClr val="bg1">
                    <a:lumMod val="75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方法运行时所进入的内存</a:t>
            </a:r>
          </a:p>
        </p:txBody>
      </p:sp>
      <p:cxnSp>
        <p:nvCxnSpPr>
          <p:cNvPr id="23" name="肘形连接符 56">
            <a:extLst>
              <a:ext uri="{FF2B5EF4-FFF2-40B4-BE49-F238E27FC236}">
                <a16:creationId xmlns:a16="http://schemas.microsoft.com/office/drawing/2014/main" id="{02A036F7-F2CC-7C35-5D08-78D0550BEC5C}"/>
              </a:ext>
            </a:extLst>
          </p:cNvPr>
          <p:cNvCxnSpPr>
            <a:cxnSpLocks/>
            <a:stCxn id="18" idx="0"/>
            <a:endCxn id="19" idx="1"/>
          </p:cNvCxnSpPr>
          <p:nvPr/>
        </p:nvCxnSpPr>
        <p:spPr>
          <a:xfrm rot="5400000" flipH="1" flipV="1">
            <a:off x="6146466" y="2079292"/>
            <a:ext cx="3338611" cy="1951186"/>
          </a:xfrm>
          <a:prstGeom prst="bentConnector2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4">
            <a:extLst>
              <a:ext uri="{FF2B5EF4-FFF2-40B4-BE49-F238E27FC236}">
                <a16:creationId xmlns:a16="http://schemas.microsoft.com/office/drawing/2014/main" id="{6F417AC9-2331-A10F-9928-695E22B49BEC}"/>
              </a:ext>
            </a:extLst>
          </p:cNvPr>
          <p:cNvSpPr txBox="1"/>
          <p:nvPr/>
        </p:nvSpPr>
        <p:spPr>
          <a:xfrm>
            <a:off x="5462791" y="5554071"/>
            <a:ext cx="2816339" cy="427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600" b="1" dirty="0">
                <a:solidFill>
                  <a:schemeClr val="bg1">
                    <a:lumMod val="7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字节码文件加载时进入的内存</a:t>
            </a:r>
          </a:p>
        </p:txBody>
      </p:sp>
      <p:pic>
        <p:nvPicPr>
          <p:cNvPr id="25" name="图片 12">
            <a:extLst>
              <a:ext uri="{FF2B5EF4-FFF2-40B4-BE49-F238E27FC236}">
                <a16:creationId xmlns:a16="http://schemas.microsoft.com/office/drawing/2014/main" id="{16038B00-E194-B60E-13AD-FEA80F95B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561" y="3095417"/>
            <a:ext cx="3359939" cy="2682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2136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方法的调用流程</a:t>
            </a:r>
            <a:endParaRPr kumimoji="1" lang="zh-CN" altLang="en-US" dirty="0"/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62A7BBDF-3E6E-4196-B51C-8FFBDC1C1EA3}"/>
              </a:ext>
            </a:extLst>
          </p:cNvPr>
          <p:cNvSpPr txBox="1"/>
          <p:nvPr/>
        </p:nvSpPr>
        <p:spPr>
          <a:xfrm>
            <a:off x="306029" y="1635973"/>
            <a:ext cx="4962132" cy="5047536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MethodDemo2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[] args) 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study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睡觉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eat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吃饭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study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(){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eat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学习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E06840C-CEA2-4B04-B7DA-54D262FBA745}"/>
              </a:ext>
            </a:extLst>
          </p:cNvPr>
          <p:cNvGrpSpPr>
            <a:grpSpLocks/>
          </p:cNvGrpSpPr>
          <p:nvPr/>
        </p:nvGrpSpPr>
        <p:grpSpPr bwMode="auto">
          <a:xfrm>
            <a:off x="9100396" y="1811094"/>
            <a:ext cx="2360083" cy="4800601"/>
            <a:chOff x="4441895" y="1347668"/>
            <a:chExt cx="1771200" cy="3600177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1021D8AF-9EB3-44C1-A21D-5A757F2B077A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24" name="TextBox 2">
              <a:extLst>
                <a:ext uri="{FF2B5EF4-FFF2-40B4-BE49-F238E27FC236}">
                  <a16:creationId xmlns:a16="http://schemas.microsoft.com/office/drawing/2014/main" id="{6081208B-0DAA-4295-949F-554862BE96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1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栈内存</a:t>
              </a:r>
              <a:endParaRPr lang="en-US" altLang="zh-CN" sz="24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12B6C2E3-9C62-4202-9DEB-0CCEDC2BDDB9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ABEEE24F-9263-41C1-8B73-51C9E2143C9C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6964B073-81AA-4723-B3C4-543A720FFEEB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584F89D-882B-433A-82CB-0AB76E2E2131}"/>
              </a:ext>
            </a:extLst>
          </p:cNvPr>
          <p:cNvGrpSpPr>
            <a:grpSpLocks/>
          </p:cNvGrpSpPr>
          <p:nvPr/>
        </p:nvGrpSpPr>
        <p:grpSpPr bwMode="auto">
          <a:xfrm>
            <a:off x="5831091" y="4744795"/>
            <a:ext cx="2816339" cy="1869016"/>
            <a:chOff x="1828154" y="3579862"/>
            <a:chExt cx="2442792" cy="1400643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6FB589B-2A29-48EB-B41A-FFD82DAAE0AC}"/>
                </a:ext>
              </a:extLst>
            </p:cNvPr>
            <p:cNvSpPr/>
            <p:nvPr/>
          </p:nvSpPr>
          <p:spPr bwMode="auto">
            <a:xfrm>
              <a:off x="1837147" y="3579862"/>
              <a:ext cx="2400828" cy="1400643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 w="38100">
              <a:solidFill>
                <a:srgbClr val="92D05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rgbClr val="92D05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30" name="TextBox 2">
              <a:extLst>
                <a:ext uri="{FF2B5EF4-FFF2-40B4-BE49-F238E27FC236}">
                  <a16:creationId xmlns:a16="http://schemas.microsoft.com/office/drawing/2014/main" id="{AF467C97-11DC-42BE-93AA-41DB44940C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154" y="4521848"/>
              <a:ext cx="2442792" cy="440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92D05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方法区</a:t>
              </a:r>
            </a:p>
          </p:txBody>
        </p:sp>
      </p:grpSp>
      <p:sp>
        <p:nvSpPr>
          <p:cNvPr id="31" name="TextBox 3">
            <a:extLst>
              <a:ext uri="{FF2B5EF4-FFF2-40B4-BE49-F238E27FC236}">
                <a16:creationId xmlns:a16="http://schemas.microsoft.com/office/drawing/2014/main" id="{825EBF75-B9AD-4D5B-AD3C-463977250A3D}"/>
              </a:ext>
            </a:extLst>
          </p:cNvPr>
          <p:cNvSpPr txBox="1"/>
          <p:nvPr/>
        </p:nvSpPr>
        <p:spPr>
          <a:xfrm>
            <a:off x="5964284" y="4835306"/>
            <a:ext cx="2522307" cy="1200329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MethodDemo2.class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study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sleep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eat</a:t>
            </a:r>
          </a:p>
        </p:txBody>
      </p:sp>
      <p:sp>
        <p:nvSpPr>
          <p:cNvPr id="35" name="TextBox 3">
            <a:extLst>
              <a:ext uri="{FF2B5EF4-FFF2-40B4-BE49-F238E27FC236}">
                <a16:creationId xmlns:a16="http://schemas.microsoft.com/office/drawing/2014/main" id="{309C9EF5-AFF1-4513-B4DF-DE440329B07A}"/>
              </a:ext>
            </a:extLst>
          </p:cNvPr>
          <p:cNvSpPr txBox="1"/>
          <p:nvPr/>
        </p:nvSpPr>
        <p:spPr>
          <a:xfrm>
            <a:off x="9183671" y="5184261"/>
            <a:ext cx="2221773" cy="83099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61EA57-938B-48A1-84E7-D9F8BA8A01DE}"/>
              </a:ext>
            </a:extLst>
          </p:cNvPr>
          <p:cNvSpPr txBox="1"/>
          <p:nvPr/>
        </p:nvSpPr>
        <p:spPr>
          <a:xfrm>
            <a:off x="9208843" y="5543437"/>
            <a:ext cx="21658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CN" sz="1400" b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study</a:t>
            </a:r>
            <a:r>
              <a:rPr kumimoji="0" lang="zh-CN" altLang="zh-CN" sz="1400" b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2" name="TextBox 3">
            <a:extLst>
              <a:ext uri="{FF2B5EF4-FFF2-40B4-BE49-F238E27FC236}">
                <a16:creationId xmlns:a16="http://schemas.microsoft.com/office/drawing/2014/main" id="{DEC2683C-DA38-4E3F-B619-CB207054D0AD}"/>
              </a:ext>
            </a:extLst>
          </p:cNvPr>
          <p:cNvSpPr txBox="1"/>
          <p:nvPr/>
        </p:nvSpPr>
        <p:spPr>
          <a:xfrm>
            <a:off x="9169550" y="3523839"/>
            <a:ext cx="2221773" cy="156966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study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400317-0F78-428A-AE59-7BA485313FB2}"/>
              </a:ext>
            </a:extLst>
          </p:cNvPr>
          <p:cNvSpPr txBox="1"/>
          <p:nvPr/>
        </p:nvSpPr>
        <p:spPr>
          <a:xfrm>
            <a:off x="9199182" y="4326844"/>
            <a:ext cx="2122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学习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0C3FF25-2F51-4F2F-B1A4-CC003D4BC22A}"/>
              </a:ext>
            </a:extLst>
          </p:cNvPr>
          <p:cNvSpPr txBox="1"/>
          <p:nvPr/>
        </p:nvSpPr>
        <p:spPr>
          <a:xfrm>
            <a:off x="9199181" y="3980720"/>
            <a:ext cx="2122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eat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B5E6CFA-E650-4AD6-9C03-AB1A84BD365D}"/>
              </a:ext>
            </a:extLst>
          </p:cNvPr>
          <p:cNvSpPr txBox="1"/>
          <p:nvPr/>
        </p:nvSpPr>
        <p:spPr>
          <a:xfrm>
            <a:off x="9207650" y="4697536"/>
            <a:ext cx="2122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sleep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19F9661-7543-4B6D-9978-25D842E2BFDB}"/>
              </a:ext>
            </a:extLst>
          </p:cNvPr>
          <p:cNvSpPr/>
          <p:nvPr/>
        </p:nvSpPr>
        <p:spPr>
          <a:xfrm>
            <a:off x="289094" y="4835306"/>
            <a:ext cx="4962132" cy="335309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38" name="TextBox 3">
            <a:extLst>
              <a:ext uri="{FF2B5EF4-FFF2-40B4-BE49-F238E27FC236}">
                <a16:creationId xmlns:a16="http://schemas.microsoft.com/office/drawing/2014/main" id="{A6A58C18-271D-4D5C-9DBB-22A56DC7EDB0}"/>
              </a:ext>
            </a:extLst>
          </p:cNvPr>
          <p:cNvSpPr txBox="1"/>
          <p:nvPr/>
        </p:nvSpPr>
        <p:spPr>
          <a:xfrm>
            <a:off x="9169550" y="2616148"/>
            <a:ext cx="2221773" cy="83099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eat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EA0FAD9-3D88-44D4-8091-4936F7491B91}"/>
              </a:ext>
            </a:extLst>
          </p:cNvPr>
          <p:cNvSpPr txBox="1"/>
          <p:nvPr/>
        </p:nvSpPr>
        <p:spPr>
          <a:xfrm>
            <a:off x="9153981" y="3006567"/>
            <a:ext cx="2122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吃饭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D877FB9-D07A-4F22-ABC2-75203D9CC8C1}"/>
              </a:ext>
            </a:extLst>
          </p:cNvPr>
          <p:cNvSpPr/>
          <p:nvPr/>
        </p:nvSpPr>
        <p:spPr>
          <a:xfrm>
            <a:off x="289094" y="5269276"/>
            <a:ext cx="4962132" cy="335309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50F3CDB-B178-487D-8680-3F9C1956A628}"/>
              </a:ext>
            </a:extLst>
          </p:cNvPr>
          <p:cNvSpPr txBox="1"/>
          <p:nvPr/>
        </p:nvSpPr>
        <p:spPr>
          <a:xfrm>
            <a:off x="5831091" y="2785870"/>
            <a:ext cx="1930161" cy="830997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吃饭</a:t>
            </a:r>
            <a:endParaRPr lang="en-US" altLang="zh-CN" sz="1600" b="1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b="1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b="1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7342AB2-1416-4776-BBC9-306441CB910A}"/>
              </a:ext>
            </a:extLst>
          </p:cNvPr>
          <p:cNvSpPr txBox="1"/>
          <p:nvPr/>
        </p:nvSpPr>
        <p:spPr>
          <a:xfrm>
            <a:off x="5831091" y="2785870"/>
            <a:ext cx="1930161" cy="830997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吃饭</a:t>
            </a:r>
            <a:endParaRPr lang="en-US" altLang="zh-CN" sz="1600" b="1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</a:t>
            </a:r>
            <a:endParaRPr lang="en-US" altLang="zh-CN" sz="1600" b="1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b="1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3" name="TextBox 3">
            <a:extLst>
              <a:ext uri="{FF2B5EF4-FFF2-40B4-BE49-F238E27FC236}">
                <a16:creationId xmlns:a16="http://schemas.microsoft.com/office/drawing/2014/main" id="{D88061D7-37D5-462E-A2F1-2F67A4711E05}"/>
              </a:ext>
            </a:extLst>
          </p:cNvPr>
          <p:cNvSpPr txBox="1"/>
          <p:nvPr/>
        </p:nvSpPr>
        <p:spPr>
          <a:xfrm>
            <a:off x="9169550" y="2618264"/>
            <a:ext cx="2221773" cy="83099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sleep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E978B04-72E6-49D1-A2A7-9A29DA3FAE17}"/>
              </a:ext>
            </a:extLst>
          </p:cNvPr>
          <p:cNvSpPr txBox="1"/>
          <p:nvPr/>
        </p:nvSpPr>
        <p:spPr>
          <a:xfrm>
            <a:off x="9153981" y="3008683"/>
            <a:ext cx="2122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067D17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睡觉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</a:rPr>
              <a:t>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D421A12-255E-453B-962F-06167DC344D3}"/>
              </a:ext>
            </a:extLst>
          </p:cNvPr>
          <p:cNvSpPr/>
          <p:nvPr/>
        </p:nvSpPr>
        <p:spPr>
          <a:xfrm>
            <a:off x="306029" y="5709900"/>
            <a:ext cx="4962132" cy="335309"/>
          </a:xfrm>
          <a:prstGeom prst="rect">
            <a:avLst/>
          </a:prstGeom>
          <a:solidFill>
            <a:srgbClr val="FD0000">
              <a:alpha val="20000"/>
            </a:srgbClr>
          </a:solidFill>
          <a:ln w="381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781225FF-62C4-464C-BE1F-BC3C370A00EF}"/>
              </a:ext>
            </a:extLst>
          </p:cNvPr>
          <p:cNvSpPr txBox="1"/>
          <p:nvPr/>
        </p:nvSpPr>
        <p:spPr>
          <a:xfrm>
            <a:off x="5831091" y="2785870"/>
            <a:ext cx="1930161" cy="830997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吃饭</a:t>
            </a:r>
            <a:endParaRPr lang="en-US" altLang="zh-CN" sz="1600" b="1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</a:t>
            </a:r>
            <a:endParaRPr lang="en-US" altLang="zh-CN" sz="1600" b="1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600" b="1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睡觉</a:t>
            </a:r>
            <a:endParaRPr lang="en-US" altLang="zh-CN" sz="1600" b="1" dirty="0">
              <a:solidFill>
                <a:schemeClr val="bg1">
                  <a:lumMod val="9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907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5" grpId="0" animBg="1"/>
      <p:bldP spid="35" grpId="1" animBg="1"/>
      <p:bldP spid="5" grpId="0"/>
      <p:bldP spid="5" grpId="1"/>
      <p:bldP spid="52" grpId="0" animBg="1"/>
      <p:bldP spid="52" grpId="1" animBg="1"/>
      <p:bldP spid="6" grpId="0"/>
      <p:bldP spid="6" grpId="1"/>
      <p:bldP spid="34" grpId="0"/>
      <p:bldP spid="34" grpId="1"/>
      <p:bldP spid="36" grpId="0"/>
      <p:bldP spid="36" grpId="1"/>
      <p:bldP spid="37" grpId="0" animBg="1"/>
      <p:bldP spid="37" grpId="1" animBg="1"/>
      <p:bldP spid="38" grpId="0" animBg="1"/>
      <p:bldP spid="38" grpId="1" animBg="1"/>
      <p:bldP spid="32" grpId="0"/>
      <p:bldP spid="32" grpId="1"/>
      <p:bldP spid="42" grpId="0" animBg="1"/>
      <p:bldP spid="42" grpId="1" animBg="1"/>
      <p:bldP spid="50" grpId="0" animBg="1"/>
      <p:bldP spid="39" grpId="0" animBg="1"/>
      <p:bldP spid="43" grpId="0" animBg="1"/>
      <p:bldP spid="43" grpId="1" animBg="1"/>
      <p:bldP spid="44" grpId="0"/>
      <p:bldP spid="44" grpId="1"/>
      <p:bldP spid="45" grpId="0" animBg="1"/>
      <p:bldP spid="4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42B91-F6BE-FF75-D3CB-4DD55C3F9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840DA97-DCBE-CF15-2644-9B3F85EB4C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方法区：字节码文件加载时进入的内存</a:t>
            </a:r>
            <a:endParaRPr lang="en-US" altLang="zh-CN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栈内存：方法运行时入栈，方法运行结束出栈</a:t>
            </a:r>
            <a:endParaRPr lang="en-US" altLang="zh-CN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99F18A4F-633B-10F4-C56D-D5ED47D83CC3}"/>
              </a:ext>
            </a:extLst>
          </p:cNvPr>
          <p:cNvSpPr txBox="1">
            <a:spLocks/>
          </p:cNvSpPr>
          <p:nvPr/>
        </p:nvSpPr>
        <p:spPr>
          <a:xfrm>
            <a:off x="627753" y="244189"/>
            <a:ext cx="8771021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endParaRPr kumimoji="1"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Alibaba PuHuiTi B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543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E9B6E-2E0D-8538-8711-0CDB691E9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1668C9A-7F10-2A76-A663-65F0BBE00E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/>
              <a:t>方法的介绍</a:t>
            </a:r>
            <a:endParaRPr lang="en-US" altLang="zh-CN" dirty="0"/>
          </a:p>
          <a:p>
            <a:r>
              <a:rPr lang="zh-CN" altLang="en-US" dirty="0"/>
              <a:t>方法的基本定义和调用</a:t>
            </a:r>
            <a:endParaRPr lang="en-US" altLang="zh-CN" dirty="0"/>
          </a:p>
          <a:p>
            <a:r>
              <a:rPr lang="zh-CN" altLang="en-US" dirty="0"/>
              <a:t>方法的执行流程</a:t>
            </a:r>
            <a:endParaRPr lang="en-US" altLang="zh-CN" dirty="0"/>
          </a:p>
          <a:p>
            <a:r>
              <a:rPr lang="zh-CN" altLang="en-US" dirty="0"/>
              <a:t>带参数的方法</a:t>
            </a:r>
            <a:endParaRPr lang="en-US" altLang="zh-CN" dirty="0"/>
          </a:p>
          <a:p>
            <a:r>
              <a:rPr lang="zh-CN" altLang="en-US" dirty="0"/>
              <a:t>带返回值的方法</a:t>
            </a:r>
            <a:endParaRPr lang="en-US" altLang="zh-CN" dirty="0"/>
          </a:p>
          <a:p>
            <a:r>
              <a:rPr lang="zh-CN" altLang="en-US" dirty="0"/>
              <a:t>方法通用定义格式</a:t>
            </a:r>
            <a:endParaRPr lang="en-US" altLang="zh-CN" dirty="0"/>
          </a:p>
          <a:p>
            <a:r>
              <a:rPr lang="zh-CN" altLang="en-US" dirty="0"/>
              <a:t>方法注意事项</a:t>
            </a:r>
            <a:endParaRPr lang="en-US" altLang="zh-CN" dirty="0"/>
          </a:p>
          <a:p>
            <a:r>
              <a:rPr lang="zh-CN" altLang="en-US" dirty="0"/>
              <a:t>方法重载</a:t>
            </a:r>
            <a:endParaRPr lang="en-US" altLang="zh-CN" dirty="0"/>
          </a:p>
          <a:p>
            <a:r>
              <a:rPr lang="en-US" altLang="zh-CN" dirty="0"/>
              <a:t>IDEA </a:t>
            </a:r>
            <a:r>
              <a:rPr lang="zh-CN" altLang="en-US" dirty="0"/>
              <a:t>安装</a:t>
            </a:r>
            <a:r>
              <a:rPr lang="en-US" altLang="zh-CN" dirty="0"/>
              <a:t> AI </a:t>
            </a:r>
            <a:r>
              <a:rPr lang="zh-CN" altLang="en-US" dirty="0"/>
              <a:t>插件</a:t>
            </a:r>
          </a:p>
        </p:txBody>
      </p:sp>
    </p:spTree>
    <p:extLst>
      <p:ext uri="{BB962C8B-B14F-4D97-AF65-F5344CB8AC3E}">
        <p14:creationId xmlns:p14="http://schemas.microsoft.com/office/powerpoint/2010/main" val="625537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A76FD-A260-B009-F3E2-4C6280F7B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DF2A15-593C-150A-4DCE-63BB1DDA4D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带参数的方法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D4FBBDB-E8DB-8A1A-2EDE-EBFEFE99A2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71366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带参数的方法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354495-B1F0-2FE0-268F-D759988A40C0}"/>
              </a:ext>
            </a:extLst>
          </p:cNvPr>
          <p:cNvSpPr txBox="1"/>
          <p:nvPr/>
        </p:nvSpPr>
        <p:spPr>
          <a:xfrm>
            <a:off x="263989" y="1635973"/>
            <a:ext cx="4962132" cy="3940631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MethodDemo1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开始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getMax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结束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getMax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20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max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&gt;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?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: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max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26" name="Picture 2" descr="哈？？（猪猪问号）_猪猪_问号表情">
            <a:extLst>
              <a:ext uri="{FF2B5EF4-FFF2-40B4-BE49-F238E27FC236}">
                <a16:creationId xmlns:a16="http://schemas.microsoft.com/office/drawing/2014/main" id="{CCFC275C-6B22-733B-2E52-6D90DAF248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28326" y1="24017" x2="28326" y2="24017"/>
                        <a14:foregroundMark x1="29614" y1="29367" x2="29614" y2="29367"/>
                        <a14:foregroundMark x1="36695" y1="22598" x2="36695" y2="22598"/>
                        <a14:foregroundMark x1="42704" y1="20852" x2="42704" y2="20852"/>
                        <a14:foregroundMark x1="42489" y1="27402" x2="42489" y2="27402"/>
                        <a14:foregroundMark x1="37768" y1="28821" x2="37768" y2="2882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4511" y="3177382"/>
            <a:ext cx="3496089" cy="3436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对话气泡: 椭圆形 10">
            <a:extLst>
              <a:ext uri="{FF2B5EF4-FFF2-40B4-BE49-F238E27FC236}">
                <a16:creationId xmlns:a16="http://schemas.microsoft.com/office/drawing/2014/main" id="{3FCA858D-24A2-2E66-A97E-E67A01F48D38}"/>
              </a:ext>
            </a:extLst>
          </p:cNvPr>
          <p:cNvSpPr/>
          <p:nvPr/>
        </p:nvSpPr>
        <p:spPr>
          <a:xfrm>
            <a:off x="5605670" y="2703443"/>
            <a:ext cx="4075043" cy="1570383"/>
          </a:xfrm>
          <a:prstGeom prst="wedgeEllipseCallout">
            <a:avLst>
              <a:gd name="adj1" fmla="val 41101"/>
              <a:gd name="adj2" fmla="val 5229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latin typeface="Consolas" panose="020B0609020204030204" pitchFamily="49" charset="0"/>
              </a:rPr>
              <a:t>好家伙</a:t>
            </a:r>
            <a:r>
              <a:rPr lang="en-US" altLang="zh-CN" dirty="0">
                <a:latin typeface="Consolas" panose="020B0609020204030204" pitchFamily="49" charset="0"/>
              </a:rPr>
              <a:t>, </a:t>
            </a:r>
            <a:r>
              <a:rPr lang="zh-CN" altLang="en-US" dirty="0">
                <a:latin typeface="Consolas" panose="020B0609020204030204" pitchFamily="49" charset="0"/>
              </a:rPr>
              <a:t>只能计算</a:t>
            </a:r>
            <a:r>
              <a:rPr lang="en-US" altLang="zh-CN" dirty="0">
                <a:latin typeface="Consolas" panose="020B0609020204030204" pitchFamily="49" charset="0"/>
              </a:rPr>
              <a:t>10</a:t>
            </a:r>
            <a:r>
              <a:rPr lang="zh-CN" altLang="en-US" dirty="0">
                <a:latin typeface="Consolas" panose="020B0609020204030204" pitchFamily="49" charset="0"/>
              </a:rPr>
              <a:t>和</a:t>
            </a:r>
            <a:r>
              <a:rPr lang="en-US" altLang="zh-CN" dirty="0">
                <a:latin typeface="Consolas" panose="020B0609020204030204" pitchFamily="49" charset="0"/>
              </a:rPr>
              <a:t>20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这代码写的</a:t>
            </a:r>
            <a:r>
              <a:rPr lang="en-US" altLang="zh-CN" dirty="0">
                <a:latin typeface="Consolas" panose="020B0609020204030204" pitchFamily="49" charset="0"/>
              </a:rPr>
              <a:t>…  </a:t>
            </a:r>
          </a:p>
          <a:p>
            <a:r>
              <a:rPr lang="zh-CN" altLang="en-US" dirty="0">
                <a:latin typeface="Consolas" panose="020B0609020204030204" pitchFamily="49" charset="0"/>
              </a:rPr>
              <a:t>你是大聪明吧 </a:t>
            </a:r>
            <a:r>
              <a:rPr lang="en-US" altLang="zh-CN" dirty="0">
                <a:latin typeface="Consolas" panose="020B0609020204030204" pitchFamily="49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30140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带参数的方法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28F09E-0996-C204-3AB9-A18794D08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80" y="1725739"/>
            <a:ext cx="4915326" cy="563929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55A7C0FC-FC18-7193-9323-8AE61798472B}"/>
              </a:ext>
            </a:extLst>
          </p:cNvPr>
          <p:cNvSpPr txBox="1"/>
          <p:nvPr/>
        </p:nvSpPr>
        <p:spPr>
          <a:xfrm>
            <a:off x="870276" y="2470860"/>
            <a:ext cx="5794684" cy="397031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MethodDemo1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getMax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getMax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 {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400" dirty="0">
                <a:solidFill>
                  <a:srgbClr val="960A9F"/>
                </a:solidFill>
                <a:latin typeface="Consolas" panose="020B0609020204030204" pitchFamily="49" charset="0"/>
                <a:ea typeface="宋体" panose="02010600030101010101" pitchFamily="2" charset="-122"/>
              </a:rPr>
              <a:t>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max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&gt;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?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: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0903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带参数的方法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28F09E-0996-C204-3AB9-A18794D08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80" y="1725739"/>
            <a:ext cx="4915326" cy="563929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55A7C0FC-FC18-7193-9323-8AE61798472B}"/>
              </a:ext>
            </a:extLst>
          </p:cNvPr>
          <p:cNvSpPr txBox="1"/>
          <p:nvPr/>
        </p:nvSpPr>
        <p:spPr>
          <a:xfrm>
            <a:off x="870276" y="2470860"/>
            <a:ext cx="5796000" cy="332398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MethodDemo1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getMax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();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getMax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,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 {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max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&gt;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?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: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960A9F"/>
                </a:solidFill>
                <a:effectLst/>
                <a:latin typeface="Consolas" panose="020B0609020204030204" pitchFamily="49" charset="0"/>
                <a:ea typeface="宋体" panose="02010600030101010101" pitchFamily="2" charset="-122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0" name="Picture 2" descr="哈？？（猪猪问号）_猪猪_问号表情">
            <a:extLst>
              <a:ext uri="{FF2B5EF4-FFF2-40B4-BE49-F238E27FC236}">
                <a16:creationId xmlns:a16="http://schemas.microsoft.com/office/drawing/2014/main" id="{041C0103-1D1F-CD68-4BB3-CD5239F96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2704" y1="20852" x2="42704" y2="20852"/>
                        <a14:backgroundMark x1="43455" y1="22707" x2="21352" y2="25109"/>
                        <a14:backgroundMark x1="36159" y1="30349" x2="29828" y2="31004"/>
                        <a14:backgroundMark x1="43133" y1="27074" x2="30365" y2="27729"/>
                        <a14:backgroundMark x1="43133" y1="23581" x2="43991" y2="21179"/>
                        <a14:backgroundMark x1="41953" y1="22052" x2="39056" y2="21834"/>
                        <a14:backgroundMark x1="43991" y1="29148" x2="37876" y2="22707"/>
                        <a14:backgroundMark x1="51824" y1="19432" x2="47210" y2="180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7113" y="1065915"/>
            <a:ext cx="3496089" cy="3436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97B7249-4835-0F0C-26D6-A8103D9E8EFE}"/>
              </a:ext>
            </a:extLst>
          </p:cNvPr>
          <p:cNvSpPr/>
          <p:nvPr/>
        </p:nvSpPr>
        <p:spPr>
          <a:xfrm>
            <a:off x="7145101" y="2603666"/>
            <a:ext cx="2336800" cy="563929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Consolas" panose="020B0609020204030204" pitchFamily="49" charset="0"/>
              </a:rPr>
              <a:t>getMax</a:t>
            </a:r>
            <a:r>
              <a:rPr lang="en-US" altLang="zh-CN" dirty="0">
                <a:latin typeface="Consolas" panose="020B0609020204030204" pitchFamily="49" charset="0"/>
              </a:rPr>
              <a:t>(10,20);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pic>
        <p:nvPicPr>
          <p:cNvPr id="15" name="Picture 2" descr="哈？？（猪猪问号）_猪猪_问号表情">
            <a:extLst>
              <a:ext uri="{FF2B5EF4-FFF2-40B4-BE49-F238E27FC236}">
                <a16:creationId xmlns:a16="http://schemas.microsoft.com/office/drawing/2014/main" id="{7022E85C-1BC3-C1AD-30BE-E501A178C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2704" y1="20852" x2="42704" y2="20852"/>
                        <a14:backgroundMark x1="43455" y1="22707" x2="21352" y2="25109"/>
                        <a14:backgroundMark x1="36159" y1="30349" x2="29828" y2="31004"/>
                        <a14:backgroundMark x1="43133" y1="27074" x2="30365" y2="27729"/>
                        <a14:backgroundMark x1="43133" y1="23581" x2="43991" y2="21179"/>
                        <a14:backgroundMark x1="41953" y1="22052" x2="39056" y2="21834"/>
                        <a14:backgroundMark x1="43991" y1="29148" x2="37876" y2="22707"/>
                        <a14:backgroundMark x1="51824" y1="19432" x2="47210" y2="180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7113" y="3421571"/>
            <a:ext cx="3496089" cy="3436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AB93B60-C31F-39DA-59B9-8FE1B47BE866}"/>
              </a:ext>
            </a:extLst>
          </p:cNvPr>
          <p:cNvSpPr/>
          <p:nvPr/>
        </p:nvSpPr>
        <p:spPr>
          <a:xfrm>
            <a:off x="7174614" y="4887754"/>
            <a:ext cx="2336800" cy="563929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latin typeface="Consolas" panose="020B0609020204030204" pitchFamily="49" charset="0"/>
              </a:rPr>
              <a:t>getMax</a:t>
            </a:r>
            <a:r>
              <a:rPr lang="en-US" altLang="zh-CN" dirty="0">
                <a:latin typeface="Consolas" panose="020B0609020204030204" pitchFamily="49" charset="0"/>
              </a:rPr>
              <a:t>(30,40);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713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带参数的方法</a:t>
            </a:r>
            <a:endParaRPr kumimoji="1" lang="zh-CN" altLang="en-US" dirty="0"/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0BC916AD-BA98-984A-49B8-18921A53F17F}"/>
              </a:ext>
            </a:extLst>
          </p:cNvPr>
          <p:cNvSpPr txBox="1"/>
          <p:nvPr/>
        </p:nvSpPr>
        <p:spPr>
          <a:xfrm>
            <a:off x="842188" y="2571062"/>
            <a:ext cx="4665984" cy="102720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 void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方法名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solidFill>
                  <a:srgbClr val="6483BD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数据类型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变量名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  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// 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方法体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EABA67-2ACF-0546-62EE-4252FE1B8FFE}"/>
              </a:ext>
            </a:extLst>
          </p:cNvPr>
          <p:cNvSpPr txBox="1"/>
          <p:nvPr/>
        </p:nvSpPr>
        <p:spPr>
          <a:xfrm>
            <a:off x="710880" y="1871177"/>
            <a:ext cx="1439862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定义格式：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A37700-AAA2-0EE9-ACD8-AFE1240EA5C0}"/>
              </a:ext>
            </a:extLst>
          </p:cNvPr>
          <p:cNvSpPr txBox="1"/>
          <p:nvPr/>
        </p:nvSpPr>
        <p:spPr>
          <a:xfrm>
            <a:off x="710880" y="3990374"/>
            <a:ext cx="1439862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举例：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4A758C54-1F89-B58C-9420-D056D327A12D}"/>
              </a:ext>
            </a:extLst>
          </p:cNvPr>
          <p:cNvSpPr txBox="1"/>
          <p:nvPr/>
        </p:nvSpPr>
        <p:spPr>
          <a:xfrm>
            <a:off x="842189" y="4657447"/>
            <a:ext cx="4665983" cy="102720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 void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call (String name)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  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...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27060C84-98C3-2DAC-05B1-B1E60426F759}"/>
              </a:ext>
            </a:extLst>
          </p:cNvPr>
          <p:cNvSpPr txBox="1"/>
          <p:nvPr/>
        </p:nvSpPr>
        <p:spPr>
          <a:xfrm>
            <a:off x="5719666" y="2571062"/>
            <a:ext cx="6289454" cy="135037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 void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方法名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solidFill>
                  <a:srgbClr val="6483BD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数据类型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变量名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zh-CN" altLang="en-US" sz="1400" dirty="0">
                <a:solidFill>
                  <a:srgbClr val="6483BD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数据类型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变量名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2...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  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// 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方法体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327FBB4C-FB45-ECE4-38FC-378E65656DDD}"/>
              </a:ext>
            </a:extLst>
          </p:cNvPr>
          <p:cNvSpPr txBox="1"/>
          <p:nvPr/>
        </p:nvSpPr>
        <p:spPr>
          <a:xfrm>
            <a:off x="5719666" y="4657447"/>
            <a:ext cx="5517501" cy="102720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zh-CN" sz="140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40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 void</a:t>
            </a:r>
            <a:r>
              <a:rPr lang="zh-CN" altLang="zh-CN" sz="140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 (int a, int b)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  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...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5312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带参数的方法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AF5758-BF9E-90BC-8FC9-C7BBFF293921}"/>
              </a:ext>
            </a:extLst>
          </p:cNvPr>
          <p:cNvSpPr txBox="1"/>
          <p:nvPr/>
        </p:nvSpPr>
        <p:spPr>
          <a:xfrm>
            <a:off x="710880" y="1871177"/>
            <a:ext cx="1439862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调用格式：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AE01C8-3336-33B1-964B-87EDF48385E5}"/>
              </a:ext>
            </a:extLst>
          </p:cNvPr>
          <p:cNvSpPr txBox="1"/>
          <p:nvPr/>
        </p:nvSpPr>
        <p:spPr>
          <a:xfrm>
            <a:off x="710880" y="3275111"/>
            <a:ext cx="1439862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举例：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A65BBA81-925B-D8B9-1B77-56B6F793E5A1}"/>
              </a:ext>
            </a:extLst>
          </p:cNvPr>
          <p:cNvSpPr txBox="1"/>
          <p:nvPr/>
        </p:nvSpPr>
        <p:spPr>
          <a:xfrm>
            <a:off x="1497952" y="2418531"/>
            <a:ext cx="3816350" cy="38427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名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704F3CD7-BBA5-075A-6E1C-92247E6E9449}"/>
              </a:ext>
            </a:extLst>
          </p:cNvPr>
          <p:cNvSpPr txBox="1"/>
          <p:nvPr/>
        </p:nvSpPr>
        <p:spPr>
          <a:xfrm>
            <a:off x="1497952" y="3809895"/>
            <a:ext cx="3816350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call(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"钢门吹雪"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4DD701F4-7C05-7CE8-C720-7BE0C05A244C}"/>
              </a:ext>
            </a:extLst>
          </p:cNvPr>
          <p:cNvSpPr txBox="1"/>
          <p:nvPr/>
        </p:nvSpPr>
        <p:spPr>
          <a:xfrm>
            <a:off x="5584760" y="2405961"/>
            <a:ext cx="3816350" cy="38427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名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1, 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2);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329D17B8-FEC9-D522-70B7-9CCB04573546}"/>
              </a:ext>
            </a:extLst>
          </p:cNvPr>
          <p:cNvSpPr txBox="1"/>
          <p:nvPr/>
        </p:nvSpPr>
        <p:spPr>
          <a:xfrm>
            <a:off x="5584760" y="3809894"/>
            <a:ext cx="3816350" cy="30777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add(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);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986101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带参数的方法内存图解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6B84C0C-744C-C124-57E6-B858579649E1}"/>
              </a:ext>
            </a:extLst>
          </p:cNvPr>
          <p:cNvSpPr txBox="1"/>
          <p:nvPr/>
        </p:nvSpPr>
        <p:spPr>
          <a:xfrm>
            <a:off x="64947" y="1635973"/>
            <a:ext cx="5266977" cy="397031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MethodDemo2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getMax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  <a:ea typeface="JetBrains Mono"/>
              </a:rPr>
              <a:t>"--------"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getMax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30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40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getMax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num1,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num2) {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max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num1 &gt; num2 ? num1 : num2;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6E2FD1A6-7B0B-6BFB-8B24-CC5EEBDFFDA8}"/>
              </a:ext>
            </a:extLst>
          </p:cNvPr>
          <p:cNvGrpSpPr>
            <a:grpSpLocks/>
          </p:cNvGrpSpPr>
          <p:nvPr/>
        </p:nvGrpSpPr>
        <p:grpSpPr bwMode="auto">
          <a:xfrm>
            <a:off x="8336936" y="1759261"/>
            <a:ext cx="3827880" cy="4800601"/>
            <a:chOff x="4441895" y="1347668"/>
            <a:chExt cx="1771200" cy="3600177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BA9864E5-D651-1961-F195-DF08746DD66C}"/>
                </a:ext>
              </a:extLst>
            </p:cNvPr>
            <p:cNvSpPr/>
            <p:nvPr/>
          </p:nvSpPr>
          <p:spPr bwMode="auto">
            <a:xfrm>
              <a:off x="4472076" y="1350843"/>
              <a:ext cx="1728310" cy="3597002"/>
            </a:xfrm>
            <a:prstGeom prst="rect">
              <a:avLst/>
            </a:prstGeom>
            <a:solidFill>
              <a:srgbClr val="FD0000">
                <a:alpha val="10000"/>
              </a:srgbClr>
            </a:solidFill>
            <a:ln w="38100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 dirty="0"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8" name="TextBox 2">
              <a:extLst>
                <a:ext uri="{FF2B5EF4-FFF2-40B4-BE49-F238E27FC236}">
                  <a16:creationId xmlns:a16="http://schemas.microsoft.com/office/drawing/2014/main" id="{53B6698C-E0EA-1138-AA46-BD10519BC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8464" y="4457474"/>
              <a:ext cx="935038" cy="441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accent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栈内存</a:t>
              </a:r>
              <a:endParaRPr lang="en-US" altLang="zh-CN" sz="2400" b="1" dirty="0">
                <a:solidFill>
                  <a:schemeClr val="accent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F513771B-C6AF-E88C-B8C0-B2DB421CDEEE}"/>
                </a:ext>
              </a:extLst>
            </p:cNvPr>
            <p:cNvCxnSpPr/>
            <p:nvPr/>
          </p:nvCxnSpPr>
          <p:spPr>
            <a:xfrm>
              <a:off x="4448249" y="1347668"/>
              <a:ext cx="11119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A29255BE-8C91-2357-136C-3263A3293A66}"/>
                </a:ext>
              </a:extLst>
            </p:cNvPr>
            <p:cNvCxnSpPr/>
            <p:nvPr/>
          </p:nvCxnSpPr>
          <p:spPr>
            <a:xfrm>
              <a:off x="6184502" y="1350843"/>
              <a:ext cx="11120" cy="3597002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773BCE21-760A-290C-3203-C3164F43D3CB}"/>
                </a:ext>
              </a:extLst>
            </p:cNvPr>
            <p:cNvCxnSpPr/>
            <p:nvPr/>
          </p:nvCxnSpPr>
          <p:spPr>
            <a:xfrm flipH="1">
              <a:off x="4441895" y="4944670"/>
              <a:ext cx="1771200" cy="0"/>
            </a:xfrm>
            <a:prstGeom prst="line">
              <a:avLst/>
            </a:prstGeom>
            <a:ln w="381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C259FE2-27E0-B6C7-11ED-C5A1FC23BB02}"/>
              </a:ext>
            </a:extLst>
          </p:cNvPr>
          <p:cNvGrpSpPr>
            <a:grpSpLocks/>
          </p:cNvGrpSpPr>
          <p:nvPr/>
        </p:nvGrpSpPr>
        <p:grpSpPr bwMode="auto">
          <a:xfrm>
            <a:off x="5435813" y="4704672"/>
            <a:ext cx="2816339" cy="1869016"/>
            <a:chOff x="1828154" y="3579862"/>
            <a:chExt cx="2442792" cy="1400643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2A1D616-63BB-67C2-9B8A-3A3604323B1D}"/>
                </a:ext>
              </a:extLst>
            </p:cNvPr>
            <p:cNvSpPr/>
            <p:nvPr/>
          </p:nvSpPr>
          <p:spPr bwMode="auto">
            <a:xfrm>
              <a:off x="1837147" y="3579862"/>
              <a:ext cx="2400828" cy="1400643"/>
            </a:xfrm>
            <a:prstGeom prst="rect">
              <a:avLst/>
            </a:prstGeom>
            <a:solidFill>
              <a:srgbClr val="92D050">
                <a:alpha val="10000"/>
              </a:srgbClr>
            </a:solidFill>
            <a:ln w="38100">
              <a:solidFill>
                <a:srgbClr val="92D05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>
                <a:solidFill>
                  <a:srgbClr val="92D05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15" name="TextBox 2">
              <a:extLst>
                <a:ext uri="{FF2B5EF4-FFF2-40B4-BE49-F238E27FC236}">
                  <a16:creationId xmlns:a16="http://schemas.microsoft.com/office/drawing/2014/main" id="{64F87D8E-0251-7E87-4B7C-6515628856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154" y="4521848"/>
              <a:ext cx="2442792" cy="4406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zh-CN" altLang="en-US" sz="2400" b="1">
                  <a:solidFill>
                    <a:srgbClr val="92D05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rPr>
                <a:t>方法区</a:t>
              </a:r>
            </a:p>
          </p:txBody>
        </p:sp>
      </p:grpSp>
      <p:sp>
        <p:nvSpPr>
          <p:cNvPr id="16" name="TextBox 3">
            <a:extLst>
              <a:ext uri="{FF2B5EF4-FFF2-40B4-BE49-F238E27FC236}">
                <a16:creationId xmlns:a16="http://schemas.microsoft.com/office/drawing/2014/main" id="{918371A4-34E5-A582-5D38-2EDC72FB5A8F}"/>
              </a:ext>
            </a:extLst>
          </p:cNvPr>
          <p:cNvSpPr txBox="1"/>
          <p:nvPr/>
        </p:nvSpPr>
        <p:spPr>
          <a:xfrm>
            <a:off x="5568978" y="4859188"/>
            <a:ext cx="2522307" cy="1015663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MethodDemo2.class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200" kern="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getMax</a:t>
            </a: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A0D7C055-6F27-16F1-156A-9B2C43C0FC46}"/>
              </a:ext>
            </a:extLst>
          </p:cNvPr>
          <p:cNvSpPr txBox="1"/>
          <p:nvPr/>
        </p:nvSpPr>
        <p:spPr>
          <a:xfrm>
            <a:off x="8480639" y="4376646"/>
            <a:ext cx="3526814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1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main</a:t>
            </a: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DDB8F7E-A6C0-C769-5619-112D85A795D7}"/>
              </a:ext>
            </a:extLst>
          </p:cNvPr>
          <p:cNvSpPr txBox="1"/>
          <p:nvPr/>
        </p:nvSpPr>
        <p:spPr>
          <a:xfrm>
            <a:off x="5448561" y="1849087"/>
            <a:ext cx="1930161" cy="338554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FA51A71-3DEE-A47E-449F-C13DFF8FA3A5}"/>
              </a:ext>
            </a:extLst>
          </p:cNvPr>
          <p:cNvSpPr txBox="1"/>
          <p:nvPr/>
        </p:nvSpPr>
        <p:spPr>
          <a:xfrm>
            <a:off x="8471030" y="4704672"/>
            <a:ext cx="1576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4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getMax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2" name="TextBox 3">
            <a:extLst>
              <a:ext uri="{FF2B5EF4-FFF2-40B4-BE49-F238E27FC236}">
                <a16:creationId xmlns:a16="http://schemas.microsoft.com/office/drawing/2014/main" id="{A6894A65-1FFE-4AFB-EE29-491CBAB70032}"/>
              </a:ext>
            </a:extLst>
          </p:cNvPr>
          <p:cNvSpPr txBox="1"/>
          <p:nvPr/>
        </p:nvSpPr>
        <p:spPr>
          <a:xfrm>
            <a:off x="8489185" y="2244119"/>
            <a:ext cx="3526814" cy="196977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getMax</a:t>
            </a: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257E054-9CF5-888E-1A0C-609628F37CB0}"/>
              </a:ext>
            </a:extLst>
          </p:cNvPr>
          <p:cNvSpPr/>
          <p:nvPr/>
        </p:nvSpPr>
        <p:spPr>
          <a:xfrm>
            <a:off x="8592938" y="3405871"/>
            <a:ext cx="3243161" cy="299938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max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JetBrains Mono"/>
              </a:rPr>
              <a:t>num1 &gt; num2 ? num2 : num2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CFBC54B-2976-253A-9281-D6147FC96544}"/>
              </a:ext>
            </a:extLst>
          </p:cNvPr>
          <p:cNvSpPr/>
          <p:nvPr/>
        </p:nvSpPr>
        <p:spPr>
          <a:xfrm>
            <a:off x="8592938" y="2996400"/>
            <a:ext cx="3243161" cy="299938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CD25D86-5B98-99A7-7F88-F5824AC7861C}"/>
              </a:ext>
            </a:extLst>
          </p:cNvPr>
          <p:cNvSpPr/>
          <p:nvPr/>
        </p:nvSpPr>
        <p:spPr>
          <a:xfrm>
            <a:off x="8592938" y="2602865"/>
            <a:ext cx="3243161" cy="299938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9AED7F0-4F87-6B82-A66E-F6293488C65A}"/>
              </a:ext>
            </a:extLst>
          </p:cNvPr>
          <p:cNvSpPr txBox="1"/>
          <p:nvPr/>
        </p:nvSpPr>
        <p:spPr>
          <a:xfrm>
            <a:off x="9162347" y="4704672"/>
            <a:ext cx="383438" cy="307777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pPr marL="0" marR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10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8CF1676-C02C-4DB3-B0B4-5CA7E8DAE8B2}"/>
              </a:ext>
            </a:extLst>
          </p:cNvPr>
          <p:cNvSpPr txBox="1"/>
          <p:nvPr/>
        </p:nvSpPr>
        <p:spPr>
          <a:xfrm>
            <a:off x="9453788" y="4704672"/>
            <a:ext cx="383438" cy="307777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pPr marL="0" marR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2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AA5EAC4-E34B-D644-958B-1788CE397816}"/>
              </a:ext>
            </a:extLst>
          </p:cNvPr>
          <p:cNvSpPr txBox="1"/>
          <p:nvPr/>
        </p:nvSpPr>
        <p:spPr>
          <a:xfrm>
            <a:off x="8543678" y="3845675"/>
            <a:ext cx="2569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max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849107C-B742-A6D2-5C9A-B986CFFA40BB}"/>
              </a:ext>
            </a:extLst>
          </p:cNvPr>
          <p:cNvSpPr txBox="1"/>
          <p:nvPr/>
        </p:nvSpPr>
        <p:spPr>
          <a:xfrm>
            <a:off x="8489185" y="5074047"/>
            <a:ext cx="3265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JetBrains Mono"/>
              </a:rPr>
              <a:t>System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</a:t>
            </a:r>
            <a:r>
              <a:rPr lang="zh-CN" altLang="zh-CN" sz="1400" i="1" dirty="0">
                <a:solidFill>
                  <a:srgbClr val="871094"/>
                </a:solidFill>
                <a:latin typeface="Consolas" panose="020B0609020204030204" pitchFamily="49" charset="0"/>
                <a:ea typeface="JetBrains Mono"/>
              </a:rPr>
              <a:t>out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zh-CN" altLang="zh-CN" sz="1400" dirty="0">
                <a:solidFill>
                  <a:srgbClr val="067D17"/>
                </a:solidFill>
                <a:latin typeface="Consolas" panose="020B0609020204030204" pitchFamily="49" charset="0"/>
                <a:ea typeface="JetBrains Mono"/>
              </a:rPr>
              <a:t>"--------"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7D1E57E-3FA6-55CA-1197-AF7527971700}"/>
              </a:ext>
            </a:extLst>
          </p:cNvPr>
          <p:cNvSpPr txBox="1"/>
          <p:nvPr/>
        </p:nvSpPr>
        <p:spPr>
          <a:xfrm>
            <a:off x="5448561" y="1849087"/>
            <a:ext cx="1930161" cy="584775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</a:t>
            </a:r>
          </a:p>
          <a:p>
            <a:r>
              <a:rPr lang="zh-CN" altLang="zh-CN" sz="1600" dirty="0">
                <a:solidFill>
                  <a:srgbClr val="F9F9F9"/>
                </a:solidFill>
                <a:latin typeface="Consolas" panose="020B0609020204030204" pitchFamily="49" charset="0"/>
                <a:ea typeface="JetBrains Mono"/>
              </a:rPr>
              <a:t>--------</a:t>
            </a:r>
            <a:endParaRPr lang="en-US" altLang="zh-CN" sz="1600" b="1" dirty="0">
              <a:solidFill>
                <a:srgbClr val="F9F9F9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C13097A-9258-246C-3402-FD9D8B39FB3A}"/>
              </a:ext>
            </a:extLst>
          </p:cNvPr>
          <p:cNvSpPr txBox="1"/>
          <p:nvPr/>
        </p:nvSpPr>
        <p:spPr>
          <a:xfrm>
            <a:off x="8471030" y="5428240"/>
            <a:ext cx="1576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zh-CN" sz="1400" i="1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getMax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(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3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,</a:t>
            </a: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4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4" name="TextBox 3">
            <a:extLst>
              <a:ext uri="{FF2B5EF4-FFF2-40B4-BE49-F238E27FC236}">
                <a16:creationId xmlns:a16="http://schemas.microsoft.com/office/drawing/2014/main" id="{B9051019-1DFC-D92F-EBCD-7AA8BA6BD993}"/>
              </a:ext>
            </a:extLst>
          </p:cNvPr>
          <p:cNvSpPr txBox="1"/>
          <p:nvPr/>
        </p:nvSpPr>
        <p:spPr>
          <a:xfrm>
            <a:off x="8489185" y="2244119"/>
            <a:ext cx="3526814" cy="196977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1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getMax</a:t>
            </a: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endParaRPr lang="en-US" altLang="zh-CN" sz="1200" kern="1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5FA0E25-5BF5-E78C-CEB3-CA039AA92ECC}"/>
              </a:ext>
            </a:extLst>
          </p:cNvPr>
          <p:cNvSpPr/>
          <p:nvPr/>
        </p:nvSpPr>
        <p:spPr>
          <a:xfrm>
            <a:off x="8543678" y="3454967"/>
            <a:ext cx="3243161" cy="299938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max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  <a:ea typeface="JetBrains Mono"/>
              </a:rPr>
              <a:t>num1 &gt; num2 ? num1 : num2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1CC86C8-A39C-20DA-16DB-158CA3731187}"/>
              </a:ext>
            </a:extLst>
          </p:cNvPr>
          <p:cNvSpPr/>
          <p:nvPr/>
        </p:nvSpPr>
        <p:spPr>
          <a:xfrm>
            <a:off x="8543678" y="3045496"/>
            <a:ext cx="3243161" cy="299938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num2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5D478BD-E98D-1B11-D2AE-C5BE418F3E37}"/>
              </a:ext>
            </a:extLst>
          </p:cNvPr>
          <p:cNvSpPr/>
          <p:nvPr/>
        </p:nvSpPr>
        <p:spPr>
          <a:xfrm>
            <a:off x="8543678" y="2651961"/>
            <a:ext cx="3243161" cy="299938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en-US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num1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</a:t>
            </a:r>
            <a:r>
              <a:rPr lang="en-US" altLang="zh-CN" sz="12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  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;</a:t>
            </a:r>
            <a:endParaRPr lang="zh-CN" altLang="en-US" sz="1200" dirty="0">
              <a:latin typeface="Consolas" panose="020B0609020204030204" pitchFamily="49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4982768-D64F-D55C-534E-42A423AAEBB3}"/>
              </a:ext>
            </a:extLst>
          </p:cNvPr>
          <p:cNvSpPr txBox="1"/>
          <p:nvPr/>
        </p:nvSpPr>
        <p:spPr>
          <a:xfrm>
            <a:off x="9159415" y="5424775"/>
            <a:ext cx="383438" cy="307777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pPr marL="0" marR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30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D40B872-DB0A-5C96-68F2-4CCCE0AEFE0C}"/>
              </a:ext>
            </a:extLst>
          </p:cNvPr>
          <p:cNvSpPr txBox="1"/>
          <p:nvPr/>
        </p:nvSpPr>
        <p:spPr>
          <a:xfrm>
            <a:off x="9455391" y="5426671"/>
            <a:ext cx="383438" cy="307777"/>
          </a:xfrm>
          <a:prstGeom prst="rect">
            <a:avLst/>
          </a:prstGeom>
          <a:noFill/>
          <a:ln w="12700">
            <a:noFill/>
          </a:ln>
        </p:spPr>
        <p:txBody>
          <a:bodyPr wrap="none" rtlCol="0">
            <a:spAutoFit/>
          </a:bodyPr>
          <a:lstStyle/>
          <a:p>
            <a:pPr marL="0" marR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400" dirty="0">
                <a:solidFill>
                  <a:srgbClr val="1750EB"/>
                </a:solidFill>
                <a:latin typeface="Consolas" panose="020B0609020204030204" pitchFamily="49" charset="0"/>
                <a:ea typeface="JetBrains Mono"/>
              </a:rPr>
              <a:t>40</a:t>
            </a:r>
            <a:endParaRPr kumimoji="0" lang="zh-CN" altLang="en-US" sz="1400" b="0" i="0" u="none" strike="noStrike" cap="none" normalizeH="0" baseline="0" dirty="0">
              <a:ln>
                <a:noFill/>
              </a:ln>
              <a:solidFill>
                <a:srgbClr val="0033B3"/>
              </a:solidFill>
              <a:effectLst/>
              <a:latin typeface="Consolas" panose="020B0609020204030204" pitchFamily="49" charset="0"/>
              <a:ea typeface="JetBrains Mono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644A7B2-293F-91C9-69B7-559151CF3F64}"/>
              </a:ext>
            </a:extLst>
          </p:cNvPr>
          <p:cNvSpPr txBox="1"/>
          <p:nvPr/>
        </p:nvSpPr>
        <p:spPr>
          <a:xfrm>
            <a:off x="8552259" y="3846459"/>
            <a:ext cx="25699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JetBrains Mono"/>
              </a:rPr>
              <a:t>max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785218F-E418-DD62-2456-C55C302A3CBB}"/>
              </a:ext>
            </a:extLst>
          </p:cNvPr>
          <p:cNvSpPr txBox="1"/>
          <p:nvPr/>
        </p:nvSpPr>
        <p:spPr>
          <a:xfrm>
            <a:off x="5448561" y="1849087"/>
            <a:ext cx="1930161" cy="830997"/>
          </a:xfrm>
          <a:prstGeom prst="rect">
            <a:avLst/>
          </a:prstGeom>
          <a:solidFill>
            <a:srgbClr val="0C0C0C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20</a:t>
            </a:r>
          </a:p>
          <a:p>
            <a:r>
              <a:rPr lang="zh-CN" altLang="zh-CN" sz="1600" dirty="0">
                <a:solidFill>
                  <a:srgbClr val="F9F9F9"/>
                </a:solidFill>
                <a:latin typeface="Consolas" panose="020B0609020204030204" pitchFamily="49" charset="0"/>
                <a:ea typeface="JetBrains Mono"/>
              </a:rPr>
              <a:t>--------</a:t>
            </a:r>
            <a:endParaRPr lang="en-US" altLang="zh-CN" sz="1600" dirty="0">
              <a:solidFill>
                <a:srgbClr val="F9F9F9"/>
              </a:solidFill>
              <a:latin typeface="Consolas" panose="020B0609020204030204" pitchFamily="49" charset="0"/>
              <a:ea typeface="JetBrains Mono"/>
            </a:endParaRPr>
          </a:p>
          <a:p>
            <a:r>
              <a:rPr lang="en-US" altLang="zh-CN" sz="1600" b="1" dirty="0">
                <a:solidFill>
                  <a:srgbClr val="F9F9F9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40</a:t>
            </a:r>
            <a:endParaRPr lang="en-US" altLang="zh-CN" sz="1600" b="1" dirty="0">
              <a:solidFill>
                <a:srgbClr val="F9F9F9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74234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33333E-6 L 0.02812 -0.30602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6" y="-15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3.33333E-6 L 0.00416 -0.24953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8" y="-1247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1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42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4.07407E-6 L 0.02435 -0.4051 " pathEditMode="relative" rAng="0" ptsTypes="AA">
                                      <p:cBhvr>
                                        <p:cTn id="124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1" y="-20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2.59259E-6 L 3.95833E-6 -0.34722 " pathEditMode="relative" rAng="0" ptsTypes="AA">
                                      <p:cBhvr>
                                        <p:cTn id="13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73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2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3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2" presetClass="exit" presetSubtype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7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8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6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17" grpId="0" animBg="1"/>
      <p:bldP spid="17" grpId="1" animBg="1"/>
      <p:bldP spid="18" grpId="0" animBg="1"/>
      <p:bldP spid="19" grpId="0"/>
      <p:bldP spid="19" grpId="1"/>
      <p:bldP spid="22" grpId="0" animBg="1"/>
      <p:bldP spid="22" grpId="1" animBg="1"/>
      <p:bldP spid="22" grpId="2" animBg="1"/>
      <p:bldP spid="23" grpId="0" animBg="1"/>
      <p:bldP spid="23" grpId="1" animBg="1"/>
      <p:bldP spid="23" grpId="2" animBg="1"/>
      <p:bldP spid="24" grpId="0" animBg="1"/>
      <p:bldP spid="24" grpId="1" animBg="1"/>
      <p:bldP spid="24" grpId="2" animBg="1"/>
      <p:bldP spid="25" grpId="0" animBg="1"/>
      <p:bldP spid="25" grpId="1" animBg="1"/>
      <p:bldP spid="25" grpId="2" animBg="1"/>
      <p:bldP spid="28" grpId="0"/>
      <p:bldP spid="28" grpId="1"/>
      <p:bldP spid="28" grpId="2"/>
      <p:bldP spid="28" grpId="3"/>
      <p:bldP spid="29" grpId="0"/>
      <p:bldP spid="29" grpId="1"/>
      <p:bldP spid="29" grpId="2"/>
      <p:bldP spid="29" grpId="3"/>
      <p:bldP spid="30" grpId="0"/>
      <p:bldP spid="30" grpId="1"/>
      <p:bldP spid="30" grpId="2"/>
      <p:bldP spid="31" grpId="0"/>
      <p:bldP spid="31" grpId="1"/>
      <p:bldP spid="32" grpId="0" animBg="1"/>
      <p:bldP spid="33" grpId="0"/>
      <p:bldP spid="33" grpId="1"/>
      <p:bldP spid="34" grpId="0" animBg="1"/>
      <p:bldP spid="34" grpId="1" animBg="1"/>
      <p:bldP spid="34" grpId="2" animBg="1"/>
      <p:bldP spid="35" grpId="0" animBg="1"/>
      <p:bldP spid="35" grpId="1" animBg="1"/>
      <p:bldP spid="35" grpId="2" animBg="1"/>
      <p:bldP spid="36" grpId="0" animBg="1"/>
      <p:bldP spid="36" grpId="1" animBg="1"/>
      <p:bldP spid="36" grpId="2" animBg="1"/>
      <p:bldP spid="37" grpId="0" animBg="1"/>
      <p:bldP spid="37" grpId="1" animBg="1"/>
      <p:bldP spid="37" grpId="2" animBg="1"/>
      <p:bldP spid="38" grpId="0"/>
      <p:bldP spid="38" grpId="1"/>
      <p:bldP spid="38" grpId="2"/>
      <p:bldP spid="38" grpId="3"/>
      <p:bldP spid="39" grpId="0"/>
      <p:bldP spid="39" grpId="1"/>
      <p:bldP spid="39" grpId="2"/>
      <p:bldP spid="39" grpId="3"/>
      <p:bldP spid="41" grpId="0"/>
      <p:bldP spid="41" grpId="1"/>
      <p:bldP spid="41" grpId="2"/>
      <p:bldP spid="4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形参和实参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490C95-132B-FE43-FE3A-3ADD9E33DF12}"/>
              </a:ext>
            </a:extLst>
          </p:cNvPr>
          <p:cNvSpPr txBox="1"/>
          <p:nvPr/>
        </p:nvSpPr>
        <p:spPr>
          <a:xfrm>
            <a:off x="671153" y="1138883"/>
            <a:ext cx="6744413" cy="1164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形参：全称形式参数，是指在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方法时，所声明的参数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实参：全称实际参数，</a:t>
            </a:r>
            <a:r>
              <a:rPr lang="zh-CN" altLang="en-US" sz="16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方法时，所传入的参数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546D778-2E61-5081-BBEA-EAC4ACB3A634}"/>
              </a:ext>
            </a:extLst>
          </p:cNvPr>
          <p:cNvSpPr txBox="1"/>
          <p:nvPr/>
        </p:nvSpPr>
        <p:spPr>
          <a:xfrm>
            <a:off x="671153" y="2792841"/>
            <a:ext cx="6664960" cy="3323987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class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MethodDemo2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{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main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String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[] args) {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getMax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10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,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  <a:ea typeface="JetBrains Mono"/>
              </a:rPr>
              <a:t>20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public static void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  <a:ea typeface="JetBrains Mono"/>
              </a:rPr>
              <a:t>getMax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num1,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num2) {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  <a:ea typeface="JetBrains Mono"/>
              </a:rPr>
              <a:t>int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max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= num1 &gt; num2 ? num1 : num2;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    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System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</a:t>
            </a:r>
            <a:r>
              <a:rPr kumimoji="0" lang="zh-CN" altLang="zh-CN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  <a:ea typeface="JetBrains Mono"/>
              </a:rPr>
              <a:t>out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.println(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ea typeface="JetBrains Mono"/>
              </a:rPr>
              <a:t>max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);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Consolas" panose="020B0609020204030204" pitchFamily="49" charset="0"/>
              <a:ea typeface="JetBrains Mono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    }</a:t>
            </a:r>
            <a:b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</a:b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  <a:ea typeface="JetBrains Mono"/>
              </a:rPr>
              <a:t>}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6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6C46D-A020-9C3E-F3D8-DA699A601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5E1163C-16D9-1E5E-A265-D2749DED1C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带参数的方法可以提高方法的灵活性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形参：方法定义时声明的参数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实参：方法调用时传入的参数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D2AC298C-6514-2CC4-2CB9-A7C35E9B4F9A}"/>
              </a:ext>
            </a:extLst>
          </p:cNvPr>
          <p:cNvSpPr txBox="1">
            <a:spLocks/>
          </p:cNvSpPr>
          <p:nvPr/>
        </p:nvSpPr>
        <p:spPr>
          <a:xfrm>
            <a:off x="627753" y="244189"/>
            <a:ext cx="8771021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endParaRPr kumimoji="1"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Alibaba PuHuiTi B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597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18330-62FC-9263-05E7-B193B40E7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904B628-9D16-66C0-DEE7-0857DCE78E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/>
              <a:t>方法的介绍</a:t>
            </a:r>
            <a:endParaRPr lang="en-US" altLang="zh-CN" dirty="0"/>
          </a:p>
          <a:p>
            <a:r>
              <a:rPr lang="zh-CN" altLang="en-US" dirty="0"/>
              <a:t>方法的基本定义和调用</a:t>
            </a:r>
            <a:endParaRPr lang="en-US" altLang="zh-CN" dirty="0"/>
          </a:p>
          <a:p>
            <a:r>
              <a:rPr lang="zh-CN" altLang="en-US" dirty="0"/>
              <a:t>方法的执行流程</a:t>
            </a:r>
            <a:endParaRPr lang="en-US" altLang="zh-CN" dirty="0"/>
          </a:p>
          <a:p>
            <a:r>
              <a:rPr lang="zh-CN" altLang="en-US" dirty="0"/>
              <a:t>带参数的方法</a:t>
            </a:r>
            <a:endParaRPr lang="en-US" altLang="zh-CN" dirty="0"/>
          </a:p>
          <a:p>
            <a:r>
              <a:rPr lang="zh-CN" altLang="en-US" dirty="0"/>
              <a:t>带返回值的方法</a:t>
            </a:r>
            <a:endParaRPr lang="en-US" altLang="zh-CN" dirty="0"/>
          </a:p>
          <a:p>
            <a:r>
              <a:rPr lang="zh-CN" altLang="en-US" dirty="0"/>
              <a:t>方法通用定义格式</a:t>
            </a:r>
            <a:endParaRPr lang="en-US" altLang="zh-CN" dirty="0"/>
          </a:p>
          <a:p>
            <a:r>
              <a:rPr lang="zh-CN" altLang="en-US" dirty="0"/>
              <a:t>方法注意事项</a:t>
            </a:r>
            <a:endParaRPr lang="en-US" altLang="zh-CN" dirty="0"/>
          </a:p>
          <a:p>
            <a:r>
              <a:rPr lang="zh-CN" altLang="en-US" dirty="0"/>
              <a:t>方法重载</a:t>
            </a:r>
            <a:endParaRPr lang="en-US" altLang="zh-CN" dirty="0"/>
          </a:p>
          <a:p>
            <a:r>
              <a:rPr lang="en-US" altLang="zh-CN" dirty="0"/>
              <a:t>IDEA </a:t>
            </a:r>
            <a:r>
              <a:rPr lang="zh-CN" altLang="en-US" dirty="0"/>
              <a:t>安装</a:t>
            </a:r>
            <a:r>
              <a:rPr lang="en-US" altLang="zh-CN" dirty="0"/>
              <a:t> AI </a:t>
            </a:r>
            <a:r>
              <a:rPr lang="zh-CN" altLang="en-US" dirty="0"/>
              <a:t>插件</a:t>
            </a:r>
          </a:p>
        </p:txBody>
      </p:sp>
    </p:spTree>
    <p:extLst>
      <p:ext uri="{BB962C8B-B14F-4D97-AF65-F5344CB8AC3E}">
        <p14:creationId xmlns:p14="http://schemas.microsoft.com/office/powerpoint/2010/main" val="3914897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BD2C5-8210-4D8B-CB97-74353EA35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DDCE15-19AF-4277-87E8-F08E963E6FF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带返回值的方法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F92D53A9-99C0-5233-402F-022C0D51BF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0881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带返回值的方法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623AB08-7FC4-3F2C-BA5E-62E7FC9A8521}"/>
              </a:ext>
            </a:extLst>
          </p:cNvPr>
          <p:cNvSpPr txBox="1"/>
          <p:nvPr/>
        </p:nvSpPr>
        <p:spPr>
          <a:xfrm>
            <a:off x="576626" y="1098784"/>
            <a:ext cx="93394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A 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方法产生的数据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,  B 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方法想要使用的话</a:t>
            </a:r>
            <a:r>
              <a:rPr lang="en-US" altLang="zh-CN" sz="2400" b="1" dirty="0">
                <a:solidFill>
                  <a:schemeClr val="tx1">
                    <a:lumMod val="50000"/>
                  </a:schemeClr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, </a:t>
            </a:r>
            <a:r>
              <a:rPr lang="zh-CN" altLang="en-US" sz="2400" b="1" dirty="0">
                <a:solidFill>
                  <a:schemeClr val="tx1">
                    <a:lumMod val="50000"/>
                  </a:schemeClr>
                </a:solidFill>
                <a:latin typeface="杨任东竹石体-Heavy" panose="02000000000000000000" pitchFamily="2" charset="-122"/>
                <a:ea typeface="杨任东竹石体-Heavy" panose="02000000000000000000" pitchFamily="2" charset="-122"/>
              </a:rPr>
              <a:t> 就需要定义带返回值的方法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A0A34080-01B2-4F35-A6DF-17BAF1A4ECCB}"/>
              </a:ext>
            </a:extLst>
          </p:cNvPr>
          <p:cNvGrpSpPr/>
          <p:nvPr/>
        </p:nvGrpSpPr>
        <p:grpSpPr>
          <a:xfrm>
            <a:off x="576626" y="1994442"/>
            <a:ext cx="5204307" cy="1614063"/>
            <a:chOff x="2297720" y="3660322"/>
            <a:chExt cx="5734179" cy="1614158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36C2EABA-138D-5C99-3D2C-5F4CCE0CA029}"/>
                </a:ext>
              </a:extLst>
            </p:cNvPr>
            <p:cNvSpPr/>
            <p:nvPr/>
          </p:nvSpPr>
          <p:spPr>
            <a:xfrm>
              <a:off x="2297727" y="3660325"/>
              <a:ext cx="5734172" cy="1614155"/>
            </a:xfrm>
            <a:prstGeom prst="roundRect">
              <a:avLst>
                <a:gd name="adj" fmla="val 72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</a:t>
              </a:r>
              <a:r>
                <a:rPr lang="en-US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static void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1200" dirty="0" err="1">
                  <a:solidFill>
                    <a:srgbClr val="000000"/>
                  </a:solidFill>
                  <a:latin typeface="Consolas" panose="020B0609020204030204" pitchFamily="49" charset="0"/>
                  <a:ea typeface="思源黑体 CN Normal" panose="020B0400000000000000" pitchFamily="34" charset="-122"/>
                </a:rPr>
                <a:t>methodA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思源黑体 CN Normal" panose="020B0400000000000000" pitchFamily="34" charset="-122"/>
                </a:rPr>
                <a:t> (</a:t>
              </a:r>
              <a:r>
                <a:rPr lang="en-US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int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思源黑体 CN Normal" panose="020B0400000000000000" pitchFamily="34" charset="-122"/>
                </a:rPr>
                <a:t> a, </a:t>
              </a:r>
              <a:r>
                <a:rPr lang="en-US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int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思源黑体 CN Normal" panose="020B0400000000000000" pitchFamily="34" charset="-122"/>
                </a:rPr>
                <a:t> b)</a:t>
              </a:r>
              <a:r>
                <a:rPr lang="zh-CN" altLang="zh-CN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{ </a:t>
              </a:r>
              <a:endParaRPr lang="en-US" altLang="zh-CN" sz="1200" dirty="0">
                <a:solidFill>
                  <a:srgbClr val="080808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int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sum = a + b;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endParaRPr lang="en-US" altLang="zh-CN" sz="1200" dirty="0">
                <a:solidFill>
                  <a:srgbClr val="080808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...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endParaRPr lang="zh-CN" altLang="zh-CN" sz="1200" dirty="0"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endParaRPr lang="en-US" altLang="zh-CN" sz="1200" dirty="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5" name="矩形: 圆顶角 4">
              <a:extLst>
                <a:ext uri="{FF2B5EF4-FFF2-40B4-BE49-F238E27FC236}">
                  <a16:creationId xmlns:a16="http://schemas.microsoft.com/office/drawing/2014/main" id="{26F8C40B-B370-4E5E-7ED1-AEE9FB065DE4}"/>
                </a:ext>
              </a:extLst>
            </p:cNvPr>
            <p:cNvSpPr/>
            <p:nvPr/>
          </p:nvSpPr>
          <p:spPr>
            <a:xfrm>
              <a:off x="2297720" y="3660322"/>
              <a:ext cx="573417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B3879322-0514-8AD0-1A1E-6399E184194B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5D836BD-68F0-8D26-A444-B8F85CC729D8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8536614F-E857-6CF3-275B-DDA18128F951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2">
            <a:extLst>
              <a:ext uri="{FF2B5EF4-FFF2-40B4-BE49-F238E27FC236}">
                <a16:creationId xmlns:a16="http://schemas.microsoft.com/office/drawing/2014/main" id="{3146D1EF-01BE-B569-FDF2-8513F287D9E3}"/>
              </a:ext>
            </a:extLst>
          </p:cNvPr>
          <p:cNvGrpSpPr/>
          <p:nvPr/>
        </p:nvGrpSpPr>
        <p:grpSpPr>
          <a:xfrm>
            <a:off x="6096000" y="1994442"/>
            <a:ext cx="5204307" cy="1614063"/>
            <a:chOff x="2297720" y="3660322"/>
            <a:chExt cx="5734179" cy="1614158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C78DFDBD-E5A8-4123-46AC-539C6243D352}"/>
                </a:ext>
              </a:extLst>
            </p:cNvPr>
            <p:cNvSpPr/>
            <p:nvPr/>
          </p:nvSpPr>
          <p:spPr>
            <a:xfrm>
              <a:off x="2297727" y="3660325"/>
              <a:ext cx="5734172" cy="1614155"/>
            </a:xfrm>
            <a:prstGeom prst="roundRect">
              <a:avLst>
                <a:gd name="adj" fmla="val 72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</a:t>
              </a:r>
              <a:r>
                <a:rPr lang="en-US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static void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1200" dirty="0" err="1">
                  <a:solidFill>
                    <a:srgbClr val="000000"/>
                  </a:solidFill>
                  <a:latin typeface="Consolas" panose="020B0609020204030204" pitchFamily="49" charset="0"/>
                  <a:ea typeface="思源黑体 CN Normal" panose="020B0400000000000000" pitchFamily="34" charset="-122"/>
                </a:rPr>
                <a:t>methodB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思源黑体 CN Normal" panose="020B0400000000000000" pitchFamily="34" charset="-122"/>
                </a:rPr>
                <a:t> ()</a:t>
              </a:r>
              <a:r>
                <a:rPr lang="zh-CN" altLang="zh-CN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{ </a:t>
              </a:r>
              <a:endParaRPr lang="en-US" altLang="zh-CN" sz="1200" dirty="0">
                <a:solidFill>
                  <a:srgbClr val="080808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zh-CN" sz="1200" dirty="0" err="1">
                  <a:solidFill>
                    <a:srgbClr val="080808"/>
                  </a:solidFill>
                  <a:latin typeface="Consolas" panose="020B0609020204030204" pitchFamily="49" charset="0"/>
                </a:rPr>
                <a:t>System.out.println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(sum % 2 == 0);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endParaRPr lang="zh-CN" altLang="zh-CN" sz="1200" dirty="0"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endParaRPr lang="en-US" altLang="zh-CN" sz="1200" dirty="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13" name="矩形: 圆顶角 12">
              <a:extLst>
                <a:ext uri="{FF2B5EF4-FFF2-40B4-BE49-F238E27FC236}">
                  <a16:creationId xmlns:a16="http://schemas.microsoft.com/office/drawing/2014/main" id="{64A3FC32-7DF0-7DDB-BC17-BAE46A703EEF}"/>
                </a:ext>
              </a:extLst>
            </p:cNvPr>
            <p:cNvSpPr/>
            <p:nvPr/>
          </p:nvSpPr>
          <p:spPr>
            <a:xfrm>
              <a:off x="2297720" y="3660322"/>
              <a:ext cx="573417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7E7CF596-D6CD-3BEF-9A66-57D76F0C56E7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BEC847FC-046C-0591-8A58-2960594CA079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A5055C7E-D657-8CDA-7C4A-EC64C321F07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2">
            <a:extLst>
              <a:ext uri="{FF2B5EF4-FFF2-40B4-BE49-F238E27FC236}">
                <a16:creationId xmlns:a16="http://schemas.microsoft.com/office/drawing/2014/main" id="{0F73C566-8AA1-B8F1-5063-BA5DF72568D1}"/>
              </a:ext>
            </a:extLst>
          </p:cNvPr>
          <p:cNvGrpSpPr/>
          <p:nvPr/>
        </p:nvGrpSpPr>
        <p:grpSpPr>
          <a:xfrm>
            <a:off x="576626" y="4099403"/>
            <a:ext cx="5204307" cy="1614063"/>
            <a:chOff x="2297720" y="3660322"/>
            <a:chExt cx="5734179" cy="1614158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BF0F7F57-E957-C239-9EC6-A567DBE99DAD}"/>
                </a:ext>
              </a:extLst>
            </p:cNvPr>
            <p:cNvSpPr/>
            <p:nvPr/>
          </p:nvSpPr>
          <p:spPr>
            <a:xfrm>
              <a:off x="2297727" y="3660325"/>
              <a:ext cx="5734172" cy="1614155"/>
            </a:xfrm>
            <a:prstGeom prst="roundRect">
              <a:avLst>
                <a:gd name="adj" fmla="val 72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</a:t>
              </a:r>
              <a:r>
                <a:rPr lang="en-US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static void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1200" dirty="0" err="1">
                  <a:solidFill>
                    <a:srgbClr val="000000"/>
                  </a:solidFill>
                  <a:latin typeface="Consolas" panose="020B0609020204030204" pitchFamily="49" charset="0"/>
                  <a:ea typeface="思源黑体 CN Normal" panose="020B0400000000000000" pitchFamily="34" charset="-122"/>
                </a:rPr>
                <a:t>methodA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思源黑体 CN Normal" panose="020B0400000000000000" pitchFamily="34" charset="-122"/>
                </a:rPr>
                <a:t> (</a:t>
              </a:r>
              <a:r>
                <a:rPr lang="en-US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int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思源黑体 CN Normal" panose="020B0400000000000000" pitchFamily="34" charset="-122"/>
                </a:rPr>
                <a:t> a, </a:t>
              </a:r>
              <a:r>
                <a:rPr lang="en-US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int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思源黑体 CN Normal" panose="020B0400000000000000" pitchFamily="34" charset="-122"/>
                </a:rPr>
                <a:t> b)</a:t>
              </a:r>
              <a:r>
                <a:rPr lang="zh-CN" altLang="zh-CN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{ </a:t>
              </a:r>
              <a:endParaRPr lang="en-US" altLang="zh-CN" sz="1200" dirty="0">
                <a:solidFill>
                  <a:srgbClr val="080808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int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sum = a + b;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</a:t>
              </a:r>
              <a:endParaRPr lang="en-US" altLang="zh-CN" sz="1200" dirty="0">
                <a:solidFill>
                  <a:srgbClr val="080808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return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sum;</a:t>
              </a:r>
              <a:b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</a:b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endParaRPr lang="zh-CN" altLang="zh-CN" sz="1200" dirty="0"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endParaRPr lang="en-US" altLang="zh-CN" sz="1200" dirty="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19" name="矩形: 圆顶角 18">
              <a:extLst>
                <a:ext uri="{FF2B5EF4-FFF2-40B4-BE49-F238E27FC236}">
                  <a16:creationId xmlns:a16="http://schemas.microsoft.com/office/drawing/2014/main" id="{F4A3D8E6-F83C-78CB-D7D1-8B21CE19870C}"/>
                </a:ext>
              </a:extLst>
            </p:cNvPr>
            <p:cNvSpPr/>
            <p:nvPr/>
          </p:nvSpPr>
          <p:spPr>
            <a:xfrm>
              <a:off x="2297720" y="3660322"/>
              <a:ext cx="573417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AA43E971-6E80-E936-45E3-764F337587E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F74973A9-A3EF-DC77-FE97-07BD72E603AD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D251A2BB-D543-CCF9-096C-B8C69B8B748B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6" name="图片 25">
            <a:extLst>
              <a:ext uri="{FF2B5EF4-FFF2-40B4-BE49-F238E27FC236}">
                <a16:creationId xmlns:a16="http://schemas.microsoft.com/office/drawing/2014/main" id="{CFD44FC4-0B5B-65E0-4EA2-4C04DB5F1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519" y="4488738"/>
            <a:ext cx="444523" cy="273064"/>
          </a:xfrm>
          <a:prstGeom prst="rect">
            <a:avLst/>
          </a:prstGeom>
        </p:spPr>
      </p:pic>
      <p:grpSp>
        <p:nvGrpSpPr>
          <p:cNvPr id="27" name="组合 2">
            <a:extLst>
              <a:ext uri="{FF2B5EF4-FFF2-40B4-BE49-F238E27FC236}">
                <a16:creationId xmlns:a16="http://schemas.microsoft.com/office/drawing/2014/main" id="{DCB1A990-2A31-E9D6-5C98-624523D2C51C}"/>
              </a:ext>
            </a:extLst>
          </p:cNvPr>
          <p:cNvGrpSpPr/>
          <p:nvPr/>
        </p:nvGrpSpPr>
        <p:grpSpPr>
          <a:xfrm>
            <a:off x="6096000" y="4071293"/>
            <a:ext cx="5204307" cy="1614063"/>
            <a:chOff x="2297720" y="3660322"/>
            <a:chExt cx="5734179" cy="1614158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47408BAF-3A35-42EF-A241-3C3E658A9DF2}"/>
                </a:ext>
              </a:extLst>
            </p:cNvPr>
            <p:cNvSpPr/>
            <p:nvPr/>
          </p:nvSpPr>
          <p:spPr>
            <a:xfrm>
              <a:off x="2297727" y="3660325"/>
              <a:ext cx="5734172" cy="1614155"/>
            </a:xfrm>
            <a:prstGeom prst="roundRect">
              <a:avLst>
                <a:gd name="adj" fmla="val 72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</a:t>
              </a:r>
              <a:r>
                <a:rPr lang="en-US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static void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1200" dirty="0" err="1">
                  <a:solidFill>
                    <a:srgbClr val="000000"/>
                  </a:solidFill>
                  <a:latin typeface="Consolas" panose="020B0609020204030204" pitchFamily="49" charset="0"/>
                  <a:ea typeface="思源黑体 CN Normal" panose="020B0400000000000000" pitchFamily="34" charset="-122"/>
                </a:rPr>
                <a:t>methodB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思源黑体 CN Normal" panose="020B0400000000000000" pitchFamily="34" charset="-122"/>
                </a:rPr>
                <a:t> ()</a:t>
              </a:r>
              <a:r>
                <a:rPr lang="zh-CN" altLang="zh-CN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{ </a:t>
              </a:r>
              <a:endParaRPr lang="en-US" altLang="zh-CN" sz="1200" dirty="0">
                <a:solidFill>
                  <a:srgbClr val="080808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int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sum = </a:t>
              </a:r>
              <a:r>
                <a:rPr lang="en-US" altLang="zh-CN" sz="1200" dirty="0" err="1">
                  <a:solidFill>
                    <a:srgbClr val="080808"/>
                  </a:solidFill>
                  <a:latin typeface="Consolas" panose="020B0609020204030204" pitchFamily="49" charset="0"/>
                </a:rPr>
                <a:t>methodA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(10,20);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zh-CN" sz="1200" dirty="0" err="1">
                  <a:solidFill>
                    <a:srgbClr val="080808"/>
                  </a:solidFill>
                  <a:latin typeface="Consolas" panose="020B0609020204030204" pitchFamily="49" charset="0"/>
                </a:rPr>
                <a:t>System.out.println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(sum % 2 == 0);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endParaRPr lang="zh-CN" altLang="zh-CN" sz="1200" dirty="0"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endParaRPr lang="en-US" altLang="zh-CN" sz="1200" dirty="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29" name="矩形: 圆顶角 28">
              <a:extLst>
                <a:ext uri="{FF2B5EF4-FFF2-40B4-BE49-F238E27FC236}">
                  <a16:creationId xmlns:a16="http://schemas.microsoft.com/office/drawing/2014/main" id="{AF97D795-5B7D-87B8-5F26-6B0B311CAA83}"/>
                </a:ext>
              </a:extLst>
            </p:cNvPr>
            <p:cNvSpPr/>
            <p:nvPr/>
          </p:nvSpPr>
          <p:spPr>
            <a:xfrm>
              <a:off x="2297720" y="3660322"/>
              <a:ext cx="573417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 dirty="0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6CAAC252-283F-E7F6-F122-037562ADA311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28CCA9A3-8063-6231-7C0E-98495008DA24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51D76E9C-A71D-1CD8-1D00-853EA63A3DDE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BBFB35ED-AD39-0AA0-5D55-CD9082C19E75}"/>
              </a:ext>
            </a:extLst>
          </p:cNvPr>
          <p:cNvCxnSpPr/>
          <p:nvPr/>
        </p:nvCxnSpPr>
        <p:spPr>
          <a:xfrm flipV="1">
            <a:off x="1939240" y="4878326"/>
            <a:ext cx="4471829" cy="312982"/>
          </a:xfrm>
          <a:prstGeom prst="bentConnector3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DB8C4B7-0303-814D-5475-9AED6FC817A8}"/>
              </a:ext>
            </a:extLst>
          </p:cNvPr>
          <p:cNvSpPr/>
          <p:nvPr/>
        </p:nvSpPr>
        <p:spPr>
          <a:xfrm>
            <a:off x="1276478" y="2644405"/>
            <a:ext cx="355942" cy="270174"/>
          </a:xfrm>
          <a:custGeom>
            <a:avLst/>
            <a:gdLst>
              <a:gd name="connsiteX0" fmla="*/ 0 w 355942"/>
              <a:gd name="connsiteY0" fmla="*/ 45030 h 270174"/>
              <a:gd name="connsiteX1" fmla="*/ 45030 w 355942"/>
              <a:gd name="connsiteY1" fmla="*/ 0 h 270174"/>
              <a:gd name="connsiteX2" fmla="*/ 310912 w 355942"/>
              <a:gd name="connsiteY2" fmla="*/ 0 h 270174"/>
              <a:gd name="connsiteX3" fmla="*/ 355942 w 355942"/>
              <a:gd name="connsiteY3" fmla="*/ 45030 h 270174"/>
              <a:gd name="connsiteX4" fmla="*/ 355942 w 355942"/>
              <a:gd name="connsiteY4" fmla="*/ 225144 h 270174"/>
              <a:gd name="connsiteX5" fmla="*/ 310912 w 355942"/>
              <a:gd name="connsiteY5" fmla="*/ 270174 h 270174"/>
              <a:gd name="connsiteX6" fmla="*/ 45030 w 355942"/>
              <a:gd name="connsiteY6" fmla="*/ 270174 h 270174"/>
              <a:gd name="connsiteX7" fmla="*/ 0 w 355942"/>
              <a:gd name="connsiteY7" fmla="*/ 225144 h 270174"/>
              <a:gd name="connsiteX8" fmla="*/ 0 w 355942"/>
              <a:gd name="connsiteY8" fmla="*/ 45030 h 270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942" h="270174" extrusionOk="0">
                <a:moveTo>
                  <a:pt x="0" y="45030"/>
                </a:moveTo>
                <a:cubicBezTo>
                  <a:pt x="-1636" y="19152"/>
                  <a:pt x="16092" y="1527"/>
                  <a:pt x="45030" y="0"/>
                </a:cubicBezTo>
                <a:cubicBezTo>
                  <a:pt x="109320" y="-26043"/>
                  <a:pt x="222681" y="31229"/>
                  <a:pt x="310912" y="0"/>
                </a:cubicBezTo>
                <a:cubicBezTo>
                  <a:pt x="330653" y="-3901"/>
                  <a:pt x="353610" y="24947"/>
                  <a:pt x="355942" y="45030"/>
                </a:cubicBezTo>
                <a:cubicBezTo>
                  <a:pt x="376098" y="100630"/>
                  <a:pt x="348757" y="141661"/>
                  <a:pt x="355942" y="225144"/>
                </a:cubicBezTo>
                <a:cubicBezTo>
                  <a:pt x="358748" y="244238"/>
                  <a:pt x="333323" y="269798"/>
                  <a:pt x="310912" y="270174"/>
                </a:cubicBezTo>
                <a:cubicBezTo>
                  <a:pt x="234990" y="281807"/>
                  <a:pt x="150275" y="253807"/>
                  <a:pt x="45030" y="270174"/>
                </a:cubicBezTo>
                <a:cubicBezTo>
                  <a:pt x="17070" y="275287"/>
                  <a:pt x="-3246" y="246248"/>
                  <a:pt x="0" y="225144"/>
                </a:cubicBezTo>
                <a:cubicBezTo>
                  <a:pt x="-7405" y="188963"/>
                  <a:pt x="10523" y="132199"/>
                  <a:pt x="0" y="45030"/>
                </a:cubicBezTo>
                <a:close/>
              </a:path>
            </a:pathLst>
          </a:custGeom>
          <a:noFill/>
          <a:ln w="25400">
            <a:solidFill>
              <a:srgbClr val="C0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4B3A694-95CC-CB16-B93D-6CAB8F347A4E}"/>
              </a:ext>
            </a:extLst>
          </p:cNvPr>
          <p:cNvSpPr/>
          <p:nvPr/>
        </p:nvSpPr>
        <p:spPr>
          <a:xfrm>
            <a:off x="8045493" y="2649938"/>
            <a:ext cx="355942" cy="270174"/>
          </a:xfrm>
          <a:custGeom>
            <a:avLst/>
            <a:gdLst>
              <a:gd name="connsiteX0" fmla="*/ 0 w 355942"/>
              <a:gd name="connsiteY0" fmla="*/ 45030 h 270174"/>
              <a:gd name="connsiteX1" fmla="*/ 45030 w 355942"/>
              <a:gd name="connsiteY1" fmla="*/ 0 h 270174"/>
              <a:gd name="connsiteX2" fmla="*/ 310912 w 355942"/>
              <a:gd name="connsiteY2" fmla="*/ 0 h 270174"/>
              <a:gd name="connsiteX3" fmla="*/ 355942 w 355942"/>
              <a:gd name="connsiteY3" fmla="*/ 45030 h 270174"/>
              <a:gd name="connsiteX4" fmla="*/ 355942 w 355942"/>
              <a:gd name="connsiteY4" fmla="*/ 225144 h 270174"/>
              <a:gd name="connsiteX5" fmla="*/ 310912 w 355942"/>
              <a:gd name="connsiteY5" fmla="*/ 270174 h 270174"/>
              <a:gd name="connsiteX6" fmla="*/ 45030 w 355942"/>
              <a:gd name="connsiteY6" fmla="*/ 270174 h 270174"/>
              <a:gd name="connsiteX7" fmla="*/ 0 w 355942"/>
              <a:gd name="connsiteY7" fmla="*/ 225144 h 270174"/>
              <a:gd name="connsiteX8" fmla="*/ 0 w 355942"/>
              <a:gd name="connsiteY8" fmla="*/ 45030 h 270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942" h="270174" extrusionOk="0">
                <a:moveTo>
                  <a:pt x="0" y="45030"/>
                </a:moveTo>
                <a:cubicBezTo>
                  <a:pt x="-1636" y="19152"/>
                  <a:pt x="16092" y="1527"/>
                  <a:pt x="45030" y="0"/>
                </a:cubicBezTo>
                <a:cubicBezTo>
                  <a:pt x="109320" y="-26043"/>
                  <a:pt x="222681" y="31229"/>
                  <a:pt x="310912" y="0"/>
                </a:cubicBezTo>
                <a:cubicBezTo>
                  <a:pt x="330653" y="-3901"/>
                  <a:pt x="353610" y="24947"/>
                  <a:pt x="355942" y="45030"/>
                </a:cubicBezTo>
                <a:cubicBezTo>
                  <a:pt x="376098" y="100630"/>
                  <a:pt x="348757" y="141661"/>
                  <a:pt x="355942" y="225144"/>
                </a:cubicBezTo>
                <a:cubicBezTo>
                  <a:pt x="358748" y="244238"/>
                  <a:pt x="333323" y="269798"/>
                  <a:pt x="310912" y="270174"/>
                </a:cubicBezTo>
                <a:cubicBezTo>
                  <a:pt x="234990" y="281807"/>
                  <a:pt x="150275" y="253807"/>
                  <a:pt x="45030" y="270174"/>
                </a:cubicBezTo>
                <a:cubicBezTo>
                  <a:pt x="17070" y="275287"/>
                  <a:pt x="-3246" y="246248"/>
                  <a:pt x="0" y="225144"/>
                </a:cubicBezTo>
                <a:cubicBezTo>
                  <a:pt x="-7405" y="188963"/>
                  <a:pt x="10523" y="132199"/>
                  <a:pt x="0" y="45030"/>
                </a:cubicBezTo>
                <a:close/>
              </a:path>
            </a:pathLst>
          </a:custGeom>
          <a:noFill/>
          <a:ln w="25400">
            <a:solidFill>
              <a:srgbClr val="C0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481467B-86BD-3743-FA38-43DC895A5544}"/>
              </a:ext>
            </a:extLst>
          </p:cNvPr>
          <p:cNvSpPr/>
          <p:nvPr/>
        </p:nvSpPr>
        <p:spPr>
          <a:xfrm>
            <a:off x="1276478" y="4771206"/>
            <a:ext cx="355942" cy="270174"/>
          </a:xfrm>
          <a:custGeom>
            <a:avLst/>
            <a:gdLst>
              <a:gd name="connsiteX0" fmla="*/ 0 w 355942"/>
              <a:gd name="connsiteY0" fmla="*/ 45030 h 270174"/>
              <a:gd name="connsiteX1" fmla="*/ 45030 w 355942"/>
              <a:gd name="connsiteY1" fmla="*/ 0 h 270174"/>
              <a:gd name="connsiteX2" fmla="*/ 310912 w 355942"/>
              <a:gd name="connsiteY2" fmla="*/ 0 h 270174"/>
              <a:gd name="connsiteX3" fmla="*/ 355942 w 355942"/>
              <a:gd name="connsiteY3" fmla="*/ 45030 h 270174"/>
              <a:gd name="connsiteX4" fmla="*/ 355942 w 355942"/>
              <a:gd name="connsiteY4" fmla="*/ 225144 h 270174"/>
              <a:gd name="connsiteX5" fmla="*/ 310912 w 355942"/>
              <a:gd name="connsiteY5" fmla="*/ 270174 h 270174"/>
              <a:gd name="connsiteX6" fmla="*/ 45030 w 355942"/>
              <a:gd name="connsiteY6" fmla="*/ 270174 h 270174"/>
              <a:gd name="connsiteX7" fmla="*/ 0 w 355942"/>
              <a:gd name="connsiteY7" fmla="*/ 225144 h 270174"/>
              <a:gd name="connsiteX8" fmla="*/ 0 w 355942"/>
              <a:gd name="connsiteY8" fmla="*/ 45030 h 270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942" h="270174" extrusionOk="0">
                <a:moveTo>
                  <a:pt x="0" y="45030"/>
                </a:moveTo>
                <a:cubicBezTo>
                  <a:pt x="-1636" y="19152"/>
                  <a:pt x="16092" y="1527"/>
                  <a:pt x="45030" y="0"/>
                </a:cubicBezTo>
                <a:cubicBezTo>
                  <a:pt x="109320" y="-26043"/>
                  <a:pt x="222681" y="31229"/>
                  <a:pt x="310912" y="0"/>
                </a:cubicBezTo>
                <a:cubicBezTo>
                  <a:pt x="330653" y="-3901"/>
                  <a:pt x="353610" y="24947"/>
                  <a:pt x="355942" y="45030"/>
                </a:cubicBezTo>
                <a:cubicBezTo>
                  <a:pt x="376098" y="100630"/>
                  <a:pt x="348757" y="141661"/>
                  <a:pt x="355942" y="225144"/>
                </a:cubicBezTo>
                <a:cubicBezTo>
                  <a:pt x="358748" y="244238"/>
                  <a:pt x="333323" y="269798"/>
                  <a:pt x="310912" y="270174"/>
                </a:cubicBezTo>
                <a:cubicBezTo>
                  <a:pt x="234990" y="281807"/>
                  <a:pt x="150275" y="253807"/>
                  <a:pt x="45030" y="270174"/>
                </a:cubicBezTo>
                <a:cubicBezTo>
                  <a:pt x="17070" y="275287"/>
                  <a:pt x="-3246" y="246248"/>
                  <a:pt x="0" y="225144"/>
                </a:cubicBezTo>
                <a:cubicBezTo>
                  <a:pt x="-7405" y="188963"/>
                  <a:pt x="10523" y="132199"/>
                  <a:pt x="0" y="45030"/>
                </a:cubicBezTo>
                <a:close/>
              </a:path>
            </a:pathLst>
          </a:custGeom>
          <a:noFill/>
          <a:ln w="25400">
            <a:solidFill>
              <a:srgbClr val="C0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99888151-56FD-537B-5DE2-E26AB20928D0}"/>
              </a:ext>
            </a:extLst>
          </p:cNvPr>
          <p:cNvSpPr/>
          <p:nvPr/>
        </p:nvSpPr>
        <p:spPr>
          <a:xfrm>
            <a:off x="6787599" y="4743237"/>
            <a:ext cx="355942" cy="270174"/>
          </a:xfrm>
          <a:custGeom>
            <a:avLst/>
            <a:gdLst>
              <a:gd name="connsiteX0" fmla="*/ 0 w 355942"/>
              <a:gd name="connsiteY0" fmla="*/ 45030 h 270174"/>
              <a:gd name="connsiteX1" fmla="*/ 45030 w 355942"/>
              <a:gd name="connsiteY1" fmla="*/ 0 h 270174"/>
              <a:gd name="connsiteX2" fmla="*/ 310912 w 355942"/>
              <a:gd name="connsiteY2" fmla="*/ 0 h 270174"/>
              <a:gd name="connsiteX3" fmla="*/ 355942 w 355942"/>
              <a:gd name="connsiteY3" fmla="*/ 45030 h 270174"/>
              <a:gd name="connsiteX4" fmla="*/ 355942 w 355942"/>
              <a:gd name="connsiteY4" fmla="*/ 225144 h 270174"/>
              <a:gd name="connsiteX5" fmla="*/ 310912 w 355942"/>
              <a:gd name="connsiteY5" fmla="*/ 270174 h 270174"/>
              <a:gd name="connsiteX6" fmla="*/ 45030 w 355942"/>
              <a:gd name="connsiteY6" fmla="*/ 270174 h 270174"/>
              <a:gd name="connsiteX7" fmla="*/ 0 w 355942"/>
              <a:gd name="connsiteY7" fmla="*/ 225144 h 270174"/>
              <a:gd name="connsiteX8" fmla="*/ 0 w 355942"/>
              <a:gd name="connsiteY8" fmla="*/ 45030 h 270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942" h="270174" extrusionOk="0">
                <a:moveTo>
                  <a:pt x="0" y="45030"/>
                </a:moveTo>
                <a:cubicBezTo>
                  <a:pt x="-1636" y="19152"/>
                  <a:pt x="16092" y="1527"/>
                  <a:pt x="45030" y="0"/>
                </a:cubicBezTo>
                <a:cubicBezTo>
                  <a:pt x="109320" y="-26043"/>
                  <a:pt x="222681" y="31229"/>
                  <a:pt x="310912" y="0"/>
                </a:cubicBezTo>
                <a:cubicBezTo>
                  <a:pt x="330653" y="-3901"/>
                  <a:pt x="353610" y="24947"/>
                  <a:pt x="355942" y="45030"/>
                </a:cubicBezTo>
                <a:cubicBezTo>
                  <a:pt x="376098" y="100630"/>
                  <a:pt x="348757" y="141661"/>
                  <a:pt x="355942" y="225144"/>
                </a:cubicBezTo>
                <a:cubicBezTo>
                  <a:pt x="358748" y="244238"/>
                  <a:pt x="333323" y="269798"/>
                  <a:pt x="310912" y="270174"/>
                </a:cubicBezTo>
                <a:cubicBezTo>
                  <a:pt x="234990" y="281807"/>
                  <a:pt x="150275" y="253807"/>
                  <a:pt x="45030" y="270174"/>
                </a:cubicBezTo>
                <a:cubicBezTo>
                  <a:pt x="17070" y="275287"/>
                  <a:pt x="-3246" y="246248"/>
                  <a:pt x="0" y="225144"/>
                </a:cubicBezTo>
                <a:cubicBezTo>
                  <a:pt x="-7405" y="188963"/>
                  <a:pt x="10523" y="132199"/>
                  <a:pt x="0" y="45030"/>
                </a:cubicBezTo>
                <a:close/>
              </a:path>
            </a:pathLst>
          </a:custGeom>
          <a:noFill/>
          <a:ln w="25400">
            <a:solidFill>
              <a:srgbClr val="C0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39" name="组合 2">
            <a:extLst>
              <a:ext uri="{FF2B5EF4-FFF2-40B4-BE49-F238E27FC236}">
                <a16:creationId xmlns:a16="http://schemas.microsoft.com/office/drawing/2014/main" id="{A6256FE5-EA28-43BA-B020-2FF785205EC8}"/>
              </a:ext>
            </a:extLst>
          </p:cNvPr>
          <p:cNvGrpSpPr/>
          <p:nvPr/>
        </p:nvGrpSpPr>
        <p:grpSpPr>
          <a:xfrm>
            <a:off x="6411069" y="5060164"/>
            <a:ext cx="5204307" cy="1614063"/>
            <a:chOff x="2297720" y="3660322"/>
            <a:chExt cx="5734179" cy="1614158"/>
          </a:xfrm>
        </p:grpSpPr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C4631DA7-9812-7B9A-BD41-F7B506D6A69C}"/>
                </a:ext>
              </a:extLst>
            </p:cNvPr>
            <p:cNvSpPr/>
            <p:nvPr/>
          </p:nvSpPr>
          <p:spPr>
            <a:xfrm>
              <a:off x="2297727" y="3660325"/>
              <a:ext cx="5734172" cy="1614155"/>
            </a:xfrm>
            <a:prstGeom prst="roundRect">
              <a:avLst>
                <a:gd name="adj" fmla="val 7261"/>
              </a:avLst>
            </a:prstGeom>
            <a:solidFill>
              <a:srgbClr val="F6F6F6"/>
            </a:solidFill>
            <a:ln w="3175"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24000" rIns="36000" bIns="0" rtlCol="0" anchor="t"/>
            <a:lstStyle/>
            <a:p>
              <a:pPr>
                <a:lnSpc>
                  <a:spcPct val="150000"/>
                </a:lnSpc>
                <a:defRPr/>
              </a:pP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public </a:t>
              </a:r>
              <a:r>
                <a:rPr lang="en-US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static void</a:t>
              </a:r>
              <a:r>
                <a:rPr lang="zh-CN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zh-CN" sz="1200" dirty="0" err="1">
                  <a:solidFill>
                    <a:srgbClr val="000000"/>
                  </a:solidFill>
                  <a:latin typeface="Consolas" panose="020B0609020204030204" pitchFamily="49" charset="0"/>
                  <a:ea typeface="思源黑体 CN Normal" panose="020B0400000000000000" pitchFamily="34" charset="-122"/>
                </a:rPr>
                <a:t>methodB</a:t>
              </a:r>
              <a:r>
                <a:rPr lang="en-US" altLang="zh-CN" sz="1200" dirty="0">
                  <a:solidFill>
                    <a:srgbClr val="000000"/>
                  </a:solidFill>
                  <a:latin typeface="Consolas" panose="020B0609020204030204" pitchFamily="49" charset="0"/>
                  <a:ea typeface="思源黑体 CN Normal" panose="020B0400000000000000" pitchFamily="34" charset="-122"/>
                </a:rPr>
                <a:t> ()</a:t>
              </a:r>
              <a:r>
                <a:rPr lang="zh-CN" altLang="zh-CN" sz="12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</a:t>
              </a: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{ </a:t>
              </a:r>
              <a:endParaRPr lang="en-US" altLang="zh-CN" sz="1200" dirty="0">
                <a:solidFill>
                  <a:srgbClr val="080808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zh-CN" sz="1200" dirty="0">
                  <a:solidFill>
                    <a:srgbClr val="0033B3"/>
                  </a:solidFill>
                  <a:latin typeface="Consolas" panose="020B0609020204030204" pitchFamily="49" charset="0"/>
                </a:rPr>
                <a:t>int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result = </a:t>
              </a:r>
              <a:r>
                <a:rPr lang="en-US" altLang="zh-CN" sz="1200" dirty="0" err="1">
                  <a:solidFill>
                    <a:srgbClr val="080808"/>
                  </a:solidFill>
                  <a:latin typeface="Consolas" panose="020B0609020204030204" pitchFamily="49" charset="0"/>
                </a:rPr>
                <a:t>methodA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(10,20);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zh-CN" sz="1200" dirty="0" err="1">
                  <a:solidFill>
                    <a:srgbClr val="080808"/>
                  </a:solidFill>
                  <a:latin typeface="Consolas" panose="020B0609020204030204" pitchFamily="49" charset="0"/>
                </a:rPr>
                <a:t>System.out.println</a:t>
              </a:r>
              <a:r>
                <a:rPr lang="en-US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(result % 2 == 0);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zh-CN" altLang="zh-CN" sz="1200" dirty="0">
                  <a:solidFill>
                    <a:srgbClr val="080808"/>
                  </a:solidFill>
                  <a:latin typeface="Consolas" panose="020B0609020204030204" pitchFamily="49" charset="0"/>
                </a:rPr>
                <a:t>}</a:t>
              </a:r>
              <a:endParaRPr lang="zh-CN" altLang="zh-CN" sz="1200" dirty="0"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endParaRPr lang="en-US" altLang="zh-CN" sz="1200" dirty="0">
                <a:solidFill>
                  <a:srgbClr val="080808"/>
                </a:solidFill>
                <a:effectLst/>
                <a:latin typeface="Fira Code" panose="020B0809050000020004" pitchFamily="49" charset="0"/>
              </a:endParaRPr>
            </a:p>
          </p:txBody>
        </p:sp>
        <p:sp>
          <p:nvSpPr>
            <p:cNvPr id="41" name="矩形: 圆顶角 40">
              <a:extLst>
                <a:ext uri="{FF2B5EF4-FFF2-40B4-BE49-F238E27FC236}">
                  <a16:creationId xmlns:a16="http://schemas.microsoft.com/office/drawing/2014/main" id="{884EDFC7-EC54-4730-3A2D-7E6062808928}"/>
                </a:ext>
              </a:extLst>
            </p:cNvPr>
            <p:cNvSpPr/>
            <p:nvPr/>
          </p:nvSpPr>
          <p:spPr>
            <a:xfrm>
              <a:off x="2297720" y="3660322"/>
              <a:ext cx="5734178" cy="270190"/>
            </a:xfrm>
            <a:prstGeom prst="round2SameRect">
              <a:avLst>
                <a:gd name="adj1" fmla="val 26923"/>
                <a:gd name="adj2" fmla="val 0"/>
              </a:avLst>
            </a:prstGeom>
            <a:solidFill>
              <a:srgbClr val="BCBCBC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altLang="zh-CN" sz="1200" b="1">
                <a:solidFill>
                  <a:schemeClr val="bg1"/>
                </a:solidFill>
                <a:latin typeface="Fira Code" panose="020B0809050000020004" pitchFamily="49" charset="0"/>
                <a:ea typeface="Fira Code" panose="020B0809050000020004" pitchFamily="49" charset="0"/>
                <a:cs typeface="阿里巴巴普惠体" panose="00020600040101010101" pitchFamily="18" charset="-122"/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0D496437-1991-6E1F-BF44-8363C3FF9FA2}"/>
                </a:ext>
              </a:extLst>
            </p:cNvPr>
            <p:cNvSpPr>
              <a:spLocks/>
            </p:cNvSpPr>
            <p:nvPr/>
          </p:nvSpPr>
          <p:spPr>
            <a:xfrm>
              <a:off x="2383302" y="3730461"/>
              <a:ext cx="121920" cy="101613"/>
            </a:xfrm>
            <a:prstGeom prst="ellipse">
              <a:avLst/>
            </a:prstGeom>
            <a:solidFill>
              <a:srgbClr val="FE5F5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DF82721D-2EE7-1B4A-4EA0-360073023E4C}"/>
                </a:ext>
              </a:extLst>
            </p:cNvPr>
            <p:cNvSpPr>
              <a:spLocks/>
            </p:cNvSpPr>
            <p:nvPr/>
          </p:nvSpPr>
          <p:spPr>
            <a:xfrm>
              <a:off x="2798298" y="3733257"/>
              <a:ext cx="121920" cy="101613"/>
            </a:xfrm>
            <a:prstGeom prst="ellipse">
              <a:avLst/>
            </a:prstGeom>
            <a:solidFill>
              <a:srgbClr val="2FC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F7542B80-F8E5-B38B-9CB7-270E566D0A97}"/>
                </a:ext>
              </a:extLst>
            </p:cNvPr>
            <p:cNvSpPr/>
            <p:nvPr/>
          </p:nvSpPr>
          <p:spPr>
            <a:xfrm>
              <a:off x="2590800" y="3730461"/>
              <a:ext cx="121920" cy="101613"/>
            </a:xfrm>
            <a:prstGeom prst="ellipse">
              <a:avLst/>
            </a:prstGeom>
            <a:solidFill>
              <a:srgbClr val="FFC1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C3D2BCEA-6F94-30B5-5AA1-0E3946FF0F4F}"/>
              </a:ext>
            </a:extLst>
          </p:cNvPr>
          <p:cNvSpPr/>
          <p:nvPr/>
        </p:nvSpPr>
        <p:spPr>
          <a:xfrm>
            <a:off x="7102667" y="5732108"/>
            <a:ext cx="625043" cy="270171"/>
          </a:xfrm>
          <a:custGeom>
            <a:avLst/>
            <a:gdLst>
              <a:gd name="connsiteX0" fmla="*/ 0 w 625043"/>
              <a:gd name="connsiteY0" fmla="*/ 45029 h 270171"/>
              <a:gd name="connsiteX1" fmla="*/ 45029 w 625043"/>
              <a:gd name="connsiteY1" fmla="*/ 0 h 270171"/>
              <a:gd name="connsiteX2" fmla="*/ 580014 w 625043"/>
              <a:gd name="connsiteY2" fmla="*/ 0 h 270171"/>
              <a:gd name="connsiteX3" fmla="*/ 625043 w 625043"/>
              <a:gd name="connsiteY3" fmla="*/ 45029 h 270171"/>
              <a:gd name="connsiteX4" fmla="*/ 625043 w 625043"/>
              <a:gd name="connsiteY4" fmla="*/ 225142 h 270171"/>
              <a:gd name="connsiteX5" fmla="*/ 580014 w 625043"/>
              <a:gd name="connsiteY5" fmla="*/ 270171 h 270171"/>
              <a:gd name="connsiteX6" fmla="*/ 45029 w 625043"/>
              <a:gd name="connsiteY6" fmla="*/ 270171 h 270171"/>
              <a:gd name="connsiteX7" fmla="*/ 0 w 625043"/>
              <a:gd name="connsiteY7" fmla="*/ 225142 h 270171"/>
              <a:gd name="connsiteX8" fmla="*/ 0 w 625043"/>
              <a:gd name="connsiteY8" fmla="*/ 45029 h 27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043" h="270171" extrusionOk="0">
                <a:moveTo>
                  <a:pt x="0" y="45029"/>
                </a:moveTo>
                <a:cubicBezTo>
                  <a:pt x="-1636" y="19151"/>
                  <a:pt x="16091" y="1527"/>
                  <a:pt x="45029" y="0"/>
                </a:cubicBezTo>
                <a:cubicBezTo>
                  <a:pt x="186720" y="-58709"/>
                  <a:pt x="427942" y="18095"/>
                  <a:pt x="580014" y="0"/>
                </a:cubicBezTo>
                <a:cubicBezTo>
                  <a:pt x="599755" y="-3901"/>
                  <a:pt x="622711" y="24946"/>
                  <a:pt x="625043" y="45029"/>
                </a:cubicBezTo>
                <a:cubicBezTo>
                  <a:pt x="639528" y="112355"/>
                  <a:pt x="611770" y="156373"/>
                  <a:pt x="625043" y="225142"/>
                </a:cubicBezTo>
                <a:cubicBezTo>
                  <a:pt x="627849" y="244236"/>
                  <a:pt x="602425" y="269795"/>
                  <a:pt x="580014" y="270171"/>
                </a:cubicBezTo>
                <a:cubicBezTo>
                  <a:pt x="427924" y="309330"/>
                  <a:pt x="269479" y="217119"/>
                  <a:pt x="45029" y="270171"/>
                </a:cubicBezTo>
                <a:cubicBezTo>
                  <a:pt x="17069" y="275284"/>
                  <a:pt x="-3246" y="246246"/>
                  <a:pt x="0" y="225142"/>
                </a:cubicBezTo>
                <a:cubicBezTo>
                  <a:pt x="-14759" y="183511"/>
                  <a:pt x="5338" y="127329"/>
                  <a:pt x="0" y="45029"/>
                </a:cubicBezTo>
                <a:close/>
              </a:path>
            </a:pathLst>
          </a:custGeom>
          <a:noFill/>
          <a:ln w="25400">
            <a:solidFill>
              <a:srgbClr val="C00000"/>
            </a:solidFill>
            <a:prstDash val="dashDot"/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54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50"/>
                            </p:stCondLst>
                            <p:childTnLst>
                              <p:par>
                                <p:cTn id="6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7" grpId="0" animBg="1"/>
      <p:bldP spid="38" grpId="0" animBg="1"/>
      <p:bldP spid="4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带返回值的方法</a:t>
            </a:r>
            <a:endParaRPr kumimoji="1" lang="zh-CN" altLang="en-US" dirty="0"/>
          </a:p>
        </p:txBody>
      </p:sp>
      <p:sp>
        <p:nvSpPr>
          <p:cNvPr id="9" name="文本占位符 3">
            <a:extLst>
              <a:ext uri="{FF2B5EF4-FFF2-40B4-BE49-F238E27FC236}">
                <a16:creationId xmlns:a16="http://schemas.microsoft.com/office/drawing/2014/main" id="{4FF43434-1B2F-DF23-3960-0410AE30482B}"/>
              </a:ext>
            </a:extLst>
          </p:cNvPr>
          <p:cNvSpPr txBox="1">
            <a:spLocks/>
          </p:cNvSpPr>
          <p:nvPr/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575" indent="-38099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3962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7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547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solidFill>
                  <a:srgbClr val="C00000"/>
                </a:solidFill>
              </a:rPr>
              <a:t>带返回值方法的定义和调用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451C09A0-E316-CAC1-CBE1-E7582967FBBA}"/>
              </a:ext>
            </a:extLst>
          </p:cNvPr>
          <p:cNvSpPr txBox="1"/>
          <p:nvPr/>
        </p:nvSpPr>
        <p:spPr>
          <a:xfrm>
            <a:off x="816714" y="2207467"/>
            <a:ext cx="7048992" cy="102720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static </a:t>
            </a:r>
            <a:r>
              <a:rPr lang="zh-CN" altLang="en-US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数据类型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方法名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数据类型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变量名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</a:t>
            </a:r>
            <a:r>
              <a:rPr lang="zh-CN" altLang="en-US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数据类型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变量名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2...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{  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return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数据值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F94053-6FFD-B29E-CDC9-144F043E095C}"/>
              </a:ext>
            </a:extLst>
          </p:cNvPr>
          <p:cNvSpPr txBox="1"/>
          <p:nvPr/>
        </p:nvSpPr>
        <p:spPr>
          <a:xfrm>
            <a:off x="710880" y="1813768"/>
            <a:ext cx="1919816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594" indent="-228594"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定义格式：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F08CA53-3454-CB68-E136-431B21ADB853}"/>
              </a:ext>
            </a:extLst>
          </p:cNvPr>
          <p:cNvSpPr txBox="1"/>
          <p:nvPr/>
        </p:nvSpPr>
        <p:spPr>
          <a:xfrm>
            <a:off x="710880" y="3648919"/>
            <a:ext cx="1919816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594" indent="-228594"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举例：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3499BC7-4516-7F6B-6DF2-6FE1E9FC5C60}"/>
              </a:ext>
            </a:extLst>
          </p:cNvPr>
          <p:cNvSpPr txBox="1"/>
          <p:nvPr/>
        </p:nvSpPr>
        <p:spPr>
          <a:xfrm>
            <a:off x="6131662" y="4235234"/>
            <a:ext cx="5088467" cy="102720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static double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getNum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()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  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12.3;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6C4DFD7E-F102-AB7A-2941-1F84DDA939B6}"/>
              </a:ext>
            </a:extLst>
          </p:cNvPr>
          <p:cNvSpPr txBox="1"/>
          <p:nvPr/>
        </p:nvSpPr>
        <p:spPr>
          <a:xfrm>
            <a:off x="816713" y="4235234"/>
            <a:ext cx="5088467" cy="135037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static int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add (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a,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思源黑体 CN Normal" panose="020B0400000000000000" pitchFamily="34" charset="-122"/>
              </a:rPr>
              <a:t> b)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 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c = a + b;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c;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5" grpId="0"/>
      <p:bldP spid="6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带返回值的方法</a:t>
            </a:r>
            <a:endParaRPr kumimoji="1" lang="zh-CN" altLang="en-US" dirty="0"/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76C9F0E6-76AE-D83D-5877-B71A299257E2}"/>
              </a:ext>
            </a:extLst>
          </p:cNvPr>
          <p:cNvSpPr txBox="1"/>
          <p:nvPr/>
        </p:nvSpPr>
        <p:spPr>
          <a:xfrm>
            <a:off x="1732703" y="1908122"/>
            <a:ext cx="5088467" cy="381771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方法名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...);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318C0C-55B6-7C36-2900-9665619F646F}"/>
              </a:ext>
            </a:extLst>
          </p:cNvPr>
          <p:cNvSpPr txBox="1"/>
          <p:nvPr/>
        </p:nvSpPr>
        <p:spPr>
          <a:xfrm>
            <a:off x="731521" y="1982205"/>
            <a:ext cx="10786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594" indent="-228594"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5546269-490E-F4CC-D529-EDE7342ED2B8}"/>
              </a:ext>
            </a:extLst>
          </p:cNvPr>
          <p:cNvSpPr txBox="1"/>
          <p:nvPr/>
        </p:nvSpPr>
        <p:spPr>
          <a:xfrm>
            <a:off x="731521" y="2615089"/>
            <a:ext cx="1919816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594" indent="-228594"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范例：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D0713250-2C72-FF08-14F7-1B86BB62D74B}"/>
              </a:ext>
            </a:extLst>
          </p:cNvPr>
          <p:cNvSpPr txBox="1"/>
          <p:nvPr/>
        </p:nvSpPr>
        <p:spPr>
          <a:xfrm>
            <a:off x="1720003" y="2574871"/>
            <a:ext cx="5088467" cy="38529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add(10,20);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B8CD100-3AC8-5BA3-C78E-5F664A2AD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955" y="1457271"/>
            <a:ext cx="165523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3">
            <a:extLst>
              <a:ext uri="{FF2B5EF4-FFF2-40B4-BE49-F238E27FC236}">
                <a16:creationId xmlns:a16="http://schemas.microsoft.com/office/drawing/2014/main" id="{A31D13DE-813A-FB56-1EEA-072A30DE9107}"/>
              </a:ext>
            </a:extLst>
          </p:cNvPr>
          <p:cNvSpPr txBox="1"/>
          <p:nvPr/>
        </p:nvSpPr>
        <p:spPr>
          <a:xfrm>
            <a:off x="1732703" y="3565471"/>
            <a:ext cx="5088467" cy="381771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数据类型 变量名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= 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方法名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...);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0DD1D05-1589-E2C5-E7FE-D0C07C467389}"/>
              </a:ext>
            </a:extLst>
          </p:cNvPr>
          <p:cNvSpPr txBox="1"/>
          <p:nvPr/>
        </p:nvSpPr>
        <p:spPr>
          <a:xfrm>
            <a:off x="731521" y="3637438"/>
            <a:ext cx="1919816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594" indent="-228594"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格式：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1582BED-2159-85EB-C1EB-FD27B92A5A59}"/>
              </a:ext>
            </a:extLst>
          </p:cNvPr>
          <p:cNvSpPr txBox="1"/>
          <p:nvPr/>
        </p:nvSpPr>
        <p:spPr>
          <a:xfrm>
            <a:off x="731521" y="4272438"/>
            <a:ext cx="1919816" cy="30777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594" indent="-228594">
              <a:buFont typeface="Wingdings" panose="05000000000000000000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范例：</a:t>
            </a:r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5BA57763-F368-A2E4-0A0F-CC51E40355F2}"/>
              </a:ext>
            </a:extLst>
          </p:cNvPr>
          <p:cNvSpPr txBox="1"/>
          <p:nvPr/>
        </p:nvSpPr>
        <p:spPr>
          <a:xfrm>
            <a:off x="1720003" y="4232222"/>
            <a:ext cx="5088467" cy="38529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result = add(10,20);</a:t>
            </a:r>
            <a:endParaRPr lang="zh-CN" altLang="zh-CN" sz="1400" dirty="0"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4375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1" grpId="0"/>
      <p:bldP spid="12" grpId="0" animBg="1"/>
      <p:bldP spid="14" grpId="0" animBg="1"/>
      <p:bldP spid="15" grpId="0"/>
      <p:bldP spid="16" grpId="0"/>
      <p:bldP spid="1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5EA40-9A84-2B1B-465C-C1DA28225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A4428A-A5D4-8E54-1087-4835A70947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方法中的数据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B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方法想要使用的话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,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就需要设计返回值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通过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return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关键字，将结果数据返回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返回到方法的调用处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87231390-7C04-EDC6-9275-15BB03CBDF5B}"/>
              </a:ext>
            </a:extLst>
          </p:cNvPr>
          <p:cNvSpPr txBox="1">
            <a:spLocks/>
          </p:cNvSpPr>
          <p:nvPr/>
        </p:nvSpPr>
        <p:spPr>
          <a:xfrm>
            <a:off x="627753" y="244189"/>
            <a:ext cx="8771021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endParaRPr kumimoji="1"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Alibaba PuHuiTi B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838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CD1D3-646F-366B-6326-98482001D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B04142F-3BD2-E69F-499E-3090A4B897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/>
              <a:t>方法的介绍</a:t>
            </a:r>
            <a:endParaRPr lang="en-US" altLang="zh-CN" dirty="0"/>
          </a:p>
          <a:p>
            <a:r>
              <a:rPr lang="zh-CN" altLang="en-US" dirty="0"/>
              <a:t>方法的基本定义和调用</a:t>
            </a:r>
            <a:endParaRPr lang="en-US" altLang="zh-CN" dirty="0"/>
          </a:p>
          <a:p>
            <a:r>
              <a:rPr lang="zh-CN" altLang="en-US" dirty="0"/>
              <a:t>方法的执行流程</a:t>
            </a:r>
            <a:endParaRPr lang="en-US" altLang="zh-CN" dirty="0"/>
          </a:p>
          <a:p>
            <a:r>
              <a:rPr lang="zh-CN" altLang="en-US" dirty="0"/>
              <a:t>带参数的方法</a:t>
            </a:r>
            <a:endParaRPr lang="en-US" altLang="zh-CN" dirty="0"/>
          </a:p>
          <a:p>
            <a:r>
              <a:rPr lang="zh-CN" altLang="en-US" dirty="0"/>
              <a:t>带返回值的方法</a:t>
            </a:r>
            <a:endParaRPr lang="en-US" altLang="zh-CN" dirty="0"/>
          </a:p>
          <a:p>
            <a:r>
              <a:rPr lang="zh-CN" altLang="en-US" dirty="0"/>
              <a:t>方法通用定义格式</a:t>
            </a:r>
            <a:endParaRPr lang="en-US" altLang="zh-CN" dirty="0"/>
          </a:p>
          <a:p>
            <a:r>
              <a:rPr lang="zh-CN" altLang="en-US" dirty="0"/>
              <a:t>方法注意事项</a:t>
            </a:r>
            <a:endParaRPr lang="en-US" altLang="zh-CN" dirty="0"/>
          </a:p>
          <a:p>
            <a:r>
              <a:rPr lang="zh-CN" altLang="en-US" dirty="0"/>
              <a:t>方法重载</a:t>
            </a:r>
            <a:endParaRPr lang="en-US" altLang="zh-CN" dirty="0"/>
          </a:p>
          <a:p>
            <a:r>
              <a:rPr lang="en-US" altLang="zh-CN" dirty="0"/>
              <a:t>IDEA </a:t>
            </a:r>
            <a:r>
              <a:rPr lang="zh-CN" altLang="en-US" dirty="0"/>
              <a:t>安装</a:t>
            </a:r>
            <a:r>
              <a:rPr lang="en-US" altLang="zh-CN" dirty="0"/>
              <a:t> AI </a:t>
            </a:r>
            <a:r>
              <a:rPr lang="zh-CN" altLang="en-US" dirty="0"/>
              <a:t>插件</a:t>
            </a:r>
          </a:p>
        </p:txBody>
      </p:sp>
    </p:spTree>
    <p:extLst>
      <p:ext uri="{BB962C8B-B14F-4D97-AF65-F5344CB8AC3E}">
        <p14:creationId xmlns:p14="http://schemas.microsoft.com/office/powerpoint/2010/main" val="2032544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4A239-AB53-3034-B923-52E03B6CD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620F6B-A1DC-62A3-C96E-B3492F3CAE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方法通用定义格式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130299B7-2891-E451-F9F4-4A11F68980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48527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C8779-CD47-1BC4-C3A3-77DF7A1AC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94F92D1-B35A-142D-C2CE-D630E8B87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方法通用定义格式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5D644EA7-0D75-530B-903E-00BCF09B41D2}"/>
              </a:ext>
            </a:extLst>
          </p:cNvPr>
          <p:cNvSpPr txBox="1"/>
          <p:nvPr/>
        </p:nvSpPr>
        <p:spPr>
          <a:xfrm>
            <a:off x="620743" y="1084356"/>
            <a:ext cx="4620683" cy="1350370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static </a:t>
            </a:r>
            <a:r>
              <a: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返回值类型</a:t>
            </a:r>
            <a:r>
              <a:rPr lang="en-US" altLang="zh-CN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方法名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 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) {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方法体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 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b="1" kern="0" dirty="0">
                <a:solidFill>
                  <a:srgbClr val="00008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return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数据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}</a:t>
            </a:r>
            <a:endParaRPr lang="en-US" altLang="zh-CN" sz="1400" b="1" dirty="0">
              <a:solidFill>
                <a:srgbClr val="00008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AE9F426-5CF4-DF52-3718-263181808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55" y="2627173"/>
            <a:ext cx="4178272" cy="389562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C6C9CAF-2041-616C-7463-5DDA9D4E6848}"/>
              </a:ext>
            </a:extLst>
          </p:cNvPr>
          <p:cNvSpPr txBox="1"/>
          <p:nvPr/>
        </p:nvSpPr>
        <p:spPr>
          <a:xfrm>
            <a:off x="5560043" y="1084356"/>
            <a:ext cx="53636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参数</a:t>
            </a:r>
            <a:r>
              <a:rPr lang="en-US" altLang="zh-CN" dirty="0"/>
              <a:t>: </a:t>
            </a:r>
            <a:r>
              <a:rPr lang="zh-CN" altLang="en-US" dirty="0"/>
              <a:t>制作材料</a:t>
            </a:r>
            <a:r>
              <a:rPr lang="en-US" altLang="zh-CN" dirty="0"/>
              <a:t>(</a:t>
            </a:r>
            <a:r>
              <a:rPr lang="zh-CN" altLang="en-US" dirty="0"/>
              <a:t>面粉，酵母，糖</a:t>
            </a:r>
            <a:r>
              <a:rPr lang="en-US" altLang="zh-CN" dirty="0"/>
              <a:t>...)</a:t>
            </a:r>
          </a:p>
          <a:p>
            <a:r>
              <a:rPr lang="zh-CN" altLang="en-US" dirty="0"/>
              <a:t>方法体</a:t>
            </a:r>
            <a:r>
              <a:rPr lang="en-US" altLang="zh-CN" dirty="0"/>
              <a:t>:</a:t>
            </a:r>
            <a:r>
              <a:rPr lang="zh-CN" altLang="en-US" dirty="0"/>
              <a:t> 使用材料干活（搅拌</a:t>
            </a:r>
            <a:r>
              <a:rPr lang="en-US" altLang="zh-CN" dirty="0"/>
              <a:t>...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返回值</a:t>
            </a:r>
            <a:r>
              <a:rPr lang="en-US" altLang="zh-CN" dirty="0"/>
              <a:t>:</a:t>
            </a:r>
            <a:r>
              <a:rPr lang="zh-CN" altLang="en-US" dirty="0"/>
              <a:t> 成品（面包）</a:t>
            </a:r>
            <a:endParaRPr lang="en-US" altLang="zh-CN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F7C83D78-99D3-2447-7493-577E72F15ACD}"/>
              </a:ext>
            </a:extLst>
          </p:cNvPr>
          <p:cNvSpPr txBox="1"/>
          <p:nvPr/>
        </p:nvSpPr>
        <p:spPr>
          <a:xfrm>
            <a:off x="5295912" y="3126775"/>
            <a:ext cx="6735338" cy="1353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708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定义方法时，要做到</a:t>
            </a:r>
            <a:r>
              <a:rPr lang="zh-CN" altLang="en-US" sz="1400" dirty="0">
                <a:solidFill>
                  <a:srgbClr val="C0000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两个明确</a:t>
            </a:r>
            <a:endParaRPr lang="en-US" altLang="zh-CN" sz="1400" dirty="0">
              <a:solidFill>
                <a:srgbClr val="C00000"/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明确参数：主要是明确参数的类型和数量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明确返回值类型：主要是明确方法操作完毕之后是否有结果数据，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		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如果有，写对应的数据类型，如果没有，写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void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B1FD02AB-D667-6384-1C81-293E1168636C}"/>
              </a:ext>
            </a:extLst>
          </p:cNvPr>
          <p:cNvSpPr txBox="1"/>
          <p:nvPr/>
        </p:nvSpPr>
        <p:spPr>
          <a:xfrm>
            <a:off x="5339752" y="4893785"/>
            <a:ext cx="6585026" cy="102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7708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调用方法时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void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类型的方法，直接调用即可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非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void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类型的方法，推荐用变量接收调用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889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E2BAF-BCDC-2C11-9A47-91441B36B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D0522FA-BA8E-ED9E-DC77-BD160D16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方法通用定义格式</a:t>
            </a: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AA1A257-5DE1-A200-3515-5FA56AC567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需求</a:t>
            </a:r>
            <a:r>
              <a:rPr lang="en-US" altLang="zh-CN" dirty="0"/>
              <a:t>1 : </a:t>
            </a:r>
            <a:r>
              <a:rPr lang="zh-CN" altLang="en-US" dirty="0"/>
              <a:t>设计一个方法</a:t>
            </a:r>
            <a:r>
              <a:rPr lang="en-US" altLang="zh-CN" dirty="0"/>
              <a:t>, </a:t>
            </a:r>
            <a:r>
              <a:rPr lang="zh-CN" altLang="en-US" dirty="0"/>
              <a:t>方法能够计算出</a:t>
            </a:r>
            <a:r>
              <a:rPr lang="en-US" altLang="zh-CN" dirty="0"/>
              <a:t>2</a:t>
            </a:r>
            <a:r>
              <a:rPr lang="zh-CN" altLang="en-US" dirty="0"/>
              <a:t>个小数的和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需求</a:t>
            </a:r>
            <a:r>
              <a:rPr lang="en-US" altLang="zh-CN" dirty="0"/>
              <a:t>2 : </a:t>
            </a:r>
            <a:r>
              <a:rPr lang="zh-CN" altLang="en-US" dirty="0"/>
              <a:t>设计一个方法</a:t>
            </a:r>
            <a:r>
              <a:rPr lang="en-US" altLang="zh-CN" dirty="0"/>
              <a:t>, </a:t>
            </a:r>
            <a:r>
              <a:rPr lang="zh-CN" altLang="en-US" dirty="0"/>
              <a:t>能够计算出</a:t>
            </a:r>
            <a:r>
              <a:rPr lang="en-US" altLang="zh-CN" dirty="0"/>
              <a:t>3</a:t>
            </a:r>
            <a:r>
              <a:rPr lang="zh-CN" altLang="en-US" dirty="0"/>
              <a:t>个整数的最小值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需求</a:t>
            </a:r>
            <a:r>
              <a:rPr lang="en-US" altLang="zh-CN" dirty="0"/>
              <a:t>3 : </a:t>
            </a:r>
            <a:r>
              <a:rPr lang="zh-CN" altLang="en-US" dirty="0"/>
              <a:t>设计一个方法</a:t>
            </a:r>
            <a:r>
              <a:rPr lang="en-US" altLang="zh-CN" dirty="0"/>
              <a:t>, </a:t>
            </a:r>
            <a:r>
              <a:rPr lang="zh-CN" altLang="en-US" dirty="0"/>
              <a:t>方法能够打印出用户的个人信息 </a:t>
            </a:r>
            <a:r>
              <a:rPr lang="en-US" altLang="zh-CN" dirty="0"/>
              <a:t>(</a:t>
            </a:r>
            <a:r>
              <a:rPr lang="zh-CN" altLang="en-US" dirty="0"/>
              <a:t>姓名</a:t>
            </a:r>
            <a:r>
              <a:rPr lang="en-US" altLang="zh-CN" dirty="0"/>
              <a:t>, </a:t>
            </a:r>
            <a:r>
              <a:rPr lang="zh-CN" altLang="en-US" dirty="0"/>
              <a:t>年龄</a:t>
            </a:r>
            <a:r>
              <a:rPr lang="en-US" altLang="zh-CN" dirty="0"/>
              <a:t>, </a:t>
            </a:r>
            <a:r>
              <a:rPr lang="zh-CN" altLang="en-US" dirty="0"/>
              <a:t>身高</a:t>
            </a:r>
            <a:r>
              <a:rPr lang="en-US" altLang="zh-CN" dirty="0"/>
              <a:t>, </a:t>
            </a:r>
            <a:r>
              <a:rPr lang="zh-CN" altLang="en-US" dirty="0"/>
              <a:t>性别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53744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AFA4-D0F6-9178-94C8-71822B585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0A7BDA-6FF5-396C-1BE5-B27A6CDE92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定义方法的两个明确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>
              <a:buAutoNum type="arabicPeriod"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明确参数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42900" indent="-342900">
              <a:buAutoNum type="arabicPeriod"/>
            </a:pP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明确返回值类型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88AF5F12-C654-7780-A8EC-258FC332188F}"/>
              </a:ext>
            </a:extLst>
          </p:cNvPr>
          <p:cNvSpPr txBox="1">
            <a:spLocks/>
          </p:cNvSpPr>
          <p:nvPr/>
        </p:nvSpPr>
        <p:spPr>
          <a:xfrm>
            <a:off x="627753" y="244189"/>
            <a:ext cx="8771021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endParaRPr kumimoji="1"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Alibaba PuHuiTi B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1217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50760-4F6C-3E35-8B85-4D9737EDB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1A50930-1F60-E525-04E3-CA77B1069C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/>
              <a:t>方法的介绍</a:t>
            </a:r>
            <a:endParaRPr lang="en-US" altLang="zh-CN" dirty="0"/>
          </a:p>
          <a:p>
            <a:r>
              <a:rPr lang="zh-CN" altLang="en-US" dirty="0"/>
              <a:t>方法的基本定义和调用</a:t>
            </a:r>
            <a:endParaRPr lang="en-US" altLang="zh-CN" dirty="0"/>
          </a:p>
          <a:p>
            <a:r>
              <a:rPr lang="zh-CN" altLang="en-US" dirty="0"/>
              <a:t>方法的执行流程</a:t>
            </a:r>
            <a:endParaRPr lang="en-US" altLang="zh-CN" dirty="0"/>
          </a:p>
          <a:p>
            <a:r>
              <a:rPr lang="zh-CN" altLang="en-US" dirty="0"/>
              <a:t>带参数的方法</a:t>
            </a:r>
            <a:endParaRPr lang="en-US" altLang="zh-CN" dirty="0"/>
          </a:p>
          <a:p>
            <a:r>
              <a:rPr lang="zh-CN" altLang="en-US" dirty="0"/>
              <a:t>带返回值的方法</a:t>
            </a:r>
            <a:endParaRPr lang="en-US" altLang="zh-CN" dirty="0"/>
          </a:p>
          <a:p>
            <a:r>
              <a:rPr lang="zh-CN" altLang="en-US" dirty="0"/>
              <a:t>方法通用定义格式</a:t>
            </a:r>
            <a:endParaRPr lang="en-US" altLang="zh-CN" dirty="0"/>
          </a:p>
          <a:p>
            <a:r>
              <a:rPr lang="zh-CN" altLang="en-US" dirty="0"/>
              <a:t>方法注意事项</a:t>
            </a:r>
            <a:endParaRPr lang="en-US" altLang="zh-CN" dirty="0"/>
          </a:p>
          <a:p>
            <a:r>
              <a:rPr lang="zh-CN" altLang="en-US" dirty="0"/>
              <a:t>方法重载</a:t>
            </a:r>
            <a:endParaRPr lang="en-US" altLang="zh-CN" dirty="0"/>
          </a:p>
          <a:p>
            <a:r>
              <a:rPr lang="en-US" altLang="zh-CN" dirty="0"/>
              <a:t>IDEA </a:t>
            </a:r>
            <a:r>
              <a:rPr lang="zh-CN" altLang="en-US" dirty="0"/>
              <a:t>安装</a:t>
            </a:r>
            <a:r>
              <a:rPr lang="en-US" altLang="zh-CN" dirty="0"/>
              <a:t> AI </a:t>
            </a:r>
            <a:r>
              <a:rPr lang="zh-CN" altLang="en-US" dirty="0"/>
              <a:t>插件</a:t>
            </a:r>
          </a:p>
        </p:txBody>
      </p:sp>
    </p:spTree>
    <p:extLst>
      <p:ext uri="{BB962C8B-B14F-4D97-AF65-F5344CB8AC3E}">
        <p14:creationId xmlns:p14="http://schemas.microsoft.com/office/powerpoint/2010/main" val="3158817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8A6DE-23A5-A71C-2CB0-39F8558AE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85B659-C9FD-42F2-58D8-C633A0D548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方法注意事项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6CCA7705-B4D5-500E-B473-6977EE2C2F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82725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方法注意事项</a:t>
            </a:r>
          </a:p>
        </p:txBody>
      </p:sp>
      <p:sp>
        <p:nvSpPr>
          <p:cNvPr id="31" name="TextBox 3">
            <a:extLst>
              <a:ext uri="{FF2B5EF4-FFF2-40B4-BE49-F238E27FC236}">
                <a16:creationId xmlns:a16="http://schemas.microsoft.com/office/drawing/2014/main" id="{2186A327-99B1-450F-ADCB-774560566EA4}"/>
              </a:ext>
            </a:extLst>
          </p:cNvPr>
          <p:cNvSpPr txBox="1"/>
          <p:nvPr/>
        </p:nvSpPr>
        <p:spPr>
          <a:xfrm>
            <a:off x="524933" y="1084334"/>
            <a:ext cx="10079567" cy="19932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57708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方法不调用就不执行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方法与方法之间是平级关系，不能嵌套定义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方法的编写顺序和执行顺序无关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方法的返回值类型为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void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，表示该方法没有返回值，没有返回值的方法可以省略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return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语句不写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如果要编写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return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，后面不能跟具体的数据。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marL="357708" indent="-357708">
              <a:lnSpc>
                <a:spcPct val="150000"/>
              </a:lnSpc>
              <a:buFont typeface="Wingdings" pitchFamily="2" charset="2"/>
              <a:buChar char="l"/>
              <a:defRPr/>
            </a:pP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return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语句下面，不能编写代码，因为永远执行不到，属于无效的代码</a:t>
            </a:r>
            <a:endParaRPr lang="en-US" altLang="zh-CN" sz="14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D4FF7F2-E598-4798-90BD-9ECBAEB02B9B}"/>
              </a:ext>
            </a:extLst>
          </p:cNvPr>
          <p:cNvGrpSpPr>
            <a:grpSpLocks/>
          </p:cNvGrpSpPr>
          <p:nvPr/>
        </p:nvGrpSpPr>
        <p:grpSpPr bwMode="auto">
          <a:xfrm>
            <a:off x="239183" y="3478943"/>
            <a:ext cx="11713633" cy="1384996"/>
            <a:chOff x="251520" y="3219822"/>
            <a:chExt cx="8784976" cy="1038542"/>
          </a:xfrm>
          <a:solidFill>
            <a:srgbClr val="FFFFE4"/>
          </a:solidFill>
        </p:grpSpPr>
        <p:sp>
          <p:nvSpPr>
            <p:cNvPr id="33" name="TextBox 3">
              <a:extLst>
                <a:ext uri="{FF2B5EF4-FFF2-40B4-BE49-F238E27FC236}">
                  <a16:creationId xmlns:a16="http://schemas.microsoft.com/office/drawing/2014/main" id="{5D4048F7-C484-4AE4-8F51-2DAD195B5570}"/>
                </a:ext>
              </a:extLst>
            </p:cNvPr>
            <p:cNvSpPr txBox="1"/>
            <p:nvPr/>
          </p:nvSpPr>
          <p:spPr>
            <a:xfrm>
              <a:off x="251520" y="3219822"/>
              <a:ext cx="2854244" cy="1038542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dirty="0">
                  <a:solidFill>
                    <a:srgbClr val="0033B3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public class 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MethodDemo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 { 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b="1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    </a:t>
              </a:r>
              <a:r>
                <a:rPr lang="en-US" altLang="zh-CN" sz="1400" dirty="0">
                  <a:solidFill>
                    <a:srgbClr val="0033B3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public static void 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method() {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        </a:t>
              </a:r>
              <a:r>
                <a:rPr lang="en-US" altLang="zh-CN" sz="1400" i="1" kern="0" dirty="0">
                  <a:solidFill>
                    <a:srgbClr val="80808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//</a:t>
              </a:r>
              <a:r>
                <a:rPr lang="zh-CN" altLang="en-US" sz="1400" i="1" kern="0" dirty="0">
                  <a:solidFill>
                    <a:srgbClr val="808080"/>
                  </a:solidFill>
                  <a:cs typeface="宋体" panose="02010600030101010101" pitchFamily="2" charset="-122"/>
                </a:rPr>
                <a:t>代码片段</a:t>
              </a:r>
              <a:endParaRPr lang="en-US" altLang="zh-CN" sz="1400" i="1" kern="0" dirty="0">
                <a:solidFill>
                  <a:srgbClr val="808080"/>
                </a:solidFill>
                <a:cs typeface="宋体" panose="02010600030101010101" pitchFamily="2" charset="-122"/>
              </a:endParaRP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b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</a:b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    }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}</a:t>
              </a:r>
            </a:p>
          </p:txBody>
        </p:sp>
        <p:sp>
          <p:nvSpPr>
            <p:cNvPr id="34" name="TextBox 3">
              <a:extLst>
                <a:ext uri="{FF2B5EF4-FFF2-40B4-BE49-F238E27FC236}">
                  <a16:creationId xmlns:a16="http://schemas.microsoft.com/office/drawing/2014/main" id="{955FFAF0-96A7-42AA-9DB9-1546AA33DD01}"/>
                </a:ext>
              </a:extLst>
            </p:cNvPr>
            <p:cNvSpPr txBox="1"/>
            <p:nvPr/>
          </p:nvSpPr>
          <p:spPr>
            <a:xfrm>
              <a:off x="3216886" y="3219822"/>
              <a:ext cx="2854244" cy="1038542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dirty="0">
                  <a:solidFill>
                    <a:srgbClr val="0033B3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public class 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MethodDemo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 { 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b="1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    </a:t>
              </a:r>
              <a:r>
                <a:rPr lang="en-US" altLang="zh-CN" sz="1400" dirty="0">
                  <a:solidFill>
                    <a:srgbClr val="0033B3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public static void 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method() {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        </a:t>
              </a:r>
              <a:r>
                <a:rPr lang="en-US" altLang="zh-CN" sz="1400" i="1" kern="0" dirty="0">
                  <a:solidFill>
                    <a:srgbClr val="80808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//</a:t>
              </a:r>
              <a:r>
                <a:rPr lang="zh-CN" altLang="en-US" sz="1400" i="1" kern="0" dirty="0">
                  <a:solidFill>
                    <a:srgbClr val="808080"/>
                  </a:solidFill>
                  <a:cs typeface="宋体" panose="02010600030101010101" pitchFamily="2" charset="-122"/>
                </a:rPr>
                <a:t>代码片段</a:t>
              </a:r>
              <a:b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</a:b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	</a:t>
              </a:r>
              <a:r>
                <a:rPr lang="en-US" altLang="zh-CN" sz="1400" dirty="0">
                  <a:solidFill>
                    <a:srgbClr val="0033B3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return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;</a:t>
              </a:r>
              <a:b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</a:b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    }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}</a:t>
              </a:r>
            </a:p>
          </p:txBody>
        </p:sp>
        <p:sp>
          <p:nvSpPr>
            <p:cNvPr id="35" name="TextBox 3">
              <a:extLst>
                <a:ext uri="{FF2B5EF4-FFF2-40B4-BE49-F238E27FC236}">
                  <a16:creationId xmlns:a16="http://schemas.microsoft.com/office/drawing/2014/main" id="{B7E2DD3E-AF77-4C77-BB56-2EEF90974350}"/>
                </a:ext>
              </a:extLst>
            </p:cNvPr>
            <p:cNvSpPr txBox="1"/>
            <p:nvPr/>
          </p:nvSpPr>
          <p:spPr>
            <a:xfrm>
              <a:off x="6182252" y="3219822"/>
              <a:ext cx="2854244" cy="1038542"/>
            </a:xfrm>
            <a:prstGeom prst="rect">
              <a:avLst/>
            </a:prstGeom>
            <a:grpFill/>
            <a:ln w="12700"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dirty="0">
                  <a:solidFill>
                    <a:srgbClr val="0033B3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public class </a:t>
              </a:r>
              <a:r>
                <a:rPr lang="en-US" altLang="zh-CN" sz="1400" kern="0" dirty="0" err="1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MethodDemo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 { 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b="1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    </a:t>
              </a:r>
              <a:r>
                <a:rPr lang="en-US" altLang="zh-CN" sz="1400" dirty="0">
                  <a:solidFill>
                    <a:srgbClr val="0033B3"/>
                  </a:solidFill>
                  <a:latin typeface="Consolas" panose="020B0609020204030204" pitchFamily="49" charset="0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public static void 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method() {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        </a:t>
              </a:r>
              <a:r>
                <a:rPr lang="en-US" altLang="zh-CN" sz="1400" i="1" kern="0" dirty="0">
                  <a:solidFill>
                    <a:srgbClr val="80808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//</a:t>
              </a:r>
              <a:r>
                <a:rPr lang="zh-CN" altLang="en-US" sz="1400" i="1" kern="0" dirty="0">
                  <a:solidFill>
                    <a:srgbClr val="808080"/>
                  </a:solidFill>
                  <a:cs typeface="宋体" panose="02010600030101010101" pitchFamily="2" charset="-122"/>
                </a:rPr>
                <a:t>代码片段</a:t>
              </a:r>
              <a:b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</a:b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	</a:t>
              </a:r>
              <a:r>
                <a:rPr lang="en-US" altLang="zh-CN" sz="1400" b="1" kern="0" dirty="0">
                  <a:solidFill>
                    <a:srgbClr val="00008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return </a:t>
              </a:r>
              <a:r>
                <a:rPr lang="en-US" altLang="zh-CN" sz="1400" kern="0" dirty="0">
                  <a:solidFill>
                    <a:srgbClr val="0000FF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100</a:t>
              </a: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;</a:t>
              </a:r>
              <a:b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</a:b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    }</a:t>
              </a:r>
            </a:p>
            <a:p>
              <a:pPr>
                <a:tabLst>
                  <a:tab pos="775527" algn="l"/>
                  <a:tab pos="1551055" algn="l"/>
                  <a:tab pos="2326582" algn="l"/>
                  <a:tab pos="3102109" algn="l"/>
                  <a:tab pos="3877636" algn="l"/>
                  <a:tab pos="4653164" algn="l"/>
                  <a:tab pos="5428691" algn="l"/>
                  <a:tab pos="6204218" algn="l"/>
                  <a:tab pos="6979746" algn="l"/>
                  <a:tab pos="7755273" algn="l"/>
                  <a:tab pos="8530800" algn="l"/>
                  <a:tab pos="9306327" algn="l"/>
                  <a:tab pos="10081855" algn="l"/>
                  <a:tab pos="10857382" algn="l"/>
                  <a:tab pos="11632909" algn="l"/>
                  <a:tab pos="12408436" algn="l"/>
                </a:tabLst>
                <a:defRPr/>
              </a:pPr>
              <a:r>
                <a:rPr lang="en-US" altLang="zh-CN" sz="1400" kern="0" dirty="0">
                  <a:solidFill>
                    <a:srgbClr val="000000"/>
                  </a:solidFill>
                  <a:latin typeface="Consolas" panose="020B0609020204030204" pitchFamily="49" charset="0"/>
                  <a:cs typeface="宋体" panose="02010600030101010101" pitchFamily="2" charset="-122"/>
                </a:rPr>
                <a:t>}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C2B51D67-588B-4B28-A3AE-A98FC7E660D6}"/>
              </a:ext>
            </a:extLst>
          </p:cNvPr>
          <p:cNvGrpSpPr>
            <a:grpSpLocks/>
          </p:cNvGrpSpPr>
          <p:nvPr/>
        </p:nvGrpSpPr>
        <p:grpSpPr bwMode="auto">
          <a:xfrm>
            <a:off x="1873249" y="4715074"/>
            <a:ext cx="924984" cy="419100"/>
            <a:chOff x="3204219" y="1492496"/>
            <a:chExt cx="694284" cy="313953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58D4A6F7-5A97-4A1C-8B3F-D37FCF843449}"/>
                </a:ext>
              </a:extLst>
            </p:cNvPr>
            <p:cNvSpPr/>
            <p:nvPr/>
          </p:nvSpPr>
          <p:spPr>
            <a:xfrm rot="2700000">
              <a:off x="3106026" y="1590689"/>
              <a:ext cx="313953" cy="117567"/>
            </a:xfrm>
            <a:prstGeom prst="rect">
              <a:avLst/>
            </a:prstGeom>
            <a:solidFill>
              <a:srgbClr val="00B05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E936B64-D582-43CD-A38F-022B28BEADB5}"/>
                </a:ext>
              </a:extLst>
            </p:cNvPr>
            <p:cNvSpPr/>
            <p:nvPr/>
          </p:nvSpPr>
          <p:spPr>
            <a:xfrm rot="18900000">
              <a:off x="3224873" y="1495667"/>
              <a:ext cx="673630" cy="117336"/>
            </a:xfrm>
            <a:prstGeom prst="rect">
              <a:avLst/>
            </a:prstGeom>
            <a:solidFill>
              <a:srgbClr val="00B05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BE5A1655-1E73-41B6-A33C-C1A2C7927636}"/>
              </a:ext>
            </a:extLst>
          </p:cNvPr>
          <p:cNvGrpSpPr>
            <a:grpSpLocks/>
          </p:cNvGrpSpPr>
          <p:nvPr/>
        </p:nvGrpSpPr>
        <p:grpSpPr bwMode="auto">
          <a:xfrm>
            <a:off x="9601200" y="4342540"/>
            <a:ext cx="899583" cy="899584"/>
            <a:chOff x="4905994" y="1297468"/>
            <a:chExt cx="673993" cy="673993"/>
          </a:xfrm>
          <a:solidFill>
            <a:srgbClr val="C00000"/>
          </a:solidFill>
        </p:grpSpPr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CBACE7E4-B019-4F4F-AB6B-74B9B1C705DA}"/>
                </a:ext>
              </a:extLst>
            </p:cNvPr>
            <p:cNvSpPr/>
            <p:nvPr/>
          </p:nvSpPr>
          <p:spPr>
            <a:xfrm rot="2700000">
              <a:off x="4906788" y="1575787"/>
              <a:ext cx="673993" cy="117354"/>
            </a:xfrm>
            <a:prstGeom prst="rect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D046AEC0-0DC1-44C2-AAE5-238EB959B4F7}"/>
                </a:ext>
              </a:extLst>
            </p:cNvPr>
            <p:cNvSpPr/>
            <p:nvPr/>
          </p:nvSpPr>
          <p:spPr>
            <a:xfrm rot="18900000">
              <a:off x="4905994" y="1576580"/>
              <a:ext cx="673993" cy="117354"/>
            </a:xfrm>
            <a:prstGeom prst="rect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6FF214B4-E891-4148-8CFC-B36A4911987E}"/>
              </a:ext>
            </a:extLst>
          </p:cNvPr>
          <p:cNvGrpSpPr>
            <a:grpSpLocks/>
          </p:cNvGrpSpPr>
          <p:nvPr/>
        </p:nvGrpSpPr>
        <p:grpSpPr bwMode="auto">
          <a:xfrm>
            <a:off x="5772149" y="4710840"/>
            <a:ext cx="924984" cy="416984"/>
            <a:chOff x="3204219" y="1492496"/>
            <a:chExt cx="694284" cy="313953"/>
          </a:xfrm>
        </p:grpSpPr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41C449A9-117C-4A0B-B232-95F0CA054FCF}"/>
                </a:ext>
              </a:extLst>
            </p:cNvPr>
            <p:cNvSpPr/>
            <p:nvPr/>
          </p:nvSpPr>
          <p:spPr>
            <a:xfrm rot="2700000">
              <a:off x="3106027" y="1590688"/>
              <a:ext cx="313953" cy="117567"/>
            </a:xfrm>
            <a:prstGeom prst="rect">
              <a:avLst/>
            </a:prstGeom>
            <a:solidFill>
              <a:srgbClr val="00B05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F9C6F89F-011A-41D1-8EA9-9EDF584D4AE6}"/>
                </a:ext>
              </a:extLst>
            </p:cNvPr>
            <p:cNvSpPr/>
            <p:nvPr/>
          </p:nvSpPr>
          <p:spPr>
            <a:xfrm rot="18900000">
              <a:off x="3224873" y="1495683"/>
              <a:ext cx="673630" cy="117931"/>
            </a:xfrm>
            <a:prstGeom prst="rect">
              <a:avLst/>
            </a:prstGeom>
            <a:solidFill>
              <a:srgbClr val="00B05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</p:grpSp>
      <p:sp>
        <p:nvSpPr>
          <p:cNvPr id="46" name="TextBox 3">
            <a:extLst>
              <a:ext uri="{FF2B5EF4-FFF2-40B4-BE49-F238E27FC236}">
                <a16:creationId xmlns:a16="http://schemas.microsoft.com/office/drawing/2014/main" id="{F9732BA1-E29E-48D1-BB1A-32137E385023}"/>
              </a:ext>
            </a:extLst>
          </p:cNvPr>
          <p:cNvSpPr txBox="1"/>
          <p:nvPr/>
        </p:nvSpPr>
        <p:spPr bwMode="auto">
          <a:xfrm>
            <a:off x="1267734" y="4278424"/>
            <a:ext cx="9215967" cy="1600438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public class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MethodDemo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{ 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public static void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method() {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    </a:t>
            </a: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//</a:t>
            </a:r>
            <a:r>
              <a:rPr lang="zh-CN" altLang="en-US" sz="1400" i="1" kern="0" dirty="0">
                <a:solidFill>
                  <a:srgbClr val="808080"/>
                </a:solidFill>
                <a:cs typeface="宋体" panose="02010600030101010101" pitchFamily="2" charset="-122"/>
              </a:rPr>
              <a:t>代码片段</a:t>
            </a:r>
            <a:endParaRPr lang="en-US" altLang="zh-CN" sz="1400" i="1" kern="0" dirty="0">
              <a:solidFill>
                <a:srgbClr val="808080"/>
              </a:solidFill>
              <a:cs typeface="宋体" panose="02010600030101010101" pitchFamily="2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	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return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	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System.</a:t>
            </a:r>
            <a:r>
              <a:rPr lang="en-US" altLang="zh-CN" sz="1400" b="1" i="1" kern="0" dirty="0" err="1">
                <a:solidFill>
                  <a:srgbClr val="660E7A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out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.println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(</a:t>
            </a:r>
            <a:r>
              <a:rPr lang="zh-CN" altLang="zh-CN" sz="14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zh-CN" altLang="en-US" sz="14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卑微代码</a:t>
            </a:r>
            <a:r>
              <a:rPr lang="zh-CN" altLang="zh-CN" sz="14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);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}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08AC1FB1-F71F-4654-B675-3C44393CC144}"/>
              </a:ext>
            </a:extLst>
          </p:cNvPr>
          <p:cNvGrpSpPr>
            <a:grpSpLocks/>
          </p:cNvGrpSpPr>
          <p:nvPr/>
        </p:nvGrpSpPr>
        <p:grpSpPr bwMode="auto">
          <a:xfrm>
            <a:off x="7793567" y="4537273"/>
            <a:ext cx="899583" cy="899584"/>
            <a:chOff x="4905994" y="1297468"/>
            <a:chExt cx="673993" cy="673993"/>
          </a:xfrm>
          <a:solidFill>
            <a:srgbClr val="C00000"/>
          </a:solidFill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691ECD42-61E5-460D-8640-A02D26694756}"/>
                </a:ext>
              </a:extLst>
            </p:cNvPr>
            <p:cNvSpPr/>
            <p:nvPr/>
          </p:nvSpPr>
          <p:spPr>
            <a:xfrm rot="2700000">
              <a:off x="4906788" y="1575787"/>
              <a:ext cx="673993" cy="117354"/>
            </a:xfrm>
            <a:prstGeom prst="rect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57816EF7-1457-42DF-8873-7891CD080F9A}"/>
                </a:ext>
              </a:extLst>
            </p:cNvPr>
            <p:cNvSpPr/>
            <p:nvPr/>
          </p:nvSpPr>
          <p:spPr>
            <a:xfrm rot="18900000">
              <a:off x="4905994" y="1576580"/>
              <a:ext cx="673993" cy="117354"/>
            </a:xfrm>
            <a:prstGeom prst="rect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641073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D76FD-8CBA-7243-8D6D-2C9FAB0AB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88076CB-FFCC-A2BB-CCEC-27296469CB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/>
              <a:t>方法的介绍</a:t>
            </a:r>
            <a:endParaRPr lang="en-US" altLang="zh-CN" dirty="0"/>
          </a:p>
          <a:p>
            <a:r>
              <a:rPr lang="zh-CN" altLang="en-US" dirty="0"/>
              <a:t>方法的基本定义和调用</a:t>
            </a:r>
            <a:endParaRPr lang="en-US" altLang="zh-CN" dirty="0"/>
          </a:p>
          <a:p>
            <a:r>
              <a:rPr lang="zh-CN" altLang="en-US" dirty="0"/>
              <a:t>方法的执行流程</a:t>
            </a:r>
            <a:endParaRPr lang="en-US" altLang="zh-CN" dirty="0"/>
          </a:p>
          <a:p>
            <a:r>
              <a:rPr lang="zh-CN" altLang="en-US" dirty="0"/>
              <a:t>带参数的方法</a:t>
            </a:r>
            <a:endParaRPr lang="en-US" altLang="zh-CN" dirty="0"/>
          </a:p>
          <a:p>
            <a:r>
              <a:rPr lang="zh-CN" altLang="en-US" dirty="0"/>
              <a:t>带返回值的方法</a:t>
            </a:r>
            <a:endParaRPr lang="en-US" altLang="zh-CN" dirty="0"/>
          </a:p>
          <a:p>
            <a:r>
              <a:rPr lang="zh-CN" altLang="en-US" dirty="0"/>
              <a:t>方法通用定义格式</a:t>
            </a:r>
            <a:endParaRPr lang="en-US" altLang="zh-CN" dirty="0"/>
          </a:p>
          <a:p>
            <a:r>
              <a:rPr lang="zh-CN" altLang="en-US" dirty="0"/>
              <a:t>方法注意事项</a:t>
            </a:r>
            <a:endParaRPr lang="en-US" altLang="zh-CN" dirty="0"/>
          </a:p>
          <a:p>
            <a:r>
              <a:rPr lang="zh-CN" altLang="en-US" dirty="0"/>
              <a:t>方法重载</a:t>
            </a:r>
            <a:endParaRPr lang="en-US" altLang="zh-CN" dirty="0"/>
          </a:p>
          <a:p>
            <a:r>
              <a:rPr lang="en-US" altLang="zh-CN" dirty="0"/>
              <a:t>IDEA </a:t>
            </a:r>
            <a:r>
              <a:rPr lang="zh-CN" altLang="en-US" dirty="0"/>
              <a:t>安装</a:t>
            </a:r>
            <a:r>
              <a:rPr lang="en-US" altLang="zh-CN" dirty="0"/>
              <a:t> AI </a:t>
            </a:r>
            <a:r>
              <a:rPr lang="zh-CN" altLang="en-US" dirty="0"/>
              <a:t>插件</a:t>
            </a:r>
          </a:p>
        </p:txBody>
      </p:sp>
    </p:spTree>
    <p:extLst>
      <p:ext uri="{BB962C8B-B14F-4D97-AF65-F5344CB8AC3E}">
        <p14:creationId xmlns:p14="http://schemas.microsoft.com/office/powerpoint/2010/main" val="3811811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7C16A-AB45-9ACF-42BA-C33141B10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7FF66C-C182-45B0-4BFD-E8C71EB05D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zh-CN" altLang="en-US" dirty="0"/>
              <a:t>方法重载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9B9E5C6C-F43D-1BAB-576D-4CF426C930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518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方法重载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1520286-192A-4EDF-BF3A-3C32B35ADA85}"/>
              </a:ext>
            </a:extLst>
          </p:cNvPr>
          <p:cNvSpPr txBox="1"/>
          <p:nvPr/>
        </p:nvSpPr>
        <p:spPr>
          <a:xfrm>
            <a:off x="477677" y="1246828"/>
            <a:ext cx="7969251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594" indent="-228594"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需求：提供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个计算方法，方法功能如下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7DF7429-143E-488B-B84C-D1F92CA642E1}"/>
              </a:ext>
            </a:extLst>
          </p:cNvPr>
          <p:cNvSpPr/>
          <p:nvPr/>
        </p:nvSpPr>
        <p:spPr>
          <a:xfrm>
            <a:off x="254518" y="2157424"/>
            <a:ext cx="5281084" cy="768349"/>
          </a:xfrm>
          <a:prstGeom prst="roundRect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1. 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计算两个整数相加的和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F41C4F4B-BE3B-40D5-ABB0-2D822E3808E2}"/>
              </a:ext>
            </a:extLst>
          </p:cNvPr>
          <p:cNvSpPr/>
          <p:nvPr/>
        </p:nvSpPr>
        <p:spPr>
          <a:xfrm>
            <a:off x="254518" y="3071825"/>
            <a:ext cx="5281084" cy="766233"/>
          </a:xfrm>
          <a:prstGeom prst="roundRect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2. 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计算两个小数相加的和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AF8229A8-3BA1-4571-AFE8-056AF5533126}"/>
              </a:ext>
            </a:extLst>
          </p:cNvPr>
          <p:cNvSpPr/>
          <p:nvPr/>
        </p:nvSpPr>
        <p:spPr>
          <a:xfrm>
            <a:off x="262984" y="4001040"/>
            <a:ext cx="5281084" cy="768351"/>
          </a:xfrm>
          <a:prstGeom prst="roundRect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3. 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计算三个整数相加的和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885AE43C-E934-453C-BA6C-2738F7E677DF}"/>
              </a:ext>
            </a:extLst>
          </p:cNvPr>
          <p:cNvSpPr/>
          <p:nvPr/>
        </p:nvSpPr>
        <p:spPr>
          <a:xfrm>
            <a:off x="254518" y="4930257"/>
            <a:ext cx="5281084" cy="768349"/>
          </a:xfrm>
          <a:prstGeom prst="roundRect">
            <a:avLst/>
          </a:prstGeom>
          <a:solidFill>
            <a:schemeClr val="tx2"/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4. </a:t>
            </a:r>
            <a:r>
              <a:rPr lang="zh-CN" altLang="en-US" dirty="0"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计算三个小数相加的和</a:t>
            </a:r>
          </a:p>
        </p:txBody>
      </p:sp>
      <p:sp>
        <p:nvSpPr>
          <p:cNvPr id="33" name="TextBox 3">
            <a:extLst>
              <a:ext uri="{FF2B5EF4-FFF2-40B4-BE49-F238E27FC236}">
                <a16:creationId xmlns:a16="http://schemas.microsoft.com/office/drawing/2014/main" id="{79395FF2-7D5A-46C2-A09E-5288C4D75738}"/>
              </a:ext>
            </a:extLst>
          </p:cNvPr>
          <p:cNvSpPr txBox="1"/>
          <p:nvPr/>
        </p:nvSpPr>
        <p:spPr>
          <a:xfrm>
            <a:off x="5712885" y="2123603"/>
            <a:ext cx="6399114" cy="375487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Test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static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int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add1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a,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b)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 + b;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static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add2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a,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b)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 + b;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static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int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add3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a,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b,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c)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 + b + c;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static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double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add4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a,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b,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c)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 + b + c;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  <p:pic>
        <p:nvPicPr>
          <p:cNvPr id="34" name="Picture 3">
            <a:extLst>
              <a:ext uri="{FF2B5EF4-FFF2-40B4-BE49-F238E27FC236}">
                <a16:creationId xmlns:a16="http://schemas.microsoft.com/office/drawing/2014/main" id="{68B6499C-7C9C-4109-94EA-38226D457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972" y="2408685"/>
            <a:ext cx="3155949" cy="2956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205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方法重载</a:t>
            </a:r>
            <a:endParaRPr kumimoji="1" lang="zh-CN" altLang="en-US" dirty="0"/>
          </a:p>
        </p:txBody>
      </p:sp>
      <p:sp>
        <p:nvSpPr>
          <p:cNvPr id="33" name="TextBox 3">
            <a:extLst>
              <a:ext uri="{FF2B5EF4-FFF2-40B4-BE49-F238E27FC236}">
                <a16:creationId xmlns:a16="http://schemas.microsoft.com/office/drawing/2014/main" id="{79395FF2-7D5A-46C2-A09E-5288C4D75738}"/>
              </a:ext>
            </a:extLst>
          </p:cNvPr>
          <p:cNvSpPr txBox="1"/>
          <p:nvPr/>
        </p:nvSpPr>
        <p:spPr>
          <a:xfrm>
            <a:off x="576626" y="1551563"/>
            <a:ext cx="6399114" cy="3754874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Test</a:t>
            </a:r>
            <a:r>
              <a:rPr lang="zh-CN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static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int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a,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b)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 + b;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static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a,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b)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 + b;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static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int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a,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b,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c)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 + b + c;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endParaRPr lang="en-US" altLang="zh-CN" sz="1400" dirty="0">
              <a:solidFill>
                <a:srgbClr val="080808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static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double </a:t>
            </a:r>
            <a:r>
              <a:rPr lang="zh-CN" altLang="zh-CN" sz="1400" dirty="0">
                <a:solidFill>
                  <a:srgbClr val="00627A"/>
                </a:solidFill>
                <a:latin typeface="Consolas" panose="020B0609020204030204" pitchFamily="49" charset="0"/>
              </a:rPr>
              <a:t>add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(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a,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b,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c) {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    </a:t>
            </a:r>
            <a:r>
              <a:rPr lang="zh-CN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return 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 + b + c;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    }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}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567758E1-9586-458C-8958-859669289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7758" y="3739848"/>
            <a:ext cx="4006225" cy="9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1867" b="1" dirty="0">
                <a:solidFill>
                  <a:srgbClr val="047F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调用方法的时候</a:t>
            </a:r>
            <a:r>
              <a:rPr lang="en-US" altLang="zh-CN" sz="1867" b="1" dirty="0">
                <a:solidFill>
                  <a:srgbClr val="047F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</a:p>
          <a:p>
            <a:r>
              <a:rPr lang="en-US" altLang="zh-CN" sz="1867" b="1" dirty="0">
                <a:solidFill>
                  <a:srgbClr val="047F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sz="1867" b="1" dirty="0">
                <a:solidFill>
                  <a:srgbClr val="047F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虚拟机</a:t>
            </a:r>
            <a:endParaRPr lang="en-US" altLang="zh-CN" sz="1867" b="1" dirty="0">
              <a:solidFill>
                <a:srgbClr val="047FF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867" b="1" dirty="0">
                <a:solidFill>
                  <a:srgbClr val="047F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lang="zh-CN" altLang="en-US" sz="186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通过参数的不同</a:t>
            </a:r>
            <a:r>
              <a:rPr lang="zh-CN" altLang="en-US" sz="1867" b="1" dirty="0">
                <a:solidFill>
                  <a:srgbClr val="047FF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来区分</a:t>
            </a:r>
            <a:r>
              <a:rPr lang="zh-CN" altLang="en-US" sz="186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同名的方法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D09FC0-36F5-4AEB-9DA1-64DD3A290C19}"/>
              </a:ext>
            </a:extLst>
          </p:cNvPr>
          <p:cNvSpPr txBox="1"/>
          <p:nvPr/>
        </p:nvSpPr>
        <p:spPr>
          <a:xfrm>
            <a:off x="7408924" y="1635882"/>
            <a:ext cx="4224867" cy="135037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add(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20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add(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10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20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30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add(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12.3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12.3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b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</a:b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add(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12.3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12.3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,</a:t>
            </a:r>
            <a:r>
              <a:rPr lang="zh-CN" altLang="zh-CN" sz="1400" dirty="0">
                <a:solidFill>
                  <a:srgbClr val="1750EB"/>
                </a:solidFill>
                <a:latin typeface="Consolas" panose="020B0609020204030204" pitchFamily="49" charset="0"/>
              </a:rPr>
              <a:t>12.3</a:t>
            </a:r>
            <a:r>
              <a:rPr lang="zh-CN" altLang="zh-CN" sz="1400" dirty="0">
                <a:solidFill>
                  <a:srgbClr val="080808"/>
                </a:solidFill>
                <a:latin typeface="Consolas" panose="020B0609020204030204" pitchFamily="49" charset="0"/>
              </a:rPr>
              <a:t>);</a:t>
            </a:r>
            <a:endParaRPr lang="zh-CN" altLang="zh-CN" sz="2133" dirty="0">
              <a:latin typeface="Consolas" panose="020B0609020204030204" pitchFamily="49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BA2A5C3-065B-4354-ACC9-EB2705B55B75}"/>
              </a:ext>
            </a:extLst>
          </p:cNvPr>
          <p:cNvCxnSpPr/>
          <p:nvPr/>
        </p:nvCxnSpPr>
        <p:spPr>
          <a:xfrm flipH="1">
            <a:off x="4866807" y="1915281"/>
            <a:ext cx="2520951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0C24475-658E-4C4A-B21E-D603DB99F2D0}"/>
              </a:ext>
            </a:extLst>
          </p:cNvPr>
          <p:cNvCxnSpPr>
            <a:cxnSpLocks/>
          </p:cNvCxnSpPr>
          <p:nvPr/>
        </p:nvCxnSpPr>
        <p:spPr>
          <a:xfrm>
            <a:off x="4887974" y="2493132"/>
            <a:ext cx="252095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C1BA2E3-0245-4FDA-8E64-C75F01104C50}"/>
              </a:ext>
            </a:extLst>
          </p:cNvPr>
          <p:cNvCxnSpPr>
            <a:cxnSpLocks/>
          </p:cNvCxnSpPr>
          <p:nvPr/>
        </p:nvCxnSpPr>
        <p:spPr>
          <a:xfrm>
            <a:off x="4887973" y="2493133"/>
            <a:ext cx="0" cy="1905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F7A5F3D8-1737-4301-934B-D2C39B5E7379}"/>
              </a:ext>
            </a:extLst>
          </p:cNvPr>
          <p:cNvCxnSpPr>
            <a:cxnSpLocks/>
          </p:cNvCxnSpPr>
          <p:nvPr/>
        </p:nvCxnSpPr>
        <p:spPr>
          <a:xfrm>
            <a:off x="6306141" y="2203148"/>
            <a:ext cx="108161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E3273BF-5197-4602-B754-A9C9F34BABDC}"/>
              </a:ext>
            </a:extLst>
          </p:cNvPr>
          <p:cNvCxnSpPr>
            <a:cxnSpLocks/>
          </p:cNvCxnSpPr>
          <p:nvPr/>
        </p:nvCxnSpPr>
        <p:spPr>
          <a:xfrm>
            <a:off x="6306140" y="2203148"/>
            <a:ext cx="0" cy="144145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D97B93DC-9840-423F-AC7E-6FAF8C12DBE0}"/>
              </a:ext>
            </a:extLst>
          </p:cNvPr>
          <p:cNvCxnSpPr>
            <a:cxnSpLocks/>
          </p:cNvCxnSpPr>
          <p:nvPr/>
        </p:nvCxnSpPr>
        <p:spPr>
          <a:xfrm flipH="1">
            <a:off x="5537791" y="3644599"/>
            <a:ext cx="768349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316DA29-99D7-42A0-9548-26CFD1577DF7}"/>
              </a:ext>
            </a:extLst>
          </p:cNvPr>
          <p:cNvCxnSpPr>
            <a:cxnSpLocks/>
          </p:cNvCxnSpPr>
          <p:nvPr/>
        </p:nvCxnSpPr>
        <p:spPr>
          <a:xfrm>
            <a:off x="6594007" y="2861432"/>
            <a:ext cx="814917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8A8E6480-D0C0-493E-8E59-181956D95F15}"/>
              </a:ext>
            </a:extLst>
          </p:cNvPr>
          <p:cNvCxnSpPr>
            <a:cxnSpLocks/>
          </p:cNvCxnSpPr>
          <p:nvPr/>
        </p:nvCxnSpPr>
        <p:spPr>
          <a:xfrm>
            <a:off x="6594007" y="2872015"/>
            <a:ext cx="0" cy="1060451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1A01804-C3F5-4EAF-989B-8CF5FF018C9A}"/>
              </a:ext>
            </a:extLst>
          </p:cNvPr>
          <p:cNvCxnSpPr>
            <a:cxnSpLocks/>
          </p:cNvCxnSpPr>
          <p:nvPr/>
        </p:nvCxnSpPr>
        <p:spPr>
          <a:xfrm>
            <a:off x="5779091" y="3932465"/>
            <a:ext cx="814916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2879CA84-06C0-4638-B49C-7320B1093B23}"/>
              </a:ext>
            </a:extLst>
          </p:cNvPr>
          <p:cNvCxnSpPr>
            <a:cxnSpLocks/>
          </p:cNvCxnSpPr>
          <p:nvPr/>
        </p:nvCxnSpPr>
        <p:spPr>
          <a:xfrm>
            <a:off x="5770624" y="3932465"/>
            <a:ext cx="8467" cy="480483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124226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"/>
                            </p:stCondLst>
                            <p:childTnLst>
                              <p:par>
                                <p:cTn id="5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5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方法重载</a:t>
            </a:r>
            <a:endParaRPr kumimoji="1" lang="zh-CN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6E1086C3-EA6A-49CB-AABE-149E7156CB6B}"/>
              </a:ext>
            </a:extLst>
          </p:cNvPr>
          <p:cNvSpPr txBox="1"/>
          <p:nvPr/>
        </p:nvSpPr>
        <p:spPr>
          <a:xfrm>
            <a:off x="759975" y="1076515"/>
            <a:ext cx="9023349" cy="79528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在同一个类中，定义了多个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同名的方法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，但每个方法具有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不同的参数类型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或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参数个数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，这些同名的方法，就构成了重载关系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(Overload)</a:t>
            </a: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F26E6F47-13FA-4034-81D5-89E4DA3A9996}"/>
              </a:ext>
            </a:extLst>
          </p:cNvPr>
          <p:cNvSpPr txBox="1"/>
          <p:nvPr/>
        </p:nvSpPr>
        <p:spPr>
          <a:xfrm>
            <a:off x="759975" y="2157143"/>
            <a:ext cx="9023349" cy="79528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594" indent="-228594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简单记：同一个类中，方法名相同，参数不同的方法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参数不同：个数不同、类型不同、顺序不同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8" name="TextBox 1">
            <a:extLst>
              <a:ext uri="{FF2B5EF4-FFF2-40B4-BE49-F238E27FC236}">
                <a16:creationId xmlns:a16="http://schemas.microsoft.com/office/drawing/2014/main" id="{B9441BD2-7577-4443-AC32-09A9815DB666}"/>
              </a:ext>
            </a:extLst>
          </p:cNvPr>
          <p:cNvSpPr txBox="1"/>
          <p:nvPr/>
        </p:nvSpPr>
        <p:spPr>
          <a:xfrm>
            <a:off x="759975" y="3295911"/>
            <a:ext cx="684995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1600" b="1" dirty="0">
                <a:solidFill>
                  <a:srgbClr val="0070C0"/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注意：识别方法之间是否是重载关系，只看方法名和参数，跟返回值无关。</a:t>
            </a:r>
          </a:p>
        </p:txBody>
      </p:sp>
    </p:spTree>
    <p:extLst>
      <p:ext uri="{BB962C8B-B14F-4D97-AF65-F5344CB8AC3E}">
        <p14:creationId xmlns:p14="http://schemas.microsoft.com/office/powerpoint/2010/main" val="2959801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方法重载</a:t>
            </a:r>
            <a:endParaRPr kumimoji="1" lang="zh-CN" altLang="en-US" dirty="0"/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CA6B0058-AEAF-4914-AF0A-7B51B6608F87}"/>
              </a:ext>
            </a:extLst>
          </p:cNvPr>
          <p:cNvSpPr txBox="1"/>
          <p:nvPr/>
        </p:nvSpPr>
        <p:spPr>
          <a:xfrm>
            <a:off x="962177" y="1884309"/>
            <a:ext cx="3816351" cy="181588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MethodDemo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   public static void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fn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(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a)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    </a:t>
            </a: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//</a:t>
            </a:r>
            <a:r>
              <a:rPr lang="zh-CN" altLang="en-US" sz="1400" i="1" kern="0" dirty="0">
                <a:solidFill>
                  <a:srgbClr val="808080"/>
                </a:solidFill>
                <a:cs typeface="宋体" panose="02010600030101010101" pitchFamily="2" charset="-122"/>
              </a:rPr>
              <a:t>方法体</a:t>
            </a:r>
            <a:endParaRPr lang="en-US" altLang="zh-CN" sz="1400" i="1" kern="0" dirty="0">
              <a:solidFill>
                <a:srgbClr val="808080"/>
              </a:solidFill>
              <a:cs typeface="宋体" panose="02010600030101010101" pitchFamily="2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200" kern="100" dirty="0">
              <a:cs typeface="Times New Roman" panose="02020603050405020304" pitchFamily="18" charset="0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   public static int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fn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(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a)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    </a:t>
            </a: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//</a:t>
            </a:r>
            <a:r>
              <a:rPr lang="zh-CN" altLang="en-US" sz="1400" i="1" kern="0" dirty="0">
                <a:solidFill>
                  <a:srgbClr val="808080"/>
                </a:solidFill>
                <a:cs typeface="宋体" panose="02010600030101010101" pitchFamily="2" charset="-122"/>
              </a:rPr>
              <a:t>方法体</a:t>
            </a:r>
            <a:endParaRPr lang="en-US" altLang="zh-CN" sz="1400" i="1" kern="0" dirty="0">
              <a:solidFill>
                <a:srgbClr val="808080"/>
              </a:solidFill>
              <a:cs typeface="宋体" panose="02010600030101010101" pitchFamily="2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200" kern="100" dirty="0">
              <a:cs typeface="Times New Roman" panose="02020603050405020304" pitchFamily="18" charset="0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400" kern="100" dirty="0">
              <a:cs typeface="Times New Roman" panose="02020603050405020304" pitchFamily="18" charset="0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4E5B5BDD-AAD8-445B-8651-12A664294AD4}"/>
              </a:ext>
            </a:extLst>
          </p:cNvPr>
          <p:cNvSpPr txBox="1"/>
          <p:nvPr/>
        </p:nvSpPr>
        <p:spPr>
          <a:xfrm>
            <a:off x="970644" y="3992510"/>
            <a:ext cx="3807884" cy="181588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MethodDemo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fn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(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kern="0" dirty="0">
                <a:solidFill>
                  <a:srgbClr val="000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a)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    </a:t>
            </a: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//</a:t>
            </a:r>
            <a:r>
              <a:rPr lang="zh-CN" altLang="en-US" sz="1400" i="1" kern="0" dirty="0">
                <a:solidFill>
                  <a:srgbClr val="808080"/>
                </a:solidFill>
                <a:cs typeface="宋体" panose="02010600030101010101" pitchFamily="2" charset="-122"/>
              </a:rPr>
              <a:t>方法体</a:t>
            </a:r>
            <a:endParaRPr lang="en-US" altLang="zh-CN" sz="1400" i="1" kern="0" dirty="0">
              <a:solidFill>
                <a:srgbClr val="808080"/>
              </a:solidFill>
              <a:cs typeface="宋体" panose="02010600030101010101" pitchFamily="2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200" kern="100" dirty="0">
              <a:cs typeface="Times New Roman" panose="02020603050405020304" pitchFamily="18" charset="0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b="1" kern="0" dirty="0">
                <a:solidFill>
                  <a:srgbClr val="000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int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fn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(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b="1" kern="0" dirty="0">
                <a:solidFill>
                  <a:srgbClr val="000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a)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    </a:t>
            </a: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//</a:t>
            </a:r>
            <a:r>
              <a:rPr lang="zh-CN" altLang="en-US" sz="1400" i="1" kern="0" dirty="0">
                <a:solidFill>
                  <a:srgbClr val="808080"/>
                </a:solidFill>
                <a:cs typeface="宋体" panose="02010600030101010101" pitchFamily="2" charset="-122"/>
              </a:rPr>
              <a:t>方法体</a:t>
            </a:r>
            <a:endParaRPr lang="en-US" altLang="zh-CN" sz="1400" i="1" kern="0" dirty="0">
              <a:solidFill>
                <a:srgbClr val="808080"/>
              </a:solidFill>
              <a:cs typeface="宋体" panose="02010600030101010101" pitchFamily="2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200" kern="100" dirty="0">
              <a:cs typeface="Times New Roman" panose="02020603050405020304" pitchFamily="18" charset="0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400" kern="100" dirty="0">
              <a:cs typeface="Times New Roman" panose="02020603050405020304" pitchFamily="18" charset="0"/>
            </a:endParaRP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E22E778F-CB9D-4DDF-A0A5-588726E46354}"/>
              </a:ext>
            </a:extLst>
          </p:cNvPr>
          <p:cNvSpPr txBox="1"/>
          <p:nvPr/>
        </p:nvSpPr>
        <p:spPr>
          <a:xfrm>
            <a:off x="6217861" y="1880077"/>
            <a:ext cx="4322233" cy="181588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MethodDemo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float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fn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(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a)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    </a:t>
            </a: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//</a:t>
            </a:r>
            <a:r>
              <a:rPr lang="zh-CN" altLang="en-US" sz="1400" i="1" kern="0" dirty="0">
                <a:solidFill>
                  <a:srgbClr val="808080"/>
                </a:solidFill>
                <a:cs typeface="宋体" panose="02010600030101010101" pitchFamily="2" charset="-122"/>
              </a:rPr>
              <a:t>方法体</a:t>
            </a:r>
            <a:endParaRPr lang="en-US" altLang="zh-CN" sz="1400" i="1" kern="0" dirty="0">
              <a:solidFill>
                <a:srgbClr val="808080"/>
              </a:solidFill>
              <a:cs typeface="宋体" panose="02010600030101010101" pitchFamily="2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200" kern="100" dirty="0">
              <a:cs typeface="Times New Roman" panose="02020603050405020304" pitchFamily="18" charset="0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b="1" kern="0" dirty="0">
                <a:solidFill>
                  <a:srgbClr val="000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int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fn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(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a ,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b)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    </a:t>
            </a: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//</a:t>
            </a:r>
            <a:r>
              <a:rPr lang="zh-CN" altLang="en-US" sz="1400" i="1" kern="0" dirty="0">
                <a:solidFill>
                  <a:srgbClr val="808080"/>
                </a:solidFill>
                <a:cs typeface="宋体" panose="02010600030101010101" pitchFamily="2" charset="-122"/>
              </a:rPr>
              <a:t>方法体</a:t>
            </a:r>
            <a:endParaRPr lang="en-US" altLang="zh-CN" sz="1400" i="1" kern="0" dirty="0">
              <a:solidFill>
                <a:srgbClr val="808080"/>
              </a:solidFill>
              <a:cs typeface="宋体" panose="02010600030101010101" pitchFamily="2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200" kern="100" dirty="0">
              <a:cs typeface="Times New Roman" panose="02020603050405020304" pitchFamily="18" charset="0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400" kern="100" dirty="0">
              <a:cs typeface="Times New Roman" panose="02020603050405020304" pitchFamily="18" charset="0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AA1839D8-4144-4299-AF66-136E26AF1B81}"/>
              </a:ext>
            </a:extLst>
          </p:cNvPr>
          <p:cNvSpPr txBox="1"/>
          <p:nvPr/>
        </p:nvSpPr>
        <p:spPr>
          <a:xfrm>
            <a:off x="6228443" y="3986159"/>
            <a:ext cx="4311651" cy="2246769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MethodDemo01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fn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(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kern="0" dirty="0">
                <a:solidFill>
                  <a:srgbClr val="000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a)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    </a:t>
            </a: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//</a:t>
            </a:r>
            <a:r>
              <a:rPr lang="zh-CN" altLang="en-US" sz="1400" i="1" kern="0" dirty="0">
                <a:solidFill>
                  <a:srgbClr val="808080"/>
                </a:solidFill>
                <a:cs typeface="宋体" panose="02010600030101010101" pitchFamily="2" charset="-122"/>
              </a:rPr>
              <a:t>方法体</a:t>
            </a:r>
            <a:endParaRPr lang="en-US" altLang="zh-CN" sz="1400" i="1" kern="0" dirty="0">
              <a:solidFill>
                <a:srgbClr val="808080"/>
              </a:solidFill>
              <a:cs typeface="宋体" panose="02010600030101010101" pitchFamily="2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 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MethodDemo02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   public static int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fn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(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a)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    </a:t>
            </a: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//</a:t>
            </a:r>
            <a:r>
              <a:rPr lang="zh-CN" altLang="en-US" sz="1400" i="1" kern="0" dirty="0">
                <a:solidFill>
                  <a:srgbClr val="808080"/>
                </a:solidFill>
                <a:cs typeface="宋体" panose="02010600030101010101" pitchFamily="2" charset="-122"/>
              </a:rPr>
              <a:t>方法体</a:t>
            </a:r>
            <a:endParaRPr lang="en-US" altLang="zh-CN" sz="1400" i="1" kern="0" dirty="0">
              <a:solidFill>
                <a:srgbClr val="808080"/>
              </a:solidFill>
              <a:cs typeface="宋体" panose="02010600030101010101" pitchFamily="2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400" kern="100" dirty="0">
              <a:cs typeface="Times New Roman" panose="02020603050405020304" pitchFamily="18" charset="0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400" kern="100" dirty="0">
              <a:cs typeface="Times New Roman" panose="02020603050405020304" pitchFamily="18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D03CD8B-E830-4DD7-99D9-05CB8EBEC654}"/>
              </a:ext>
            </a:extLst>
          </p:cNvPr>
          <p:cNvGrpSpPr>
            <a:grpSpLocks/>
          </p:cNvGrpSpPr>
          <p:nvPr/>
        </p:nvGrpSpPr>
        <p:grpSpPr bwMode="auto">
          <a:xfrm>
            <a:off x="4075794" y="3056943"/>
            <a:ext cx="897467" cy="899583"/>
            <a:chOff x="4905994" y="1297468"/>
            <a:chExt cx="673993" cy="673993"/>
          </a:xfrm>
          <a:solidFill>
            <a:srgbClr val="AD2B26"/>
          </a:solidFill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8C9E840-6B5E-4F0D-B4E3-2BB72E15BF23}"/>
                </a:ext>
              </a:extLst>
            </p:cNvPr>
            <p:cNvSpPr/>
            <p:nvPr/>
          </p:nvSpPr>
          <p:spPr>
            <a:xfrm rot="2700000">
              <a:off x="4905993" y="1575649"/>
              <a:ext cx="673993" cy="117631"/>
            </a:xfrm>
            <a:prstGeom prst="rect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17A9700-EB01-4451-A7A6-84AE041D5A5F}"/>
                </a:ext>
              </a:extLst>
            </p:cNvPr>
            <p:cNvSpPr/>
            <p:nvPr/>
          </p:nvSpPr>
          <p:spPr>
            <a:xfrm rot="18900000">
              <a:off x="4905994" y="1576581"/>
              <a:ext cx="673993" cy="117354"/>
            </a:xfrm>
            <a:prstGeom prst="rect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AE4AD93-2E7C-4C2B-A2AE-C0E3D91026A7}"/>
              </a:ext>
            </a:extLst>
          </p:cNvPr>
          <p:cNvGrpSpPr>
            <a:grpSpLocks/>
          </p:cNvGrpSpPr>
          <p:nvPr/>
        </p:nvGrpSpPr>
        <p:grpSpPr bwMode="auto">
          <a:xfrm>
            <a:off x="9866994" y="3501443"/>
            <a:ext cx="924983" cy="419100"/>
            <a:chOff x="3204219" y="1492496"/>
            <a:chExt cx="694284" cy="313953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A60B04D-6E6B-456B-9EC4-C4A6D277E85F}"/>
                </a:ext>
              </a:extLst>
            </p:cNvPr>
            <p:cNvSpPr/>
            <p:nvPr/>
          </p:nvSpPr>
          <p:spPr>
            <a:xfrm rot="2700000">
              <a:off x="3106026" y="1590689"/>
              <a:ext cx="313953" cy="117568"/>
            </a:xfrm>
            <a:prstGeom prst="rect">
              <a:avLst/>
            </a:prstGeom>
            <a:solidFill>
              <a:srgbClr val="00B05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8B98EA3-08FE-402E-9138-40C6A0132799}"/>
                </a:ext>
              </a:extLst>
            </p:cNvPr>
            <p:cNvSpPr/>
            <p:nvPr/>
          </p:nvSpPr>
          <p:spPr>
            <a:xfrm rot="18900000">
              <a:off x="3224872" y="1495667"/>
              <a:ext cx="673631" cy="117336"/>
            </a:xfrm>
            <a:prstGeom prst="rect">
              <a:avLst/>
            </a:prstGeom>
            <a:solidFill>
              <a:srgbClr val="00B05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0AA226DE-91E8-4137-85D9-5DB470A266D2}"/>
              </a:ext>
            </a:extLst>
          </p:cNvPr>
          <p:cNvGrpSpPr>
            <a:grpSpLocks/>
          </p:cNvGrpSpPr>
          <p:nvPr/>
        </p:nvGrpSpPr>
        <p:grpSpPr bwMode="auto">
          <a:xfrm>
            <a:off x="4118128" y="5609643"/>
            <a:ext cx="924983" cy="419100"/>
            <a:chOff x="3204219" y="1492496"/>
            <a:chExt cx="694284" cy="313953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554C30CD-1E13-401D-9C60-52D4EA1B0062}"/>
                </a:ext>
              </a:extLst>
            </p:cNvPr>
            <p:cNvSpPr/>
            <p:nvPr/>
          </p:nvSpPr>
          <p:spPr>
            <a:xfrm rot="2700000">
              <a:off x="3106026" y="1590689"/>
              <a:ext cx="313953" cy="117568"/>
            </a:xfrm>
            <a:prstGeom prst="rect">
              <a:avLst/>
            </a:prstGeom>
            <a:solidFill>
              <a:srgbClr val="00B05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74038EAE-841E-4A8E-AFD4-FF75CC99A2DD}"/>
                </a:ext>
              </a:extLst>
            </p:cNvPr>
            <p:cNvSpPr/>
            <p:nvPr/>
          </p:nvSpPr>
          <p:spPr>
            <a:xfrm rot="18900000">
              <a:off x="3224872" y="1495667"/>
              <a:ext cx="673631" cy="117336"/>
            </a:xfrm>
            <a:prstGeom prst="rect">
              <a:avLst/>
            </a:prstGeom>
            <a:solidFill>
              <a:srgbClr val="00B05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49721D8-BA31-4F54-B76C-76734794C916}"/>
              </a:ext>
            </a:extLst>
          </p:cNvPr>
          <p:cNvGrpSpPr>
            <a:grpSpLocks/>
          </p:cNvGrpSpPr>
          <p:nvPr/>
        </p:nvGrpSpPr>
        <p:grpSpPr bwMode="auto">
          <a:xfrm>
            <a:off x="9818310" y="5395859"/>
            <a:ext cx="897467" cy="899584"/>
            <a:chOff x="4905994" y="1297468"/>
            <a:chExt cx="673993" cy="673993"/>
          </a:xfrm>
          <a:solidFill>
            <a:srgbClr val="AD2B26"/>
          </a:solidFill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B69FBDAF-C067-4275-A903-80403A2E9CF8}"/>
                </a:ext>
              </a:extLst>
            </p:cNvPr>
            <p:cNvSpPr/>
            <p:nvPr/>
          </p:nvSpPr>
          <p:spPr>
            <a:xfrm rot="2700000">
              <a:off x="4905995" y="1575649"/>
              <a:ext cx="673993" cy="117631"/>
            </a:xfrm>
            <a:prstGeom prst="rect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DCF8B28-2900-45B7-BBA1-BDBB523FBBD6}"/>
                </a:ext>
              </a:extLst>
            </p:cNvPr>
            <p:cNvSpPr/>
            <p:nvPr/>
          </p:nvSpPr>
          <p:spPr>
            <a:xfrm rot="18900000">
              <a:off x="4905994" y="1576580"/>
              <a:ext cx="673993" cy="117354"/>
            </a:xfrm>
            <a:prstGeom prst="rect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41292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 方法重载</a:t>
            </a:r>
            <a:endParaRPr kumimoji="1" lang="zh-CN" altLang="en-US" dirty="0"/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B0BF80CD-3705-447E-A061-B6BA14062630}"/>
              </a:ext>
            </a:extLst>
          </p:cNvPr>
          <p:cNvSpPr txBox="1"/>
          <p:nvPr/>
        </p:nvSpPr>
        <p:spPr>
          <a:xfrm>
            <a:off x="812479" y="1763011"/>
            <a:ext cx="6985000" cy="181588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MethodDemo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fn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(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kern="0" dirty="0">
                <a:solidFill>
                  <a:srgbClr val="000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a,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b)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    </a:t>
            </a: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//</a:t>
            </a:r>
            <a:r>
              <a:rPr lang="zh-CN" altLang="en-US" sz="1400" i="1" kern="0" dirty="0">
                <a:solidFill>
                  <a:srgbClr val="808080"/>
                </a:solidFill>
                <a:cs typeface="宋体" panose="02010600030101010101" pitchFamily="2" charset="-122"/>
              </a:rPr>
              <a:t>方法体</a:t>
            </a:r>
            <a:endParaRPr lang="en-US" altLang="zh-CN" sz="1400" i="1" kern="0" dirty="0">
              <a:solidFill>
                <a:srgbClr val="808080"/>
              </a:solidFill>
              <a:cs typeface="宋体" panose="02010600030101010101" pitchFamily="2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200" kern="100" dirty="0">
              <a:cs typeface="Times New Roman" panose="02020603050405020304" pitchFamily="18" charset="0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   public static void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fn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(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b="1" kern="0" dirty="0">
                <a:solidFill>
                  <a:srgbClr val="000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a,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b)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    </a:t>
            </a: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//</a:t>
            </a:r>
            <a:r>
              <a:rPr lang="zh-CN" altLang="en-US" sz="1400" i="1" kern="0" dirty="0">
                <a:solidFill>
                  <a:srgbClr val="808080"/>
                </a:solidFill>
                <a:cs typeface="宋体" panose="02010600030101010101" pitchFamily="2" charset="-122"/>
              </a:rPr>
              <a:t>方法体</a:t>
            </a:r>
            <a:endParaRPr lang="en-US" altLang="zh-CN" sz="1400" i="1" kern="0" dirty="0">
              <a:solidFill>
                <a:srgbClr val="808080"/>
              </a:solidFill>
              <a:cs typeface="宋体" panose="02010600030101010101" pitchFamily="2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200" kern="100" dirty="0">
              <a:cs typeface="Times New Roman" panose="02020603050405020304" pitchFamily="18" charset="0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400" kern="100" dirty="0">
              <a:cs typeface="Times New Roman" panose="02020603050405020304" pitchFamily="18" charset="0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A393512A-9933-48D3-94B3-80BA4E4A910B}"/>
              </a:ext>
            </a:extLst>
          </p:cNvPr>
          <p:cNvGrpSpPr>
            <a:grpSpLocks/>
          </p:cNvGrpSpPr>
          <p:nvPr/>
        </p:nvGrpSpPr>
        <p:grpSpPr bwMode="auto">
          <a:xfrm>
            <a:off x="6358146" y="2654128"/>
            <a:ext cx="924984" cy="419100"/>
            <a:chOff x="3204219" y="1492496"/>
            <a:chExt cx="694284" cy="313953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209FBA1-4D25-4495-B7DD-543E4D303990}"/>
                </a:ext>
              </a:extLst>
            </p:cNvPr>
            <p:cNvSpPr/>
            <p:nvPr/>
          </p:nvSpPr>
          <p:spPr>
            <a:xfrm rot="2700000">
              <a:off x="3106026" y="1590689"/>
              <a:ext cx="313953" cy="117567"/>
            </a:xfrm>
            <a:prstGeom prst="rect">
              <a:avLst/>
            </a:prstGeom>
            <a:solidFill>
              <a:srgbClr val="00B05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E8D19D8C-28C7-4E66-97D6-19E30234D581}"/>
                </a:ext>
              </a:extLst>
            </p:cNvPr>
            <p:cNvSpPr/>
            <p:nvPr/>
          </p:nvSpPr>
          <p:spPr>
            <a:xfrm rot="18900000">
              <a:off x="3224873" y="1495667"/>
              <a:ext cx="673630" cy="117336"/>
            </a:xfrm>
            <a:prstGeom prst="rect">
              <a:avLst/>
            </a:prstGeom>
            <a:solidFill>
              <a:srgbClr val="00B050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</p:grpSp>
      <p:sp>
        <p:nvSpPr>
          <p:cNvPr id="2" name="TextBox 3">
            <a:extLst>
              <a:ext uri="{FF2B5EF4-FFF2-40B4-BE49-F238E27FC236}">
                <a16:creationId xmlns:a16="http://schemas.microsoft.com/office/drawing/2014/main" id="{A539DFB4-C623-199F-43D6-64D0A8A1A99E}"/>
              </a:ext>
            </a:extLst>
          </p:cNvPr>
          <p:cNvSpPr txBox="1"/>
          <p:nvPr/>
        </p:nvSpPr>
        <p:spPr>
          <a:xfrm>
            <a:off x="812479" y="4107312"/>
            <a:ext cx="6985000" cy="181588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MethodDemo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fn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(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kern="0" dirty="0">
                <a:solidFill>
                  <a:srgbClr val="000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a,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b)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    </a:t>
            </a: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//</a:t>
            </a:r>
            <a:r>
              <a:rPr lang="zh-CN" altLang="en-US" sz="1400" i="1" kern="0" dirty="0">
                <a:solidFill>
                  <a:srgbClr val="808080"/>
                </a:solidFill>
                <a:cs typeface="宋体" panose="02010600030101010101" pitchFamily="2" charset="-122"/>
              </a:rPr>
              <a:t>方法体</a:t>
            </a:r>
            <a:endParaRPr lang="en-US" altLang="zh-CN" sz="1400" i="1" kern="0" dirty="0">
              <a:solidFill>
                <a:srgbClr val="808080"/>
              </a:solidFill>
              <a:cs typeface="宋体" panose="02010600030101010101" pitchFamily="2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200" kern="100" dirty="0">
              <a:cs typeface="Times New Roman" panose="02020603050405020304" pitchFamily="18" charset="0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    public static void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fn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(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kern="0" dirty="0">
                <a:solidFill>
                  <a:srgbClr val="000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c,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d)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    </a:t>
            </a: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//</a:t>
            </a:r>
            <a:r>
              <a:rPr lang="zh-CN" altLang="en-US" sz="1400" i="1" kern="0" dirty="0">
                <a:solidFill>
                  <a:srgbClr val="808080"/>
                </a:solidFill>
                <a:cs typeface="宋体" panose="02010600030101010101" pitchFamily="2" charset="-122"/>
              </a:rPr>
              <a:t>方法体</a:t>
            </a:r>
            <a:endParaRPr lang="en-US" altLang="zh-CN" sz="1400" i="1" kern="0" dirty="0">
              <a:solidFill>
                <a:srgbClr val="808080"/>
              </a:solidFill>
              <a:cs typeface="宋体" panose="02010600030101010101" pitchFamily="2" charset="-122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200" kern="100" dirty="0">
              <a:cs typeface="Times New Roman" panose="02020603050405020304" pitchFamily="18" charset="0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400" kern="100" dirty="0">
              <a:cs typeface="Times New Roman" panose="02020603050405020304" pitchFamily="18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D14DEC2-3228-666A-BA90-3ADEE4B17CB1}"/>
              </a:ext>
            </a:extLst>
          </p:cNvPr>
          <p:cNvGrpSpPr>
            <a:grpSpLocks/>
          </p:cNvGrpSpPr>
          <p:nvPr/>
        </p:nvGrpSpPr>
        <p:grpSpPr bwMode="auto">
          <a:xfrm>
            <a:off x="6232909" y="4653293"/>
            <a:ext cx="897467" cy="899584"/>
            <a:chOff x="4905994" y="1297468"/>
            <a:chExt cx="673993" cy="673993"/>
          </a:xfrm>
          <a:solidFill>
            <a:srgbClr val="AD2B26"/>
          </a:solidFill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0F3D6A2-2797-4D26-7C77-61D0296541BD}"/>
                </a:ext>
              </a:extLst>
            </p:cNvPr>
            <p:cNvSpPr/>
            <p:nvPr/>
          </p:nvSpPr>
          <p:spPr>
            <a:xfrm rot="2700000">
              <a:off x="4905995" y="1575649"/>
              <a:ext cx="673993" cy="117631"/>
            </a:xfrm>
            <a:prstGeom prst="rect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5964730-D968-21FA-1061-415E38573B86}"/>
                </a:ext>
              </a:extLst>
            </p:cNvPr>
            <p:cNvSpPr/>
            <p:nvPr/>
          </p:nvSpPr>
          <p:spPr>
            <a:xfrm rot="18900000">
              <a:off x="4905994" y="1576580"/>
              <a:ext cx="673993" cy="117354"/>
            </a:xfrm>
            <a:prstGeom prst="rect">
              <a:avLst/>
            </a:prstGeom>
            <a:grp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370267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64C089C-0935-5E44-B9F7-7E9F84DDB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 方法重载的好处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09EDA63-FBDF-4FE0-A994-211A49A0D92A}"/>
              </a:ext>
            </a:extLst>
          </p:cNvPr>
          <p:cNvSpPr txBox="1"/>
          <p:nvPr/>
        </p:nvSpPr>
        <p:spPr>
          <a:xfrm>
            <a:off x="576626" y="1104029"/>
            <a:ext cx="30412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28594" indent="-228594"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不用记忆过多繁琐的方法名字</a:t>
            </a:r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227BA259-61AD-42ED-91B9-A828D1615801}"/>
              </a:ext>
            </a:extLst>
          </p:cNvPr>
          <p:cNvSpPr txBox="1"/>
          <p:nvPr/>
        </p:nvSpPr>
        <p:spPr>
          <a:xfrm>
            <a:off x="576626" y="1613118"/>
            <a:ext cx="6985000" cy="1815882"/>
          </a:xfrm>
          <a:prstGeom prst="rect">
            <a:avLst/>
          </a:prstGeom>
          <a:solidFill>
            <a:srgbClr val="FFFFE4"/>
          </a:solidFill>
          <a:ln w="127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class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MethodDemo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main(String[]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args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) {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  </a:t>
            </a:r>
            <a:r>
              <a:rPr lang="en-US" altLang="zh-CN" sz="1400" i="1" kern="0" dirty="0">
                <a:solidFill>
                  <a:srgbClr val="80808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//</a:t>
            </a:r>
            <a:r>
              <a:rPr lang="zh-CN" altLang="zh-CN" sz="1400" i="1" kern="0" dirty="0">
                <a:solidFill>
                  <a:srgbClr val="808080"/>
                </a:solidFill>
                <a:cs typeface="宋体" panose="02010600030101010101" pitchFamily="2" charset="-122"/>
              </a:rPr>
              <a:t>输出调用</a:t>
            </a:r>
            <a:br>
              <a:rPr lang="en-US" altLang="zh-CN" sz="1400" i="1" kern="0" dirty="0">
                <a:solidFill>
                  <a:srgbClr val="808080"/>
                </a:solidFill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 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System.</a:t>
            </a:r>
            <a:r>
              <a:rPr lang="en-US" altLang="zh-CN" sz="1400" i="1" dirty="0" err="1">
                <a:solidFill>
                  <a:srgbClr val="871094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.println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(10);		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 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System.</a:t>
            </a:r>
            <a:r>
              <a:rPr lang="en-US" altLang="zh-CN" sz="1400" i="1" kern="0" dirty="0" err="1">
                <a:solidFill>
                  <a:srgbClr val="660E7A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out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.println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(10.1);</a:t>
            </a: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  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System.</a:t>
            </a:r>
            <a:r>
              <a:rPr lang="en-US" altLang="zh-CN" sz="1400" i="1" kern="0" dirty="0" err="1">
                <a:solidFill>
                  <a:srgbClr val="660E7A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out</a:t>
            </a:r>
            <a:r>
              <a:rPr lang="en-US" altLang="zh-CN" sz="1400" kern="0" dirty="0" err="1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.println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(</a:t>
            </a:r>
            <a:r>
              <a:rPr lang="en-US" altLang="zh-CN" sz="1400" dirty="0">
                <a:solidFill>
                  <a:srgbClr val="0033B3"/>
                </a:solidFill>
                <a:latin typeface="Consolas" panose="020B0609020204030204" pitchFamily="49" charset="0"/>
              </a:rPr>
              <a:t>true</a:t>
            </a: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);</a:t>
            </a:r>
            <a:b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</a:b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    }</a:t>
            </a:r>
            <a:endParaRPr lang="zh-CN" altLang="zh-CN" sz="1200" kern="100" dirty="0">
              <a:cs typeface="Times New Roman" panose="02020603050405020304" pitchFamily="18" charset="0"/>
            </a:endParaRPr>
          </a:p>
          <a:p>
            <a:pPr>
              <a:tabLst>
                <a:tab pos="775527" algn="l"/>
                <a:tab pos="1551055" algn="l"/>
                <a:tab pos="2326582" algn="l"/>
                <a:tab pos="3102109" algn="l"/>
                <a:tab pos="3877636" algn="l"/>
                <a:tab pos="4653164" algn="l"/>
                <a:tab pos="5428691" algn="l"/>
                <a:tab pos="6204218" algn="l"/>
                <a:tab pos="6979746" algn="l"/>
                <a:tab pos="7755273" algn="l"/>
                <a:tab pos="8530800" algn="l"/>
                <a:tab pos="9306327" algn="l"/>
                <a:tab pos="10081855" algn="l"/>
                <a:tab pos="10857382" algn="l"/>
                <a:tab pos="11632909" algn="l"/>
                <a:tab pos="12408436" algn="l"/>
              </a:tabLst>
              <a:defRPr/>
            </a:pPr>
            <a:r>
              <a:rPr lang="en-US" altLang="zh-CN" sz="1400" kern="0" dirty="0">
                <a:solidFill>
                  <a:srgbClr val="000000"/>
                </a:solidFill>
                <a:latin typeface="Consolas" panose="020B0609020204030204" pitchFamily="49" charset="0"/>
                <a:cs typeface="宋体" panose="02010600030101010101" pitchFamily="2" charset="-122"/>
              </a:rPr>
              <a:t>}</a:t>
            </a:r>
            <a:endParaRPr lang="zh-CN" altLang="zh-CN" sz="1400" kern="1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237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D0AB4-890F-C2E2-27F3-BB377E1AF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C9C6E7-2EA2-280F-0A1E-FA4F42D674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方法重载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Overload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：同一个类中，方法名相同，参数不同的方法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问题：方法重载看返回值吗？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不看，只看参数类型，参数个数，参数顺序。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问题：方法重载有啥好处呢？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	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不需要记忆太多方法名字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标题 2">
            <a:extLst>
              <a:ext uri="{FF2B5EF4-FFF2-40B4-BE49-F238E27FC236}">
                <a16:creationId xmlns:a16="http://schemas.microsoft.com/office/drawing/2014/main" id="{CBBB0D68-815D-A42F-C25E-66085512ADEB}"/>
              </a:ext>
            </a:extLst>
          </p:cNvPr>
          <p:cNvSpPr txBox="1">
            <a:spLocks/>
          </p:cNvSpPr>
          <p:nvPr/>
        </p:nvSpPr>
        <p:spPr>
          <a:xfrm>
            <a:off x="627753" y="244189"/>
            <a:ext cx="8771021" cy="51719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5pPr>
            <a:lvl6pPr marL="609585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6pPr>
            <a:lvl7pPr marL="121917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7pPr>
            <a:lvl8pPr marL="1828754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8pPr>
            <a:lvl9pPr marL="2438339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itchFamily="49" charset="-122"/>
                <a:ea typeface="黑体" pitchFamily="49" charset="-122"/>
              </a:defRPr>
            </a:lvl9pPr>
          </a:lstStyle>
          <a:p>
            <a:endParaRPr kumimoji="1"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" panose="00020600040101010101" pitchFamily="18" charset="-122"/>
              <a:ea typeface="Alibaba PuHuiTi B"/>
              <a:cs typeface="阿里巴巴普惠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49170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6B16A-77A4-EF42-8ADB-E8FC34761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28B5DA9-1E48-D66E-AF7B-DB63C52220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787673" cy="4287452"/>
          </a:xfrm>
        </p:spPr>
        <p:txBody>
          <a:bodyPr/>
          <a:lstStyle/>
          <a:p>
            <a:r>
              <a:rPr lang="zh-CN" altLang="en-US" dirty="0"/>
              <a:t>方法的介绍</a:t>
            </a:r>
            <a:endParaRPr lang="en-US" altLang="zh-CN" dirty="0"/>
          </a:p>
          <a:p>
            <a:r>
              <a:rPr lang="zh-CN" altLang="en-US" dirty="0"/>
              <a:t>方法的基本定义和调用</a:t>
            </a:r>
            <a:endParaRPr lang="en-US" altLang="zh-CN" dirty="0"/>
          </a:p>
          <a:p>
            <a:r>
              <a:rPr lang="zh-CN" altLang="en-US" dirty="0"/>
              <a:t>方法的执行流程</a:t>
            </a:r>
            <a:endParaRPr lang="en-US" altLang="zh-CN" dirty="0"/>
          </a:p>
          <a:p>
            <a:r>
              <a:rPr lang="zh-CN" altLang="en-US" dirty="0"/>
              <a:t>带参数的方法</a:t>
            </a:r>
            <a:endParaRPr lang="en-US" altLang="zh-CN" dirty="0"/>
          </a:p>
          <a:p>
            <a:r>
              <a:rPr lang="zh-CN" altLang="en-US" dirty="0"/>
              <a:t>带返回值的方法</a:t>
            </a:r>
            <a:endParaRPr lang="en-US" altLang="zh-CN" dirty="0"/>
          </a:p>
          <a:p>
            <a:r>
              <a:rPr lang="zh-CN" altLang="en-US" dirty="0"/>
              <a:t>方法通用定义格式</a:t>
            </a:r>
            <a:endParaRPr lang="en-US" altLang="zh-CN" dirty="0"/>
          </a:p>
          <a:p>
            <a:r>
              <a:rPr lang="zh-CN" altLang="en-US" dirty="0"/>
              <a:t>方法注意事项</a:t>
            </a:r>
            <a:endParaRPr lang="en-US" altLang="zh-CN" dirty="0"/>
          </a:p>
          <a:p>
            <a:r>
              <a:rPr lang="zh-CN" altLang="en-US" dirty="0"/>
              <a:t>方法重载</a:t>
            </a:r>
            <a:endParaRPr lang="en-US" altLang="zh-CN" dirty="0"/>
          </a:p>
          <a:p>
            <a:r>
              <a:rPr lang="en-US" altLang="zh-CN" dirty="0"/>
              <a:t>IDEA </a:t>
            </a:r>
            <a:r>
              <a:rPr lang="zh-CN" altLang="en-US" dirty="0"/>
              <a:t>安装</a:t>
            </a:r>
            <a:r>
              <a:rPr lang="en-US" altLang="zh-CN" dirty="0"/>
              <a:t> AI </a:t>
            </a:r>
            <a:r>
              <a:rPr lang="zh-CN" altLang="en-US" dirty="0"/>
              <a:t>插件</a:t>
            </a:r>
          </a:p>
        </p:txBody>
      </p:sp>
    </p:spTree>
    <p:extLst>
      <p:ext uri="{BB962C8B-B14F-4D97-AF65-F5344CB8AC3E}">
        <p14:creationId xmlns:p14="http://schemas.microsoft.com/office/powerpoint/2010/main" val="3424777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27A57-8750-40A0-4835-BD43CF30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89B3827-94C7-47DF-FBFC-EC70241EFA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4080" y="2465278"/>
            <a:ext cx="4831831" cy="901700"/>
          </a:xfrm>
        </p:spPr>
        <p:txBody>
          <a:bodyPr/>
          <a:lstStyle/>
          <a:p>
            <a:r>
              <a:rPr lang="en-US" altLang="zh-CN" dirty="0"/>
              <a:t>IDEA </a:t>
            </a:r>
            <a:r>
              <a:rPr lang="zh-CN" altLang="en-US" dirty="0"/>
              <a:t>安装</a:t>
            </a:r>
            <a:r>
              <a:rPr lang="en-US" altLang="zh-CN" dirty="0"/>
              <a:t> AI </a:t>
            </a:r>
            <a:r>
              <a:rPr lang="zh-CN" altLang="en-US" dirty="0"/>
              <a:t>插件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BB6312A2-01BE-3140-E8C5-D8DD64A1E5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9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5012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>
            <a:extLst>
              <a:ext uri="{FF2B5EF4-FFF2-40B4-BE49-F238E27FC236}">
                <a16:creationId xmlns:a16="http://schemas.microsoft.com/office/drawing/2014/main" id="{44B8D2B3-86D5-4C9B-8324-A576850E9BED}"/>
              </a:ext>
            </a:extLst>
          </p:cNvPr>
          <p:cNvSpPr txBox="1"/>
          <p:nvPr/>
        </p:nvSpPr>
        <p:spPr>
          <a:xfrm>
            <a:off x="576196" y="1002320"/>
            <a:ext cx="4648283" cy="46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IDEA</a:t>
            </a: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之前的编程方式</a:t>
            </a:r>
            <a:endParaRPr lang="en-US" altLang="zh-CN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AF38502-4070-173D-51DA-018AF2755BFB}"/>
              </a:ext>
            </a:extLst>
          </p:cNvPr>
          <p:cNvSpPr txBox="1"/>
          <p:nvPr/>
        </p:nvSpPr>
        <p:spPr>
          <a:xfrm>
            <a:off x="576196" y="2268063"/>
            <a:ext cx="8445844" cy="884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AI</a:t>
            </a: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出现后，</a:t>
            </a:r>
            <a:r>
              <a:rPr lang="en-US" altLang="zh-CN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IDEA</a:t>
            </a: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可以集成很多辅助编程的</a:t>
            </a:r>
            <a:r>
              <a:rPr lang="en-US" altLang="zh-CN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AI</a:t>
            </a:r>
            <a:r>
              <a:rPr lang="zh-CN" altLang="en-US" b="1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编程插件</a:t>
            </a:r>
            <a:endParaRPr lang="en-US" altLang="zh-CN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b="1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7A8B60-117A-AE17-96FB-04FEB5A11A28}"/>
              </a:ext>
            </a:extLst>
          </p:cNvPr>
          <p:cNvSpPr txBox="1"/>
          <p:nvPr/>
        </p:nvSpPr>
        <p:spPr>
          <a:xfrm>
            <a:off x="576196" y="1644202"/>
            <a:ext cx="9808113" cy="468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程序的编码工作，还是需要程序员思考，并逐行编写。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CA9450-351B-61B0-3679-B20C1C2ACB4A}"/>
              </a:ext>
            </a:extLst>
          </p:cNvPr>
          <p:cNvSpPr txBox="1"/>
          <p:nvPr/>
        </p:nvSpPr>
        <p:spPr>
          <a:xfrm>
            <a:off x="576196" y="3006730"/>
            <a:ext cx="25551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阿里巴巴 通义灵码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2D9B7CA-780B-726D-CB87-90585DF38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IDEA </a:t>
            </a:r>
            <a:r>
              <a:rPr lang="zh-CN" altLang="en-US" dirty="0"/>
              <a:t>集成通义灵码</a:t>
            </a:r>
          </a:p>
        </p:txBody>
      </p:sp>
      <p:sp>
        <p:nvSpPr>
          <p:cNvPr id="11" name="文本框 10">
            <a:hlinkClick r:id="rId2"/>
            <a:extLst>
              <a:ext uri="{FF2B5EF4-FFF2-40B4-BE49-F238E27FC236}">
                <a16:creationId xmlns:a16="http://schemas.microsoft.com/office/drawing/2014/main" id="{29A7AFB9-6E3E-48E5-9AD0-7AE54B83A579}"/>
              </a:ext>
            </a:extLst>
          </p:cNvPr>
          <p:cNvSpPr txBox="1"/>
          <p:nvPr/>
        </p:nvSpPr>
        <p:spPr>
          <a:xfrm>
            <a:off x="576196" y="3745397"/>
            <a:ext cx="6097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https://lingma.aliyun.com/lingma/download</a:t>
            </a:r>
          </a:p>
        </p:txBody>
      </p:sp>
    </p:spTree>
    <p:extLst>
      <p:ext uri="{BB962C8B-B14F-4D97-AF65-F5344CB8AC3E}">
        <p14:creationId xmlns:p14="http://schemas.microsoft.com/office/powerpoint/2010/main" val="240057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9782</TotalTime>
  <Words>3909</Words>
  <Application>Microsoft Office PowerPoint</Application>
  <PresentationFormat>宽屏</PresentationFormat>
  <Paragraphs>581</Paragraphs>
  <Slides>57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57</vt:i4>
      </vt:variant>
    </vt:vector>
  </HeadingPairs>
  <TitlesOfParts>
    <vt:vector size="84" baseType="lpstr">
      <vt:lpstr>Alibaba PuHuiTi B</vt:lpstr>
      <vt:lpstr>Alibaba PuHuiTi Medium</vt:lpstr>
      <vt:lpstr>Alibaba PuHuiTi R</vt:lpstr>
      <vt:lpstr>Inter</vt:lpstr>
      <vt:lpstr>阿里巴巴普惠体</vt:lpstr>
      <vt:lpstr>阿里巴巴普惠体 Heavy</vt:lpstr>
      <vt:lpstr>阿里巴巴普惠体 Medium</vt:lpstr>
      <vt:lpstr>等线</vt:lpstr>
      <vt:lpstr>汉仪尚巍流云体简</vt:lpstr>
      <vt:lpstr>楷体</vt:lpstr>
      <vt:lpstr>思源黑体 CN Bold</vt:lpstr>
      <vt:lpstr>宋体</vt:lpstr>
      <vt:lpstr>微软雅黑</vt:lpstr>
      <vt:lpstr>杨任东竹石体-Bold</vt:lpstr>
      <vt:lpstr>杨任东竹石体-Heavy</vt:lpstr>
      <vt:lpstr>Arial</vt:lpstr>
      <vt:lpstr>Calisto MT</vt:lpstr>
      <vt:lpstr>Consolas</vt:lpstr>
      <vt:lpstr>Fira Code</vt:lpstr>
      <vt:lpstr>Source Code Pro</vt:lpstr>
      <vt:lpstr>Times New Roman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第五章：方法</vt:lpstr>
      <vt:lpstr>PowerPoint 演示文稿</vt:lpstr>
      <vt:lpstr>PowerPoint 演示文稿</vt:lpstr>
      <vt:lpstr>方法的介绍</vt:lpstr>
      <vt:lpstr>方法的介绍</vt:lpstr>
      <vt:lpstr>方法的介绍</vt:lpstr>
      <vt:lpstr>方法的介绍</vt:lpstr>
      <vt:lpstr>PowerPoint 演示文稿</vt:lpstr>
      <vt:lpstr>PowerPoint 演示文稿</vt:lpstr>
      <vt:lpstr>PowerPoint 演示文稿</vt:lpstr>
      <vt:lpstr> 方法的定义和调用格式</vt:lpstr>
      <vt:lpstr>方法计算两个整数最大值</vt:lpstr>
      <vt:lpstr>PowerPoint 演示文稿</vt:lpstr>
      <vt:lpstr>PowerPoint 演示文稿</vt:lpstr>
      <vt:lpstr> 方法的调用流程</vt:lpstr>
      <vt:lpstr> 方法的调用流程</vt:lpstr>
      <vt:lpstr> 方法的调用流程</vt:lpstr>
      <vt:lpstr> 方法的调用流程</vt:lpstr>
      <vt:lpstr> 方法的调用流程</vt:lpstr>
      <vt:lpstr>PowerPoint 演示文稿</vt:lpstr>
      <vt:lpstr>PowerPoint 演示文稿</vt:lpstr>
      <vt:lpstr>PowerPoint 演示文稿</vt:lpstr>
      <vt:lpstr> 带参数的方法</vt:lpstr>
      <vt:lpstr> 带参数的方法</vt:lpstr>
      <vt:lpstr> 带参数的方法</vt:lpstr>
      <vt:lpstr> 带参数的方法</vt:lpstr>
      <vt:lpstr> 带参数的方法</vt:lpstr>
      <vt:lpstr> 带参数的方法内存图解</vt:lpstr>
      <vt:lpstr> 形参和实参</vt:lpstr>
      <vt:lpstr>PowerPoint 演示文稿</vt:lpstr>
      <vt:lpstr>PowerPoint 演示文稿</vt:lpstr>
      <vt:lpstr>PowerPoint 演示文稿</vt:lpstr>
      <vt:lpstr>带返回值的方法</vt:lpstr>
      <vt:lpstr>带返回值的方法</vt:lpstr>
      <vt:lpstr>带返回值的方法</vt:lpstr>
      <vt:lpstr>PowerPoint 演示文稿</vt:lpstr>
      <vt:lpstr>PowerPoint 演示文稿</vt:lpstr>
      <vt:lpstr>PowerPoint 演示文稿</vt:lpstr>
      <vt:lpstr>方法通用定义格式</vt:lpstr>
      <vt:lpstr>方法通用定义格式</vt:lpstr>
      <vt:lpstr>PowerPoint 演示文稿</vt:lpstr>
      <vt:lpstr>PowerPoint 演示文稿</vt:lpstr>
      <vt:lpstr>PowerPoint 演示文稿</vt:lpstr>
      <vt:lpstr> 方法注意事项</vt:lpstr>
      <vt:lpstr>PowerPoint 演示文稿</vt:lpstr>
      <vt:lpstr>PowerPoint 演示文稿</vt:lpstr>
      <vt:lpstr> 方法重载</vt:lpstr>
      <vt:lpstr> 方法重载</vt:lpstr>
      <vt:lpstr> 方法重载</vt:lpstr>
      <vt:lpstr> 方法重载</vt:lpstr>
      <vt:lpstr> 方法重载</vt:lpstr>
      <vt:lpstr> 方法重载的好处</vt:lpstr>
      <vt:lpstr>PowerPoint 演示文稿</vt:lpstr>
      <vt:lpstr>PowerPoint 演示文稿</vt:lpstr>
      <vt:lpstr>PowerPoint 演示文稿</vt:lpstr>
      <vt:lpstr>IDEA 集成通义灵码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ys h</cp:lastModifiedBy>
  <cp:revision>776</cp:revision>
  <cp:lastPrinted>2022-05-29T16:00:00Z</cp:lastPrinted>
  <dcterms:created xsi:type="dcterms:W3CDTF">2022-05-29T16:00:00Z</dcterms:created>
  <dcterms:modified xsi:type="dcterms:W3CDTF">2025-02-15T10:22:32Z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