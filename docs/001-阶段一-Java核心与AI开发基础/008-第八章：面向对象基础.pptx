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  <p:sldMasterId id="2147483679" r:id="rId5"/>
  </p:sldMasterIdLst>
  <p:notesMasterIdLst>
    <p:notesMasterId r:id="rId92"/>
  </p:notesMasterIdLst>
  <p:handoutMasterIdLst>
    <p:handoutMasterId r:id="rId93"/>
  </p:handoutMasterIdLst>
  <p:sldIdLst>
    <p:sldId id="280" r:id="rId6"/>
    <p:sldId id="1233" r:id="rId7"/>
    <p:sldId id="1305" r:id="rId8"/>
    <p:sldId id="1307" r:id="rId9"/>
    <p:sldId id="1312" r:id="rId10"/>
    <p:sldId id="1308" r:id="rId11"/>
    <p:sldId id="1313" r:id="rId12"/>
    <p:sldId id="1309" r:id="rId13"/>
    <p:sldId id="1314" r:id="rId14"/>
    <p:sldId id="1315" r:id="rId15"/>
    <p:sldId id="1055" r:id="rId16"/>
    <p:sldId id="2768" r:id="rId17"/>
    <p:sldId id="2769" r:id="rId18"/>
    <p:sldId id="1317" r:id="rId19"/>
    <p:sldId id="1320" r:id="rId20"/>
    <p:sldId id="1318" r:id="rId21"/>
    <p:sldId id="1319" r:id="rId22"/>
    <p:sldId id="2790" r:id="rId23"/>
    <p:sldId id="1227" r:id="rId24"/>
    <p:sldId id="2786" r:id="rId25"/>
    <p:sldId id="2787" r:id="rId26"/>
    <p:sldId id="1232" r:id="rId27"/>
    <p:sldId id="1253" r:id="rId28"/>
    <p:sldId id="1254" r:id="rId29"/>
    <p:sldId id="2788" r:id="rId30"/>
    <p:sldId id="2789" r:id="rId31"/>
    <p:sldId id="1256" r:id="rId32"/>
    <p:sldId id="1257" r:id="rId33"/>
    <p:sldId id="1258" r:id="rId34"/>
    <p:sldId id="1259" r:id="rId35"/>
    <p:sldId id="1260" r:id="rId36"/>
    <p:sldId id="1261" r:id="rId37"/>
    <p:sldId id="1255" r:id="rId38"/>
    <p:sldId id="1551" r:id="rId39"/>
    <p:sldId id="1262" r:id="rId40"/>
    <p:sldId id="2791" r:id="rId41"/>
    <p:sldId id="2792" r:id="rId42"/>
    <p:sldId id="1271" r:id="rId43"/>
    <p:sldId id="1272" r:id="rId44"/>
    <p:sldId id="1273" r:id="rId45"/>
    <p:sldId id="1274" r:id="rId46"/>
    <p:sldId id="1275" r:id="rId47"/>
    <p:sldId id="1276" r:id="rId48"/>
    <p:sldId id="1277" r:id="rId49"/>
    <p:sldId id="1278" r:id="rId50"/>
    <p:sldId id="1279" r:id="rId51"/>
    <p:sldId id="1568" r:id="rId52"/>
    <p:sldId id="2793" r:id="rId53"/>
    <p:sldId id="2794" r:id="rId54"/>
    <p:sldId id="1265" r:id="rId55"/>
    <p:sldId id="1282" r:id="rId56"/>
    <p:sldId id="1283" r:id="rId57"/>
    <p:sldId id="1284" r:id="rId58"/>
    <p:sldId id="1285" r:id="rId59"/>
    <p:sldId id="1286" r:id="rId60"/>
    <p:sldId id="1287" r:id="rId61"/>
    <p:sldId id="2795" r:id="rId62"/>
    <p:sldId id="2796" r:id="rId63"/>
    <p:sldId id="2797" r:id="rId64"/>
    <p:sldId id="1238" r:id="rId65"/>
    <p:sldId id="1281" r:id="rId66"/>
    <p:sldId id="1562" r:id="rId67"/>
    <p:sldId id="1563" r:id="rId68"/>
    <p:sldId id="1564" r:id="rId69"/>
    <p:sldId id="1565" r:id="rId70"/>
    <p:sldId id="1559" r:id="rId71"/>
    <p:sldId id="1561" r:id="rId72"/>
    <p:sldId id="1560" r:id="rId73"/>
    <p:sldId id="1289" r:id="rId74"/>
    <p:sldId id="1290" r:id="rId75"/>
    <p:sldId id="1288" r:id="rId76"/>
    <p:sldId id="2804" r:id="rId77"/>
    <p:sldId id="2798" r:id="rId78"/>
    <p:sldId id="2799" r:id="rId79"/>
    <p:sldId id="1292" r:id="rId80"/>
    <p:sldId id="2801" r:id="rId81"/>
    <p:sldId id="2802" r:id="rId82"/>
    <p:sldId id="734" r:id="rId83"/>
    <p:sldId id="1617" r:id="rId84"/>
    <p:sldId id="1310" r:id="rId85"/>
    <p:sldId id="1620" r:id="rId86"/>
    <p:sldId id="1621" r:id="rId87"/>
    <p:sldId id="2803" r:id="rId88"/>
    <p:sldId id="2800" r:id="rId89"/>
    <p:sldId id="1506" r:id="rId90"/>
    <p:sldId id="288" r:id="rId91"/>
  </p:sldIdLst>
  <p:sldSz cx="12192000" cy="6858000"/>
  <p:notesSz cx="6858000" cy="9144000"/>
  <p:custDataLst>
    <p:tags r:id="rId9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5B0C935-3A8C-4FC9-B6CD-4BB339AB9D93}">
          <p14:sldIdLst>
            <p14:sldId id="280"/>
            <p14:sldId id="1233"/>
            <p14:sldId id="1305"/>
            <p14:sldId id="1307"/>
            <p14:sldId id="1312"/>
            <p14:sldId id="1308"/>
            <p14:sldId id="1313"/>
            <p14:sldId id="1309"/>
            <p14:sldId id="1314"/>
            <p14:sldId id="1315"/>
            <p14:sldId id="1055"/>
            <p14:sldId id="2768"/>
            <p14:sldId id="2769"/>
            <p14:sldId id="1317"/>
            <p14:sldId id="1320"/>
            <p14:sldId id="1318"/>
            <p14:sldId id="1319"/>
            <p14:sldId id="2790"/>
            <p14:sldId id="1227"/>
            <p14:sldId id="2786"/>
            <p14:sldId id="2787"/>
            <p14:sldId id="1232"/>
            <p14:sldId id="1253"/>
            <p14:sldId id="1254"/>
            <p14:sldId id="2788"/>
            <p14:sldId id="2789"/>
            <p14:sldId id="1256"/>
            <p14:sldId id="1257"/>
            <p14:sldId id="1258"/>
            <p14:sldId id="1259"/>
            <p14:sldId id="1260"/>
            <p14:sldId id="1261"/>
            <p14:sldId id="1255"/>
            <p14:sldId id="1551"/>
            <p14:sldId id="1262"/>
            <p14:sldId id="2791"/>
            <p14:sldId id="2792"/>
            <p14:sldId id="1271"/>
            <p14:sldId id="1272"/>
            <p14:sldId id="1273"/>
            <p14:sldId id="1274"/>
            <p14:sldId id="1275"/>
            <p14:sldId id="1276"/>
            <p14:sldId id="1277"/>
            <p14:sldId id="1278"/>
            <p14:sldId id="1279"/>
            <p14:sldId id="1568"/>
            <p14:sldId id="2793"/>
            <p14:sldId id="2794"/>
            <p14:sldId id="1265"/>
            <p14:sldId id="1282"/>
            <p14:sldId id="1283"/>
            <p14:sldId id="1284"/>
            <p14:sldId id="1285"/>
            <p14:sldId id="1286"/>
            <p14:sldId id="1287"/>
            <p14:sldId id="2795"/>
            <p14:sldId id="2796"/>
            <p14:sldId id="2797"/>
            <p14:sldId id="1238"/>
            <p14:sldId id="1281"/>
            <p14:sldId id="1562"/>
            <p14:sldId id="1563"/>
            <p14:sldId id="1564"/>
            <p14:sldId id="1565"/>
            <p14:sldId id="1559"/>
            <p14:sldId id="1561"/>
            <p14:sldId id="1560"/>
            <p14:sldId id="1289"/>
            <p14:sldId id="1290"/>
            <p14:sldId id="1288"/>
            <p14:sldId id="2804"/>
            <p14:sldId id="2798"/>
            <p14:sldId id="2799"/>
            <p14:sldId id="1292"/>
            <p14:sldId id="2801"/>
            <p14:sldId id="2802"/>
            <p14:sldId id="734"/>
            <p14:sldId id="1617"/>
            <p14:sldId id="1310"/>
            <p14:sldId id="1620"/>
            <p14:sldId id="1621"/>
            <p14:sldId id="2803"/>
            <p14:sldId id="2800"/>
            <p14:sldId id="1506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DBD8D2"/>
    <a:srgbClr val="EC2025"/>
    <a:srgbClr val="F22126"/>
    <a:srgbClr val="E5E5E5"/>
    <a:srgbClr val="006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79" autoAdjust="0"/>
    <p:restoredTop sz="94349" autoAdjust="0"/>
  </p:normalViewPr>
  <p:slideViewPr>
    <p:cSldViewPr snapToGrid="0" showGuides="1">
      <p:cViewPr varScale="1">
        <p:scale>
          <a:sx n="90" d="100"/>
          <a:sy n="90" d="100"/>
        </p:scale>
        <p:origin x="43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5.xml"/><Relationship Id="rId95" Type="http://schemas.openxmlformats.org/officeDocument/2006/relationships/presProps" Target="presProps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91" Type="http://schemas.openxmlformats.org/officeDocument/2006/relationships/slide" Target="slides/slide86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theme" Target="theme/theme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handoutMaster" Target="handoutMasters/handoutMaster1.xml"/><Relationship Id="rId9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2025/2/26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558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298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>
            <a:extLst>
              <a:ext uri="{FF2B5EF4-FFF2-40B4-BE49-F238E27FC236}">
                <a16:creationId xmlns:a16="http://schemas.microsoft.com/office/drawing/2014/main" id="{F16DB90C-9D07-4BD6-B7D8-7D5CD692BF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备注占位符 2">
            <a:extLst>
              <a:ext uri="{FF2B5EF4-FFF2-40B4-BE49-F238E27FC236}">
                <a16:creationId xmlns:a16="http://schemas.microsoft.com/office/drawing/2014/main" id="{6F83B7BB-4F8E-42C7-A99F-DE583EC5AA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663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13388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2459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7ACF1-1983-64EA-CB60-1248074B2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320CB5-B9C2-E356-CE4E-74528D72F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589C0B-C4BC-C562-5098-1E0CB6E11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4A1621-6502-C148-B39B-94EFDA181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693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930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2BBC2-772E-7EE4-D242-D42D4DA45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844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96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313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718886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397681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61095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29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24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329653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703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225557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3149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5986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sp>
        <p:nvSpPr>
          <p:cNvPr id="11" name="圆心2">
            <a:extLst>
              <a:ext uri="{FF2B5EF4-FFF2-40B4-BE49-F238E27FC236}">
                <a16:creationId xmlns:a16="http://schemas.microsoft.com/office/drawing/2014/main" id="{6F73DB22-8BD9-67FD-6EBE-B56D6BF83FC2}"/>
              </a:ext>
            </a:extLst>
          </p:cNvPr>
          <p:cNvSpPr/>
          <p:nvPr/>
        </p:nvSpPr>
        <p:spPr>
          <a:xfrm>
            <a:off x="7262969" y="2396723"/>
            <a:ext cx="435738" cy="435738"/>
          </a:xfrm>
          <a:prstGeom prst="ellipse">
            <a:avLst/>
          </a:prstGeom>
          <a:solidFill>
            <a:schemeClr val="accent1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心">
            <a:extLst>
              <a:ext uri="{FF2B5EF4-FFF2-40B4-BE49-F238E27FC236}">
                <a16:creationId xmlns:a16="http://schemas.microsoft.com/office/drawing/2014/main" id="{82339D60-0D0F-E0A8-9FEF-57B1B018D0C7}"/>
              </a:ext>
            </a:extLst>
          </p:cNvPr>
          <p:cNvSpPr/>
          <p:nvPr userDrawn="1"/>
        </p:nvSpPr>
        <p:spPr>
          <a:xfrm>
            <a:off x="7414470" y="2547358"/>
            <a:ext cx="132735" cy="1327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长直线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短直线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14" name="文本框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6" grpId="0" animBg="1"/>
      <p:bldP spid="11" grpId="0" animBg="1"/>
      <p:bldP spid="12" grpId="0" animBg="1"/>
      <p:bldP spid="14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139700" dist="76200" dir="456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041D8F-DCC0-35B8-2AA2-F0A7BAB25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4631217" y="3066159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心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184938" y="2356361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4081" y="2465278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2239" y="2675622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-1.85185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  <p:bldP spid="19" grpId="0" animBg="1"/>
      <p:bldP spid="19" grpId="1" animBg="1"/>
      <p:bldP spid="17" grpId="0" animBg="1"/>
      <p:bldP spid="4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B46198AC-367B-0D53-9173-FC8CA63C085D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EB1B61C-49CF-BE5E-D897-0E6165887E9C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2399A25-BD86-E6C4-1B6C-5E720BE7951F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5BB57A5-2F78-87EC-D302-EA186869EB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56F742F-78A8-9974-FA4F-56396F38C2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37223" y="2203928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412" y="2924828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249AA4E-BDC6-696B-EF7C-D82E9F67C155}"/>
              </a:ext>
            </a:extLst>
          </p:cNvPr>
          <p:cNvSpPr/>
          <p:nvPr userDrawn="1"/>
        </p:nvSpPr>
        <p:spPr>
          <a:xfrm>
            <a:off x="4633274" y="3069963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心">
            <a:extLst>
              <a:ext uri="{FF2B5EF4-FFF2-40B4-BE49-F238E27FC236}">
                <a16:creationId xmlns:a16="http://schemas.microsoft.com/office/drawing/2014/main" id="{187CDF87-71AD-62FA-465E-4563734A654E}"/>
              </a:ext>
            </a:extLst>
          </p:cNvPr>
          <p:cNvSpPr/>
          <p:nvPr userDrawn="1"/>
        </p:nvSpPr>
        <p:spPr>
          <a:xfrm>
            <a:off x="4186995" y="2360165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FA4BC60-2E49-93DC-4C3E-CA7B70C33E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4296" y="2679426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5E-6 3.7037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5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iterate type="wd">
                    <p:tmPct val="8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4" grpId="1" animBg="1"/>
      <p:bldP spid="6" grpId="0" animBg="1"/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E9A4C940-17A0-EAF5-1288-423099172492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B0CBC4C-0370-FC83-EFE2-A4655072B969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48C111F-EC00-73CD-D78D-B90FCF65990B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F8D094-C09B-FA07-5E8E-6D0A34E8E2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50503D8-4014-AE09-8F7D-F2C94ED602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3768481" y="2334719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8201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标题文本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207329" y="2704247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29" grpId="0"/>
      <p:bldP spid="26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8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2934960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556" y="1720312"/>
            <a:ext cx="711411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2D0547-D899-4028-C68F-1B7E5E17FCC5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QUESTION</a:t>
            </a:r>
          </a:p>
        </p:txBody>
      </p:sp>
      <p:sp>
        <p:nvSpPr>
          <p:cNvPr id="12" name="íşľíďe">
            <a:extLst>
              <a:ext uri="{FF2B5EF4-FFF2-40B4-BE49-F238E27FC236}">
                <a16:creationId xmlns:a16="http://schemas.microsoft.com/office/drawing/2014/main" id="{66992E28-34C1-82B0-BBD1-9DB821AEB09B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6569" y="1483864"/>
            <a:ext cx="7402227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B1B9D1-DEFE-AB9B-7D57-D4044AED1257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BRIEF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0A58CF2E-C9AD-567D-B72D-E69212797F03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229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800" b="1"/>
            </a:lvl1pPr>
          </a:lstStyle>
          <a:p>
            <a:pPr lvl="0"/>
            <a:r>
              <a:rPr lang="zh-CN" altLang="en-US"/>
              <a:t>点击输入学习目标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F17914-8286-2740-0111-F53CC3BDDD9A}"/>
              </a:ext>
            </a:extLst>
          </p:cNvPr>
          <p:cNvSpPr txBox="1"/>
          <p:nvPr userDrawn="1"/>
        </p:nvSpPr>
        <p:spPr>
          <a:xfrm>
            <a:off x="698224" y="2861141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TARGET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FB3F6AA9-BBC1-E326-ABE9-AC067A990D01}"/>
              </a:ext>
            </a:extLst>
          </p:cNvPr>
          <p:cNvSpPr txBox="1"/>
          <p:nvPr userDrawn="1"/>
        </p:nvSpPr>
        <p:spPr>
          <a:xfrm flipH="1">
            <a:off x="1181538" y="3112479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842820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0940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083421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3706713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8057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86" r:id="rId7"/>
    <p:sldLayoutId id="2147483687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6" r:id="rId14"/>
    <p:sldLayoutId id="2147483699" r:id="rId15"/>
    <p:sldLayoutId id="2147483700" r:id="rId16"/>
    <p:sldLayoutId id="2147483702" r:id="rId17"/>
    <p:sldLayoutId id="2147483703" r:id="rId18"/>
    <p:sldLayoutId id="2147483705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  <p:sldLayoutId id="214748370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BCFD639D-1352-0D42-CD8B-502330285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3B0EC498-20A1-566B-4915-5207C059B018}"/>
              </a:ext>
            </a:extLst>
          </p:cNvPr>
          <p:cNvSpPr/>
          <p:nvPr userDrawn="1"/>
        </p:nvSpPr>
        <p:spPr>
          <a:xfrm>
            <a:off x="751355" y="2336538"/>
            <a:ext cx="2111502" cy="2111502"/>
          </a:xfrm>
          <a:prstGeom prst="ellipse">
            <a:avLst/>
          </a:prstGeom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58725F1-EF53-00F4-5D5F-187168DD6A01}"/>
              </a:ext>
            </a:extLst>
          </p:cNvPr>
          <p:cNvSpPr/>
          <p:nvPr userDrawn="1"/>
        </p:nvSpPr>
        <p:spPr>
          <a:xfrm>
            <a:off x="-625683" y="959500"/>
            <a:ext cx="4865579" cy="4865579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0CB1513-F0AF-DFD8-F01B-E3C9C30338CD}"/>
              </a:ext>
            </a:extLst>
          </p:cNvPr>
          <p:cNvSpPr/>
          <p:nvPr userDrawn="1"/>
        </p:nvSpPr>
        <p:spPr>
          <a:xfrm>
            <a:off x="255264" y="1840447"/>
            <a:ext cx="3103685" cy="3103685"/>
          </a:xfrm>
          <a:prstGeom prst="ellipse">
            <a:avLst/>
          </a:prstGeom>
          <a:noFill/>
          <a:ln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68B7EDE-A4CF-8360-8241-A673D650AA78}"/>
              </a:ext>
            </a:extLst>
          </p:cNvPr>
          <p:cNvSpPr/>
          <p:nvPr userDrawn="1"/>
        </p:nvSpPr>
        <p:spPr>
          <a:xfrm>
            <a:off x="-1544721" y="-114518"/>
            <a:ext cx="7013615" cy="7013615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3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D51DB15-8344-2ACA-142F-30B0A0200C56}"/>
              </a:ext>
            </a:extLst>
          </p:cNvPr>
          <p:cNvSpPr/>
          <p:nvPr userDrawn="1"/>
        </p:nvSpPr>
        <p:spPr>
          <a:xfrm>
            <a:off x="3015513" y="0"/>
            <a:ext cx="6784703" cy="6858000"/>
          </a:xfrm>
          <a:prstGeom prst="rect">
            <a:avLst/>
          </a:prstGeom>
          <a:gradFill flip="none" rotWithShape="1">
            <a:gsLst>
              <a:gs pos="27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88" r:id="rId4"/>
    <p:sldLayoutId id="214748370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40922FA6-892F-6E62-25A7-4EFD4311B4B7}"/>
              </a:ext>
            </a:extLst>
          </p:cNvPr>
          <p:cNvSpPr/>
          <p:nvPr userDrawn="1"/>
        </p:nvSpPr>
        <p:spPr>
          <a:xfrm>
            <a:off x="573736" y="4742367"/>
            <a:ext cx="588089" cy="588089"/>
          </a:xfrm>
          <a:prstGeom prst="ellips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89EB921-EFFD-8A13-0578-9909E3F67A28}"/>
              </a:ext>
            </a:extLst>
          </p:cNvPr>
          <p:cNvSpPr/>
          <p:nvPr userDrawn="1"/>
        </p:nvSpPr>
        <p:spPr>
          <a:xfrm>
            <a:off x="2449602" y="4027163"/>
            <a:ext cx="926888" cy="926888"/>
          </a:xfrm>
          <a:prstGeom prst="ellipse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DBB1E70-A6B4-325D-7E84-2D8D403E507E}"/>
              </a:ext>
            </a:extLst>
          </p:cNvPr>
          <p:cNvSpPr/>
          <p:nvPr userDrawn="1"/>
        </p:nvSpPr>
        <p:spPr>
          <a:xfrm>
            <a:off x="2274547" y="2102046"/>
            <a:ext cx="1590676" cy="1590676"/>
          </a:xfrm>
          <a:prstGeom prst="ellipse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8C16E6-FCD9-2FF6-E0D9-862FBA97E38E}"/>
              </a:ext>
            </a:extLst>
          </p:cNvPr>
          <p:cNvSpPr/>
          <p:nvPr userDrawn="1"/>
        </p:nvSpPr>
        <p:spPr>
          <a:xfrm>
            <a:off x="320390" y="1512575"/>
            <a:ext cx="804338" cy="80433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0B5C771-860C-6FE3-9141-296A747F7EC0}"/>
              </a:ext>
            </a:extLst>
          </p:cNvPr>
          <p:cNvSpPr/>
          <p:nvPr userDrawn="1"/>
        </p:nvSpPr>
        <p:spPr>
          <a:xfrm>
            <a:off x="2745115" y="1787721"/>
            <a:ext cx="314325" cy="314325"/>
          </a:xfrm>
          <a:prstGeom prst="ellipse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C734A62-48DA-F6ED-AF10-0C9224E0A0EE}"/>
              </a:ext>
            </a:extLst>
          </p:cNvPr>
          <p:cNvSpPr/>
          <p:nvPr userDrawn="1"/>
        </p:nvSpPr>
        <p:spPr>
          <a:xfrm>
            <a:off x="594793" y="2155519"/>
            <a:ext cx="2544671" cy="25446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D9836D2B-C9DD-3FC5-793A-4907096EF00C}"/>
              </a:ext>
            </a:extLst>
          </p:cNvPr>
          <p:cNvSpPr/>
          <p:nvPr userDrawn="1"/>
        </p:nvSpPr>
        <p:spPr>
          <a:xfrm>
            <a:off x="445476" y="2002997"/>
            <a:ext cx="2852005" cy="2852005"/>
          </a:xfrm>
          <a:prstGeom prst="donut">
            <a:avLst>
              <a:gd name="adj" fmla="val 6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eg"/><Relationship Id="rId5" Type="http://schemas.openxmlformats.org/officeDocument/2006/relationships/image" Target="../media/image41.jpg"/><Relationship Id="rId4" Type="http://schemas.openxmlformats.org/officeDocument/2006/relationships/image" Target="../media/image40.jpe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第八章：面向对象基础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3586894"/>
            <a:ext cx="5057820" cy="563562"/>
          </a:xfrm>
        </p:spPr>
        <p:txBody>
          <a:bodyPr/>
          <a:lstStyle/>
          <a:p>
            <a:pPr algn="l"/>
            <a:r>
              <a:rPr lang="zh-CN" altLang="en-US" sz="1800" b="0" i="0" dirty="0">
                <a:solidFill>
                  <a:srgbClr val="222222"/>
                </a:solidFill>
                <a:effectLst/>
                <a:latin typeface="Inter"/>
              </a:rPr>
              <a:t>万物皆对象</a:t>
            </a: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面向对象介绍</a:t>
            </a:r>
          </a:p>
        </p:txBody>
      </p:sp>
      <p:sp>
        <p:nvSpPr>
          <p:cNvPr id="6" name="思想气泡: 云 5">
            <a:extLst>
              <a:ext uri="{FF2B5EF4-FFF2-40B4-BE49-F238E27FC236}">
                <a16:creationId xmlns:a16="http://schemas.microsoft.com/office/drawing/2014/main" id="{7526C8E5-9A60-417C-BDAF-81ABF2CA8D12}"/>
              </a:ext>
            </a:extLst>
          </p:cNvPr>
          <p:cNvSpPr/>
          <p:nvPr/>
        </p:nvSpPr>
        <p:spPr>
          <a:xfrm>
            <a:off x="2661100" y="2311273"/>
            <a:ext cx="3582956" cy="1657583"/>
          </a:xfrm>
          <a:prstGeom prst="cloudCallout">
            <a:avLst>
              <a:gd name="adj1" fmla="val -41357"/>
              <a:gd name="adj2" fmla="val 5211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这是个什么玩意儿？</a:t>
            </a:r>
            <a:endParaRPr lang="en-US" altLang="zh-CN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思想气泡: 云 16">
            <a:extLst>
              <a:ext uri="{FF2B5EF4-FFF2-40B4-BE49-F238E27FC236}">
                <a16:creationId xmlns:a16="http://schemas.microsoft.com/office/drawing/2014/main" id="{A4AC093B-8CD5-4BD1-A76B-E6EEF5109844}"/>
              </a:ext>
            </a:extLst>
          </p:cNvPr>
          <p:cNvSpPr/>
          <p:nvPr/>
        </p:nvSpPr>
        <p:spPr>
          <a:xfrm>
            <a:off x="3577124" y="4675650"/>
            <a:ext cx="3582955" cy="1414521"/>
          </a:xfrm>
          <a:prstGeom prst="cloudCallout">
            <a:avLst>
              <a:gd name="adj1" fmla="val -56641"/>
              <a:gd name="adj2" fmla="val -22349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我干嘛要学这个？</a:t>
            </a:r>
            <a:endParaRPr lang="en-US" altLang="zh-CN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487B4156-B9DE-4E22-9511-4EA815CFA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3429071"/>
            <a:ext cx="2661100" cy="266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132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面向对象介绍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DBF33FD-1387-480F-A407-83A5FC516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294" y="1164352"/>
            <a:ext cx="8864082" cy="526361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C972D10-E144-48F9-9464-0BE06F00E787}"/>
              </a:ext>
            </a:extLst>
          </p:cNvPr>
          <p:cNvSpPr txBox="1"/>
          <p:nvPr/>
        </p:nvSpPr>
        <p:spPr>
          <a:xfrm>
            <a:off x="2202025" y="1740089"/>
            <a:ext cx="5840963" cy="1530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Alibaba PuHuiTi R"/>
                <a:ea typeface="Alibaba PuHuiTi B"/>
              </a:rPr>
              <a:t>面向对象：</a:t>
            </a:r>
            <a:endParaRPr lang="en-US" altLang="zh-CN" sz="1600" dirty="0">
              <a:solidFill>
                <a:schemeClr val="bg1"/>
              </a:solidFill>
              <a:latin typeface="Alibaba PuHuiTi R"/>
              <a:ea typeface="Alibaba PuHuiTi B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Alibaba PuHuiTi R"/>
                <a:ea typeface="Alibaba PuHuiTi B"/>
              </a:rPr>
              <a:t>并不是一个技术，而是一种编程的指导思想</a:t>
            </a:r>
            <a:endParaRPr lang="en-US" altLang="zh-CN" sz="1600" dirty="0">
              <a:solidFill>
                <a:schemeClr val="bg1"/>
              </a:solidFill>
              <a:latin typeface="Alibaba PuHuiTi R"/>
              <a:ea typeface="Alibaba PuHuiTi B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Alibaba PuHuiTi R"/>
                <a:ea typeface="Alibaba PuHuiTi B"/>
              </a:rPr>
              <a:t>以什么形式 组织代码</a:t>
            </a:r>
            <a:endParaRPr lang="en-US" altLang="zh-CN" sz="1600" dirty="0">
              <a:solidFill>
                <a:schemeClr val="bg1"/>
              </a:solidFill>
              <a:latin typeface="Alibaba PuHuiTi R"/>
              <a:ea typeface="Alibaba PuHuiTi B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Alibaba PuHuiTi R"/>
                <a:ea typeface="Alibaba PuHuiTi B"/>
              </a:rPr>
              <a:t>以什么思路 解决问题</a:t>
            </a:r>
            <a:endParaRPr lang="en-US" altLang="zh-CN" sz="1600" dirty="0">
              <a:solidFill>
                <a:schemeClr val="bg1"/>
              </a:solidFill>
              <a:latin typeface="Alibaba PuHuiTi R"/>
              <a:ea typeface="Alibaba PuHuiTi B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7C068BC-4E4A-4EAD-AA2A-7073C641A9F6}"/>
              </a:ext>
            </a:extLst>
          </p:cNvPr>
          <p:cNvSpPr txBox="1"/>
          <p:nvPr/>
        </p:nvSpPr>
        <p:spPr>
          <a:xfrm>
            <a:off x="2202025" y="3429000"/>
            <a:ext cx="7641771" cy="1529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Alibaba PuHuiTi B"/>
              </a:rPr>
              <a:t>为什么要学习面向对象？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Alibaba PuHuiTi B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Alibaba PuHuiTi B"/>
              </a:rPr>
              <a:t>因为生活中，我们解决问题时，就是采用这种指导思想去解决的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Alibaba PuHuiTi B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Alibaba PuHuiTi B"/>
              </a:rPr>
              <a:t>所以，我们写程序去解决问题时，如果也能采用这种指导思想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Alibaba PuHuiTi B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Alibaba PuHuiTi B"/>
              </a:rPr>
              <a:t>就会使编程变得非常简单，程序也便于人理解 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Alibaba PuHuiTi B"/>
            </a:endParaRPr>
          </a:p>
        </p:txBody>
      </p:sp>
    </p:spTree>
    <p:extLst>
      <p:ext uri="{BB962C8B-B14F-4D97-AF65-F5344CB8AC3E}">
        <p14:creationId xmlns:p14="http://schemas.microsoft.com/office/powerpoint/2010/main" val="1990996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E4795841-5BAC-4C2F-865B-9D2D02924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3023" y="1493427"/>
            <a:ext cx="972142" cy="42908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44CA51D-21C7-450E-90A8-77D852308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240" y="3801585"/>
            <a:ext cx="972142" cy="42908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55A31D3-155F-48D7-A264-B8E6B43AC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7788" y="3384791"/>
            <a:ext cx="972142" cy="429083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面向对象介绍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35D8DD-4F84-4FEA-AEFF-BBCEDFD28B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41" y="2654559"/>
            <a:ext cx="1853166" cy="288513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2D03C39-897E-4D77-B2D6-9568F5BD4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661884" y="4322729"/>
            <a:ext cx="2329188" cy="229108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F1ED6C0-1ABF-4255-8962-C463768039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838" y="2963192"/>
            <a:ext cx="2081849" cy="210587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B4B9FCE-895A-4766-ADC1-F525B7DDB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9474569" y="3923522"/>
            <a:ext cx="2329188" cy="229108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584306C-2AB1-4C38-92EF-460EA26A5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981174" y="1308251"/>
            <a:ext cx="2329188" cy="2291082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E0F022C7-EAE0-4F67-99B4-0AF8EEE8E5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7076" y="4097127"/>
            <a:ext cx="2081849" cy="2105871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2D490C40-5FFC-48C6-98BF-1E76AF3AA8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3069" y="1669985"/>
            <a:ext cx="2081849" cy="2105871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EB5E9EFB-645A-4219-8A9F-4F802275D3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4478" y="4509474"/>
            <a:ext cx="2081849" cy="210587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2DCDC0B-5848-4A42-AD02-ACFAF13C6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91" y="5768774"/>
            <a:ext cx="972142" cy="429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06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3 -0.03866 L 0.13528 -0.19861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49" y="-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7.40741E-7 L -0.26432 0.07546 " pathEditMode="relative" rAng="0" ptsTypes="AA">
                                      <p:cBhvr>
                                        <p:cTn id="5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216" y="3773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1.11111E-6 L -0.16198 -0.34583 " pathEditMode="relative" rAng="0" ptsTypes="AA">
                                      <p:cBhvr>
                                        <p:cTn id="5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99" y="-17292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07407E-6 L -0.47071 -0.27199 " pathEditMode="relative" rAng="0" ptsTypes="AA">
                                      <p:cBhvr>
                                        <p:cTn id="54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42" y="-1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6925987C-FDB1-486E-B070-524C7F940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499" y="2464247"/>
            <a:ext cx="972142" cy="429083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面向对象介绍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AECC9BD-2DBB-4628-BF3F-42464FFEF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888" y="2118049"/>
            <a:ext cx="1924240" cy="302725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49EFD33-E21F-4262-95AE-06A968E79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579" y="1753738"/>
            <a:ext cx="4715533" cy="458216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684D385-199F-4537-8F28-4DFD82BBC8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8645" y="2920065"/>
            <a:ext cx="1521708" cy="125071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B7B4E0C-69F9-48E1-B031-4B3B31D443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8360" y="1602227"/>
            <a:ext cx="527788" cy="146072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34773C7-E9C6-4FEB-929B-D9EE80C2F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121" y="5247942"/>
            <a:ext cx="972142" cy="429083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358FD5E3-8FAD-4843-9FC7-7FF2504D8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6672" y="3214458"/>
            <a:ext cx="972142" cy="429083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031646E4-47D9-4D29-A196-7F379F48A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176" y="1903507"/>
            <a:ext cx="972142" cy="429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36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37 -0.00671 L -0.01537 -0.00671 C -0.00742 -0.01898 -0.0017 -0.02871 0.00976 -0.03542 C 0.04765 -0.05695 0.07773 -0.05602 0.11771 -0.05972 L 0.23398 -0.06921 C 0.25599 -0.06065 0.27838 -0.05533 0.29987 -0.04352 C 0.30846 -0.03889 0.3082 -0.03496 0.3082 -0.02732 " pathEditMode="relative" ptsTypes="AAAAAAA">
                                      <p:cBhvr>
                                        <p:cTn id="30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5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11111E-6 L -3.33333E-6 0.00023 C -0.0026 -0.00185 -0.00455 -0.00486 -0.00768 -0.00555 C -0.12747 -0.02893 -0.1082 -0.025 -0.21119 -0.02708 C -0.26093 -0.01759 -0.29166 -0.01551 -0.33698 0.00741 C -0.34909 0.01366 -0.35885 0.02384 -0.36979 0.03195 C -0.37552 0.04074 -0.38007 0.04607 -0.38294 0.05648 C -0.38398 0.06019 -0.38346 0.06412 -0.38385 0.06783 C -0.38411 0.06991 -0.38437 0.07222 -0.38476 0.07431 C -0.38711 0.08542 -0.38659 0.07824 -0.38659 0.08588 " pathEditMode="relative" rAng="0" ptsTypes="AAAAAAAAAA">
                                      <p:cBhvr>
                                        <p:cTn id="4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336" y="2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面向对象介绍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F099269-9DDB-4D6C-9835-6BED06396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93" y="1153984"/>
            <a:ext cx="10703118" cy="563870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4680210-BF1B-42A4-90F0-5D188DA36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453" y="3181145"/>
            <a:ext cx="3117592" cy="41052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796C8F6-E787-4675-B88F-5406E974C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049" y="3679543"/>
            <a:ext cx="1235837" cy="38373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0BBDDEA-AB2E-45EB-B63F-97FC194D1F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4911" y="3668072"/>
            <a:ext cx="1489302" cy="418272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A3FC3A82-13FA-4911-B01C-FC1582C8C5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3453" y="4079511"/>
            <a:ext cx="3117592" cy="382118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DF632A29-5022-4243-9CE1-50A2973586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7368" y="4497783"/>
            <a:ext cx="1685812" cy="387281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FDEC64A2-CA6D-4305-A8AB-5DA6C28936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3453" y="4896448"/>
            <a:ext cx="1355304" cy="38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15386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面向对象介绍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DBF33FD-1387-480F-A407-83A5FC516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294" y="1164352"/>
            <a:ext cx="8864082" cy="526361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C972D10-E144-48F9-9464-0BE06F00E787}"/>
              </a:ext>
            </a:extLst>
          </p:cNvPr>
          <p:cNvSpPr txBox="1"/>
          <p:nvPr/>
        </p:nvSpPr>
        <p:spPr>
          <a:xfrm>
            <a:off x="2202025" y="1740089"/>
            <a:ext cx="5840963" cy="1530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Alibaba PuHuiTi R"/>
                <a:ea typeface="Alibaba PuHuiTi B"/>
              </a:rPr>
              <a:t>面向对象：</a:t>
            </a:r>
            <a:endParaRPr lang="en-US" altLang="zh-CN" sz="1600" dirty="0">
              <a:solidFill>
                <a:schemeClr val="bg1"/>
              </a:solidFill>
              <a:latin typeface="Alibaba PuHuiTi R"/>
              <a:ea typeface="Alibaba PuHuiTi B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Alibaba PuHuiTi R"/>
                <a:ea typeface="Alibaba PuHuiTi B"/>
              </a:rPr>
              <a:t>并不是一个技术，而是一种编程的指导思想</a:t>
            </a:r>
            <a:endParaRPr lang="en-US" altLang="zh-CN" sz="1600" dirty="0">
              <a:solidFill>
                <a:schemeClr val="bg1"/>
              </a:solidFill>
              <a:latin typeface="Alibaba PuHuiTi R"/>
              <a:ea typeface="Alibaba PuHuiTi B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Alibaba PuHuiTi R"/>
                <a:ea typeface="Alibaba PuHuiTi B"/>
              </a:rPr>
              <a:t>以什么形式 组织代码</a:t>
            </a:r>
            <a:endParaRPr lang="en-US" altLang="zh-CN" sz="1600" dirty="0">
              <a:solidFill>
                <a:schemeClr val="bg1"/>
              </a:solidFill>
              <a:latin typeface="Alibaba PuHuiTi R"/>
              <a:ea typeface="Alibaba PuHuiTi B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Alibaba PuHuiTi R"/>
                <a:ea typeface="Alibaba PuHuiTi B"/>
              </a:rPr>
              <a:t>以什么思路 解决问题</a:t>
            </a:r>
            <a:endParaRPr lang="en-US" altLang="zh-CN" sz="1600" dirty="0">
              <a:solidFill>
                <a:schemeClr val="bg1"/>
              </a:solidFill>
              <a:latin typeface="Alibaba PuHuiTi R"/>
              <a:ea typeface="Alibaba PuHuiTi B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7C068BC-4E4A-4EAD-AA2A-7073C641A9F6}"/>
              </a:ext>
            </a:extLst>
          </p:cNvPr>
          <p:cNvSpPr txBox="1"/>
          <p:nvPr/>
        </p:nvSpPr>
        <p:spPr>
          <a:xfrm>
            <a:off x="2202025" y="3429000"/>
            <a:ext cx="7641771" cy="1529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Alibaba PuHuiTi B"/>
              </a:rPr>
              <a:t>为什么要学习面向对象？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Alibaba PuHuiTi B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Alibaba PuHuiTi B"/>
              </a:rPr>
              <a:t>因为生活中，我们解决问题时，就是采用这种指导思想去解决的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Alibaba PuHuiTi B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Alibaba PuHuiTi B"/>
              </a:rPr>
              <a:t>所以，我们写程序去解决问题时，如果也能采用这种指导思想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Alibaba PuHuiTi B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Alibaba PuHuiTi B"/>
              </a:rPr>
              <a:t>就会使编程变得非常简单，程序也便于人理解 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Alibaba PuHuiTi B"/>
            </a:endParaRPr>
          </a:p>
        </p:txBody>
      </p:sp>
    </p:spTree>
    <p:extLst>
      <p:ext uri="{BB962C8B-B14F-4D97-AF65-F5344CB8AC3E}">
        <p14:creationId xmlns:p14="http://schemas.microsoft.com/office/powerpoint/2010/main" val="2971491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面向对象介绍</a:t>
            </a:r>
            <a:endParaRPr kumimoji="1" lang="zh-CN" altLang="en-US" dirty="0"/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38C2DF8D-EF92-43A3-978E-66CA9191759E}"/>
              </a:ext>
            </a:extLst>
          </p:cNvPr>
          <p:cNvSpPr txBox="1"/>
          <p:nvPr/>
        </p:nvSpPr>
        <p:spPr>
          <a:xfrm>
            <a:off x="710880" y="1824856"/>
            <a:ext cx="6520344" cy="4401205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2F26EF-53E9-4D5B-8300-6D27E9C697A1}"/>
              </a:ext>
            </a:extLst>
          </p:cNvPr>
          <p:cNvSpPr txBox="1"/>
          <p:nvPr/>
        </p:nvSpPr>
        <p:spPr>
          <a:xfrm>
            <a:off x="1567543" y="3113352"/>
            <a:ext cx="37625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B779B6C-88CD-4C1C-9A3D-C71804518FD4}"/>
              </a:ext>
            </a:extLst>
          </p:cNvPr>
          <p:cNvSpPr txBox="1"/>
          <p:nvPr/>
        </p:nvSpPr>
        <p:spPr>
          <a:xfrm>
            <a:off x="1567543" y="2385911"/>
            <a:ext cx="2569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Random r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Random();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A03F307-0024-4596-A8A7-A462C228632C}"/>
              </a:ext>
            </a:extLst>
          </p:cNvPr>
          <p:cNvSpPr txBox="1"/>
          <p:nvPr/>
        </p:nvSpPr>
        <p:spPr>
          <a:xfrm>
            <a:off x="1567543" y="2724465"/>
            <a:ext cx="3663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randomNum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r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100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+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0CA81B8-B662-4340-A7EB-5D1EB458213E}"/>
              </a:ext>
            </a:extLst>
          </p:cNvPr>
          <p:cNvSpPr txBox="1"/>
          <p:nvPr/>
        </p:nvSpPr>
        <p:spPr>
          <a:xfrm>
            <a:off x="1567543" y="3502239"/>
            <a:ext cx="31085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:"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scNum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35B862E-2CC8-45B5-8DCB-691B7D5A89E9}"/>
              </a:ext>
            </a:extLst>
          </p:cNvPr>
          <p:cNvSpPr txBox="1"/>
          <p:nvPr/>
        </p:nvSpPr>
        <p:spPr>
          <a:xfrm>
            <a:off x="1567543" y="4048633"/>
            <a:ext cx="350608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if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scNum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randomNum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猜大了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else if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scNum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randomNum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猜小了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else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猜中了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086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" grpId="0"/>
      <p:bldP spid="4" grpId="1"/>
      <p:bldP spid="16" grpId="0"/>
      <p:bldP spid="16" grpId="1"/>
      <p:bldP spid="17" grpId="0"/>
      <p:bldP spid="18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面向对象介绍</a:t>
            </a:r>
            <a:endParaRPr kumimoji="1"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A126369-ACB2-4C87-A1D6-80718809B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66" y="2990462"/>
            <a:ext cx="2286000" cy="2286000"/>
          </a:xfrm>
          <a:prstGeom prst="rect">
            <a:avLst/>
          </a:prstGeom>
        </p:spPr>
      </p:pic>
      <p:sp>
        <p:nvSpPr>
          <p:cNvPr id="12" name="思想气泡: 云 11">
            <a:extLst>
              <a:ext uri="{FF2B5EF4-FFF2-40B4-BE49-F238E27FC236}">
                <a16:creationId xmlns:a16="http://schemas.microsoft.com/office/drawing/2014/main" id="{B081199C-440C-4D53-975F-29B2DADF3F74}"/>
              </a:ext>
            </a:extLst>
          </p:cNvPr>
          <p:cNvSpPr/>
          <p:nvPr/>
        </p:nvSpPr>
        <p:spPr>
          <a:xfrm>
            <a:off x="3163076" y="1651519"/>
            <a:ext cx="4086810" cy="1973424"/>
          </a:xfrm>
          <a:prstGeom prst="cloudCallout">
            <a:avLst>
              <a:gd name="adj1" fmla="val -58493"/>
              <a:gd name="adj2" fmla="val 37555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Scanner </a:t>
            </a:r>
            <a:r>
              <a:rPr lang="zh-CN" altLang="en-US" dirty="0">
                <a:latin typeface="Consolas" panose="020B0609020204030204" pitchFamily="49" charset="0"/>
              </a:rPr>
              <a:t>和 </a:t>
            </a:r>
            <a:r>
              <a:rPr lang="en-US" altLang="zh-CN" dirty="0">
                <a:latin typeface="Consolas" panose="020B0609020204030204" pitchFamily="49" charset="0"/>
              </a:rPr>
              <a:t>Random  </a:t>
            </a:r>
            <a:r>
              <a:rPr lang="zh-CN" altLang="en-US" dirty="0">
                <a:latin typeface="Consolas" panose="020B0609020204030204" pitchFamily="49" charset="0"/>
              </a:rPr>
              <a:t>都是 </a:t>
            </a:r>
            <a:r>
              <a:rPr lang="en-US" altLang="zh-CN" dirty="0">
                <a:latin typeface="Consolas" panose="020B0609020204030204" pitchFamily="49" charset="0"/>
              </a:rPr>
              <a:t>Java </a:t>
            </a:r>
            <a:r>
              <a:rPr lang="zh-CN" altLang="en-US" dirty="0">
                <a:latin typeface="Consolas" panose="020B0609020204030204" pitchFamily="49" charset="0"/>
              </a:rPr>
              <a:t>已经写好的</a:t>
            </a:r>
            <a:r>
              <a:rPr lang="en-US" altLang="zh-CN" dirty="0">
                <a:latin typeface="Consolas" panose="020B0609020204030204" pitchFamily="49" charset="0"/>
              </a:rPr>
              <a:t>..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1" name="思想气泡: 云 20">
            <a:extLst>
              <a:ext uri="{FF2B5EF4-FFF2-40B4-BE49-F238E27FC236}">
                <a16:creationId xmlns:a16="http://schemas.microsoft.com/office/drawing/2014/main" id="{18B713F2-1815-45DF-B26B-F29022B6BD0F}"/>
              </a:ext>
            </a:extLst>
          </p:cNvPr>
          <p:cNvSpPr/>
          <p:nvPr/>
        </p:nvSpPr>
        <p:spPr>
          <a:xfrm>
            <a:off x="3331026" y="4007498"/>
            <a:ext cx="4534679" cy="1973424"/>
          </a:xfrm>
          <a:prstGeom prst="cloudCallout">
            <a:avLst>
              <a:gd name="adj1" fmla="val -61461"/>
              <a:gd name="adj2" fmla="val -40459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Consolas" panose="020B0609020204030204" pitchFamily="49" charset="0"/>
                <a:ea typeface="Alibaba PuHuiTi B"/>
              </a:rPr>
              <a:t>那我要解决的问题</a:t>
            </a:r>
            <a:endParaRPr lang="en-US" altLang="zh-CN" dirty="0">
              <a:latin typeface="Consolas" panose="020B0609020204030204" pitchFamily="49" charset="0"/>
              <a:ea typeface="Alibaba PuHuiTi B"/>
            </a:endParaRPr>
          </a:p>
          <a:p>
            <a:pPr algn="ctr"/>
            <a:r>
              <a:rPr lang="zh-CN" altLang="en-US" dirty="0">
                <a:latin typeface="Consolas" panose="020B0609020204030204" pitchFamily="49" charset="0"/>
                <a:ea typeface="Alibaba PuHuiTi B"/>
              </a:rPr>
              <a:t>人家 </a:t>
            </a:r>
            <a:r>
              <a:rPr lang="en-US" altLang="zh-CN" dirty="0">
                <a:latin typeface="Consolas" panose="020B0609020204030204" pitchFamily="49" charset="0"/>
                <a:ea typeface="Alibaba PuHuiTi B"/>
              </a:rPr>
              <a:t>Java </a:t>
            </a:r>
            <a:r>
              <a:rPr lang="zh-CN" altLang="en-US" dirty="0">
                <a:latin typeface="Consolas" panose="020B0609020204030204" pitchFamily="49" charset="0"/>
                <a:ea typeface="Alibaba PuHuiTi B"/>
              </a:rPr>
              <a:t>没提供怎么办</a:t>
            </a:r>
            <a:r>
              <a:rPr lang="en-US" altLang="zh-CN" dirty="0">
                <a:latin typeface="Consolas" panose="020B0609020204030204" pitchFamily="49" charset="0"/>
                <a:ea typeface="Alibaba PuHuiTi B"/>
              </a:rPr>
              <a:t>?</a:t>
            </a:r>
            <a:endParaRPr lang="zh-CN" altLang="en-US" dirty="0">
              <a:latin typeface="Consolas" panose="020B0609020204030204" pitchFamily="49" charset="0"/>
              <a:ea typeface="Alibaba PuHuiTi B"/>
            </a:endParaRPr>
          </a:p>
        </p:txBody>
      </p:sp>
    </p:spTree>
    <p:extLst>
      <p:ext uri="{BB962C8B-B14F-4D97-AF65-F5344CB8AC3E}">
        <p14:creationId xmlns:p14="http://schemas.microsoft.com/office/powerpoint/2010/main" val="3595982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面向对象介绍</a:t>
            </a:r>
            <a:endParaRPr kumimoji="1"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97A3985-D652-4897-BC64-54D4B5EFD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10" y="1311546"/>
            <a:ext cx="6105525" cy="733425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8D853855-F0DA-4D1F-9EAC-39B816745923}"/>
              </a:ext>
            </a:extLst>
          </p:cNvPr>
          <p:cNvSpPr/>
          <p:nvPr/>
        </p:nvSpPr>
        <p:spPr>
          <a:xfrm>
            <a:off x="858416" y="2426933"/>
            <a:ext cx="4432041" cy="144624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学习自己如何设计对象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4E676A6-7258-46C2-BD72-31346AEF4C30}"/>
              </a:ext>
            </a:extLst>
          </p:cNvPr>
          <p:cNvSpPr/>
          <p:nvPr/>
        </p:nvSpPr>
        <p:spPr>
          <a:xfrm>
            <a:off x="5840963" y="2426933"/>
            <a:ext cx="4432041" cy="1446244"/>
          </a:xfrm>
          <a:prstGeom prst="roundRect">
            <a:avLst/>
          </a:prstGeom>
          <a:solidFill>
            <a:srgbClr val="AD2B26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学习已有的对象如何使用</a:t>
            </a:r>
          </a:p>
        </p:txBody>
      </p:sp>
    </p:spTree>
    <p:extLst>
      <p:ext uri="{BB962C8B-B14F-4D97-AF65-F5344CB8AC3E}">
        <p14:creationId xmlns:p14="http://schemas.microsoft.com/office/powerpoint/2010/main" val="353906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mph" presetSubtype="0" repeatCount="3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BA73C9B-B8A0-9D48-F550-126404D9B5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面向对象是一种思想，这种思想可以让我们写代码的思路更贴切于生活</a:t>
            </a:r>
            <a:endParaRPr lang="en-US" altLang="zh-CN" dirty="0"/>
          </a:p>
          <a:p>
            <a:r>
              <a:rPr lang="zh-CN" altLang="en-US" dirty="0"/>
              <a:t>学习目标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自己设计对象使用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掌握已有对象的使用</a:t>
            </a:r>
          </a:p>
        </p:txBody>
      </p:sp>
    </p:spTree>
    <p:extLst>
      <p:ext uri="{BB962C8B-B14F-4D97-AF65-F5344CB8AC3E}">
        <p14:creationId xmlns:p14="http://schemas.microsoft.com/office/powerpoint/2010/main" val="2013079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7D7AC-AA23-449A-B03F-8BA3555B5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C71F140-AFA4-DD99-F2AF-05BD7A0521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面向对象思想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类和对象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类和对象内存图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成员变量和局部变量的区别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this </a:t>
            </a:r>
            <a:r>
              <a:rPr lang="zh-CN" altLang="en-US" dirty="0">
                <a:latin typeface="Consolas" panose="020B0609020204030204" pitchFamily="49" charset="0"/>
              </a:rPr>
              <a:t>关键字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构造方法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封装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JavaBean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static </a:t>
            </a:r>
            <a:r>
              <a:rPr lang="zh-CN" altLang="en-US" dirty="0">
                <a:latin typeface="Consolas" panose="020B0609020204030204" pitchFamily="49" charset="0"/>
              </a:rPr>
              <a:t>关键字</a:t>
            </a:r>
          </a:p>
        </p:txBody>
      </p:sp>
    </p:spTree>
    <p:extLst>
      <p:ext uri="{BB962C8B-B14F-4D97-AF65-F5344CB8AC3E}">
        <p14:creationId xmlns:p14="http://schemas.microsoft.com/office/powerpoint/2010/main" val="2977796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C3DF-11CE-B144-710F-27354C02F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A5E05D-3A8E-4642-F501-C32FC05F34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类和对象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858D89A2-9AAF-34B7-31D9-E0D8FB0771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4376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类和对象介绍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DC5DDB-734F-41CD-81C3-0EC1AC6BEAE5}"/>
              </a:ext>
            </a:extLst>
          </p:cNvPr>
          <p:cNvSpPr txBox="1"/>
          <p:nvPr/>
        </p:nvSpPr>
        <p:spPr>
          <a:xfrm>
            <a:off x="576626" y="1206640"/>
            <a:ext cx="6111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Alibaba PuHuiTi B"/>
              </a:rPr>
              <a:t>Java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Alibaba PuHuiTi B"/>
              </a:rPr>
              <a:t>中想要创建对象，必须先要有类的存在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18E992-7195-4DF4-9CF3-1BF7DA6C890D}"/>
              </a:ext>
            </a:extLst>
          </p:cNvPr>
          <p:cNvSpPr txBox="1"/>
          <p:nvPr/>
        </p:nvSpPr>
        <p:spPr>
          <a:xfrm>
            <a:off x="576625" y="1733255"/>
            <a:ext cx="76213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Alibaba PuHuiTi B"/>
              </a:rPr>
              <a:t>类指的是一组相关属性和行为的集合，我们将其理解为是一张对象的设计图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CF7D6C3-BF16-450F-B8FC-AC5C4E6F4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574" y="2807385"/>
            <a:ext cx="4685426" cy="339326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C4AF29C-BD1F-4FDB-8D2F-1411480AD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541" y="2957655"/>
            <a:ext cx="3758779" cy="337945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5A86089-C8AC-4739-B069-A766A51BE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3719" y="4074937"/>
            <a:ext cx="972142" cy="42908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9C8D7DF-9023-4BD2-BAB7-C7A96AB529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74" y="3890876"/>
            <a:ext cx="762000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19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类和对象的关系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DC5DDB-734F-41CD-81C3-0EC1AC6BEAE5}"/>
              </a:ext>
            </a:extLst>
          </p:cNvPr>
          <p:cNvSpPr txBox="1"/>
          <p:nvPr/>
        </p:nvSpPr>
        <p:spPr>
          <a:xfrm>
            <a:off x="576626" y="1198512"/>
            <a:ext cx="6111551" cy="790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Alibaba PuHuiTi B"/>
              </a:rPr>
              <a:t>Java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Alibaba PuHuiTi B"/>
              </a:rPr>
              <a:t>中需要根据类，创建对象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Alibaba PuHuiTi B"/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Alibaba PuHuiTi B"/>
              </a:rPr>
              <a:t>一个类，可以创建出多个对象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Alibaba PuHuiTi B"/>
            </a:endParaRPr>
          </a:p>
        </p:txBody>
      </p:sp>
    </p:spTree>
    <p:extLst>
      <p:ext uri="{BB962C8B-B14F-4D97-AF65-F5344CB8AC3E}">
        <p14:creationId xmlns:p14="http://schemas.microsoft.com/office/powerpoint/2010/main" val="136382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3">
            <a:extLst>
              <a:ext uri="{FF2B5EF4-FFF2-40B4-BE49-F238E27FC236}">
                <a16:creationId xmlns:a16="http://schemas.microsoft.com/office/drawing/2014/main" id="{4CE38E32-20F9-42B6-AC04-E5FE6425BDED}"/>
              </a:ext>
            </a:extLst>
          </p:cNvPr>
          <p:cNvSpPr txBox="1"/>
          <p:nvPr/>
        </p:nvSpPr>
        <p:spPr>
          <a:xfrm>
            <a:off x="5917821" y="2508900"/>
            <a:ext cx="5989644" cy="3935693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Student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</a:rPr>
              <a:t>name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张三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</a:rPr>
              <a:t>age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23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study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(){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学习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</a:rPr>
              <a:t>Java"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eat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(){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吃饭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20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类的组成 </a:t>
            </a:r>
          </a:p>
        </p:txBody>
      </p:sp>
      <p:sp>
        <p:nvSpPr>
          <p:cNvPr id="16" name="AutoShape 2">
            <a:extLst>
              <a:ext uri="{FF2B5EF4-FFF2-40B4-BE49-F238E27FC236}">
                <a16:creationId xmlns:a16="http://schemas.microsoft.com/office/drawing/2014/main" id="{0CD95D5B-CEB3-49A1-A1AE-0C9449497B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3363" y="402615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45413754-76F9-4A50-8CB5-2C847483D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35" y="4026158"/>
            <a:ext cx="1628775" cy="96202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E7652A66-91F9-414C-8A7F-2524EF781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67" y="1788373"/>
            <a:ext cx="1247775" cy="752475"/>
          </a:xfrm>
          <a:prstGeom prst="rect">
            <a:avLst/>
          </a:prstGeom>
        </p:spPr>
      </p:pic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527179D-AFE7-4E82-8CDE-6C689118A318}"/>
              </a:ext>
            </a:extLst>
          </p:cNvPr>
          <p:cNvSpPr/>
          <p:nvPr/>
        </p:nvSpPr>
        <p:spPr>
          <a:xfrm>
            <a:off x="2082976" y="2250119"/>
            <a:ext cx="3219061" cy="172616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成员变量</a:t>
            </a: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  <a:p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跟之前定义变量的格式一样</a:t>
            </a:r>
            <a:endParaRPr lang="en-US" altLang="zh-CN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只不过位置需要放在</a:t>
            </a:r>
            <a:endParaRPr lang="en-US" altLang="zh-CN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2800" b="1" dirty="0">
                <a:solidFill>
                  <a:schemeClr val="bg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方法的外面</a:t>
            </a:r>
            <a:endParaRPr lang="zh-CN" altLang="en-US" sz="4000" b="1" dirty="0">
              <a:solidFill>
                <a:schemeClr val="bg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2964BF0-887C-42F1-A782-DFB58C33F854}"/>
              </a:ext>
            </a:extLst>
          </p:cNvPr>
          <p:cNvSpPr/>
          <p:nvPr/>
        </p:nvSpPr>
        <p:spPr>
          <a:xfrm>
            <a:off x="2082976" y="4610664"/>
            <a:ext cx="3378542" cy="1726164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成员方法</a:t>
            </a: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  <a:p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跟之前定义方法的格式一样</a:t>
            </a:r>
            <a:endParaRPr lang="en-US" altLang="zh-CN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只不过需要</a:t>
            </a:r>
            <a:endParaRPr lang="en-US" altLang="zh-CN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2800" b="1" dirty="0">
                <a:solidFill>
                  <a:schemeClr val="bg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去掉</a:t>
            </a:r>
            <a:r>
              <a:rPr lang="en-US" altLang="zh-CN" sz="2800" b="1" dirty="0">
                <a:solidFill>
                  <a:schemeClr val="bg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</a:t>
            </a:r>
            <a:r>
              <a:rPr lang="zh-CN" altLang="en-US" sz="2800" b="1" dirty="0">
                <a:solidFill>
                  <a:schemeClr val="bg1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关键字</a:t>
            </a:r>
            <a:endParaRPr lang="zh-CN" altLang="en-US" sz="4000" b="1" dirty="0">
              <a:solidFill>
                <a:schemeClr val="bg1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775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创建对象、使用对象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3ACD6507-7439-4ED6-B7C4-A9B2BBFA8431}"/>
              </a:ext>
            </a:extLst>
          </p:cNvPr>
          <p:cNvSpPr/>
          <p:nvPr/>
        </p:nvSpPr>
        <p:spPr>
          <a:xfrm>
            <a:off x="710880" y="1782147"/>
            <a:ext cx="3825551" cy="1026368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AutoNum type="arabicPeriod"/>
            </a:pPr>
            <a:r>
              <a:rPr lang="zh-CN" altLang="en-US" dirty="0">
                <a:latin typeface="Consolas" panose="020B0609020204030204" pitchFamily="49" charset="0"/>
              </a:rPr>
              <a:t>创建对象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342900" indent="-342900">
              <a:buAutoNum type="arabicPeriod"/>
            </a:pP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类名 对象名 </a:t>
            </a:r>
            <a:r>
              <a:rPr lang="en-US" altLang="zh-CN" dirty="0">
                <a:latin typeface="Consolas" panose="020B0609020204030204" pitchFamily="49" charset="0"/>
              </a:rPr>
              <a:t>= new </a:t>
            </a:r>
            <a:r>
              <a:rPr lang="zh-CN" altLang="en-US" dirty="0">
                <a:latin typeface="Consolas" panose="020B0609020204030204" pitchFamily="49" charset="0"/>
              </a:rPr>
              <a:t>类名</a:t>
            </a:r>
            <a:r>
              <a:rPr lang="en-US" altLang="zh-CN" dirty="0"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E896E91-6586-43DB-A136-5824B681ED80}"/>
              </a:ext>
            </a:extLst>
          </p:cNvPr>
          <p:cNvSpPr/>
          <p:nvPr/>
        </p:nvSpPr>
        <p:spPr>
          <a:xfrm>
            <a:off x="710879" y="3316099"/>
            <a:ext cx="3825551" cy="1026368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dirty="0">
                <a:latin typeface="Consolas" panose="020B0609020204030204" pitchFamily="49" charset="0"/>
              </a:rPr>
              <a:t>2. </a:t>
            </a:r>
            <a:r>
              <a:rPr lang="zh-CN" altLang="en-US" dirty="0">
                <a:latin typeface="Consolas" panose="020B0609020204030204" pitchFamily="49" charset="0"/>
              </a:rPr>
              <a:t>变量的使用格式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342900" indent="-342900">
              <a:buAutoNum type="arabicPeriod"/>
            </a:pP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对象名</a:t>
            </a:r>
            <a:r>
              <a:rPr lang="en-US" altLang="zh-CN" dirty="0">
                <a:latin typeface="Consolas" panose="020B0609020204030204" pitchFamily="49" charset="0"/>
              </a:rPr>
              <a:t>.</a:t>
            </a:r>
            <a:r>
              <a:rPr lang="zh-CN" altLang="en-US" dirty="0">
                <a:latin typeface="Consolas" panose="020B0609020204030204" pitchFamily="49" charset="0"/>
              </a:rPr>
              <a:t>变量名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2C355FC-69FE-43DE-8AFB-ED509D5045F5}"/>
              </a:ext>
            </a:extLst>
          </p:cNvPr>
          <p:cNvSpPr/>
          <p:nvPr/>
        </p:nvSpPr>
        <p:spPr>
          <a:xfrm>
            <a:off x="710878" y="4850051"/>
            <a:ext cx="3825551" cy="1026368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dirty="0">
                <a:latin typeface="Consolas" panose="020B0609020204030204" pitchFamily="49" charset="0"/>
              </a:rPr>
              <a:t>3. </a:t>
            </a:r>
            <a:r>
              <a:rPr lang="zh-CN" altLang="en-US" dirty="0">
                <a:latin typeface="Consolas" panose="020B0609020204030204" pitchFamily="49" charset="0"/>
              </a:rPr>
              <a:t>方法的使用格式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342900" indent="-342900">
              <a:buAutoNum type="arabicPeriod"/>
            </a:pP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对象名</a:t>
            </a:r>
            <a:r>
              <a:rPr lang="en-US" altLang="zh-CN" dirty="0">
                <a:latin typeface="Consolas" panose="020B0609020204030204" pitchFamily="49" charset="0"/>
              </a:rPr>
              <a:t>.</a:t>
            </a:r>
            <a:r>
              <a:rPr lang="zh-CN" altLang="en-US" dirty="0">
                <a:latin typeface="Consolas" panose="020B0609020204030204" pitchFamily="49" charset="0"/>
              </a:rPr>
              <a:t>方法名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zh-CN" altLang="en-US" dirty="0">
                <a:latin typeface="Consolas" panose="020B0609020204030204" pitchFamily="49" charset="0"/>
              </a:rPr>
              <a:t>实际参数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68A77365-2E5C-4324-84CF-CF0CA0BDE9E5}"/>
              </a:ext>
            </a:extLst>
          </p:cNvPr>
          <p:cNvSpPr txBox="1"/>
          <p:nvPr/>
        </p:nvSpPr>
        <p:spPr>
          <a:xfrm>
            <a:off x="5371325" y="1852646"/>
            <a:ext cx="5778757" cy="4185761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[] args) {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8691905-054A-4803-8E67-ABA01287660D}"/>
              </a:ext>
            </a:extLst>
          </p:cNvPr>
          <p:cNvSpPr txBox="1"/>
          <p:nvPr/>
        </p:nvSpPr>
        <p:spPr>
          <a:xfrm>
            <a:off x="6096663" y="4573483"/>
            <a:ext cx="41046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使用成员方法格式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对象名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方法名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实际参数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.study();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.eat();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0CE2A54-E386-469F-8D90-7B39EBE8B4FB}"/>
              </a:ext>
            </a:extLst>
          </p:cNvPr>
          <p:cNvSpPr txBox="1"/>
          <p:nvPr/>
        </p:nvSpPr>
        <p:spPr>
          <a:xfrm>
            <a:off x="6096663" y="2320857"/>
            <a:ext cx="47596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创建对象格式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类名 对象名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</a:rPr>
              <a:t> = new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类名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 stu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Student();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BFE2F36-5BD7-4C83-8BB2-C5B0687FA88C}"/>
              </a:ext>
            </a:extLst>
          </p:cNvPr>
          <p:cNvSpPr txBox="1"/>
          <p:nvPr/>
        </p:nvSpPr>
        <p:spPr>
          <a:xfrm>
            <a:off x="6096663" y="3124004"/>
            <a:ext cx="453176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使用成员变量格式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对象名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变量名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458C2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李四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age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49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8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12" grpId="0" animBg="1"/>
      <p:bldP spid="13" grpId="0" animBg="1"/>
      <p:bldP spid="14" grpId="0"/>
      <p:bldP spid="15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81A9B-BD99-2B9C-D401-80EF61C30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887EB21-11DB-BA4C-BF03-8996895462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类的组成：属性、行为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属性：成员变量，指描述事物的名词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行为：成员方法，指描述事物的动词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创建对象格式：类名 对象名 </a:t>
            </a:r>
            <a:r>
              <a:rPr lang="en-US" altLang="zh-CN" dirty="0">
                <a:latin typeface="Consolas" panose="020B0609020204030204" pitchFamily="49" charset="0"/>
              </a:rPr>
              <a:t>= new </a:t>
            </a:r>
            <a:r>
              <a:rPr lang="zh-CN" altLang="en-US" dirty="0">
                <a:latin typeface="Consolas" panose="020B0609020204030204" pitchFamily="49" charset="0"/>
              </a:rPr>
              <a:t>类名</a:t>
            </a:r>
            <a:r>
              <a:rPr lang="en-US" altLang="zh-CN" dirty="0">
                <a:latin typeface="Consolas" panose="020B0609020204030204" pitchFamily="49" charset="0"/>
              </a:rPr>
              <a:t>();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使用对象格式：对象名</a:t>
            </a:r>
            <a:r>
              <a:rPr lang="en-US" altLang="zh-CN" dirty="0">
                <a:latin typeface="Consolas" panose="020B0609020204030204" pitchFamily="49" charset="0"/>
              </a:rPr>
              <a:t>.</a:t>
            </a:r>
            <a:r>
              <a:rPr lang="zh-CN" altLang="en-US" dirty="0">
                <a:latin typeface="Consolas" panose="020B0609020204030204" pitchFamily="49" charset="0"/>
              </a:rPr>
              <a:t>变量名</a:t>
            </a:r>
            <a:r>
              <a:rPr lang="en-US" altLang="zh-CN" dirty="0">
                <a:latin typeface="Consolas" panose="020B0609020204030204" pitchFamily="49" charset="0"/>
              </a:rPr>
              <a:t>;  </a:t>
            </a:r>
            <a:r>
              <a:rPr lang="zh-CN" altLang="en-US" dirty="0">
                <a:latin typeface="Consolas" panose="020B0609020204030204" pitchFamily="49" charset="0"/>
              </a:rPr>
              <a:t>对象名</a:t>
            </a:r>
            <a:r>
              <a:rPr lang="en-US" altLang="zh-CN" dirty="0">
                <a:latin typeface="Consolas" panose="020B0609020204030204" pitchFamily="49" charset="0"/>
              </a:rPr>
              <a:t>.</a:t>
            </a:r>
            <a:r>
              <a:rPr lang="zh-CN" altLang="en-US" dirty="0">
                <a:latin typeface="Consolas" panose="020B0609020204030204" pitchFamily="49" charset="0"/>
              </a:rPr>
              <a:t>方法名</a:t>
            </a:r>
            <a:r>
              <a:rPr lang="en-US" altLang="zh-CN" dirty="0">
                <a:latin typeface="Consolas" panose="020B0609020204030204" pitchFamily="49" charset="0"/>
              </a:rPr>
              <a:t>();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15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5D2CF33F-EB71-C213-2898-0BF8271D5B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53098" y="876825"/>
            <a:ext cx="9570540" cy="478055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定义一个手机类 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(Phone)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属性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: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品牌 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brand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，颜色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 color, 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价格 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price)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行为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: 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		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打电话 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(call)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			- 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输出给 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xxx 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打电话</a:t>
            </a:r>
            <a:endParaRPr lang="en-US" altLang="zh-CN" dirty="0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		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发短信 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sendMessage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			- 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输出群发短信</a:t>
            </a:r>
            <a:endParaRPr lang="en-US" altLang="zh-CN" dirty="0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编写一个手机测试类 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PhoneTest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创建两个手机对象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,  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并给属性赋值</a:t>
            </a:r>
            <a:endParaRPr lang="en-US" altLang="zh-CN" dirty="0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		1. 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小米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,  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白色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,  4999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		2. 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华为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,  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黑色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,  6999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赋值之后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校验自己有没有赋值成功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使用打印语句校验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调用两个对象各自的成员方法</a:t>
            </a:r>
            <a:endParaRPr lang="en-US" altLang="zh-CN" dirty="0">
              <a:solidFill>
                <a:schemeClr val="tx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类的定义与对象的创建和使用</a:t>
            </a:r>
            <a:endParaRPr kumimoji="1" lang="zh-CN" altLang="en-US" dirty="0"/>
          </a:p>
        </p:txBody>
      </p:sp>
      <p:sp>
        <p:nvSpPr>
          <p:cNvPr id="20" name="文本占位符 3">
            <a:extLst>
              <a:ext uri="{FF2B5EF4-FFF2-40B4-BE49-F238E27FC236}">
                <a16:creationId xmlns:a16="http://schemas.microsoft.com/office/drawing/2014/main" id="{94BD971D-1CCE-434A-93D8-27924E600FFE}"/>
              </a:ext>
            </a:extLst>
          </p:cNvPr>
          <p:cNvSpPr txBox="1">
            <a:spLocks/>
          </p:cNvSpPr>
          <p:nvPr/>
        </p:nvSpPr>
        <p:spPr>
          <a:xfrm>
            <a:off x="2195450" y="4136011"/>
            <a:ext cx="9214230" cy="272198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071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BC3A3-B706-37FF-19DA-1692411E1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4C65C2A-EDCE-0A7D-BB79-D6E10A2CA2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面向对象思想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类和对象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类和对象内存图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成员变量和局部变量的区别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this </a:t>
            </a:r>
            <a:r>
              <a:rPr lang="zh-CN" altLang="en-US" dirty="0">
                <a:latin typeface="Consolas" panose="020B0609020204030204" pitchFamily="49" charset="0"/>
              </a:rPr>
              <a:t>关键字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构造方法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封装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JavaBean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static </a:t>
            </a:r>
            <a:r>
              <a:rPr lang="zh-CN" altLang="en-US" dirty="0">
                <a:latin typeface="Consolas" panose="020B0609020204030204" pitchFamily="49" charset="0"/>
              </a:rPr>
              <a:t>关键字</a:t>
            </a:r>
          </a:p>
        </p:txBody>
      </p:sp>
    </p:spTree>
    <p:extLst>
      <p:ext uri="{BB962C8B-B14F-4D97-AF65-F5344CB8AC3E}">
        <p14:creationId xmlns:p14="http://schemas.microsoft.com/office/powerpoint/2010/main" val="1123113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B7421-3A86-287A-1E29-CE898B3F5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E544DD-8F76-E432-8AE2-DEC6902AE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类和对象内存图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60340F88-1E14-4935-DDD6-9D3322ABEA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1291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类和对象内存图</a:t>
            </a:r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单个对象内存图</a:t>
            </a: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2378FC8-ADF6-4C70-8E1B-C01F92C58768}"/>
              </a:ext>
            </a:extLst>
          </p:cNvPr>
          <p:cNvGrpSpPr>
            <a:grpSpLocks/>
          </p:cNvGrpSpPr>
          <p:nvPr/>
        </p:nvGrpSpPr>
        <p:grpSpPr bwMode="auto">
          <a:xfrm>
            <a:off x="8530352" y="1254427"/>
            <a:ext cx="3491904" cy="3340560"/>
            <a:chOff x="6552698" y="206834"/>
            <a:chExt cx="2398614" cy="4763518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21642DC-7C49-48AE-8800-9B1C82644214}"/>
                </a:ext>
              </a:extLst>
            </p:cNvPr>
            <p:cNvSpPr/>
            <p:nvPr/>
          </p:nvSpPr>
          <p:spPr bwMode="auto">
            <a:xfrm>
              <a:off x="6552698" y="1032717"/>
              <a:ext cx="2398614" cy="3937635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5" name="TextBox 2">
              <a:extLst>
                <a:ext uri="{FF2B5EF4-FFF2-40B4-BE49-F238E27FC236}">
                  <a16:creationId xmlns:a16="http://schemas.microsoft.com/office/drawing/2014/main" id="{1026CA07-9DB4-4107-A4BC-810B36615A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206834"/>
              <a:ext cx="936625" cy="446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709CE67-6078-4A9B-945D-834F73CF4FAF}"/>
              </a:ext>
            </a:extLst>
          </p:cNvPr>
          <p:cNvGrpSpPr>
            <a:grpSpLocks/>
          </p:cNvGrpSpPr>
          <p:nvPr/>
        </p:nvGrpSpPr>
        <p:grpSpPr bwMode="auto">
          <a:xfrm>
            <a:off x="5561046" y="1797051"/>
            <a:ext cx="2740522" cy="4800600"/>
            <a:chOff x="4441895" y="1347668"/>
            <a:chExt cx="1771200" cy="3600344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F10B7D70-F048-401F-AB54-EEC9024D80C6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169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8" name="TextBox 2">
              <a:extLst>
                <a:ext uri="{FF2B5EF4-FFF2-40B4-BE49-F238E27FC236}">
                  <a16:creationId xmlns:a16="http://schemas.microsoft.com/office/drawing/2014/main" id="{6F994228-C2A3-415C-8AC6-4BC5ABD74D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accent2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882D61BA-0154-4C4D-A28B-22AFD1F36BF2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EB6A524-0682-43F4-BF44-F16D2D2E0931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90F0856F-B7DA-445C-B93E-9B11F726177E}"/>
                </a:ext>
              </a:extLst>
            </p:cNvPr>
            <p:cNvCxnSpPr/>
            <p:nvPr/>
          </p:nvCxnSpPr>
          <p:spPr>
            <a:xfrm flipH="1">
              <a:off x="4441895" y="4944837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">
            <a:extLst>
              <a:ext uri="{FF2B5EF4-FFF2-40B4-BE49-F238E27FC236}">
                <a16:creationId xmlns:a16="http://schemas.microsoft.com/office/drawing/2014/main" id="{573138BD-BF57-46F7-B222-40381A33D639}"/>
              </a:ext>
            </a:extLst>
          </p:cNvPr>
          <p:cNvSpPr txBox="1"/>
          <p:nvPr/>
        </p:nvSpPr>
        <p:spPr>
          <a:xfrm>
            <a:off x="710881" y="1635973"/>
            <a:ext cx="4620683" cy="193899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Student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200" dirty="0">
                <a:solidFill>
                  <a:srgbClr val="458C2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200" dirty="0">
                <a:solidFill>
                  <a:srgbClr val="458C2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</a:rPr>
              <a:t>name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</a:rPr>
              <a:t>age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200" dirty="0">
                <a:solidFill>
                  <a:srgbClr val="458C2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200" dirty="0">
                <a:solidFill>
                  <a:srgbClr val="458C2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</a:rPr>
              <a:t>public void </a:t>
            </a:r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</a:rPr>
              <a:t>study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(){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学习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</a:rPr>
              <a:t>Java"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</a:rPr>
              <a:t>public void </a:t>
            </a:r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</a:rPr>
              <a:t>eat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(){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吃饭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39" name="TextBox 3">
            <a:extLst>
              <a:ext uri="{FF2B5EF4-FFF2-40B4-BE49-F238E27FC236}">
                <a16:creationId xmlns:a16="http://schemas.microsoft.com/office/drawing/2014/main" id="{866E099E-C333-47D5-A108-DEA415C9F984}"/>
              </a:ext>
            </a:extLst>
          </p:cNvPr>
          <p:cNvSpPr txBox="1"/>
          <p:nvPr/>
        </p:nvSpPr>
        <p:spPr>
          <a:xfrm>
            <a:off x="710880" y="3655761"/>
            <a:ext cx="4620683" cy="304698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TestStudent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void </a:t>
            </a:r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[] args) {</a:t>
            </a:r>
            <a:br>
              <a:rPr lang="zh-CN" altLang="zh-CN" sz="1200" dirty="0">
                <a:solidFill>
                  <a:srgbClr val="458C2F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458C2F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Student stu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Student();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r>
              <a:rPr lang="zh-CN" altLang="zh-CN" sz="1200" dirty="0">
                <a:solidFill>
                  <a:srgbClr val="458C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solidFill>
                  <a:srgbClr val="458C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458C2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458C2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</a:rPr>
              <a:t>name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</a:rPr>
              <a:t>age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</a:rPr>
              <a:t>name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张三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</a:rPr>
              <a:t>age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</a:rPr>
              <a:t>23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</a:rPr>
              <a:t>name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</a:rPr>
              <a:t>age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.study();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.eat();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6B49702-021B-4E78-B581-22630B994A67}"/>
              </a:ext>
            </a:extLst>
          </p:cNvPr>
          <p:cNvGrpSpPr>
            <a:grpSpLocks/>
          </p:cNvGrpSpPr>
          <p:nvPr/>
        </p:nvGrpSpPr>
        <p:grpSpPr bwMode="auto">
          <a:xfrm>
            <a:off x="7493417" y="4739951"/>
            <a:ext cx="4528839" cy="1843039"/>
            <a:chOff x="1087528" y="3579862"/>
            <a:chExt cx="3150447" cy="1400643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F7984AB6-6D90-4CCA-9F6B-876AD8795F8D}"/>
                </a:ext>
              </a:extLst>
            </p:cNvPr>
            <p:cNvSpPr/>
            <p:nvPr/>
          </p:nvSpPr>
          <p:spPr bwMode="auto">
            <a:xfrm>
              <a:off x="1837147" y="3579862"/>
              <a:ext cx="2400828" cy="1400643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 w="38100">
              <a:solidFill>
                <a:srgbClr val="92D05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rgbClr val="92D05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42" name="TextBox 2">
              <a:extLst>
                <a:ext uri="{FF2B5EF4-FFF2-40B4-BE49-F238E27FC236}">
                  <a16:creationId xmlns:a16="http://schemas.microsoft.com/office/drawing/2014/main" id="{BF2D3A51-71B8-4D2F-9701-28E52ACC04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7528" y="4539823"/>
              <a:ext cx="2442792" cy="440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92D05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方法区</a:t>
              </a:r>
            </a:p>
          </p:txBody>
        </p:sp>
      </p:grpSp>
      <p:sp>
        <p:nvSpPr>
          <p:cNvPr id="44" name="TextBox 3">
            <a:extLst>
              <a:ext uri="{FF2B5EF4-FFF2-40B4-BE49-F238E27FC236}">
                <a16:creationId xmlns:a16="http://schemas.microsoft.com/office/drawing/2014/main" id="{E4DDCDCE-DAC0-414D-B26E-45BBD632C329}"/>
              </a:ext>
            </a:extLst>
          </p:cNvPr>
          <p:cNvSpPr txBox="1"/>
          <p:nvPr/>
        </p:nvSpPr>
        <p:spPr>
          <a:xfrm>
            <a:off x="8637043" y="4957242"/>
            <a:ext cx="1614326" cy="646331"/>
          </a:xfrm>
          <a:prstGeom prst="rect">
            <a:avLst/>
          </a:prstGeom>
          <a:solidFill>
            <a:srgbClr val="D9D9D9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TestStudent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.class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FE9C054F-3C91-4551-ADCD-8A79BB107310}"/>
              </a:ext>
            </a:extLst>
          </p:cNvPr>
          <p:cNvSpPr txBox="1"/>
          <p:nvPr/>
        </p:nvSpPr>
        <p:spPr>
          <a:xfrm>
            <a:off x="5607743" y="3546622"/>
            <a:ext cx="2612715" cy="2585323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46" name="TextBox 3">
            <a:extLst>
              <a:ext uri="{FF2B5EF4-FFF2-40B4-BE49-F238E27FC236}">
                <a16:creationId xmlns:a16="http://schemas.microsoft.com/office/drawing/2014/main" id="{E496E966-9C62-4C0C-A22D-6222A50FD1EE}"/>
              </a:ext>
            </a:extLst>
          </p:cNvPr>
          <p:cNvSpPr txBox="1"/>
          <p:nvPr/>
        </p:nvSpPr>
        <p:spPr>
          <a:xfrm>
            <a:off x="10297193" y="4952523"/>
            <a:ext cx="1641227" cy="1015663"/>
          </a:xfrm>
          <a:prstGeom prst="rect">
            <a:avLst/>
          </a:prstGeom>
          <a:solidFill>
            <a:srgbClr val="D9D9D9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Student.class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成员变量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成员方法</a:t>
            </a:r>
            <a:endParaRPr lang="zh-CN" altLang="zh-CN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634237-2790-44AE-98C3-49467EB539BD}"/>
              </a:ext>
            </a:extLst>
          </p:cNvPr>
          <p:cNvSpPr/>
          <p:nvPr/>
        </p:nvSpPr>
        <p:spPr>
          <a:xfrm>
            <a:off x="5634778" y="3809342"/>
            <a:ext cx="2585679" cy="389433"/>
          </a:xfrm>
          <a:prstGeom prst="rect">
            <a:avLst/>
          </a:prstGeom>
          <a:solidFill>
            <a:srgbClr val="FFFF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965ADD-86E9-4FB3-908E-9E1136D084BD}"/>
              </a:ext>
            </a:extLst>
          </p:cNvPr>
          <p:cNvSpPr txBox="1"/>
          <p:nvPr/>
        </p:nvSpPr>
        <p:spPr>
          <a:xfrm>
            <a:off x="5588079" y="3854230"/>
            <a:ext cx="1119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 stu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3238D2F-598C-4B90-9E38-78E1755532F0}"/>
              </a:ext>
            </a:extLst>
          </p:cNvPr>
          <p:cNvSpPr/>
          <p:nvPr/>
        </p:nvSpPr>
        <p:spPr>
          <a:xfrm>
            <a:off x="2468768" y="4032051"/>
            <a:ext cx="1427584" cy="289249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858EA5-291E-4763-87C8-AB6A4BC884FE}"/>
              </a:ext>
            </a:extLst>
          </p:cNvPr>
          <p:cNvSpPr/>
          <p:nvPr/>
        </p:nvSpPr>
        <p:spPr>
          <a:xfrm>
            <a:off x="8730160" y="2186546"/>
            <a:ext cx="1822573" cy="2278897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EE65177-6F3A-4AF6-A9C0-F8A2B3649FF4}"/>
              </a:ext>
            </a:extLst>
          </p:cNvPr>
          <p:cNvSpPr txBox="1"/>
          <p:nvPr/>
        </p:nvSpPr>
        <p:spPr>
          <a:xfrm>
            <a:off x="8689364" y="1899120"/>
            <a:ext cx="111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7ef20235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1A912F8-54EF-4300-B36A-AAD827B0BD2F}"/>
              </a:ext>
            </a:extLst>
          </p:cNvPr>
          <p:cNvSpPr txBox="1"/>
          <p:nvPr/>
        </p:nvSpPr>
        <p:spPr>
          <a:xfrm>
            <a:off x="8730161" y="2245652"/>
            <a:ext cx="18225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4B9E720-A600-4092-BEF6-0677545F1C70}"/>
              </a:ext>
            </a:extLst>
          </p:cNvPr>
          <p:cNvSpPr txBox="1"/>
          <p:nvPr/>
        </p:nvSpPr>
        <p:spPr>
          <a:xfrm>
            <a:off x="9869654" y="2587301"/>
            <a:ext cx="1380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C399130-B6F9-46C8-B807-D829B6F0AD66}"/>
              </a:ext>
            </a:extLst>
          </p:cNvPr>
          <p:cNvSpPr txBox="1"/>
          <p:nvPr/>
        </p:nvSpPr>
        <p:spPr>
          <a:xfrm>
            <a:off x="9869654" y="3203926"/>
            <a:ext cx="683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810A880-4DF3-4979-BF1C-D0E1DB6143CB}"/>
              </a:ext>
            </a:extLst>
          </p:cNvPr>
          <p:cNvCxnSpPr/>
          <p:nvPr/>
        </p:nvCxnSpPr>
        <p:spPr>
          <a:xfrm>
            <a:off x="8730160" y="3873429"/>
            <a:ext cx="182257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0B7A2838-DDF5-4B7C-A2D8-988B8C53673B}"/>
              </a:ext>
            </a:extLst>
          </p:cNvPr>
          <p:cNvSpPr txBox="1"/>
          <p:nvPr/>
        </p:nvSpPr>
        <p:spPr>
          <a:xfrm>
            <a:off x="8809966" y="3995432"/>
            <a:ext cx="1822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成员方法引用地址</a:t>
            </a:r>
            <a:endParaRPr lang="en-US" altLang="zh-CN" sz="1400" dirty="0">
              <a:solidFill>
                <a:srgbClr val="0070C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68FD59E9-CC4D-43CD-A237-2829ADA695DE}"/>
              </a:ext>
            </a:extLst>
          </p:cNvPr>
          <p:cNvCxnSpPr>
            <a:cxnSpLocks/>
          </p:cNvCxnSpPr>
          <p:nvPr/>
        </p:nvCxnSpPr>
        <p:spPr>
          <a:xfrm rot="16200000" flipH="1">
            <a:off x="9331352" y="4758236"/>
            <a:ext cx="1326653" cy="761926"/>
          </a:xfrm>
          <a:prstGeom prst="bentConnector2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F9A9354F-9E7C-4263-9C55-42301275229B}"/>
              </a:ext>
            </a:extLst>
          </p:cNvPr>
          <p:cNvSpPr txBox="1"/>
          <p:nvPr/>
        </p:nvSpPr>
        <p:spPr>
          <a:xfrm>
            <a:off x="8689363" y="1899120"/>
            <a:ext cx="111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7ef20235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7207264F-0EBF-4393-AD4C-8E22DD3256B1}"/>
              </a:ext>
            </a:extLst>
          </p:cNvPr>
          <p:cNvCxnSpPr>
            <a:endCxn id="55" idx="1"/>
          </p:cNvCxnSpPr>
          <p:nvPr/>
        </p:nvCxnSpPr>
        <p:spPr>
          <a:xfrm rot="5400000" flipH="1" flipV="1">
            <a:off x="7153743" y="2273722"/>
            <a:ext cx="1771722" cy="129951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4452E464-1878-4023-A229-6BB091EFE6BC}"/>
              </a:ext>
            </a:extLst>
          </p:cNvPr>
          <p:cNvSpPr txBox="1"/>
          <p:nvPr/>
        </p:nvSpPr>
        <p:spPr>
          <a:xfrm>
            <a:off x="5558878" y="4241326"/>
            <a:ext cx="195438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05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05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050" dirty="0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9" name="TextBox 3">
            <a:extLst>
              <a:ext uri="{FF2B5EF4-FFF2-40B4-BE49-F238E27FC236}">
                <a16:creationId xmlns:a16="http://schemas.microsoft.com/office/drawing/2014/main" id="{A920D298-3837-4728-B9A4-59E963D5D46D}"/>
              </a:ext>
            </a:extLst>
          </p:cNvPr>
          <p:cNvSpPr txBox="1"/>
          <p:nvPr/>
        </p:nvSpPr>
        <p:spPr>
          <a:xfrm>
            <a:off x="2790668" y="1076360"/>
            <a:ext cx="1669365" cy="307777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7ef20235</a:t>
            </a:r>
            <a:endParaRPr lang="zh-CN" altLang="zh-CN" sz="14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60" name="TextBox 3">
            <a:extLst>
              <a:ext uri="{FF2B5EF4-FFF2-40B4-BE49-F238E27FC236}">
                <a16:creationId xmlns:a16="http://schemas.microsoft.com/office/drawing/2014/main" id="{60E188B8-6EAA-4C87-9AAF-4922E29A51B0}"/>
              </a:ext>
            </a:extLst>
          </p:cNvPr>
          <p:cNvSpPr txBox="1"/>
          <p:nvPr/>
        </p:nvSpPr>
        <p:spPr>
          <a:xfrm>
            <a:off x="4532826" y="1068987"/>
            <a:ext cx="1669365" cy="523220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null</a:t>
            </a:r>
          </a:p>
          <a:p>
            <a:pPr>
              <a:defRPr/>
            </a:pPr>
            <a:r>
              <a:rPr lang="en-US" altLang="zh-CN" sz="1400" b="1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思源黑体 CN Bold" panose="020B0800000000000000" pitchFamily="34" charset="-122"/>
              </a:rPr>
              <a:t>0</a:t>
            </a:r>
            <a:endParaRPr lang="zh-CN" altLang="zh-CN" sz="14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61" name="TextBox 3">
            <a:extLst>
              <a:ext uri="{FF2B5EF4-FFF2-40B4-BE49-F238E27FC236}">
                <a16:creationId xmlns:a16="http://schemas.microsoft.com/office/drawing/2014/main" id="{D57D2C32-462A-4FAD-92A6-AD74B09155C3}"/>
              </a:ext>
            </a:extLst>
          </p:cNvPr>
          <p:cNvSpPr txBox="1"/>
          <p:nvPr/>
        </p:nvSpPr>
        <p:spPr>
          <a:xfrm>
            <a:off x="6292752" y="1063355"/>
            <a:ext cx="1669365" cy="523220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张三</a:t>
            </a:r>
            <a:endParaRPr lang="en-US" altLang="zh-CN" sz="1400" b="1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400" b="1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思源黑体 CN Bold" panose="020B0800000000000000" pitchFamily="34" charset="-122"/>
              </a:rPr>
              <a:t>23</a:t>
            </a:r>
            <a:endParaRPr lang="zh-CN" altLang="zh-CN" sz="14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62" name="TextBox 3">
            <a:extLst>
              <a:ext uri="{FF2B5EF4-FFF2-40B4-BE49-F238E27FC236}">
                <a16:creationId xmlns:a16="http://schemas.microsoft.com/office/drawing/2014/main" id="{81C04302-8A00-439D-AF76-8B5AAE486191}"/>
              </a:ext>
            </a:extLst>
          </p:cNvPr>
          <p:cNvSpPr txBox="1"/>
          <p:nvPr/>
        </p:nvSpPr>
        <p:spPr>
          <a:xfrm>
            <a:off x="8017472" y="1054770"/>
            <a:ext cx="1669365" cy="307777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学习</a:t>
            </a:r>
            <a:r>
              <a:rPr lang="en-US" altLang="zh-CN" sz="1400" b="1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Java</a:t>
            </a:r>
            <a:endParaRPr lang="zh-CN" altLang="zh-CN" sz="14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63" name="TextBox 3">
            <a:extLst>
              <a:ext uri="{FF2B5EF4-FFF2-40B4-BE49-F238E27FC236}">
                <a16:creationId xmlns:a16="http://schemas.microsoft.com/office/drawing/2014/main" id="{098BC74E-E8EE-4A7D-8D77-66B16847584A}"/>
              </a:ext>
            </a:extLst>
          </p:cNvPr>
          <p:cNvSpPr txBox="1"/>
          <p:nvPr/>
        </p:nvSpPr>
        <p:spPr>
          <a:xfrm>
            <a:off x="8017472" y="1427724"/>
            <a:ext cx="1669365" cy="307777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思源黑体 CN Bold" panose="020B0800000000000000" pitchFamily="34" charset="-122"/>
              </a:rPr>
              <a:t>吃饭</a:t>
            </a:r>
            <a:endParaRPr lang="zh-CN" altLang="zh-CN" sz="14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B0B0DDC-8CF6-43C0-AC79-2C856CF9F671}"/>
              </a:ext>
            </a:extLst>
          </p:cNvPr>
          <p:cNvSpPr txBox="1"/>
          <p:nvPr/>
        </p:nvSpPr>
        <p:spPr>
          <a:xfrm>
            <a:off x="5579479" y="4568706"/>
            <a:ext cx="232307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05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05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050" dirty="0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</a:rPr>
              <a:t>name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05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05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050" dirty="0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</a:rPr>
              <a:t>age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8F309E7-C4D4-4440-A883-B0E6322339EB}"/>
              </a:ext>
            </a:extLst>
          </p:cNvPr>
          <p:cNvSpPr txBox="1"/>
          <p:nvPr/>
        </p:nvSpPr>
        <p:spPr>
          <a:xfrm>
            <a:off x="9809036" y="2602674"/>
            <a:ext cx="1380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</a:t>
            </a:r>
            <a:endParaRPr lang="en-US" altLang="zh-CN" sz="1400" dirty="0">
              <a:solidFill>
                <a:srgbClr val="00B05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9030B2E-5AB8-4EFE-BFB7-59E2E12C09B8}"/>
              </a:ext>
            </a:extLst>
          </p:cNvPr>
          <p:cNvSpPr txBox="1"/>
          <p:nvPr/>
        </p:nvSpPr>
        <p:spPr>
          <a:xfrm>
            <a:off x="9830211" y="3222921"/>
            <a:ext cx="683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Consolas" panose="020B0609020204030204" pitchFamily="49" charset="0"/>
              </a:rPr>
              <a:t>23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338C9C1B-A145-404C-9B17-330FCCC7A9DE}"/>
              </a:ext>
            </a:extLst>
          </p:cNvPr>
          <p:cNvSpPr txBox="1"/>
          <p:nvPr/>
        </p:nvSpPr>
        <p:spPr>
          <a:xfrm>
            <a:off x="5579479" y="5066610"/>
            <a:ext cx="232307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05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05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050" dirty="0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</a:rPr>
              <a:t>name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05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05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050" dirty="0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050" dirty="0">
                <a:solidFill>
                  <a:srgbClr val="871094"/>
                </a:solidFill>
                <a:latin typeface="Consolas" panose="020B0609020204030204" pitchFamily="49" charset="0"/>
              </a:rPr>
              <a:t>age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3AF977FD-CB4C-41D8-91EC-66A15589BABE}"/>
              </a:ext>
            </a:extLst>
          </p:cNvPr>
          <p:cNvSpPr txBox="1"/>
          <p:nvPr/>
        </p:nvSpPr>
        <p:spPr>
          <a:xfrm>
            <a:off x="5599142" y="5491036"/>
            <a:ext cx="10695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050" dirty="0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.study();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4" name="TextBox 3">
            <a:extLst>
              <a:ext uri="{FF2B5EF4-FFF2-40B4-BE49-F238E27FC236}">
                <a16:creationId xmlns:a16="http://schemas.microsoft.com/office/drawing/2014/main" id="{B5E6D28E-C504-4DEF-8BA2-B89694C03B87}"/>
              </a:ext>
            </a:extLst>
          </p:cNvPr>
          <p:cNvSpPr txBox="1"/>
          <p:nvPr/>
        </p:nvSpPr>
        <p:spPr>
          <a:xfrm>
            <a:off x="5606803" y="2575469"/>
            <a:ext cx="2612715" cy="83099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study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87F5409-930F-476A-92CA-292AD782D13C}"/>
              </a:ext>
            </a:extLst>
          </p:cNvPr>
          <p:cNvSpPr txBox="1"/>
          <p:nvPr/>
        </p:nvSpPr>
        <p:spPr>
          <a:xfrm>
            <a:off x="5621213" y="2935012"/>
            <a:ext cx="24449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05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05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05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05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学习</a:t>
            </a:r>
            <a:r>
              <a:rPr lang="zh-CN" altLang="zh-CN" sz="1050" dirty="0">
                <a:solidFill>
                  <a:srgbClr val="067D17"/>
                </a:solidFill>
                <a:latin typeface="Consolas" panose="020B0609020204030204" pitchFamily="49" charset="0"/>
              </a:rPr>
              <a:t>Java"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911597A-38A8-4AC7-A53F-4B36D3A14FF7}"/>
              </a:ext>
            </a:extLst>
          </p:cNvPr>
          <p:cNvSpPr txBox="1"/>
          <p:nvPr/>
        </p:nvSpPr>
        <p:spPr>
          <a:xfrm>
            <a:off x="5620108" y="5788966"/>
            <a:ext cx="92204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050" dirty="0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eat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7" name="TextBox 3">
            <a:extLst>
              <a:ext uri="{FF2B5EF4-FFF2-40B4-BE49-F238E27FC236}">
                <a16:creationId xmlns:a16="http://schemas.microsoft.com/office/drawing/2014/main" id="{E550610B-314E-45CA-BAA7-8511E8B31012}"/>
              </a:ext>
            </a:extLst>
          </p:cNvPr>
          <p:cNvSpPr txBox="1"/>
          <p:nvPr/>
        </p:nvSpPr>
        <p:spPr>
          <a:xfrm>
            <a:off x="5616492" y="2584265"/>
            <a:ext cx="2612715" cy="83099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eat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EC0068C6-6D9E-42AD-9494-3BAB9020B6F0}"/>
              </a:ext>
            </a:extLst>
          </p:cNvPr>
          <p:cNvSpPr txBox="1"/>
          <p:nvPr/>
        </p:nvSpPr>
        <p:spPr>
          <a:xfrm>
            <a:off x="5609121" y="2950313"/>
            <a:ext cx="21499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05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05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05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05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吃饭</a:t>
            </a:r>
            <a:r>
              <a:rPr lang="zh-CN" altLang="zh-CN" sz="105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05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C526973-9884-4983-9E76-9B0E3DF089CF}"/>
              </a:ext>
            </a:extLst>
          </p:cNvPr>
          <p:cNvSpPr/>
          <p:nvPr/>
        </p:nvSpPr>
        <p:spPr>
          <a:xfrm>
            <a:off x="700797" y="4982474"/>
            <a:ext cx="4617839" cy="371846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866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50"/>
                            </p:stCondLst>
                            <p:childTnLst>
                              <p:par>
                                <p:cTn id="5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6" presetClass="emph" presetSubtype="0" repeatCount="3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25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0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7.40741E-7 L -0.075 -7.40741E-7 C -0.10859 -7.40741E-7 -0.15 0.07847 -0.15 0.14236 L -0.15 0.28495 " pathEditMode="relative" rAng="0" ptsTypes="AAAA">
                                      <p:cBhvr>
                                        <p:cTn id="10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00" y="14236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1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5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2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6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9" grpId="0" animBg="1"/>
      <p:bldP spid="44" grpId="0" animBg="1"/>
      <p:bldP spid="45" grpId="0" animBg="1"/>
      <p:bldP spid="46" grpId="0" animBg="1"/>
      <p:bldP spid="46" grpId="1" animBg="1"/>
      <p:bldP spid="6" grpId="0" animBg="1"/>
      <p:bldP spid="4" grpId="0"/>
      <p:bldP spid="7" grpId="0" animBg="1"/>
      <p:bldP spid="7" grpId="1" animBg="1"/>
      <p:bldP spid="7" grpId="2" animBg="1"/>
      <p:bldP spid="8" grpId="0" animBg="1"/>
      <p:bldP spid="14" grpId="0"/>
      <p:bldP spid="14" grpId="1"/>
      <p:bldP spid="16" grpId="0"/>
      <p:bldP spid="17" grpId="0"/>
      <p:bldP spid="17" grpId="1"/>
      <p:bldP spid="38" grpId="0"/>
      <p:bldP spid="38" grpId="1"/>
      <p:bldP spid="43" grpId="0"/>
      <p:bldP spid="55" grpId="0"/>
      <p:bldP spid="58" grpId="0"/>
      <p:bldP spid="59" grpId="0" animBg="1"/>
      <p:bldP spid="60" grpId="0" animBg="1"/>
      <p:bldP spid="61" grpId="0" animBg="1"/>
      <p:bldP spid="62" grpId="0" animBg="1"/>
      <p:bldP spid="63" grpId="0" animBg="1"/>
      <p:bldP spid="50" grpId="0"/>
      <p:bldP spid="52" grpId="0"/>
      <p:bldP spid="53" grpId="0"/>
      <p:bldP spid="54" grpId="0"/>
      <p:bldP spid="56" grpId="0"/>
      <p:bldP spid="64" grpId="0" animBg="1"/>
      <p:bldP spid="64" grpId="1" animBg="1"/>
      <p:bldP spid="65" grpId="0"/>
      <p:bldP spid="65" grpId="1"/>
      <p:bldP spid="66" grpId="0"/>
      <p:bldP spid="67" grpId="0" animBg="1"/>
      <p:bldP spid="67" grpId="1" animBg="1"/>
      <p:bldP spid="68" grpId="0"/>
      <p:bldP spid="68" grpId="1"/>
      <p:bldP spid="69" grpId="0" animBg="1"/>
      <p:bldP spid="69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类和对象内存图</a:t>
            </a:r>
            <a:endParaRPr kumimoji="1" lang="zh-CN" altLang="en-US" dirty="0"/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1" y="940081"/>
            <a:ext cx="3366598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两个对象内存图</a:t>
            </a: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2378FC8-ADF6-4C70-8E1B-C01F92C58768}"/>
              </a:ext>
            </a:extLst>
          </p:cNvPr>
          <p:cNvGrpSpPr>
            <a:grpSpLocks/>
          </p:cNvGrpSpPr>
          <p:nvPr/>
        </p:nvGrpSpPr>
        <p:grpSpPr bwMode="auto">
          <a:xfrm>
            <a:off x="8530352" y="1254427"/>
            <a:ext cx="3491904" cy="3340560"/>
            <a:chOff x="6552698" y="206834"/>
            <a:chExt cx="2398614" cy="4763518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21642DC-7C49-48AE-8800-9B1C82644214}"/>
                </a:ext>
              </a:extLst>
            </p:cNvPr>
            <p:cNvSpPr/>
            <p:nvPr/>
          </p:nvSpPr>
          <p:spPr bwMode="auto">
            <a:xfrm>
              <a:off x="6552698" y="1032717"/>
              <a:ext cx="2398614" cy="3937635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5" name="TextBox 2">
              <a:extLst>
                <a:ext uri="{FF2B5EF4-FFF2-40B4-BE49-F238E27FC236}">
                  <a16:creationId xmlns:a16="http://schemas.microsoft.com/office/drawing/2014/main" id="{1026CA07-9DB4-4107-A4BC-810B36615A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206834"/>
              <a:ext cx="936625" cy="446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709CE67-6078-4A9B-945D-834F73CF4FAF}"/>
              </a:ext>
            </a:extLst>
          </p:cNvPr>
          <p:cNvGrpSpPr>
            <a:grpSpLocks/>
          </p:cNvGrpSpPr>
          <p:nvPr/>
        </p:nvGrpSpPr>
        <p:grpSpPr bwMode="auto">
          <a:xfrm>
            <a:off x="5561046" y="1797051"/>
            <a:ext cx="2740522" cy="4800600"/>
            <a:chOff x="4441895" y="1347668"/>
            <a:chExt cx="1771200" cy="3600344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F10B7D70-F048-401F-AB54-EEC9024D80C6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169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8" name="TextBox 2">
              <a:extLst>
                <a:ext uri="{FF2B5EF4-FFF2-40B4-BE49-F238E27FC236}">
                  <a16:creationId xmlns:a16="http://schemas.microsoft.com/office/drawing/2014/main" id="{6F994228-C2A3-415C-8AC6-4BC5ABD74D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accent2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882D61BA-0154-4C4D-A28B-22AFD1F36BF2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EB6A524-0682-43F4-BF44-F16D2D2E0931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90F0856F-B7DA-445C-B93E-9B11F726177E}"/>
                </a:ext>
              </a:extLst>
            </p:cNvPr>
            <p:cNvCxnSpPr/>
            <p:nvPr/>
          </p:nvCxnSpPr>
          <p:spPr>
            <a:xfrm flipH="1">
              <a:off x="4441895" y="4944837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">
            <a:extLst>
              <a:ext uri="{FF2B5EF4-FFF2-40B4-BE49-F238E27FC236}">
                <a16:creationId xmlns:a16="http://schemas.microsoft.com/office/drawing/2014/main" id="{573138BD-BF57-46F7-B222-40381A33D639}"/>
              </a:ext>
            </a:extLst>
          </p:cNvPr>
          <p:cNvSpPr txBox="1"/>
          <p:nvPr/>
        </p:nvSpPr>
        <p:spPr>
          <a:xfrm>
            <a:off x="710880" y="1532450"/>
            <a:ext cx="4620683" cy="193899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Student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200" dirty="0">
                <a:solidFill>
                  <a:srgbClr val="458C2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200" dirty="0">
                <a:solidFill>
                  <a:srgbClr val="458C2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</a:rPr>
              <a:t>name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</a:rPr>
              <a:t>age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200" dirty="0">
                <a:solidFill>
                  <a:srgbClr val="458C2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200" dirty="0">
                <a:solidFill>
                  <a:srgbClr val="458C2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</a:rPr>
              <a:t>public void </a:t>
            </a:r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</a:rPr>
              <a:t>study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(){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学习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</a:rPr>
              <a:t>Java"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</a:rPr>
              <a:t>public void </a:t>
            </a:r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</a:rPr>
              <a:t>eat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(){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吃饭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39" name="TextBox 3">
            <a:extLst>
              <a:ext uri="{FF2B5EF4-FFF2-40B4-BE49-F238E27FC236}">
                <a16:creationId xmlns:a16="http://schemas.microsoft.com/office/drawing/2014/main" id="{866E099E-C333-47D5-A108-DEA415C9F984}"/>
              </a:ext>
            </a:extLst>
          </p:cNvPr>
          <p:cNvSpPr txBox="1"/>
          <p:nvPr/>
        </p:nvSpPr>
        <p:spPr>
          <a:xfrm>
            <a:off x="710880" y="3530698"/>
            <a:ext cx="4620683" cy="323165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args) 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stu1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stu1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name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张三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stu1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stu2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stu2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name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李四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stu2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stu1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stu2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stu1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.study();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stu2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.study();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000" dirty="0">
              <a:latin typeface="Consolas" panose="020B0609020204030204" pitchFamily="49" charset="0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6B49702-021B-4E78-B581-22630B994A67}"/>
              </a:ext>
            </a:extLst>
          </p:cNvPr>
          <p:cNvGrpSpPr>
            <a:grpSpLocks/>
          </p:cNvGrpSpPr>
          <p:nvPr/>
        </p:nvGrpSpPr>
        <p:grpSpPr bwMode="auto">
          <a:xfrm>
            <a:off x="7493417" y="4739951"/>
            <a:ext cx="4528839" cy="1843039"/>
            <a:chOff x="1087528" y="3579862"/>
            <a:chExt cx="3150447" cy="1400643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F7984AB6-6D90-4CCA-9F6B-876AD8795F8D}"/>
                </a:ext>
              </a:extLst>
            </p:cNvPr>
            <p:cNvSpPr/>
            <p:nvPr/>
          </p:nvSpPr>
          <p:spPr bwMode="auto">
            <a:xfrm>
              <a:off x="1837147" y="3579862"/>
              <a:ext cx="2400828" cy="1400643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 w="38100">
              <a:solidFill>
                <a:srgbClr val="92D05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rgbClr val="92D05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42" name="TextBox 2">
              <a:extLst>
                <a:ext uri="{FF2B5EF4-FFF2-40B4-BE49-F238E27FC236}">
                  <a16:creationId xmlns:a16="http://schemas.microsoft.com/office/drawing/2014/main" id="{BF2D3A51-71B8-4D2F-9701-28E52ACC04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7528" y="4539823"/>
              <a:ext cx="2442792" cy="440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92D05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方法区</a:t>
              </a:r>
            </a:p>
          </p:txBody>
        </p:sp>
      </p:grpSp>
      <p:sp>
        <p:nvSpPr>
          <p:cNvPr id="44" name="TextBox 3">
            <a:extLst>
              <a:ext uri="{FF2B5EF4-FFF2-40B4-BE49-F238E27FC236}">
                <a16:creationId xmlns:a16="http://schemas.microsoft.com/office/drawing/2014/main" id="{E4DDCDCE-DAC0-414D-B26E-45BBD632C329}"/>
              </a:ext>
            </a:extLst>
          </p:cNvPr>
          <p:cNvSpPr txBox="1"/>
          <p:nvPr/>
        </p:nvSpPr>
        <p:spPr>
          <a:xfrm>
            <a:off x="8709618" y="4947931"/>
            <a:ext cx="1455362" cy="646331"/>
          </a:xfrm>
          <a:prstGeom prst="rect">
            <a:avLst/>
          </a:prstGeom>
          <a:solidFill>
            <a:srgbClr val="D9D9D9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Test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.class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FE9C054F-3C91-4551-ADCD-8A79BB107310}"/>
              </a:ext>
            </a:extLst>
          </p:cNvPr>
          <p:cNvSpPr txBox="1"/>
          <p:nvPr/>
        </p:nvSpPr>
        <p:spPr>
          <a:xfrm>
            <a:off x="5607743" y="3546622"/>
            <a:ext cx="2612715" cy="2585323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46" name="TextBox 3">
            <a:extLst>
              <a:ext uri="{FF2B5EF4-FFF2-40B4-BE49-F238E27FC236}">
                <a16:creationId xmlns:a16="http://schemas.microsoft.com/office/drawing/2014/main" id="{E496E966-9C62-4C0C-A22D-6222A50FD1EE}"/>
              </a:ext>
            </a:extLst>
          </p:cNvPr>
          <p:cNvSpPr txBox="1"/>
          <p:nvPr/>
        </p:nvSpPr>
        <p:spPr>
          <a:xfrm>
            <a:off x="10297193" y="4952523"/>
            <a:ext cx="1641227" cy="1015663"/>
          </a:xfrm>
          <a:prstGeom prst="rect">
            <a:avLst/>
          </a:prstGeom>
          <a:solidFill>
            <a:srgbClr val="D9D9D9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Student.class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成员变量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成员方法</a:t>
            </a:r>
            <a:endParaRPr lang="zh-CN" altLang="zh-CN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634237-2790-44AE-98C3-49467EB539BD}"/>
              </a:ext>
            </a:extLst>
          </p:cNvPr>
          <p:cNvSpPr/>
          <p:nvPr/>
        </p:nvSpPr>
        <p:spPr>
          <a:xfrm>
            <a:off x="5634778" y="3809342"/>
            <a:ext cx="2585679" cy="389433"/>
          </a:xfrm>
          <a:prstGeom prst="rect">
            <a:avLst/>
          </a:prstGeom>
          <a:solidFill>
            <a:srgbClr val="FFFF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965ADD-86E9-4FB3-908E-9E1136D084BD}"/>
              </a:ext>
            </a:extLst>
          </p:cNvPr>
          <p:cNvSpPr txBox="1"/>
          <p:nvPr/>
        </p:nvSpPr>
        <p:spPr>
          <a:xfrm>
            <a:off x="5588079" y="3854230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 stu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858EA5-291E-4763-87C8-AB6A4BC884FE}"/>
              </a:ext>
            </a:extLst>
          </p:cNvPr>
          <p:cNvSpPr/>
          <p:nvPr/>
        </p:nvSpPr>
        <p:spPr>
          <a:xfrm>
            <a:off x="8730160" y="2186546"/>
            <a:ext cx="1567033" cy="181163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EE65177-6F3A-4AF6-A9C0-F8A2B3649FF4}"/>
              </a:ext>
            </a:extLst>
          </p:cNvPr>
          <p:cNvSpPr txBox="1"/>
          <p:nvPr/>
        </p:nvSpPr>
        <p:spPr>
          <a:xfrm>
            <a:off x="8689364" y="1899120"/>
            <a:ext cx="111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7ef20235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1A912F8-54EF-4300-B36A-AAD827B0BD2F}"/>
              </a:ext>
            </a:extLst>
          </p:cNvPr>
          <p:cNvSpPr txBox="1"/>
          <p:nvPr/>
        </p:nvSpPr>
        <p:spPr>
          <a:xfrm>
            <a:off x="8730160" y="2245652"/>
            <a:ext cx="1465055" cy="1432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4B9E720-A600-4092-BEF6-0677545F1C70}"/>
              </a:ext>
            </a:extLst>
          </p:cNvPr>
          <p:cNvSpPr txBox="1"/>
          <p:nvPr/>
        </p:nvSpPr>
        <p:spPr>
          <a:xfrm>
            <a:off x="9464476" y="2587301"/>
            <a:ext cx="1380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C399130-B6F9-46C8-B807-D829B6F0AD66}"/>
              </a:ext>
            </a:extLst>
          </p:cNvPr>
          <p:cNvSpPr txBox="1"/>
          <p:nvPr/>
        </p:nvSpPr>
        <p:spPr>
          <a:xfrm>
            <a:off x="9481901" y="3211991"/>
            <a:ext cx="683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810A880-4DF3-4979-BF1C-D0E1DB6143CB}"/>
              </a:ext>
            </a:extLst>
          </p:cNvPr>
          <p:cNvCxnSpPr>
            <a:cxnSpLocks/>
          </p:cNvCxnSpPr>
          <p:nvPr/>
        </p:nvCxnSpPr>
        <p:spPr>
          <a:xfrm>
            <a:off x="8730160" y="3630647"/>
            <a:ext cx="156703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0B7A2838-DDF5-4B7C-A2D8-988B8C53673B}"/>
              </a:ext>
            </a:extLst>
          </p:cNvPr>
          <p:cNvSpPr txBox="1"/>
          <p:nvPr/>
        </p:nvSpPr>
        <p:spPr>
          <a:xfrm>
            <a:off x="8730160" y="3690400"/>
            <a:ext cx="1822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成员方法引用地址</a:t>
            </a:r>
            <a:endParaRPr lang="en-US" altLang="zh-CN" sz="1400" dirty="0">
              <a:solidFill>
                <a:srgbClr val="0070C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68FD59E9-CC4D-43CD-A237-2829ADA695DE}"/>
              </a:ext>
            </a:extLst>
          </p:cNvPr>
          <p:cNvCxnSpPr>
            <a:cxnSpLocks/>
          </p:cNvCxnSpPr>
          <p:nvPr/>
        </p:nvCxnSpPr>
        <p:spPr>
          <a:xfrm rot="16200000" flipH="1">
            <a:off x="9092506" y="4519389"/>
            <a:ext cx="1804346" cy="761925"/>
          </a:xfrm>
          <a:prstGeom prst="bentConnector3">
            <a:avLst>
              <a:gd name="adj1" fmla="val 99551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F9A9354F-9E7C-4263-9C55-42301275229B}"/>
              </a:ext>
            </a:extLst>
          </p:cNvPr>
          <p:cNvSpPr txBox="1"/>
          <p:nvPr/>
        </p:nvSpPr>
        <p:spPr>
          <a:xfrm>
            <a:off x="8689364" y="1899119"/>
            <a:ext cx="111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7ef20235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7207264F-0EBF-4393-AD4C-8E22DD3256B1}"/>
              </a:ext>
            </a:extLst>
          </p:cNvPr>
          <p:cNvCxnSpPr>
            <a:endCxn id="55" idx="1"/>
          </p:cNvCxnSpPr>
          <p:nvPr/>
        </p:nvCxnSpPr>
        <p:spPr>
          <a:xfrm rot="5400000" flipH="1" flipV="1">
            <a:off x="7153744" y="2273721"/>
            <a:ext cx="1771722" cy="129951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88F309E7-C4D4-4440-A883-B0E6322339EB}"/>
              </a:ext>
            </a:extLst>
          </p:cNvPr>
          <p:cNvSpPr txBox="1"/>
          <p:nvPr/>
        </p:nvSpPr>
        <p:spPr>
          <a:xfrm>
            <a:off x="9451666" y="2636765"/>
            <a:ext cx="683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</a:t>
            </a:r>
            <a:endParaRPr lang="en-US" altLang="zh-CN" sz="1400" dirty="0">
              <a:solidFill>
                <a:srgbClr val="00B05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9030B2E-5AB8-4EFE-BFB7-59E2E12C09B8}"/>
              </a:ext>
            </a:extLst>
          </p:cNvPr>
          <p:cNvSpPr txBox="1"/>
          <p:nvPr/>
        </p:nvSpPr>
        <p:spPr>
          <a:xfrm>
            <a:off x="9462007" y="3123333"/>
            <a:ext cx="5056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Consolas" panose="020B0609020204030204" pitchFamily="49" charset="0"/>
              </a:rPr>
              <a:t>23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0B68ED13-467C-4772-8FC7-62650521EF72}"/>
              </a:ext>
            </a:extLst>
          </p:cNvPr>
          <p:cNvSpPr/>
          <p:nvPr/>
        </p:nvSpPr>
        <p:spPr>
          <a:xfrm>
            <a:off x="711312" y="4131229"/>
            <a:ext cx="4607324" cy="371846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4562B80-E5EA-4A8D-B6A8-9879E74673A4}"/>
              </a:ext>
            </a:extLst>
          </p:cNvPr>
          <p:cNvSpPr/>
          <p:nvPr/>
        </p:nvSpPr>
        <p:spPr>
          <a:xfrm>
            <a:off x="5634778" y="4420266"/>
            <a:ext cx="2585679" cy="389433"/>
          </a:xfrm>
          <a:prstGeom prst="rect">
            <a:avLst/>
          </a:prstGeom>
          <a:solidFill>
            <a:srgbClr val="FFFF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ABFDAE4-9657-4D97-9DFB-050D58B173B0}"/>
              </a:ext>
            </a:extLst>
          </p:cNvPr>
          <p:cNvSpPr txBox="1"/>
          <p:nvPr/>
        </p:nvSpPr>
        <p:spPr>
          <a:xfrm>
            <a:off x="5588079" y="4465154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 stu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4869AFB-8EFC-487C-A3B7-E1B03323CDE0}"/>
              </a:ext>
            </a:extLst>
          </p:cNvPr>
          <p:cNvSpPr txBox="1"/>
          <p:nvPr/>
        </p:nvSpPr>
        <p:spPr>
          <a:xfrm>
            <a:off x="10298250" y="1892081"/>
            <a:ext cx="111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27d6c5e0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6599879-3514-4910-8A7E-B6582E456E53}"/>
              </a:ext>
            </a:extLst>
          </p:cNvPr>
          <p:cNvSpPr/>
          <p:nvPr/>
        </p:nvSpPr>
        <p:spPr>
          <a:xfrm>
            <a:off x="10361737" y="2186546"/>
            <a:ext cx="1567033" cy="181163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7B752B9E-0AA1-426A-B8A5-16278F185EE3}"/>
              </a:ext>
            </a:extLst>
          </p:cNvPr>
          <p:cNvCxnSpPr>
            <a:cxnSpLocks/>
          </p:cNvCxnSpPr>
          <p:nvPr/>
        </p:nvCxnSpPr>
        <p:spPr>
          <a:xfrm>
            <a:off x="10361737" y="3620220"/>
            <a:ext cx="156703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51607E5B-CC3B-4100-8CF7-B5C3789F1008}"/>
              </a:ext>
            </a:extLst>
          </p:cNvPr>
          <p:cNvSpPr txBox="1"/>
          <p:nvPr/>
        </p:nvSpPr>
        <p:spPr>
          <a:xfrm>
            <a:off x="10361737" y="3679973"/>
            <a:ext cx="1822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成员方法引用地址</a:t>
            </a:r>
            <a:endParaRPr lang="en-US" altLang="zh-CN" sz="1400" dirty="0">
              <a:solidFill>
                <a:srgbClr val="0070C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8E5B1B9E-7364-4D25-934C-AECEA40D10A2}"/>
              </a:ext>
            </a:extLst>
          </p:cNvPr>
          <p:cNvSpPr txBox="1"/>
          <p:nvPr/>
        </p:nvSpPr>
        <p:spPr>
          <a:xfrm>
            <a:off x="10375642" y="2236332"/>
            <a:ext cx="1465055" cy="1432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3FB75BDE-7B37-4A20-A26D-9B836E6ACE0E}"/>
              </a:ext>
            </a:extLst>
          </p:cNvPr>
          <p:cNvSpPr txBox="1"/>
          <p:nvPr/>
        </p:nvSpPr>
        <p:spPr>
          <a:xfrm>
            <a:off x="11164137" y="2545765"/>
            <a:ext cx="1380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38A3CDE4-0152-4E7E-B978-C91C03753ACB}"/>
              </a:ext>
            </a:extLst>
          </p:cNvPr>
          <p:cNvSpPr txBox="1"/>
          <p:nvPr/>
        </p:nvSpPr>
        <p:spPr>
          <a:xfrm>
            <a:off x="11181562" y="3170455"/>
            <a:ext cx="683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</p:txBody>
      </p: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EA7A8243-EB2E-4335-B0D0-69C37078CB5F}"/>
              </a:ext>
            </a:extLst>
          </p:cNvPr>
          <p:cNvCxnSpPr>
            <a:cxnSpLocks/>
          </p:cNvCxnSpPr>
          <p:nvPr/>
        </p:nvCxnSpPr>
        <p:spPr>
          <a:xfrm rot="5400000">
            <a:off x="10319427" y="4694917"/>
            <a:ext cx="1728750" cy="393510"/>
          </a:xfrm>
          <a:prstGeom prst="bentConnector2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549AE489-9FBE-46DF-B0B0-909DA163505D}"/>
              </a:ext>
            </a:extLst>
          </p:cNvPr>
          <p:cNvSpPr txBox="1"/>
          <p:nvPr/>
        </p:nvSpPr>
        <p:spPr>
          <a:xfrm>
            <a:off x="10298250" y="1892081"/>
            <a:ext cx="111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27d6c5e0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FDB11C23-26EC-4A8D-A857-D5CB50BC9A68}"/>
              </a:ext>
            </a:extLst>
          </p:cNvPr>
          <p:cNvCxnSpPr>
            <a:cxnSpLocks/>
            <a:endCxn id="82" idx="0"/>
          </p:cNvCxnSpPr>
          <p:nvPr/>
        </p:nvCxnSpPr>
        <p:spPr>
          <a:xfrm flipV="1">
            <a:off x="7667818" y="1892081"/>
            <a:ext cx="3190269" cy="2702906"/>
          </a:xfrm>
          <a:prstGeom prst="bentConnector4">
            <a:avLst>
              <a:gd name="adj1" fmla="val 22800"/>
              <a:gd name="adj2" fmla="val 108458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 97">
            <a:extLst>
              <a:ext uri="{FF2B5EF4-FFF2-40B4-BE49-F238E27FC236}">
                <a16:creationId xmlns:a16="http://schemas.microsoft.com/office/drawing/2014/main" id="{D2EEC128-ED1D-4F4B-A991-3D06F47C6B71}"/>
              </a:ext>
            </a:extLst>
          </p:cNvPr>
          <p:cNvSpPr/>
          <p:nvPr/>
        </p:nvSpPr>
        <p:spPr>
          <a:xfrm>
            <a:off x="703509" y="4839283"/>
            <a:ext cx="4607324" cy="371846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2DFDB84-A65B-4F50-8796-1ED541913EAA}"/>
              </a:ext>
            </a:extLst>
          </p:cNvPr>
          <p:cNvSpPr txBox="1"/>
          <p:nvPr/>
        </p:nvSpPr>
        <p:spPr>
          <a:xfrm>
            <a:off x="11117433" y="2605517"/>
            <a:ext cx="683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</a:t>
            </a:r>
            <a:endParaRPr lang="en-US" altLang="zh-CN" sz="1400" dirty="0">
              <a:solidFill>
                <a:srgbClr val="00B05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4B6A2AF9-55A9-47A7-BC95-60321769A1E3}"/>
              </a:ext>
            </a:extLst>
          </p:cNvPr>
          <p:cNvSpPr txBox="1"/>
          <p:nvPr/>
        </p:nvSpPr>
        <p:spPr>
          <a:xfrm>
            <a:off x="11127774" y="3092085"/>
            <a:ext cx="5056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Consolas" panose="020B0609020204030204" pitchFamily="49" charset="0"/>
              </a:rPr>
              <a:t>24</a:t>
            </a:r>
          </a:p>
        </p:txBody>
      </p:sp>
      <p:cxnSp>
        <p:nvCxnSpPr>
          <p:cNvPr id="106" name="连接符: 肘形 105">
            <a:extLst>
              <a:ext uri="{FF2B5EF4-FFF2-40B4-BE49-F238E27FC236}">
                <a16:creationId xmlns:a16="http://schemas.microsoft.com/office/drawing/2014/main" id="{C1B2D5AF-C805-416B-946F-5128B8317539}"/>
              </a:ext>
            </a:extLst>
          </p:cNvPr>
          <p:cNvCxnSpPr>
            <a:endCxn id="4" idx="1"/>
          </p:cNvCxnSpPr>
          <p:nvPr/>
        </p:nvCxnSpPr>
        <p:spPr>
          <a:xfrm flipV="1">
            <a:off x="3275045" y="3992730"/>
            <a:ext cx="2313034" cy="1484339"/>
          </a:xfrm>
          <a:prstGeom prst="bentConnector3">
            <a:avLst>
              <a:gd name="adj1" fmla="val -1231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3">
            <a:extLst>
              <a:ext uri="{FF2B5EF4-FFF2-40B4-BE49-F238E27FC236}">
                <a16:creationId xmlns:a16="http://schemas.microsoft.com/office/drawing/2014/main" id="{77F29093-3911-4F36-9AED-66376C912F4D}"/>
              </a:ext>
            </a:extLst>
          </p:cNvPr>
          <p:cNvSpPr txBox="1"/>
          <p:nvPr/>
        </p:nvSpPr>
        <p:spPr>
          <a:xfrm>
            <a:off x="3764154" y="1305950"/>
            <a:ext cx="1669365" cy="523220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张三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  <a:p>
            <a:pPr>
              <a:defRPr/>
            </a:pPr>
            <a:endParaRPr lang="en-US" altLang="zh-CN" sz="1400" b="1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10" name="TextBox 3">
            <a:extLst>
              <a:ext uri="{FF2B5EF4-FFF2-40B4-BE49-F238E27FC236}">
                <a16:creationId xmlns:a16="http://schemas.microsoft.com/office/drawing/2014/main" id="{BE30941A-DE61-4C0A-A82B-55A0C12A01A7}"/>
              </a:ext>
            </a:extLst>
          </p:cNvPr>
          <p:cNvSpPr txBox="1"/>
          <p:nvPr/>
        </p:nvSpPr>
        <p:spPr>
          <a:xfrm>
            <a:off x="3764153" y="1305949"/>
            <a:ext cx="1669365" cy="523220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张三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  <a:p>
            <a:pPr>
              <a:defRPr/>
            </a:pPr>
            <a:r>
              <a:rPr lang="en-US" altLang="zh-CN" sz="1400" b="1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24</a:t>
            </a:r>
          </a:p>
        </p:txBody>
      </p:sp>
      <p:cxnSp>
        <p:nvCxnSpPr>
          <p:cNvPr id="112" name="连接符: 肘形 111">
            <a:extLst>
              <a:ext uri="{FF2B5EF4-FFF2-40B4-BE49-F238E27FC236}">
                <a16:creationId xmlns:a16="http://schemas.microsoft.com/office/drawing/2014/main" id="{4AA12F74-70AD-4FC4-910E-5FC85FCEEFBF}"/>
              </a:ext>
            </a:extLst>
          </p:cNvPr>
          <p:cNvCxnSpPr>
            <a:cxnSpLocks/>
            <a:endCxn id="72" idx="1"/>
          </p:cNvCxnSpPr>
          <p:nvPr/>
        </p:nvCxnSpPr>
        <p:spPr>
          <a:xfrm flipV="1">
            <a:off x="3889094" y="4603654"/>
            <a:ext cx="1698985" cy="1152393"/>
          </a:xfrm>
          <a:prstGeom prst="bentConnector3">
            <a:avLst>
              <a:gd name="adj1" fmla="val 50000"/>
            </a:avLst>
          </a:prstGeom>
          <a:ln w="317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0" name="TextBox 3">
            <a:extLst>
              <a:ext uri="{FF2B5EF4-FFF2-40B4-BE49-F238E27FC236}">
                <a16:creationId xmlns:a16="http://schemas.microsoft.com/office/drawing/2014/main" id="{399CDC64-0450-4B74-9756-F7668BA00597}"/>
              </a:ext>
            </a:extLst>
          </p:cNvPr>
          <p:cNvSpPr txBox="1"/>
          <p:nvPr/>
        </p:nvSpPr>
        <p:spPr>
          <a:xfrm>
            <a:off x="5616492" y="2584265"/>
            <a:ext cx="2612715" cy="83099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study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190F9046-5FCE-4585-8B19-0ECCF7671C8A}"/>
              </a:ext>
            </a:extLst>
          </p:cNvPr>
          <p:cNvSpPr/>
          <p:nvPr/>
        </p:nvSpPr>
        <p:spPr>
          <a:xfrm>
            <a:off x="5570877" y="2964161"/>
            <a:ext cx="301709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学习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</a:rPr>
              <a:t>Java"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endParaRPr lang="zh-CN" altLang="en-US" sz="1200" dirty="0"/>
          </a:p>
        </p:txBody>
      </p:sp>
      <p:sp>
        <p:nvSpPr>
          <p:cNvPr id="122" name="TextBox 3">
            <a:extLst>
              <a:ext uri="{FF2B5EF4-FFF2-40B4-BE49-F238E27FC236}">
                <a16:creationId xmlns:a16="http://schemas.microsoft.com/office/drawing/2014/main" id="{846AE1A4-059F-46B9-9D51-495786C7BC95}"/>
              </a:ext>
            </a:extLst>
          </p:cNvPr>
          <p:cNvSpPr txBox="1"/>
          <p:nvPr/>
        </p:nvSpPr>
        <p:spPr>
          <a:xfrm>
            <a:off x="5554279" y="1277279"/>
            <a:ext cx="1669365" cy="307777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学习</a:t>
            </a:r>
            <a:r>
              <a:rPr lang="en-US" altLang="zh-CN" sz="1400" b="1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Java</a:t>
            </a:r>
            <a:endParaRPr lang="zh-CN" altLang="zh-CN" sz="14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1B966E6B-E27D-4722-95CE-0B647FB35B48}"/>
              </a:ext>
            </a:extLst>
          </p:cNvPr>
          <p:cNvSpPr txBox="1"/>
          <p:nvPr/>
        </p:nvSpPr>
        <p:spPr>
          <a:xfrm>
            <a:off x="5573250" y="5132789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.study();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8CDCAD4C-D08C-4D09-B8D1-1831950498C5}"/>
              </a:ext>
            </a:extLst>
          </p:cNvPr>
          <p:cNvSpPr txBox="1"/>
          <p:nvPr/>
        </p:nvSpPr>
        <p:spPr>
          <a:xfrm>
            <a:off x="5585254" y="5525542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.study();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5" name="TextBox 3">
            <a:extLst>
              <a:ext uri="{FF2B5EF4-FFF2-40B4-BE49-F238E27FC236}">
                <a16:creationId xmlns:a16="http://schemas.microsoft.com/office/drawing/2014/main" id="{5D3EA8C5-3C92-42EB-8AA4-E0E5051CAE03}"/>
              </a:ext>
            </a:extLst>
          </p:cNvPr>
          <p:cNvSpPr txBox="1"/>
          <p:nvPr/>
        </p:nvSpPr>
        <p:spPr>
          <a:xfrm>
            <a:off x="5616492" y="2595012"/>
            <a:ext cx="2612715" cy="83099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study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58FDAAE6-92DD-4644-AD3C-BCE78C600254}"/>
              </a:ext>
            </a:extLst>
          </p:cNvPr>
          <p:cNvSpPr/>
          <p:nvPr/>
        </p:nvSpPr>
        <p:spPr>
          <a:xfrm>
            <a:off x="5570877" y="2974908"/>
            <a:ext cx="301709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学习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</a:rPr>
              <a:t>Java"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endParaRPr lang="zh-CN" altLang="en-US" sz="1200" dirty="0"/>
          </a:p>
        </p:txBody>
      </p:sp>
      <p:sp>
        <p:nvSpPr>
          <p:cNvPr id="127" name="TextBox 3">
            <a:extLst>
              <a:ext uri="{FF2B5EF4-FFF2-40B4-BE49-F238E27FC236}">
                <a16:creationId xmlns:a16="http://schemas.microsoft.com/office/drawing/2014/main" id="{A3DB8E96-012A-4D5F-B0DB-DD0F00C9F210}"/>
              </a:ext>
            </a:extLst>
          </p:cNvPr>
          <p:cNvSpPr txBox="1"/>
          <p:nvPr/>
        </p:nvSpPr>
        <p:spPr>
          <a:xfrm>
            <a:off x="7343973" y="1266850"/>
            <a:ext cx="1669365" cy="307777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学习</a:t>
            </a:r>
            <a:r>
              <a:rPr lang="en-US" altLang="zh-CN" sz="1400" b="1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Java</a:t>
            </a:r>
            <a:endParaRPr lang="zh-CN" altLang="zh-CN" sz="1400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  <a:ea typeface="思源黑体 CN Bold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945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7.40741E-7 L -0.0763 -7.40741E-7 C -0.11041 -7.40741E-7 -0.15247 0.07894 -0.15247 0.14306 L -0.15247 0.28611 " pathEditMode="relative" rAng="0" ptsTypes="AAAA">
                                      <p:cBhvr>
                                        <p:cTn id="9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30" y="14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5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4.81481E-6 L -0.14179 -4.81481E-6 C -0.2052 -4.81481E-6 -0.2832 0.10325 -0.2832 0.18774 L -0.2832 0.37547 " pathEditMode="relative" rAng="0" ptsTypes="AAAA">
                                      <p:cBhvr>
                                        <p:cTn id="174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167" y="18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000"/>
                            </p:stCondLst>
                            <p:childTnLst>
                              <p:par>
                                <p:cTn id="1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6" presetClass="emph" presetSubtype="0" repeatCount="3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 tmFilter="0, 0; .2, .5; .8, .5; 1, 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0" dur="250" autoRev="1" fill="hold"/>
                                        <p:tgtEl>
                                          <p:spTgt spid="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8"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2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3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9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3"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9" grpId="0" animBg="1"/>
      <p:bldP spid="44" grpId="0" animBg="1"/>
      <p:bldP spid="45" grpId="0" animBg="1"/>
      <p:bldP spid="46" grpId="0" animBg="1"/>
      <p:bldP spid="6" grpId="0" animBg="1"/>
      <p:bldP spid="4" grpId="0"/>
      <p:bldP spid="8" grpId="0" animBg="1"/>
      <p:bldP spid="14" grpId="0"/>
      <p:bldP spid="16" grpId="0"/>
      <p:bldP spid="17" grpId="0"/>
      <p:bldP spid="17" grpId="1"/>
      <p:bldP spid="38" grpId="0"/>
      <p:bldP spid="38" grpId="1"/>
      <p:bldP spid="43" grpId="0"/>
      <p:bldP spid="55" grpId="0"/>
      <p:bldP spid="55" grpId="1"/>
      <p:bldP spid="55" grpId="2"/>
      <p:bldP spid="52" grpId="0"/>
      <p:bldP spid="52" grpId="1"/>
      <p:bldP spid="53" grpId="0"/>
      <p:bldP spid="70" grpId="0" animBg="1"/>
      <p:bldP spid="70" grpId="1" animBg="1"/>
      <p:bldP spid="71" grpId="0" animBg="1"/>
      <p:bldP spid="72" grpId="0"/>
      <p:bldP spid="74" grpId="0"/>
      <p:bldP spid="75" grpId="0" animBg="1"/>
      <p:bldP spid="77" grpId="0"/>
      <p:bldP spid="78" grpId="0"/>
      <p:bldP spid="79" grpId="0"/>
      <p:bldP spid="79" grpId="1"/>
      <p:bldP spid="80" grpId="0"/>
      <p:bldP spid="80" grpId="1"/>
      <p:bldP spid="82" grpId="0"/>
      <p:bldP spid="82" grpId="1"/>
      <p:bldP spid="98" grpId="0" animBg="1"/>
      <p:bldP spid="98" grpId="1" animBg="1"/>
      <p:bldP spid="103" grpId="0"/>
      <p:bldP spid="104" grpId="0"/>
      <p:bldP spid="109" grpId="0" animBg="1"/>
      <p:bldP spid="110" grpId="0" animBg="1"/>
      <p:bldP spid="120" grpId="0" animBg="1"/>
      <p:bldP spid="120" grpId="1" animBg="1"/>
      <p:bldP spid="121" grpId="0"/>
      <p:bldP spid="121" grpId="1"/>
      <p:bldP spid="122" grpId="0" animBg="1"/>
      <p:bldP spid="123" grpId="0"/>
      <p:bldP spid="124" grpId="0"/>
      <p:bldP spid="125" grpId="0" animBg="1"/>
      <p:bldP spid="125" grpId="1" animBg="1"/>
      <p:bldP spid="126" grpId="0"/>
      <p:bldP spid="126" grpId="1"/>
      <p:bldP spid="1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类和对象内存图</a:t>
            </a:r>
            <a:endParaRPr kumimoji="1" lang="zh-CN" altLang="en-US" dirty="0"/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1" y="940081"/>
            <a:ext cx="3366598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两个引用指向相同内存图</a:t>
            </a: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2378FC8-ADF6-4C70-8E1B-C01F92C58768}"/>
              </a:ext>
            </a:extLst>
          </p:cNvPr>
          <p:cNvGrpSpPr>
            <a:grpSpLocks/>
          </p:cNvGrpSpPr>
          <p:nvPr/>
        </p:nvGrpSpPr>
        <p:grpSpPr bwMode="auto">
          <a:xfrm>
            <a:off x="8530352" y="1254427"/>
            <a:ext cx="3491904" cy="3340560"/>
            <a:chOff x="6552698" y="206834"/>
            <a:chExt cx="2398614" cy="4763518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21642DC-7C49-48AE-8800-9B1C82644214}"/>
                </a:ext>
              </a:extLst>
            </p:cNvPr>
            <p:cNvSpPr/>
            <p:nvPr/>
          </p:nvSpPr>
          <p:spPr bwMode="auto">
            <a:xfrm>
              <a:off x="6552698" y="1032717"/>
              <a:ext cx="2398614" cy="3937635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5" name="TextBox 2">
              <a:extLst>
                <a:ext uri="{FF2B5EF4-FFF2-40B4-BE49-F238E27FC236}">
                  <a16:creationId xmlns:a16="http://schemas.microsoft.com/office/drawing/2014/main" id="{1026CA07-9DB4-4107-A4BC-810B36615A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206834"/>
              <a:ext cx="936625" cy="446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709CE67-6078-4A9B-945D-834F73CF4FAF}"/>
              </a:ext>
            </a:extLst>
          </p:cNvPr>
          <p:cNvGrpSpPr>
            <a:grpSpLocks/>
          </p:cNvGrpSpPr>
          <p:nvPr/>
        </p:nvGrpSpPr>
        <p:grpSpPr bwMode="auto">
          <a:xfrm>
            <a:off x="5561046" y="1797051"/>
            <a:ext cx="2740522" cy="4800600"/>
            <a:chOff x="4441895" y="1347668"/>
            <a:chExt cx="1771200" cy="3600344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F10B7D70-F048-401F-AB54-EEC9024D80C6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169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8" name="TextBox 2">
              <a:extLst>
                <a:ext uri="{FF2B5EF4-FFF2-40B4-BE49-F238E27FC236}">
                  <a16:creationId xmlns:a16="http://schemas.microsoft.com/office/drawing/2014/main" id="{6F994228-C2A3-415C-8AC6-4BC5ABD74D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accent2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882D61BA-0154-4C4D-A28B-22AFD1F36BF2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EB6A524-0682-43F4-BF44-F16D2D2E0931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90F0856F-B7DA-445C-B93E-9B11F726177E}"/>
                </a:ext>
              </a:extLst>
            </p:cNvPr>
            <p:cNvCxnSpPr/>
            <p:nvPr/>
          </p:nvCxnSpPr>
          <p:spPr>
            <a:xfrm flipH="1">
              <a:off x="4441895" y="4944837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">
            <a:extLst>
              <a:ext uri="{FF2B5EF4-FFF2-40B4-BE49-F238E27FC236}">
                <a16:creationId xmlns:a16="http://schemas.microsoft.com/office/drawing/2014/main" id="{573138BD-BF57-46F7-B222-40381A33D639}"/>
              </a:ext>
            </a:extLst>
          </p:cNvPr>
          <p:cNvSpPr txBox="1"/>
          <p:nvPr/>
        </p:nvSpPr>
        <p:spPr>
          <a:xfrm>
            <a:off x="710880" y="1532450"/>
            <a:ext cx="4620683" cy="193899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Student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200" dirty="0">
                <a:solidFill>
                  <a:srgbClr val="458C2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200" dirty="0">
                <a:solidFill>
                  <a:srgbClr val="458C2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</a:rPr>
              <a:t>name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</a:rPr>
              <a:t>age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200" dirty="0">
                <a:solidFill>
                  <a:srgbClr val="458C2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200" dirty="0">
                <a:solidFill>
                  <a:srgbClr val="458C2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</a:rPr>
              <a:t>public void </a:t>
            </a:r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</a:rPr>
              <a:t>study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(){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学习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</a:rPr>
              <a:t>Java"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</a:rPr>
              <a:t>public void </a:t>
            </a:r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</a:rPr>
              <a:t>eat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(){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吃饭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39" name="TextBox 3">
            <a:extLst>
              <a:ext uri="{FF2B5EF4-FFF2-40B4-BE49-F238E27FC236}">
                <a16:creationId xmlns:a16="http://schemas.microsoft.com/office/drawing/2014/main" id="{866E099E-C333-47D5-A108-DEA415C9F984}"/>
              </a:ext>
            </a:extLst>
          </p:cNvPr>
          <p:cNvSpPr txBox="1"/>
          <p:nvPr/>
        </p:nvSpPr>
        <p:spPr>
          <a:xfrm>
            <a:off x="710880" y="3530698"/>
            <a:ext cx="4620683" cy="230832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args) 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stu1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stu1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name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钢门吹雪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stu2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stu1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stu2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name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西域狂鸭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stu1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stu2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000" dirty="0">
              <a:latin typeface="Consolas" panose="020B0609020204030204" pitchFamily="49" charset="0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6B49702-021B-4E78-B581-22630B994A67}"/>
              </a:ext>
            </a:extLst>
          </p:cNvPr>
          <p:cNvGrpSpPr>
            <a:grpSpLocks/>
          </p:cNvGrpSpPr>
          <p:nvPr/>
        </p:nvGrpSpPr>
        <p:grpSpPr bwMode="auto">
          <a:xfrm>
            <a:off x="7493417" y="4739951"/>
            <a:ext cx="4528839" cy="1843039"/>
            <a:chOff x="1087528" y="3579862"/>
            <a:chExt cx="3150447" cy="1400643"/>
          </a:xfrm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F7984AB6-6D90-4CCA-9F6B-876AD8795F8D}"/>
                </a:ext>
              </a:extLst>
            </p:cNvPr>
            <p:cNvSpPr/>
            <p:nvPr/>
          </p:nvSpPr>
          <p:spPr bwMode="auto">
            <a:xfrm>
              <a:off x="1837147" y="3579862"/>
              <a:ext cx="2400828" cy="1400643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 w="38100">
              <a:solidFill>
                <a:srgbClr val="92D05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rgbClr val="92D05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42" name="TextBox 2">
              <a:extLst>
                <a:ext uri="{FF2B5EF4-FFF2-40B4-BE49-F238E27FC236}">
                  <a16:creationId xmlns:a16="http://schemas.microsoft.com/office/drawing/2014/main" id="{BF2D3A51-71B8-4D2F-9701-28E52ACC04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7528" y="4539823"/>
              <a:ext cx="2442792" cy="440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92D05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方法区</a:t>
              </a:r>
            </a:p>
          </p:txBody>
        </p:sp>
      </p:grpSp>
      <p:sp>
        <p:nvSpPr>
          <p:cNvPr id="44" name="TextBox 3">
            <a:extLst>
              <a:ext uri="{FF2B5EF4-FFF2-40B4-BE49-F238E27FC236}">
                <a16:creationId xmlns:a16="http://schemas.microsoft.com/office/drawing/2014/main" id="{E4DDCDCE-DAC0-414D-B26E-45BBD632C329}"/>
              </a:ext>
            </a:extLst>
          </p:cNvPr>
          <p:cNvSpPr txBox="1"/>
          <p:nvPr/>
        </p:nvSpPr>
        <p:spPr>
          <a:xfrm>
            <a:off x="8709618" y="4947931"/>
            <a:ext cx="1455362" cy="646331"/>
          </a:xfrm>
          <a:prstGeom prst="rect">
            <a:avLst/>
          </a:prstGeom>
          <a:solidFill>
            <a:srgbClr val="D9D9D9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Test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.class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FE9C054F-3C91-4551-ADCD-8A79BB107310}"/>
              </a:ext>
            </a:extLst>
          </p:cNvPr>
          <p:cNvSpPr txBox="1"/>
          <p:nvPr/>
        </p:nvSpPr>
        <p:spPr>
          <a:xfrm>
            <a:off x="5607743" y="3546622"/>
            <a:ext cx="2612715" cy="2585323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46" name="TextBox 3">
            <a:extLst>
              <a:ext uri="{FF2B5EF4-FFF2-40B4-BE49-F238E27FC236}">
                <a16:creationId xmlns:a16="http://schemas.microsoft.com/office/drawing/2014/main" id="{E496E966-9C62-4C0C-A22D-6222A50FD1EE}"/>
              </a:ext>
            </a:extLst>
          </p:cNvPr>
          <p:cNvSpPr txBox="1"/>
          <p:nvPr/>
        </p:nvSpPr>
        <p:spPr>
          <a:xfrm>
            <a:off x="10297193" y="4952523"/>
            <a:ext cx="1641227" cy="1015663"/>
          </a:xfrm>
          <a:prstGeom prst="rect">
            <a:avLst/>
          </a:prstGeom>
          <a:solidFill>
            <a:srgbClr val="D9D9D9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Student.class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成员变量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成员方法</a:t>
            </a:r>
            <a:endParaRPr lang="zh-CN" altLang="zh-CN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634237-2790-44AE-98C3-49467EB539BD}"/>
              </a:ext>
            </a:extLst>
          </p:cNvPr>
          <p:cNvSpPr/>
          <p:nvPr/>
        </p:nvSpPr>
        <p:spPr>
          <a:xfrm>
            <a:off x="5634778" y="3809342"/>
            <a:ext cx="2585679" cy="389433"/>
          </a:xfrm>
          <a:prstGeom prst="rect">
            <a:avLst/>
          </a:prstGeom>
          <a:solidFill>
            <a:srgbClr val="FFFF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965ADD-86E9-4FB3-908E-9E1136D084BD}"/>
              </a:ext>
            </a:extLst>
          </p:cNvPr>
          <p:cNvSpPr txBox="1"/>
          <p:nvPr/>
        </p:nvSpPr>
        <p:spPr>
          <a:xfrm>
            <a:off x="5588079" y="3854230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 stu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858EA5-291E-4763-87C8-AB6A4BC884FE}"/>
              </a:ext>
            </a:extLst>
          </p:cNvPr>
          <p:cNvSpPr/>
          <p:nvPr/>
        </p:nvSpPr>
        <p:spPr>
          <a:xfrm>
            <a:off x="8730160" y="2186546"/>
            <a:ext cx="1866114" cy="181163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EE65177-6F3A-4AF6-A9C0-F8A2B3649FF4}"/>
              </a:ext>
            </a:extLst>
          </p:cNvPr>
          <p:cNvSpPr txBox="1"/>
          <p:nvPr/>
        </p:nvSpPr>
        <p:spPr>
          <a:xfrm>
            <a:off x="8689364" y="1899120"/>
            <a:ext cx="111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7ef20235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1A912F8-54EF-4300-B36A-AAD827B0BD2F}"/>
              </a:ext>
            </a:extLst>
          </p:cNvPr>
          <p:cNvSpPr txBox="1"/>
          <p:nvPr/>
        </p:nvSpPr>
        <p:spPr>
          <a:xfrm>
            <a:off x="8730160" y="2245652"/>
            <a:ext cx="1465055" cy="1432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4B9E720-A600-4092-BEF6-0677545F1C70}"/>
              </a:ext>
            </a:extLst>
          </p:cNvPr>
          <p:cNvSpPr txBox="1"/>
          <p:nvPr/>
        </p:nvSpPr>
        <p:spPr>
          <a:xfrm>
            <a:off x="9895770" y="2587301"/>
            <a:ext cx="1380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C399130-B6F9-46C8-B807-D829B6F0AD66}"/>
              </a:ext>
            </a:extLst>
          </p:cNvPr>
          <p:cNvSpPr txBox="1"/>
          <p:nvPr/>
        </p:nvSpPr>
        <p:spPr>
          <a:xfrm>
            <a:off x="9913195" y="3211991"/>
            <a:ext cx="683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810A880-4DF3-4979-BF1C-D0E1DB6143CB}"/>
              </a:ext>
            </a:extLst>
          </p:cNvPr>
          <p:cNvCxnSpPr>
            <a:cxnSpLocks/>
          </p:cNvCxnSpPr>
          <p:nvPr/>
        </p:nvCxnSpPr>
        <p:spPr>
          <a:xfrm>
            <a:off x="8730160" y="3630647"/>
            <a:ext cx="1866114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0B7A2838-DDF5-4B7C-A2D8-988B8C53673B}"/>
              </a:ext>
            </a:extLst>
          </p:cNvPr>
          <p:cNvSpPr txBox="1"/>
          <p:nvPr/>
        </p:nvSpPr>
        <p:spPr>
          <a:xfrm>
            <a:off x="8864042" y="3681187"/>
            <a:ext cx="1822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成员方法引用地址</a:t>
            </a:r>
            <a:endParaRPr lang="en-US" altLang="zh-CN" sz="1400" dirty="0">
              <a:solidFill>
                <a:srgbClr val="0070C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68FD59E9-CC4D-43CD-A237-2829ADA695DE}"/>
              </a:ext>
            </a:extLst>
          </p:cNvPr>
          <p:cNvCxnSpPr>
            <a:cxnSpLocks/>
          </p:cNvCxnSpPr>
          <p:nvPr/>
        </p:nvCxnSpPr>
        <p:spPr>
          <a:xfrm rot="16200000" flipH="1">
            <a:off x="9092506" y="4519389"/>
            <a:ext cx="1804346" cy="761925"/>
          </a:xfrm>
          <a:prstGeom prst="bentConnector3">
            <a:avLst>
              <a:gd name="adj1" fmla="val 99551"/>
            </a:avLst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F9A9354F-9E7C-4263-9C55-42301275229B}"/>
              </a:ext>
            </a:extLst>
          </p:cNvPr>
          <p:cNvSpPr txBox="1"/>
          <p:nvPr/>
        </p:nvSpPr>
        <p:spPr>
          <a:xfrm>
            <a:off x="8694036" y="1899120"/>
            <a:ext cx="111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7ef20235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7207264F-0EBF-4393-AD4C-8E22DD3256B1}"/>
              </a:ext>
            </a:extLst>
          </p:cNvPr>
          <p:cNvCxnSpPr>
            <a:endCxn id="55" idx="1"/>
          </p:cNvCxnSpPr>
          <p:nvPr/>
        </p:nvCxnSpPr>
        <p:spPr>
          <a:xfrm rot="5400000" flipH="1" flipV="1">
            <a:off x="7158416" y="2273722"/>
            <a:ext cx="1771722" cy="129951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E4562B80-E5EA-4A8D-B6A8-9879E74673A4}"/>
              </a:ext>
            </a:extLst>
          </p:cNvPr>
          <p:cNvSpPr/>
          <p:nvPr/>
        </p:nvSpPr>
        <p:spPr>
          <a:xfrm>
            <a:off x="5634778" y="4420266"/>
            <a:ext cx="2585679" cy="389433"/>
          </a:xfrm>
          <a:prstGeom prst="rect">
            <a:avLst/>
          </a:prstGeom>
          <a:solidFill>
            <a:srgbClr val="FFFF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ABFDAE4-9657-4D97-9DFB-050D58B173B0}"/>
              </a:ext>
            </a:extLst>
          </p:cNvPr>
          <p:cNvSpPr txBox="1"/>
          <p:nvPr/>
        </p:nvSpPr>
        <p:spPr>
          <a:xfrm>
            <a:off x="5588079" y="4465154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 stu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80FBF541-7BD7-4099-A62D-BD17A425DB9A}"/>
              </a:ext>
            </a:extLst>
          </p:cNvPr>
          <p:cNvSpPr txBox="1"/>
          <p:nvPr/>
        </p:nvSpPr>
        <p:spPr>
          <a:xfrm>
            <a:off x="9736876" y="2572272"/>
            <a:ext cx="1380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钢门吹雪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74992CA0-F133-468B-8F93-DCB60F8EA562}"/>
              </a:ext>
            </a:extLst>
          </p:cNvPr>
          <p:cNvSpPr txBox="1"/>
          <p:nvPr/>
        </p:nvSpPr>
        <p:spPr>
          <a:xfrm>
            <a:off x="6881161" y="3850464"/>
            <a:ext cx="111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7ef20235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BE79D2FE-348F-4B20-8E59-8632056212A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36951" y="2320716"/>
            <a:ext cx="2531604" cy="1664109"/>
          </a:xfrm>
          <a:prstGeom prst="bentConnector3">
            <a:avLst>
              <a:gd name="adj1" fmla="val 10823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图片 84">
            <a:extLst>
              <a:ext uri="{FF2B5EF4-FFF2-40B4-BE49-F238E27FC236}">
                <a16:creationId xmlns:a16="http://schemas.microsoft.com/office/drawing/2014/main" id="{6193BF6C-0B19-4867-A2C6-770180142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7671" y="2653078"/>
            <a:ext cx="1191967" cy="1371403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BED68852-6809-4BF5-BCE1-0A6CA804D7C1}"/>
              </a:ext>
            </a:extLst>
          </p:cNvPr>
          <p:cNvSpPr txBox="1"/>
          <p:nvPr/>
        </p:nvSpPr>
        <p:spPr>
          <a:xfrm>
            <a:off x="9736876" y="2573896"/>
            <a:ext cx="13809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西域狂鸭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88" name="TextBox 3">
            <a:extLst>
              <a:ext uri="{FF2B5EF4-FFF2-40B4-BE49-F238E27FC236}">
                <a16:creationId xmlns:a16="http://schemas.microsoft.com/office/drawing/2014/main" id="{DE23224A-DD52-4305-845B-77AF15D45583}"/>
              </a:ext>
            </a:extLst>
          </p:cNvPr>
          <p:cNvSpPr txBox="1"/>
          <p:nvPr/>
        </p:nvSpPr>
        <p:spPr>
          <a:xfrm>
            <a:off x="724815" y="6059770"/>
            <a:ext cx="1669365" cy="523220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西域狂鸭</a:t>
            </a:r>
            <a:endParaRPr lang="en-US" altLang="zh-CN" sz="1400" b="1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zh-CN" altLang="en-US" sz="1400" b="1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西域狂鸭</a:t>
            </a:r>
            <a:endParaRPr lang="en-US" altLang="zh-CN" sz="1400" b="1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12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5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7.40741E-7 L -0.07408 -7.40741E-7 C -0.10729 -7.40741E-7 -0.14804 0.07847 -0.14804 0.14236 L -0.14804 0.28472 " pathEditMode="relative" rAng="0" ptsTypes="AAAA">
                                      <p:cBhvr>
                                        <p:cTn id="8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09" y="14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1.48148E-6 L 3.54167E-6 0.08843 " pathEditMode="relative" rAng="0" ptsTypes="AA">
                                      <p:cBhvr>
                                        <p:cTn id="11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6" presetClass="emph" presetSubtype="0" repeatCount="indefinite" fill="hold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" dur="500" tmFilter="0, 0; .2, .5; .8, .5; 1, 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" dur="250" autoRev="1" fill="hold"/>
                                        <p:tgtEl>
                                          <p:spTgt spid="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9" grpId="0" animBg="1"/>
      <p:bldP spid="44" grpId="0" animBg="1"/>
      <p:bldP spid="45" grpId="0" animBg="1"/>
      <p:bldP spid="46" grpId="0" animBg="1"/>
      <p:bldP spid="6" grpId="0" animBg="1"/>
      <p:bldP spid="4" grpId="0"/>
      <p:bldP spid="8" grpId="0" animBg="1"/>
      <p:bldP spid="14" grpId="0"/>
      <p:bldP spid="14" grpId="1"/>
      <p:bldP spid="16" grpId="0"/>
      <p:bldP spid="17" grpId="0"/>
      <p:bldP spid="17" grpId="1"/>
      <p:bldP spid="38" grpId="0"/>
      <p:bldP spid="43" grpId="0"/>
      <p:bldP spid="55" grpId="0"/>
      <p:bldP spid="71" grpId="0" animBg="1"/>
      <p:bldP spid="72" grpId="0"/>
      <p:bldP spid="81" grpId="0"/>
      <p:bldP spid="81" grpId="1"/>
      <p:bldP spid="83" grpId="0"/>
      <p:bldP spid="83" grpId="1"/>
      <p:bldP spid="86" grpId="0"/>
      <p:bldP spid="86" grpId="1"/>
      <p:bldP spid="8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7A369-7858-010E-7593-9C30F5910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6387B07-7B19-6896-5F97-4730F29E43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面向对象思想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类和对象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类和对象内存图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成员变量和局部变量的区别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this </a:t>
            </a:r>
            <a:r>
              <a:rPr lang="zh-CN" altLang="en-US" dirty="0">
                <a:latin typeface="Consolas" panose="020B0609020204030204" pitchFamily="49" charset="0"/>
              </a:rPr>
              <a:t>关键字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构造方法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封装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JavaBean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static </a:t>
            </a:r>
            <a:r>
              <a:rPr lang="zh-CN" altLang="en-US" dirty="0">
                <a:latin typeface="Consolas" panose="020B0609020204030204" pitchFamily="49" charset="0"/>
              </a:rPr>
              <a:t>关键字</a:t>
            </a:r>
          </a:p>
        </p:txBody>
      </p:sp>
    </p:spTree>
    <p:extLst>
      <p:ext uri="{BB962C8B-B14F-4D97-AF65-F5344CB8AC3E}">
        <p14:creationId xmlns:p14="http://schemas.microsoft.com/office/powerpoint/2010/main" val="675894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A2E56-B91E-CB96-A605-678D8D6B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BE67E0-EFB0-67A5-DAC3-5CC671DD92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5357661" cy="901700"/>
          </a:xfrm>
        </p:spPr>
        <p:txBody>
          <a:bodyPr/>
          <a:lstStyle/>
          <a:p>
            <a:r>
              <a:rPr lang="zh-CN" altLang="en-US" dirty="0"/>
              <a:t>成员变量和局部变量区别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6C14CD54-1A68-6493-C1A4-BDB303EDF4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6945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成员变量的局部变量区别</a:t>
            </a: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53" name="表格 52">
            <a:extLst>
              <a:ext uri="{FF2B5EF4-FFF2-40B4-BE49-F238E27FC236}">
                <a16:creationId xmlns:a16="http://schemas.microsoft.com/office/drawing/2014/main" id="{BF19ED50-AC9E-4823-ABB7-5166193A5CBB}"/>
              </a:ext>
            </a:extLst>
          </p:cNvPr>
          <p:cNvGraphicFramePr>
            <a:graphicFrameLocks noGrp="1"/>
          </p:cNvGraphicFramePr>
          <p:nvPr/>
        </p:nvGraphicFramePr>
        <p:xfrm>
          <a:off x="710879" y="1728682"/>
          <a:ext cx="10560501" cy="4052957"/>
        </p:xfrm>
        <a:graphic>
          <a:graphicData uri="http://schemas.openxmlformats.org/drawingml/2006/table">
            <a:tbl>
              <a:tblPr/>
              <a:tblGrid>
                <a:gridCol w="2381770">
                  <a:extLst>
                    <a:ext uri="{9D8B030D-6E8A-4147-A177-3AD203B41FA5}">
                      <a16:colId xmlns:a16="http://schemas.microsoft.com/office/drawing/2014/main" val="4001127988"/>
                    </a:ext>
                  </a:extLst>
                </a:gridCol>
                <a:gridCol w="3806727">
                  <a:extLst>
                    <a:ext uri="{9D8B030D-6E8A-4147-A177-3AD203B41FA5}">
                      <a16:colId xmlns:a16="http://schemas.microsoft.com/office/drawing/2014/main" val="1994407513"/>
                    </a:ext>
                  </a:extLst>
                </a:gridCol>
                <a:gridCol w="4372004">
                  <a:extLst>
                    <a:ext uri="{9D8B030D-6E8A-4147-A177-3AD203B41FA5}">
                      <a16:colId xmlns:a16="http://schemas.microsoft.com/office/drawing/2014/main" val="3392711098"/>
                    </a:ext>
                  </a:extLst>
                </a:gridCol>
              </a:tblGrid>
              <a:tr h="7625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区别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成员变量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局部变量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384562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类中位置不同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146473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初始化值不同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943993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内存位置不同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330359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生命周期不同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582842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作用域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354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0966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成员变量的局部变量区别</a:t>
            </a:r>
            <a:endParaRPr kumimoji="1" lang="zh-CN" altLang="en-US" dirty="0"/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53" name="表格 52">
            <a:extLst>
              <a:ext uri="{FF2B5EF4-FFF2-40B4-BE49-F238E27FC236}">
                <a16:creationId xmlns:a16="http://schemas.microsoft.com/office/drawing/2014/main" id="{BF19ED50-AC9E-4823-ABB7-5166193A5CBB}"/>
              </a:ext>
            </a:extLst>
          </p:cNvPr>
          <p:cNvGraphicFramePr>
            <a:graphicFrameLocks noGrp="1"/>
          </p:cNvGraphicFramePr>
          <p:nvPr/>
        </p:nvGraphicFramePr>
        <p:xfrm>
          <a:off x="710879" y="1728682"/>
          <a:ext cx="10560501" cy="4052957"/>
        </p:xfrm>
        <a:graphic>
          <a:graphicData uri="http://schemas.openxmlformats.org/drawingml/2006/table">
            <a:tbl>
              <a:tblPr/>
              <a:tblGrid>
                <a:gridCol w="2381770">
                  <a:extLst>
                    <a:ext uri="{9D8B030D-6E8A-4147-A177-3AD203B41FA5}">
                      <a16:colId xmlns:a16="http://schemas.microsoft.com/office/drawing/2014/main" val="4001127988"/>
                    </a:ext>
                  </a:extLst>
                </a:gridCol>
                <a:gridCol w="3806727">
                  <a:extLst>
                    <a:ext uri="{9D8B030D-6E8A-4147-A177-3AD203B41FA5}">
                      <a16:colId xmlns:a16="http://schemas.microsoft.com/office/drawing/2014/main" val="1994407513"/>
                    </a:ext>
                  </a:extLst>
                </a:gridCol>
                <a:gridCol w="4372004">
                  <a:extLst>
                    <a:ext uri="{9D8B030D-6E8A-4147-A177-3AD203B41FA5}">
                      <a16:colId xmlns:a16="http://schemas.microsoft.com/office/drawing/2014/main" val="3392711098"/>
                    </a:ext>
                  </a:extLst>
                </a:gridCol>
              </a:tblGrid>
              <a:tr h="7625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区别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成员变量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局部变量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384562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类中位置不同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方法外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方法中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146473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初始化值不同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943993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内存位置不同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330359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生命周期不同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582842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作用域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354196"/>
                  </a:ext>
                </a:extLst>
              </a:tr>
            </a:tbl>
          </a:graphicData>
        </a:graphic>
      </p:graphicFrame>
      <p:sp>
        <p:nvSpPr>
          <p:cNvPr id="17" name="TextBox 3">
            <a:extLst>
              <a:ext uri="{FF2B5EF4-FFF2-40B4-BE49-F238E27FC236}">
                <a16:creationId xmlns:a16="http://schemas.microsoft.com/office/drawing/2014/main" id="{D5A5DFB0-331C-4B45-89F9-576A9873498C}"/>
              </a:ext>
            </a:extLst>
          </p:cNvPr>
          <p:cNvSpPr txBox="1"/>
          <p:nvPr/>
        </p:nvSpPr>
        <p:spPr>
          <a:xfrm>
            <a:off x="3169552" y="3278106"/>
            <a:ext cx="3686483" cy="95410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Student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458C2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458C2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</a:rPr>
              <a:t>name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</a:rPr>
              <a:t>age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1D3085C8-3A1B-4C9A-A806-43406438D350}"/>
              </a:ext>
            </a:extLst>
          </p:cNvPr>
          <p:cNvSpPr txBox="1"/>
          <p:nvPr/>
        </p:nvSpPr>
        <p:spPr>
          <a:xfrm>
            <a:off x="6957300" y="3278106"/>
            <a:ext cx="4714815" cy="2462213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num1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method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num2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19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成员变量的局部变量区别</a:t>
            </a:r>
            <a:endParaRPr kumimoji="1" lang="zh-CN" altLang="en-US" dirty="0"/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53" name="表格 52">
            <a:extLst>
              <a:ext uri="{FF2B5EF4-FFF2-40B4-BE49-F238E27FC236}">
                <a16:creationId xmlns:a16="http://schemas.microsoft.com/office/drawing/2014/main" id="{BF19ED50-AC9E-4823-ABB7-5166193A5CBB}"/>
              </a:ext>
            </a:extLst>
          </p:cNvPr>
          <p:cNvGraphicFramePr>
            <a:graphicFrameLocks noGrp="1"/>
          </p:cNvGraphicFramePr>
          <p:nvPr/>
        </p:nvGraphicFramePr>
        <p:xfrm>
          <a:off x="710879" y="1728682"/>
          <a:ext cx="10560501" cy="4052957"/>
        </p:xfrm>
        <a:graphic>
          <a:graphicData uri="http://schemas.openxmlformats.org/drawingml/2006/table">
            <a:tbl>
              <a:tblPr/>
              <a:tblGrid>
                <a:gridCol w="2381770">
                  <a:extLst>
                    <a:ext uri="{9D8B030D-6E8A-4147-A177-3AD203B41FA5}">
                      <a16:colId xmlns:a16="http://schemas.microsoft.com/office/drawing/2014/main" val="4001127988"/>
                    </a:ext>
                  </a:extLst>
                </a:gridCol>
                <a:gridCol w="3806727">
                  <a:extLst>
                    <a:ext uri="{9D8B030D-6E8A-4147-A177-3AD203B41FA5}">
                      <a16:colId xmlns:a16="http://schemas.microsoft.com/office/drawing/2014/main" val="1994407513"/>
                    </a:ext>
                  </a:extLst>
                </a:gridCol>
                <a:gridCol w="4372004">
                  <a:extLst>
                    <a:ext uri="{9D8B030D-6E8A-4147-A177-3AD203B41FA5}">
                      <a16:colId xmlns:a16="http://schemas.microsoft.com/office/drawing/2014/main" val="3392711098"/>
                    </a:ext>
                  </a:extLst>
                </a:gridCol>
              </a:tblGrid>
              <a:tr h="7625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区别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成员变量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局部变量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384562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类中位置不同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方法外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方法中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146473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初始化值不同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有默认初始化值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没有，使用之前需要完成赋值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943993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内存位置不同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330359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生命周期不同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582842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作用域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354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3393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成员变量的局部变量区别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13E882B-03E4-4EB3-92E7-687256FFF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522" y="1608683"/>
            <a:ext cx="7104802" cy="4801950"/>
          </a:xfrm>
          <a:prstGeom prst="rect">
            <a:avLst/>
          </a:prstGeom>
        </p:spPr>
      </p:pic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53" name="表格 52">
            <a:extLst>
              <a:ext uri="{FF2B5EF4-FFF2-40B4-BE49-F238E27FC236}">
                <a16:creationId xmlns:a16="http://schemas.microsoft.com/office/drawing/2014/main" id="{BF19ED50-AC9E-4823-ABB7-5166193A5CBB}"/>
              </a:ext>
            </a:extLst>
          </p:cNvPr>
          <p:cNvGraphicFramePr>
            <a:graphicFrameLocks noGrp="1"/>
          </p:cNvGraphicFramePr>
          <p:nvPr/>
        </p:nvGraphicFramePr>
        <p:xfrm>
          <a:off x="710879" y="1728682"/>
          <a:ext cx="10560501" cy="4052957"/>
        </p:xfrm>
        <a:graphic>
          <a:graphicData uri="http://schemas.openxmlformats.org/drawingml/2006/table">
            <a:tbl>
              <a:tblPr/>
              <a:tblGrid>
                <a:gridCol w="2381770">
                  <a:extLst>
                    <a:ext uri="{9D8B030D-6E8A-4147-A177-3AD203B41FA5}">
                      <a16:colId xmlns:a16="http://schemas.microsoft.com/office/drawing/2014/main" val="4001127988"/>
                    </a:ext>
                  </a:extLst>
                </a:gridCol>
                <a:gridCol w="3806727">
                  <a:extLst>
                    <a:ext uri="{9D8B030D-6E8A-4147-A177-3AD203B41FA5}">
                      <a16:colId xmlns:a16="http://schemas.microsoft.com/office/drawing/2014/main" val="1994407513"/>
                    </a:ext>
                  </a:extLst>
                </a:gridCol>
                <a:gridCol w="4372004">
                  <a:extLst>
                    <a:ext uri="{9D8B030D-6E8A-4147-A177-3AD203B41FA5}">
                      <a16:colId xmlns:a16="http://schemas.microsoft.com/office/drawing/2014/main" val="3392711098"/>
                    </a:ext>
                  </a:extLst>
                </a:gridCol>
              </a:tblGrid>
              <a:tr h="7625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区别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成员变量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局部变量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384562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类中位置不同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方法外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方法中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146473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初始化值不同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有默认初始化值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没有，使用之前需要完成赋值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943993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内存位置不同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堆内存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栈内存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330359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生命周期不同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582842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作用域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354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85553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成员变量的局部变量区别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13E882B-03E4-4EB3-92E7-687256FFF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522" y="1608682"/>
            <a:ext cx="7104802" cy="5118689"/>
          </a:xfrm>
          <a:prstGeom prst="rect">
            <a:avLst/>
          </a:prstGeom>
        </p:spPr>
      </p:pic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4CD27378-7897-414D-9C02-7EFB2BA25A17}"/>
              </a:ext>
            </a:extLst>
          </p:cNvPr>
          <p:cNvSpPr txBox="1"/>
          <p:nvPr/>
        </p:nvSpPr>
        <p:spPr>
          <a:xfrm>
            <a:off x="710880" y="1797050"/>
            <a:ext cx="3686483" cy="181588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name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张三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method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8297AA1-545D-402E-8E5A-02D11D8FA64A}"/>
              </a:ext>
            </a:extLst>
          </p:cNvPr>
          <p:cNvGrpSpPr>
            <a:grpSpLocks/>
          </p:cNvGrpSpPr>
          <p:nvPr/>
        </p:nvGrpSpPr>
        <p:grpSpPr bwMode="auto">
          <a:xfrm>
            <a:off x="8530352" y="1797050"/>
            <a:ext cx="3491904" cy="4796366"/>
            <a:chOff x="6552698" y="1032717"/>
            <a:chExt cx="2398614" cy="393763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F8A2BE8-46FE-4BAC-9E28-5B478CDA5144}"/>
                </a:ext>
              </a:extLst>
            </p:cNvPr>
            <p:cNvSpPr/>
            <p:nvPr/>
          </p:nvSpPr>
          <p:spPr bwMode="auto">
            <a:xfrm>
              <a:off x="6552698" y="1032717"/>
              <a:ext cx="2398614" cy="3937635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3" name="TextBox 2">
              <a:extLst>
                <a:ext uri="{FF2B5EF4-FFF2-40B4-BE49-F238E27FC236}">
                  <a16:creationId xmlns:a16="http://schemas.microsoft.com/office/drawing/2014/main" id="{D8443C77-E4D5-400A-ABF5-491BC1B45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1922" y="4385201"/>
              <a:ext cx="936625" cy="446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A2BD621-D170-4480-8A02-BBA535C65AF0}"/>
              </a:ext>
            </a:extLst>
          </p:cNvPr>
          <p:cNvGrpSpPr>
            <a:grpSpLocks/>
          </p:cNvGrpSpPr>
          <p:nvPr/>
        </p:nvGrpSpPr>
        <p:grpSpPr bwMode="auto">
          <a:xfrm>
            <a:off x="5178490" y="1797051"/>
            <a:ext cx="3123078" cy="4800600"/>
            <a:chOff x="4441895" y="1347668"/>
            <a:chExt cx="1771200" cy="3600344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73F55F8-E76C-4F6D-835E-3B6D78E484B1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169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5E0FB440-F1AE-451D-BD27-A97F88D94F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accent2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FBBCAB5A-3C7C-4FAA-A76D-3227CC75EFC5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B02314CE-C2E5-4AEE-8C3E-C346ED982ACB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09E71BA-7B44-4ED1-855C-49498612E7E7}"/>
                </a:ext>
              </a:extLst>
            </p:cNvPr>
            <p:cNvCxnSpPr/>
            <p:nvPr/>
          </p:nvCxnSpPr>
          <p:spPr>
            <a:xfrm flipH="1">
              <a:off x="4441895" y="4944837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1D1E8633-C077-4358-8552-41C9354CA7F9}"/>
              </a:ext>
            </a:extLst>
          </p:cNvPr>
          <p:cNvSpPr/>
          <p:nvPr/>
        </p:nvSpPr>
        <p:spPr>
          <a:xfrm>
            <a:off x="8730160" y="2186547"/>
            <a:ext cx="2419922" cy="124245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CB091B2-874C-493F-9D3E-A32DF6FF54FB}"/>
              </a:ext>
            </a:extLst>
          </p:cNvPr>
          <p:cNvSpPr txBox="1"/>
          <p:nvPr/>
        </p:nvSpPr>
        <p:spPr>
          <a:xfrm>
            <a:off x="8689364" y="1899119"/>
            <a:ext cx="2146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7ef20235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BE1B4D9-C64B-4B92-A331-7F89BCC9CEBD}"/>
              </a:ext>
            </a:extLst>
          </p:cNvPr>
          <p:cNvSpPr txBox="1"/>
          <p:nvPr/>
        </p:nvSpPr>
        <p:spPr>
          <a:xfrm>
            <a:off x="8730160" y="2245652"/>
            <a:ext cx="25953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张三</a:t>
            </a: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TextBox 3">
            <a:extLst>
              <a:ext uri="{FF2B5EF4-FFF2-40B4-BE49-F238E27FC236}">
                <a16:creationId xmlns:a16="http://schemas.microsoft.com/office/drawing/2014/main" id="{5600014A-BF7C-457B-A083-19DE33D73D6D}"/>
              </a:ext>
            </a:extLst>
          </p:cNvPr>
          <p:cNvSpPr txBox="1"/>
          <p:nvPr/>
        </p:nvSpPr>
        <p:spPr>
          <a:xfrm>
            <a:off x="5226789" y="5138014"/>
            <a:ext cx="2983471" cy="83099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method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D7455AF-9957-4C1C-A8F0-E72218A4AB9F}"/>
              </a:ext>
            </a:extLst>
          </p:cNvPr>
          <p:cNvSpPr/>
          <p:nvPr/>
        </p:nvSpPr>
        <p:spPr>
          <a:xfrm>
            <a:off x="5263185" y="5484278"/>
            <a:ext cx="2919526" cy="389433"/>
          </a:xfrm>
          <a:prstGeom prst="rect">
            <a:avLst/>
          </a:prstGeom>
          <a:solidFill>
            <a:srgbClr val="FFFF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A6DC0D1-7001-4F2D-B1A1-1154CF0DE213}"/>
              </a:ext>
            </a:extLst>
          </p:cNvPr>
          <p:cNvSpPr txBox="1"/>
          <p:nvPr/>
        </p:nvSpPr>
        <p:spPr>
          <a:xfrm>
            <a:off x="5262517" y="5532630"/>
            <a:ext cx="1359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171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1" grpId="0" animBg="1"/>
      <p:bldP spid="32" grpId="0"/>
      <p:bldP spid="33" grpId="0"/>
      <p:bldP spid="34" grpId="0" animBg="1"/>
      <p:bldP spid="35" grpId="0" animBg="1"/>
      <p:bldP spid="3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成员变量的局部变量区别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13E882B-03E4-4EB3-92E7-687256FFF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522" y="1608682"/>
            <a:ext cx="7104802" cy="4728637"/>
          </a:xfrm>
          <a:prstGeom prst="rect">
            <a:avLst/>
          </a:prstGeom>
        </p:spPr>
      </p:pic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53" name="表格 52">
            <a:extLst>
              <a:ext uri="{FF2B5EF4-FFF2-40B4-BE49-F238E27FC236}">
                <a16:creationId xmlns:a16="http://schemas.microsoft.com/office/drawing/2014/main" id="{BF19ED50-AC9E-4823-ABB7-5166193A5CBB}"/>
              </a:ext>
            </a:extLst>
          </p:cNvPr>
          <p:cNvGraphicFramePr>
            <a:graphicFrameLocks noGrp="1"/>
          </p:cNvGraphicFramePr>
          <p:nvPr/>
        </p:nvGraphicFramePr>
        <p:xfrm>
          <a:off x="710879" y="1728682"/>
          <a:ext cx="10560501" cy="4052957"/>
        </p:xfrm>
        <a:graphic>
          <a:graphicData uri="http://schemas.openxmlformats.org/drawingml/2006/table">
            <a:tbl>
              <a:tblPr/>
              <a:tblGrid>
                <a:gridCol w="2381770">
                  <a:extLst>
                    <a:ext uri="{9D8B030D-6E8A-4147-A177-3AD203B41FA5}">
                      <a16:colId xmlns:a16="http://schemas.microsoft.com/office/drawing/2014/main" val="4001127988"/>
                    </a:ext>
                  </a:extLst>
                </a:gridCol>
                <a:gridCol w="3806727">
                  <a:extLst>
                    <a:ext uri="{9D8B030D-6E8A-4147-A177-3AD203B41FA5}">
                      <a16:colId xmlns:a16="http://schemas.microsoft.com/office/drawing/2014/main" val="1994407513"/>
                    </a:ext>
                  </a:extLst>
                </a:gridCol>
                <a:gridCol w="4372004">
                  <a:extLst>
                    <a:ext uri="{9D8B030D-6E8A-4147-A177-3AD203B41FA5}">
                      <a16:colId xmlns:a16="http://schemas.microsoft.com/office/drawing/2014/main" val="3392711098"/>
                    </a:ext>
                  </a:extLst>
                </a:gridCol>
              </a:tblGrid>
              <a:tr h="7625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区别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成员变量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局部变量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384562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类中位置不同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方法外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方法中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146473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初始化值不同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有默认初始化值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没有，使用之前需要完成赋值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943993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内存位置不同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堆内存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栈内存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330359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生命周期不同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582842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作用域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354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82444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成员变量的局部变量区别</a:t>
            </a:r>
            <a:endParaRPr kumimoji="1" lang="zh-CN" altLang="en-US" dirty="0"/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53" name="表格 52">
            <a:extLst>
              <a:ext uri="{FF2B5EF4-FFF2-40B4-BE49-F238E27FC236}">
                <a16:creationId xmlns:a16="http://schemas.microsoft.com/office/drawing/2014/main" id="{BF19ED50-AC9E-4823-ABB7-5166193A5CBB}"/>
              </a:ext>
            </a:extLst>
          </p:cNvPr>
          <p:cNvGraphicFramePr>
            <a:graphicFrameLocks noGrp="1"/>
          </p:cNvGraphicFramePr>
          <p:nvPr/>
        </p:nvGraphicFramePr>
        <p:xfrm>
          <a:off x="710879" y="1728682"/>
          <a:ext cx="10560501" cy="4052957"/>
        </p:xfrm>
        <a:graphic>
          <a:graphicData uri="http://schemas.openxmlformats.org/drawingml/2006/table">
            <a:tbl>
              <a:tblPr/>
              <a:tblGrid>
                <a:gridCol w="2381770">
                  <a:extLst>
                    <a:ext uri="{9D8B030D-6E8A-4147-A177-3AD203B41FA5}">
                      <a16:colId xmlns:a16="http://schemas.microsoft.com/office/drawing/2014/main" val="4001127988"/>
                    </a:ext>
                  </a:extLst>
                </a:gridCol>
                <a:gridCol w="3806727">
                  <a:extLst>
                    <a:ext uri="{9D8B030D-6E8A-4147-A177-3AD203B41FA5}">
                      <a16:colId xmlns:a16="http://schemas.microsoft.com/office/drawing/2014/main" val="1994407513"/>
                    </a:ext>
                  </a:extLst>
                </a:gridCol>
                <a:gridCol w="4372004">
                  <a:extLst>
                    <a:ext uri="{9D8B030D-6E8A-4147-A177-3AD203B41FA5}">
                      <a16:colId xmlns:a16="http://schemas.microsoft.com/office/drawing/2014/main" val="3392711098"/>
                    </a:ext>
                  </a:extLst>
                </a:gridCol>
              </a:tblGrid>
              <a:tr h="7625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区别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成员变量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局部变量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384562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类中位置不同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方法外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方法中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146473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初始化值不同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有默认初始化值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没有，使用之前需要完成赋值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943993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内存位置不同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堆内存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栈内存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330359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生命周期不同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随着对象的创建而存在，随着对象的消失而消失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随着方法的调用而存在，随着方法的运行结束而消失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582842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作用域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354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8235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成员变量的局部变量区别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13E882B-03E4-4EB3-92E7-687256FFF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522" y="1608682"/>
            <a:ext cx="7104802" cy="5118689"/>
          </a:xfrm>
          <a:prstGeom prst="rect">
            <a:avLst/>
          </a:prstGeom>
        </p:spPr>
      </p:pic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4CD27378-7897-414D-9C02-7EFB2BA25A17}"/>
              </a:ext>
            </a:extLst>
          </p:cNvPr>
          <p:cNvSpPr txBox="1"/>
          <p:nvPr/>
        </p:nvSpPr>
        <p:spPr>
          <a:xfrm>
            <a:off x="324465" y="1797050"/>
            <a:ext cx="4731859" cy="73866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8297AA1-545D-402E-8E5A-02D11D8FA64A}"/>
              </a:ext>
            </a:extLst>
          </p:cNvPr>
          <p:cNvGrpSpPr>
            <a:grpSpLocks/>
          </p:cNvGrpSpPr>
          <p:nvPr/>
        </p:nvGrpSpPr>
        <p:grpSpPr bwMode="auto">
          <a:xfrm>
            <a:off x="8530352" y="1659402"/>
            <a:ext cx="3491904" cy="4796366"/>
            <a:chOff x="6552698" y="1032717"/>
            <a:chExt cx="2398614" cy="393763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F8A2BE8-46FE-4BAC-9E28-5B478CDA5144}"/>
                </a:ext>
              </a:extLst>
            </p:cNvPr>
            <p:cNvSpPr/>
            <p:nvPr/>
          </p:nvSpPr>
          <p:spPr bwMode="auto">
            <a:xfrm>
              <a:off x="6552698" y="1032717"/>
              <a:ext cx="2398614" cy="3937635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3" name="TextBox 2">
              <a:extLst>
                <a:ext uri="{FF2B5EF4-FFF2-40B4-BE49-F238E27FC236}">
                  <a16:creationId xmlns:a16="http://schemas.microsoft.com/office/drawing/2014/main" id="{D8443C77-E4D5-400A-ABF5-491BC1B45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1922" y="4385201"/>
              <a:ext cx="936625" cy="446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A2BD621-D170-4480-8A02-BBA535C65AF0}"/>
              </a:ext>
            </a:extLst>
          </p:cNvPr>
          <p:cNvGrpSpPr>
            <a:grpSpLocks/>
          </p:cNvGrpSpPr>
          <p:nvPr/>
        </p:nvGrpSpPr>
        <p:grpSpPr bwMode="auto">
          <a:xfrm>
            <a:off x="5178490" y="1659403"/>
            <a:ext cx="3123078" cy="4800600"/>
            <a:chOff x="4441895" y="1347668"/>
            <a:chExt cx="1771200" cy="3600344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73F55F8-E76C-4F6D-835E-3B6D78E484B1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169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5E0FB440-F1AE-451D-BD27-A97F88D94F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accent2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FBBCAB5A-3C7C-4FAA-A76D-3227CC75EFC5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B02314CE-C2E5-4AEE-8C3E-C346ED982ACB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09E71BA-7B44-4ED1-855C-49498612E7E7}"/>
                </a:ext>
              </a:extLst>
            </p:cNvPr>
            <p:cNvCxnSpPr/>
            <p:nvPr/>
          </p:nvCxnSpPr>
          <p:spPr>
            <a:xfrm flipH="1">
              <a:off x="4441895" y="4944837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1D1E8633-C077-4358-8552-41C9354CA7F9}"/>
              </a:ext>
            </a:extLst>
          </p:cNvPr>
          <p:cNvSpPr/>
          <p:nvPr/>
        </p:nvSpPr>
        <p:spPr>
          <a:xfrm>
            <a:off x="8730160" y="2186547"/>
            <a:ext cx="2419922" cy="1242454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CB091B2-874C-493F-9D3E-A32DF6FF54FB}"/>
              </a:ext>
            </a:extLst>
          </p:cNvPr>
          <p:cNvSpPr txBox="1"/>
          <p:nvPr/>
        </p:nvSpPr>
        <p:spPr>
          <a:xfrm>
            <a:off x="8689364" y="1899119"/>
            <a:ext cx="2146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7ef20235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BE1B4D9-C64B-4B92-A331-7F89BCC9CEBD}"/>
              </a:ext>
            </a:extLst>
          </p:cNvPr>
          <p:cNvSpPr txBox="1"/>
          <p:nvPr/>
        </p:nvSpPr>
        <p:spPr>
          <a:xfrm>
            <a:off x="8730160" y="2245652"/>
            <a:ext cx="25953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TextBox 3">
            <a:extLst>
              <a:ext uri="{FF2B5EF4-FFF2-40B4-BE49-F238E27FC236}">
                <a16:creationId xmlns:a16="http://schemas.microsoft.com/office/drawing/2014/main" id="{5600014A-BF7C-457B-A083-19DE33D73D6D}"/>
              </a:ext>
            </a:extLst>
          </p:cNvPr>
          <p:cNvSpPr txBox="1"/>
          <p:nvPr/>
        </p:nvSpPr>
        <p:spPr>
          <a:xfrm>
            <a:off x="5260182" y="4464488"/>
            <a:ext cx="2983471" cy="156966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56795B-5C4F-D227-1FF3-6FD9F60FCDDC}"/>
              </a:ext>
            </a:extLst>
          </p:cNvPr>
          <p:cNvSpPr txBox="1"/>
          <p:nvPr/>
        </p:nvSpPr>
        <p:spPr>
          <a:xfrm>
            <a:off x="324465" y="2832721"/>
            <a:ext cx="4742057" cy="2677656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StudentTest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开始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method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结束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method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name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钢门吹雪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05E560E-80EF-B7DE-3F01-3EB9E4A8017F}"/>
              </a:ext>
            </a:extLst>
          </p:cNvPr>
          <p:cNvSpPr txBox="1"/>
          <p:nvPr/>
        </p:nvSpPr>
        <p:spPr>
          <a:xfrm>
            <a:off x="5266904" y="4787653"/>
            <a:ext cx="24335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开始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endParaRPr lang="zh-CN" altLang="en-US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2085D5C-5565-3FE8-1CA5-E2965C62A2AC}"/>
              </a:ext>
            </a:extLst>
          </p:cNvPr>
          <p:cNvSpPr txBox="1"/>
          <p:nvPr/>
        </p:nvSpPr>
        <p:spPr>
          <a:xfrm>
            <a:off x="5266904" y="5180067"/>
            <a:ext cx="24335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method();</a:t>
            </a:r>
            <a:endParaRPr lang="zh-CN" altLang="en-US" sz="1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46E2786-6804-9430-3B65-0D6988C26FBD}"/>
              </a:ext>
            </a:extLst>
          </p:cNvPr>
          <p:cNvSpPr txBox="1"/>
          <p:nvPr/>
        </p:nvSpPr>
        <p:spPr>
          <a:xfrm>
            <a:off x="5266904" y="5547509"/>
            <a:ext cx="24335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结束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endParaRPr lang="zh-CN" altLang="en-US" sz="1200" dirty="0"/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28819E31-659D-C557-3FA5-C472174E36EB}"/>
              </a:ext>
            </a:extLst>
          </p:cNvPr>
          <p:cNvSpPr txBox="1"/>
          <p:nvPr/>
        </p:nvSpPr>
        <p:spPr>
          <a:xfrm>
            <a:off x="5209298" y="3296925"/>
            <a:ext cx="2983471" cy="1015663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method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FAAD31-EF33-6A69-3157-AA11E1E8C5E0}"/>
              </a:ext>
            </a:extLst>
          </p:cNvPr>
          <p:cNvSpPr/>
          <p:nvPr/>
        </p:nvSpPr>
        <p:spPr>
          <a:xfrm>
            <a:off x="5239201" y="3651710"/>
            <a:ext cx="2919526" cy="389433"/>
          </a:xfrm>
          <a:prstGeom prst="rect">
            <a:avLst/>
          </a:prstGeom>
          <a:solidFill>
            <a:srgbClr val="FFFF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019B0AC-A1FC-D4AF-DBEC-F74DA7D4CEF7}"/>
              </a:ext>
            </a:extLst>
          </p:cNvPr>
          <p:cNvSpPr txBox="1"/>
          <p:nvPr/>
        </p:nvSpPr>
        <p:spPr>
          <a:xfrm>
            <a:off x="5228904" y="3693653"/>
            <a:ext cx="24335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</a:t>
            </a:r>
            <a:endParaRPr lang="zh-CN" altLang="en-US" sz="1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478C3DD-C88D-5641-F223-972909A7D75E}"/>
              </a:ext>
            </a:extLst>
          </p:cNvPr>
          <p:cNvSpPr txBox="1"/>
          <p:nvPr/>
        </p:nvSpPr>
        <p:spPr>
          <a:xfrm>
            <a:off x="6788994" y="3693119"/>
            <a:ext cx="2146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7ef20235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37EDED1-FE6E-3D1A-F5A7-67AD55D45EB1}"/>
              </a:ext>
            </a:extLst>
          </p:cNvPr>
          <p:cNvSpPr txBox="1"/>
          <p:nvPr/>
        </p:nvSpPr>
        <p:spPr>
          <a:xfrm>
            <a:off x="8734586" y="2661929"/>
            <a:ext cx="24335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钢门吹雪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51128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  <p:bldP spid="33" grpId="0"/>
      <p:bldP spid="34" grpId="0" animBg="1"/>
      <p:bldP spid="8" grpId="0"/>
      <p:bldP spid="9" grpId="0"/>
      <p:bldP spid="10" grpId="0"/>
      <p:bldP spid="11" grpId="0" animBg="1"/>
      <p:bldP spid="11" grpId="1" animBg="1"/>
      <p:bldP spid="12" grpId="0" animBg="1"/>
      <p:bldP spid="12" grpId="1" animBg="1"/>
      <p:bldP spid="13" grpId="0"/>
      <p:bldP spid="13" grpId="1"/>
      <p:bldP spid="14" grpId="0"/>
      <p:bldP spid="14" grpId="1"/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成员变量的局部变量区别</a:t>
            </a:r>
            <a:endParaRPr kumimoji="1" lang="zh-CN" altLang="en-US" dirty="0"/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53" name="表格 52">
            <a:extLst>
              <a:ext uri="{FF2B5EF4-FFF2-40B4-BE49-F238E27FC236}">
                <a16:creationId xmlns:a16="http://schemas.microsoft.com/office/drawing/2014/main" id="{BF19ED50-AC9E-4823-ABB7-5166193A5CBB}"/>
              </a:ext>
            </a:extLst>
          </p:cNvPr>
          <p:cNvGraphicFramePr>
            <a:graphicFrameLocks noGrp="1"/>
          </p:cNvGraphicFramePr>
          <p:nvPr/>
        </p:nvGraphicFramePr>
        <p:xfrm>
          <a:off x="710879" y="1728682"/>
          <a:ext cx="10560501" cy="4052957"/>
        </p:xfrm>
        <a:graphic>
          <a:graphicData uri="http://schemas.openxmlformats.org/drawingml/2006/table">
            <a:tbl>
              <a:tblPr/>
              <a:tblGrid>
                <a:gridCol w="2381770">
                  <a:extLst>
                    <a:ext uri="{9D8B030D-6E8A-4147-A177-3AD203B41FA5}">
                      <a16:colId xmlns:a16="http://schemas.microsoft.com/office/drawing/2014/main" val="4001127988"/>
                    </a:ext>
                  </a:extLst>
                </a:gridCol>
                <a:gridCol w="3806727">
                  <a:extLst>
                    <a:ext uri="{9D8B030D-6E8A-4147-A177-3AD203B41FA5}">
                      <a16:colId xmlns:a16="http://schemas.microsoft.com/office/drawing/2014/main" val="1994407513"/>
                    </a:ext>
                  </a:extLst>
                </a:gridCol>
                <a:gridCol w="4372004">
                  <a:extLst>
                    <a:ext uri="{9D8B030D-6E8A-4147-A177-3AD203B41FA5}">
                      <a16:colId xmlns:a16="http://schemas.microsoft.com/office/drawing/2014/main" val="3392711098"/>
                    </a:ext>
                  </a:extLst>
                </a:gridCol>
              </a:tblGrid>
              <a:tr h="76257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区别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成员变量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局部变量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384562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类中位置不同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方法外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方法中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146473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初始化值不同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有默认初始化值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没有，使用之前需要完成赋值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943993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内存位置不同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堆内存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栈内存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330359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生命周期不同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随着对象的创建而存在，随着对象的消失而消失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随着方法的调用而存在，随着方法的运行结束而消失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  <a:alpha val="79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582842"/>
                  </a:ext>
                </a:extLst>
              </a:tr>
              <a:tr h="6580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作用域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在自己所归属的大括号中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354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872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4814D-0273-CF3E-F5FF-8505F79A1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B536AB8-2EDB-22D6-CCD1-8D240E068A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面向对象思想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类和对象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类和对象内存图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成员变量和局部变量的区别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this </a:t>
            </a:r>
            <a:r>
              <a:rPr lang="zh-CN" altLang="en-US" dirty="0">
                <a:latin typeface="Consolas" panose="020B0609020204030204" pitchFamily="49" charset="0"/>
              </a:rPr>
              <a:t>关键字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构造方法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封装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JavaBean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static </a:t>
            </a:r>
            <a:r>
              <a:rPr lang="zh-CN" altLang="en-US" dirty="0">
                <a:latin typeface="Consolas" panose="020B0609020204030204" pitchFamily="49" charset="0"/>
              </a:rPr>
              <a:t>关键字</a:t>
            </a:r>
          </a:p>
        </p:txBody>
      </p:sp>
    </p:spTree>
    <p:extLst>
      <p:ext uri="{BB962C8B-B14F-4D97-AF65-F5344CB8AC3E}">
        <p14:creationId xmlns:p14="http://schemas.microsoft.com/office/powerpoint/2010/main" val="4119798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51D6D-356C-6DE6-2914-0AECAE84E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282BF8-C1C1-2FF1-4C60-A23372FCF3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5357661" cy="901700"/>
          </a:xfrm>
        </p:spPr>
        <p:txBody>
          <a:bodyPr/>
          <a:lstStyle/>
          <a:p>
            <a:r>
              <a:rPr lang="en-US" altLang="zh-CN" dirty="0"/>
              <a:t>this </a:t>
            </a:r>
            <a:r>
              <a:rPr lang="zh-CN" altLang="en-US" dirty="0"/>
              <a:t>关键字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761DDAE-E6B6-50D3-F7CA-AA8123D392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3300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this </a:t>
            </a:r>
            <a:r>
              <a:rPr kumimoji="1" lang="zh-CN" altLang="en-US" dirty="0"/>
              <a:t>可以解决的问题</a:t>
            </a: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9B3F50F5-958D-410D-88DE-B7D6008EE44B}"/>
              </a:ext>
            </a:extLst>
          </p:cNvPr>
          <p:cNvSpPr txBox="1"/>
          <p:nvPr/>
        </p:nvSpPr>
        <p:spPr>
          <a:xfrm>
            <a:off x="710880" y="1822587"/>
            <a:ext cx="5120754" cy="181588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Student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String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name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age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sayHello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String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name)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.println(name);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</a:t>
            </a:r>
            <a:endParaRPr lang="zh-CN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0AC404DE-869E-4F03-8F8A-24A552F16B0A}"/>
              </a:ext>
            </a:extLst>
          </p:cNvPr>
          <p:cNvSpPr txBox="1"/>
          <p:nvPr/>
        </p:nvSpPr>
        <p:spPr>
          <a:xfrm>
            <a:off x="710880" y="3926560"/>
            <a:ext cx="3816350" cy="1349665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 stu =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stu.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name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zh-CN" sz="1400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stu.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age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stu.sayHello(</a:t>
            </a:r>
            <a:r>
              <a:rPr lang="zh-CN" altLang="zh-CN" sz="1400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"西域狂鸭"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endParaRPr lang="zh-CN" altLang="en-US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C114A14E-5EAB-4978-99DA-451F7F5EE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9208" y="2945131"/>
            <a:ext cx="2486549" cy="2545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思想气泡: 云 3">
            <a:extLst>
              <a:ext uri="{FF2B5EF4-FFF2-40B4-BE49-F238E27FC236}">
                <a16:creationId xmlns:a16="http://schemas.microsoft.com/office/drawing/2014/main" id="{AB8215BF-D6AA-4164-8064-58F948533228}"/>
              </a:ext>
            </a:extLst>
          </p:cNvPr>
          <p:cNvSpPr/>
          <p:nvPr/>
        </p:nvSpPr>
        <p:spPr>
          <a:xfrm>
            <a:off x="6096000" y="2018261"/>
            <a:ext cx="2181196" cy="1968289"/>
          </a:xfrm>
          <a:prstGeom prst="cloudCallout">
            <a:avLst>
              <a:gd name="adj1" fmla="val 46989"/>
              <a:gd name="adj2" fmla="val 37850"/>
            </a:avLst>
          </a:prstGeom>
          <a:ln w="25400">
            <a:solidFill>
              <a:schemeClr val="tx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用哪个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?</a:t>
            </a:r>
            <a:endParaRPr lang="zh-CN" altLang="en-US" dirty="0">
              <a:solidFill>
                <a:schemeClr val="tx1">
                  <a:lumMod val="7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4213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this </a:t>
            </a:r>
            <a:r>
              <a:rPr kumimoji="1" lang="zh-CN" altLang="en-US"/>
              <a:t>可以解决的问题</a:t>
            </a:r>
            <a:endParaRPr kumimoji="1" lang="zh-CN" altLang="en-US" dirty="0"/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9B3F50F5-958D-410D-88DE-B7D6008EE44B}"/>
              </a:ext>
            </a:extLst>
          </p:cNvPr>
          <p:cNvSpPr txBox="1"/>
          <p:nvPr/>
        </p:nvSpPr>
        <p:spPr>
          <a:xfrm>
            <a:off x="710880" y="1822587"/>
            <a:ext cx="5120754" cy="181588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Student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String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name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age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sayHello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String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name)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.println(name);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</a:t>
            </a:r>
            <a:endParaRPr lang="zh-CN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0AC404DE-869E-4F03-8F8A-24A552F16B0A}"/>
              </a:ext>
            </a:extLst>
          </p:cNvPr>
          <p:cNvSpPr txBox="1"/>
          <p:nvPr/>
        </p:nvSpPr>
        <p:spPr>
          <a:xfrm>
            <a:off x="710880" y="3926560"/>
            <a:ext cx="3816350" cy="1349665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 stu =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stu.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name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zh-CN" sz="1400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stu.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age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stu.sayHello(</a:t>
            </a:r>
            <a:r>
              <a:rPr lang="zh-CN" altLang="zh-CN" sz="1400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"西域狂鸭"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endParaRPr lang="zh-CN" altLang="en-US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6929EF0-C7B3-495E-928C-66A1EDF33D0C}"/>
              </a:ext>
            </a:extLst>
          </p:cNvPr>
          <p:cNvSpPr txBox="1"/>
          <p:nvPr/>
        </p:nvSpPr>
        <p:spPr>
          <a:xfrm>
            <a:off x="6220409" y="1773265"/>
            <a:ext cx="4681537" cy="957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当局部变量和成员变量出现了重名的情况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Java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使用的是 </a:t>
            </a:r>
            <a:r>
              <a:rPr lang="zh-CN" altLang="en-US" sz="2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就近原则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3BFE4BC-AB28-4E91-A70A-7AC35B3B2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434" y="3715822"/>
            <a:ext cx="2838450" cy="24384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F14DA11-6FA0-4752-A28D-9C6272D52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620" y="3638469"/>
            <a:ext cx="3463496" cy="137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12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this </a:t>
            </a:r>
            <a:r>
              <a:rPr kumimoji="1" lang="zh-CN" altLang="en-US" dirty="0"/>
              <a:t>可以解决的问题</a:t>
            </a: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9B3F50F5-958D-410D-88DE-B7D6008EE44B}"/>
              </a:ext>
            </a:extLst>
          </p:cNvPr>
          <p:cNvSpPr txBox="1"/>
          <p:nvPr/>
        </p:nvSpPr>
        <p:spPr>
          <a:xfrm>
            <a:off x="710880" y="1822587"/>
            <a:ext cx="5120754" cy="181588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Student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String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name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age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public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sayHello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String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name)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.println(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name);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</a:t>
            </a:r>
            <a:endParaRPr lang="zh-CN" altLang="zh-CN" sz="24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0AC404DE-869E-4F03-8F8A-24A552F16B0A}"/>
              </a:ext>
            </a:extLst>
          </p:cNvPr>
          <p:cNvSpPr txBox="1"/>
          <p:nvPr/>
        </p:nvSpPr>
        <p:spPr>
          <a:xfrm>
            <a:off x="710880" y="3926560"/>
            <a:ext cx="3816350" cy="1349665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 stu =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stu.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name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zh-CN" sz="1400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stu.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age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stu.sayHello(</a:t>
            </a:r>
            <a:r>
              <a:rPr lang="zh-CN" altLang="zh-CN" sz="1400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"西域狂鸭"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endParaRPr lang="zh-CN" altLang="en-US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10983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AD2B26"/>
                </a:solidFill>
              </a:rPr>
              <a:t>this </a:t>
            </a:r>
            <a:r>
              <a:rPr kumimoji="1" lang="zh-CN" altLang="en-US" dirty="0">
                <a:solidFill>
                  <a:srgbClr val="AD2B26"/>
                </a:solidFill>
              </a:rPr>
              <a:t>介绍</a:t>
            </a:r>
            <a:r>
              <a:rPr kumimoji="1" lang="en-US" altLang="zh-CN" dirty="0">
                <a:solidFill>
                  <a:srgbClr val="AD2B26"/>
                </a:solidFill>
              </a:rPr>
              <a:t> </a:t>
            </a:r>
            <a:endParaRPr kumimoji="1" lang="zh-CN" altLang="en-US" dirty="0">
              <a:solidFill>
                <a:srgbClr val="AD2B26"/>
              </a:solidFill>
            </a:endParaRP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59F2C1C-E39C-4763-8825-8A879D1FDBD8}"/>
              </a:ext>
            </a:extLst>
          </p:cNvPr>
          <p:cNvSpPr txBox="1"/>
          <p:nvPr/>
        </p:nvSpPr>
        <p:spPr>
          <a:xfrm>
            <a:off x="576626" y="1179170"/>
            <a:ext cx="4701928" cy="5093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0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 </a:t>
            </a:r>
            <a:r>
              <a:rPr lang="zh-CN" altLang="en-US" sz="20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代表当前类对象的引用（地址）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6472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this </a:t>
            </a:r>
            <a:r>
              <a:rPr kumimoji="1" lang="zh-CN" altLang="en-US" dirty="0"/>
              <a:t>内存图</a:t>
            </a: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BB7FC3F-CBD8-41F0-A487-AEEDFA2C04B9}"/>
              </a:ext>
            </a:extLst>
          </p:cNvPr>
          <p:cNvGrpSpPr>
            <a:grpSpLocks/>
          </p:cNvGrpSpPr>
          <p:nvPr/>
        </p:nvGrpSpPr>
        <p:grpSpPr bwMode="auto">
          <a:xfrm>
            <a:off x="8754534" y="1807633"/>
            <a:ext cx="3198284" cy="4790018"/>
            <a:chOff x="6565874" y="1354975"/>
            <a:chExt cx="2398614" cy="3593587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BDF5277-E4A6-4C35-A395-CA226DFAD4AA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3587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5" name="TextBox 2">
              <a:extLst>
                <a:ext uri="{FF2B5EF4-FFF2-40B4-BE49-F238E27FC236}">
                  <a16:creationId xmlns:a16="http://schemas.microsoft.com/office/drawing/2014/main" id="{088246B0-5E91-478C-A5E6-FF13C607D2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6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16A970E-6670-4D56-85FB-C69D84A7804A}"/>
              </a:ext>
            </a:extLst>
          </p:cNvPr>
          <p:cNvGrpSpPr>
            <a:grpSpLocks/>
          </p:cNvGrpSpPr>
          <p:nvPr/>
        </p:nvGrpSpPr>
        <p:grpSpPr bwMode="auto">
          <a:xfrm>
            <a:off x="5941484" y="1797051"/>
            <a:ext cx="2360083" cy="4800600"/>
            <a:chOff x="4441895" y="1347668"/>
            <a:chExt cx="1771200" cy="3600344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5A7E6BE-2F22-44ED-9B9F-06E8029090AA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169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8" name="TextBox 2">
              <a:extLst>
                <a:ext uri="{FF2B5EF4-FFF2-40B4-BE49-F238E27FC236}">
                  <a16:creationId xmlns:a16="http://schemas.microsoft.com/office/drawing/2014/main" id="{25805F13-86A3-4C1A-99CD-C9A23CAE0A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57B5392B-8A93-4036-9790-CE59694EB7C5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2A3BB920-2996-4146-9331-2AFF190AA457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D23C269C-2A67-47FD-A043-997579A427FB}"/>
                </a:ext>
              </a:extLst>
            </p:cNvPr>
            <p:cNvCxnSpPr/>
            <p:nvPr/>
          </p:nvCxnSpPr>
          <p:spPr>
            <a:xfrm flipH="1">
              <a:off x="4441895" y="4944837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">
            <a:extLst>
              <a:ext uri="{FF2B5EF4-FFF2-40B4-BE49-F238E27FC236}">
                <a16:creationId xmlns:a16="http://schemas.microsoft.com/office/drawing/2014/main" id="{6EBD5471-77AA-4510-86E7-DDC2F9ADFF61}"/>
              </a:ext>
            </a:extLst>
          </p:cNvPr>
          <p:cNvSpPr txBox="1"/>
          <p:nvPr/>
        </p:nvSpPr>
        <p:spPr>
          <a:xfrm>
            <a:off x="425451" y="2341034"/>
            <a:ext cx="4620683" cy="1384995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static void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main(String[] args)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Student stu =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stu.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stu.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stu.sayHello(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"西域狂鸭"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TextBox 3">
            <a:extLst>
              <a:ext uri="{FF2B5EF4-FFF2-40B4-BE49-F238E27FC236}">
                <a16:creationId xmlns:a16="http://schemas.microsoft.com/office/drawing/2014/main" id="{C26E3C4A-6DF6-4E8F-ACE6-A64C21C4AA52}"/>
              </a:ext>
            </a:extLst>
          </p:cNvPr>
          <p:cNvSpPr txBox="1"/>
          <p:nvPr/>
        </p:nvSpPr>
        <p:spPr>
          <a:xfrm>
            <a:off x="6017684" y="5683252"/>
            <a:ext cx="2209800" cy="30777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  <a:endParaRPr lang="en-US" altLang="zh-CN" sz="1400" b="1" kern="0" dirty="0">
              <a:solidFill>
                <a:srgbClr val="00008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TextBox 3">
            <a:extLst>
              <a:ext uri="{FF2B5EF4-FFF2-40B4-BE49-F238E27FC236}">
                <a16:creationId xmlns:a16="http://schemas.microsoft.com/office/drawing/2014/main" id="{CA095AB6-17BB-47B0-8496-1A2CC983C6C5}"/>
              </a:ext>
            </a:extLst>
          </p:cNvPr>
          <p:cNvSpPr txBox="1"/>
          <p:nvPr/>
        </p:nvSpPr>
        <p:spPr>
          <a:xfrm>
            <a:off x="6017684" y="1411818"/>
            <a:ext cx="2209800" cy="30777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  <a:endParaRPr lang="en-US" altLang="zh-CN" sz="1400" b="1" kern="0" dirty="0">
              <a:solidFill>
                <a:srgbClr val="00008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ACE9A50-D6C3-4C2F-9059-660E4FB31CDB}"/>
              </a:ext>
            </a:extLst>
          </p:cNvPr>
          <p:cNvSpPr/>
          <p:nvPr/>
        </p:nvSpPr>
        <p:spPr>
          <a:xfrm>
            <a:off x="431801" y="2402418"/>
            <a:ext cx="4620684" cy="213783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5A5EF66-A21C-427C-A681-45CD00DBAFFA}"/>
              </a:ext>
            </a:extLst>
          </p:cNvPr>
          <p:cNvSpPr/>
          <p:nvPr/>
        </p:nvSpPr>
        <p:spPr>
          <a:xfrm>
            <a:off x="431801" y="2620433"/>
            <a:ext cx="4620684" cy="213784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2C00A21-1561-4947-BDAC-D9B4F9584725}"/>
              </a:ext>
            </a:extLst>
          </p:cNvPr>
          <p:cNvSpPr/>
          <p:nvPr/>
        </p:nvSpPr>
        <p:spPr>
          <a:xfrm>
            <a:off x="9647768" y="2093385"/>
            <a:ext cx="1919817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7A96B0FD-B427-45D4-AD73-652AFFB7D1EC}"/>
              </a:ext>
            </a:extLst>
          </p:cNvPr>
          <p:cNvGrpSpPr>
            <a:grpSpLocks/>
          </p:cNvGrpSpPr>
          <p:nvPr/>
        </p:nvGrpSpPr>
        <p:grpSpPr bwMode="auto">
          <a:xfrm>
            <a:off x="9647768" y="2442634"/>
            <a:ext cx="1919817" cy="698500"/>
            <a:chOff x="7236296" y="1832618"/>
            <a:chExt cx="1440160" cy="523108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7B6800E7-80CC-43B3-A486-5E7100083C23}"/>
                </a:ext>
              </a:extLst>
            </p:cNvPr>
            <p:cNvSpPr/>
            <p:nvPr/>
          </p:nvSpPr>
          <p:spPr>
            <a:xfrm>
              <a:off x="7236296" y="1832618"/>
              <a:ext cx="576382" cy="26155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400" dirty="0"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name</a:t>
              </a: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7F77796F-C78D-43AD-B257-18FBA22E1416}"/>
                </a:ext>
              </a:extLst>
            </p:cNvPr>
            <p:cNvSpPr/>
            <p:nvPr/>
          </p:nvSpPr>
          <p:spPr>
            <a:xfrm>
              <a:off x="7236296" y="2094172"/>
              <a:ext cx="576382" cy="26155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400" dirty="0"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age</a:t>
              </a: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EC9ACB8D-5DB8-4732-A2B4-E511F53906CD}"/>
                </a:ext>
              </a:extLst>
            </p:cNvPr>
            <p:cNvSpPr/>
            <p:nvPr/>
          </p:nvSpPr>
          <p:spPr>
            <a:xfrm>
              <a:off x="7812678" y="1832618"/>
              <a:ext cx="863778" cy="26155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400" dirty="0"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null</a:t>
              </a: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72B1E56F-8E38-46E3-9288-6B30061B7E21}"/>
                </a:ext>
              </a:extLst>
            </p:cNvPr>
            <p:cNvSpPr/>
            <p:nvPr/>
          </p:nvSpPr>
          <p:spPr>
            <a:xfrm>
              <a:off x="7812678" y="2094172"/>
              <a:ext cx="863778" cy="26155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1400" dirty="0"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</a:t>
              </a:r>
            </a:p>
          </p:txBody>
        </p:sp>
      </p:grpSp>
      <p:sp>
        <p:nvSpPr>
          <p:cNvPr id="43" name="TextBox 4">
            <a:extLst>
              <a:ext uri="{FF2B5EF4-FFF2-40B4-BE49-F238E27FC236}">
                <a16:creationId xmlns:a16="http://schemas.microsoft.com/office/drawing/2014/main" id="{D10592F9-C225-4940-BB6A-C23FC52CF5F9}"/>
              </a:ext>
            </a:extLst>
          </p:cNvPr>
          <p:cNvSpPr txBox="1"/>
          <p:nvPr/>
        </p:nvSpPr>
        <p:spPr>
          <a:xfrm>
            <a:off x="8858251" y="2042584"/>
            <a:ext cx="967316" cy="3852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88AE9DF5-C0B6-4E0F-AC0B-CD871CFCF94F}"/>
              </a:ext>
            </a:extLst>
          </p:cNvPr>
          <p:cNvGrpSpPr>
            <a:grpSpLocks/>
          </p:cNvGrpSpPr>
          <p:nvPr/>
        </p:nvGrpSpPr>
        <p:grpSpPr bwMode="auto">
          <a:xfrm>
            <a:off x="6017685" y="5467349"/>
            <a:ext cx="2285999" cy="539819"/>
            <a:chOff x="4512649" y="4100468"/>
            <a:chExt cx="1715033" cy="404953"/>
          </a:xfrm>
          <a:solidFill>
            <a:srgbClr val="FFFFE4"/>
          </a:solidFill>
        </p:grpSpPr>
        <p:sp>
          <p:nvSpPr>
            <p:cNvPr id="45" name="TextBox 3">
              <a:extLst>
                <a:ext uri="{FF2B5EF4-FFF2-40B4-BE49-F238E27FC236}">
                  <a16:creationId xmlns:a16="http://schemas.microsoft.com/office/drawing/2014/main" id="{FD240339-1FF6-4DD3-BB8F-05C401B6C09A}"/>
                </a:ext>
              </a:extLst>
            </p:cNvPr>
            <p:cNvSpPr txBox="1"/>
            <p:nvPr/>
          </p:nvSpPr>
          <p:spPr>
            <a:xfrm>
              <a:off x="4512649" y="4100468"/>
              <a:ext cx="1657866" cy="39250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zh-CN" altLang="en-US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方法：</a:t>
              </a: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main()</a:t>
              </a: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Student </a:t>
              </a:r>
              <a:r>
                <a:rPr lang="en-US" altLang="zh-CN" sz="14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stu</a:t>
              </a:r>
              <a:endParaRPr lang="en-US" altLang="zh-CN" sz="1400" kern="0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46" name="TextBox 4">
              <a:extLst>
                <a:ext uri="{FF2B5EF4-FFF2-40B4-BE49-F238E27FC236}">
                  <a16:creationId xmlns:a16="http://schemas.microsoft.com/office/drawing/2014/main" id="{DBADEB52-B3DE-42BA-8B17-C89A45B2AD11}"/>
                </a:ext>
              </a:extLst>
            </p:cNvPr>
            <p:cNvSpPr txBox="1"/>
            <p:nvPr/>
          </p:nvSpPr>
          <p:spPr>
            <a:xfrm>
              <a:off x="5501968" y="4216383"/>
              <a:ext cx="725714" cy="2890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400" b="1" dirty="0">
                  <a:solidFill>
                    <a:srgbClr val="7030A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0011</a:t>
              </a:r>
              <a:endParaRPr lang="zh-CN" altLang="en-US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47" name="TextBox 3">
            <a:extLst>
              <a:ext uri="{FF2B5EF4-FFF2-40B4-BE49-F238E27FC236}">
                <a16:creationId xmlns:a16="http://schemas.microsoft.com/office/drawing/2014/main" id="{40E0F72C-E4B1-481B-940F-AB7EE8B52779}"/>
              </a:ext>
            </a:extLst>
          </p:cNvPr>
          <p:cNvSpPr txBox="1"/>
          <p:nvPr/>
        </p:nvSpPr>
        <p:spPr>
          <a:xfrm>
            <a:off x="1049867" y="3598334"/>
            <a:ext cx="4620684" cy="181588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String 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 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void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sayHello(String name){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sout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"局部变量:"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name);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sout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"成员变量:"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3A5C636-C9C1-4BD2-8C62-4B0D7E6348F9}"/>
              </a:ext>
            </a:extLst>
          </p:cNvPr>
          <p:cNvSpPr/>
          <p:nvPr/>
        </p:nvSpPr>
        <p:spPr>
          <a:xfrm>
            <a:off x="9647767" y="2442633"/>
            <a:ext cx="768351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59A6B64-A633-4D4A-887C-422218F16478}"/>
              </a:ext>
            </a:extLst>
          </p:cNvPr>
          <p:cNvSpPr/>
          <p:nvPr/>
        </p:nvSpPr>
        <p:spPr>
          <a:xfrm>
            <a:off x="10416117" y="2442633"/>
            <a:ext cx="1151467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50" name="肘形连接符 5">
            <a:extLst>
              <a:ext uri="{FF2B5EF4-FFF2-40B4-BE49-F238E27FC236}">
                <a16:creationId xmlns:a16="http://schemas.microsoft.com/office/drawing/2014/main" id="{601C9650-903D-447E-82A5-B02255ECDE23}"/>
              </a:ext>
            </a:extLst>
          </p:cNvPr>
          <p:cNvCxnSpPr>
            <a:stCxn id="43" idx="2"/>
            <a:endCxn id="49" idx="1"/>
          </p:cNvCxnSpPr>
          <p:nvPr/>
        </p:nvCxnSpPr>
        <p:spPr>
          <a:xfrm rot="16200000" flipH="1">
            <a:off x="9784325" y="1985466"/>
            <a:ext cx="189377" cy="1074208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850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44444E-6 L -1.38889E-6 0.62284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11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1.23457E-6 L 4.72222E-6 0.05092 " pathEditMode="relative" rAng="0" ptsTypes="AA">
                                      <p:cBhvr>
                                        <p:cTn id="65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5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3" grpId="1" animBg="1"/>
      <p:bldP spid="34" grpId="0" animBg="1"/>
      <p:bldP spid="34" grpId="1" animBg="1"/>
      <p:bldP spid="34" grpId="2" animBg="1"/>
      <p:bldP spid="35" grpId="0" animBg="1"/>
      <p:bldP spid="35" grpId="1" animBg="1"/>
      <p:bldP spid="36" grpId="0" animBg="1"/>
      <p:bldP spid="37" grpId="0" animBg="1"/>
      <p:bldP spid="43" grpId="0"/>
      <p:bldP spid="47" grpId="0" animBg="1"/>
      <p:bldP spid="47" grpId="1" animBg="1"/>
      <p:bldP spid="48" grpId="0" animBg="1"/>
      <p:bldP spid="4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 this </a:t>
            </a:r>
            <a:r>
              <a:rPr kumimoji="1" lang="zh-CN" altLang="en-US"/>
              <a:t>内存图</a:t>
            </a:r>
            <a:endParaRPr kumimoji="1" lang="zh-CN" altLang="en-US" dirty="0"/>
          </a:p>
        </p:txBody>
      </p:sp>
      <p:grpSp>
        <p:nvGrpSpPr>
          <p:cNvPr id="51" name="组合 8">
            <a:extLst>
              <a:ext uri="{FF2B5EF4-FFF2-40B4-BE49-F238E27FC236}">
                <a16:creationId xmlns:a16="http://schemas.microsoft.com/office/drawing/2014/main" id="{E4BA4772-BF04-42DA-9138-9CDCDFFB3D81}"/>
              </a:ext>
            </a:extLst>
          </p:cNvPr>
          <p:cNvGrpSpPr>
            <a:grpSpLocks/>
          </p:cNvGrpSpPr>
          <p:nvPr/>
        </p:nvGrpSpPr>
        <p:grpSpPr bwMode="auto">
          <a:xfrm>
            <a:off x="8754534" y="1807633"/>
            <a:ext cx="3198284" cy="4790018"/>
            <a:chOff x="6565874" y="1354975"/>
            <a:chExt cx="2398614" cy="3593587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5B4CB37D-ACAB-44FE-BD89-5C22B380C9A3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3587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3" name="TextBox 2">
              <a:extLst>
                <a:ext uri="{FF2B5EF4-FFF2-40B4-BE49-F238E27FC236}">
                  <a16:creationId xmlns:a16="http://schemas.microsoft.com/office/drawing/2014/main" id="{311A481F-5C70-4F72-B75F-9CC011418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6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54" name="组合 11">
            <a:extLst>
              <a:ext uri="{FF2B5EF4-FFF2-40B4-BE49-F238E27FC236}">
                <a16:creationId xmlns:a16="http://schemas.microsoft.com/office/drawing/2014/main" id="{452B50F4-AF40-4CBF-84D6-95051081D669}"/>
              </a:ext>
            </a:extLst>
          </p:cNvPr>
          <p:cNvGrpSpPr>
            <a:grpSpLocks/>
          </p:cNvGrpSpPr>
          <p:nvPr/>
        </p:nvGrpSpPr>
        <p:grpSpPr bwMode="auto">
          <a:xfrm>
            <a:off x="5941484" y="1797051"/>
            <a:ext cx="2360083" cy="4800600"/>
            <a:chOff x="4441895" y="1347668"/>
            <a:chExt cx="1771200" cy="3600344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511001A7-A0BE-405E-8BAE-96B7D42D28C1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169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6" name="TextBox 2">
              <a:extLst>
                <a:ext uri="{FF2B5EF4-FFF2-40B4-BE49-F238E27FC236}">
                  <a16:creationId xmlns:a16="http://schemas.microsoft.com/office/drawing/2014/main" id="{25FE632A-0449-40DE-B102-A08ED6AAD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08CDA056-E956-4C5A-99CC-BAEBC6ABC01D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420AAC7-41A7-4BA3-9FD4-C1688B275515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B0AF82AD-15F0-4CF1-95C2-846E861FBC9A}"/>
                </a:ext>
              </a:extLst>
            </p:cNvPr>
            <p:cNvCxnSpPr/>
            <p:nvPr/>
          </p:nvCxnSpPr>
          <p:spPr>
            <a:xfrm flipH="1">
              <a:off x="4441895" y="4944837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3">
            <a:extLst>
              <a:ext uri="{FF2B5EF4-FFF2-40B4-BE49-F238E27FC236}">
                <a16:creationId xmlns:a16="http://schemas.microsoft.com/office/drawing/2014/main" id="{819FE4ED-D5ED-4CE0-B4D0-FFB066249CAA}"/>
              </a:ext>
            </a:extLst>
          </p:cNvPr>
          <p:cNvSpPr txBox="1"/>
          <p:nvPr/>
        </p:nvSpPr>
        <p:spPr>
          <a:xfrm>
            <a:off x="425451" y="2341034"/>
            <a:ext cx="4620683" cy="1384995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static void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main(String[] args)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Student stu =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stu.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stu.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stu.sayHello(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"西域狂鸭"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EF0847C-508F-4250-A171-88469BF8A0C9}"/>
              </a:ext>
            </a:extLst>
          </p:cNvPr>
          <p:cNvSpPr/>
          <p:nvPr/>
        </p:nvSpPr>
        <p:spPr>
          <a:xfrm>
            <a:off x="9647768" y="2093385"/>
            <a:ext cx="1919817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FFB46D3-4B2C-4AEF-8285-C23C69BFD4CF}"/>
              </a:ext>
            </a:extLst>
          </p:cNvPr>
          <p:cNvSpPr/>
          <p:nvPr/>
        </p:nvSpPr>
        <p:spPr>
          <a:xfrm>
            <a:off x="9647767" y="2791885"/>
            <a:ext cx="768351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6BC4195-D5D3-4A35-94B9-8AECF9DB747A}"/>
              </a:ext>
            </a:extLst>
          </p:cNvPr>
          <p:cNvSpPr/>
          <p:nvPr/>
        </p:nvSpPr>
        <p:spPr>
          <a:xfrm>
            <a:off x="9647767" y="3141134"/>
            <a:ext cx="768351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</a:p>
        </p:txBody>
      </p:sp>
      <p:sp>
        <p:nvSpPr>
          <p:cNvPr id="64" name="TextBox 4">
            <a:extLst>
              <a:ext uri="{FF2B5EF4-FFF2-40B4-BE49-F238E27FC236}">
                <a16:creationId xmlns:a16="http://schemas.microsoft.com/office/drawing/2014/main" id="{2AED19FC-3823-493C-9040-A0C53F0C3B18}"/>
              </a:ext>
            </a:extLst>
          </p:cNvPr>
          <p:cNvSpPr txBox="1"/>
          <p:nvPr/>
        </p:nvSpPr>
        <p:spPr>
          <a:xfrm>
            <a:off x="8858251" y="2042584"/>
            <a:ext cx="967316" cy="3852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0C51748-4B83-4164-8F48-14455E1FBE40}"/>
              </a:ext>
            </a:extLst>
          </p:cNvPr>
          <p:cNvSpPr/>
          <p:nvPr/>
        </p:nvSpPr>
        <p:spPr>
          <a:xfrm>
            <a:off x="406401" y="2815168"/>
            <a:ext cx="4620684" cy="436033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4DD9EA1-2703-4EC1-BF9A-E3F1F61618B4}"/>
              </a:ext>
            </a:extLst>
          </p:cNvPr>
          <p:cNvSpPr/>
          <p:nvPr/>
        </p:nvSpPr>
        <p:spPr>
          <a:xfrm>
            <a:off x="10416117" y="2791885"/>
            <a:ext cx="1151467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894EDC5-5A92-4256-B17F-3DE112810240}"/>
              </a:ext>
            </a:extLst>
          </p:cNvPr>
          <p:cNvSpPr/>
          <p:nvPr/>
        </p:nvSpPr>
        <p:spPr>
          <a:xfrm>
            <a:off x="10416117" y="3141134"/>
            <a:ext cx="1151467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59AC54A-62A7-4383-9124-366E39119AFE}"/>
              </a:ext>
            </a:extLst>
          </p:cNvPr>
          <p:cNvSpPr/>
          <p:nvPr/>
        </p:nvSpPr>
        <p:spPr>
          <a:xfrm>
            <a:off x="9647767" y="2442633"/>
            <a:ext cx="768351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9CE5336-BAB6-4FAF-8D98-56878E9209B9}"/>
              </a:ext>
            </a:extLst>
          </p:cNvPr>
          <p:cNvSpPr/>
          <p:nvPr/>
        </p:nvSpPr>
        <p:spPr>
          <a:xfrm>
            <a:off x="10416117" y="2442633"/>
            <a:ext cx="1151467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70" name="组合 43">
            <a:extLst>
              <a:ext uri="{FF2B5EF4-FFF2-40B4-BE49-F238E27FC236}">
                <a16:creationId xmlns:a16="http://schemas.microsoft.com/office/drawing/2014/main" id="{0C8DED6D-4867-4B44-914C-83D0CBAAE324}"/>
              </a:ext>
            </a:extLst>
          </p:cNvPr>
          <p:cNvGrpSpPr>
            <a:grpSpLocks/>
          </p:cNvGrpSpPr>
          <p:nvPr/>
        </p:nvGrpSpPr>
        <p:grpSpPr bwMode="auto">
          <a:xfrm>
            <a:off x="6017684" y="5467353"/>
            <a:ext cx="2286000" cy="539814"/>
            <a:chOff x="4512649" y="4100468"/>
            <a:chExt cx="1715034" cy="404949"/>
          </a:xfrm>
          <a:solidFill>
            <a:srgbClr val="FFFFE4"/>
          </a:solidFill>
        </p:grpSpPr>
        <p:sp>
          <p:nvSpPr>
            <p:cNvPr id="71" name="TextBox 3">
              <a:extLst>
                <a:ext uri="{FF2B5EF4-FFF2-40B4-BE49-F238E27FC236}">
                  <a16:creationId xmlns:a16="http://schemas.microsoft.com/office/drawing/2014/main" id="{4C630468-0EAA-4DF1-8BD1-3CB5C68D0706}"/>
                </a:ext>
              </a:extLst>
            </p:cNvPr>
            <p:cNvSpPr txBox="1"/>
            <p:nvPr/>
          </p:nvSpPr>
          <p:spPr>
            <a:xfrm>
              <a:off x="4512649" y="4100468"/>
              <a:ext cx="1657866" cy="39250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zh-CN" altLang="en-US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方法：</a:t>
              </a: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main()</a:t>
              </a: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Student </a:t>
              </a:r>
              <a:r>
                <a:rPr lang="en-US" altLang="zh-CN" sz="14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stu</a:t>
              </a:r>
              <a:endParaRPr lang="en-US" altLang="zh-CN" sz="1400" kern="0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72" name="TextBox 4">
              <a:extLst>
                <a:ext uri="{FF2B5EF4-FFF2-40B4-BE49-F238E27FC236}">
                  <a16:creationId xmlns:a16="http://schemas.microsoft.com/office/drawing/2014/main" id="{36803388-8843-4565-A356-13028FDFAEDD}"/>
                </a:ext>
              </a:extLst>
            </p:cNvPr>
            <p:cNvSpPr txBox="1"/>
            <p:nvPr/>
          </p:nvSpPr>
          <p:spPr>
            <a:xfrm>
              <a:off x="5501969" y="4216380"/>
              <a:ext cx="725714" cy="28903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400" b="1" dirty="0">
                  <a:solidFill>
                    <a:srgbClr val="7030A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0011</a:t>
              </a:r>
              <a:endParaRPr lang="zh-CN" altLang="en-US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5945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 this </a:t>
            </a:r>
            <a:r>
              <a:rPr kumimoji="1" lang="zh-CN" altLang="en-US"/>
              <a:t>内存图</a:t>
            </a:r>
            <a:endParaRPr kumimoji="1" lang="zh-CN" altLang="en-US" dirty="0"/>
          </a:p>
        </p:txBody>
      </p:sp>
      <p:grpSp>
        <p:nvGrpSpPr>
          <p:cNvPr id="26" name="组合 8">
            <a:extLst>
              <a:ext uri="{FF2B5EF4-FFF2-40B4-BE49-F238E27FC236}">
                <a16:creationId xmlns:a16="http://schemas.microsoft.com/office/drawing/2014/main" id="{D460E492-2FA7-4A72-893C-E82FED8D3BD8}"/>
              </a:ext>
            </a:extLst>
          </p:cNvPr>
          <p:cNvGrpSpPr>
            <a:grpSpLocks/>
          </p:cNvGrpSpPr>
          <p:nvPr/>
        </p:nvGrpSpPr>
        <p:grpSpPr bwMode="auto">
          <a:xfrm>
            <a:off x="8754534" y="1807633"/>
            <a:ext cx="3198284" cy="4790018"/>
            <a:chOff x="6565874" y="1354975"/>
            <a:chExt cx="2398614" cy="3593587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53C4FCF-1133-4201-BBE3-BC55BA65C4B5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3587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8" name="TextBox 2">
              <a:extLst>
                <a:ext uri="{FF2B5EF4-FFF2-40B4-BE49-F238E27FC236}">
                  <a16:creationId xmlns:a16="http://schemas.microsoft.com/office/drawing/2014/main" id="{2D82D91C-27C0-4D08-B607-4CDE34E758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6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9" name="组合 11">
            <a:extLst>
              <a:ext uri="{FF2B5EF4-FFF2-40B4-BE49-F238E27FC236}">
                <a16:creationId xmlns:a16="http://schemas.microsoft.com/office/drawing/2014/main" id="{063FFF0F-2505-4723-9695-753BE833223C}"/>
              </a:ext>
            </a:extLst>
          </p:cNvPr>
          <p:cNvGrpSpPr>
            <a:grpSpLocks/>
          </p:cNvGrpSpPr>
          <p:nvPr/>
        </p:nvGrpSpPr>
        <p:grpSpPr bwMode="auto">
          <a:xfrm>
            <a:off x="5941484" y="1797051"/>
            <a:ext cx="2360083" cy="4800600"/>
            <a:chOff x="4441895" y="1347668"/>
            <a:chExt cx="1771200" cy="3600344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7A0E6AFB-0DEC-4E60-B30D-631A9CAAD68D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169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1" name="TextBox 2">
              <a:extLst>
                <a:ext uri="{FF2B5EF4-FFF2-40B4-BE49-F238E27FC236}">
                  <a16:creationId xmlns:a16="http://schemas.microsoft.com/office/drawing/2014/main" id="{7F4998CC-903F-47D3-9A7C-3D09A9A63B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6B32C5D2-6915-4E42-9760-3AEF0C495EAC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4021B769-4721-4661-89BD-8FE57802823B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5E73D4CF-1151-4F61-9A93-0E36F968917E}"/>
                </a:ext>
              </a:extLst>
            </p:cNvPr>
            <p:cNvCxnSpPr/>
            <p:nvPr/>
          </p:nvCxnSpPr>
          <p:spPr>
            <a:xfrm flipH="1">
              <a:off x="4441895" y="4944837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">
            <a:extLst>
              <a:ext uri="{FF2B5EF4-FFF2-40B4-BE49-F238E27FC236}">
                <a16:creationId xmlns:a16="http://schemas.microsoft.com/office/drawing/2014/main" id="{35C30D49-DD76-48E7-9E8E-A122440C7655}"/>
              </a:ext>
            </a:extLst>
          </p:cNvPr>
          <p:cNvSpPr txBox="1"/>
          <p:nvPr/>
        </p:nvSpPr>
        <p:spPr>
          <a:xfrm>
            <a:off x="425451" y="2341034"/>
            <a:ext cx="4620683" cy="1384995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static void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main(String[] args)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Student stu =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stu.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stu.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stu.sayHello(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"西域狂鸭"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357D870-2081-4A0F-9F9F-C1DF4F22E189}"/>
              </a:ext>
            </a:extLst>
          </p:cNvPr>
          <p:cNvSpPr/>
          <p:nvPr/>
        </p:nvSpPr>
        <p:spPr>
          <a:xfrm>
            <a:off x="431801" y="3253318"/>
            <a:ext cx="4620684" cy="213783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37" name="组合 29">
            <a:extLst>
              <a:ext uri="{FF2B5EF4-FFF2-40B4-BE49-F238E27FC236}">
                <a16:creationId xmlns:a16="http://schemas.microsoft.com/office/drawing/2014/main" id="{175ED17A-5667-4A3D-BCCB-CDAFE519E59E}"/>
              </a:ext>
            </a:extLst>
          </p:cNvPr>
          <p:cNvGrpSpPr>
            <a:grpSpLocks/>
          </p:cNvGrpSpPr>
          <p:nvPr/>
        </p:nvGrpSpPr>
        <p:grpSpPr bwMode="auto">
          <a:xfrm>
            <a:off x="6017684" y="5467353"/>
            <a:ext cx="2286000" cy="539814"/>
            <a:chOff x="4512649" y="4100468"/>
            <a:chExt cx="1715034" cy="404949"/>
          </a:xfrm>
          <a:solidFill>
            <a:srgbClr val="FFFFE4"/>
          </a:solidFill>
        </p:grpSpPr>
        <p:sp>
          <p:nvSpPr>
            <p:cNvPr id="38" name="TextBox 3">
              <a:extLst>
                <a:ext uri="{FF2B5EF4-FFF2-40B4-BE49-F238E27FC236}">
                  <a16:creationId xmlns:a16="http://schemas.microsoft.com/office/drawing/2014/main" id="{1CEBC916-7504-4414-904F-38995DD9CAA4}"/>
                </a:ext>
              </a:extLst>
            </p:cNvPr>
            <p:cNvSpPr txBox="1"/>
            <p:nvPr/>
          </p:nvSpPr>
          <p:spPr>
            <a:xfrm>
              <a:off x="4512649" y="4100468"/>
              <a:ext cx="1657866" cy="39250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zh-CN" altLang="en-US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方法：</a:t>
              </a: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main()</a:t>
              </a: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Student </a:t>
              </a:r>
              <a:r>
                <a:rPr lang="en-US" altLang="zh-CN" sz="14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stu</a:t>
              </a:r>
              <a:endParaRPr lang="en-US" altLang="zh-CN" sz="1400" kern="0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9" name="TextBox 4">
              <a:extLst>
                <a:ext uri="{FF2B5EF4-FFF2-40B4-BE49-F238E27FC236}">
                  <a16:creationId xmlns:a16="http://schemas.microsoft.com/office/drawing/2014/main" id="{A4445ABF-019D-4EB2-AB1B-70EB721E5F18}"/>
                </a:ext>
              </a:extLst>
            </p:cNvPr>
            <p:cNvSpPr txBox="1"/>
            <p:nvPr/>
          </p:nvSpPr>
          <p:spPr>
            <a:xfrm>
              <a:off x="5501969" y="4216380"/>
              <a:ext cx="725714" cy="28903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400" b="1" dirty="0">
                  <a:solidFill>
                    <a:srgbClr val="7030A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0011</a:t>
              </a:r>
              <a:endParaRPr lang="zh-CN" altLang="en-US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40" name="TextBox 3">
            <a:extLst>
              <a:ext uri="{FF2B5EF4-FFF2-40B4-BE49-F238E27FC236}">
                <a16:creationId xmlns:a16="http://schemas.microsoft.com/office/drawing/2014/main" id="{D9C37213-40B3-4165-8C25-233968C85A95}"/>
              </a:ext>
            </a:extLst>
          </p:cNvPr>
          <p:cNvSpPr txBox="1"/>
          <p:nvPr/>
        </p:nvSpPr>
        <p:spPr>
          <a:xfrm>
            <a:off x="1049867" y="3598334"/>
            <a:ext cx="4620684" cy="181588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String 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 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void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sayHello(String name){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sout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"局部变量:"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name);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sout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"成员变量:"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382DBF2-73F9-4D86-8760-7CF0A8186E8B}"/>
              </a:ext>
            </a:extLst>
          </p:cNvPr>
          <p:cNvSpPr/>
          <p:nvPr/>
        </p:nvSpPr>
        <p:spPr>
          <a:xfrm>
            <a:off x="1032934" y="4307418"/>
            <a:ext cx="4620684" cy="213783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TextBox 3">
            <a:extLst>
              <a:ext uri="{FF2B5EF4-FFF2-40B4-BE49-F238E27FC236}">
                <a16:creationId xmlns:a16="http://schemas.microsoft.com/office/drawing/2014/main" id="{905B2D0C-1022-4DEA-9002-D04A860073E9}"/>
              </a:ext>
            </a:extLst>
          </p:cNvPr>
          <p:cNvSpPr txBox="1"/>
          <p:nvPr/>
        </p:nvSpPr>
        <p:spPr>
          <a:xfrm>
            <a:off x="6017684" y="1130300"/>
            <a:ext cx="2209800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sayHello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</a:t>
            </a:r>
            <a:endParaRPr lang="en-US" altLang="zh-CN" sz="1400" kern="0" dirty="0">
              <a:solidFill>
                <a:srgbClr val="00008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3" name="TextBox 3">
            <a:extLst>
              <a:ext uri="{FF2B5EF4-FFF2-40B4-BE49-F238E27FC236}">
                <a16:creationId xmlns:a16="http://schemas.microsoft.com/office/drawing/2014/main" id="{4C1EEAC9-AF88-45E6-9D79-F30D27C38931}"/>
              </a:ext>
            </a:extLst>
          </p:cNvPr>
          <p:cNvSpPr txBox="1"/>
          <p:nvPr/>
        </p:nvSpPr>
        <p:spPr>
          <a:xfrm>
            <a:off x="6017684" y="4836584"/>
            <a:ext cx="2209800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sayHello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</a:t>
            </a:r>
            <a:endParaRPr lang="en-US" altLang="zh-CN" sz="1400" kern="0" dirty="0">
              <a:solidFill>
                <a:srgbClr val="00008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44" name="肘形连接符 5">
            <a:extLst>
              <a:ext uri="{FF2B5EF4-FFF2-40B4-BE49-F238E27FC236}">
                <a16:creationId xmlns:a16="http://schemas.microsoft.com/office/drawing/2014/main" id="{7BADCF69-5255-4C7B-832B-CA11F87BA6C7}"/>
              </a:ext>
            </a:extLst>
          </p:cNvPr>
          <p:cNvCxnSpPr/>
          <p:nvPr/>
        </p:nvCxnSpPr>
        <p:spPr>
          <a:xfrm>
            <a:off x="3119967" y="3361267"/>
            <a:ext cx="4614333" cy="1754717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3BEC4CBA-84DC-4C5D-B93F-FEF9AEBF6093}"/>
              </a:ext>
            </a:extLst>
          </p:cNvPr>
          <p:cNvSpPr/>
          <p:nvPr/>
        </p:nvSpPr>
        <p:spPr>
          <a:xfrm>
            <a:off x="7154333" y="5054601"/>
            <a:ext cx="10887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"西域狂鸭"</a:t>
            </a:r>
            <a:endParaRPr lang="zh-CN" altLang="en-US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7A76230-0774-48BC-A287-86CD84B88CDA}"/>
              </a:ext>
            </a:extLst>
          </p:cNvPr>
          <p:cNvSpPr/>
          <p:nvPr/>
        </p:nvSpPr>
        <p:spPr>
          <a:xfrm>
            <a:off x="9647768" y="2093385"/>
            <a:ext cx="1919817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E6F35ED-1D94-415D-9B28-92B02A7F1DAB}"/>
              </a:ext>
            </a:extLst>
          </p:cNvPr>
          <p:cNvSpPr/>
          <p:nvPr/>
        </p:nvSpPr>
        <p:spPr>
          <a:xfrm>
            <a:off x="9647767" y="2791885"/>
            <a:ext cx="768351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C49DA3B-F34B-461A-9270-FEF10F08C49B}"/>
              </a:ext>
            </a:extLst>
          </p:cNvPr>
          <p:cNvSpPr/>
          <p:nvPr/>
        </p:nvSpPr>
        <p:spPr>
          <a:xfrm>
            <a:off x="9647767" y="3141134"/>
            <a:ext cx="768351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</a:p>
        </p:txBody>
      </p:sp>
      <p:sp>
        <p:nvSpPr>
          <p:cNvPr id="49" name="TextBox 4">
            <a:extLst>
              <a:ext uri="{FF2B5EF4-FFF2-40B4-BE49-F238E27FC236}">
                <a16:creationId xmlns:a16="http://schemas.microsoft.com/office/drawing/2014/main" id="{D912E5EB-E7E5-493B-8352-F0B2E15CA134}"/>
              </a:ext>
            </a:extLst>
          </p:cNvPr>
          <p:cNvSpPr txBox="1"/>
          <p:nvPr/>
        </p:nvSpPr>
        <p:spPr>
          <a:xfrm>
            <a:off x="8858251" y="2042584"/>
            <a:ext cx="967316" cy="3852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7B04069-31C5-40F0-9D5C-3971DCFD9AD0}"/>
              </a:ext>
            </a:extLst>
          </p:cNvPr>
          <p:cNvSpPr/>
          <p:nvPr/>
        </p:nvSpPr>
        <p:spPr>
          <a:xfrm>
            <a:off x="10416117" y="2791885"/>
            <a:ext cx="1151467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EE4C30E-839E-4E99-8FC6-89BB8FEA5903}"/>
              </a:ext>
            </a:extLst>
          </p:cNvPr>
          <p:cNvSpPr/>
          <p:nvPr/>
        </p:nvSpPr>
        <p:spPr>
          <a:xfrm>
            <a:off x="10416117" y="3141134"/>
            <a:ext cx="1151467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3796CB8E-D63B-43BB-8BE6-6CF125D82B0B}"/>
              </a:ext>
            </a:extLst>
          </p:cNvPr>
          <p:cNvSpPr/>
          <p:nvPr/>
        </p:nvSpPr>
        <p:spPr>
          <a:xfrm>
            <a:off x="9647767" y="2442633"/>
            <a:ext cx="768351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50C08B8-48EB-4FF2-A25D-F28541F5AFCF}"/>
              </a:ext>
            </a:extLst>
          </p:cNvPr>
          <p:cNvSpPr/>
          <p:nvPr/>
        </p:nvSpPr>
        <p:spPr>
          <a:xfrm>
            <a:off x="10416117" y="2442633"/>
            <a:ext cx="1151467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2195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2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3.08642E-6 L -1.38889E-6 0.53919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6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2" grpId="1" animBg="1"/>
      <p:bldP spid="42" grpId="2" animBg="1"/>
      <p:bldP spid="43" grpId="0" animBg="1"/>
      <p:bldP spid="4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 this </a:t>
            </a:r>
            <a:r>
              <a:rPr kumimoji="1" lang="zh-CN" altLang="en-US"/>
              <a:t>内存图</a:t>
            </a:r>
            <a:endParaRPr kumimoji="1" lang="zh-CN" altLang="en-US" dirty="0"/>
          </a:p>
        </p:txBody>
      </p:sp>
      <p:grpSp>
        <p:nvGrpSpPr>
          <p:cNvPr id="51" name="组合 8">
            <a:extLst>
              <a:ext uri="{FF2B5EF4-FFF2-40B4-BE49-F238E27FC236}">
                <a16:creationId xmlns:a16="http://schemas.microsoft.com/office/drawing/2014/main" id="{9CC2F71B-DACB-4BC4-A7E2-81CCA9A59482}"/>
              </a:ext>
            </a:extLst>
          </p:cNvPr>
          <p:cNvGrpSpPr>
            <a:grpSpLocks/>
          </p:cNvGrpSpPr>
          <p:nvPr/>
        </p:nvGrpSpPr>
        <p:grpSpPr bwMode="auto">
          <a:xfrm>
            <a:off x="8754534" y="1807633"/>
            <a:ext cx="3198284" cy="4790018"/>
            <a:chOff x="6565874" y="1354975"/>
            <a:chExt cx="2398614" cy="3593587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0A7576D5-D7E8-4E76-ACA9-195290A15AB9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3587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3" name="TextBox 2">
              <a:extLst>
                <a:ext uri="{FF2B5EF4-FFF2-40B4-BE49-F238E27FC236}">
                  <a16:creationId xmlns:a16="http://schemas.microsoft.com/office/drawing/2014/main" id="{D791FDEF-C1B1-4978-BB0F-E7FDB421C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6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54" name="组合 11">
            <a:extLst>
              <a:ext uri="{FF2B5EF4-FFF2-40B4-BE49-F238E27FC236}">
                <a16:creationId xmlns:a16="http://schemas.microsoft.com/office/drawing/2014/main" id="{80707B83-F861-490E-8552-434740BEABFB}"/>
              </a:ext>
            </a:extLst>
          </p:cNvPr>
          <p:cNvGrpSpPr>
            <a:grpSpLocks/>
          </p:cNvGrpSpPr>
          <p:nvPr/>
        </p:nvGrpSpPr>
        <p:grpSpPr bwMode="auto">
          <a:xfrm>
            <a:off x="5941484" y="1797051"/>
            <a:ext cx="2360083" cy="4808584"/>
            <a:chOff x="4441895" y="1347668"/>
            <a:chExt cx="1771200" cy="3606332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C2597F8D-5A8E-44FE-A2DF-256F50ABEB4B}"/>
                </a:ext>
              </a:extLst>
            </p:cNvPr>
            <p:cNvSpPr/>
            <p:nvPr/>
          </p:nvSpPr>
          <p:spPr bwMode="auto">
            <a:xfrm>
              <a:off x="4448249" y="1356831"/>
              <a:ext cx="1728310" cy="3597169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56" name="TextBox 2">
              <a:extLst>
                <a:ext uri="{FF2B5EF4-FFF2-40B4-BE49-F238E27FC236}">
                  <a16:creationId xmlns:a16="http://schemas.microsoft.com/office/drawing/2014/main" id="{F9F3501C-EFE9-4797-992F-B7ACE2D02A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8DA1662A-2700-406A-9F2B-A862FF2D55D2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61FAE7F6-C428-4610-A33C-B7AB8F5F1305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FF919E3-E7BA-4941-BB6C-AA96739BAFA3}"/>
                </a:ext>
              </a:extLst>
            </p:cNvPr>
            <p:cNvCxnSpPr/>
            <p:nvPr/>
          </p:nvCxnSpPr>
          <p:spPr>
            <a:xfrm flipH="1">
              <a:off x="4441895" y="4944837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3">
            <a:extLst>
              <a:ext uri="{FF2B5EF4-FFF2-40B4-BE49-F238E27FC236}">
                <a16:creationId xmlns:a16="http://schemas.microsoft.com/office/drawing/2014/main" id="{1F4B3824-4961-44C4-93E8-828D93A0964C}"/>
              </a:ext>
            </a:extLst>
          </p:cNvPr>
          <p:cNvSpPr txBox="1"/>
          <p:nvPr/>
        </p:nvSpPr>
        <p:spPr>
          <a:xfrm>
            <a:off x="425451" y="2341034"/>
            <a:ext cx="4620683" cy="1384995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static void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main(String[] args)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Student stu =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stu.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stu.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stu.sayHello(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"西域狂鸭"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9E1F29C-D03D-428A-A2CB-506E90EB6E91}"/>
              </a:ext>
            </a:extLst>
          </p:cNvPr>
          <p:cNvSpPr/>
          <p:nvPr/>
        </p:nvSpPr>
        <p:spPr>
          <a:xfrm>
            <a:off x="928353" y="3253318"/>
            <a:ext cx="287867" cy="213783"/>
          </a:xfrm>
          <a:prstGeom prst="rect">
            <a:avLst/>
          </a:prstGeom>
          <a:solidFill>
            <a:srgbClr val="FD0000">
              <a:alpha val="5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62" name="组合 29">
            <a:extLst>
              <a:ext uri="{FF2B5EF4-FFF2-40B4-BE49-F238E27FC236}">
                <a16:creationId xmlns:a16="http://schemas.microsoft.com/office/drawing/2014/main" id="{C2E072BE-68BF-4F0B-8B83-F3CC57511EC7}"/>
              </a:ext>
            </a:extLst>
          </p:cNvPr>
          <p:cNvGrpSpPr>
            <a:grpSpLocks/>
          </p:cNvGrpSpPr>
          <p:nvPr/>
        </p:nvGrpSpPr>
        <p:grpSpPr bwMode="auto">
          <a:xfrm>
            <a:off x="6017684" y="5467353"/>
            <a:ext cx="2286000" cy="539814"/>
            <a:chOff x="4512649" y="4100468"/>
            <a:chExt cx="1715034" cy="404949"/>
          </a:xfrm>
          <a:solidFill>
            <a:srgbClr val="FFFFE4"/>
          </a:solidFill>
        </p:grpSpPr>
        <p:sp>
          <p:nvSpPr>
            <p:cNvPr id="63" name="TextBox 3">
              <a:extLst>
                <a:ext uri="{FF2B5EF4-FFF2-40B4-BE49-F238E27FC236}">
                  <a16:creationId xmlns:a16="http://schemas.microsoft.com/office/drawing/2014/main" id="{C2D9BC88-C1A6-4326-B906-F0585BC08AFB}"/>
                </a:ext>
              </a:extLst>
            </p:cNvPr>
            <p:cNvSpPr txBox="1"/>
            <p:nvPr/>
          </p:nvSpPr>
          <p:spPr>
            <a:xfrm>
              <a:off x="4512649" y="4100468"/>
              <a:ext cx="1657866" cy="39250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zh-CN" altLang="en-US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方法：</a:t>
              </a: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main()</a:t>
              </a: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Student </a:t>
              </a:r>
              <a:r>
                <a:rPr lang="en-US" altLang="zh-CN" sz="14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stu</a:t>
              </a:r>
              <a:endParaRPr lang="en-US" altLang="zh-CN" sz="1400" kern="0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4" name="TextBox 4">
              <a:extLst>
                <a:ext uri="{FF2B5EF4-FFF2-40B4-BE49-F238E27FC236}">
                  <a16:creationId xmlns:a16="http://schemas.microsoft.com/office/drawing/2014/main" id="{A05AE5B0-AA71-4457-9CC9-B9BC78278A7E}"/>
                </a:ext>
              </a:extLst>
            </p:cNvPr>
            <p:cNvSpPr txBox="1"/>
            <p:nvPr/>
          </p:nvSpPr>
          <p:spPr>
            <a:xfrm>
              <a:off x="5501969" y="4216380"/>
              <a:ext cx="725714" cy="28903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400" b="1" dirty="0">
                  <a:solidFill>
                    <a:srgbClr val="7030A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0011</a:t>
              </a:r>
              <a:endParaRPr lang="zh-CN" altLang="en-US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65" name="TextBox 3">
            <a:extLst>
              <a:ext uri="{FF2B5EF4-FFF2-40B4-BE49-F238E27FC236}">
                <a16:creationId xmlns:a16="http://schemas.microsoft.com/office/drawing/2014/main" id="{B70D3D60-3E99-49DC-B422-E810CBE64825}"/>
              </a:ext>
            </a:extLst>
          </p:cNvPr>
          <p:cNvSpPr txBox="1"/>
          <p:nvPr/>
        </p:nvSpPr>
        <p:spPr>
          <a:xfrm>
            <a:off x="1049867" y="3598334"/>
            <a:ext cx="4620684" cy="181588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String 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 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void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sayHello(String name){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sout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"局部变量:"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name);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sout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"成员变量:"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383E931-4CDE-4B62-8EFE-E890C51A2FD2}"/>
              </a:ext>
            </a:extLst>
          </p:cNvPr>
          <p:cNvSpPr/>
          <p:nvPr/>
        </p:nvSpPr>
        <p:spPr>
          <a:xfrm>
            <a:off x="1032934" y="4307418"/>
            <a:ext cx="4620684" cy="213783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69F8A664-FB62-435A-9BDF-58AABC880F80}"/>
              </a:ext>
            </a:extLst>
          </p:cNvPr>
          <p:cNvGrpSpPr>
            <a:grpSpLocks/>
          </p:cNvGrpSpPr>
          <p:nvPr/>
        </p:nvGrpSpPr>
        <p:grpSpPr bwMode="auto">
          <a:xfrm>
            <a:off x="6017686" y="4836595"/>
            <a:ext cx="2225409" cy="525794"/>
            <a:chOff x="4512649" y="3626667"/>
            <a:chExt cx="1669037" cy="394488"/>
          </a:xfrm>
        </p:grpSpPr>
        <p:sp>
          <p:nvSpPr>
            <p:cNvPr id="68" name="TextBox 3">
              <a:extLst>
                <a:ext uri="{FF2B5EF4-FFF2-40B4-BE49-F238E27FC236}">
                  <a16:creationId xmlns:a16="http://schemas.microsoft.com/office/drawing/2014/main" id="{3554A213-9C36-4084-B07A-A8159372D069}"/>
                </a:ext>
              </a:extLst>
            </p:cNvPr>
            <p:cNvSpPr txBox="1"/>
            <p:nvPr/>
          </p:nvSpPr>
          <p:spPr>
            <a:xfrm>
              <a:off x="4512649" y="3626667"/>
              <a:ext cx="1657331" cy="392557"/>
            </a:xfrm>
            <a:prstGeom prst="rect">
              <a:avLst/>
            </a:prstGeom>
            <a:solidFill>
              <a:srgbClr val="FFFFE4"/>
            </a:solidFill>
            <a:ln w="12700"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zh-CN" altLang="en-US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方法：</a:t>
              </a:r>
              <a:r>
                <a:rPr lang="en-US" altLang="zh-CN" sz="14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sayHello</a:t>
              </a: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()</a:t>
              </a: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String name</a:t>
              </a:r>
              <a:endParaRPr lang="en-US" altLang="zh-CN" sz="1400" kern="0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A437D7C6-9E97-4CFD-B603-D43972F5452B}"/>
                </a:ext>
              </a:extLst>
            </p:cNvPr>
            <p:cNvSpPr/>
            <p:nvPr/>
          </p:nvSpPr>
          <p:spPr>
            <a:xfrm>
              <a:off x="5365126" y="3790239"/>
              <a:ext cx="816560" cy="230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zh-CN" sz="1400" b="1" dirty="0">
                  <a:solidFill>
                    <a:srgbClr val="008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"西域狂鸭"</a:t>
              </a:r>
              <a:endPara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70" name="矩形 69">
            <a:extLst>
              <a:ext uri="{FF2B5EF4-FFF2-40B4-BE49-F238E27FC236}">
                <a16:creationId xmlns:a16="http://schemas.microsoft.com/office/drawing/2014/main" id="{875AA8FA-606E-4318-A970-242A5FA12270}"/>
              </a:ext>
            </a:extLst>
          </p:cNvPr>
          <p:cNvSpPr/>
          <p:nvPr/>
        </p:nvSpPr>
        <p:spPr>
          <a:xfrm>
            <a:off x="9647768" y="2093385"/>
            <a:ext cx="1919817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0251F5C6-14F5-4866-A6D8-65EB8FE9166E}"/>
              </a:ext>
            </a:extLst>
          </p:cNvPr>
          <p:cNvSpPr/>
          <p:nvPr/>
        </p:nvSpPr>
        <p:spPr>
          <a:xfrm>
            <a:off x="9647767" y="2791885"/>
            <a:ext cx="768351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69B4B52C-A46C-4312-89D8-33755D412068}"/>
              </a:ext>
            </a:extLst>
          </p:cNvPr>
          <p:cNvSpPr/>
          <p:nvPr/>
        </p:nvSpPr>
        <p:spPr>
          <a:xfrm>
            <a:off x="9647767" y="3141134"/>
            <a:ext cx="768351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</a:p>
        </p:txBody>
      </p:sp>
      <p:sp>
        <p:nvSpPr>
          <p:cNvPr id="76" name="TextBox 4">
            <a:extLst>
              <a:ext uri="{FF2B5EF4-FFF2-40B4-BE49-F238E27FC236}">
                <a16:creationId xmlns:a16="http://schemas.microsoft.com/office/drawing/2014/main" id="{A03F931C-F1DF-42B9-824B-41F9DE2063E4}"/>
              </a:ext>
            </a:extLst>
          </p:cNvPr>
          <p:cNvSpPr txBox="1"/>
          <p:nvPr/>
        </p:nvSpPr>
        <p:spPr>
          <a:xfrm>
            <a:off x="8858251" y="2042584"/>
            <a:ext cx="967316" cy="3852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9A0085B8-CD31-4631-8E57-6947DFA972AB}"/>
              </a:ext>
            </a:extLst>
          </p:cNvPr>
          <p:cNvSpPr/>
          <p:nvPr/>
        </p:nvSpPr>
        <p:spPr>
          <a:xfrm>
            <a:off x="10416117" y="2791885"/>
            <a:ext cx="1151467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598FC62C-27D6-4E09-9022-7445B94B6CA7}"/>
              </a:ext>
            </a:extLst>
          </p:cNvPr>
          <p:cNvSpPr/>
          <p:nvPr/>
        </p:nvSpPr>
        <p:spPr>
          <a:xfrm>
            <a:off x="10416117" y="3141134"/>
            <a:ext cx="1151467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06BDF96B-CF5C-42E1-AC86-D8F91B0F0004}"/>
              </a:ext>
            </a:extLst>
          </p:cNvPr>
          <p:cNvSpPr/>
          <p:nvPr/>
        </p:nvSpPr>
        <p:spPr>
          <a:xfrm>
            <a:off x="9647767" y="2442633"/>
            <a:ext cx="768351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01D6E93-01D9-4B70-A974-65E7A1CC2DBC}"/>
              </a:ext>
            </a:extLst>
          </p:cNvPr>
          <p:cNvSpPr/>
          <p:nvPr/>
        </p:nvSpPr>
        <p:spPr>
          <a:xfrm>
            <a:off x="10416117" y="2442633"/>
            <a:ext cx="1151467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460F4E53-DD5E-4583-A5EF-27DE7ADC119F}"/>
              </a:ext>
            </a:extLst>
          </p:cNvPr>
          <p:cNvGrpSpPr>
            <a:grpSpLocks/>
          </p:cNvGrpSpPr>
          <p:nvPr/>
        </p:nvGrpSpPr>
        <p:grpSpPr bwMode="auto">
          <a:xfrm>
            <a:off x="6017686" y="4622800"/>
            <a:ext cx="2225409" cy="738664"/>
            <a:chOff x="4512649" y="3626667"/>
            <a:chExt cx="1669037" cy="553261"/>
          </a:xfrm>
          <a:solidFill>
            <a:srgbClr val="FFFFE4"/>
          </a:solidFill>
        </p:grpSpPr>
        <p:sp>
          <p:nvSpPr>
            <p:cNvPr id="82" name="TextBox 3">
              <a:extLst>
                <a:ext uri="{FF2B5EF4-FFF2-40B4-BE49-F238E27FC236}">
                  <a16:creationId xmlns:a16="http://schemas.microsoft.com/office/drawing/2014/main" id="{4F0D3C24-9B53-4D22-ADB7-4995CE0C2C0A}"/>
                </a:ext>
              </a:extLst>
            </p:cNvPr>
            <p:cNvSpPr txBox="1"/>
            <p:nvPr/>
          </p:nvSpPr>
          <p:spPr>
            <a:xfrm>
              <a:off x="4512649" y="3626667"/>
              <a:ext cx="1657331" cy="55326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zh-CN" altLang="en-US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方法：</a:t>
              </a:r>
              <a:r>
                <a:rPr lang="en-US" altLang="zh-CN" sz="14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sayHello</a:t>
              </a: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()</a:t>
              </a: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zh-CN" altLang="en-US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调用者：</a:t>
              </a:r>
              <a:r>
                <a:rPr lang="en-US" altLang="zh-CN" sz="14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stu</a:t>
              </a:r>
              <a:endPara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String name</a:t>
              </a: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4488048F-3C5F-47F5-B567-4A94628D2F8B}"/>
                </a:ext>
              </a:extLst>
            </p:cNvPr>
            <p:cNvSpPr/>
            <p:nvPr/>
          </p:nvSpPr>
          <p:spPr>
            <a:xfrm>
              <a:off x="5365126" y="3943744"/>
              <a:ext cx="816560" cy="23052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zh-CN" sz="1400" b="1" dirty="0">
                  <a:solidFill>
                    <a:srgbClr val="008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"西域狂鸭"</a:t>
              </a:r>
              <a:endPara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84" name="TextBox 4">
            <a:extLst>
              <a:ext uri="{FF2B5EF4-FFF2-40B4-BE49-F238E27FC236}">
                <a16:creationId xmlns:a16="http://schemas.microsoft.com/office/drawing/2014/main" id="{660FA888-F9C1-46AB-9050-333524BF4176}"/>
              </a:ext>
            </a:extLst>
          </p:cNvPr>
          <p:cNvSpPr txBox="1"/>
          <p:nvPr/>
        </p:nvSpPr>
        <p:spPr>
          <a:xfrm>
            <a:off x="7336367" y="4760384"/>
            <a:ext cx="967317" cy="3852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A2E3835-4018-4191-B373-F32C3F1B2195}"/>
              </a:ext>
            </a:extLst>
          </p:cNvPr>
          <p:cNvSpPr/>
          <p:nvPr/>
        </p:nvSpPr>
        <p:spPr>
          <a:xfrm>
            <a:off x="1043517" y="4510618"/>
            <a:ext cx="4620683" cy="213783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EE67D8A3-AEE6-42A6-84D4-61569124422D}"/>
              </a:ext>
            </a:extLst>
          </p:cNvPr>
          <p:cNvGrpSpPr>
            <a:grpSpLocks/>
          </p:cNvGrpSpPr>
          <p:nvPr/>
        </p:nvGrpSpPr>
        <p:grpSpPr bwMode="auto">
          <a:xfrm>
            <a:off x="6025922" y="4626787"/>
            <a:ext cx="2290693" cy="741259"/>
            <a:chOff x="4735307" y="2619056"/>
            <a:chExt cx="1717998" cy="555203"/>
          </a:xfrm>
          <a:solidFill>
            <a:srgbClr val="FFFFE4"/>
          </a:solidFill>
        </p:grpSpPr>
        <p:sp>
          <p:nvSpPr>
            <p:cNvPr id="87" name="TextBox 3">
              <a:extLst>
                <a:ext uri="{FF2B5EF4-FFF2-40B4-BE49-F238E27FC236}">
                  <a16:creationId xmlns:a16="http://schemas.microsoft.com/office/drawing/2014/main" id="{D3CCDEF3-0997-4D7E-9C4B-8D36D7BF67FA}"/>
                </a:ext>
              </a:extLst>
            </p:cNvPr>
            <p:cNvSpPr txBox="1"/>
            <p:nvPr/>
          </p:nvSpPr>
          <p:spPr>
            <a:xfrm>
              <a:off x="4735307" y="2619056"/>
              <a:ext cx="1657331" cy="55326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zh-CN" altLang="en-US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方法：</a:t>
              </a:r>
              <a:r>
                <a:rPr lang="en-US" altLang="zh-CN" sz="14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sayHello</a:t>
              </a: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()</a:t>
              </a: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zh-CN" altLang="en-US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调用者：</a:t>
              </a:r>
              <a:r>
                <a:rPr lang="en-US" altLang="zh-CN" sz="14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stu</a:t>
              </a:r>
              <a:endPara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String name</a:t>
              </a: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61BD93CD-ACC7-4830-8C53-A35380613CEA}"/>
                </a:ext>
              </a:extLst>
            </p:cNvPr>
            <p:cNvSpPr/>
            <p:nvPr/>
          </p:nvSpPr>
          <p:spPr>
            <a:xfrm>
              <a:off x="5589713" y="2943733"/>
              <a:ext cx="816560" cy="23052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zh-CN" sz="1400" b="1" dirty="0">
                  <a:solidFill>
                    <a:srgbClr val="008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"西域狂鸭"</a:t>
              </a:r>
              <a:endPara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9" name="TextBox 4">
              <a:extLst>
                <a:ext uri="{FF2B5EF4-FFF2-40B4-BE49-F238E27FC236}">
                  <a16:creationId xmlns:a16="http://schemas.microsoft.com/office/drawing/2014/main" id="{DAB89928-B6E3-46E0-A641-BB540CF41984}"/>
                </a:ext>
              </a:extLst>
            </p:cNvPr>
            <p:cNvSpPr txBox="1"/>
            <p:nvPr/>
          </p:nvSpPr>
          <p:spPr>
            <a:xfrm>
              <a:off x="5727826" y="2729704"/>
              <a:ext cx="725479" cy="28858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400" b="1" dirty="0">
                  <a:solidFill>
                    <a:srgbClr val="7030A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0011</a:t>
              </a:r>
              <a:endParaRPr lang="zh-CN" altLang="en-US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90" name="椭圆 89">
            <a:extLst>
              <a:ext uri="{FF2B5EF4-FFF2-40B4-BE49-F238E27FC236}">
                <a16:creationId xmlns:a16="http://schemas.microsoft.com/office/drawing/2014/main" id="{FEDAA44F-4D17-4922-A6F7-C11E68226418}"/>
              </a:ext>
            </a:extLst>
          </p:cNvPr>
          <p:cNvSpPr/>
          <p:nvPr/>
        </p:nvSpPr>
        <p:spPr>
          <a:xfrm>
            <a:off x="3695701" y="4459818"/>
            <a:ext cx="480484" cy="31538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F5F6B314-E9F5-49AE-B061-1E2C8DA97745}"/>
              </a:ext>
            </a:extLst>
          </p:cNvPr>
          <p:cNvSpPr/>
          <p:nvPr/>
        </p:nvSpPr>
        <p:spPr>
          <a:xfrm>
            <a:off x="5693834" y="4254500"/>
            <a:ext cx="2688167" cy="145838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92" name="肘形连接符 19">
            <a:extLst>
              <a:ext uri="{FF2B5EF4-FFF2-40B4-BE49-F238E27FC236}">
                <a16:creationId xmlns:a16="http://schemas.microsoft.com/office/drawing/2014/main" id="{D553ACBC-926F-4C76-AEB3-EBEBCAE8B55C}"/>
              </a:ext>
            </a:extLst>
          </p:cNvPr>
          <p:cNvCxnSpPr/>
          <p:nvPr/>
        </p:nvCxnSpPr>
        <p:spPr>
          <a:xfrm>
            <a:off x="4176185" y="4622800"/>
            <a:ext cx="2592916" cy="584200"/>
          </a:xfrm>
          <a:prstGeom prst="bentConnector3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3">
            <a:extLst>
              <a:ext uri="{FF2B5EF4-FFF2-40B4-BE49-F238E27FC236}">
                <a16:creationId xmlns:a16="http://schemas.microsoft.com/office/drawing/2014/main" id="{7DC9FAA0-80E4-469A-A089-D30F7A3D5F1F}"/>
              </a:ext>
            </a:extLst>
          </p:cNvPr>
          <p:cNvSpPr txBox="1"/>
          <p:nvPr/>
        </p:nvSpPr>
        <p:spPr>
          <a:xfrm>
            <a:off x="431801" y="5952067"/>
            <a:ext cx="4620684" cy="523220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rgbClr val="CCCCCC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局部变量：西域狂鸭</a:t>
            </a:r>
            <a:endParaRPr lang="en-US" altLang="zh-CN" sz="1400" b="1" dirty="0">
              <a:solidFill>
                <a:srgbClr val="CCCCCC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defRPr/>
            </a:pPr>
            <a:endParaRPr lang="en-US" altLang="zh-CN" sz="1400" b="1" dirty="0">
              <a:solidFill>
                <a:srgbClr val="CCCCCC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47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1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53" dur="2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56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25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6" grpId="0" animBg="1"/>
      <p:bldP spid="84" grpId="0"/>
      <p:bldP spid="84" grpId="1"/>
      <p:bldP spid="85" grpId="0" animBg="1"/>
      <p:bldP spid="90" grpId="0" animBg="1"/>
      <p:bldP spid="90" grpId="1" animBg="1"/>
      <p:bldP spid="91" grpId="0" animBg="1"/>
      <p:bldP spid="91" grpId="1" animBg="1"/>
      <p:bldP spid="9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 this </a:t>
            </a:r>
            <a:r>
              <a:rPr kumimoji="1" lang="zh-CN" altLang="en-US"/>
              <a:t>内存图</a:t>
            </a:r>
            <a:endParaRPr kumimoji="1" lang="zh-CN" altLang="en-US" dirty="0"/>
          </a:p>
        </p:txBody>
      </p:sp>
      <p:grpSp>
        <p:nvGrpSpPr>
          <p:cNvPr id="44" name="组合 8">
            <a:extLst>
              <a:ext uri="{FF2B5EF4-FFF2-40B4-BE49-F238E27FC236}">
                <a16:creationId xmlns:a16="http://schemas.microsoft.com/office/drawing/2014/main" id="{875FBA4B-BF1C-4D2A-B6B3-7A5B63AAC938}"/>
              </a:ext>
            </a:extLst>
          </p:cNvPr>
          <p:cNvGrpSpPr>
            <a:grpSpLocks/>
          </p:cNvGrpSpPr>
          <p:nvPr/>
        </p:nvGrpSpPr>
        <p:grpSpPr bwMode="auto">
          <a:xfrm>
            <a:off x="8754534" y="1807633"/>
            <a:ext cx="3198284" cy="4790018"/>
            <a:chOff x="6565874" y="1354975"/>
            <a:chExt cx="2398614" cy="3593587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B8E5E838-3165-412B-9BF4-22FE42C4C1EA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3587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46" name="TextBox 2">
              <a:extLst>
                <a:ext uri="{FF2B5EF4-FFF2-40B4-BE49-F238E27FC236}">
                  <a16:creationId xmlns:a16="http://schemas.microsoft.com/office/drawing/2014/main" id="{899E1A38-08A4-4867-8954-2AD4963C33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6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47" name="组合 11">
            <a:extLst>
              <a:ext uri="{FF2B5EF4-FFF2-40B4-BE49-F238E27FC236}">
                <a16:creationId xmlns:a16="http://schemas.microsoft.com/office/drawing/2014/main" id="{CBA3D23C-0A83-4B2A-ABD6-26FC6748D2E1}"/>
              </a:ext>
            </a:extLst>
          </p:cNvPr>
          <p:cNvGrpSpPr>
            <a:grpSpLocks/>
          </p:cNvGrpSpPr>
          <p:nvPr/>
        </p:nvGrpSpPr>
        <p:grpSpPr bwMode="auto">
          <a:xfrm>
            <a:off x="5941484" y="1797051"/>
            <a:ext cx="2360083" cy="4800600"/>
            <a:chOff x="4441895" y="1347668"/>
            <a:chExt cx="1771200" cy="3600344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22061D25-BD45-45C5-A778-5BFEA0CDE6E6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169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49" name="TextBox 2">
              <a:extLst>
                <a:ext uri="{FF2B5EF4-FFF2-40B4-BE49-F238E27FC236}">
                  <a16:creationId xmlns:a16="http://schemas.microsoft.com/office/drawing/2014/main" id="{9E5B6017-D95E-4ACD-B6EF-E2752D0BFE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3F1C81D-0225-4EE3-9C26-F7E7CD695733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15C468BA-709B-49C4-873E-726DCDB00A03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77E050CE-4F44-4ACE-8810-DC5D1ED867F1}"/>
                </a:ext>
              </a:extLst>
            </p:cNvPr>
            <p:cNvCxnSpPr/>
            <p:nvPr/>
          </p:nvCxnSpPr>
          <p:spPr>
            <a:xfrm flipH="1">
              <a:off x="4441895" y="4944837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TextBox 3">
            <a:extLst>
              <a:ext uri="{FF2B5EF4-FFF2-40B4-BE49-F238E27FC236}">
                <a16:creationId xmlns:a16="http://schemas.microsoft.com/office/drawing/2014/main" id="{56E6DAB7-7F0E-4CA9-85A3-BED4A23447B6}"/>
              </a:ext>
            </a:extLst>
          </p:cNvPr>
          <p:cNvSpPr txBox="1"/>
          <p:nvPr/>
        </p:nvSpPr>
        <p:spPr>
          <a:xfrm>
            <a:off x="425451" y="2341034"/>
            <a:ext cx="4620683" cy="1384995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static void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main(String[] args)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Student stu =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stu.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stu.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stu.sayHello(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"西域狂鸭"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D07590CB-F8EB-4F89-A3AB-424B5C42B839}"/>
              </a:ext>
            </a:extLst>
          </p:cNvPr>
          <p:cNvSpPr/>
          <p:nvPr/>
        </p:nvSpPr>
        <p:spPr>
          <a:xfrm>
            <a:off x="928353" y="3253318"/>
            <a:ext cx="287867" cy="213783"/>
          </a:xfrm>
          <a:prstGeom prst="rect">
            <a:avLst/>
          </a:prstGeom>
          <a:solidFill>
            <a:srgbClr val="FD0000">
              <a:alpha val="5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5" name="组合 29">
            <a:extLst>
              <a:ext uri="{FF2B5EF4-FFF2-40B4-BE49-F238E27FC236}">
                <a16:creationId xmlns:a16="http://schemas.microsoft.com/office/drawing/2014/main" id="{C98CC498-D2CB-412E-B7E2-7BA6CC000B6C}"/>
              </a:ext>
            </a:extLst>
          </p:cNvPr>
          <p:cNvGrpSpPr>
            <a:grpSpLocks/>
          </p:cNvGrpSpPr>
          <p:nvPr/>
        </p:nvGrpSpPr>
        <p:grpSpPr bwMode="auto">
          <a:xfrm>
            <a:off x="6017684" y="5467353"/>
            <a:ext cx="2286000" cy="539814"/>
            <a:chOff x="4512649" y="4100468"/>
            <a:chExt cx="1715034" cy="404949"/>
          </a:xfrm>
        </p:grpSpPr>
        <p:sp>
          <p:nvSpPr>
            <p:cNvPr id="96" name="TextBox 3">
              <a:extLst>
                <a:ext uri="{FF2B5EF4-FFF2-40B4-BE49-F238E27FC236}">
                  <a16:creationId xmlns:a16="http://schemas.microsoft.com/office/drawing/2014/main" id="{D07938A5-C6B8-470F-A14D-52C94163B95C}"/>
                </a:ext>
              </a:extLst>
            </p:cNvPr>
            <p:cNvSpPr txBox="1"/>
            <p:nvPr/>
          </p:nvSpPr>
          <p:spPr>
            <a:xfrm>
              <a:off x="4512649" y="4100468"/>
              <a:ext cx="1657866" cy="392501"/>
            </a:xfrm>
            <a:prstGeom prst="rect">
              <a:avLst/>
            </a:prstGeom>
            <a:solidFill>
              <a:srgbClr val="FFFFE4"/>
            </a:solidFill>
            <a:ln w="12700"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zh-CN" altLang="en-US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方法：</a:t>
              </a: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main()</a:t>
              </a: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Student </a:t>
              </a:r>
              <a:r>
                <a:rPr lang="en-US" altLang="zh-CN" sz="14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stu</a:t>
              </a:r>
              <a:endParaRPr lang="en-US" altLang="zh-CN" sz="1400" kern="0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97" name="TextBox 4">
              <a:extLst>
                <a:ext uri="{FF2B5EF4-FFF2-40B4-BE49-F238E27FC236}">
                  <a16:creationId xmlns:a16="http://schemas.microsoft.com/office/drawing/2014/main" id="{5C9FE977-CB83-4EDB-B8FB-615160D0B200}"/>
                </a:ext>
              </a:extLst>
            </p:cNvPr>
            <p:cNvSpPr txBox="1"/>
            <p:nvPr/>
          </p:nvSpPr>
          <p:spPr>
            <a:xfrm>
              <a:off x="5501969" y="4216380"/>
              <a:ext cx="725714" cy="28903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400" b="1" dirty="0">
                  <a:solidFill>
                    <a:srgbClr val="7030A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0011</a:t>
              </a:r>
              <a:endParaRPr lang="zh-CN" altLang="en-US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98" name="TextBox 3">
            <a:extLst>
              <a:ext uri="{FF2B5EF4-FFF2-40B4-BE49-F238E27FC236}">
                <a16:creationId xmlns:a16="http://schemas.microsoft.com/office/drawing/2014/main" id="{79EF30C6-894E-4851-8342-4CB90D45F0F8}"/>
              </a:ext>
            </a:extLst>
          </p:cNvPr>
          <p:cNvSpPr txBox="1"/>
          <p:nvPr/>
        </p:nvSpPr>
        <p:spPr>
          <a:xfrm>
            <a:off x="1049867" y="3598334"/>
            <a:ext cx="4620684" cy="181588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String 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 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void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sayHello(String name){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sout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"局部变量:"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name);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sout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"成员变量:"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EE674396-1044-4F2B-A1BC-5FB6C3966450}"/>
              </a:ext>
            </a:extLst>
          </p:cNvPr>
          <p:cNvSpPr/>
          <p:nvPr/>
        </p:nvSpPr>
        <p:spPr>
          <a:xfrm>
            <a:off x="9647768" y="2093385"/>
            <a:ext cx="1919817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3688F91D-7799-4292-9CDF-68A7F6A468D8}"/>
              </a:ext>
            </a:extLst>
          </p:cNvPr>
          <p:cNvSpPr/>
          <p:nvPr/>
        </p:nvSpPr>
        <p:spPr>
          <a:xfrm>
            <a:off x="9647767" y="2791885"/>
            <a:ext cx="768351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B6B45A79-7D4A-4AD6-9425-E3A40192F4F9}"/>
              </a:ext>
            </a:extLst>
          </p:cNvPr>
          <p:cNvSpPr/>
          <p:nvPr/>
        </p:nvSpPr>
        <p:spPr>
          <a:xfrm>
            <a:off x="9647767" y="3141134"/>
            <a:ext cx="768351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</a:p>
        </p:txBody>
      </p:sp>
      <p:sp>
        <p:nvSpPr>
          <p:cNvPr id="102" name="TextBox 4">
            <a:extLst>
              <a:ext uri="{FF2B5EF4-FFF2-40B4-BE49-F238E27FC236}">
                <a16:creationId xmlns:a16="http://schemas.microsoft.com/office/drawing/2014/main" id="{72833E9D-8E53-4394-A59D-E97F083CDB50}"/>
              </a:ext>
            </a:extLst>
          </p:cNvPr>
          <p:cNvSpPr txBox="1"/>
          <p:nvPr/>
        </p:nvSpPr>
        <p:spPr>
          <a:xfrm>
            <a:off x="8858251" y="2042584"/>
            <a:ext cx="967316" cy="3852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CABE9DDE-858C-4B24-9624-2DD6AF2B67FF}"/>
              </a:ext>
            </a:extLst>
          </p:cNvPr>
          <p:cNvSpPr/>
          <p:nvPr/>
        </p:nvSpPr>
        <p:spPr>
          <a:xfrm>
            <a:off x="10416117" y="2791885"/>
            <a:ext cx="1151467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5F305CDD-2EAA-417D-AF95-6D6861CE1E84}"/>
              </a:ext>
            </a:extLst>
          </p:cNvPr>
          <p:cNvSpPr/>
          <p:nvPr/>
        </p:nvSpPr>
        <p:spPr>
          <a:xfrm>
            <a:off x="10416117" y="3141134"/>
            <a:ext cx="1151467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269B1098-CAC7-48BC-A3BD-52173BE92907}"/>
              </a:ext>
            </a:extLst>
          </p:cNvPr>
          <p:cNvSpPr/>
          <p:nvPr/>
        </p:nvSpPr>
        <p:spPr>
          <a:xfrm>
            <a:off x="9647767" y="2442633"/>
            <a:ext cx="768351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6D428CDB-2FA0-4030-A429-FA0AF028C64F}"/>
              </a:ext>
            </a:extLst>
          </p:cNvPr>
          <p:cNvSpPr/>
          <p:nvPr/>
        </p:nvSpPr>
        <p:spPr>
          <a:xfrm>
            <a:off x="10416117" y="2442633"/>
            <a:ext cx="1151467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A0F2D130-508C-490D-8071-FBFFF6A92923}"/>
              </a:ext>
            </a:extLst>
          </p:cNvPr>
          <p:cNvSpPr/>
          <p:nvPr/>
        </p:nvSpPr>
        <p:spPr>
          <a:xfrm>
            <a:off x="1043517" y="4726518"/>
            <a:ext cx="4620683" cy="213783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6A633BF5-8EE5-44BA-A1B7-F301DFF78642}"/>
              </a:ext>
            </a:extLst>
          </p:cNvPr>
          <p:cNvSpPr/>
          <p:nvPr/>
        </p:nvSpPr>
        <p:spPr>
          <a:xfrm>
            <a:off x="3689351" y="4591051"/>
            <a:ext cx="960967" cy="48894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9" name="TextBox 3">
            <a:extLst>
              <a:ext uri="{FF2B5EF4-FFF2-40B4-BE49-F238E27FC236}">
                <a16:creationId xmlns:a16="http://schemas.microsoft.com/office/drawing/2014/main" id="{03810C44-3D1E-4510-863C-1EDF9E1A19DF}"/>
              </a:ext>
            </a:extLst>
          </p:cNvPr>
          <p:cNvSpPr txBox="1"/>
          <p:nvPr/>
        </p:nvSpPr>
        <p:spPr>
          <a:xfrm>
            <a:off x="431801" y="5952067"/>
            <a:ext cx="4620684" cy="523220"/>
          </a:xfrm>
          <a:prstGeom prst="rect">
            <a:avLst/>
          </a:prstGeom>
          <a:solidFill>
            <a:srgbClr val="0C0C0C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rgbClr val="CCCCCC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局部变量：西域狂鸭</a:t>
            </a:r>
            <a:endParaRPr lang="en-US" altLang="zh-CN" sz="1400" b="1" dirty="0">
              <a:solidFill>
                <a:srgbClr val="CCCCCC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defRPr/>
            </a:pPr>
            <a:r>
              <a:rPr lang="zh-CN" altLang="en-US" sz="1400" b="1" dirty="0">
                <a:solidFill>
                  <a:srgbClr val="CCCCCC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成员变量：钢门吹雪</a:t>
            </a:r>
            <a:endParaRPr lang="en-US" altLang="zh-CN" sz="1400" b="1" dirty="0">
              <a:solidFill>
                <a:srgbClr val="CCCCCC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B6ACD405-C623-4BE2-B290-FBAD4B85AFB4}"/>
              </a:ext>
            </a:extLst>
          </p:cNvPr>
          <p:cNvGrpSpPr>
            <a:grpSpLocks/>
          </p:cNvGrpSpPr>
          <p:nvPr/>
        </p:nvGrpSpPr>
        <p:grpSpPr bwMode="auto">
          <a:xfrm>
            <a:off x="6017687" y="4622799"/>
            <a:ext cx="2288118" cy="738664"/>
            <a:chOff x="4659107" y="2479276"/>
            <a:chExt cx="1716068" cy="553261"/>
          </a:xfrm>
          <a:solidFill>
            <a:srgbClr val="FFFFE4"/>
          </a:solidFill>
        </p:grpSpPr>
        <p:sp>
          <p:nvSpPr>
            <p:cNvPr id="111" name="TextBox 3">
              <a:extLst>
                <a:ext uri="{FF2B5EF4-FFF2-40B4-BE49-F238E27FC236}">
                  <a16:creationId xmlns:a16="http://schemas.microsoft.com/office/drawing/2014/main" id="{C4E2216E-0B7E-4016-AF63-DF491A4F1E5F}"/>
                </a:ext>
              </a:extLst>
            </p:cNvPr>
            <p:cNvSpPr txBox="1"/>
            <p:nvPr/>
          </p:nvSpPr>
          <p:spPr>
            <a:xfrm>
              <a:off x="4659107" y="2479276"/>
              <a:ext cx="1657331" cy="553261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zh-CN" altLang="en-US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方法：</a:t>
              </a:r>
              <a:r>
                <a:rPr lang="en-US" altLang="zh-CN" sz="14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sayHello</a:t>
              </a: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()</a:t>
              </a: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zh-CN" altLang="en-US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调用者：</a:t>
              </a:r>
              <a:r>
                <a:rPr lang="en-US" altLang="zh-CN" sz="14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stu</a:t>
              </a:r>
              <a:endPara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String name</a:t>
              </a: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4B6452D4-FD39-4407-A87A-F2D4DE8958CE}"/>
                </a:ext>
              </a:extLst>
            </p:cNvPr>
            <p:cNvSpPr/>
            <p:nvPr/>
          </p:nvSpPr>
          <p:spPr>
            <a:xfrm>
              <a:off x="5511584" y="2796353"/>
              <a:ext cx="816560" cy="23052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zh-CN" sz="1400" b="1" dirty="0">
                  <a:solidFill>
                    <a:srgbClr val="008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"西域狂鸭"</a:t>
              </a:r>
              <a:endPara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13" name="TextBox 4">
              <a:extLst>
                <a:ext uri="{FF2B5EF4-FFF2-40B4-BE49-F238E27FC236}">
                  <a16:creationId xmlns:a16="http://schemas.microsoft.com/office/drawing/2014/main" id="{9DC9A158-A499-47D4-B90B-638F6D0C4E2B}"/>
                </a:ext>
              </a:extLst>
            </p:cNvPr>
            <p:cNvSpPr txBox="1"/>
            <p:nvPr/>
          </p:nvSpPr>
          <p:spPr>
            <a:xfrm>
              <a:off x="5649696" y="2582327"/>
              <a:ext cx="725479" cy="28858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400" b="1" dirty="0">
                  <a:solidFill>
                    <a:srgbClr val="7030A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0011</a:t>
              </a:r>
              <a:endParaRPr lang="zh-CN" altLang="en-US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CFCE93B0-9EED-49C2-8303-FF17049B0429}"/>
              </a:ext>
            </a:extLst>
          </p:cNvPr>
          <p:cNvGrpSpPr>
            <a:grpSpLocks/>
          </p:cNvGrpSpPr>
          <p:nvPr/>
        </p:nvGrpSpPr>
        <p:grpSpPr bwMode="auto">
          <a:xfrm>
            <a:off x="6027875" y="4618849"/>
            <a:ext cx="2349497" cy="743490"/>
            <a:chOff x="4659107" y="2409386"/>
            <a:chExt cx="1762102" cy="556876"/>
          </a:xfrm>
        </p:grpSpPr>
        <p:sp>
          <p:nvSpPr>
            <p:cNvPr id="115" name="TextBox 3">
              <a:extLst>
                <a:ext uri="{FF2B5EF4-FFF2-40B4-BE49-F238E27FC236}">
                  <a16:creationId xmlns:a16="http://schemas.microsoft.com/office/drawing/2014/main" id="{48D899C3-2F98-4C05-B8A7-D782B93CA761}"/>
                </a:ext>
              </a:extLst>
            </p:cNvPr>
            <p:cNvSpPr txBox="1"/>
            <p:nvPr/>
          </p:nvSpPr>
          <p:spPr>
            <a:xfrm>
              <a:off x="4659107" y="2409386"/>
              <a:ext cx="1657331" cy="553261"/>
            </a:xfrm>
            <a:prstGeom prst="rect">
              <a:avLst/>
            </a:prstGeom>
            <a:solidFill>
              <a:srgbClr val="FFFFE4"/>
            </a:solidFill>
            <a:ln w="12700"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zh-CN" altLang="en-US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方法：</a:t>
              </a:r>
              <a:r>
                <a:rPr lang="en-US" altLang="zh-CN" sz="14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sayHello</a:t>
              </a: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()</a:t>
              </a: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zh-CN" altLang="zh-CN" sz="1400" b="1" dirty="0">
                  <a:solidFill>
                    <a:srgbClr val="00008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this</a:t>
              </a:r>
              <a:r>
                <a:rPr lang="zh-CN" altLang="en-US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</a:t>
              </a:r>
              <a:r>
                <a:rPr lang="zh-CN" altLang="en-US" sz="133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      </a:t>
              </a:r>
              <a:r>
                <a:rPr lang="zh-CN" altLang="en-US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：</a:t>
              </a:r>
              <a:r>
                <a:rPr lang="en-US" altLang="zh-CN" sz="1400" kern="0" dirty="0" err="1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stu</a:t>
              </a:r>
              <a:endPara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String name</a:t>
              </a: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7B52DF01-A9E4-4B56-BDE9-10E2353B1768}"/>
                </a:ext>
              </a:extLst>
            </p:cNvPr>
            <p:cNvSpPr/>
            <p:nvPr/>
          </p:nvSpPr>
          <p:spPr>
            <a:xfrm>
              <a:off x="5495459" y="2735736"/>
              <a:ext cx="816560" cy="2305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zh-CN" sz="1400" b="1" dirty="0">
                  <a:solidFill>
                    <a:srgbClr val="008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"西域狂鸭"</a:t>
              </a:r>
              <a:endParaRPr lang="zh-CN" altLang="en-US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17" name="TextBox 4">
              <a:extLst>
                <a:ext uri="{FF2B5EF4-FFF2-40B4-BE49-F238E27FC236}">
                  <a16:creationId xmlns:a16="http://schemas.microsoft.com/office/drawing/2014/main" id="{CEF57DC9-0C8F-4CBD-BEEE-5729A4337937}"/>
                </a:ext>
              </a:extLst>
            </p:cNvPr>
            <p:cNvSpPr txBox="1"/>
            <p:nvPr/>
          </p:nvSpPr>
          <p:spPr>
            <a:xfrm>
              <a:off x="5695730" y="2524106"/>
              <a:ext cx="725479" cy="28858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sz="1400" b="1" dirty="0">
                  <a:solidFill>
                    <a:srgbClr val="7030A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0011</a:t>
              </a:r>
              <a:endParaRPr lang="zh-CN" altLang="en-US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cxnSp>
        <p:nvCxnSpPr>
          <p:cNvPr id="118" name="肘形连接符 18">
            <a:extLst>
              <a:ext uri="{FF2B5EF4-FFF2-40B4-BE49-F238E27FC236}">
                <a16:creationId xmlns:a16="http://schemas.microsoft.com/office/drawing/2014/main" id="{95465234-5C35-4077-9B9C-9B449E058D24}"/>
              </a:ext>
            </a:extLst>
          </p:cNvPr>
          <p:cNvCxnSpPr/>
          <p:nvPr/>
        </p:nvCxnSpPr>
        <p:spPr>
          <a:xfrm rot="16200000" flipH="1">
            <a:off x="4981576" y="3891491"/>
            <a:ext cx="67733" cy="2165351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AD3C9B95-9131-45D8-9BE6-BA6620ED2AB0}"/>
              </a:ext>
            </a:extLst>
          </p:cNvPr>
          <p:cNvCxnSpPr/>
          <p:nvPr/>
        </p:nvCxnSpPr>
        <p:spPr>
          <a:xfrm>
            <a:off x="6561667" y="5008033"/>
            <a:ext cx="264584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13E44905-FDF8-4103-8923-D3372DD406EF}"/>
              </a:ext>
            </a:extLst>
          </p:cNvPr>
          <p:cNvCxnSpPr/>
          <p:nvPr/>
        </p:nvCxnSpPr>
        <p:spPr>
          <a:xfrm>
            <a:off x="7179733" y="5008033"/>
            <a:ext cx="264584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肘形连接符 31">
            <a:extLst>
              <a:ext uri="{FF2B5EF4-FFF2-40B4-BE49-F238E27FC236}">
                <a16:creationId xmlns:a16="http://schemas.microsoft.com/office/drawing/2014/main" id="{9CC08A7F-D538-417E-A836-57367A895549}"/>
              </a:ext>
            </a:extLst>
          </p:cNvPr>
          <p:cNvCxnSpPr/>
          <p:nvPr/>
        </p:nvCxnSpPr>
        <p:spPr>
          <a:xfrm flipV="1">
            <a:off x="8113185" y="2264833"/>
            <a:ext cx="817033" cy="2743200"/>
          </a:xfrm>
          <a:prstGeom prst="bentConnector3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肘形连接符 41">
            <a:extLst>
              <a:ext uri="{FF2B5EF4-FFF2-40B4-BE49-F238E27FC236}">
                <a16:creationId xmlns:a16="http://schemas.microsoft.com/office/drawing/2014/main" id="{25E807E1-9DFF-4A4D-94D8-FDB65B96BA5C}"/>
              </a:ext>
            </a:extLst>
          </p:cNvPr>
          <p:cNvCxnSpPr/>
          <p:nvPr/>
        </p:nvCxnSpPr>
        <p:spPr>
          <a:xfrm rot="16200000" flipH="1">
            <a:off x="9220201" y="2415118"/>
            <a:ext cx="622300" cy="537633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矩形 122">
            <a:extLst>
              <a:ext uri="{FF2B5EF4-FFF2-40B4-BE49-F238E27FC236}">
                <a16:creationId xmlns:a16="http://schemas.microsoft.com/office/drawing/2014/main" id="{84DAFD08-33B3-42B0-9411-488974BBAC87}"/>
              </a:ext>
            </a:extLst>
          </p:cNvPr>
          <p:cNvSpPr/>
          <p:nvPr/>
        </p:nvSpPr>
        <p:spPr>
          <a:xfrm>
            <a:off x="4111706" y="4658128"/>
            <a:ext cx="5822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endParaRPr lang="zh-CN" altLang="en-US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5860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1" dur="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mph" presetSubtype="1" repeatCount="5000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0"/>
                                  </p:iterate>
                                  <p:childTnLst>
                                    <p:set>
                                      <p:cBhvr override="childStyle">
                                        <p:cTn id="45"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08" grpId="1" animBg="1"/>
      <p:bldP spid="123" grpId="0"/>
      <p:bldP spid="123" grpId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FD4154C-83AC-A7A3-21D8-43B6623DAE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1.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当局部变量和成员变量重名的时候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, Java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使用的是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就近原则</a:t>
            </a:r>
            <a:endParaRPr lang="en-US" altLang="zh-CN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Font typeface="+mj-lt"/>
              <a:buAutoNum type="arabicPeriod" startAt="2"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this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关键字的作用是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调用本类成员</a:t>
            </a:r>
            <a:endParaRPr lang="en-US" altLang="zh-CN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	this.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本类成员变量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			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如果不涉及变量重复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, this.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可以省略</a:t>
            </a:r>
            <a:endParaRPr lang="en-US" altLang="zh-CN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	this.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本类成员方法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();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			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没有前提条件  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this.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可以直接省略</a:t>
            </a:r>
            <a:endParaRPr lang="en-US" altLang="zh-CN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Font typeface="+mj-lt"/>
              <a:buAutoNum type="arabicPeriod" startAt="3"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this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代表什么呢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代表当前类对象的引用 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(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</a:rPr>
              <a:t>地址</a:t>
            </a:r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) 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44475"/>
            <a:ext cx="8770938" cy="5175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200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7F133-2920-0119-3B4A-87987B52A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F3F8A2A-3234-3AD9-9A0C-DE046186C8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面向对象思想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类和对象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类和对象内存图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成员变量和局部变量的区别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this </a:t>
            </a:r>
            <a:r>
              <a:rPr lang="zh-CN" altLang="en-US" dirty="0">
                <a:latin typeface="Consolas" panose="020B0609020204030204" pitchFamily="49" charset="0"/>
              </a:rPr>
              <a:t>关键字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构造方法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封装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JavaBean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static </a:t>
            </a:r>
            <a:r>
              <a:rPr lang="zh-CN" altLang="en-US" dirty="0">
                <a:latin typeface="Consolas" panose="020B0609020204030204" pitchFamily="49" charset="0"/>
              </a:rPr>
              <a:t>关键字</a:t>
            </a:r>
          </a:p>
        </p:txBody>
      </p:sp>
    </p:spTree>
    <p:extLst>
      <p:ext uri="{BB962C8B-B14F-4D97-AF65-F5344CB8AC3E}">
        <p14:creationId xmlns:p14="http://schemas.microsoft.com/office/powerpoint/2010/main" val="3974998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E5CBD-84FD-DD5F-4669-4A26E6F3A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B0988D-BFA7-50EB-0D67-33733E93A7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5357661" cy="901700"/>
          </a:xfrm>
        </p:spPr>
        <p:txBody>
          <a:bodyPr/>
          <a:lstStyle/>
          <a:p>
            <a:r>
              <a:rPr lang="zh-CN" altLang="en-US" dirty="0"/>
              <a:t>构造方法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CB08C8CC-E3DE-8ED6-F77D-5868B99908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5482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52E62EDE-725B-45B8-87A8-2C49EF157B1A}"/>
              </a:ext>
            </a:extLst>
          </p:cNvPr>
          <p:cNvSpPr txBox="1"/>
          <p:nvPr/>
        </p:nvSpPr>
        <p:spPr>
          <a:xfrm>
            <a:off x="710880" y="1179170"/>
            <a:ext cx="4974167" cy="129868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构造器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初始化一个新建的对象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构建、创造对象的时候，所调用的方法</a:t>
            </a: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C7D4F312-F5C1-4FF7-B0E2-49F1400ABD0E}"/>
              </a:ext>
            </a:extLst>
          </p:cNvPr>
          <p:cNvSpPr txBox="1"/>
          <p:nvPr/>
        </p:nvSpPr>
        <p:spPr>
          <a:xfrm>
            <a:off x="721465" y="2975047"/>
            <a:ext cx="6220248" cy="1714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格式：</a:t>
            </a:r>
            <a:endParaRPr lang="en-US" altLang="zh-CN" dirty="0">
              <a:solidFill>
                <a:srgbClr val="0070C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914377" lvl="1" indent="-304792">
              <a:lnSpc>
                <a:spcPct val="150000"/>
              </a:lnSpc>
              <a:buFontTx/>
              <a:buAutoNum type="arabicPeriod"/>
              <a:defRPr/>
            </a:pP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方法名与类名相同，大小写也要一致</a:t>
            </a:r>
            <a:endParaRPr lang="en-US" altLang="zh-CN" dirty="0">
              <a:solidFill>
                <a:srgbClr val="0070C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914377" lvl="1" indent="-304792">
              <a:lnSpc>
                <a:spcPct val="150000"/>
              </a:lnSpc>
              <a:buFontTx/>
              <a:buAutoNum type="arabicPeriod"/>
              <a:defRPr/>
            </a:pP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没有返回值类型，连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void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都没有</a:t>
            </a:r>
            <a:endParaRPr lang="en-US" altLang="zh-CN" dirty="0">
              <a:solidFill>
                <a:srgbClr val="0070C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914377" lvl="1" indent="-304792">
              <a:lnSpc>
                <a:spcPct val="150000"/>
              </a:lnSpc>
              <a:buFontTx/>
              <a:buAutoNum type="arabicPeriod"/>
              <a:defRPr/>
            </a:pP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没有具体的返回值（不能由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return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带回结果数据）</a:t>
            </a: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C126080F-1287-42C1-95DA-D0FC26D5EB54}"/>
              </a:ext>
            </a:extLst>
          </p:cNvPr>
          <p:cNvSpPr txBox="1"/>
          <p:nvPr/>
        </p:nvSpPr>
        <p:spPr>
          <a:xfrm>
            <a:off x="721465" y="5029485"/>
            <a:ext cx="8053917" cy="129868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执行时机：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914377" lvl="1" indent="-304792">
              <a:lnSpc>
                <a:spcPct val="150000"/>
              </a:lnSpc>
              <a:buFontTx/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创建对象的时候调用，每创建一次对象，就会执行一次构造方法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914377" lvl="1" indent="-304792">
              <a:lnSpc>
                <a:spcPct val="150000"/>
              </a:lnSpc>
              <a:buFontTx/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不能手动调用构造方法</a:t>
            </a:r>
          </a:p>
        </p:txBody>
      </p:sp>
      <p:sp>
        <p:nvSpPr>
          <p:cNvPr id="31" name="TextBox 3">
            <a:extLst>
              <a:ext uri="{FF2B5EF4-FFF2-40B4-BE49-F238E27FC236}">
                <a16:creationId xmlns:a16="http://schemas.microsoft.com/office/drawing/2014/main" id="{48E86481-F1AE-4A93-9132-4808C5925E03}"/>
              </a:ext>
            </a:extLst>
          </p:cNvPr>
          <p:cNvSpPr txBox="1"/>
          <p:nvPr/>
        </p:nvSpPr>
        <p:spPr>
          <a:xfrm>
            <a:off x="6498488" y="1664019"/>
            <a:ext cx="5236312" cy="1323439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Test 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6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void </a:t>
            </a:r>
            <a:r>
              <a:rPr lang="zh-CN" altLang="zh-CN" sz="1600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</a:rPr>
              <a:t>[] args) {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Student stu 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600" dirty="0">
                <a:solidFill>
                  <a:srgbClr val="0033B3"/>
                </a:solidFill>
                <a:latin typeface="Consolas" panose="020B0609020204030204" pitchFamily="49" charset="0"/>
              </a:rPr>
              <a:t>new 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</a:rPr>
              <a:t>Student();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1600" dirty="0">
              <a:latin typeface="Consolas" panose="020B0609020204030204" pitchFamily="49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68931628-AC5D-A61E-3CA5-283E523B5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构造方法介绍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2367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3" grpId="0"/>
      <p:bldP spid="3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构造方法作用 </a:t>
            </a: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39669EF4-F599-47F6-9680-AA383CF5A92C}"/>
              </a:ext>
            </a:extLst>
          </p:cNvPr>
          <p:cNvSpPr txBox="1"/>
          <p:nvPr/>
        </p:nvSpPr>
        <p:spPr>
          <a:xfrm>
            <a:off x="576626" y="1011348"/>
            <a:ext cx="7968506" cy="883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本质作用：创建对象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结合构造方法执行时机：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给对象中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的属性</a:t>
            </a:r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（成员变量）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进行</a:t>
            </a:r>
            <a:r>
              <a:rPr lang="zh-CN" altLang="en-US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初始化</a:t>
            </a:r>
            <a:endParaRPr lang="en-US" altLang="zh-CN" dirty="0">
              <a:solidFill>
                <a:srgbClr val="0070C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223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构造方法注意事项 </a:t>
            </a: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358628AD-92F0-449B-BCB7-345995C787ED}"/>
              </a:ext>
            </a:extLst>
          </p:cNvPr>
          <p:cNvSpPr txBox="1"/>
          <p:nvPr/>
        </p:nvSpPr>
        <p:spPr>
          <a:xfrm>
            <a:off x="576626" y="1179170"/>
            <a:ext cx="10350500" cy="379167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04792" indent="-304792">
              <a:lnSpc>
                <a:spcPct val="150000"/>
              </a:lnSpc>
              <a:buFont typeface="+mj-ea"/>
              <a:buAutoNum type="circleNumDbPlain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构造方法的创建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92652" lvl="1" indent="-349242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如果没有定义构造方法，系统将给出一个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默认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无参数构造方法</a:t>
            </a:r>
            <a:endParaRPr lang="en-US" altLang="zh-CN" b="1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92652" lvl="1" indent="-349242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如果定义了构造方法，系统将不再提供默认的构造方法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lang="en-US" altLang="zh-CN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04792" indent="-304792">
              <a:lnSpc>
                <a:spcPct val="150000"/>
              </a:lnSpc>
              <a:buFont typeface="+mj-ea"/>
              <a:buAutoNum type="circleNumDbPlain" startAt="2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构造方法的重载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92652" lvl="1" indent="-349242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构造方法也是方法，允许重载关系出现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lang="en-US" altLang="zh-CN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04792" indent="-304792">
              <a:lnSpc>
                <a:spcPct val="150000"/>
              </a:lnSpc>
              <a:buFont typeface="+mj-ea"/>
              <a:buAutoNum type="circleNumDbPlain" startAt="3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推荐的使用方式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592652" lvl="1" indent="-349242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无参数构造方法，和带参数构造方法，都自己手动给出</a:t>
            </a:r>
            <a:endParaRPr lang="en-US" altLang="zh-CN" b="1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C6B43386-2C0C-484F-88FD-52F5E560C165}"/>
              </a:ext>
            </a:extLst>
          </p:cNvPr>
          <p:cNvSpPr txBox="1"/>
          <p:nvPr/>
        </p:nvSpPr>
        <p:spPr>
          <a:xfrm>
            <a:off x="7275738" y="2505594"/>
            <a:ext cx="4195233" cy="2462213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Student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</a:rPr>
              <a:t>age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Student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Student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age)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this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</a:rPr>
              <a:t>age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18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63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构造方法执行流程</a:t>
            </a:r>
            <a:endParaRPr kumimoji="1" lang="zh-CN" altLang="en-US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36CAD2E-9083-4B2E-A5DD-D2E36986B0CD}"/>
              </a:ext>
            </a:extLst>
          </p:cNvPr>
          <p:cNvGrpSpPr>
            <a:grpSpLocks/>
          </p:cNvGrpSpPr>
          <p:nvPr/>
        </p:nvGrpSpPr>
        <p:grpSpPr bwMode="auto">
          <a:xfrm>
            <a:off x="8754534" y="1807633"/>
            <a:ext cx="3198284" cy="4790018"/>
            <a:chOff x="6565874" y="1354975"/>
            <a:chExt cx="2398614" cy="3593587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8802B0C-FE64-4255-9F7A-56B5E809B03E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3587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2" name="TextBox 2">
              <a:extLst>
                <a:ext uri="{FF2B5EF4-FFF2-40B4-BE49-F238E27FC236}">
                  <a16:creationId xmlns:a16="http://schemas.microsoft.com/office/drawing/2014/main" id="{D8535F8F-587D-4FB1-95C7-CAC75C6850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6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3A35A56-A2F4-47C7-A91A-3DD11D70462B}"/>
              </a:ext>
            </a:extLst>
          </p:cNvPr>
          <p:cNvGrpSpPr>
            <a:grpSpLocks/>
          </p:cNvGrpSpPr>
          <p:nvPr/>
        </p:nvGrpSpPr>
        <p:grpSpPr bwMode="auto">
          <a:xfrm>
            <a:off x="5941484" y="1797051"/>
            <a:ext cx="2360083" cy="4800600"/>
            <a:chOff x="4441895" y="1347668"/>
            <a:chExt cx="1771200" cy="3600344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AD5BEF2-D152-4A14-A0DA-7B922AE4A0EA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169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5" name="TextBox 2">
              <a:extLst>
                <a:ext uri="{FF2B5EF4-FFF2-40B4-BE49-F238E27FC236}">
                  <a16:creationId xmlns:a16="http://schemas.microsoft.com/office/drawing/2014/main" id="{0F535BF6-ADBC-4529-B0AA-925E9B6E9A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108C3F0A-B5BF-4A5D-B87B-F839D5005F10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547114A9-DCC7-41F8-B2C8-2D70514E081B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92D7D3D1-A311-4A6F-9DFF-539E803D0940}"/>
                </a:ext>
              </a:extLst>
            </p:cNvPr>
            <p:cNvCxnSpPr/>
            <p:nvPr/>
          </p:nvCxnSpPr>
          <p:spPr>
            <a:xfrm flipH="1">
              <a:off x="4441895" y="4944837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3">
            <a:extLst>
              <a:ext uri="{FF2B5EF4-FFF2-40B4-BE49-F238E27FC236}">
                <a16:creationId xmlns:a16="http://schemas.microsoft.com/office/drawing/2014/main" id="{C34EA7E8-02B1-4122-B8CB-BDCA86E4781E}"/>
              </a:ext>
            </a:extLst>
          </p:cNvPr>
          <p:cNvSpPr txBox="1"/>
          <p:nvPr/>
        </p:nvSpPr>
        <p:spPr>
          <a:xfrm>
            <a:off x="425451" y="2341034"/>
            <a:ext cx="4620683" cy="95410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static void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main(String[] args)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.show();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85470A58-5026-42CB-B9AB-B35BDD986190}"/>
              </a:ext>
            </a:extLst>
          </p:cNvPr>
          <p:cNvSpPr txBox="1"/>
          <p:nvPr/>
        </p:nvSpPr>
        <p:spPr>
          <a:xfrm>
            <a:off x="6017684" y="5683252"/>
            <a:ext cx="2209800" cy="30777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  <a:endParaRPr lang="en-US" altLang="zh-CN" sz="1400" b="1" kern="0" dirty="0">
              <a:solidFill>
                <a:srgbClr val="00008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9C17C350-D09E-4EBB-AD47-CCA0E5953BE3}"/>
              </a:ext>
            </a:extLst>
          </p:cNvPr>
          <p:cNvSpPr txBox="1"/>
          <p:nvPr/>
        </p:nvSpPr>
        <p:spPr>
          <a:xfrm>
            <a:off x="6017684" y="1411818"/>
            <a:ext cx="2209800" cy="30777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  <a:endParaRPr lang="en-US" altLang="zh-CN" sz="1400" b="1" kern="0" dirty="0">
              <a:solidFill>
                <a:srgbClr val="00008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AA58914-AD0E-49AF-B20B-45CA065A3F0F}"/>
              </a:ext>
            </a:extLst>
          </p:cNvPr>
          <p:cNvSpPr/>
          <p:nvPr/>
        </p:nvSpPr>
        <p:spPr>
          <a:xfrm>
            <a:off x="431801" y="2402418"/>
            <a:ext cx="4620684" cy="213783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9AC76F9-4651-48EF-A29E-11E4AA51B253}"/>
              </a:ext>
            </a:extLst>
          </p:cNvPr>
          <p:cNvSpPr/>
          <p:nvPr/>
        </p:nvSpPr>
        <p:spPr>
          <a:xfrm>
            <a:off x="431801" y="2611967"/>
            <a:ext cx="4620684" cy="213784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1B8C6411-9365-4997-8ECE-2C8E1FB8D7E8}"/>
              </a:ext>
            </a:extLst>
          </p:cNvPr>
          <p:cNvSpPr txBox="1"/>
          <p:nvPr/>
        </p:nvSpPr>
        <p:spPr>
          <a:xfrm>
            <a:off x="1075267" y="3141134"/>
            <a:ext cx="4620684" cy="289310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class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String 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 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(String name,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age)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name;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age;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void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show()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sout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"---"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D5633849-6466-45AD-B998-216917ABD43F}"/>
              </a:ext>
            </a:extLst>
          </p:cNvPr>
          <p:cNvSpPr txBox="1"/>
          <p:nvPr/>
        </p:nvSpPr>
        <p:spPr>
          <a:xfrm>
            <a:off x="6019377" y="5472438"/>
            <a:ext cx="2209800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 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endParaRPr lang="en-US" altLang="zh-CN" sz="1400" kern="0" dirty="0">
              <a:solidFill>
                <a:srgbClr val="00008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B683DB9-1CE2-4429-B0CC-2D903C3AF49C}"/>
              </a:ext>
            </a:extLst>
          </p:cNvPr>
          <p:cNvSpPr/>
          <p:nvPr/>
        </p:nvSpPr>
        <p:spPr>
          <a:xfrm>
            <a:off x="2256367" y="2611967"/>
            <a:ext cx="2573867" cy="213784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3F60091-66D4-476D-97A5-ED12DB1B00AD}"/>
              </a:ext>
            </a:extLst>
          </p:cNvPr>
          <p:cNvSpPr/>
          <p:nvPr/>
        </p:nvSpPr>
        <p:spPr>
          <a:xfrm>
            <a:off x="1075267" y="4275667"/>
            <a:ext cx="4620684" cy="213784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BA541B5-3D74-43FD-B57B-DD52ED637238}"/>
              </a:ext>
            </a:extLst>
          </p:cNvPr>
          <p:cNvSpPr/>
          <p:nvPr/>
        </p:nvSpPr>
        <p:spPr>
          <a:xfrm>
            <a:off x="2256367" y="2611967"/>
            <a:ext cx="376767" cy="213784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63FFBBB-3CFB-4414-94D5-A67A05333EFC}"/>
              </a:ext>
            </a:extLst>
          </p:cNvPr>
          <p:cNvSpPr/>
          <p:nvPr/>
        </p:nvSpPr>
        <p:spPr>
          <a:xfrm>
            <a:off x="9647768" y="2093385"/>
            <a:ext cx="1919817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</a:p>
        </p:txBody>
      </p:sp>
      <p:sp>
        <p:nvSpPr>
          <p:cNvPr id="32" name="TextBox 4">
            <a:extLst>
              <a:ext uri="{FF2B5EF4-FFF2-40B4-BE49-F238E27FC236}">
                <a16:creationId xmlns:a16="http://schemas.microsoft.com/office/drawing/2014/main" id="{A2FD3FAB-299A-42C2-AED9-7A94657198FA}"/>
              </a:ext>
            </a:extLst>
          </p:cNvPr>
          <p:cNvSpPr txBox="1"/>
          <p:nvPr/>
        </p:nvSpPr>
        <p:spPr>
          <a:xfrm>
            <a:off x="8858251" y="2042584"/>
            <a:ext cx="967316" cy="3852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9F26DCC-E2E9-4446-B27F-BBAD265F5181}"/>
              </a:ext>
            </a:extLst>
          </p:cNvPr>
          <p:cNvSpPr/>
          <p:nvPr/>
        </p:nvSpPr>
        <p:spPr>
          <a:xfrm>
            <a:off x="9647767" y="2791885"/>
            <a:ext cx="768351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45042BE-1040-4F5E-950C-665E0ADAC4DF}"/>
              </a:ext>
            </a:extLst>
          </p:cNvPr>
          <p:cNvSpPr/>
          <p:nvPr/>
        </p:nvSpPr>
        <p:spPr>
          <a:xfrm>
            <a:off x="9647767" y="3141134"/>
            <a:ext cx="768351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0DA5909-7AF3-40DB-855D-397076428D6C}"/>
              </a:ext>
            </a:extLst>
          </p:cNvPr>
          <p:cNvSpPr/>
          <p:nvPr/>
        </p:nvSpPr>
        <p:spPr>
          <a:xfrm>
            <a:off x="10416117" y="2791885"/>
            <a:ext cx="1151467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null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3E6EB2B-5791-41FA-86BD-518F0EFDA4D5}"/>
              </a:ext>
            </a:extLst>
          </p:cNvPr>
          <p:cNvSpPr/>
          <p:nvPr/>
        </p:nvSpPr>
        <p:spPr>
          <a:xfrm>
            <a:off x="10416117" y="3141134"/>
            <a:ext cx="1151467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0D89E25-1205-43FF-9FEE-FFBE723A4A7D}"/>
              </a:ext>
            </a:extLst>
          </p:cNvPr>
          <p:cNvSpPr/>
          <p:nvPr/>
        </p:nvSpPr>
        <p:spPr>
          <a:xfrm>
            <a:off x="9647767" y="2442633"/>
            <a:ext cx="768351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8CF8116-962B-406A-A468-BCCA6A4621A7}"/>
              </a:ext>
            </a:extLst>
          </p:cNvPr>
          <p:cNvSpPr/>
          <p:nvPr/>
        </p:nvSpPr>
        <p:spPr>
          <a:xfrm>
            <a:off x="10416117" y="2442633"/>
            <a:ext cx="1151467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0C5AE6A-ADDB-4EC4-8FFA-7C45F7A409DA}"/>
              </a:ext>
            </a:extLst>
          </p:cNvPr>
          <p:cNvSpPr/>
          <p:nvPr/>
        </p:nvSpPr>
        <p:spPr>
          <a:xfrm>
            <a:off x="2639484" y="2611967"/>
            <a:ext cx="2159000" cy="213784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6066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44444E-6 L -1.38889E-6 0.62284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11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7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250" autoRev="1" fill="remov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2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0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250" autoRev="1" fill="remove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1" grpId="1" animBg="1"/>
      <p:bldP spid="22" grpId="0" animBg="1"/>
      <p:bldP spid="22" grpId="1" animBg="1"/>
      <p:bldP spid="22" grpId="2" animBg="1"/>
      <p:bldP spid="23" grpId="0" animBg="1"/>
      <p:bldP spid="23" grpId="1" animBg="1"/>
      <p:bldP spid="25" grpId="0" animBg="1"/>
      <p:bldP spid="25" grpId="1" animBg="1"/>
      <p:bldP spid="26" grpId="0" animBg="1"/>
      <p:bldP spid="27" grpId="0" animBg="1"/>
      <p:bldP spid="28" grpId="0" animBg="1"/>
      <p:bldP spid="28" grpId="1" animBg="1"/>
      <p:bldP spid="28" grpId="2" animBg="1"/>
      <p:bldP spid="29" grpId="0" animBg="1"/>
      <p:bldP spid="30" grpId="0" animBg="1"/>
      <p:bldP spid="30" grpId="1" animBg="1"/>
      <p:bldP spid="30" grpId="2" animBg="1"/>
      <p:bldP spid="31" grpId="0" animBg="1"/>
      <p:bldP spid="32" grpId="0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39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构造方法执行流程</a:t>
            </a:r>
            <a:endParaRPr kumimoji="1" lang="zh-CN" altLang="en-US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6" name="组合 8">
            <a:extLst>
              <a:ext uri="{FF2B5EF4-FFF2-40B4-BE49-F238E27FC236}">
                <a16:creationId xmlns:a16="http://schemas.microsoft.com/office/drawing/2014/main" id="{DC40ADBB-0D98-467A-8C68-41C42366E8B2}"/>
              </a:ext>
            </a:extLst>
          </p:cNvPr>
          <p:cNvGrpSpPr>
            <a:grpSpLocks/>
          </p:cNvGrpSpPr>
          <p:nvPr/>
        </p:nvGrpSpPr>
        <p:grpSpPr bwMode="auto">
          <a:xfrm>
            <a:off x="8754534" y="1807633"/>
            <a:ext cx="3198284" cy="4790018"/>
            <a:chOff x="6565874" y="1354975"/>
            <a:chExt cx="2398614" cy="359358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D70A956-8811-47B5-8CC9-183766340978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3587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TextBox 2">
              <a:extLst>
                <a:ext uri="{FF2B5EF4-FFF2-40B4-BE49-F238E27FC236}">
                  <a16:creationId xmlns:a16="http://schemas.microsoft.com/office/drawing/2014/main" id="{257A3982-4422-429E-8701-2089B873B3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6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9" name="组合 11">
            <a:extLst>
              <a:ext uri="{FF2B5EF4-FFF2-40B4-BE49-F238E27FC236}">
                <a16:creationId xmlns:a16="http://schemas.microsoft.com/office/drawing/2014/main" id="{3F20AFF8-FE47-47E4-B244-4AC5CF38DCED}"/>
              </a:ext>
            </a:extLst>
          </p:cNvPr>
          <p:cNvGrpSpPr>
            <a:grpSpLocks/>
          </p:cNvGrpSpPr>
          <p:nvPr/>
        </p:nvGrpSpPr>
        <p:grpSpPr bwMode="auto">
          <a:xfrm>
            <a:off x="5941484" y="1797051"/>
            <a:ext cx="2360083" cy="4800600"/>
            <a:chOff x="4441895" y="1347668"/>
            <a:chExt cx="1771200" cy="360034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FF9EB96-053D-48A3-BF56-35A6DA6B1399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169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1" name="TextBox 2">
              <a:extLst>
                <a:ext uri="{FF2B5EF4-FFF2-40B4-BE49-F238E27FC236}">
                  <a16:creationId xmlns:a16="http://schemas.microsoft.com/office/drawing/2014/main" id="{49BC3EE1-CB5D-4ABF-8621-B49D0EB31C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043E7522-AAB4-4A36-A3E7-B8CA5A70DEBB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7AC9A917-75C7-486D-9EBD-D0995BBE0510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3350F47A-ED76-4E29-B81F-5A9C3DF9A58D}"/>
                </a:ext>
              </a:extLst>
            </p:cNvPr>
            <p:cNvCxnSpPr/>
            <p:nvPr/>
          </p:nvCxnSpPr>
          <p:spPr>
            <a:xfrm flipH="1">
              <a:off x="4441895" y="4944837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BF7AC3FE-8CDC-4A2E-889E-7B34033E9964}"/>
              </a:ext>
            </a:extLst>
          </p:cNvPr>
          <p:cNvSpPr/>
          <p:nvPr/>
        </p:nvSpPr>
        <p:spPr>
          <a:xfrm>
            <a:off x="9647768" y="2093385"/>
            <a:ext cx="1919817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5693F535-F054-4438-B130-E3192B221C61}"/>
              </a:ext>
            </a:extLst>
          </p:cNvPr>
          <p:cNvSpPr txBox="1"/>
          <p:nvPr/>
        </p:nvSpPr>
        <p:spPr>
          <a:xfrm>
            <a:off x="8858251" y="2042584"/>
            <a:ext cx="967316" cy="3852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5F87E98-5F20-49D7-A028-18A3EBB3718D}"/>
              </a:ext>
            </a:extLst>
          </p:cNvPr>
          <p:cNvSpPr/>
          <p:nvPr/>
        </p:nvSpPr>
        <p:spPr>
          <a:xfrm>
            <a:off x="9647767" y="2791885"/>
            <a:ext cx="768351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7EB4A5-BAF2-4F84-A319-38B1FB124380}"/>
              </a:ext>
            </a:extLst>
          </p:cNvPr>
          <p:cNvSpPr/>
          <p:nvPr/>
        </p:nvSpPr>
        <p:spPr>
          <a:xfrm>
            <a:off x="9647767" y="3141134"/>
            <a:ext cx="768351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BCA418-FB25-4B2E-9DA3-FB3B18BBFB28}"/>
              </a:ext>
            </a:extLst>
          </p:cNvPr>
          <p:cNvSpPr/>
          <p:nvPr/>
        </p:nvSpPr>
        <p:spPr>
          <a:xfrm>
            <a:off x="10416117" y="2791885"/>
            <a:ext cx="1151467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null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2E4579B-A86F-44A8-B05A-001A009AD82A}"/>
              </a:ext>
            </a:extLst>
          </p:cNvPr>
          <p:cNvSpPr/>
          <p:nvPr/>
        </p:nvSpPr>
        <p:spPr>
          <a:xfrm>
            <a:off x="10416117" y="3141134"/>
            <a:ext cx="1151467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1B7951D-0190-4D6A-A7E7-A3A894DB77CA}"/>
              </a:ext>
            </a:extLst>
          </p:cNvPr>
          <p:cNvSpPr/>
          <p:nvPr/>
        </p:nvSpPr>
        <p:spPr>
          <a:xfrm>
            <a:off x="9647767" y="2442633"/>
            <a:ext cx="768351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BE27AD7-A088-49A3-97C5-52203D1432BA}"/>
              </a:ext>
            </a:extLst>
          </p:cNvPr>
          <p:cNvSpPr/>
          <p:nvPr/>
        </p:nvSpPr>
        <p:spPr>
          <a:xfrm>
            <a:off x="10416117" y="2442633"/>
            <a:ext cx="1151467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C9AB1564-FB11-46B9-B183-6F88BC4CC8C9}"/>
              </a:ext>
            </a:extLst>
          </p:cNvPr>
          <p:cNvSpPr txBox="1"/>
          <p:nvPr/>
        </p:nvSpPr>
        <p:spPr>
          <a:xfrm>
            <a:off x="6017684" y="984251"/>
            <a:ext cx="2209800" cy="73866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构造方法：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age</a:t>
            </a:r>
            <a:endParaRPr lang="en-US" altLang="zh-CN" sz="1400" kern="0" dirty="0">
              <a:solidFill>
                <a:srgbClr val="00008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E4588E19-1E4F-4F68-A6EE-39936BF32796}"/>
              </a:ext>
            </a:extLst>
          </p:cNvPr>
          <p:cNvSpPr txBox="1"/>
          <p:nvPr/>
        </p:nvSpPr>
        <p:spPr>
          <a:xfrm>
            <a:off x="6017684" y="5467351"/>
            <a:ext cx="2209800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 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endParaRPr lang="en-US" altLang="zh-CN" sz="1400" kern="0" dirty="0">
              <a:solidFill>
                <a:srgbClr val="00008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A0C69727-F1E9-471B-8876-857A21A7756D}"/>
              </a:ext>
            </a:extLst>
          </p:cNvPr>
          <p:cNvSpPr txBox="1"/>
          <p:nvPr/>
        </p:nvSpPr>
        <p:spPr>
          <a:xfrm>
            <a:off x="6017684" y="4612218"/>
            <a:ext cx="2209800" cy="73866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构造方法：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age</a:t>
            </a:r>
            <a:endParaRPr lang="en-US" altLang="zh-CN" sz="1400" kern="0" dirty="0">
              <a:solidFill>
                <a:srgbClr val="00008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B5B6C52E-83FB-4E31-8EAF-F0E48CF7B62A}"/>
              </a:ext>
            </a:extLst>
          </p:cNvPr>
          <p:cNvSpPr txBox="1"/>
          <p:nvPr/>
        </p:nvSpPr>
        <p:spPr>
          <a:xfrm>
            <a:off x="425451" y="2341034"/>
            <a:ext cx="4620683" cy="95410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static void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main(String[] args)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.show();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9" name="TextBox 3">
            <a:extLst>
              <a:ext uri="{FF2B5EF4-FFF2-40B4-BE49-F238E27FC236}">
                <a16:creationId xmlns:a16="http://schemas.microsoft.com/office/drawing/2014/main" id="{B7E60D91-5F9D-42B3-A5A9-6E17C6C8C87C}"/>
              </a:ext>
            </a:extLst>
          </p:cNvPr>
          <p:cNvSpPr txBox="1"/>
          <p:nvPr/>
        </p:nvSpPr>
        <p:spPr>
          <a:xfrm>
            <a:off x="1075267" y="3141134"/>
            <a:ext cx="4620684" cy="289310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class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String 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 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(String name,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age)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name;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age;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void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show()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sout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"---"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9D90B51-3483-4F65-B458-0D349DCC4AE4}"/>
              </a:ext>
            </a:extLst>
          </p:cNvPr>
          <p:cNvSpPr/>
          <p:nvPr/>
        </p:nvSpPr>
        <p:spPr>
          <a:xfrm>
            <a:off x="1075267" y="4275667"/>
            <a:ext cx="4620684" cy="213784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TextBox 3">
            <a:extLst>
              <a:ext uri="{FF2B5EF4-FFF2-40B4-BE49-F238E27FC236}">
                <a16:creationId xmlns:a16="http://schemas.microsoft.com/office/drawing/2014/main" id="{33F287BD-D0ED-4131-8167-AB6A26735B51}"/>
              </a:ext>
            </a:extLst>
          </p:cNvPr>
          <p:cNvSpPr txBox="1"/>
          <p:nvPr/>
        </p:nvSpPr>
        <p:spPr>
          <a:xfrm>
            <a:off x="6017684" y="4382559"/>
            <a:ext cx="2209800" cy="95410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构造方法：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调用者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 </a:t>
            </a: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en-US" altLang="zh-CN" sz="1400" kern="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age</a:t>
            </a:r>
          </a:p>
        </p:txBody>
      </p:sp>
      <p:sp>
        <p:nvSpPr>
          <p:cNvPr id="32" name="TextBox 3">
            <a:extLst>
              <a:ext uri="{FF2B5EF4-FFF2-40B4-BE49-F238E27FC236}">
                <a16:creationId xmlns:a16="http://schemas.microsoft.com/office/drawing/2014/main" id="{2C4C7C3A-4568-4893-875D-2681314F40EE}"/>
              </a:ext>
            </a:extLst>
          </p:cNvPr>
          <p:cNvSpPr txBox="1"/>
          <p:nvPr/>
        </p:nvSpPr>
        <p:spPr>
          <a:xfrm>
            <a:off x="6021919" y="4389667"/>
            <a:ext cx="2209800" cy="95410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构造方法：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调用者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 </a:t>
            </a: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en-US" altLang="zh-CN" sz="1400" kern="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</a:t>
            </a:r>
            <a:r>
              <a:rPr lang="zh-CN" altLang="zh-CN" sz="1333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endParaRPr lang="en-US" altLang="zh-CN" sz="1333" kern="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    age  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3" name="肘形连接符 4">
            <a:extLst>
              <a:ext uri="{FF2B5EF4-FFF2-40B4-BE49-F238E27FC236}">
                <a16:creationId xmlns:a16="http://schemas.microsoft.com/office/drawing/2014/main" id="{AA1558EC-4C0F-4419-80F6-86B79D14252F}"/>
              </a:ext>
            </a:extLst>
          </p:cNvPr>
          <p:cNvCxnSpPr>
            <a:cxnSpLocks/>
          </p:cNvCxnSpPr>
          <p:nvPr/>
        </p:nvCxnSpPr>
        <p:spPr>
          <a:xfrm>
            <a:off x="3771900" y="2825751"/>
            <a:ext cx="3488267" cy="2171700"/>
          </a:xfrm>
          <a:prstGeom prst="bentConnector3">
            <a:avLst>
              <a:gd name="adj1" fmla="val 138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连接符 7">
            <a:extLst>
              <a:ext uri="{FF2B5EF4-FFF2-40B4-BE49-F238E27FC236}">
                <a16:creationId xmlns:a16="http://schemas.microsoft.com/office/drawing/2014/main" id="{4FA840A7-F62D-43AE-A5B9-53636F937AAF}"/>
              </a:ext>
            </a:extLst>
          </p:cNvPr>
          <p:cNvCxnSpPr>
            <a:cxnSpLocks/>
          </p:cNvCxnSpPr>
          <p:nvPr/>
        </p:nvCxnSpPr>
        <p:spPr>
          <a:xfrm>
            <a:off x="4538134" y="2861733"/>
            <a:ext cx="2722033" cy="2347384"/>
          </a:xfrm>
          <a:prstGeom prst="bentConnector3">
            <a:avLst>
              <a:gd name="adj1" fmla="val 742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710F68D7-6C4C-4591-A083-2FF7C356F5D3}"/>
              </a:ext>
            </a:extLst>
          </p:cNvPr>
          <p:cNvSpPr/>
          <p:nvPr/>
        </p:nvSpPr>
        <p:spPr>
          <a:xfrm>
            <a:off x="2639484" y="2611967"/>
            <a:ext cx="2159000" cy="213784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4014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2.71605E-6 L -1.38889E-6 0.52624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25" grpId="2" animBg="1"/>
      <p:bldP spid="27" grpId="0" animBg="1"/>
      <p:bldP spid="27" grpId="1" animBg="1"/>
      <p:bldP spid="31" grpId="0" animBg="1"/>
      <p:bldP spid="3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构造方法执行流程</a:t>
            </a:r>
            <a:endParaRPr kumimoji="1" lang="zh-CN" altLang="en-US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6" name="组合 8">
            <a:extLst>
              <a:ext uri="{FF2B5EF4-FFF2-40B4-BE49-F238E27FC236}">
                <a16:creationId xmlns:a16="http://schemas.microsoft.com/office/drawing/2014/main" id="{CF94FEDC-C62F-46FB-BCD7-A6DE23913B6A}"/>
              </a:ext>
            </a:extLst>
          </p:cNvPr>
          <p:cNvGrpSpPr>
            <a:grpSpLocks/>
          </p:cNvGrpSpPr>
          <p:nvPr/>
        </p:nvGrpSpPr>
        <p:grpSpPr bwMode="auto">
          <a:xfrm>
            <a:off x="8754534" y="1807633"/>
            <a:ext cx="3198284" cy="4790018"/>
            <a:chOff x="6565874" y="1354975"/>
            <a:chExt cx="2398614" cy="359358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3092F48-9377-4D6A-95DE-7D895BAF7EAB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3587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TextBox 2">
              <a:extLst>
                <a:ext uri="{FF2B5EF4-FFF2-40B4-BE49-F238E27FC236}">
                  <a16:creationId xmlns:a16="http://schemas.microsoft.com/office/drawing/2014/main" id="{D228A376-2097-4AD2-A5F7-72E72A600E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6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9" name="组合 11">
            <a:extLst>
              <a:ext uri="{FF2B5EF4-FFF2-40B4-BE49-F238E27FC236}">
                <a16:creationId xmlns:a16="http://schemas.microsoft.com/office/drawing/2014/main" id="{91941876-1EBC-4F99-B7BA-378AA36E2CEF}"/>
              </a:ext>
            </a:extLst>
          </p:cNvPr>
          <p:cNvGrpSpPr>
            <a:grpSpLocks/>
          </p:cNvGrpSpPr>
          <p:nvPr/>
        </p:nvGrpSpPr>
        <p:grpSpPr bwMode="auto">
          <a:xfrm>
            <a:off x="5941484" y="1797051"/>
            <a:ext cx="2360083" cy="4800600"/>
            <a:chOff x="4441895" y="1347668"/>
            <a:chExt cx="1771200" cy="360034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57E3B39-7A3B-4D4B-A76D-63F4E7C832B1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169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1" name="TextBox 2">
              <a:extLst>
                <a:ext uri="{FF2B5EF4-FFF2-40B4-BE49-F238E27FC236}">
                  <a16:creationId xmlns:a16="http://schemas.microsoft.com/office/drawing/2014/main" id="{490DF845-D340-4DD4-A92F-3E9EE1F19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0CBBA9DC-4DC5-4FE6-96C4-DE27E6B6A5D3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9A0AA144-94F1-4171-9CCB-8E9CA01E5263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4DB36F39-7B85-42C6-A770-F2D84F003937}"/>
                </a:ext>
              </a:extLst>
            </p:cNvPr>
            <p:cNvCxnSpPr/>
            <p:nvPr/>
          </p:nvCxnSpPr>
          <p:spPr>
            <a:xfrm flipH="1">
              <a:off x="4441895" y="4944837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A510DC30-35D2-4CCC-85BD-ACC54E58AEEB}"/>
              </a:ext>
            </a:extLst>
          </p:cNvPr>
          <p:cNvSpPr/>
          <p:nvPr/>
        </p:nvSpPr>
        <p:spPr>
          <a:xfrm>
            <a:off x="9647768" y="2093385"/>
            <a:ext cx="1919817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DF18AB70-2C9A-460B-B27D-285F0BFF6D6B}"/>
              </a:ext>
            </a:extLst>
          </p:cNvPr>
          <p:cNvSpPr txBox="1"/>
          <p:nvPr/>
        </p:nvSpPr>
        <p:spPr>
          <a:xfrm>
            <a:off x="8858251" y="2042584"/>
            <a:ext cx="967316" cy="3852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CCCD347-9584-41F4-BE3C-5052DCFA315C}"/>
              </a:ext>
            </a:extLst>
          </p:cNvPr>
          <p:cNvSpPr/>
          <p:nvPr/>
        </p:nvSpPr>
        <p:spPr>
          <a:xfrm>
            <a:off x="9647767" y="2791885"/>
            <a:ext cx="768351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53E736C-AEC1-4B7F-955F-9FCAC84BAA77}"/>
              </a:ext>
            </a:extLst>
          </p:cNvPr>
          <p:cNvSpPr/>
          <p:nvPr/>
        </p:nvSpPr>
        <p:spPr>
          <a:xfrm>
            <a:off x="9647767" y="3141134"/>
            <a:ext cx="768351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8DDD7AC-5794-4BFE-A5FE-946F9C78B62C}"/>
              </a:ext>
            </a:extLst>
          </p:cNvPr>
          <p:cNvSpPr/>
          <p:nvPr/>
        </p:nvSpPr>
        <p:spPr>
          <a:xfrm>
            <a:off x="10416117" y="2791885"/>
            <a:ext cx="1151467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null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8C00A4D-C482-4F8A-A6CF-EF9C005F3393}"/>
              </a:ext>
            </a:extLst>
          </p:cNvPr>
          <p:cNvSpPr/>
          <p:nvPr/>
        </p:nvSpPr>
        <p:spPr>
          <a:xfrm>
            <a:off x="10416117" y="3141134"/>
            <a:ext cx="1151467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7756B6-4C18-4F7C-8DB4-3832E110614C}"/>
              </a:ext>
            </a:extLst>
          </p:cNvPr>
          <p:cNvSpPr/>
          <p:nvPr/>
        </p:nvSpPr>
        <p:spPr>
          <a:xfrm>
            <a:off x="9647767" y="2442633"/>
            <a:ext cx="768351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540C3A9-5A8C-4A01-8AF9-5145813737BA}"/>
              </a:ext>
            </a:extLst>
          </p:cNvPr>
          <p:cNvSpPr/>
          <p:nvPr/>
        </p:nvSpPr>
        <p:spPr>
          <a:xfrm>
            <a:off x="10416117" y="2442633"/>
            <a:ext cx="1151467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FF7AA82C-8274-47E3-A4F3-533699056952}"/>
              </a:ext>
            </a:extLst>
          </p:cNvPr>
          <p:cNvSpPr txBox="1"/>
          <p:nvPr/>
        </p:nvSpPr>
        <p:spPr>
          <a:xfrm>
            <a:off x="6017684" y="5467351"/>
            <a:ext cx="2209800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 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endParaRPr lang="en-US" altLang="zh-CN" sz="1400" kern="0" dirty="0">
              <a:solidFill>
                <a:srgbClr val="00008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5B6234DE-56F3-47A1-ADAD-411C48657F87}"/>
              </a:ext>
            </a:extLst>
          </p:cNvPr>
          <p:cNvSpPr txBox="1"/>
          <p:nvPr/>
        </p:nvSpPr>
        <p:spPr>
          <a:xfrm>
            <a:off x="425451" y="2341034"/>
            <a:ext cx="4620683" cy="95410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static void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main(String[] args)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.show();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4ED4A4F7-A187-4378-AEDC-D3AD4F315368}"/>
              </a:ext>
            </a:extLst>
          </p:cNvPr>
          <p:cNvSpPr txBox="1"/>
          <p:nvPr/>
        </p:nvSpPr>
        <p:spPr>
          <a:xfrm>
            <a:off x="1075267" y="3141134"/>
            <a:ext cx="4620684" cy="289310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class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String 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 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(String name,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age)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name;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age;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void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show()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sout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"---"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973EBDA-0ACC-4CCB-B290-7AA67346E402}"/>
              </a:ext>
            </a:extLst>
          </p:cNvPr>
          <p:cNvSpPr/>
          <p:nvPr/>
        </p:nvSpPr>
        <p:spPr>
          <a:xfrm>
            <a:off x="1075267" y="4485218"/>
            <a:ext cx="4620684" cy="213783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9" name="TextBox 3">
            <a:extLst>
              <a:ext uri="{FF2B5EF4-FFF2-40B4-BE49-F238E27FC236}">
                <a16:creationId xmlns:a16="http://schemas.microsoft.com/office/drawing/2014/main" id="{CE2C55A3-06F5-488C-95A5-38AE096CD13C}"/>
              </a:ext>
            </a:extLst>
          </p:cNvPr>
          <p:cNvSpPr txBox="1"/>
          <p:nvPr/>
        </p:nvSpPr>
        <p:spPr>
          <a:xfrm>
            <a:off x="6017684" y="4396318"/>
            <a:ext cx="2209800" cy="95410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构造方法：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调用者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 </a:t>
            </a: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en-US" altLang="zh-CN" sz="1400" kern="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</a:t>
            </a:r>
            <a:r>
              <a:rPr lang="zh-CN" altLang="zh-CN" sz="1333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endParaRPr lang="en-US" altLang="zh-CN" sz="1333" kern="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age  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en-US" altLang="zh-CN" sz="1400" kern="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70C9A32-7E4E-4E31-B2AE-295EDFC4904E}"/>
              </a:ext>
            </a:extLst>
          </p:cNvPr>
          <p:cNvSpPr/>
          <p:nvPr/>
        </p:nvSpPr>
        <p:spPr>
          <a:xfrm>
            <a:off x="1938867" y="4485218"/>
            <a:ext cx="958851" cy="213783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809C4F5-54A6-45C6-AFB9-683C5BC1AC6C}"/>
              </a:ext>
            </a:extLst>
          </p:cNvPr>
          <p:cNvSpPr/>
          <p:nvPr/>
        </p:nvSpPr>
        <p:spPr>
          <a:xfrm>
            <a:off x="3119967" y="4485218"/>
            <a:ext cx="425451" cy="213783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2" name="肘形连接符 5">
            <a:extLst>
              <a:ext uri="{FF2B5EF4-FFF2-40B4-BE49-F238E27FC236}">
                <a16:creationId xmlns:a16="http://schemas.microsoft.com/office/drawing/2014/main" id="{D20E5D0A-6F8F-4F20-8E40-92338D0D74E3}"/>
              </a:ext>
            </a:extLst>
          </p:cNvPr>
          <p:cNvCxnSpPr/>
          <p:nvPr/>
        </p:nvCxnSpPr>
        <p:spPr>
          <a:xfrm rot="5400000" flipH="1" flipV="1">
            <a:off x="5276850" y="112184"/>
            <a:ext cx="1513417" cy="7232651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肘形连接符 19">
            <a:extLst>
              <a:ext uri="{FF2B5EF4-FFF2-40B4-BE49-F238E27FC236}">
                <a16:creationId xmlns:a16="http://schemas.microsoft.com/office/drawing/2014/main" id="{8E2CB30A-587E-4CF4-BF84-D87A02716161}"/>
              </a:ext>
            </a:extLst>
          </p:cNvPr>
          <p:cNvCxnSpPr/>
          <p:nvPr/>
        </p:nvCxnSpPr>
        <p:spPr>
          <a:xfrm rot="16200000" flipH="1">
            <a:off x="4897968" y="3134784"/>
            <a:ext cx="309033" cy="3437467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0E14289B-DC2B-4396-8CE1-EA9200FF33B6}"/>
              </a:ext>
            </a:extLst>
          </p:cNvPr>
          <p:cNvSpPr/>
          <p:nvPr/>
        </p:nvSpPr>
        <p:spPr>
          <a:xfrm>
            <a:off x="7086600" y="4832351"/>
            <a:ext cx="1047082" cy="2974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zh-CN" sz="1333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endParaRPr lang="en-US" altLang="zh-CN" sz="1333" kern="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E059806-5A24-4A7E-ADB7-072423B19056}"/>
              </a:ext>
            </a:extLst>
          </p:cNvPr>
          <p:cNvSpPr/>
          <p:nvPr/>
        </p:nvSpPr>
        <p:spPr>
          <a:xfrm>
            <a:off x="10416117" y="2791885"/>
            <a:ext cx="1151467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C302BE3-04FE-4B5F-98D1-CB3827B0B082}"/>
              </a:ext>
            </a:extLst>
          </p:cNvPr>
          <p:cNvSpPr/>
          <p:nvPr/>
        </p:nvSpPr>
        <p:spPr>
          <a:xfrm>
            <a:off x="1064684" y="4707467"/>
            <a:ext cx="4620683" cy="213784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B44639E-D22B-4BB8-A1FD-6A515A982506}"/>
              </a:ext>
            </a:extLst>
          </p:cNvPr>
          <p:cNvSpPr/>
          <p:nvPr/>
        </p:nvSpPr>
        <p:spPr>
          <a:xfrm>
            <a:off x="7183967" y="5033434"/>
            <a:ext cx="3898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en-US" altLang="zh-CN" sz="1400" kern="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33F944C-1A18-420D-ACE0-24FD7ED5050F}"/>
              </a:ext>
            </a:extLst>
          </p:cNvPr>
          <p:cNvSpPr/>
          <p:nvPr/>
        </p:nvSpPr>
        <p:spPr>
          <a:xfrm>
            <a:off x="10416117" y="3141134"/>
            <a:ext cx="1151467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9C77E13-90ED-4E86-9E76-3A6A2D048AE8}"/>
              </a:ext>
            </a:extLst>
          </p:cNvPr>
          <p:cNvSpPr/>
          <p:nvPr/>
        </p:nvSpPr>
        <p:spPr>
          <a:xfrm>
            <a:off x="2639484" y="2611967"/>
            <a:ext cx="2159000" cy="213784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766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6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4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2.59259E-6 L 0.27148 -0.29699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68" y="-14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48148E-6 L 0.29427 -0.27129 " pathEditMode="relative" rAng="0" ptsTypes="AA">
                                      <p:cBhvr>
                                        <p:cTn id="64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14" y="-135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50"/>
                            </p:stCondLst>
                            <p:childTnLst>
                              <p:par>
                                <p:cTn id="6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8" grpId="0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4" grpId="0"/>
      <p:bldP spid="34" grpId="1"/>
      <p:bldP spid="35" grpId="0" animBg="1"/>
      <p:bldP spid="36" grpId="0" animBg="1"/>
      <p:bldP spid="37" grpId="0"/>
      <p:bldP spid="37" grpId="1"/>
      <p:bldP spid="37" grpId="2"/>
      <p:bldP spid="3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构造方法执行流程</a:t>
            </a:r>
            <a:endParaRPr kumimoji="1" lang="zh-CN" altLang="en-US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6" name="组合 8">
            <a:extLst>
              <a:ext uri="{FF2B5EF4-FFF2-40B4-BE49-F238E27FC236}">
                <a16:creationId xmlns:a16="http://schemas.microsoft.com/office/drawing/2014/main" id="{B833CEBF-6BD8-4DC9-AF22-291B68DC5DF1}"/>
              </a:ext>
            </a:extLst>
          </p:cNvPr>
          <p:cNvGrpSpPr>
            <a:grpSpLocks/>
          </p:cNvGrpSpPr>
          <p:nvPr/>
        </p:nvGrpSpPr>
        <p:grpSpPr bwMode="auto">
          <a:xfrm>
            <a:off x="8754534" y="1807633"/>
            <a:ext cx="3198284" cy="4790018"/>
            <a:chOff x="6565874" y="1354975"/>
            <a:chExt cx="2398614" cy="359358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65608C5-7852-4E24-AA2E-10A88C6F3AF3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3587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TextBox 2">
              <a:extLst>
                <a:ext uri="{FF2B5EF4-FFF2-40B4-BE49-F238E27FC236}">
                  <a16:creationId xmlns:a16="http://schemas.microsoft.com/office/drawing/2014/main" id="{161E4111-0442-4C4B-9B92-484DDA7C14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6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9" name="组合 11">
            <a:extLst>
              <a:ext uri="{FF2B5EF4-FFF2-40B4-BE49-F238E27FC236}">
                <a16:creationId xmlns:a16="http://schemas.microsoft.com/office/drawing/2014/main" id="{2DDB2F08-CDF7-42CC-A8AE-E3B4019A80A6}"/>
              </a:ext>
            </a:extLst>
          </p:cNvPr>
          <p:cNvGrpSpPr>
            <a:grpSpLocks/>
          </p:cNvGrpSpPr>
          <p:nvPr/>
        </p:nvGrpSpPr>
        <p:grpSpPr bwMode="auto">
          <a:xfrm>
            <a:off x="5941484" y="1797051"/>
            <a:ext cx="2360083" cy="4800600"/>
            <a:chOff x="4441895" y="1347668"/>
            <a:chExt cx="1771200" cy="360034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41D8D20-B076-4156-8D97-F705FA43328F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169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1" name="TextBox 2">
              <a:extLst>
                <a:ext uri="{FF2B5EF4-FFF2-40B4-BE49-F238E27FC236}">
                  <a16:creationId xmlns:a16="http://schemas.microsoft.com/office/drawing/2014/main" id="{AA5A1D2C-B0BA-4130-8343-56CDA111A3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86963F69-281B-45BC-8539-3F03446F3802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3BF4241B-6842-49B4-B973-CA0A9FE23BF2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A60103E-1D47-4727-84C9-36C5D9722273}"/>
                </a:ext>
              </a:extLst>
            </p:cNvPr>
            <p:cNvCxnSpPr/>
            <p:nvPr/>
          </p:nvCxnSpPr>
          <p:spPr>
            <a:xfrm flipH="1">
              <a:off x="4441895" y="4944837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C0B19E67-7A52-4AC1-9FB0-9477912BCDB5}"/>
              </a:ext>
            </a:extLst>
          </p:cNvPr>
          <p:cNvSpPr/>
          <p:nvPr/>
        </p:nvSpPr>
        <p:spPr>
          <a:xfrm>
            <a:off x="9647768" y="2093385"/>
            <a:ext cx="1919817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D644B746-1557-4410-BED2-ABEB4A389A20}"/>
              </a:ext>
            </a:extLst>
          </p:cNvPr>
          <p:cNvSpPr txBox="1"/>
          <p:nvPr/>
        </p:nvSpPr>
        <p:spPr>
          <a:xfrm>
            <a:off x="8858251" y="2042584"/>
            <a:ext cx="967316" cy="3852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EBE4F52-2408-43C5-999C-8CEF4456821A}"/>
              </a:ext>
            </a:extLst>
          </p:cNvPr>
          <p:cNvSpPr/>
          <p:nvPr/>
        </p:nvSpPr>
        <p:spPr>
          <a:xfrm>
            <a:off x="9647767" y="2791885"/>
            <a:ext cx="768351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80772B8-414A-401C-AFFE-8F05DA1AFE28}"/>
              </a:ext>
            </a:extLst>
          </p:cNvPr>
          <p:cNvSpPr/>
          <p:nvPr/>
        </p:nvSpPr>
        <p:spPr>
          <a:xfrm>
            <a:off x="9647767" y="3141134"/>
            <a:ext cx="768351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BE9DB36-73F8-4AAA-A0EB-802757D5CED5}"/>
              </a:ext>
            </a:extLst>
          </p:cNvPr>
          <p:cNvSpPr/>
          <p:nvPr/>
        </p:nvSpPr>
        <p:spPr>
          <a:xfrm>
            <a:off x="9647767" y="2442633"/>
            <a:ext cx="768351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A3684FE-28F7-4601-A9AB-B0BC3247A41D}"/>
              </a:ext>
            </a:extLst>
          </p:cNvPr>
          <p:cNvSpPr/>
          <p:nvPr/>
        </p:nvSpPr>
        <p:spPr>
          <a:xfrm>
            <a:off x="10416117" y="2442633"/>
            <a:ext cx="1151467" cy="34925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CE4508DC-75CA-45F4-8092-0852D249FB48}"/>
              </a:ext>
            </a:extLst>
          </p:cNvPr>
          <p:cNvSpPr txBox="1"/>
          <p:nvPr/>
        </p:nvSpPr>
        <p:spPr>
          <a:xfrm>
            <a:off x="6017684" y="5467351"/>
            <a:ext cx="2209800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 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endParaRPr lang="en-US" altLang="zh-CN" sz="1400" kern="0" dirty="0">
              <a:solidFill>
                <a:srgbClr val="00008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7AAD357D-C86C-4287-8D4A-31E9D37ABD8C}"/>
              </a:ext>
            </a:extLst>
          </p:cNvPr>
          <p:cNvSpPr txBox="1"/>
          <p:nvPr/>
        </p:nvSpPr>
        <p:spPr>
          <a:xfrm>
            <a:off x="425451" y="2341034"/>
            <a:ext cx="4620683" cy="95410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static void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main(String[] args)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.show();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70D30ABD-1AED-4F96-BBC6-57521C4578A2}"/>
              </a:ext>
            </a:extLst>
          </p:cNvPr>
          <p:cNvSpPr txBox="1"/>
          <p:nvPr/>
        </p:nvSpPr>
        <p:spPr>
          <a:xfrm>
            <a:off x="1075267" y="3141134"/>
            <a:ext cx="4620684" cy="289310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class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String 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 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(String name,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age)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name;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age;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void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show() {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sout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</a:t>
            </a: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"---"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 </a:t>
            </a:r>
            <a:r>
              <a:rPr lang="zh-CN" altLang="zh-CN" sz="1400" b="1" dirty="0">
                <a:solidFill>
                  <a:srgbClr val="660E7A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b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C0F6C25-FD92-4EB4-B71F-028290211A40}"/>
              </a:ext>
            </a:extLst>
          </p:cNvPr>
          <p:cNvSpPr/>
          <p:nvPr/>
        </p:nvSpPr>
        <p:spPr>
          <a:xfrm>
            <a:off x="1064684" y="4914900"/>
            <a:ext cx="4620683" cy="213784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70A113CD-29F5-40DC-8E0A-8C74D540660C}"/>
              </a:ext>
            </a:extLst>
          </p:cNvPr>
          <p:cNvSpPr txBox="1"/>
          <p:nvPr/>
        </p:nvSpPr>
        <p:spPr>
          <a:xfrm>
            <a:off x="6017684" y="4396318"/>
            <a:ext cx="2209800" cy="95410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构造方法：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调用者 </a:t>
            </a:r>
            <a:r>
              <a:rPr lang="zh-CN" altLang="zh-CN" sz="14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 </a:t>
            </a: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en-US" altLang="zh-CN" sz="1400" kern="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</a:t>
            </a:r>
            <a:r>
              <a:rPr lang="zh-CN" altLang="zh-CN" sz="1333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endParaRPr lang="en-US" altLang="zh-CN" sz="1333" kern="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age  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en-US" altLang="zh-CN" sz="1400" kern="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6F5132-E89F-4A78-9E38-A4C8AFC151C3}"/>
              </a:ext>
            </a:extLst>
          </p:cNvPr>
          <p:cNvSpPr/>
          <p:nvPr/>
        </p:nvSpPr>
        <p:spPr>
          <a:xfrm>
            <a:off x="10416117" y="2791885"/>
            <a:ext cx="1151467" cy="3492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zh-CN" sz="1400" b="1" dirty="0">
                <a:solidFill>
                  <a:srgbClr val="008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9964BA6-2C8B-4894-8330-4EBEB298E01F}"/>
              </a:ext>
            </a:extLst>
          </p:cNvPr>
          <p:cNvSpPr/>
          <p:nvPr/>
        </p:nvSpPr>
        <p:spPr>
          <a:xfrm>
            <a:off x="10416117" y="3141134"/>
            <a:ext cx="1151467" cy="34713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51A0891-5161-4B83-99AF-187FA5766862}"/>
              </a:ext>
            </a:extLst>
          </p:cNvPr>
          <p:cNvSpPr/>
          <p:nvPr/>
        </p:nvSpPr>
        <p:spPr>
          <a:xfrm>
            <a:off x="2639484" y="2611967"/>
            <a:ext cx="2159000" cy="213784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59188E2A-591A-FEF0-1B7B-A11DA4DE8AF6}"/>
              </a:ext>
            </a:extLst>
          </p:cNvPr>
          <p:cNvSpPr txBox="1"/>
          <p:nvPr/>
        </p:nvSpPr>
        <p:spPr>
          <a:xfrm>
            <a:off x="7470974" y="5632931"/>
            <a:ext cx="967316" cy="3852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3236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33333E-6 L -4.79167E-6 -0.53449 " pathEditMode="relative" rAng="0" ptsTypes="AA">
                                      <p:cBhvr>
                                        <p:cTn id="6" dur="1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673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B7C8F-24B3-2FBA-B283-78D717D35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E6C0AFA-0691-6715-5DB9-E4D35180FA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构造方法的作用：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创建对象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给成员变量初始化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构造方法的格式：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方法名与类名相同，大小写也要一致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没有返回值类型，连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void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都没有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没有具体的返回值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构造方法的注意事项：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如果一个类中没写构造方法，系统会提供一个默认的无参构造方法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如果手动编写了构造方法，系统将不会提供默认的那个无参构造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 indent="0">
              <a:lnSpc>
                <a:spcPct val="100000"/>
              </a:lnSpc>
              <a:buNone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建议：无参构造，带参构造全部手动给出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AA6739E-F386-9603-EC44-F622E75AD4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44475"/>
            <a:ext cx="8770938" cy="5175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6346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93E41-6BDC-F100-4816-341857DCE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63DB6EA-4A6D-CB7F-24C1-26D7E69A01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面向对象思想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类和对象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类和对象内存图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成员变量和局部变量的区别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this </a:t>
            </a:r>
            <a:r>
              <a:rPr lang="zh-CN" altLang="en-US" dirty="0">
                <a:latin typeface="Consolas" panose="020B0609020204030204" pitchFamily="49" charset="0"/>
              </a:rPr>
              <a:t>关键字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构造方法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封装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JavaBean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static </a:t>
            </a:r>
            <a:r>
              <a:rPr lang="zh-CN" altLang="en-US" dirty="0">
                <a:latin typeface="Consolas" panose="020B0609020204030204" pitchFamily="49" charset="0"/>
              </a:rPr>
              <a:t>关键字</a:t>
            </a:r>
          </a:p>
        </p:txBody>
      </p:sp>
    </p:spTree>
    <p:extLst>
      <p:ext uri="{BB962C8B-B14F-4D97-AF65-F5344CB8AC3E}">
        <p14:creationId xmlns:p14="http://schemas.microsoft.com/office/powerpoint/2010/main" val="2314702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5721E-ECEF-3E98-6696-37536E59F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E22E8D-91FB-8063-30D8-3D7E23D141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5357661" cy="901700"/>
          </a:xfrm>
        </p:spPr>
        <p:txBody>
          <a:bodyPr/>
          <a:lstStyle/>
          <a:p>
            <a:r>
              <a:rPr lang="zh-CN" altLang="en-US" dirty="0"/>
              <a:t>封装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71A8CB78-C8C4-FCDA-9A0C-49935E7F8C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774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面向对象三大特征</a:t>
            </a: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72ACC91-5166-40AB-A460-8F6A140529A1}"/>
              </a:ext>
            </a:extLst>
          </p:cNvPr>
          <p:cNvSpPr/>
          <p:nvPr/>
        </p:nvSpPr>
        <p:spPr>
          <a:xfrm>
            <a:off x="1240985" y="1905897"/>
            <a:ext cx="1612201" cy="1612201"/>
          </a:xfrm>
          <a:prstGeom prst="ellipse">
            <a:avLst/>
          </a:prstGeom>
          <a:solidFill>
            <a:srgbClr val="AD2B26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Bebas"/>
              </a:rPr>
              <a:t>封装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D596083-08A1-4846-B0A7-7E3FCC668A62}"/>
              </a:ext>
            </a:extLst>
          </p:cNvPr>
          <p:cNvSpPr/>
          <p:nvPr/>
        </p:nvSpPr>
        <p:spPr>
          <a:xfrm>
            <a:off x="4956172" y="1905897"/>
            <a:ext cx="1612201" cy="1612201"/>
          </a:xfrm>
          <a:prstGeom prst="ellipse">
            <a:avLst/>
          </a:prstGeom>
          <a:solidFill>
            <a:srgbClr val="49504F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Bebas"/>
              </a:rPr>
              <a:t>继承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82C349D-E9AA-43C8-9469-1928E6B26E39}"/>
              </a:ext>
            </a:extLst>
          </p:cNvPr>
          <p:cNvSpPr/>
          <p:nvPr/>
        </p:nvSpPr>
        <p:spPr>
          <a:xfrm>
            <a:off x="8675800" y="1905898"/>
            <a:ext cx="1612201" cy="1612201"/>
          </a:xfrm>
          <a:prstGeom prst="ellipse">
            <a:avLst/>
          </a:prstGeom>
          <a:solidFill>
            <a:srgbClr val="AD2B26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Bebas"/>
              </a:rPr>
              <a:t>多态</a:t>
            </a:r>
          </a:p>
        </p:txBody>
      </p:sp>
    </p:spTree>
    <p:extLst>
      <p:ext uri="{BB962C8B-B14F-4D97-AF65-F5344CB8AC3E}">
        <p14:creationId xmlns:p14="http://schemas.microsoft.com/office/powerpoint/2010/main" val="497856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6" grpId="1" animBg="1"/>
      <p:bldP spid="17" grpId="0" animBg="1"/>
      <p:bldP spid="17" grpId="1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封装思想</a:t>
            </a: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72ACC91-5166-40AB-A460-8F6A140529A1}"/>
              </a:ext>
            </a:extLst>
          </p:cNvPr>
          <p:cNvSpPr/>
          <p:nvPr/>
        </p:nvSpPr>
        <p:spPr>
          <a:xfrm>
            <a:off x="1240985" y="1905897"/>
            <a:ext cx="1612201" cy="1612201"/>
          </a:xfrm>
          <a:prstGeom prst="ellipse">
            <a:avLst/>
          </a:prstGeom>
          <a:solidFill>
            <a:srgbClr val="AD2B26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Bebas"/>
              </a:rPr>
              <a:t>封装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C47AA40-303D-412E-8871-11DC3F2590DC}"/>
              </a:ext>
            </a:extLst>
          </p:cNvPr>
          <p:cNvSpPr txBox="1"/>
          <p:nvPr/>
        </p:nvSpPr>
        <p:spPr>
          <a:xfrm>
            <a:off x="2937853" y="2399359"/>
            <a:ext cx="8632242" cy="2059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250000"/>
              </a:lnSpc>
            </a:pPr>
            <a:r>
              <a:rPr lang="zh-CN" altLang="en-US" dirty="0"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封装就是将</a:t>
            </a:r>
            <a:r>
              <a:rPr lang="zh-CN" altLang="en-US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数据（属性）</a:t>
            </a:r>
            <a:r>
              <a:rPr lang="zh-CN" altLang="en-US" dirty="0"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和 </a:t>
            </a:r>
            <a:r>
              <a:rPr lang="zh-CN" altLang="en-US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操作数据的方法 </a:t>
            </a:r>
            <a:r>
              <a:rPr lang="zh-CN" altLang="en-US" dirty="0"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捆绑在一起</a:t>
            </a:r>
            <a:endParaRPr lang="en-US" altLang="zh-CN" dirty="0"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  <a:p>
            <a:pPr lvl="1">
              <a:lnSpc>
                <a:spcPct val="250000"/>
              </a:lnSpc>
            </a:pPr>
            <a:r>
              <a:rPr lang="zh-CN" altLang="en-US" dirty="0"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组成一个整体，也就是类</a:t>
            </a:r>
            <a:endParaRPr lang="en-US" altLang="zh-CN" dirty="0"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  <a:p>
            <a:pPr lvl="1">
              <a:lnSpc>
                <a:spcPct val="250000"/>
              </a:lnSpc>
            </a:pPr>
            <a:r>
              <a:rPr lang="zh-CN" altLang="en-US" dirty="0"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同时，通过访问修饰符来控制对类中属性和方法的访问权限，从而实现信息隐藏</a:t>
            </a:r>
            <a:endParaRPr kumimoji="1" lang="zh-CN" altLang="en-US" sz="2800" dirty="0">
              <a:latin typeface="杨任东竹石体-Bold" panose="02000000000000000000" pitchFamily="2" charset="-122"/>
              <a:ea typeface="杨任东竹石体-Bold" panose="02000000000000000000" pitchFamily="2" charset="-122"/>
              <a:cs typeface="Alibaba PuHuiTi Medium" panose="00020600040101010101" pitchFamily="18" charset="-122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0E0E85D-44D1-689B-7E98-AFC75482AF20}"/>
              </a:ext>
            </a:extLst>
          </p:cNvPr>
          <p:cNvGraphicFramePr>
            <a:graphicFrameLocks noGrp="1"/>
          </p:cNvGraphicFramePr>
          <p:nvPr/>
        </p:nvGraphicFramePr>
        <p:xfrm>
          <a:off x="-3988119" y="-1683924"/>
          <a:ext cx="2936560" cy="1191751"/>
        </p:xfrm>
        <a:graphic>
          <a:graphicData uri="http://schemas.openxmlformats.org/drawingml/2006/table">
            <a:tbl>
              <a:tblPr/>
              <a:tblGrid>
                <a:gridCol w="787409">
                  <a:extLst>
                    <a:ext uri="{9D8B030D-6E8A-4147-A177-3AD203B41FA5}">
                      <a16:colId xmlns:a16="http://schemas.microsoft.com/office/drawing/2014/main" val="4001127988"/>
                    </a:ext>
                  </a:extLst>
                </a:gridCol>
                <a:gridCol w="1000536">
                  <a:extLst>
                    <a:ext uri="{9D8B030D-6E8A-4147-A177-3AD203B41FA5}">
                      <a16:colId xmlns:a16="http://schemas.microsoft.com/office/drawing/2014/main" val="1994407513"/>
                    </a:ext>
                  </a:extLst>
                </a:gridCol>
                <a:gridCol w="1148615">
                  <a:extLst>
                    <a:ext uri="{9D8B030D-6E8A-4147-A177-3AD203B41FA5}">
                      <a16:colId xmlns:a16="http://schemas.microsoft.com/office/drawing/2014/main" val="3392711098"/>
                    </a:ext>
                  </a:extLst>
                </a:gridCol>
              </a:tblGrid>
              <a:tr h="4371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id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姓名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年龄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384562"/>
                  </a:ext>
                </a:extLst>
              </a:tr>
              <a:tr h="3772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张三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23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146473"/>
                  </a:ext>
                </a:extLst>
              </a:tr>
              <a:tr h="3772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2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李四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24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943993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D805623-36A4-1528-26A8-D704826CB982}"/>
              </a:ext>
            </a:extLst>
          </p:cNvPr>
          <p:cNvGraphicFramePr>
            <a:graphicFrameLocks noGrp="1"/>
          </p:cNvGraphicFramePr>
          <p:nvPr/>
        </p:nvGraphicFramePr>
        <p:xfrm>
          <a:off x="-1051559" y="-1683925"/>
          <a:ext cx="1270207" cy="1191751"/>
        </p:xfrm>
        <a:graphic>
          <a:graphicData uri="http://schemas.openxmlformats.org/drawingml/2006/table">
            <a:tbl>
              <a:tblPr/>
              <a:tblGrid>
                <a:gridCol w="1270207">
                  <a:extLst>
                    <a:ext uri="{9D8B030D-6E8A-4147-A177-3AD203B41FA5}">
                      <a16:colId xmlns:a16="http://schemas.microsoft.com/office/drawing/2014/main" val="1293279761"/>
                    </a:ext>
                  </a:extLst>
                </a:gridCol>
              </a:tblGrid>
              <a:tr h="4371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数学成绩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690997"/>
                  </a:ext>
                </a:extLst>
              </a:tr>
              <a:tr h="3772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90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148006"/>
                  </a:ext>
                </a:extLst>
              </a:tr>
              <a:tr h="3772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69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272953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A276C8B-F679-34FC-D69D-7814441B2675}"/>
              </a:ext>
            </a:extLst>
          </p:cNvPr>
          <p:cNvGraphicFramePr>
            <a:graphicFrameLocks noGrp="1"/>
          </p:cNvGraphicFramePr>
          <p:nvPr/>
        </p:nvGraphicFramePr>
        <p:xfrm>
          <a:off x="218648" y="-1683925"/>
          <a:ext cx="1351072" cy="1191751"/>
        </p:xfrm>
        <a:graphic>
          <a:graphicData uri="http://schemas.openxmlformats.org/drawingml/2006/table">
            <a:tbl>
              <a:tblPr/>
              <a:tblGrid>
                <a:gridCol w="1351072">
                  <a:extLst>
                    <a:ext uri="{9D8B030D-6E8A-4147-A177-3AD203B41FA5}">
                      <a16:colId xmlns:a16="http://schemas.microsoft.com/office/drawing/2014/main" val="1293279761"/>
                    </a:ext>
                  </a:extLst>
                </a:gridCol>
              </a:tblGrid>
              <a:tr h="4371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语文成绩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690997"/>
                  </a:ext>
                </a:extLst>
              </a:tr>
              <a:tr h="3772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87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148006"/>
                  </a:ext>
                </a:extLst>
              </a:tr>
              <a:tr h="3772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91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272953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D221EF02-4738-6CDD-32F2-F97F990D9D26}"/>
              </a:ext>
            </a:extLst>
          </p:cNvPr>
          <p:cNvSpPr txBox="1"/>
          <p:nvPr/>
        </p:nvSpPr>
        <p:spPr>
          <a:xfrm>
            <a:off x="12663118" y="1483970"/>
            <a:ext cx="6264962" cy="142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zh-CN" altLang="en-US" sz="2000" dirty="0"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使用类设计对象时</a:t>
            </a:r>
            <a:endParaRPr kumimoji="1" lang="en-US" altLang="zh-CN" sz="2000" dirty="0">
              <a:latin typeface="杨任东竹石体-Bold" panose="02000000000000000000" pitchFamily="2" charset="-122"/>
              <a:ea typeface="杨任东竹石体-Bold" panose="02000000000000000000" pitchFamily="2" charset="-122"/>
              <a:cs typeface="Alibaba PuHuiTi Medium" panose="00020600040101010101" pitchFamily="18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2000" dirty="0"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	</a:t>
            </a:r>
            <a:r>
              <a:rPr kumimoji="1" lang="zh-CN" altLang="en-US" sz="2000" dirty="0"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将需要处理的</a:t>
            </a:r>
            <a:r>
              <a:rPr kumimoji="1" lang="zh-CN" altLang="en-US" sz="2000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数据</a:t>
            </a:r>
            <a:endParaRPr kumimoji="1" lang="en-US" altLang="zh-CN" sz="2000" dirty="0">
              <a:solidFill>
                <a:srgbClr val="C0000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Alibaba PuHuiTi Medium" panose="00020600040101010101" pitchFamily="18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2000" dirty="0"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	</a:t>
            </a:r>
            <a:r>
              <a:rPr kumimoji="1" lang="zh-CN" altLang="en-US" sz="2000" dirty="0"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以及处理这些数据的</a:t>
            </a:r>
            <a:r>
              <a:rPr kumimoji="1" lang="zh-CN" altLang="en-US" sz="2000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方法</a:t>
            </a:r>
            <a:r>
              <a:rPr kumimoji="1" lang="en-US" altLang="zh-CN" sz="2000" dirty="0"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, </a:t>
            </a:r>
            <a:r>
              <a:rPr kumimoji="1" lang="zh-CN" altLang="en-US" sz="2000" dirty="0"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设计到对象中</a:t>
            </a:r>
          </a:p>
        </p:txBody>
      </p:sp>
    </p:spTree>
    <p:extLst>
      <p:ext uri="{BB962C8B-B14F-4D97-AF65-F5344CB8AC3E}">
        <p14:creationId xmlns:p14="http://schemas.microsoft.com/office/powerpoint/2010/main" val="99618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封装思想</a:t>
            </a: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B934969-162E-F075-C7BD-6330BEFCB4C2}"/>
              </a:ext>
            </a:extLst>
          </p:cNvPr>
          <p:cNvGraphicFramePr>
            <a:graphicFrameLocks noGrp="1"/>
          </p:cNvGraphicFramePr>
          <p:nvPr/>
        </p:nvGraphicFramePr>
        <p:xfrm>
          <a:off x="538161" y="1409796"/>
          <a:ext cx="2936560" cy="1191751"/>
        </p:xfrm>
        <a:graphic>
          <a:graphicData uri="http://schemas.openxmlformats.org/drawingml/2006/table">
            <a:tbl>
              <a:tblPr/>
              <a:tblGrid>
                <a:gridCol w="787409">
                  <a:extLst>
                    <a:ext uri="{9D8B030D-6E8A-4147-A177-3AD203B41FA5}">
                      <a16:colId xmlns:a16="http://schemas.microsoft.com/office/drawing/2014/main" val="4001127988"/>
                    </a:ext>
                  </a:extLst>
                </a:gridCol>
                <a:gridCol w="1000536">
                  <a:extLst>
                    <a:ext uri="{9D8B030D-6E8A-4147-A177-3AD203B41FA5}">
                      <a16:colId xmlns:a16="http://schemas.microsoft.com/office/drawing/2014/main" val="1994407513"/>
                    </a:ext>
                  </a:extLst>
                </a:gridCol>
                <a:gridCol w="1148615">
                  <a:extLst>
                    <a:ext uri="{9D8B030D-6E8A-4147-A177-3AD203B41FA5}">
                      <a16:colId xmlns:a16="http://schemas.microsoft.com/office/drawing/2014/main" val="3392711098"/>
                    </a:ext>
                  </a:extLst>
                </a:gridCol>
              </a:tblGrid>
              <a:tr h="4371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id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姓名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年龄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384562"/>
                  </a:ext>
                </a:extLst>
              </a:tr>
              <a:tr h="3772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张三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23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146473"/>
                  </a:ext>
                </a:extLst>
              </a:tr>
              <a:tr h="3772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2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李四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24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943993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602765D-A6E8-63D7-D26A-012132B86FEE}"/>
              </a:ext>
            </a:extLst>
          </p:cNvPr>
          <p:cNvGraphicFramePr>
            <a:graphicFrameLocks noGrp="1"/>
          </p:cNvGraphicFramePr>
          <p:nvPr/>
        </p:nvGraphicFramePr>
        <p:xfrm>
          <a:off x="3474721" y="1409795"/>
          <a:ext cx="1270207" cy="1191751"/>
        </p:xfrm>
        <a:graphic>
          <a:graphicData uri="http://schemas.openxmlformats.org/drawingml/2006/table">
            <a:tbl>
              <a:tblPr/>
              <a:tblGrid>
                <a:gridCol w="1270207">
                  <a:extLst>
                    <a:ext uri="{9D8B030D-6E8A-4147-A177-3AD203B41FA5}">
                      <a16:colId xmlns:a16="http://schemas.microsoft.com/office/drawing/2014/main" val="1293279761"/>
                    </a:ext>
                  </a:extLst>
                </a:gridCol>
              </a:tblGrid>
              <a:tr h="4371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数学成绩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690997"/>
                  </a:ext>
                </a:extLst>
              </a:tr>
              <a:tr h="3772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90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148006"/>
                  </a:ext>
                </a:extLst>
              </a:tr>
              <a:tr h="3772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69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272953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2CE3368-8CD3-D89C-EBAC-8C0E9FD1C100}"/>
              </a:ext>
            </a:extLst>
          </p:cNvPr>
          <p:cNvGraphicFramePr>
            <a:graphicFrameLocks noGrp="1"/>
          </p:cNvGraphicFramePr>
          <p:nvPr/>
        </p:nvGraphicFramePr>
        <p:xfrm>
          <a:off x="4744928" y="1409795"/>
          <a:ext cx="1351072" cy="1191751"/>
        </p:xfrm>
        <a:graphic>
          <a:graphicData uri="http://schemas.openxmlformats.org/drawingml/2006/table">
            <a:tbl>
              <a:tblPr/>
              <a:tblGrid>
                <a:gridCol w="1351072">
                  <a:extLst>
                    <a:ext uri="{9D8B030D-6E8A-4147-A177-3AD203B41FA5}">
                      <a16:colId xmlns:a16="http://schemas.microsoft.com/office/drawing/2014/main" val="1293279761"/>
                    </a:ext>
                  </a:extLst>
                </a:gridCol>
              </a:tblGrid>
              <a:tr h="4371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语文成绩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690997"/>
                  </a:ext>
                </a:extLst>
              </a:tr>
              <a:tr h="3772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87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148006"/>
                  </a:ext>
                </a:extLst>
              </a:tr>
              <a:tr h="3772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91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272953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E6C764A6-4545-A619-170E-229D9C08907C}"/>
              </a:ext>
            </a:extLst>
          </p:cNvPr>
          <p:cNvSpPr txBox="1"/>
          <p:nvPr/>
        </p:nvSpPr>
        <p:spPr>
          <a:xfrm>
            <a:off x="538161" y="2851746"/>
            <a:ext cx="2896947" cy="796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计算出每一名学生的总成绩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展示学生的所有信息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56C43677-1ABC-B0BA-68AF-99285CB0F76D}"/>
              </a:ext>
            </a:extLst>
          </p:cNvPr>
          <p:cNvSpPr txBox="1"/>
          <p:nvPr/>
        </p:nvSpPr>
        <p:spPr>
          <a:xfrm>
            <a:off x="4525986" y="3711261"/>
            <a:ext cx="2792972" cy="30777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id1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E9912FDF-7EBC-B906-974F-7A03F9F8993E}"/>
              </a:ext>
            </a:extLst>
          </p:cNvPr>
          <p:cNvSpPr txBox="1"/>
          <p:nvPr/>
        </p:nvSpPr>
        <p:spPr>
          <a:xfrm>
            <a:off x="4525986" y="4155473"/>
            <a:ext cx="2792972" cy="30777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name1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张三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EAF20BDC-F14F-D1D5-7CE9-68146B66CC34}"/>
              </a:ext>
            </a:extLst>
          </p:cNvPr>
          <p:cNvSpPr txBox="1"/>
          <p:nvPr/>
        </p:nvSpPr>
        <p:spPr>
          <a:xfrm>
            <a:off x="4525986" y="5371053"/>
            <a:ext cx="2792972" cy="30777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double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chineseScore1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87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AF92E4A2-7BA7-8AD6-D408-3AE136B1C01C}"/>
              </a:ext>
            </a:extLst>
          </p:cNvPr>
          <p:cNvSpPr txBox="1"/>
          <p:nvPr/>
        </p:nvSpPr>
        <p:spPr>
          <a:xfrm>
            <a:off x="4525986" y="4932157"/>
            <a:ext cx="2792972" cy="30777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double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mathScore1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90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4372210A-8505-E11E-AC51-1BC532B1FA7E}"/>
              </a:ext>
            </a:extLst>
          </p:cNvPr>
          <p:cNvSpPr txBox="1"/>
          <p:nvPr/>
        </p:nvSpPr>
        <p:spPr>
          <a:xfrm>
            <a:off x="4525986" y="4537592"/>
            <a:ext cx="2792972" cy="30777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age1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F230CD0A-064F-E188-FD23-652ECEFBA5E4}"/>
              </a:ext>
            </a:extLst>
          </p:cNvPr>
          <p:cNvSpPr txBox="1"/>
          <p:nvPr/>
        </p:nvSpPr>
        <p:spPr>
          <a:xfrm>
            <a:off x="8051273" y="3711261"/>
            <a:ext cx="2792972" cy="30777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id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2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en-US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CB72DD4F-F652-DD32-FD5C-943E9B0EBA5C}"/>
              </a:ext>
            </a:extLst>
          </p:cNvPr>
          <p:cNvSpPr txBox="1"/>
          <p:nvPr/>
        </p:nvSpPr>
        <p:spPr>
          <a:xfrm>
            <a:off x="8051273" y="4155473"/>
            <a:ext cx="2792972" cy="30777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2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李四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542BD255-C8D7-F641-5957-731D07D7C61A}"/>
              </a:ext>
            </a:extLst>
          </p:cNvPr>
          <p:cNvSpPr txBox="1"/>
          <p:nvPr/>
        </p:nvSpPr>
        <p:spPr>
          <a:xfrm>
            <a:off x="8051273" y="5371053"/>
            <a:ext cx="2792972" cy="30777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double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chineseScore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2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en-US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91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A30BC87E-65D1-74BA-D5DA-32141A21F2A7}"/>
              </a:ext>
            </a:extLst>
          </p:cNvPr>
          <p:cNvSpPr txBox="1"/>
          <p:nvPr/>
        </p:nvSpPr>
        <p:spPr>
          <a:xfrm>
            <a:off x="8051273" y="4932157"/>
            <a:ext cx="2792972" cy="30777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double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mathScore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2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en-US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69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  <p:sp>
        <p:nvSpPr>
          <p:cNvPr id="29" name="TextBox 3">
            <a:extLst>
              <a:ext uri="{FF2B5EF4-FFF2-40B4-BE49-F238E27FC236}">
                <a16:creationId xmlns:a16="http://schemas.microsoft.com/office/drawing/2014/main" id="{DF87F77A-C773-2F7E-6E9C-B6FE748FF797}"/>
              </a:ext>
            </a:extLst>
          </p:cNvPr>
          <p:cNvSpPr txBox="1"/>
          <p:nvPr/>
        </p:nvSpPr>
        <p:spPr>
          <a:xfrm>
            <a:off x="8051273" y="4537592"/>
            <a:ext cx="2792972" cy="30777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2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</a:t>
            </a:r>
            <a:r>
              <a:rPr lang="en-US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4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zh-CN" altLang="zh-CN" sz="2400" dirty="0">
              <a:latin typeface="Consolas" panose="020B0609020204030204" pitchFamily="49" charset="0"/>
            </a:endParaRPr>
          </a:p>
        </p:txBody>
      </p:sp>
      <p:sp>
        <p:nvSpPr>
          <p:cNvPr id="30" name="TextBox 3">
            <a:extLst>
              <a:ext uri="{FF2B5EF4-FFF2-40B4-BE49-F238E27FC236}">
                <a16:creationId xmlns:a16="http://schemas.microsoft.com/office/drawing/2014/main" id="{FF9D6F4B-85EB-5240-EBF6-EBF1658450D4}"/>
              </a:ext>
            </a:extLst>
          </p:cNvPr>
          <p:cNvSpPr txBox="1"/>
          <p:nvPr/>
        </p:nvSpPr>
        <p:spPr>
          <a:xfrm>
            <a:off x="3983040" y="2860668"/>
            <a:ext cx="7721599" cy="286232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id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double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mathScore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double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chineseScore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</a:t>
            </a:r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id,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name,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age,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double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mathScore,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double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chineseScore) 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id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id;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name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name;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age;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mathScore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mathScore;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this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chineseScore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chineseScore;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1200" dirty="0">
              <a:latin typeface="Consolas" panose="020B0609020204030204" pitchFamily="49" charset="0"/>
            </a:endParaRPr>
          </a:p>
        </p:txBody>
      </p:sp>
      <p:sp>
        <p:nvSpPr>
          <p:cNvPr id="34" name="TextBox 3">
            <a:extLst>
              <a:ext uri="{FF2B5EF4-FFF2-40B4-BE49-F238E27FC236}">
                <a16:creationId xmlns:a16="http://schemas.microsoft.com/office/drawing/2014/main" id="{F1A1F181-7ECA-89A0-C910-0AF9AA629EAC}"/>
              </a:ext>
            </a:extLst>
          </p:cNvPr>
          <p:cNvSpPr txBox="1"/>
          <p:nvPr/>
        </p:nvSpPr>
        <p:spPr>
          <a:xfrm>
            <a:off x="3983040" y="5976878"/>
            <a:ext cx="4592319" cy="464499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stu1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张三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90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87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stu2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李四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69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91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endParaRPr lang="zh-CN" altLang="zh-CN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692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3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封装思想</a:t>
            </a:r>
            <a:endParaRPr kumimoji="1" lang="zh-CN" altLang="en-US" dirty="0"/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6C764A6-4545-A619-170E-229D9C08907C}"/>
              </a:ext>
            </a:extLst>
          </p:cNvPr>
          <p:cNvSpPr txBox="1"/>
          <p:nvPr/>
        </p:nvSpPr>
        <p:spPr>
          <a:xfrm>
            <a:off x="377774" y="1127765"/>
            <a:ext cx="2896947" cy="796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计算出每一名学生的总成绩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展示学生的所有信息</a:t>
            </a:r>
          </a:p>
        </p:txBody>
      </p:sp>
      <p:sp>
        <p:nvSpPr>
          <p:cNvPr id="30" name="TextBox 3">
            <a:extLst>
              <a:ext uri="{FF2B5EF4-FFF2-40B4-BE49-F238E27FC236}">
                <a16:creationId xmlns:a16="http://schemas.microsoft.com/office/drawing/2014/main" id="{FF9D6F4B-85EB-5240-EBF6-EBF1658450D4}"/>
              </a:ext>
            </a:extLst>
          </p:cNvPr>
          <p:cNvSpPr txBox="1"/>
          <p:nvPr/>
        </p:nvSpPr>
        <p:spPr>
          <a:xfrm>
            <a:off x="459055" y="2358768"/>
            <a:ext cx="5281345" cy="397031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id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double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mathScore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double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chineseScore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// </a:t>
            </a:r>
            <a:r>
              <a:rPr lang="zh-CN" altLang="en-US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省略构造方法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double </a:t>
            </a:r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getTotalScore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 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return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mathScore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+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chineseScore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void </a:t>
            </a:r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showStudentInfos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学号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: "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+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id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姓名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: "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+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年龄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:"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+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数学成绩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:"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+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mathScore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2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语文成绩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:"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+ </a:t>
            </a:r>
            <a:r>
              <a:rPr lang="zh-CN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chineseScore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000" dirty="0">
              <a:latin typeface="Consolas" panose="020B0609020204030204" pitchFamily="49" charset="0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E48F5C5C-BA2E-4F2C-82A3-55908029C481}"/>
              </a:ext>
            </a:extLst>
          </p:cNvPr>
          <p:cNvSpPr txBox="1"/>
          <p:nvPr/>
        </p:nvSpPr>
        <p:spPr>
          <a:xfrm>
            <a:off x="5932812" y="2835248"/>
            <a:ext cx="6023026" cy="1754326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args) 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stu1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张三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23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90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87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stu1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.showStudentInfos();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stu2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李四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24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69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91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stu2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.showStudentInfos();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000" dirty="0">
              <a:latin typeface="Consolas" panose="020B06090202040302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7D03BD5-9842-285A-2C56-CFFE9BADAF4A}"/>
              </a:ext>
            </a:extLst>
          </p:cNvPr>
          <p:cNvSpPr txBox="1"/>
          <p:nvPr/>
        </p:nvSpPr>
        <p:spPr>
          <a:xfrm>
            <a:off x="5456244" y="5024141"/>
            <a:ext cx="6817036" cy="96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solidFill>
                  <a:srgbClr val="0070C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更好的维护数据</a:t>
            </a:r>
            <a:endParaRPr kumimoji="1" lang="en-US" altLang="zh-CN" sz="2000" dirty="0">
              <a:solidFill>
                <a:srgbClr val="0070C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Alibaba PuHuiTi Medium" panose="00020600040101010101" pitchFamily="18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solidFill>
                  <a:srgbClr val="0070C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使用者无需关心内部实现</a:t>
            </a:r>
            <a:r>
              <a:rPr kumimoji="1" lang="en-US" altLang="zh-CN" sz="2000" dirty="0">
                <a:solidFill>
                  <a:srgbClr val="0070C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, </a:t>
            </a:r>
            <a:r>
              <a:rPr kumimoji="1" lang="zh-CN" altLang="en-US" sz="2000" dirty="0">
                <a:solidFill>
                  <a:srgbClr val="0070C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只要知道如何使用即可</a:t>
            </a:r>
            <a:endParaRPr kumimoji="1" lang="en-US" altLang="zh-CN" sz="2000" dirty="0">
              <a:solidFill>
                <a:srgbClr val="0070C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Alibaba PuHuiTi Medium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9783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封装思想</a:t>
            </a:r>
            <a:endParaRPr kumimoji="1" lang="zh-CN" altLang="en-US" dirty="0"/>
          </a:p>
        </p:txBody>
      </p:sp>
      <p:pic>
        <p:nvPicPr>
          <p:cNvPr id="6146" name="Picture 2" descr="兔子吃东西_兔子_东西表情">
            <a:extLst>
              <a:ext uri="{FF2B5EF4-FFF2-40B4-BE49-F238E27FC236}">
                <a16:creationId xmlns:a16="http://schemas.microsoft.com/office/drawing/2014/main" id="{1A3B9C93-9CEC-0D20-DD5F-0E6AF54ED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60" y="2715342"/>
            <a:ext cx="1246822" cy="1356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思想气泡: 云 1">
            <a:extLst>
              <a:ext uri="{FF2B5EF4-FFF2-40B4-BE49-F238E27FC236}">
                <a16:creationId xmlns:a16="http://schemas.microsoft.com/office/drawing/2014/main" id="{19DFD7CE-AAF9-A78D-43CF-3BD93B2FDF5D}"/>
              </a:ext>
            </a:extLst>
          </p:cNvPr>
          <p:cNvSpPr/>
          <p:nvPr/>
        </p:nvSpPr>
        <p:spPr>
          <a:xfrm>
            <a:off x="1504830" y="1209040"/>
            <a:ext cx="6196450" cy="1889760"/>
          </a:xfrm>
          <a:prstGeom prst="cloudCallout">
            <a:avLst>
              <a:gd name="adj1" fmla="val -43812"/>
              <a:gd name="adj2" fmla="val 475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Random r = new Random();</a:t>
            </a:r>
          </a:p>
          <a:p>
            <a:pPr algn="ctr"/>
            <a:r>
              <a:rPr lang="en-US" altLang="zh-CN" dirty="0">
                <a:latin typeface="Consolas" panose="020B0609020204030204" pitchFamily="49" charset="0"/>
              </a:rPr>
              <a:t>int num = </a:t>
            </a:r>
            <a:r>
              <a:rPr lang="en-US" altLang="zh-CN" dirty="0" err="1">
                <a:latin typeface="Consolas" panose="020B0609020204030204" pitchFamily="49" charset="0"/>
              </a:rPr>
              <a:t>r.nextInt</a:t>
            </a:r>
            <a:r>
              <a:rPr lang="en-US" altLang="zh-CN" dirty="0">
                <a:latin typeface="Consolas" panose="020B0609020204030204" pitchFamily="49" charset="0"/>
              </a:rPr>
              <a:t>(100) + 1;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pic>
        <p:nvPicPr>
          <p:cNvPr id="4" name="Picture 2" descr="兔子吃东西_兔子_东西表情">
            <a:extLst>
              <a:ext uri="{FF2B5EF4-FFF2-40B4-BE49-F238E27FC236}">
                <a16:creationId xmlns:a16="http://schemas.microsoft.com/office/drawing/2014/main" id="{A050EDF7-CE93-3B82-4B3B-BD9E802BF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352720" y="4859102"/>
            <a:ext cx="1246822" cy="1356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思想气泡: 云 4">
            <a:extLst>
              <a:ext uri="{FF2B5EF4-FFF2-40B4-BE49-F238E27FC236}">
                <a16:creationId xmlns:a16="http://schemas.microsoft.com/office/drawing/2014/main" id="{9D8E5D42-ECD8-671A-9894-D753B48FD042}"/>
              </a:ext>
            </a:extLst>
          </p:cNvPr>
          <p:cNvSpPr/>
          <p:nvPr/>
        </p:nvSpPr>
        <p:spPr>
          <a:xfrm>
            <a:off x="3586480" y="3429000"/>
            <a:ext cx="7213025" cy="1889760"/>
          </a:xfrm>
          <a:prstGeom prst="cloudCallout">
            <a:avLst>
              <a:gd name="adj1" fmla="val 36367"/>
              <a:gd name="adj2" fmla="val 51801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Scanner </a:t>
            </a:r>
            <a:r>
              <a:rPr lang="en-US" altLang="zh-CN" dirty="0" err="1">
                <a:latin typeface="Consolas" panose="020B0609020204030204" pitchFamily="49" charset="0"/>
              </a:rPr>
              <a:t>sc</a:t>
            </a:r>
            <a:r>
              <a:rPr lang="en-US" altLang="zh-CN" dirty="0">
                <a:latin typeface="Consolas" panose="020B0609020204030204" pitchFamily="49" charset="0"/>
              </a:rPr>
              <a:t> = new Scanner(System.in);</a:t>
            </a:r>
          </a:p>
          <a:p>
            <a:pPr algn="ctr"/>
            <a:r>
              <a:rPr lang="en-US" altLang="zh-CN" dirty="0">
                <a:latin typeface="Consolas" panose="020B0609020204030204" pitchFamily="49" charset="0"/>
              </a:rPr>
              <a:t>int num = </a:t>
            </a:r>
            <a:r>
              <a:rPr lang="en-US" altLang="zh-CN" dirty="0" err="1">
                <a:latin typeface="Consolas" panose="020B0609020204030204" pitchFamily="49" charset="0"/>
              </a:rPr>
              <a:t>sc.nextInt</a:t>
            </a:r>
            <a:r>
              <a:rPr lang="en-US" altLang="zh-CN" dirty="0">
                <a:latin typeface="Consolas" panose="020B0609020204030204" pitchFamily="49" charset="0"/>
              </a:rPr>
              <a:t>();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216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封装思想</a:t>
            </a:r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72ACC91-5166-40AB-A460-8F6A140529A1}"/>
              </a:ext>
            </a:extLst>
          </p:cNvPr>
          <p:cNvSpPr/>
          <p:nvPr/>
        </p:nvSpPr>
        <p:spPr>
          <a:xfrm>
            <a:off x="1240985" y="1905897"/>
            <a:ext cx="1612201" cy="1612201"/>
          </a:xfrm>
          <a:prstGeom prst="ellipse">
            <a:avLst/>
          </a:prstGeom>
          <a:solidFill>
            <a:srgbClr val="AD2B26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  <a:sym typeface="Bebas"/>
              </a:rPr>
              <a:t>封装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0E0E85D-44D1-689B-7E98-AFC75482AF20}"/>
              </a:ext>
            </a:extLst>
          </p:cNvPr>
          <p:cNvGraphicFramePr>
            <a:graphicFrameLocks noGrp="1"/>
          </p:cNvGraphicFramePr>
          <p:nvPr/>
        </p:nvGraphicFramePr>
        <p:xfrm>
          <a:off x="-3988119" y="-1683924"/>
          <a:ext cx="2936560" cy="1191751"/>
        </p:xfrm>
        <a:graphic>
          <a:graphicData uri="http://schemas.openxmlformats.org/drawingml/2006/table">
            <a:tbl>
              <a:tblPr/>
              <a:tblGrid>
                <a:gridCol w="787409">
                  <a:extLst>
                    <a:ext uri="{9D8B030D-6E8A-4147-A177-3AD203B41FA5}">
                      <a16:colId xmlns:a16="http://schemas.microsoft.com/office/drawing/2014/main" val="4001127988"/>
                    </a:ext>
                  </a:extLst>
                </a:gridCol>
                <a:gridCol w="1000536">
                  <a:extLst>
                    <a:ext uri="{9D8B030D-6E8A-4147-A177-3AD203B41FA5}">
                      <a16:colId xmlns:a16="http://schemas.microsoft.com/office/drawing/2014/main" val="1994407513"/>
                    </a:ext>
                  </a:extLst>
                </a:gridCol>
                <a:gridCol w="1148615">
                  <a:extLst>
                    <a:ext uri="{9D8B030D-6E8A-4147-A177-3AD203B41FA5}">
                      <a16:colId xmlns:a16="http://schemas.microsoft.com/office/drawing/2014/main" val="3392711098"/>
                    </a:ext>
                  </a:extLst>
                </a:gridCol>
              </a:tblGrid>
              <a:tr h="4371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id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姓名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年龄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384562"/>
                  </a:ext>
                </a:extLst>
              </a:tr>
              <a:tr h="3772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1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张三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23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146473"/>
                  </a:ext>
                </a:extLst>
              </a:tr>
              <a:tr h="3772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2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李四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24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943993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D805623-36A4-1528-26A8-D704826CB982}"/>
              </a:ext>
            </a:extLst>
          </p:cNvPr>
          <p:cNvGraphicFramePr>
            <a:graphicFrameLocks noGrp="1"/>
          </p:cNvGraphicFramePr>
          <p:nvPr/>
        </p:nvGraphicFramePr>
        <p:xfrm>
          <a:off x="-1051559" y="-1683925"/>
          <a:ext cx="1270207" cy="1191751"/>
        </p:xfrm>
        <a:graphic>
          <a:graphicData uri="http://schemas.openxmlformats.org/drawingml/2006/table">
            <a:tbl>
              <a:tblPr/>
              <a:tblGrid>
                <a:gridCol w="1270207">
                  <a:extLst>
                    <a:ext uri="{9D8B030D-6E8A-4147-A177-3AD203B41FA5}">
                      <a16:colId xmlns:a16="http://schemas.microsoft.com/office/drawing/2014/main" val="1293279761"/>
                    </a:ext>
                  </a:extLst>
                </a:gridCol>
              </a:tblGrid>
              <a:tr h="4371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数学成绩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690997"/>
                  </a:ext>
                </a:extLst>
              </a:tr>
              <a:tr h="3772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90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148006"/>
                  </a:ext>
                </a:extLst>
              </a:tr>
              <a:tr h="3772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69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272953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A276C8B-F679-34FC-D69D-7814441B2675}"/>
              </a:ext>
            </a:extLst>
          </p:cNvPr>
          <p:cNvGraphicFramePr>
            <a:graphicFrameLocks noGrp="1"/>
          </p:cNvGraphicFramePr>
          <p:nvPr/>
        </p:nvGraphicFramePr>
        <p:xfrm>
          <a:off x="218648" y="-1683925"/>
          <a:ext cx="1351072" cy="1191751"/>
        </p:xfrm>
        <a:graphic>
          <a:graphicData uri="http://schemas.openxmlformats.org/drawingml/2006/table">
            <a:tbl>
              <a:tblPr/>
              <a:tblGrid>
                <a:gridCol w="1351072">
                  <a:extLst>
                    <a:ext uri="{9D8B030D-6E8A-4147-A177-3AD203B41FA5}">
                      <a16:colId xmlns:a16="http://schemas.microsoft.com/office/drawing/2014/main" val="1293279761"/>
                    </a:ext>
                  </a:extLst>
                </a:gridCol>
              </a:tblGrid>
              <a:tr h="43719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语文成绩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690997"/>
                  </a:ext>
                </a:extLst>
              </a:tr>
              <a:tr h="3772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87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148006"/>
                  </a:ext>
                </a:extLst>
              </a:tr>
              <a:tr h="3772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Alibaba PuHuiTi R" pitchFamily="18" charset="-122"/>
                          <a:ea typeface="Alibaba PuHuiTi R" pitchFamily="18" charset="-122"/>
                          <a:cs typeface="Alibaba PuHuiTi R" pitchFamily="18" charset="-122"/>
                        </a:rPr>
                        <a:t>91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272953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D221EF02-4738-6CDD-32F2-F97F990D9D26}"/>
              </a:ext>
            </a:extLst>
          </p:cNvPr>
          <p:cNvSpPr txBox="1"/>
          <p:nvPr/>
        </p:nvSpPr>
        <p:spPr>
          <a:xfrm>
            <a:off x="12663118" y="1483970"/>
            <a:ext cx="6264962" cy="142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zh-CN" altLang="en-US" sz="2000" dirty="0"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使用类设计对象时</a:t>
            </a:r>
            <a:endParaRPr kumimoji="1" lang="en-US" altLang="zh-CN" sz="2000" dirty="0">
              <a:latin typeface="杨任东竹石体-Bold" panose="02000000000000000000" pitchFamily="2" charset="-122"/>
              <a:ea typeface="杨任东竹石体-Bold" panose="02000000000000000000" pitchFamily="2" charset="-122"/>
              <a:cs typeface="Alibaba PuHuiTi Medium" panose="00020600040101010101" pitchFamily="18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2000" dirty="0"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	</a:t>
            </a:r>
            <a:r>
              <a:rPr kumimoji="1" lang="zh-CN" altLang="en-US" sz="2000" dirty="0"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将需要处理的</a:t>
            </a:r>
            <a:r>
              <a:rPr kumimoji="1" lang="zh-CN" altLang="en-US" sz="2000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数据</a:t>
            </a:r>
            <a:endParaRPr kumimoji="1" lang="en-US" altLang="zh-CN" sz="2000" dirty="0">
              <a:solidFill>
                <a:srgbClr val="C0000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Alibaba PuHuiTi Medium" panose="00020600040101010101" pitchFamily="18" charset="-122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2000" dirty="0"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	</a:t>
            </a:r>
            <a:r>
              <a:rPr kumimoji="1" lang="zh-CN" altLang="en-US" sz="2000" dirty="0"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以及处理这些数据的</a:t>
            </a:r>
            <a:r>
              <a:rPr kumimoji="1" lang="zh-CN" altLang="en-US" sz="2000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方法</a:t>
            </a:r>
            <a:r>
              <a:rPr kumimoji="1" lang="en-US" altLang="zh-CN" sz="2000" dirty="0"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, </a:t>
            </a:r>
            <a:r>
              <a:rPr kumimoji="1" lang="zh-CN" altLang="en-US" sz="2000" dirty="0"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设计到对象中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F12FAF-6B6A-EAF5-AC72-AC62CF90DE52}"/>
              </a:ext>
            </a:extLst>
          </p:cNvPr>
          <p:cNvSpPr txBox="1"/>
          <p:nvPr/>
        </p:nvSpPr>
        <p:spPr>
          <a:xfrm>
            <a:off x="894184" y="5323662"/>
            <a:ext cx="6817036" cy="96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solidFill>
                  <a:srgbClr val="0070C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更好的维护数据</a:t>
            </a:r>
            <a:endParaRPr kumimoji="1" lang="en-US" altLang="zh-CN" sz="2000" dirty="0">
              <a:solidFill>
                <a:srgbClr val="0070C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Alibaba PuHuiTi Medium" panose="00020600040101010101" pitchFamily="18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solidFill>
                  <a:srgbClr val="0070C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使用者无需关心内部实现</a:t>
            </a:r>
            <a:r>
              <a:rPr kumimoji="1" lang="en-US" altLang="zh-CN" sz="2000" dirty="0">
                <a:solidFill>
                  <a:srgbClr val="0070C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, </a:t>
            </a:r>
            <a:r>
              <a:rPr kumimoji="1" lang="zh-CN" altLang="en-US" sz="2000" dirty="0">
                <a:solidFill>
                  <a:srgbClr val="0070C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Alibaba PuHuiTi Medium" panose="00020600040101010101" pitchFamily="18" charset="-122"/>
              </a:rPr>
              <a:t>只要知道如何使用即可</a:t>
            </a:r>
            <a:endParaRPr kumimoji="1" lang="en-US" altLang="zh-CN" sz="2000" dirty="0">
              <a:solidFill>
                <a:srgbClr val="0070C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Alibaba PuHuiTi Medium" panose="00020600040101010101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24D71B-B340-6D4B-CD1F-A59FA62D8305}"/>
              </a:ext>
            </a:extLst>
          </p:cNvPr>
          <p:cNvSpPr txBox="1"/>
          <p:nvPr/>
        </p:nvSpPr>
        <p:spPr>
          <a:xfrm>
            <a:off x="2937853" y="2399359"/>
            <a:ext cx="8632242" cy="2059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250000"/>
              </a:lnSpc>
            </a:pPr>
            <a:r>
              <a:rPr lang="zh-CN" altLang="en-US" dirty="0"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封装就是将</a:t>
            </a:r>
            <a:r>
              <a:rPr lang="zh-CN" altLang="en-US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数据（属性）</a:t>
            </a:r>
            <a:r>
              <a:rPr lang="zh-CN" altLang="en-US" dirty="0"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和 </a:t>
            </a:r>
            <a:r>
              <a:rPr lang="zh-CN" altLang="en-US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操作数据的方法 </a:t>
            </a:r>
            <a:r>
              <a:rPr lang="zh-CN" altLang="en-US" dirty="0"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捆绑在一起</a:t>
            </a:r>
            <a:endParaRPr lang="en-US" altLang="zh-CN" dirty="0"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  <a:p>
            <a:pPr lvl="1">
              <a:lnSpc>
                <a:spcPct val="250000"/>
              </a:lnSpc>
            </a:pPr>
            <a:r>
              <a:rPr lang="zh-CN" altLang="en-US" dirty="0"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组成一个整体，也就是类</a:t>
            </a:r>
            <a:endParaRPr lang="en-US" altLang="zh-CN" dirty="0"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  <a:p>
            <a:pPr lvl="1">
              <a:lnSpc>
                <a:spcPct val="250000"/>
              </a:lnSpc>
            </a:pPr>
            <a:r>
              <a:rPr lang="zh-CN" altLang="en-US" dirty="0"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同时，通过访问修饰符来控制对类中属性和方法的访问权限，从而实现信息隐藏</a:t>
            </a:r>
            <a:endParaRPr kumimoji="1" lang="zh-CN" altLang="en-US" sz="2800" dirty="0">
              <a:latin typeface="杨任东竹石体-Bold" panose="02000000000000000000" pitchFamily="2" charset="-122"/>
              <a:ea typeface="杨任东竹石体-Bold" panose="02000000000000000000" pitchFamily="2" charset="-122"/>
              <a:cs typeface="Alibaba PuHuiTi Medium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7311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标题 2">
            <a:extLst>
              <a:ext uri="{FF2B5EF4-FFF2-40B4-BE49-F238E27FC236}">
                <a16:creationId xmlns:a16="http://schemas.microsoft.com/office/drawing/2014/main" id="{3EDFB9D4-DD61-4B22-B980-BCAFFC81B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封装思想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7D816DD-D141-B6B1-E1CD-F670CAF6F09C}"/>
              </a:ext>
            </a:extLst>
          </p:cNvPr>
          <p:cNvSpPr txBox="1"/>
          <p:nvPr/>
        </p:nvSpPr>
        <p:spPr>
          <a:xfrm>
            <a:off x="2756784" y="2921168"/>
            <a:ext cx="66784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6000" dirty="0">
                <a:solidFill>
                  <a:schemeClr val="tx1">
                    <a:lumMod val="5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合理隐藏</a:t>
            </a:r>
            <a:r>
              <a:rPr lang="en-US" altLang="zh-CN" sz="6000" dirty="0">
                <a:solidFill>
                  <a:schemeClr val="tx1">
                    <a:lumMod val="5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, </a:t>
            </a:r>
            <a:r>
              <a:rPr lang="zh-CN" altLang="en-US" sz="6000" dirty="0">
                <a:solidFill>
                  <a:schemeClr val="tx1">
                    <a:lumMod val="5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合理暴露</a:t>
            </a:r>
          </a:p>
        </p:txBody>
      </p:sp>
    </p:spTree>
    <p:extLst>
      <p:ext uri="{BB962C8B-B14F-4D97-AF65-F5344CB8AC3E}">
        <p14:creationId xmlns:p14="http://schemas.microsoft.com/office/powerpoint/2010/main" val="3596417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标题 2">
            <a:extLst>
              <a:ext uri="{FF2B5EF4-FFF2-40B4-BE49-F238E27FC236}">
                <a16:creationId xmlns:a16="http://schemas.microsoft.com/office/drawing/2014/main" id="{3EDFB9D4-DD61-4B22-B980-BCAFFC81B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封装思想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047CBBE-3A3F-E234-985A-E905BE703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1991" y="2017379"/>
            <a:ext cx="6208018" cy="3499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52384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标题 2">
            <a:extLst>
              <a:ext uri="{FF2B5EF4-FFF2-40B4-BE49-F238E27FC236}">
                <a16:creationId xmlns:a16="http://schemas.microsoft.com/office/drawing/2014/main" id="{3EDFB9D4-DD61-4B22-B980-BCAFFC81B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封装思想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593C30F-5E8B-6CD1-0D92-9A69C3BF7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7581"/>
            <a:ext cx="3542856" cy="25288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495B5D-AD10-F9AA-3A84-EA15117BD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09" y="2351631"/>
            <a:ext cx="2480831" cy="2154737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F8CDC948-9BDA-2172-F13B-1B3F4B986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515" y="3261674"/>
            <a:ext cx="3108026" cy="2331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7280E04-2A96-E98E-33C2-7D195AFA92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958" y="2619050"/>
            <a:ext cx="4649007" cy="29056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345BCE98-D233-F915-0AD2-DBAA8BB89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80" y="2351631"/>
            <a:ext cx="6208018" cy="3499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1039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标题 2">
            <a:extLst>
              <a:ext uri="{FF2B5EF4-FFF2-40B4-BE49-F238E27FC236}">
                <a16:creationId xmlns:a16="http://schemas.microsoft.com/office/drawing/2014/main" id="{3EDFB9D4-DD61-4B22-B980-BCAFFC81B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封装思想</a:t>
            </a:r>
            <a:endParaRPr kumimoji="1" lang="zh-CN" altLang="en-US" dirty="0"/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7155A03F-D8CA-426F-811F-86906F8C34CD}"/>
              </a:ext>
            </a:extLst>
          </p:cNvPr>
          <p:cNvSpPr txBox="1"/>
          <p:nvPr/>
        </p:nvSpPr>
        <p:spPr>
          <a:xfrm>
            <a:off x="260351" y="1966385"/>
            <a:ext cx="6720416" cy="289310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Phone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call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name)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</a:rPr>
              <a:t>"给"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+ name + 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</a:rPr>
              <a:t>"打电话"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80808"/>
                </a:solidFill>
                <a:latin typeface="Consolas" panose="020B0609020204030204" pitchFamily="49" charset="0"/>
              </a:rPr>
              <a:t>saveL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og();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void </a:t>
            </a:r>
            <a:r>
              <a:rPr lang="en-US" altLang="zh-CN" sz="1400" dirty="0" err="1">
                <a:solidFill>
                  <a:srgbClr val="00627A"/>
                </a:solidFill>
                <a:latin typeface="Consolas" panose="020B0609020204030204" pitchFamily="49" charset="0"/>
              </a:rPr>
              <a:t>saveL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og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(){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</a:rPr>
              <a:t>"通话记录"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</a:rPr>
              <a:t>"将联系人-时间-通话时长保存到本地"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2133" dirty="0">
              <a:latin typeface="Consolas" panose="020B0609020204030204" pitchFamily="49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4F64E85-FCD3-4638-A0AB-7AF3DC341DA2}"/>
              </a:ext>
            </a:extLst>
          </p:cNvPr>
          <p:cNvSpPr/>
          <p:nvPr/>
        </p:nvSpPr>
        <p:spPr>
          <a:xfrm>
            <a:off x="596901" y="3407834"/>
            <a:ext cx="5854700" cy="11303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solidFill>
                <a:srgbClr val="C00000"/>
              </a:solidFill>
            </a:endParaRPr>
          </a:p>
        </p:txBody>
      </p:sp>
      <p:sp>
        <p:nvSpPr>
          <p:cNvPr id="30" name="下箭头 2">
            <a:extLst>
              <a:ext uri="{FF2B5EF4-FFF2-40B4-BE49-F238E27FC236}">
                <a16:creationId xmlns:a16="http://schemas.microsoft.com/office/drawing/2014/main" id="{AF7C22D1-8F00-48DC-8795-B907814BD129}"/>
              </a:ext>
            </a:extLst>
          </p:cNvPr>
          <p:cNvSpPr/>
          <p:nvPr/>
        </p:nvSpPr>
        <p:spPr>
          <a:xfrm flipV="1">
            <a:off x="2993814" y="2898720"/>
            <a:ext cx="385233" cy="778933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 sz="1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TextBox 3">
            <a:extLst>
              <a:ext uri="{FF2B5EF4-FFF2-40B4-BE49-F238E27FC236}">
                <a16:creationId xmlns:a16="http://schemas.microsoft.com/office/drawing/2014/main" id="{EF6BA070-22C7-4137-A180-4254953F2F66}"/>
              </a:ext>
            </a:extLst>
          </p:cNvPr>
          <p:cNvSpPr txBox="1"/>
          <p:nvPr/>
        </p:nvSpPr>
        <p:spPr>
          <a:xfrm>
            <a:off x="7122584" y="1966384"/>
            <a:ext cx="4809067" cy="160043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Test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Phone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new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Phone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080808"/>
                </a:solidFill>
                <a:latin typeface="Consolas" panose="020B0609020204030204" pitchFamily="49" charset="0"/>
              </a:rPr>
              <a:t>saveLog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     </a:t>
            </a:r>
            <a:endParaRPr lang="zh-CN" altLang="zh-CN" sz="2133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2133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083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0" grpId="0" animBg="1"/>
      <p:bldP spid="3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标题 2">
            <a:extLst>
              <a:ext uri="{FF2B5EF4-FFF2-40B4-BE49-F238E27FC236}">
                <a16:creationId xmlns:a16="http://schemas.microsoft.com/office/drawing/2014/main" id="{3EDFB9D4-DD61-4B22-B980-BCAFFC81B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封装思想</a:t>
            </a:r>
            <a:endParaRPr kumimoji="1" lang="zh-CN" altLang="en-US" dirty="0"/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2A08F193-3066-4BE2-AB35-11053FA33C7F}"/>
              </a:ext>
            </a:extLst>
          </p:cNvPr>
          <p:cNvSpPr txBox="1"/>
          <p:nvPr/>
        </p:nvSpPr>
        <p:spPr>
          <a:xfrm>
            <a:off x="260351" y="1966385"/>
            <a:ext cx="6720416" cy="289310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Phone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call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name)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</a:rPr>
              <a:t>"给"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+ name + 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</a:rPr>
              <a:t>"打电话"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80808"/>
                </a:solidFill>
                <a:latin typeface="Consolas" panose="020B0609020204030204" pitchFamily="49" charset="0"/>
              </a:rPr>
              <a:t>saveL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og();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private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 void </a:t>
            </a:r>
            <a:r>
              <a:rPr lang="en-US" altLang="zh-CN" sz="1400" dirty="0" err="1">
                <a:solidFill>
                  <a:srgbClr val="00627A"/>
                </a:solidFill>
                <a:latin typeface="Consolas" panose="020B0609020204030204" pitchFamily="49" charset="0"/>
              </a:rPr>
              <a:t>saveL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og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(){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</a:rPr>
              <a:t>"通话记录"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</a:rPr>
              <a:t>"将联系人-时间-通话时长保存到本地"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2133" dirty="0">
              <a:latin typeface="Consolas" panose="020B0609020204030204" pitchFamily="49" charset="0"/>
            </a:endParaRP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29CE82B2-870D-434F-8ED9-8B9DB695BF8E}"/>
              </a:ext>
            </a:extLst>
          </p:cNvPr>
          <p:cNvSpPr txBox="1"/>
          <p:nvPr/>
        </p:nvSpPr>
        <p:spPr>
          <a:xfrm>
            <a:off x="7122584" y="1966384"/>
            <a:ext cx="4809067" cy="160043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Test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Phone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new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Phone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 err="1">
                <a:solidFill>
                  <a:srgbClr val="080808"/>
                </a:solidFill>
                <a:latin typeface="Consolas" panose="020B0609020204030204" pitchFamily="49" charset="0"/>
              </a:rPr>
              <a:t>saveLog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        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2133" dirty="0">
              <a:latin typeface="Consolas" panose="020B0609020204030204" pitchFamily="49" charset="0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7759C4E-3543-4F5D-AECE-F75A717DED74}"/>
              </a:ext>
            </a:extLst>
          </p:cNvPr>
          <p:cNvGrpSpPr>
            <a:grpSpLocks/>
          </p:cNvGrpSpPr>
          <p:nvPr/>
        </p:nvGrpSpPr>
        <p:grpSpPr bwMode="auto">
          <a:xfrm>
            <a:off x="2159000" y="1966385"/>
            <a:ext cx="4633384" cy="325967"/>
            <a:chOff x="2093441" y="1737048"/>
            <a:chExt cx="2184871" cy="243984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EF86B605-6E2F-4432-8350-8189DE2931FE}"/>
                </a:ext>
              </a:extLst>
            </p:cNvPr>
            <p:cNvSpPr/>
            <p:nvPr/>
          </p:nvSpPr>
          <p:spPr>
            <a:xfrm>
              <a:off x="2093441" y="1737048"/>
              <a:ext cx="174670" cy="243984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62856637-8B6D-4EBD-AEDC-B523BE5E926F}"/>
                </a:ext>
              </a:extLst>
            </p:cNvPr>
            <p:cNvCxnSpPr>
              <a:stCxn id="33" idx="3"/>
            </p:cNvCxnSpPr>
            <p:nvPr/>
          </p:nvCxnSpPr>
          <p:spPr>
            <a:xfrm>
              <a:off x="2268111" y="1859040"/>
              <a:ext cx="2010201" cy="0"/>
            </a:xfrm>
            <a:prstGeom prst="line">
              <a:avLst/>
            </a:prstGeom>
            <a:ln w="2540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F0D2439-A872-4B4C-8CA6-4179F3509E18}"/>
              </a:ext>
            </a:extLst>
          </p:cNvPr>
          <p:cNvGrpSpPr>
            <a:grpSpLocks/>
          </p:cNvGrpSpPr>
          <p:nvPr/>
        </p:nvGrpSpPr>
        <p:grpSpPr bwMode="auto">
          <a:xfrm>
            <a:off x="313267" y="4529667"/>
            <a:ext cx="6479117" cy="325967"/>
            <a:chOff x="628650" y="4306903"/>
            <a:chExt cx="3649662" cy="243984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C703BB75-F602-46CE-B575-86BDAD8914F3}"/>
                </a:ext>
              </a:extLst>
            </p:cNvPr>
            <p:cNvSpPr/>
            <p:nvPr/>
          </p:nvSpPr>
          <p:spPr>
            <a:xfrm>
              <a:off x="628650" y="4306903"/>
              <a:ext cx="174077" cy="243984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85C751B2-FF99-4D89-BFAF-8F4430198592}"/>
                </a:ext>
              </a:extLst>
            </p:cNvPr>
            <p:cNvCxnSpPr/>
            <p:nvPr/>
          </p:nvCxnSpPr>
          <p:spPr>
            <a:xfrm>
              <a:off x="802727" y="4428895"/>
              <a:ext cx="3475585" cy="0"/>
            </a:xfrm>
            <a:prstGeom prst="line">
              <a:avLst/>
            </a:prstGeom>
            <a:ln w="2540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BA0F7241-1A6B-4299-A323-9FE4457D73E6}"/>
              </a:ext>
            </a:extLst>
          </p:cNvPr>
          <p:cNvCxnSpPr>
            <a:cxnSpLocks/>
          </p:cNvCxnSpPr>
          <p:nvPr/>
        </p:nvCxnSpPr>
        <p:spPr>
          <a:xfrm flipV="1">
            <a:off x="6627284" y="2292351"/>
            <a:ext cx="0" cy="2233083"/>
          </a:xfrm>
          <a:prstGeom prst="line">
            <a:avLst/>
          </a:prstGeom>
          <a:ln w="25400" cmpd="sng">
            <a:solidFill>
              <a:srgbClr val="C00000"/>
            </a:solidFill>
            <a:prstDash val="solid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495F80F0-6262-4BFC-8AC2-95FC16D4DD86}"/>
              </a:ext>
            </a:extLst>
          </p:cNvPr>
          <p:cNvSpPr txBox="1"/>
          <p:nvPr/>
        </p:nvSpPr>
        <p:spPr>
          <a:xfrm>
            <a:off x="7920567" y="2787652"/>
            <a:ext cx="3566584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400" dirty="0">
                <a:solidFill>
                  <a:srgbClr val="C00000"/>
                </a:solidFill>
                <a:latin typeface="Consolas" panose="020B0609020204030204" pitchFamily="49" charset="0"/>
              </a:rPr>
              <a:t>~~~~~~~~~</a:t>
            </a:r>
            <a:endParaRPr lang="zh-CN" altLang="en-US" sz="1400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D0A71E78-B417-CE53-A4DF-0A4F6B6FC2AD}"/>
              </a:ext>
            </a:extLst>
          </p:cNvPr>
          <p:cNvSpPr txBox="1"/>
          <p:nvPr/>
        </p:nvSpPr>
        <p:spPr>
          <a:xfrm>
            <a:off x="7122584" y="3725215"/>
            <a:ext cx="4809067" cy="160043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Test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[] args)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Phone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new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Phone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call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        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2133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45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标题 2">
            <a:extLst>
              <a:ext uri="{FF2B5EF4-FFF2-40B4-BE49-F238E27FC236}">
                <a16:creationId xmlns:a16="http://schemas.microsoft.com/office/drawing/2014/main" id="{3EDFB9D4-DD61-4B22-B980-BCAFFC81B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权限修饰符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54AFC40-718C-4427-AA75-DE8C461EB47F}"/>
              </a:ext>
            </a:extLst>
          </p:cNvPr>
          <p:cNvSpPr txBox="1"/>
          <p:nvPr/>
        </p:nvSpPr>
        <p:spPr>
          <a:xfrm>
            <a:off x="576626" y="1228257"/>
            <a:ext cx="4751387" cy="2125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权限修饰符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private </a:t>
            </a:r>
          </a:p>
          <a:p>
            <a:pPr marL="742950" lvl="1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defalut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pPr marL="742950" lvl="1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protected</a:t>
            </a:r>
          </a:p>
          <a:p>
            <a:pPr marL="742950" lvl="1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A95D1F3-D683-475D-A9E1-43095A2D8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8518" y="1763667"/>
            <a:ext cx="16557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B05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成员变量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5739EEB-C42D-4837-A6FD-B84F4053F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8518" y="2260555"/>
            <a:ext cx="16557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rgbClr val="00B05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成员方法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F25C69-2F39-62DB-C562-A9B65F509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8518" y="2766016"/>
            <a:ext cx="16557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B05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构造方法</a:t>
            </a:r>
          </a:p>
        </p:txBody>
      </p:sp>
    </p:spTree>
    <p:extLst>
      <p:ext uri="{BB962C8B-B14F-4D97-AF65-F5344CB8AC3E}">
        <p14:creationId xmlns:p14="http://schemas.microsoft.com/office/powerpoint/2010/main" val="324486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069A5-881C-0B94-7603-C3E0D3F58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7C61677-7611-14FF-BA32-EAE88106D2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封装：一种思想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j-ea"/>
              <a:ea typeface="+mj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封装就是将</a:t>
            </a:r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数据（属性）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和</a:t>
            </a:r>
            <a:r>
              <a:rPr lang="zh-CN" altLang="en-US" sz="1600" dirty="0">
                <a:latin typeface="+mn-ea"/>
              </a:rPr>
              <a:t> </a:t>
            </a:r>
            <a:r>
              <a:rPr lang="zh-CN" altLang="en-US" sz="1600" dirty="0">
                <a:solidFill>
                  <a:srgbClr val="C00000"/>
                </a:solidFill>
                <a:latin typeface="+mn-ea"/>
              </a:rPr>
              <a:t>操作数据的方法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捆绑在一起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组成一个整体，也就是类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通过访问修饰符来控制对类中属性和方法的访问权限，从而实现信息隐藏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j-ea"/>
              <a:ea typeface="+mj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        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使用封装设计类的时候，要做到合理隐藏，合理暴露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j-ea"/>
              <a:ea typeface="+mj-ea"/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权限修饰符：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j-ea"/>
              <a:ea typeface="+mj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rPr>
              <a:t>	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+mj-ea"/>
              </a:rPr>
              <a:t>private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+mj-ea"/>
              </a:rPr>
              <a:t>、（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+mj-ea"/>
              </a:rPr>
              <a:t>default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+mj-ea"/>
              </a:rPr>
              <a:t>）、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+mj-ea"/>
              </a:rPr>
              <a:t>protected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+mj-ea"/>
              </a:rPr>
              <a:t>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+mj-ea"/>
              </a:rPr>
              <a:t>public</a:t>
            </a: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  <a:latin typeface="+mj-ea"/>
              <a:ea typeface="+mj-ea"/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ADF04FB-CB7C-EF27-8858-D456BAAC93C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44475"/>
            <a:ext cx="8770938" cy="5175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6153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7CBA6-59C1-5F9E-E1F5-66E4FA2A6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C931EB8-2307-443E-460D-685038257B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面向对象思想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类和对象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类和对象内存图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成员变量和局部变量的区别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this </a:t>
            </a:r>
            <a:r>
              <a:rPr lang="zh-CN" altLang="en-US" dirty="0">
                <a:latin typeface="Consolas" panose="020B0609020204030204" pitchFamily="49" charset="0"/>
              </a:rPr>
              <a:t>关键字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构造方法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封装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JavaBean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static </a:t>
            </a:r>
            <a:r>
              <a:rPr lang="zh-CN" altLang="en-US" dirty="0">
                <a:latin typeface="Consolas" panose="020B0609020204030204" pitchFamily="49" charset="0"/>
              </a:rPr>
              <a:t>关键字</a:t>
            </a:r>
          </a:p>
        </p:txBody>
      </p:sp>
    </p:spTree>
    <p:extLst>
      <p:ext uri="{BB962C8B-B14F-4D97-AF65-F5344CB8AC3E}">
        <p14:creationId xmlns:p14="http://schemas.microsoft.com/office/powerpoint/2010/main" val="486794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C48D2-1A23-80E7-4DCA-8E5AFD72D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924220-4A9D-C165-28C0-53DFF3D249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5357661" cy="901700"/>
          </a:xfrm>
        </p:spPr>
        <p:txBody>
          <a:bodyPr/>
          <a:lstStyle/>
          <a:p>
            <a:r>
              <a:rPr lang="en-US" altLang="zh-CN" dirty="0"/>
              <a:t>JavaBean</a:t>
            </a:r>
            <a:endParaRPr lang="zh-CN" altLang="en-US" dirty="0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B4FA87C3-20BE-EE81-5165-20EA018B37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9114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4">
            <a:extLst>
              <a:ext uri="{FF2B5EF4-FFF2-40B4-BE49-F238E27FC236}">
                <a16:creationId xmlns:a16="http://schemas.microsoft.com/office/drawing/2014/main" id="{099C9E26-0708-4411-BC23-6A88333B1B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92405" y="1076360"/>
            <a:ext cx="102810" cy="10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标题 2">
            <a:extLst>
              <a:ext uri="{FF2B5EF4-FFF2-40B4-BE49-F238E27FC236}">
                <a16:creationId xmlns:a16="http://schemas.microsoft.com/office/drawing/2014/main" id="{3EDFB9D4-DD61-4B22-B980-BCAFFC81B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标准 </a:t>
            </a:r>
            <a:r>
              <a:rPr kumimoji="1" lang="en-US" altLang="zh-CN" dirty="0"/>
              <a:t>JavaBean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DD0D25-93D7-E0D6-BD6E-E527413B5826}"/>
              </a:ext>
            </a:extLst>
          </p:cNvPr>
          <p:cNvSpPr txBox="1"/>
          <p:nvPr/>
        </p:nvSpPr>
        <p:spPr>
          <a:xfrm>
            <a:off x="4525212" y="3955715"/>
            <a:ext cx="2946574" cy="2201565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05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class </a:t>
            </a:r>
            <a:r>
              <a:rPr kumimoji="0" lang="en-US" altLang="zh-CN" sz="105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StudentOperator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{</a:t>
            </a:r>
            <a:b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private 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 s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000" b="1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0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StudentOperator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(Student s){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</a:t>
            </a:r>
            <a:r>
              <a:rPr lang="en-US" altLang="zh-CN" sz="1000" b="1" dirty="0" err="1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this.</a:t>
            </a:r>
            <a:r>
              <a:rPr lang="en-US" altLang="zh-CN" sz="10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s;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0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}</a:t>
            </a:r>
            <a:endParaRPr kumimoji="0" lang="en-US" altLang="zh-CN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05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endParaRPr lang="en-US" altLang="zh-CN" sz="105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96AF9054-69EA-0FFC-EF06-2C6426D11DE2}"/>
              </a:ext>
            </a:extLst>
          </p:cNvPr>
          <p:cNvSpPr>
            <a:spLocks/>
          </p:cNvSpPr>
          <p:nvPr/>
        </p:nvSpPr>
        <p:spPr bwMode="auto">
          <a:xfrm>
            <a:off x="5691236" y="1731411"/>
            <a:ext cx="3790665" cy="764997"/>
          </a:xfrm>
          <a:custGeom>
            <a:avLst/>
            <a:gdLst/>
            <a:ahLst/>
            <a:cxnLst>
              <a:cxn ang="0">
                <a:pos x="934" y="364"/>
              </a:cxn>
              <a:cxn ang="0">
                <a:pos x="91" y="364"/>
              </a:cxn>
              <a:cxn ang="0">
                <a:pos x="0" y="273"/>
              </a:cxn>
              <a:cxn ang="0">
                <a:pos x="0" y="0"/>
              </a:cxn>
              <a:cxn ang="0">
                <a:pos x="1025" y="0"/>
              </a:cxn>
              <a:cxn ang="0">
                <a:pos x="1025" y="273"/>
              </a:cxn>
              <a:cxn ang="0">
                <a:pos x="934" y="364"/>
              </a:cxn>
            </a:cxnLst>
            <a:rect l="0" t="0" r="r" b="b"/>
            <a:pathLst>
              <a:path w="1025" h="364">
                <a:moveTo>
                  <a:pt x="934" y="364"/>
                </a:moveTo>
                <a:cubicBezTo>
                  <a:pt x="91" y="364"/>
                  <a:pt x="91" y="364"/>
                  <a:pt x="91" y="364"/>
                </a:cubicBezTo>
                <a:cubicBezTo>
                  <a:pt x="41" y="364"/>
                  <a:pt x="0" y="323"/>
                  <a:pt x="0" y="273"/>
                </a:cubicBezTo>
                <a:cubicBezTo>
                  <a:pt x="0" y="0"/>
                  <a:pt x="0" y="0"/>
                  <a:pt x="0" y="0"/>
                </a:cubicBezTo>
                <a:cubicBezTo>
                  <a:pt x="1025" y="0"/>
                  <a:pt x="1025" y="0"/>
                  <a:pt x="1025" y="0"/>
                </a:cubicBezTo>
                <a:cubicBezTo>
                  <a:pt x="1025" y="273"/>
                  <a:pt x="1025" y="273"/>
                  <a:pt x="1025" y="273"/>
                </a:cubicBezTo>
                <a:cubicBezTo>
                  <a:pt x="1025" y="323"/>
                  <a:pt x="984" y="364"/>
                  <a:pt x="934" y="364"/>
                </a:cubicBezTo>
              </a:path>
            </a:pathLst>
          </a:custGeom>
          <a:solidFill>
            <a:srgbClr val="E8E8E8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            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类中提供无参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带参构造方法。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20000"/>
              </a:lnSpc>
            </a:pPr>
            <a:endParaRPr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34B5BE26-3D5D-E50E-926C-C6D6194F6AB7}"/>
              </a:ext>
            </a:extLst>
          </p:cNvPr>
          <p:cNvSpPr>
            <a:spLocks/>
          </p:cNvSpPr>
          <p:nvPr/>
        </p:nvSpPr>
        <p:spPr bwMode="auto">
          <a:xfrm>
            <a:off x="5926186" y="1665771"/>
            <a:ext cx="866775" cy="960403"/>
          </a:xfrm>
          <a:custGeom>
            <a:avLst/>
            <a:gdLst/>
            <a:ahLst/>
            <a:cxnLst>
              <a:cxn ang="0">
                <a:pos x="115" y="292"/>
              </a:cxn>
              <a:cxn ang="0">
                <a:pos x="0" y="176"/>
              </a:cxn>
              <a:cxn ang="0">
                <a:pos x="0" y="0"/>
              </a:cxn>
              <a:cxn ang="0">
                <a:pos x="231" y="0"/>
              </a:cxn>
              <a:cxn ang="0">
                <a:pos x="231" y="176"/>
              </a:cxn>
              <a:cxn ang="0">
                <a:pos x="115" y="292"/>
              </a:cxn>
            </a:cxnLst>
            <a:rect l="0" t="0" r="r" b="b"/>
            <a:pathLst>
              <a:path w="231" h="292">
                <a:moveTo>
                  <a:pt x="115" y="292"/>
                </a:moveTo>
                <a:cubicBezTo>
                  <a:pt x="51" y="292"/>
                  <a:pt x="0" y="240"/>
                  <a:pt x="0" y="176"/>
                </a:cubicBezTo>
                <a:cubicBezTo>
                  <a:pt x="0" y="0"/>
                  <a:pt x="0" y="0"/>
                  <a:pt x="0" y="0"/>
                </a:cubicBezTo>
                <a:cubicBezTo>
                  <a:pt x="231" y="0"/>
                  <a:pt x="231" y="0"/>
                  <a:pt x="231" y="0"/>
                </a:cubicBezTo>
                <a:cubicBezTo>
                  <a:pt x="231" y="176"/>
                  <a:pt x="231" y="176"/>
                  <a:pt x="231" y="176"/>
                </a:cubicBezTo>
                <a:cubicBezTo>
                  <a:pt x="231" y="240"/>
                  <a:pt x="179" y="292"/>
                  <a:pt x="115" y="292"/>
                </a:cubicBezTo>
              </a:path>
            </a:pathLst>
          </a:custGeom>
          <a:solidFill>
            <a:srgbClr val="F0663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zh-CN" altLang="en-US" sz="1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6BB39BD2-0BB2-4AAA-A97F-11A8FCDA70BD}"/>
              </a:ext>
            </a:extLst>
          </p:cNvPr>
          <p:cNvSpPr>
            <a:spLocks/>
          </p:cNvSpPr>
          <p:nvPr/>
        </p:nvSpPr>
        <p:spPr bwMode="auto">
          <a:xfrm>
            <a:off x="5849986" y="1653623"/>
            <a:ext cx="88900" cy="77787"/>
          </a:xfrm>
          <a:custGeom>
            <a:avLst/>
            <a:gdLst/>
            <a:ahLst/>
            <a:cxnLst>
              <a:cxn ang="0">
                <a:pos x="56" y="0"/>
              </a:cxn>
              <a:cxn ang="0">
                <a:pos x="0" y="49"/>
              </a:cxn>
              <a:cxn ang="0">
                <a:pos x="56" y="49"/>
              </a:cxn>
              <a:cxn ang="0">
                <a:pos x="56" y="0"/>
              </a:cxn>
            </a:cxnLst>
            <a:rect l="0" t="0" r="r" b="b"/>
            <a:pathLst>
              <a:path w="56" h="49">
                <a:moveTo>
                  <a:pt x="56" y="0"/>
                </a:moveTo>
                <a:lnTo>
                  <a:pt x="0" y="49"/>
                </a:lnTo>
                <a:lnTo>
                  <a:pt x="56" y="49"/>
                </a:lnTo>
                <a:lnTo>
                  <a:pt x="56" y="0"/>
                </a:lnTo>
                <a:close/>
              </a:path>
            </a:pathLst>
          </a:custGeom>
          <a:solidFill>
            <a:srgbClr val="D15028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zh-CN" altLang="en-US" sz="1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6" name="Picture 9">
            <a:extLst>
              <a:ext uri="{FF2B5EF4-FFF2-40B4-BE49-F238E27FC236}">
                <a16:creationId xmlns:a16="http://schemas.microsoft.com/office/drawing/2014/main" id="{42F6CD04-6D19-C367-2D6B-D58BDA8FB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30786" y="2279242"/>
            <a:ext cx="841375" cy="28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0">
            <a:extLst>
              <a:ext uri="{FF2B5EF4-FFF2-40B4-BE49-F238E27FC236}">
                <a16:creationId xmlns:a16="http://schemas.microsoft.com/office/drawing/2014/main" id="{A7BF2A51-7C63-AD2C-5AF2-BADC0B9CA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38886" y="1726080"/>
            <a:ext cx="841375" cy="839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Oval 11">
            <a:extLst>
              <a:ext uri="{FF2B5EF4-FFF2-40B4-BE49-F238E27FC236}">
                <a16:creationId xmlns:a16="http://schemas.microsoft.com/office/drawing/2014/main" id="{E4ED8469-C9E9-145B-9F0D-C7FBFA8F6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8499" y="1763319"/>
            <a:ext cx="709613" cy="708025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zh-CN" altLang="en-US" sz="1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46DAD31F-517E-0D29-6B76-03008331F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274" y="1835292"/>
            <a:ext cx="611188" cy="488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F06633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rgbClr val="F06633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C0AF41E-0C24-5CF7-3BA5-5DFE1D1981DE}"/>
              </a:ext>
            </a:extLst>
          </p:cNvPr>
          <p:cNvSpPr txBox="1"/>
          <p:nvPr/>
        </p:nvSpPr>
        <p:spPr>
          <a:xfrm>
            <a:off x="845417" y="3440424"/>
            <a:ext cx="7985545" cy="336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实体类只负责数据存取，而对数据的处理交给其他类来完成，以实现数据和数据业务处理相分离。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EC0FEA8-0C02-761D-EE92-D090620FDE0D}"/>
              </a:ext>
            </a:extLst>
          </p:cNvPr>
          <p:cNvSpPr txBox="1"/>
          <p:nvPr/>
        </p:nvSpPr>
        <p:spPr>
          <a:xfrm>
            <a:off x="822347" y="2890251"/>
            <a:ext cx="3871808" cy="371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实体类的应用场景是什么？</a:t>
            </a:r>
          </a:p>
        </p:txBody>
      </p:sp>
      <p:sp>
        <p:nvSpPr>
          <p:cNvPr id="23" name="Freeform 20">
            <a:extLst>
              <a:ext uri="{FF2B5EF4-FFF2-40B4-BE49-F238E27FC236}">
                <a16:creationId xmlns:a16="http://schemas.microsoft.com/office/drawing/2014/main" id="{D12030A5-D1B6-37F9-24B9-7D387B649BF8}"/>
              </a:ext>
            </a:extLst>
          </p:cNvPr>
          <p:cNvSpPr>
            <a:spLocks/>
          </p:cNvSpPr>
          <p:nvPr/>
        </p:nvSpPr>
        <p:spPr bwMode="auto">
          <a:xfrm>
            <a:off x="845417" y="1729942"/>
            <a:ext cx="4509816" cy="764997"/>
          </a:xfrm>
          <a:custGeom>
            <a:avLst/>
            <a:gdLst/>
            <a:ahLst/>
            <a:cxnLst>
              <a:cxn ang="0">
                <a:pos x="934" y="364"/>
              </a:cxn>
              <a:cxn ang="0">
                <a:pos x="91" y="364"/>
              </a:cxn>
              <a:cxn ang="0">
                <a:pos x="0" y="273"/>
              </a:cxn>
              <a:cxn ang="0">
                <a:pos x="0" y="0"/>
              </a:cxn>
              <a:cxn ang="0">
                <a:pos x="1025" y="0"/>
              </a:cxn>
              <a:cxn ang="0">
                <a:pos x="1025" y="273"/>
              </a:cxn>
              <a:cxn ang="0">
                <a:pos x="934" y="364"/>
              </a:cxn>
            </a:cxnLst>
            <a:rect l="0" t="0" r="r" b="b"/>
            <a:pathLst>
              <a:path w="1025" h="364">
                <a:moveTo>
                  <a:pt x="934" y="364"/>
                </a:moveTo>
                <a:cubicBezTo>
                  <a:pt x="91" y="364"/>
                  <a:pt x="91" y="364"/>
                  <a:pt x="91" y="364"/>
                </a:cubicBezTo>
                <a:cubicBezTo>
                  <a:pt x="41" y="364"/>
                  <a:pt x="0" y="323"/>
                  <a:pt x="0" y="273"/>
                </a:cubicBezTo>
                <a:cubicBezTo>
                  <a:pt x="0" y="0"/>
                  <a:pt x="0" y="0"/>
                  <a:pt x="0" y="0"/>
                </a:cubicBezTo>
                <a:cubicBezTo>
                  <a:pt x="1025" y="0"/>
                  <a:pt x="1025" y="0"/>
                  <a:pt x="1025" y="0"/>
                </a:cubicBezTo>
                <a:cubicBezTo>
                  <a:pt x="1025" y="273"/>
                  <a:pt x="1025" y="273"/>
                  <a:pt x="1025" y="273"/>
                </a:cubicBezTo>
                <a:cubicBezTo>
                  <a:pt x="1025" y="323"/>
                  <a:pt x="984" y="364"/>
                  <a:pt x="934" y="364"/>
                </a:cubicBezTo>
              </a:path>
            </a:pathLst>
          </a:custGeom>
          <a:solidFill>
            <a:srgbClr val="E8E8E8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            这个类中的成员变量都要私有，并且要对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   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外提供相应的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getXxx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setXxx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zh-CN" altLang="en-US" sz="12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Freeform 21">
            <a:extLst>
              <a:ext uri="{FF2B5EF4-FFF2-40B4-BE49-F238E27FC236}">
                <a16:creationId xmlns:a16="http://schemas.microsoft.com/office/drawing/2014/main" id="{D13FBCB8-906F-1524-D569-35612314CD63}"/>
              </a:ext>
            </a:extLst>
          </p:cNvPr>
          <p:cNvSpPr>
            <a:spLocks/>
          </p:cNvSpPr>
          <p:nvPr/>
        </p:nvSpPr>
        <p:spPr bwMode="auto">
          <a:xfrm>
            <a:off x="1075972" y="1681532"/>
            <a:ext cx="866775" cy="930525"/>
          </a:xfrm>
          <a:custGeom>
            <a:avLst/>
            <a:gdLst/>
            <a:ahLst/>
            <a:cxnLst>
              <a:cxn ang="0">
                <a:pos x="115" y="292"/>
              </a:cxn>
              <a:cxn ang="0">
                <a:pos x="0" y="176"/>
              </a:cxn>
              <a:cxn ang="0">
                <a:pos x="0" y="0"/>
              </a:cxn>
              <a:cxn ang="0">
                <a:pos x="231" y="0"/>
              </a:cxn>
              <a:cxn ang="0">
                <a:pos x="231" y="176"/>
              </a:cxn>
              <a:cxn ang="0">
                <a:pos x="115" y="292"/>
              </a:cxn>
            </a:cxnLst>
            <a:rect l="0" t="0" r="r" b="b"/>
            <a:pathLst>
              <a:path w="231" h="292">
                <a:moveTo>
                  <a:pt x="115" y="292"/>
                </a:moveTo>
                <a:cubicBezTo>
                  <a:pt x="52" y="292"/>
                  <a:pt x="0" y="240"/>
                  <a:pt x="0" y="176"/>
                </a:cubicBezTo>
                <a:cubicBezTo>
                  <a:pt x="0" y="0"/>
                  <a:pt x="0" y="0"/>
                  <a:pt x="0" y="0"/>
                </a:cubicBezTo>
                <a:cubicBezTo>
                  <a:pt x="231" y="0"/>
                  <a:pt x="231" y="0"/>
                  <a:pt x="231" y="0"/>
                </a:cubicBezTo>
                <a:cubicBezTo>
                  <a:pt x="231" y="176"/>
                  <a:pt x="231" y="176"/>
                  <a:pt x="231" y="176"/>
                </a:cubicBezTo>
                <a:cubicBezTo>
                  <a:pt x="231" y="240"/>
                  <a:pt x="179" y="292"/>
                  <a:pt x="115" y="292"/>
                </a:cubicBezTo>
              </a:path>
            </a:pathLst>
          </a:custGeom>
          <a:solidFill>
            <a:srgbClr val="FFC82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zh-CN" altLang="en-US" sz="1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Freeform 22">
            <a:extLst>
              <a:ext uri="{FF2B5EF4-FFF2-40B4-BE49-F238E27FC236}">
                <a16:creationId xmlns:a16="http://schemas.microsoft.com/office/drawing/2014/main" id="{68B83B03-9A11-8974-3C65-E640CE6BFD03}"/>
              </a:ext>
            </a:extLst>
          </p:cNvPr>
          <p:cNvSpPr>
            <a:spLocks/>
          </p:cNvSpPr>
          <p:nvPr/>
        </p:nvSpPr>
        <p:spPr bwMode="auto">
          <a:xfrm>
            <a:off x="993259" y="1635973"/>
            <a:ext cx="85725" cy="77787"/>
          </a:xfrm>
          <a:custGeom>
            <a:avLst/>
            <a:gdLst/>
            <a:ahLst/>
            <a:cxnLst>
              <a:cxn ang="0">
                <a:pos x="54" y="0"/>
              </a:cxn>
              <a:cxn ang="0">
                <a:pos x="0" y="49"/>
              </a:cxn>
              <a:cxn ang="0">
                <a:pos x="54" y="49"/>
              </a:cxn>
              <a:cxn ang="0">
                <a:pos x="54" y="0"/>
              </a:cxn>
            </a:cxnLst>
            <a:rect l="0" t="0" r="r" b="b"/>
            <a:pathLst>
              <a:path w="54" h="49">
                <a:moveTo>
                  <a:pt x="54" y="0"/>
                </a:moveTo>
                <a:lnTo>
                  <a:pt x="0" y="49"/>
                </a:lnTo>
                <a:lnTo>
                  <a:pt x="54" y="49"/>
                </a:lnTo>
                <a:lnTo>
                  <a:pt x="54" y="0"/>
                </a:lnTo>
                <a:close/>
              </a:path>
            </a:pathLst>
          </a:custGeom>
          <a:solidFill>
            <a:srgbClr val="E1942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zh-CN" altLang="en-US" sz="1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6" name="Picture 23">
            <a:extLst>
              <a:ext uri="{FF2B5EF4-FFF2-40B4-BE49-F238E27FC236}">
                <a16:creationId xmlns:a16="http://schemas.microsoft.com/office/drawing/2014/main" id="{5C70D079-C23C-F396-F2C0-ADEC0F0D9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55432" y="2181541"/>
            <a:ext cx="839788" cy="28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4">
            <a:extLst>
              <a:ext uri="{FF2B5EF4-FFF2-40B4-BE49-F238E27FC236}">
                <a16:creationId xmlns:a16="http://schemas.microsoft.com/office/drawing/2014/main" id="{450E1312-9341-7262-7241-0CEBE4A24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91084" y="1648773"/>
            <a:ext cx="839788" cy="839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Oval 25">
            <a:extLst>
              <a:ext uri="{FF2B5EF4-FFF2-40B4-BE49-F238E27FC236}">
                <a16:creationId xmlns:a16="http://schemas.microsoft.com/office/drawing/2014/main" id="{6A289D9F-4C59-5486-022B-C8CBBAB0C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374" y="1728154"/>
            <a:ext cx="704850" cy="708025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zh-CN" altLang="en-US" sz="160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9" name="Rectangle 26">
            <a:extLst>
              <a:ext uri="{FF2B5EF4-FFF2-40B4-BE49-F238E27FC236}">
                <a16:creationId xmlns:a16="http://schemas.microsoft.com/office/drawing/2014/main" id="{3B73E203-1E19-A10C-6B29-5DFDCE65F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585" y="1793452"/>
            <a:ext cx="413575" cy="488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FFC822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rgbClr val="FFC822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9A713C8-1CB7-0199-412B-3B01C99F8853}"/>
              </a:ext>
            </a:extLst>
          </p:cNvPr>
          <p:cNvSpPr txBox="1"/>
          <p:nvPr/>
        </p:nvSpPr>
        <p:spPr>
          <a:xfrm>
            <a:off x="976132" y="3961116"/>
            <a:ext cx="2694326" cy="2005357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5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class 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 {</a:t>
            </a:r>
            <a:b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en-US" altLang="zh-CN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105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private 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</a:t>
            </a:r>
            <a:r>
              <a:rPr kumimoji="0" lang="zh-CN" altLang="zh-CN" sz="1050" b="1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b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105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private double </a:t>
            </a:r>
            <a:r>
              <a:rPr kumimoji="0" lang="zh-CN" altLang="zh-CN" sz="1050" b="1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score</a:t>
            </a: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endParaRPr kumimoji="0" lang="en-US" altLang="zh-CN" sz="105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5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105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//</a:t>
            </a:r>
            <a:r>
              <a:rPr kumimoji="0" lang="en-US" altLang="zh-CN" sz="105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05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get</a:t>
            </a:r>
            <a:r>
              <a:rPr kumimoji="0" lang="en-US" altLang="zh-CN" sz="105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ter</a:t>
            </a:r>
            <a:r>
              <a:rPr kumimoji="0" lang="zh-CN" altLang="zh-CN" sz="105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set</a:t>
            </a:r>
            <a:r>
              <a:rPr kumimoji="0" lang="en-US" altLang="zh-CN" sz="105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ter</a:t>
            </a:r>
            <a:r>
              <a:rPr kumimoji="0" lang="zh-CN" altLang="zh-CN" sz="105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br>
              <a:rPr kumimoji="0" lang="zh-CN" altLang="zh-CN" sz="105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en-US" altLang="zh-CN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5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b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endParaRPr lang="en-US" altLang="zh-CN" sz="105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CC17894-2738-15D4-1997-61409DADFC5B}"/>
              </a:ext>
            </a:extLst>
          </p:cNvPr>
          <p:cNvSpPr txBox="1"/>
          <p:nvPr/>
        </p:nvSpPr>
        <p:spPr>
          <a:xfrm>
            <a:off x="1180084" y="4977020"/>
            <a:ext cx="2358915" cy="1035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0" lang="zh-CN" altLang="zh-CN" sz="1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// </a:t>
            </a:r>
            <a:r>
              <a:rPr lang="zh-CN" altLang="en-US" sz="1000" i="1" dirty="0">
                <a:solidFill>
                  <a:srgbClr val="808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计算学生总成绩</a:t>
            </a:r>
            <a:endParaRPr lang="en-US" altLang="zh-CN" sz="1000" i="1" dirty="0">
              <a:solidFill>
                <a:srgbClr val="80808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00" i="1" dirty="0">
                <a:solidFill>
                  <a:srgbClr val="808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000" i="1" dirty="0">
                <a:solidFill>
                  <a:srgbClr val="808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// </a:t>
            </a:r>
            <a:r>
              <a:rPr lang="zh-CN" altLang="en-US" sz="1000" i="1" dirty="0">
                <a:solidFill>
                  <a:srgbClr val="808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展示学生所有信息</a:t>
            </a:r>
            <a:endParaRPr lang="en-US" altLang="zh-CN" sz="1000" i="1" dirty="0">
              <a:solidFill>
                <a:srgbClr val="80808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00" i="1" dirty="0">
                <a:solidFill>
                  <a:srgbClr val="808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000" i="1" dirty="0">
                <a:solidFill>
                  <a:srgbClr val="808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//</a:t>
            </a:r>
            <a:r>
              <a:rPr lang="zh-CN" altLang="en-US" sz="1000" i="1" dirty="0">
                <a:solidFill>
                  <a:srgbClr val="808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000" i="1" dirty="0">
                <a:solidFill>
                  <a:srgbClr val="808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 </a:t>
            </a:r>
            <a:br>
              <a:rPr kumimoji="0" lang="zh-CN" altLang="zh-CN" sz="105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endParaRPr lang="zh-CN" altLang="en-US" sz="105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8164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2.59259E-6 L 0.29049 0.01435 " pathEditMode="relative" rAng="0" ptsTypes="AA">
                                      <p:cBhvr>
                                        <p:cTn id="7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518" y="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18" grpId="0" animBg="1"/>
      <p:bldP spid="20" grpId="0"/>
      <p:bldP spid="21" grpId="0"/>
      <p:bldP spid="22" grpId="0"/>
      <p:bldP spid="23" grpId="0" animBg="1"/>
      <p:bldP spid="24" grpId="0" animBg="1"/>
      <p:bldP spid="25" grpId="0" animBg="1"/>
      <p:bldP spid="28" grpId="0" animBg="1"/>
      <p:bldP spid="29" grpId="0"/>
      <p:bldP spid="30" grpId="0" animBg="1"/>
      <p:bldP spid="31" grpId="0"/>
      <p:bldP spid="31" grpId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0C04C-F10E-D32C-AE0F-7A63602AD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1C3423A-3A4F-83D0-21A1-58F866CB32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面向对象思想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类和对象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类和对象内存图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成员变量和局部变量的区别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this </a:t>
            </a:r>
            <a:r>
              <a:rPr lang="zh-CN" altLang="en-US" dirty="0">
                <a:latin typeface="Consolas" panose="020B0609020204030204" pitchFamily="49" charset="0"/>
              </a:rPr>
              <a:t>关键字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构造方法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封装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JavaBean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static </a:t>
            </a:r>
            <a:r>
              <a:rPr lang="zh-CN" altLang="en-US" dirty="0">
                <a:latin typeface="Consolas" panose="020B0609020204030204" pitchFamily="49" charset="0"/>
              </a:rPr>
              <a:t>关键字</a:t>
            </a:r>
          </a:p>
        </p:txBody>
      </p:sp>
    </p:spTree>
    <p:extLst>
      <p:ext uri="{BB962C8B-B14F-4D97-AF65-F5344CB8AC3E}">
        <p14:creationId xmlns:p14="http://schemas.microsoft.com/office/powerpoint/2010/main" val="1735946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2ADC6-9AF4-47A9-EB98-4FCFBFDC9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B4D0AA-B5E1-81FE-77E4-88523FA044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5357661" cy="901700"/>
          </a:xfrm>
        </p:spPr>
        <p:txBody>
          <a:bodyPr/>
          <a:lstStyle/>
          <a:p>
            <a:r>
              <a:rPr lang="en-US" altLang="zh-CN" dirty="0"/>
              <a:t>static </a:t>
            </a:r>
            <a:r>
              <a:rPr lang="zh-CN" altLang="en-US" dirty="0"/>
              <a:t>关键字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9663303E-E735-755E-8B18-C98B28743A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507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A96362DD-AA02-45D6-8C8B-F299D1241F9C}"/>
              </a:ext>
            </a:extLst>
          </p:cNvPr>
          <p:cNvSpPr txBox="1"/>
          <p:nvPr/>
        </p:nvSpPr>
        <p:spPr>
          <a:xfrm>
            <a:off x="576626" y="959378"/>
            <a:ext cx="10069415" cy="570541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285750" indent="-285750">
              <a:lnSpc>
                <a:spcPct val="200000"/>
              </a:lnSpc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Alibaba PuHuiTi R"/>
                <a:cs typeface="阿里巴巴普惠体 Medium" panose="00020600040101010101" pitchFamily="18" charset="-122"/>
              </a:rPr>
              <a:t>static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是</a:t>
            </a:r>
            <a:r>
              <a:rPr lang="zh-CN" altLang="en-US" dirty="0">
                <a:solidFill>
                  <a:srgbClr val="C00000"/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静态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的意思，可以修饰成员变量，也可以修饰成员方法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 Medium" panose="00020600040101010101" pitchFamily="18" charset="-122"/>
              <a:ea typeface="Alibaba PuHuiTi R"/>
              <a:cs typeface="阿里巴巴普惠体 Medium" panose="00020600040101010101" pitchFamily="18" charset="-122"/>
            </a:endParaRPr>
          </a:p>
        </p:txBody>
      </p:sp>
      <p:pic>
        <p:nvPicPr>
          <p:cNvPr id="1026" name="Picture 2" descr="易拉罐疑惑问号表情包 - 一组疑惑问号表情包">
            <a:extLst>
              <a:ext uri="{FF2B5EF4-FFF2-40B4-BE49-F238E27FC236}">
                <a16:creationId xmlns:a16="http://schemas.microsoft.com/office/drawing/2014/main" id="{81980C07-1A94-61B0-A46B-DDB2CA4CF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09" b="98890" l="2000" r="99200">
                        <a14:foregroundMark x1="13867" y1="59085" x2="40400" y2="77809"/>
                        <a14:foregroundMark x1="40400" y1="77809" x2="75067" y2="77254"/>
                        <a14:foregroundMark x1="75067" y1="77254" x2="87333" y2="62829"/>
                        <a14:foregroundMark x1="2133" y1="22469" x2="6667" y2="70042"/>
                        <a14:foregroundMark x1="4000" y1="17476" x2="6400" y2="34951"/>
                        <a14:foregroundMark x1="99200" y1="16782" x2="95200" y2="61026"/>
                        <a14:foregroundMark x1="93467" y1="70042" x2="35467" y2="88904"/>
                        <a14:foregroundMark x1="35467" y1="88904" x2="10933" y2="89598"/>
                        <a14:foregroundMark x1="11733" y1="93065" x2="44667" y2="95700"/>
                        <a14:foregroundMark x1="44667" y1="95700" x2="98800" y2="90846"/>
                        <a14:foregroundMark x1="95600" y1="74202" x2="59200" y2="93481"/>
                        <a14:foregroundMark x1="59200" y1="93481" x2="18667" y2="96671"/>
                        <a14:foregroundMark x1="22400" y1="98613" x2="36533" y2="98890"/>
                        <a14:foregroundMark x1="36533" y1="98890" x2="98267" y2="98336"/>
                        <a14:foregroundMark x1="45467" y1="14286" x2="43733" y2="2122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626" y="1679679"/>
            <a:ext cx="3899904" cy="3748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6BB61CB-AB48-495F-1D27-173FDC055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static </a:t>
            </a:r>
            <a:r>
              <a:rPr lang="zh-CN" altLang="en-US" dirty="0"/>
              <a:t>关键字</a:t>
            </a:r>
          </a:p>
        </p:txBody>
      </p:sp>
    </p:spTree>
    <p:extLst>
      <p:ext uri="{BB962C8B-B14F-4D97-AF65-F5344CB8AC3E}">
        <p14:creationId xmlns:p14="http://schemas.microsoft.com/office/powerpoint/2010/main" val="331207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A96362DD-AA02-45D6-8C8B-F299D1241F9C}"/>
              </a:ext>
            </a:extLst>
          </p:cNvPr>
          <p:cNvSpPr txBox="1"/>
          <p:nvPr/>
        </p:nvSpPr>
        <p:spPr>
          <a:xfrm>
            <a:off x="576626" y="1139682"/>
            <a:ext cx="10069415" cy="1299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+mn-ea"/>
                <a:cs typeface="阿里巴巴普惠体 Medium" panose="00020600040101010101" pitchFamily="18" charset="-122"/>
              </a:rPr>
              <a:t>被其修饰的成员</a:t>
            </a:r>
            <a:r>
              <a:rPr lang="en-US" altLang="zh-CN" dirty="0">
                <a:latin typeface="+mn-ea"/>
                <a:cs typeface="阿里巴巴普惠体 Medium" panose="00020600040101010101" pitchFamily="18" charset="-122"/>
              </a:rPr>
              <a:t>, </a:t>
            </a:r>
            <a:r>
              <a:rPr lang="zh-CN" altLang="en-US" dirty="0">
                <a:latin typeface="+mn-ea"/>
                <a:cs typeface="阿里巴巴普惠体 Medium" panose="00020600040101010101" pitchFamily="18" charset="-122"/>
              </a:rPr>
              <a:t>被该类的所有对象所共享</a:t>
            </a:r>
            <a:endParaRPr lang="en-US" altLang="zh-CN" dirty="0">
              <a:latin typeface="+mn-ea"/>
              <a:cs typeface="阿里巴巴普惠体 Medium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+mn-ea"/>
                <a:cs typeface="阿里巴巴普惠体 Medium" panose="00020600040101010101" pitchFamily="18" charset="-122"/>
              </a:rPr>
              <a:t>多了一种调用方式</a:t>
            </a:r>
            <a:r>
              <a:rPr lang="en-US" altLang="zh-CN" dirty="0">
                <a:latin typeface="+mn-ea"/>
                <a:cs typeface="阿里巴巴普惠体 Medium" panose="00020600040101010101" pitchFamily="18" charset="-122"/>
              </a:rPr>
              <a:t>, </a:t>
            </a:r>
            <a:r>
              <a:rPr lang="zh-CN" altLang="en-US" dirty="0">
                <a:latin typeface="+mn-ea"/>
                <a:cs typeface="阿里巴巴普惠体 Medium" panose="00020600040101010101" pitchFamily="18" charset="-122"/>
              </a:rPr>
              <a:t>可以通过类名调用</a:t>
            </a:r>
            <a:endParaRPr lang="en-US" altLang="zh-CN" dirty="0">
              <a:latin typeface="+mn-ea"/>
              <a:cs typeface="阿里巴巴普惠体 Medium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+mn-ea"/>
                <a:cs typeface="阿里巴巴普惠体 Medium" panose="00020600040101010101" pitchFamily="18" charset="-122"/>
              </a:rPr>
              <a:t>随着类的加载而加载</a:t>
            </a:r>
            <a:r>
              <a:rPr lang="en-US" altLang="zh-CN" dirty="0">
                <a:latin typeface="+mn-ea"/>
                <a:cs typeface="阿里巴巴普惠体 Medium" panose="00020600040101010101" pitchFamily="18" charset="-122"/>
              </a:rPr>
              <a:t>, </a:t>
            </a:r>
            <a:r>
              <a:rPr lang="zh-CN" altLang="en-US" dirty="0">
                <a:latin typeface="+mn-ea"/>
                <a:cs typeface="阿里巴巴普惠体 Medium" panose="00020600040101010101" pitchFamily="18" charset="-122"/>
              </a:rPr>
              <a:t>优先于对象存在</a:t>
            </a:r>
            <a:endParaRPr lang="en-US" altLang="zh-CN" dirty="0">
              <a:latin typeface="+mn-ea"/>
              <a:cs typeface="阿里巴巴普惠体 Medium" panose="00020600040101010101" pitchFamily="18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4E6D38F-F95B-3281-32E2-36889DF7C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static </a:t>
            </a:r>
            <a:r>
              <a:rPr lang="zh-CN" altLang="en-US" dirty="0"/>
              <a:t>修饰成员的特点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97FE72-21A9-A0B4-8AF9-F5C43D271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6" y="2941655"/>
            <a:ext cx="6365837" cy="116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041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文本框 73">
            <a:extLst>
              <a:ext uri="{FF2B5EF4-FFF2-40B4-BE49-F238E27FC236}">
                <a16:creationId xmlns:a16="http://schemas.microsoft.com/office/drawing/2014/main" id="{75E0DEBB-BA2F-4E1E-AB32-44E302878401}"/>
              </a:ext>
            </a:extLst>
          </p:cNvPr>
          <p:cNvSpPr txBox="1"/>
          <p:nvPr/>
        </p:nvSpPr>
        <p:spPr>
          <a:xfrm>
            <a:off x="8167456" y="1383277"/>
            <a:ext cx="111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7ef20235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7986FB-8537-42DD-A28E-2911AC86A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220" y="835414"/>
            <a:ext cx="4733276" cy="5879623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User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name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age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static int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onLineNumber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StaticTest1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C42DBC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C42DBC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User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onLineNumber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++;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User u1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new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User();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u1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name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张三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u1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age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23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u1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name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"---"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u1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age 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871094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		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"---"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u1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onLineNumber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User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onLineNumber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++;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User u2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new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User();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u2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name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李四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u2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age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24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u2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name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"---"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u2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age 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871094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		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"---"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+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u2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onLineNumber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423F7CA7-921B-4317-8F11-E990834A4EB2}"/>
              </a:ext>
            </a:extLst>
          </p:cNvPr>
          <p:cNvGrpSpPr>
            <a:grpSpLocks/>
          </p:cNvGrpSpPr>
          <p:nvPr/>
        </p:nvGrpSpPr>
        <p:grpSpPr bwMode="auto">
          <a:xfrm>
            <a:off x="7828187" y="794607"/>
            <a:ext cx="4227127" cy="3786272"/>
            <a:chOff x="6466008" y="708048"/>
            <a:chExt cx="2903644" cy="5399087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A9F3AB3B-52DC-4A62-BE0C-93CC0E5C236E}"/>
                </a:ext>
              </a:extLst>
            </p:cNvPr>
            <p:cNvSpPr/>
            <p:nvPr/>
          </p:nvSpPr>
          <p:spPr bwMode="auto">
            <a:xfrm>
              <a:off x="6619031" y="896890"/>
              <a:ext cx="2750621" cy="5210245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38" name="TextBox 2">
              <a:extLst>
                <a:ext uri="{FF2B5EF4-FFF2-40B4-BE49-F238E27FC236}">
                  <a16:creationId xmlns:a16="http://schemas.microsoft.com/office/drawing/2014/main" id="{12D555A8-8184-4BC5-ACB5-A278FE0D49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66008" y="708048"/>
              <a:ext cx="1074078" cy="845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EE8AF443-48CB-4577-B309-385ED372FE9A}"/>
              </a:ext>
            </a:extLst>
          </p:cNvPr>
          <p:cNvGrpSpPr>
            <a:grpSpLocks/>
          </p:cNvGrpSpPr>
          <p:nvPr/>
        </p:nvGrpSpPr>
        <p:grpSpPr bwMode="auto">
          <a:xfrm>
            <a:off x="5081652" y="847139"/>
            <a:ext cx="2872740" cy="5867897"/>
            <a:chOff x="4441895" y="1347668"/>
            <a:chExt cx="1771200" cy="360034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65568FF9-1309-461B-B291-19ABB1B1C1D1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169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42" name="TextBox 2">
              <a:extLst>
                <a:ext uri="{FF2B5EF4-FFF2-40B4-BE49-F238E27FC236}">
                  <a16:creationId xmlns:a16="http://schemas.microsoft.com/office/drawing/2014/main" id="{230AB4AD-84E1-43EE-98E3-CF6C3842EA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accent2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chemeClr val="accent2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49AFCDC9-4DAF-4A71-B2F2-CE83D29287C1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C41D7C2E-9DB3-4FB2-9ED6-D095B7911BE4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16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E7617E77-C6B6-41ED-ACD4-06B96F0486C4}"/>
                </a:ext>
              </a:extLst>
            </p:cNvPr>
            <p:cNvCxnSpPr/>
            <p:nvPr/>
          </p:nvCxnSpPr>
          <p:spPr>
            <a:xfrm flipH="1">
              <a:off x="4441895" y="4944837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D83DD41A-AFE6-40EF-993D-5E8A280353F9}"/>
              </a:ext>
            </a:extLst>
          </p:cNvPr>
          <p:cNvGrpSpPr>
            <a:grpSpLocks/>
          </p:cNvGrpSpPr>
          <p:nvPr/>
        </p:nvGrpSpPr>
        <p:grpSpPr bwMode="auto">
          <a:xfrm>
            <a:off x="6854225" y="4758612"/>
            <a:ext cx="5237161" cy="1703158"/>
            <a:chOff x="976366" y="4315941"/>
            <a:chExt cx="3643185" cy="1431496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8779983B-A353-436A-BC0E-920979871D4B}"/>
                </a:ext>
              </a:extLst>
            </p:cNvPr>
            <p:cNvSpPr/>
            <p:nvPr/>
          </p:nvSpPr>
          <p:spPr bwMode="auto">
            <a:xfrm>
              <a:off x="1808863" y="4346794"/>
              <a:ext cx="2810688" cy="1400643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 w="38100">
              <a:solidFill>
                <a:srgbClr val="92D05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rgbClr val="92D05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55" name="TextBox 2">
              <a:extLst>
                <a:ext uri="{FF2B5EF4-FFF2-40B4-BE49-F238E27FC236}">
                  <a16:creationId xmlns:a16="http://schemas.microsoft.com/office/drawing/2014/main" id="{1A8C11D5-1A3F-4E42-82CA-DA2E251F65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6366" y="4315941"/>
              <a:ext cx="2442792" cy="440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92D05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方法区</a:t>
              </a:r>
            </a:p>
          </p:txBody>
        </p:sp>
      </p:grpSp>
      <p:sp>
        <p:nvSpPr>
          <p:cNvPr id="60" name="TextBox 3">
            <a:extLst>
              <a:ext uri="{FF2B5EF4-FFF2-40B4-BE49-F238E27FC236}">
                <a16:creationId xmlns:a16="http://schemas.microsoft.com/office/drawing/2014/main" id="{9F6564F2-A1EC-49A8-890D-0CD5CCAF96FA}"/>
              </a:ext>
            </a:extLst>
          </p:cNvPr>
          <p:cNvSpPr txBox="1"/>
          <p:nvPr/>
        </p:nvSpPr>
        <p:spPr>
          <a:xfrm>
            <a:off x="8333638" y="5467217"/>
            <a:ext cx="1614326" cy="646331"/>
          </a:xfrm>
          <a:prstGeom prst="rect">
            <a:avLst/>
          </a:prstGeom>
          <a:solidFill>
            <a:srgbClr val="D9D9D9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StaticTest1.class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61" name="TextBox 3">
            <a:extLst>
              <a:ext uri="{FF2B5EF4-FFF2-40B4-BE49-F238E27FC236}">
                <a16:creationId xmlns:a16="http://schemas.microsoft.com/office/drawing/2014/main" id="{3FE4B002-02E6-4648-AF0C-11AD3FDA5C39}"/>
              </a:ext>
            </a:extLst>
          </p:cNvPr>
          <p:cNvSpPr txBox="1"/>
          <p:nvPr/>
        </p:nvSpPr>
        <p:spPr>
          <a:xfrm>
            <a:off x="5161022" y="3506547"/>
            <a:ext cx="2667165" cy="2585323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63" name="TextBox 3">
            <a:extLst>
              <a:ext uri="{FF2B5EF4-FFF2-40B4-BE49-F238E27FC236}">
                <a16:creationId xmlns:a16="http://schemas.microsoft.com/office/drawing/2014/main" id="{06C2AA03-5CF2-493A-A5C0-6BE3B1ECB6CA}"/>
              </a:ext>
            </a:extLst>
          </p:cNvPr>
          <p:cNvSpPr txBox="1"/>
          <p:nvPr/>
        </p:nvSpPr>
        <p:spPr>
          <a:xfrm>
            <a:off x="10230644" y="5467931"/>
            <a:ext cx="1641227" cy="276999"/>
          </a:xfrm>
          <a:prstGeom prst="rect">
            <a:avLst/>
          </a:prstGeom>
          <a:solidFill>
            <a:srgbClr val="D9D9D9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User.class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9511540-0520-4EA4-912A-4EFD87C37AA8}"/>
              </a:ext>
            </a:extLst>
          </p:cNvPr>
          <p:cNvSpPr/>
          <p:nvPr/>
        </p:nvSpPr>
        <p:spPr>
          <a:xfrm>
            <a:off x="5205159" y="3810507"/>
            <a:ext cx="2585679" cy="389433"/>
          </a:xfrm>
          <a:prstGeom prst="rect">
            <a:avLst/>
          </a:prstGeom>
          <a:solidFill>
            <a:srgbClr val="FFFF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A90491D-3169-408D-959C-1796B70427AF}"/>
              </a:ext>
            </a:extLst>
          </p:cNvPr>
          <p:cNvSpPr txBox="1"/>
          <p:nvPr/>
        </p:nvSpPr>
        <p:spPr>
          <a:xfrm>
            <a:off x="5206782" y="3866723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User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u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461BAC-B70D-4ED2-BC9A-8BA38A400D7D}"/>
              </a:ext>
            </a:extLst>
          </p:cNvPr>
          <p:cNvSpPr/>
          <p:nvPr/>
        </p:nvSpPr>
        <p:spPr>
          <a:xfrm>
            <a:off x="8167456" y="3810507"/>
            <a:ext cx="3284738" cy="59279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8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onLineNumber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= 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0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C21180-96C4-4720-A70C-79A2295F09EB}"/>
              </a:ext>
            </a:extLst>
          </p:cNvPr>
          <p:cNvSpPr txBox="1"/>
          <p:nvPr/>
        </p:nvSpPr>
        <p:spPr>
          <a:xfrm>
            <a:off x="8167456" y="3500445"/>
            <a:ext cx="424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User 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静态成员变量区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15ABAFB1-A163-41F7-8DD7-7B04B102E420}"/>
              </a:ext>
            </a:extLst>
          </p:cNvPr>
          <p:cNvSpPr/>
          <p:nvPr/>
        </p:nvSpPr>
        <p:spPr>
          <a:xfrm>
            <a:off x="8167456" y="3810507"/>
            <a:ext cx="3284738" cy="59279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8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onLineNumber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= 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dirty="0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7BDDF59-96EA-43DF-8E82-0836486D6D1A}"/>
              </a:ext>
            </a:extLst>
          </p:cNvPr>
          <p:cNvSpPr/>
          <p:nvPr/>
        </p:nvSpPr>
        <p:spPr>
          <a:xfrm>
            <a:off x="8208253" y="1670704"/>
            <a:ext cx="1822573" cy="1652010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659DCCDD-ED1D-456B-9360-6DBD4DAB01D9}"/>
              </a:ext>
            </a:extLst>
          </p:cNvPr>
          <p:cNvSpPr txBox="1"/>
          <p:nvPr/>
        </p:nvSpPr>
        <p:spPr>
          <a:xfrm>
            <a:off x="8208254" y="1729809"/>
            <a:ext cx="18225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4F11644-A2AA-48E1-A96D-FEB622FFD726}"/>
              </a:ext>
            </a:extLst>
          </p:cNvPr>
          <p:cNvSpPr txBox="1"/>
          <p:nvPr/>
        </p:nvSpPr>
        <p:spPr>
          <a:xfrm>
            <a:off x="8167456" y="1383277"/>
            <a:ext cx="111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7ef20235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90DA6B4-3E8A-4465-981B-F0FE071D4309}"/>
              </a:ext>
            </a:extLst>
          </p:cNvPr>
          <p:cNvSpPr txBox="1"/>
          <p:nvPr/>
        </p:nvSpPr>
        <p:spPr>
          <a:xfrm>
            <a:off x="9285322" y="2140586"/>
            <a:ext cx="5245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null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0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653E9C0D-B6E5-496C-BE6C-0F2E0D596E14}"/>
              </a:ext>
            </a:extLst>
          </p:cNvPr>
          <p:cNvCxnSpPr>
            <a:endCxn id="74" idx="1"/>
          </p:cNvCxnSpPr>
          <p:nvPr/>
        </p:nvCxnSpPr>
        <p:spPr>
          <a:xfrm rot="5400000" flipH="1" flipV="1">
            <a:off x="6301000" y="2000268"/>
            <a:ext cx="2344946" cy="1387965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7EB17D7-5C14-465D-8121-00A24C8157D6}"/>
              </a:ext>
            </a:extLst>
          </p:cNvPr>
          <p:cNvCxnSpPr>
            <a:cxnSpLocks/>
          </p:cNvCxnSpPr>
          <p:nvPr/>
        </p:nvCxnSpPr>
        <p:spPr>
          <a:xfrm>
            <a:off x="9793174" y="3322714"/>
            <a:ext cx="0" cy="48779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06AD1A43-897F-4781-BBDD-458408DA6689}"/>
              </a:ext>
            </a:extLst>
          </p:cNvPr>
          <p:cNvSpPr/>
          <p:nvPr/>
        </p:nvSpPr>
        <p:spPr>
          <a:xfrm>
            <a:off x="3336071" y="1079588"/>
            <a:ext cx="2872740" cy="40765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张三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</a:rPr>
              <a:t>---23---1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2F2C9123-37EE-41A5-812F-6D751E4F7C32}"/>
              </a:ext>
            </a:extLst>
          </p:cNvPr>
          <p:cNvSpPr txBox="1"/>
          <p:nvPr/>
        </p:nvSpPr>
        <p:spPr>
          <a:xfrm>
            <a:off x="9289365" y="2164704"/>
            <a:ext cx="4924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张三</a:t>
            </a:r>
            <a:endParaRPr lang="en-US" altLang="zh-CN" sz="1200" dirty="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sz="1200" dirty="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D6861008-1A0A-482E-ACB4-D5943075ECAD}"/>
              </a:ext>
            </a:extLst>
          </p:cNvPr>
          <p:cNvSpPr/>
          <p:nvPr/>
        </p:nvSpPr>
        <p:spPr>
          <a:xfrm>
            <a:off x="8167456" y="3810507"/>
            <a:ext cx="3284738" cy="59279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8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onLineNumber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= 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dirty="0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9EC980B-F3A5-42A1-B632-C1239DCE7D73}"/>
              </a:ext>
            </a:extLst>
          </p:cNvPr>
          <p:cNvSpPr/>
          <p:nvPr/>
        </p:nvSpPr>
        <p:spPr>
          <a:xfrm>
            <a:off x="5201764" y="4443790"/>
            <a:ext cx="2585679" cy="389433"/>
          </a:xfrm>
          <a:prstGeom prst="rect">
            <a:avLst/>
          </a:prstGeom>
          <a:solidFill>
            <a:srgbClr val="FFFF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DD462036-D39A-4B8A-9222-1EED9C17DDE6}"/>
              </a:ext>
            </a:extLst>
          </p:cNvPr>
          <p:cNvSpPr txBox="1"/>
          <p:nvPr/>
        </p:nvSpPr>
        <p:spPr>
          <a:xfrm>
            <a:off x="5227171" y="4496046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User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u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16A8144F-B94A-4C8A-BFBE-B1F3BC0E050C}"/>
              </a:ext>
            </a:extLst>
          </p:cNvPr>
          <p:cNvSpPr/>
          <p:nvPr/>
        </p:nvSpPr>
        <p:spPr>
          <a:xfrm>
            <a:off x="10139970" y="1660390"/>
            <a:ext cx="1822573" cy="1652010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B5D33B4A-E0D2-4D75-9A3D-0B0CE920308E}"/>
              </a:ext>
            </a:extLst>
          </p:cNvPr>
          <p:cNvSpPr txBox="1"/>
          <p:nvPr/>
        </p:nvSpPr>
        <p:spPr>
          <a:xfrm>
            <a:off x="10139970" y="1717003"/>
            <a:ext cx="18225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 </a:t>
            </a:r>
            <a:r>
              <a:rPr lang="zh-CN" altLang="zh-CN" sz="1400" dirty="0">
                <a:solidFill>
                  <a:srgbClr val="871094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srgbClr val="871094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52CF08DA-585D-41DF-899B-E3ED95A8F834}"/>
              </a:ext>
            </a:extLst>
          </p:cNvPr>
          <p:cNvSpPr txBox="1"/>
          <p:nvPr/>
        </p:nvSpPr>
        <p:spPr>
          <a:xfrm>
            <a:off x="11166041" y="2164704"/>
            <a:ext cx="4860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李四</a:t>
            </a:r>
            <a:endParaRPr lang="en-US" altLang="zh-CN" sz="1200" dirty="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sz="1200" dirty="0">
              <a:solidFill>
                <a:srgbClr val="00B05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06B33A2F-EFB4-487C-B8FE-80959CC44236}"/>
              </a:ext>
            </a:extLst>
          </p:cNvPr>
          <p:cNvSpPr txBox="1"/>
          <p:nvPr/>
        </p:nvSpPr>
        <p:spPr>
          <a:xfrm>
            <a:off x="11166042" y="2164704"/>
            <a:ext cx="5245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null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0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B38F4C06-2B59-4D6C-83F6-D98A7E23BB10}"/>
              </a:ext>
            </a:extLst>
          </p:cNvPr>
          <p:cNvCxnSpPr>
            <a:cxnSpLocks/>
          </p:cNvCxnSpPr>
          <p:nvPr/>
        </p:nvCxnSpPr>
        <p:spPr>
          <a:xfrm>
            <a:off x="10670629" y="3322714"/>
            <a:ext cx="0" cy="48779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237C2A96-CB11-49C4-826F-9DF49FB42FE1}"/>
              </a:ext>
            </a:extLst>
          </p:cNvPr>
          <p:cNvSpPr txBox="1"/>
          <p:nvPr/>
        </p:nvSpPr>
        <p:spPr>
          <a:xfrm>
            <a:off x="10151356" y="1377429"/>
            <a:ext cx="111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27d6c5e0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3EF52AA-AA9A-4A78-B979-8ED5F6144D3D}"/>
              </a:ext>
            </a:extLst>
          </p:cNvPr>
          <p:cNvSpPr txBox="1"/>
          <p:nvPr/>
        </p:nvSpPr>
        <p:spPr>
          <a:xfrm>
            <a:off x="10151356" y="1377429"/>
            <a:ext cx="111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27d6c5e0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B6BE300F-6652-404F-842C-3256D579430B}"/>
              </a:ext>
            </a:extLst>
          </p:cNvPr>
          <p:cNvCxnSpPr>
            <a:cxnSpLocks/>
          </p:cNvCxnSpPr>
          <p:nvPr/>
        </p:nvCxnSpPr>
        <p:spPr>
          <a:xfrm flipV="1">
            <a:off x="7335586" y="3383280"/>
            <a:ext cx="4316485" cy="1268110"/>
          </a:xfrm>
          <a:prstGeom prst="bentConnector3">
            <a:avLst>
              <a:gd name="adj1" fmla="val 100135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 93">
            <a:extLst>
              <a:ext uri="{FF2B5EF4-FFF2-40B4-BE49-F238E27FC236}">
                <a16:creationId xmlns:a16="http://schemas.microsoft.com/office/drawing/2014/main" id="{16778495-B148-41F3-900B-F278441039CA}"/>
              </a:ext>
            </a:extLst>
          </p:cNvPr>
          <p:cNvSpPr/>
          <p:nvPr/>
        </p:nvSpPr>
        <p:spPr>
          <a:xfrm>
            <a:off x="3336071" y="1757045"/>
            <a:ext cx="2872740" cy="40765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</a:rPr>
              <a:t>李四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</a:rPr>
              <a:t>---24---2</a:t>
            </a:r>
            <a:endParaRPr lang="zh-CN" alt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AF76C1F-301A-72C4-9870-182590C1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static </a:t>
            </a:r>
            <a:r>
              <a:rPr lang="zh-CN" altLang="en-US" dirty="0"/>
              <a:t>内存图</a:t>
            </a:r>
          </a:p>
        </p:txBody>
      </p:sp>
    </p:spTree>
    <p:extLst>
      <p:ext uri="{BB962C8B-B14F-4D97-AF65-F5344CB8AC3E}">
        <p14:creationId xmlns:p14="http://schemas.microsoft.com/office/powerpoint/2010/main" val="408527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0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7.40741E-7 L -0.06823 7.40741E-7 C -0.09883 7.40741E-7 -0.13646 0.09977 -0.13646 0.18102 L -0.13646 0.36227 " pathEditMode="relative" rAng="0" ptsTypes="AAAA">
                                      <p:cBhvr>
                                        <p:cTn id="7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23" y="181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6" presetClass="emph" presetSubtype="0" repeatCount="3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 tmFilter="0, 0; .2, .5; .8, .5; 1, 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8" dur="250" autoRev="1" fill="hold"/>
                                        <p:tgtEl>
                                          <p:spTgt spid="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5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4.81481E-6 L -0.14831 -4.81481E-6 C -0.21485 -4.81481E-6 -0.29662 0.12547 -0.29662 0.22755 L -0.29662 0.45533 " pathEditMode="relative" rAng="0" ptsTypes="AAAA">
                                      <p:cBhvr>
                                        <p:cTn id="147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831" y="22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60" grpId="0" animBg="1"/>
      <p:bldP spid="61" grpId="0" animBg="1"/>
      <p:bldP spid="63" grpId="0" animBg="1"/>
      <p:bldP spid="64" grpId="0" animBg="1"/>
      <p:bldP spid="65" grpId="0"/>
      <p:bldP spid="7" grpId="0" animBg="1"/>
      <p:bldP spid="8" grpId="0"/>
      <p:bldP spid="66" grpId="0" animBg="1"/>
      <p:bldP spid="69" grpId="0" animBg="1"/>
      <p:bldP spid="70" grpId="0"/>
      <p:bldP spid="71" grpId="0"/>
      <p:bldP spid="71" grpId="1"/>
      <p:bldP spid="9" grpId="0"/>
      <p:bldP spid="9" grpId="1"/>
      <p:bldP spid="15" grpId="0" animBg="1"/>
      <p:bldP spid="75" grpId="0"/>
      <p:bldP spid="76" grpId="0" animBg="1"/>
      <p:bldP spid="76" grpId="1" animBg="1"/>
      <p:bldP spid="77" grpId="0" animBg="1"/>
      <p:bldP spid="78" grpId="0"/>
      <p:bldP spid="86" grpId="0" animBg="1"/>
      <p:bldP spid="88" grpId="0"/>
      <p:bldP spid="89" grpId="0"/>
      <p:bldP spid="90" grpId="0"/>
      <p:bldP spid="90" grpId="1"/>
      <p:bldP spid="87" grpId="0"/>
      <p:bldP spid="93" grpId="0"/>
      <p:bldP spid="93" grpId="1"/>
      <p:bldP spid="9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4">
            <a:extLst>
              <a:ext uri="{FF2B5EF4-FFF2-40B4-BE49-F238E27FC236}">
                <a16:creationId xmlns:a16="http://schemas.microsoft.com/office/drawing/2014/main" id="{EF72AA4D-0C79-4D40-A6F3-92CD814DB894}"/>
              </a:ext>
            </a:extLst>
          </p:cNvPr>
          <p:cNvSpPr txBox="1"/>
          <p:nvPr/>
        </p:nvSpPr>
        <p:spPr>
          <a:xfrm>
            <a:off x="710880" y="1042430"/>
            <a:ext cx="3346214" cy="468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defRPr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 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修饰成员的特点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96362DD-AA02-45D6-8C8B-F299D1241F9C}"/>
              </a:ext>
            </a:extLst>
          </p:cNvPr>
          <p:cNvSpPr txBox="1"/>
          <p:nvPr/>
        </p:nvSpPr>
        <p:spPr>
          <a:xfrm>
            <a:off x="710880" y="1648397"/>
            <a:ext cx="10069415" cy="116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被其修饰的成员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被该类的所有对象所共享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 Medium" panose="00020600040101010101" pitchFamily="18" charset="-122"/>
              <a:ea typeface="Alibaba PuHuiTi R"/>
              <a:cs typeface="阿里巴巴普惠体 Medium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多了一种调用方式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可以通过类名调用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 Medium" panose="00020600040101010101" pitchFamily="18" charset="-122"/>
              <a:ea typeface="Alibaba PuHuiTi R"/>
              <a:cs typeface="阿里巴巴普惠体 Medium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随着类的加载而加载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优先于对象存在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 Medium" panose="00020600040101010101" pitchFamily="18" charset="-122"/>
              <a:ea typeface="Alibaba PuHuiTi R"/>
              <a:cs typeface="阿里巴巴普惠体 Medium" panose="00020600040101010101" pitchFamily="18" charset="-122"/>
            </a:endParaRP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6758DA4D-F757-4A62-5957-6CC85E46D77C}"/>
              </a:ext>
            </a:extLst>
          </p:cNvPr>
          <p:cNvSpPr txBox="1"/>
          <p:nvPr/>
        </p:nvSpPr>
        <p:spPr>
          <a:xfrm>
            <a:off x="710880" y="3194512"/>
            <a:ext cx="3346214" cy="468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defRPr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 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成员变量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51CBC5-BBC6-13E9-4CB4-949990CA9714}"/>
              </a:ext>
            </a:extLst>
          </p:cNvPr>
          <p:cNvSpPr txBox="1"/>
          <p:nvPr/>
        </p:nvSpPr>
        <p:spPr>
          <a:xfrm>
            <a:off x="710879" y="3738454"/>
            <a:ext cx="10069415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共享数据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 Medium" panose="00020600040101010101" pitchFamily="18" charset="-122"/>
              <a:ea typeface="Alibaba PuHuiTi R"/>
              <a:cs typeface="阿里巴巴普惠体 Medium" panose="00020600040101010101" pitchFamily="18" charset="-122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155704C-D9E0-AC69-85B3-2071FBFA44F6}"/>
              </a:ext>
            </a:extLst>
          </p:cNvPr>
          <p:cNvSpPr txBox="1"/>
          <p:nvPr/>
        </p:nvSpPr>
        <p:spPr>
          <a:xfrm>
            <a:off x="710880" y="4463475"/>
            <a:ext cx="3346214" cy="468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defRPr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 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8E5592-405C-C2CA-8A33-F0EAAB625BD0}"/>
              </a:ext>
            </a:extLst>
          </p:cNvPr>
          <p:cNvSpPr txBox="1"/>
          <p:nvPr/>
        </p:nvSpPr>
        <p:spPr>
          <a:xfrm>
            <a:off x="710880" y="5041214"/>
            <a:ext cx="2741448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常用于工具类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 Medium" panose="00020600040101010101" pitchFamily="18" charset="-122"/>
              <a:ea typeface="Alibaba PuHuiTi R"/>
              <a:cs typeface="阿里巴巴普惠体 Medium" panose="00020600040101010101" pitchFamily="18" charset="-122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9CE7AB2B-8521-DFE4-A394-46E0B1B87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static </a:t>
            </a:r>
            <a:r>
              <a:rPr lang="zh-CN" altLang="en-US" dirty="0"/>
              <a:t>关键字</a:t>
            </a:r>
          </a:p>
        </p:txBody>
      </p:sp>
    </p:spTree>
    <p:extLst>
      <p:ext uri="{BB962C8B-B14F-4D97-AF65-F5344CB8AC3E}">
        <p14:creationId xmlns:p14="http://schemas.microsoft.com/office/powerpoint/2010/main" val="3494634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CB5688-2EAE-ECA0-B18D-B75CCB8AE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数组工具类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6D87B51-6DA8-AF02-9215-505E49684F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编写一个类 </a:t>
            </a:r>
            <a:r>
              <a:rPr lang="en-US" altLang="zh-CN" dirty="0" err="1">
                <a:latin typeface="Consolas" panose="020B0609020204030204" pitchFamily="49" charset="0"/>
              </a:rPr>
              <a:t>ArrayTools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zh-CN" altLang="en-US" dirty="0">
                <a:latin typeface="Consolas" panose="020B0609020204030204" pitchFamily="49" charset="0"/>
              </a:rPr>
              <a:t>内部编写三个方法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latin typeface="Consolas" panose="020B0609020204030204" pitchFamily="49" charset="0"/>
              </a:rPr>
              <a:t>从数组中找最大值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latin typeface="Consolas" panose="020B0609020204030204" pitchFamily="49" charset="0"/>
              </a:rPr>
              <a:t>从数组中找最小值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latin typeface="Consolas" panose="020B0609020204030204" pitchFamily="49" charset="0"/>
              </a:rPr>
              <a:t>打印出数组中所有的元素</a:t>
            </a:r>
            <a:endParaRPr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69634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D6FDA-E6F4-9F9B-B718-B3A670596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4">
            <a:extLst>
              <a:ext uri="{FF2B5EF4-FFF2-40B4-BE49-F238E27FC236}">
                <a16:creationId xmlns:a16="http://schemas.microsoft.com/office/drawing/2014/main" id="{BCBB853B-BFED-F51B-0E12-58B6C277DFB9}"/>
              </a:ext>
            </a:extLst>
          </p:cNvPr>
          <p:cNvSpPr txBox="1"/>
          <p:nvPr/>
        </p:nvSpPr>
        <p:spPr>
          <a:xfrm>
            <a:off x="710880" y="1042430"/>
            <a:ext cx="3346214" cy="468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defRPr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 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修饰成员的特点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5206B0-1098-74DB-C2A6-460FF9198032}"/>
              </a:ext>
            </a:extLst>
          </p:cNvPr>
          <p:cNvSpPr txBox="1"/>
          <p:nvPr/>
        </p:nvSpPr>
        <p:spPr>
          <a:xfrm>
            <a:off x="710880" y="1648397"/>
            <a:ext cx="10069415" cy="116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被其修饰的成员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被该类的所有对象所共享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 Medium" panose="00020600040101010101" pitchFamily="18" charset="-122"/>
              <a:ea typeface="Alibaba PuHuiTi R"/>
              <a:cs typeface="阿里巴巴普惠体 Medium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多了一种调用方式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可以通过类名调用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 Medium" panose="00020600040101010101" pitchFamily="18" charset="-122"/>
              <a:ea typeface="Alibaba PuHuiTi R"/>
              <a:cs typeface="阿里巴巴普惠体 Medium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随着类的加载而加载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优先于对象存在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 Medium" panose="00020600040101010101" pitchFamily="18" charset="-122"/>
              <a:ea typeface="Alibaba PuHuiTi R"/>
              <a:cs typeface="阿里巴巴普惠体 Medium" panose="00020600040101010101" pitchFamily="18" charset="-122"/>
            </a:endParaRP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A729F8B1-6427-D4F6-3B91-410FE5BC00D5}"/>
              </a:ext>
            </a:extLst>
          </p:cNvPr>
          <p:cNvSpPr txBox="1"/>
          <p:nvPr/>
        </p:nvSpPr>
        <p:spPr>
          <a:xfrm>
            <a:off x="710880" y="3194512"/>
            <a:ext cx="3346214" cy="468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defRPr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 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成员变量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0EE83C-168C-2563-0392-336FE7AD02BB}"/>
              </a:ext>
            </a:extLst>
          </p:cNvPr>
          <p:cNvSpPr txBox="1"/>
          <p:nvPr/>
        </p:nvSpPr>
        <p:spPr>
          <a:xfrm>
            <a:off x="710879" y="3738454"/>
            <a:ext cx="10069415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共享数据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 Medium" panose="00020600040101010101" pitchFamily="18" charset="-122"/>
              <a:ea typeface="Alibaba PuHuiTi R"/>
              <a:cs typeface="阿里巴巴普惠体 Medium" panose="00020600040101010101" pitchFamily="18" charset="-122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229528D-86A5-64A5-12B2-C198EAD26723}"/>
              </a:ext>
            </a:extLst>
          </p:cNvPr>
          <p:cNvSpPr txBox="1"/>
          <p:nvPr/>
        </p:nvSpPr>
        <p:spPr>
          <a:xfrm>
            <a:off x="710880" y="4463475"/>
            <a:ext cx="3346214" cy="468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defRPr/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 </a:t>
            </a:r>
            <a:r>
              <a:rPr lang="zh-CN" altLang="en-US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86BAED-EDA1-C73E-F8D2-F1392817D007}"/>
              </a:ext>
            </a:extLst>
          </p:cNvPr>
          <p:cNvSpPr txBox="1"/>
          <p:nvPr/>
        </p:nvSpPr>
        <p:spPr>
          <a:xfrm>
            <a:off x="710880" y="5041214"/>
            <a:ext cx="2741448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 Medium" panose="00020600040101010101" pitchFamily="18" charset="-122"/>
                <a:ea typeface="Alibaba PuHuiTi R"/>
                <a:cs typeface="阿里巴巴普惠体 Medium" panose="00020600040101010101" pitchFamily="18" charset="-122"/>
              </a:rPr>
              <a:t>常用于工具类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 Medium" panose="00020600040101010101" pitchFamily="18" charset="-122"/>
              <a:ea typeface="Alibaba PuHuiTi R"/>
              <a:cs typeface="阿里巴巴普惠体 Medium" panose="00020600040101010101" pitchFamily="18" charset="-122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A3A74C4F-02FB-ADE6-4578-ECDE84C96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static </a:t>
            </a:r>
            <a:r>
              <a:rPr lang="zh-CN" altLang="en-US" dirty="0"/>
              <a:t>关键字</a:t>
            </a:r>
          </a:p>
        </p:txBody>
      </p:sp>
      <p:sp>
        <p:nvSpPr>
          <p:cNvPr id="11" name="三角形 9">
            <a:extLst>
              <a:ext uri="{FF2B5EF4-FFF2-40B4-BE49-F238E27FC236}">
                <a16:creationId xmlns:a16="http://schemas.microsoft.com/office/drawing/2014/main" id="{E7191396-4C56-526B-3448-FF8B6280FD09}"/>
              </a:ext>
            </a:extLst>
          </p:cNvPr>
          <p:cNvSpPr/>
          <p:nvPr/>
        </p:nvSpPr>
        <p:spPr>
          <a:xfrm rot="2651319">
            <a:off x="3762717" y="4880194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9BC4453C-BC37-9545-7D3C-1C2047D9F6FF}"/>
              </a:ext>
            </a:extLst>
          </p:cNvPr>
          <p:cNvSpPr txBox="1"/>
          <p:nvPr/>
        </p:nvSpPr>
        <p:spPr>
          <a:xfrm>
            <a:off x="4100506" y="5021255"/>
            <a:ext cx="6767513" cy="700576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static 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方法中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,  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只能访问静态成员 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直接访问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static 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中不允许使用 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this 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关键字</a:t>
            </a:r>
            <a:endParaRPr lang="en-US" altLang="zh-CN" sz="14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71F4B4B-B867-4D07-8162-3E06AB6FADD7}"/>
              </a:ext>
            </a:extLst>
          </p:cNvPr>
          <p:cNvSpPr/>
          <p:nvPr/>
        </p:nvSpPr>
        <p:spPr>
          <a:xfrm>
            <a:off x="3856031" y="4523611"/>
            <a:ext cx="6850069" cy="1413510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1B9F79-5363-AC73-EDEA-8130DE492126}"/>
              </a:ext>
            </a:extLst>
          </p:cNvPr>
          <p:cNvSpPr/>
          <p:nvPr/>
        </p:nvSpPr>
        <p:spPr>
          <a:xfrm>
            <a:off x="3756103" y="4596081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</p:spTree>
    <p:extLst>
      <p:ext uri="{BB962C8B-B14F-4D97-AF65-F5344CB8AC3E}">
        <p14:creationId xmlns:p14="http://schemas.microsoft.com/office/powerpoint/2010/main" val="160844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1" grpId="0" animBg="1"/>
      <p:bldP spid="12" grpId="0"/>
      <p:bldP spid="13" grpId="0" animBg="1"/>
      <p:bldP spid="14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D156D-5C09-BBA7-40FA-FD6DB1D22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62EB406-62F2-B8A7-1B9B-3A3BFF8237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static :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静态修饰符，可用来修饰成员变量、成员方法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修饰成员的特点：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342900" indent="-342900">
              <a:buClr>
                <a:schemeClr val="tx1">
                  <a:lumMod val="85000"/>
                  <a:lumOff val="15000"/>
                </a:schemeClr>
              </a:buClr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 Medium" panose="00020600040101010101" pitchFamily="18" charset="-122"/>
              </a:rPr>
              <a:t>被其修饰的成员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 Medium" panose="00020600040101010101" pitchFamily="18" charset="-122"/>
              </a:rPr>
              <a:t>,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 Medium" panose="00020600040101010101" pitchFamily="18" charset="-122"/>
              </a:rPr>
              <a:t>被该类的所有对象所共享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  <a:cs typeface="阿里巴巴普惠体 Medium" panose="00020600040101010101" pitchFamily="18" charset="-122"/>
            </a:endParaRPr>
          </a:p>
          <a:p>
            <a:pPr marL="342900" indent="-342900">
              <a:buClr>
                <a:schemeClr val="tx1">
                  <a:lumMod val="85000"/>
                  <a:lumOff val="15000"/>
                </a:schemeClr>
              </a:buClr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 Medium" panose="00020600040101010101" pitchFamily="18" charset="-122"/>
              </a:rPr>
              <a:t>多了一种调用方式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 Medium" panose="00020600040101010101" pitchFamily="18" charset="-122"/>
              </a:rPr>
              <a:t>,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 Medium" panose="00020600040101010101" pitchFamily="18" charset="-122"/>
              </a:rPr>
              <a:t>可以通过类名调用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  <a:cs typeface="阿里巴巴普惠体 Medium" panose="00020600040101010101" pitchFamily="18" charset="-122"/>
            </a:endParaRPr>
          </a:p>
          <a:p>
            <a:pPr marL="342900" indent="-342900">
              <a:buClr>
                <a:schemeClr val="tx1">
                  <a:lumMod val="85000"/>
                  <a:lumOff val="15000"/>
                </a:schemeClr>
              </a:buClr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 Medium" panose="00020600040101010101" pitchFamily="18" charset="-122"/>
              </a:rPr>
              <a:t>随着类的加载而加载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 Medium" panose="00020600040101010101" pitchFamily="18" charset="-122"/>
              </a:rPr>
              <a:t>,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 Medium" panose="00020600040101010101" pitchFamily="18" charset="-122"/>
              </a:rPr>
              <a:t>优先于对象存在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  <a:cs typeface="阿里巴巴普惠体 Medium" panose="00020600040101010101" pitchFamily="18" charset="-122"/>
            </a:endParaRPr>
          </a:p>
          <a:p>
            <a:pPr marL="342900" indent="-342900">
              <a:buClr>
                <a:schemeClr val="tx1">
                  <a:lumMod val="85000"/>
                  <a:lumOff val="15000"/>
                </a:schemeClr>
              </a:buClr>
              <a:buAutoNum type="arabicPeriod"/>
              <a:defRPr/>
            </a:pP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  <a:cs typeface="阿里巴巴普惠体 Medium" panose="00020600040101010101" pitchFamily="18" charset="-122"/>
            </a:endParaRPr>
          </a:p>
          <a:p>
            <a:pPr>
              <a:buClr>
                <a:schemeClr val="tx1">
                  <a:lumMod val="85000"/>
                  <a:lumOff val="15000"/>
                </a:schemeClr>
              </a:buClr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 Medium" panose="00020600040101010101" pitchFamily="18" charset="-122"/>
              </a:rPr>
              <a:t>使用场景：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  <a:cs typeface="阿里巴巴普惠体 Medium" panose="00020600040101010101" pitchFamily="18" charset="-122"/>
            </a:endParaRPr>
          </a:p>
          <a:p>
            <a:pPr marL="342900" indent="-342900">
              <a:buClr>
                <a:schemeClr val="tx1">
                  <a:lumMod val="85000"/>
                  <a:lumOff val="15000"/>
                </a:schemeClr>
              </a:buClr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 Medium" panose="00020600040101010101" pitchFamily="18" charset="-122"/>
              </a:rPr>
              <a:t>成员变量：需要共享的数据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  <a:cs typeface="阿里巴巴普惠体 Medium" panose="00020600040101010101" pitchFamily="18" charset="-122"/>
            </a:endParaRPr>
          </a:p>
          <a:p>
            <a:pPr marL="342900" indent="-342900">
              <a:buClr>
                <a:schemeClr val="tx1">
                  <a:lumMod val="85000"/>
                  <a:lumOff val="15000"/>
                </a:schemeClr>
              </a:buClr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 Medium" panose="00020600040101010101" pitchFamily="18" charset="-122"/>
              </a:rPr>
              <a:t>成员方法：工具类的方法大多数是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 Medium" panose="00020600040101010101" pitchFamily="18" charset="-122"/>
              </a:rPr>
              <a:t>static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 Medium" panose="00020600040101010101" pitchFamily="18" charset="-122"/>
              </a:rPr>
              <a:t>的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  <a:cs typeface="阿里巴巴普惠体 Medium" panose="00020600040101010101" pitchFamily="18" charset="-122"/>
            </a:endParaRPr>
          </a:p>
          <a:p>
            <a:pPr>
              <a:buClr>
                <a:schemeClr val="tx1">
                  <a:lumMod val="85000"/>
                  <a:lumOff val="15000"/>
                </a:schemeClr>
              </a:buClr>
              <a:defRPr/>
            </a:pP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  <a:cs typeface="阿里巴巴普惠体 Medium" panose="00020600040101010101" pitchFamily="18" charset="-122"/>
            </a:endParaRPr>
          </a:p>
          <a:p>
            <a:pPr>
              <a:buClr>
                <a:schemeClr val="tx1">
                  <a:lumMod val="85000"/>
                  <a:lumOff val="15000"/>
                </a:schemeClr>
              </a:buClr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 Medium" panose="00020600040101010101" pitchFamily="18" charset="-122"/>
              </a:rPr>
              <a:t>注意事项：静态方法中只能访问静态成员（直接访问），静态中没有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 Medium" panose="00020600040101010101" pitchFamily="18" charset="-122"/>
              </a:rPr>
              <a:t>this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  <a:cs typeface="阿里巴巴普惠体 Medium" panose="00020600040101010101" pitchFamily="18" charset="-122"/>
              </a:rPr>
              <a:t>关键字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  <a:cs typeface="阿里巴巴普惠体 Medium" panose="00020600040101010101" pitchFamily="18" charset="-122"/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84D7D39-AE69-1AB9-A9FD-ED34B5D2CCB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44475"/>
            <a:ext cx="8770938" cy="5175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594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">
            <a:extLst>
              <a:ext uri="{FF2B5EF4-FFF2-40B4-BE49-F238E27FC236}">
                <a16:creationId xmlns:a16="http://schemas.microsoft.com/office/drawing/2014/main" id="{5BAEC3DF-7EEB-E466-032B-3EA60784B094}"/>
              </a:ext>
            </a:extLst>
          </p:cNvPr>
          <p:cNvSpPr txBox="1"/>
          <p:nvPr/>
        </p:nvSpPr>
        <p:spPr>
          <a:xfrm>
            <a:off x="711137" y="1344991"/>
            <a:ext cx="5975776" cy="1530099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80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HelloWorld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600" dirty="0">
                <a:solidFill>
                  <a:srgbClr val="000080"/>
                </a:solidFill>
                <a:latin typeface="Consolas" panose="020B0609020204030204" pitchFamily="49" charset="0"/>
              </a:rPr>
              <a:t>public static void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main(String[] args) {</a:t>
            </a:r>
            <a:b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zh-CN" altLang="zh-CN" sz="1600" b="1" i="1" dirty="0">
                <a:solidFill>
                  <a:srgbClr val="660E7A"/>
                </a:solidFill>
                <a:latin typeface="Consolas" panose="020B0609020204030204" pitchFamily="49" charset="0"/>
              </a:rPr>
              <a:t>out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.println(</a:t>
            </a:r>
            <a:r>
              <a:rPr lang="zh-CN" altLang="zh-CN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HelloWorld</a:t>
            </a:r>
            <a:r>
              <a:rPr lang="zh-CN" altLang="zh-CN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zh-CN" altLang="zh-CN" sz="20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5B7D539-1710-8221-1BFF-094953676F99}"/>
              </a:ext>
            </a:extLst>
          </p:cNvPr>
          <p:cNvSpPr txBox="1"/>
          <p:nvPr/>
        </p:nvSpPr>
        <p:spPr>
          <a:xfrm>
            <a:off x="576626" y="3287451"/>
            <a:ext cx="9547704" cy="25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被</a:t>
            </a: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JVM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调用，访问权限足够大</a:t>
            </a:r>
            <a:endParaRPr lang="en-US" altLang="zh-CN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被</a:t>
            </a: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JVM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调用，不用创建对象</a:t>
            </a:r>
            <a:endParaRPr lang="en-US" altLang="zh-CN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	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因为</a:t>
            </a: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方法是静态的，所以测试类中其他方法也需要是静态的</a:t>
            </a:r>
            <a:endParaRPr lang="en-US" altLang="zh-CN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void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被</a:t>
            </a: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JVM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调用，不需要给</a:t>
            </a: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JVM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返回值</a:t>
            </a:r>
            <a:endParaRPr lang="en-US" altLang="zh-CN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一个通用的名称，虽然不是关键字，但是被</a:t>
            </a: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JVM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识别</a:t>
            </a:r>
            <a:endParaRPr lang="en-US" altLang="zh-CN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String[] </a:t>
            </a:r>
            <a:r>
              <a:rPr lang="en-US" altLang="zh-CN" dirty="0" err="1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args</a:t>
            </a: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	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以前用于接收键盘录入数据的，现在没用</a:t>
            </a:r>
            <a:endParaRPr lang="en-US" altLang="zh-CN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76E754E-8B4F-976C-938E-6EE8499F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重新认识 </a:t>
            </a:r>
            <a:r>
              <a:rPr lang="en-US" altLang="zh-CN" dirty="0"/>
              <a:t>main </a:t>
            </a:r>
            <a:r>
              <a:rPr lang="zh-CN" altLang="en-US" dirty="0"/>
              <a:t>方法</a:t>
            </a:r>
          </a:p>
        </p:txBody>
      </p:sp>
    </p:spTree>
    <p:extLst>
      <p:ext uri="{BB962C8B-B14F-4D97-AF65-F5344CB8AC3E}">
        <p14:creationId xmlns:p14="http://schemas.microsoft.com/office/powerpoint/2010/main" val="3636417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10938</TotalTime>
  <Words>6561</Words>
  <Application>Microsoft Office PowerPoint</Application>
  <PresentationFormat>宽屏</PresentationFormat>
  <Paragraphs>1031</Paragraphs>
  <Slides>86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86</vt:i4>
      </vt:variant>
    </vt:vector>
  </HeadingPairs>
  <TitlesOfParts>
    <vt:vector size="111" baseType="lpstr">
      <vt:lpstr>Alibaba PuHuiTi B</vt:lpstr>
      <vt:lpstr>Alibaba PuHuiTi M</vt:lpstr>
      <vt:lpstr>Alibaba PuHuiTi Medium</vt:lpstr>
      <vt:lpstr>Alibaba PuHuiTi R</vt:lpstr>
      <vt:lpstr>Inter</vt:lpstr>
      <vt:lpstr>阿里巴巴普惠体</vt:lpstr>
      <vt:lpstr>阿里巴巴普惠体 Heavy</vt:lpstr>
      <vt:lpstr>阿里巴巴普惠体 Medium</vt:lpstr>
      <vt:lpstr>等线</vt:lpstr>
      <vt:lpstr>楷体</vt:lpstr>
      <vt:lpstr>思源黑体 CN Bold</vt:lpstr>
      <vt:lpstr>思源黑体 CN Normal</vt:lpstr>
      <vt:lpstr>宋体</vt:lpstr>
      <vt:lpstr>微软雅黑</vt:lpstr>
      <vt:lpstr>杨任东竹石体-Bold</vt:lpstr>
      <vt:lpstr>Arial</vt:lpstr>
      <vt:lpstr>Calisto MT</vt:lpstr>
      <vt:lpstr>Consolas</vt:lpstr>
      <vt:lpstr>Source Code Pro</vt:lpstr>
      <vt:lpstr>Wingdings</vt:lpstr>
      <vt:lpstr>内容模板</vt:lpstr>
      <vt:lpstr>封面</vt:lpstr>
      <vt:lpstr>章节目录模板</vt:lpstr>
      <vt:lpstr>小结思考模板2</vt:lpstr>
      <vt:lpstr>1_小结思考模板2</vt:lpstr>
      <vt:lpstr>第八章：面向对象基础</vt:lpstr>
      <vt:lpstr>面向对象介绍</vt:lpstr>
      <vt:lpstr>面向对象介绍</vt:lpstr>
      <vt:lpstr>面向对象介绍</vt:lpstr>
      <vt:lpstr>面向对象介绍</vt:lpstr>
      <vt:lpstr>面向对象介绍</vt:lpstr>
      <vt:lpstr>面向对象介绍</vt:lpstr>
      <vt:lpstr>面向对象介绍</vt:lpstr>
      <vt:lpstr>面向对象介绍</vt:lpstr>
      <vt:lpstr>面向对象介绍</vt:lpstr>
      <vt:lpstr>PowerPoint 演示文稿</vt:lpstr>
      <vt:lpstr>PowerPoint 演示文稿</vt:lpstr>
      <vt:lpstr>PowerPoint 演示文稿</vt:lpstr>
      <vt:lpstr>类和对象介绍 </vt:lpstr>
      <vt:lpstr>类和对象的关系 </vt:lpstr>
      <vt:lpstr>类的组成 </vt:lpstr>
      <vt:lpstr>创建对象、使用对象</vt:lpstr>
      <vt:lpstr>PowerPoint 演示文稿</vt:lpstr>
      <vt:lpstr>类的定义与对象的创建和使用</vt:lpstr>
      <vt:lpstr>PowerPoint 演示文稿</vt:lpstr>
      <vt:lpstr>PowerPoint 演示文稿</vt:lpstr>
      <vt:lpstr>类和对象内存图</vt:lpstr>
      <vt:lpstr>类和对象内存图</vt:lpstr>
      <vt:lpstr>类和对象内存图</vt:lpstr>
      <vt:lpstr>PowerPoint 演示文稿</vt:lpstr>
      <vt:lpstr>PowerPoint 演示文稿</vt:lpstr>
      <vt:lpstr> 成员变量的局部变量区别</vt:lpstr>
      <vt:lpstr> 成员变量的局部变量区别</vt:lpstr>
      <vt:lpstr> 成员变量的局部变量区别</vt:lpstr>
      <vt:lpstr> 成员变量的局部变量区别</vt:lpstr>
      <vt:lpstr> 成员变量的局部变量区别</vt:lpstr>
      <vt:lpstr> 成员变量的局部变量区别</vt:lpstr>
      <vt:lpstr> 成员变量的局部变量区别</vt:lpstr>
      <vt:lpstr> 成员变量的局部变量区别</vt:lpstr>
      <vt:lpstr> 成员变量的局部变量区别</vt:lpstr>
      <vt:lpstr>PowerPoint 演示文稿</vt:lpstr>
      <vt:lpstr>PowerPoint 演示文稿</vt:lpstr>
      <vt:lpstr>this 可以解决的问题</vt:lpstr>
      <vt:lpstr>this 可以解决的问题</vt:lpstr>
      <vt:lpstr>this 可以解决的问题</vt:lpstr>
      <vt:lpstr>this 介绍 </vt:lpstr>
      <vt:lpstr> this 内存图</vt:lpstr>
      <vt:lpstr> this 内存图</vt:lpstr>
      <vt:lpstr> this 内存图</vt:lpstr>
      <vt:lpstr> this 内存图</vt:lpstr>
      <vt:lpstr> this 内存图</vt:lpstr>
      <vt:lpstr> </vt:lpstr>
      <vt:lpstr>PowerPoint 演示文稿</vt:lpstr>
      <vt:lpstr>PowerPoint 演示文稿</vt:lpstr>
      <vt:lpstr>构造方法介绍 </vt:lpstr>
      <vt:lpstr>构造方法作用 </vt:lpstr>
      <vt:lpstr>构造方法注意事项 </vt:lpstr>
      <vt:lpstr>构造方法执行流程</vt:lpstr>
      <vt:lpstr>构造方法执行流程</vt:lpstr>
      <vt:lpstr>构造方法执行流程</vt:lpstr>
      <vt:lpstr>构造方法执行流程</vt:lpstr>
      <vt:lpstr> </vt:lpstr>
      <vt:lpstr>PowerPoint 演示文稿</vt:lpstr>
      <vt:lpstr>PowerPoint 演示文稿</vt:lpstr>
      <vt:lpstr> 面向对象三大特征</vt:lpstr>
      <vt:lpstr>封装思想</vt:lpstr>
      <vt:lpstr>封装思想</vt:lpstr>
      <vt:lpstr>封装思想</vt:lpstr>
      <vt:lpstr>封装思想</vt:lpstr>
      <vt:lpstr>封装思想</vt:lpstr>
      <vt:lpstr>封装思想</vt:lpstr>
      <vt:lpstr>封装思想</vt:lpstr>
      <vt:lpstr>封装思想</vt:lpstr>
      <vt:lpstr>封装思想</vt:lpstr>
      <vt:lpstr>封装思想</vt:lpstr>
      <vt:lpstr>权限修饰符</vt:lpstr>
      <vt:lpstr> </vt:lpstr>
      <vt:lpstr>PowerPoint 演示文稿</vt:lpstr>
      <vt:lpstr>PowerPoint 演示文稿</vt:lpstr>
      <vt:lpstr>标准 JavaBean</vt:lpstr>
      <vt:lpstr>PowerPoint 演示文稿</vt:lpstr>
      <vt:lpstr>PowerPoint 演示文稿</vt:lpstr>
      <vt:lpstr>static 关键字</vt:lpstr>
      <vt:lpstr>static 修饰成员的特点</vt:lpstr>
      <vt:lpstr>static 内存图</vt:lpstr>
      <vt:lpstr>static 关键字</vt:lpstr>
      <vt:lpstr>数组工具类</vt:lpstr>
      <vt:lpstr>static 关键字</vt:lpstr>
      <vt:lpstr> </vt:lpstr>
      <vt:lpstr>重新认识 main 方法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ys h</cp:lastModifiedBy>
  <cp:revision>1085</cp:revision>
  <cp:lastPrinted>2022-05-29T16:00:00Z</cp:lastPrinted>
  <dcterms:created xsi:type="dcterms:W3CDTF">2022-05-29T16:00:00Z</dcterms:created>
  <dcterms:modified xsi:type="dcterms:W3CDTF">2025-02-26T11:49:48Z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