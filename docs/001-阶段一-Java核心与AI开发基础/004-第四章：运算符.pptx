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68"/>
  </p:notesMasterIdLst>
  <p:handoutMasterIdLst>
    <p:handoutMasterId r:id="rId69"/>
  </p:handoutMasterIdLst>
  <p:sldIdLst>
    <p:sldId id="280" r:id="rId6"/>
    <p:sldId id="308" r:id="rId7"/>
    <p:sldId id="440" r:id="rId8"/>
    <p:sldId id="1006" r:id="rId9"/>
    <p:sldId id="1007" r:id="rId10"/>
    <p:sldId id="2699" r:id="rId11"/>
    <p:sldId id="1437" r:id="rId12"/>
    <p:sldId id="2696" r:id="rId13"/>
    <p:sldId id="2697" r:id="rId14"/>
    <p:sldId id="1009" r:id="rId15"/>
    <p:sldId id="1010" r:id="rId16"/>
    <p:sldId id="1011" r:id="rId17"/>
    <p:sldId id="460" r:id="rId18"/>
    <p:sldId id="2698" r:id="rId19"/>
    <p:sldId id="2700" r:id="rId20"/>
    <p:sldId id="2701" r:id="rId21"/>
    <p:sldId id="1013" r:id="rId22"/>
    <p:sldId id="2702" r:id="rId23"/>
    <p:sldId id="2703" r:id="rId24"/>
    <p:sldId id="2704" r:id="rId25"/>
    <p:sldId id="1016" r:id="rId26"/>
    <p:sldId id="1017" r:id="rId27"/>
    <p:sldId id="1018" r:id="rId28"/>
    <p:sldId id="1019" r:id="rId29"/>
    <p:sldId id="1020" r:id="rId30"/>
    <p:sldId id="2705" r:id="rId31"/>
    <p:sldId id="1023" r:id="rId32"/>
    <p:sldId id="2707" r:id="rId33"/>
    <p:sldId id="2706" r:id="rId34"/>
    <p:sldId id="2708" r:id="rId35"/>
    <p:sldId id="2709" r:id="rId36"/>
    <p:sldId id="1028" r:id="rId37"/>
    <p:sldId id="1029" r:id="rId38"/>
    <p:sldId id="2712" r:id="rId39"/>
    <p:sldId id="1031" r:id="rId40"/>
    <p:sldId id="2710" r:id="rId41"/>
    <p:sldId id="2713" r:id="rId42"/>
    <p:sldId id="2714" r:id="rId43"/>
    <p:sldId id="1033" r:id="rId44"/>
    <p:sldId id="1035" r:id="rId45"/>
    <p:sldId id="1036" r:id="rId46"/>
    <p:sldId id="1037" r:id="rId47"/>
    <p:sldId id="1038" r:id="rId48"/>
    <p:sldId id="2716" r:id="rId49"/>
    <p:sldId id="2717" r:id="rId50"/>
    <p:sldId id="2718" r:id="rId51"/>
    <p:sldId id="1054" r:id="rId52"/>
    <p:sldId id="2719" r:id="rId53"/>
    <p:sldId id="2720" r:id="rId54"/>
    <p:sldId id="1045" r:id="rId55"/>
    <p:sldId id="1046" r:id="rId56"/>
    <p:sldId id="1047" r:id="rId57"/>
    <p:sldId id="1048" r:id="rId58"/>
    <p:sldId id="1052" r:id="rId59"/>
    <p:sldId id="1049" r:id="rId60"/>
    <p:sldId id="1051" r:id="rId61"/>
    <p:sldId id="2721" r:id="rId62"/>
    <p:sldId id="2722" r:id="rId63"/>
    <p:sldId id="1099" r:id="rId64"/>
    <p:sldId id="999" r:id="rId65"/>
    <p:sldId id="1000" r:id="rId66"/>
    <p:sldId id="288" r:id="rId67"/>
  </p:sldIdLst>
  <p:sldSz cx="12192000" cy="6858000"/>
  <p:notesSz cx="6858000" cy="9144000"/>
  <p:custDataLst>
    <p:tags r:id="rId7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36" autoAdjust="0"/>
    <p:restoredTop sz="94676" autoAdjust="0"/>
  </p:normalViewPr>
  <p:slideViewPr>
    <p:cSldViewPr snapToGrid="0" showGuides="1">
      <p:cViewPr varScale="1">
        <p:scale>
          <a:sx n="88" d="100"/>
          <a:sy n="88" d="100"/>
        </p:scale>
        <p:origin x="9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2025/2/14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2025/2/14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35653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6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第四章：运算符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 dirty="0"/>
              <a:t>对变量和字面量操作的符号</a:t>
            </a:r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4F0A2A7-A667-0512-816A-DB7E34D3A2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算数运算符</a:t>
            </a:r>
            <a:endParaRPr lang="en-US" altLang="zh-CN" dirty="0"/>
          </a:p>
          <a:p>
            <a:r>
              <a:rPr lang="zh-CN" altLang="en-US" dirty="0"/>
              <a:t>字符串拼接</a:t>
            </a:r>
            <a:endParaRPr lang="en-US" altLang="zh-CN" dirty="0"/>
          </a:p>
          <a:p>
            <a:r>
              <a:rPr lang="zh-CN" altLang="en-US" dirty="0"/>
              <a:t>自增自减运算符</a:t>
            </a:r>
            <a:endParaRPr lang="en-US" altLang="zh-CN" dirty="0"/>
          </a:p>
          <a:p>
            <a:r>
              <a:rPr lang="zh-CN" altLang="en-US" dirty="0"/>
              <a:t>类型转换</a:t>
            </a:r>
            <a:endParaRPr lang="en-US" altLang="zh-CN" dirty="0"/>
          </a:p>
          <a:p>
            <a:r>
              <a:rPr lang="zh-CN" altLang="en-US" dirty="0"/>
              <a:t>赋值运算符</a:t>
            </a:r>
            <a:endParaRPr lang="en-US" altLang="zh-CN" dirty="0"/>
          </a:p>
          <a:p>
            <a:r>
              <a:rPr lang="zh-CN" altLang="en-US" dirty="0"/>
              <a:t>关系运算符</a:t>
            </a:r>
            <a:endParaRPr lang="en-US" altLang="zh-CN" dirty="0"/>
          </a:p>
          <a:p>
            <a:r>
              <a:rPr lang="zh-CN" altLang="en-US" dirty="0"/>
              <a:t>逻辑运算符</a:t>
            </a:r>
            <a:endParaRPr lang="en-US" altLang="zh-CN" dirty="0"/>
          </a:p>
          <a:p>
            <a:r>
              <a:rPr lang="zh-CN" altLang="en-US" dirty="0"/>
              <a:t>三元运算符</a:t>
            </a:r>
            <a:endParaRPr lang="en-US" altLang="zh-CN" dirty="0"/>
          </a:p>
          <a:p>
            <a:r>
              <a:rPr lang="zh-CN" altLang="en-US" dirty="0"/>
              <a:t>运算符优先级</a:t>
            </a:r>
            <a:endParaRPr lang="en-US" altLang="zh-CN" dirty="0"/>
          </a:p>
          <a:p>
            <a:r>
              <a:rPr lang="en-US" altLang="zh-CN" dirty="0"/>
              <a:t>Scanner </a:t>
            </a:r>
            <a:r>
              <a:rPr lang="zh-CN" altLang="en-US" dirty="0"/>
              <a:t>键盘录入</a:t>
            </a:r>
          </a:p>
        </p:txBody>
      </p:sp>
    </p:spTree>
    <p:extLst>
      <p:ext uri="{BB962C8B-B14F-4D97-AF65-F5344CB8AC3E}">
        <p14:creationId xmlns:p14="http://schemas.microsoft.com/office/powerpoint/2010/main" val="2783839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7DDC-B304-D2F8-C50D-C468CAE9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56A1B4-6E31-ED4D-D6C5-3EE095D6F7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算数运算符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391EBC4B-6042-4B46-31F8-98A2350602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7351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算数运算符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3A3CF54-2986-469F-BDEC-AE75433B1B5F}"/>
              </a:ext>
            </a:extLst>
          </p:cNvPr>
          <p:cNvGraphicFramePr>
            <a:graphicFrameLocks noGrp="1"/>
          </p:cNvGraphicFramePr>
          <p:nvPr/>
        </p:nvGraphicFramePr>
        <p:xfrm>
          <a:off x="834072" y="1169670"/>
          <a:ext cx="10413048" cy="3138172"/>
        </p:xfrm>
        <a:graphic>
          <a:graphicData uri="http://schemas.openxmlformats.org/drawingml/2006/table">
            <a:tbl>
              <a:tblPr/>
              <a:tblGrid>
                <a:gridCol w="1769898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1783423">
                  <a:extLst>
                    <a:ext uri="{9D8B030D-6E8A-4147-A177-3AD203B41FA5}">
                      <a16:colId xmlns:a16="http://schemas.microsoft.com/office/drawing/2014/main" val="4070352941"/>
                    </a:ext>
                  </a:extLst>
                </a:gridCol>
                <a:gridCol w="6859727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5904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符号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作用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+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加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参看小学一年级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-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参看小学一年级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*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乘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参看小学二年级，与“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×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”相同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/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除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参看小学二年级，与“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÷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”相同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55523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%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取余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获取的是两个数据做除法的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余数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03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033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算数运算符</a:t>
            </a:r>
            <a:endParaRPr kumimoji="1" lang="zh-CN" altLang="en-US" dirty="0"/>
          </a:p>
        </p:txBody>
      </p:sp>
      <p:sp>
        <p:nvSpPr>
          <p:cNvPr id="9" name="三角形 9">
            <a:extLst>
              <a:ext uri="{FF2B5EF4-FFF2-40B4-BE49-F238E27FC236}">
                <a16:creationId xmlns:a16="http://schemas.microsoft.com/office/drawing/2014/main" id="{739359BE-40E6-4B6A-97C8-AB0DF96DCBB9}"/>
              </a:ext>
            </a:extLst>
          </p:cNvPr>
          <p:cNvSpPr/>
          <p:nvPr/>
        </p:nvSpPr>
        <p:spPr>
          <a:xfrm rot="2651319">
            <a:off x="851566" y="506955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3A3CF54-2986-469F-BDEC-AE75433B1B5F}"/>
              </a:ext>
            </a:extLst>
          </p:cNvPr>
          <p:cNvGraphicFramePr>
            <a:graphicFrameLocks noGrp="1"/>
          </p:cNvGraphicFramePr>
          <p:nvPr/>
        </p:nvGraphicFramePr>
        <p:xfrm>
          <a:off x="834072" y="1169670"/>
          <a:ext cx="10413048" cy="3138172"/>
        </p:xfrm>
        <a:graphic>
          <a:graphicData uri="http://schemas.openxmlformats.org/drawingml/2006/table">
            <a:tbl>
              <a:tblPr/>
              <a:tblGrid>
                <a:gridCol w="1769898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1783423">
                  <a:extLst>
                    <a:ext uri="{9D8B030D-6E8A-4147-A177-3AD203B41FA5}">
                      <a16:colId xmlns:a16="http://schemas.microsoft.com/office/drawing/2014/main" val="4070352941"/>
                    </a:ext>
                  </a:extLst>
                </a:gridCol>
                <a:gridCol w="6859727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5904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符号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作用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+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加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参看小学一年级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-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参看小学一年级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*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乘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参看小学二年级，与“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×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”相同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/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除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参看小学二年级，与“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÷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”相同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55523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%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取余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获取的是两个数据做除法的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余数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03320"/>
                  </a:ext>
                </a:extLst>
              </a:tr>
            </a:tbl>
          </a:graphicData>
        </a:graphic>
      </p:graphicFrame>
      <p:sp>
        <p:nvSpPr>
          <p:cNvPr id="11" name="TextBox 6">
            <a:extLst>
              <a:ext uri="{FF2B5EF4-FFF2-40B4-BE49-F238E27FC236}">
                <a16:creationId xmlns:a16="http://schemas.microsoft.com/office/drawing/2014/main" id="{5749BC26-A271-4BF7-BDB2-48D4DA2FF416}"/>
              </a:ext>
            </a:extLst>
          </p:cNvPr>
          <p:cNvSpPr txBox="1"/>
          <p:nvPr/>
        </p:nvSpPr>
        <p:spPr>
          <a:xfrm>
            <a:off x="1189355" y="5210614"/>
            <a:ext cx="6767513" cy="708399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/</a:t>
            </a:r>
            <a:r>
              <a:rPr lang="en-US" altLang="zh-CN" sz="1400" dirty="0">
                <a:solidFill>
                  <a:srgbClr val="B6020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zh-CN" altLang="en-US" sz="14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和 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%</a:t>
            </a:r>
            <a:r>
              <a:rPr lang="en-US" altLang="zh-CN" sz="1400" dirty="0">
                <a:solidFill>
                  <a:srgbClr val="B6020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zh-CN" altLang="en-US" sz="14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的区别：两个数据做除法，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/ </a:t>
            </a:r>
            <a:r>
              <a:rPr lang="zh-CN" altLang="en-US" sz="14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取结果的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商</a:t>
            </a:r>
            <a:r>
              <a:rPr lang="zh-CN" altLang="en-US" sz="14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%</a:t>
            </a:r>
            <a:r>
              <a:rPr lang="en-US" altLang="zh-CN" sz="1400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zh-CN" altLang="en-US" sz="14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取结果的 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余数</a:t>
            </a:r>
            <a:r>
              <a:rPr lang="zh-CN" altLang="en-US" sz="14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。</a:t>
            </a:r>
            <a:endParaRPr lang="en-US" altLang="zh-CN" sz="1400" dirty="0">
              <a:solidFill>
                <a:srgbClr val="FF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整数操作只能得到整数，要想得到小数，必须有浮点数参与运算。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873B7C-D9B4-4923-A980-6A2D978347AB}"/>
              </a:ext>
            </a:extLst>
          </p:cNvPr>
          <p:cNvSpPr/>
          <p:nvPr/>
        </p:nvSpPr>
        <p:spPr>
          <a:xfrm>
            <a:off x="944880" y="4712970"/>
            <a:ext cx="10302240" cy="1413510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C31A10-5B38-44A0-BA44-4DFC0C00C242}"/>
              </a:ext>
            </a:extLst>
          </p:cNvPr>
          <p:cNvSpPr/>
          <p:nvPr/>
        </p:nvSpPr>
        <p:spPr>
          <a:xfrm>
            <a:off x="844952" y="4785440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124008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69DE-6D67-F224-BCA2-E1457365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6EE1725D-C15C-4F7E-C86C-2E8B5E9C1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数值拆分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2B6360-3452-85B6-E7C1-C0787F90B3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需求：将数字 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123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拆分出个位、十位、百位后，打印在控制台</a:t>
            </a:r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分析：</a:t>
            </a:r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个位的计算：数值 </a:t>
            </a:r>
            <a:r>
              <a:rPr lang="en-US" altLang="zh-CN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% 10</a:t>
            </a:r>
          </a:p>
          <a:p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	123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除以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10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（商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12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，余数为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）</a:t>
            </a:r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342900" indent="-342900">
              <a:buFont typeface="+mj-ea"/>
              <a:buAutoNum type="circleNumDbPlain" startAt="2"/>
            </a:pPr>
            <a:r>
              <a:rPr lang="zh-CN" altLang="en-US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十位的计算：数值 </a:t>
            </a:r>
            <a:r>
              <a:rPr lang="en-US" altLang="zh-CN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/ 10 % 10</a:t>
            </a:r>
          </a:p>
          <a:p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	123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除以 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10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（商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12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，余数为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，整数相除只能得到整数）</a:t>
            </a:r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	12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除以 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10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（商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，余数为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）</a:t>
            </a:r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342900" indent="-342900">
              <a:buFont typeface="+mj-ea"/>
              <a:buAutoNum type="circleNumDbPlain" startAt="3"/>
            </a:pPr>
            <a:r>
              <a:rPr lang="zh-CN" altLang="en-US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百位的计算：数值</a:t>
            </a:r>
            <a:r>
              <a:rPr lang="en-US" altLang="zh-CN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/ 10 / 10 % 10</a:t>
            </a:r>
          </a:p>
          <a:p>
            <a:r>
              <a:rPr lang="en-US" altLang="zh-CN" dirty="0">
                <a:solidFill>
                  <a:srgbClr val="FF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	</a:t>
            </a:r>
            <a:r>
              <a:rPr lang="en-US" altLang="zh-CN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123 / 10 / 10 % 10</a:t>
            </a:r>
            <a:r>
              <a:rPr lang="zh-CN" altLang="en-US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（</a:t>
            </a:r>
            <a:r>
              <a:rPr lang="en-US" altLang="zh-CN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123 / 10 </a:t>
            </a:r>
            <a:r>
              <a:rPr lang="zh-CN" altLang="en-US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得到</a:t>
            </a:r>
            <a:r>
              <a:rPr lang="en-US" altLang="zh-CN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12</a:t>
            </a:r>
            <a:r>
              <a:rPr lang="zh-CN" altLang="en-US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</a:t>
            </a:r>
            <a:r>
              <a:rPr lang="en-US" altLang="zh-CN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12  / 10 </a:t>
            </a:r>
            <a:r>
              <a:rPr lang="zh-CN" altLang="en-US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得到</a:t>
            </a:r>
            <a:r>
              <a:rPr lang="en-US" altLang="zh-CN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lang="zh-CN" altLang="en-US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</a:t>
            </a:r>
            <a:r>
              <a:rPr lang="en-US" altLang="zh-CN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1 % 10 </a:t>
            </a:r>
            <a:r>
              <a:rPr lang="zh-CN" altLang="en-US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得到 </a:t>
            </a:r>
            <a:r>
              <a:rPr lang="en-US" altLang="zh-CN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lang="zh-CN" altLang="en-US" dirty="0">
                <a:solidFill>
                  <a:srgbClr val="2626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）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F911E8C6-25B6-2B0E-E2A8-49AC433777F7}"/>
              </a:ext>
            </a:extLst>
          </p:cNvPr>
          <p:cNvSpPr txBox="1"/>
          <p:nvPr/>
        </p:nvSpPr>
        <p:spPr>
          <a:xfrm>
            <a:off x="5973519" y="1722652"/>
            <a:ext cx="5465233" cy="738664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整数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123</a:t>
            </a: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的个位为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:3</a:t>
            </a:r>
          </a:p>
          <a:p>
            <a:pPr>
              <a:defRPr/>
            </a:pP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整数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123</a:t>
            </a: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的十位为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:2</a:t>
            </a:r>
          </a:p>
          <a:p>
            <a:pPr>
              <a:defRPr/>
            </a:pP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整数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123</a:t>
            </a: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的百位为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:1</a:t>
            </a:r>
            <a:endParaRPr lang="zh-CN" altLang="zh-CN" sz="1400" b="1" dirty="0">
              <a:solidFill>
                <a:srgbClr val="CCCCC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A90FBAE-1707-9522-3822-5504D7DD0269}"/>
              </a:ext>
            </a:extLst>
          </p:cNvPr>
          <p:cNvSpPr/>
          <p:nvPr/>
        </p:nvSpPr>
        <p:spPr>
          <a:xfrm>
            <a:off x="8333690" y="3126050"/>
            <a:ext cx="3661998" cy="2075950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公式总结：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个位 ：数值 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% 10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十位 ：数值 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 10 % 10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百位 ：数值 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 10 / 10 % 10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千位 ：数值 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 10 / 10 / 10 % 10;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91880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7A685B-F94D-194F-BA07-9413F6ABF7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整数相除可以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直接得到小数结果吗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？如果不可以该怎么解决？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不可以，需要加入小数运算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假设给定一个五位数 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65536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，获取千位的计算公式是？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数值 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 10 / 10 / 10 % 10;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A9BDEB07-9BCA-4130-9D72-B5B8146020EC}"/>
              </a:ext>
            </a:extLst>
          </p:cNvPr>
          <p:cNvSpPr txBox="1">
            <a:spLocks/>
          </p:cNvSpPr>
          <p:nvPr/>
        </p:nvSpPr>
        <p:spPr>
          <a:xfrm>
            <a:off x="627753" y="244189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926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F653-BCF9-FDCE-4129-8A971B29E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86E0C87-24F0-75E2-F073-78BD38E66F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算数运算符</a:t>
            </a:r>
            <a:endParaRPr lang="en-US" altLang="zh-CN" dirty="0"/>
          </a:p>
          <a:p>
            <a:r>
              <a:rPr lang="zh-CN" altLang="en-US" dirty="0"/>
              <a:t>字符串拼接</a:t>
            </a:r>
            <a:endParaRPr lang="en-US" altLang="zh-CN" dirty="0"/>
          </a:p>
          <a:p>
            <a:r>
              <a:rPr lang="zh-CN" altLang="en-US" dirty="0"/>
              <a:t>自增自减运算符</a:t>
            </a:r>
            <a:endParaRPr lang="en-US" altLang="zh-CN" dirty="0"/>
          </a:p>
          <a:p>
            <a:r>
              <a:rPr lang="zh-CN" altLang="en-US" dirty="0"/>
              <a:t>类型转换</a:t>
            </a:r>
            <a:endParaRPr lang="en-US" altLang="zh-CN" dirty="0"/>
          </a:p>
          <a:p>
            <a:r>
              <a:rPr lang="zh-CN" altLang="en-US" dirty="0"/>
              <a:t>赋值运算符</a:t>
            </a:r>
            <a:endParaRPr lang="en-US" altLang="zh-CN" dirty="0"/>
          </a:p>
          <a:p>
            <a:r>
              <a:rPr lang="zh-CN" altLang="en-US" dirty="0"/>
              <a:t>关系运算符</a:t>
            </a:r>
            <a:endParaRPr lang="en-US" altLang="zh-CN" dirty="0"/>
          </a:p>
          <a:p>
            <a:r>
              <a:rPr lang="zh-CN" altLang="en-US" dirty="0"/>
              <a:t>逻辑运算符</a:t>
            </a:r>
            <a:endParaRPr lang="en-US" altLang="zh-CN" dirty="0"/>
          </a:p>
          <a:p>
            <a:r>
              <a:rPr lang="zh-CN" altLang="en-US" dirty="0"/>
              <a:t>三元运算符</a:t>
            </a:r>
            <a:endParaRPr lang="en-US" altLang="zh-CN" dirty="0"/>
          </a:p>
          <a:p>
            <a:r>
              <a:rPr lang="zh-CN" altLang="en-US" dirty="0"/>
              <a:t>运算符优先级</a:t>
            </a:r>
            <a:endParaRPr lang="en-US" altLang="zh-CN" dirty="0"/>
          </a:p>
          <a:p>
            <a:r>
              <a:rPr lang="en-US" altLang="zh-CN" dirty="0"/>
              <a:t>Scanner </a:t>
            </a:r>
            <a:r>
              <a:rPr lang="zh-CN" altLang="en-US" dirty="0"/>
              <a:t>键盘录入</a:t>
            </a:r>
          </a:p>
        </p:txBody>
      </p:sp>
    </p:spTree>
    <p:extLst>
      <p:ext uri="{BB962C8B-B14F-4D97-AF65-F5344CB8AC3E}">
        <p14:creationId xmlns:p14="http://schemas.microsoft.com/office/powerpoint/2010/main" val="576332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C05AE-B303-F576-2A77-88A525C60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FAE514-5614-6B17-F897-E86F3B729B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字符串拼接操作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0B7927A-7E8A-8C43-3E15-27731751FE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2037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字符串拼接操作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5CC6F6-8485-4985-B86B-B22E5435EBF7}"/>
              </a:ext>
            </a:extLst>
          </p:cNvPr>
          <p:cNvSpPr txBox="1"/>
          <p:nvPr/>
        </p:nvSpPr>
        <p:spPr>
          <a:xfrm>
            <a:off x="710880" y="1680747"/>
            <a:ext cx="7277100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 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操作中，遇到了字符串，这时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就是</a:t>
            </a:r>
            <a:r>
              <a:rPr lang="zh-CN" altLang="en-US" sz="1600" b="1" dirty="0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字符串连接符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，而不是算术运算。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DBB888EB-CEA9-41B9-AC6D-A06AC6C6DEA2}"/>
              </a:ext>
            </a:extLst>
          </p:cNvPr>
          <p:cNvSpPr txBox="1"/>
          <p:nvPr/>
        </p:nvSpPr>
        <p:spPr>
          <a:xfrm>
            <a:off x="710880" y="2406454"/>
            <a:ext cx="5261928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Test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[] args) {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Arial Unicode MS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System.out.println(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为:"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99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"年黑马"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C8E6333-8691-4D4D-8B6C-033A670F4934}"/>
              </a:ext>
            </a:extLst>
          </p:cNvPr>
          <p:cNvSpPr txBox="1"/>
          <p:nvPr/>
        </p:nvSpPr>
        <p:spPr>
          <a:xfrm>
            <a:off x="6085678" y="2406454"/>
            <a:ext cx="2753521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7C040D33-ABC3-4AEE-88ED-99695B1CFED7}"/>
              </a:ext>
            </a:extLst>
          </p:cNvPr>
          <p:cNvSpPr txBox="1"/>
          <p:nvPr/>
        </p:nvSpPr>
        <p:spPr>
          <a:xfrm>
            <a:off x="6085678" y="3057035"/>
            <a:ext cx="2753521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年龄为：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9B9E87B-5632-CE80-450B-1E42484F38BD}"/>
              </a:ext>
            </a:extLst>
          </p:cNvPr>
          <p:cNvSpPr txBox="1"/>
          <p:nvPr/>
        </p:nvSpPr>
        <p:spPr>
          <a:xfrm>
            <a:off x="6085678" y="3699115"/>
            <a:ext cx="2753521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100</a:t>
            </a: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年黑马</a:t>
            </a:r>
            <a:endParaRPr lang="en-US" altLang="zh-CN" sz="1400" b="1" dirty="0">
              <a:solidFill>
                <a:srgbClr val="CCCCC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036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字符串拼接操作 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5CC6F6-8485-4985-B86B-B22E5435EBF7}"/>
              </a:ext>
            </a:extLst>
          </p:cNvPr>
          <p:cNvSpPr txBox="1"/>
          <p:nvPr/>
        </p:nvSpPr>
        <p:spPr>
          <a:xfrm>
            <a:off x="710880" y="1680747"/>
            <a:ext cx="7277100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 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操作中，遇到了字符串，这时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就是</a:t>
            </a:r>
            <a:r>
              <a:rPr lang="zh-CN" altLang="en-US" sz="1600" b="1" dirty="0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字符串连接符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，而不是算术运算。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BB216A2A-D4D6-4D36-AE9C-20C578B23A32}"/>
              </a:ext>
            </a:extLst>
          </p:cNvPr>
          <p:cNvSpPr txBox="1"/>
          <p:nvPr/>
        </p:nvSpPr>
        <p:spPr>
          <a:xfrm>
            <a:off x="710880" y="2406454"/>
            <a:ext cx="5261928" cy="116955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Test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为:"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D77C0B67-35F0-484C-9842-A0EA9AA57DFE}"/>
              </a:ext>
            </a:extLst>
          </p:cNvPr>
          <p:cNvSpPr txBox="1"/>
          <p:nvPr/>
        </p:nvSpPr>
        <p:spPr>
          <a:xfrm>
            <a:off x="6219194" y="2406454"/>
            <a:ext cx="2753521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年龄为：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231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8E256A6-8E14-4399-94C3-BC08CF1BD93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60699"/>
            <a:ext cx="5470525" cy="435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3AC7A95B-1DCF-4A5D-AC08-00B968330578}"/>
              </a:ext>
            </a:extLst>
          </p:cNvPr>
          <p:cNvSpPr/>
          <p:nvPr/>
        </p:nvSpPr>
        <p:spPr>
          <a:xfrm>
            <a:off x="710880" y="3873500"/>
            <a:ext cx="5131120" cy="2662938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9C5BD4B-7AA9-4177-B5B7-438F5D0EF898}"/>
              </a:ext>
            </a:extLst>
          </p:cNvPr>
          <p:cNvSpPr/>
          <p:nvPr/>
        </p:nvSpPr>
        <p:spPr>
          <a:xfrm>
            <a:off x="710880" y="3836370"/>
            <a:ext cx="4680270" cy="1860550"/>
          </a:xfrm>
          <a:prstGeom prst="roundRect">
            <a:avLst/>
          </a:prstGeom>
          <a:solidFill>
            <a:srgbClr val="FFFFE4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8BF24C-4547-41E4-B586-9A6911B620E7}"/>
              </a:ext>
            </a:extLst>
          </p:cNvPr>
          <p:cNvSpPr txBox="1"/>
          <p:nvPr/>
        </p:nvSpPr>
        <p:spPr>
          <a:xfrm>
            <a:off x="1117600" y="4032250"/>
            <a:ext cx="5232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为:"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6CB5D5-3F22-47C1-96AF-8AE1912589B7}"/>
              </a:ext>
            </a:extLst>
          </p:cNvPr>
          <p:cNvSpPr txBox="1"/>
          <p:nvPr/>
        </p:nvSpPr>
        <p:spPr>
          <a:xfrm>
            <a:off x="1117600" y="4428091"/>
            <a:ext cx="1835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为:</a:t>
            </a:r>
            <a:r>
              <a:rPr lang="en-US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564A1D-FFBD-4421-B7C3-9A470A51F969}"/>
              </a:ext>
            </a:extLst>
          </p:cNvPr>
          <p:cNvSpPr txBox="1"/>
          <p:nvPr/>
        </p:nvSpPr>
        <p:spPr>
          <a:xfrm>
            <a:off x="2319422" y="4428091"/>
            <a:ext cx="5232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1750EB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en-US" altLang="zh-CN" sz="1600" dirty="0">
                <a:solidFill>
                  <a:srgbClr val="1750EB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1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67D40EF-EFEA-4E46-8553-8FA23ACF3CDE}"/>
              </a:ext>
            </a:extLst>
          </p:cNvPr>
          <p:cNvSpPr txBox="1"/>
          <p:nvPr/>
        </p:nvSpPr>
        <p:spPr>
          <a:xfrm>
            <a:off x="1117600" y="4873735"/>
            <a:ext cx="1892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6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为:</a:t>
            </a:r>
            <a:r>
              <a:rPr lang="en-US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231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08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 animBg="1"/>
      <p:bldP spid="7" grpId="0"/>
      <p:bldP spid="14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字符串拼接操作 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5CC6F6-8485-4985-B86B-B22E5435EBF7}"/>
              </a:ext>
            </a:extLst>
          </p:cNvPr>
          <p:cNvSpPr txBox="1"/>
          <p:nvPr/>
        </p:nvSpPr>
        <p:spPr>
          <a:xfrm>
            <a:off x="710880" y="1680747"/>
            <a:ext cx="7277100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 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操作中，遇到了字符串，这时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就是</a:t>
            </a:r>
            <a:r>
              <a:rPr lang="zh-CN" altLang="en-US" sz="1600" b="1" dirty="0">
                <a:solidFill>
                  <a:schemeClr val="accent2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字符串连接符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，而不是算术运算。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BB216A2A-D4D6-4D36-AE9C-20C578B23A32}"/>
              </a:ext>
            </a:extLst>
          </p:cNvPr>
          <p:cNvSpPr txBox="1"/>
          <p:nvPr/>
        </p:nvSpPr>
        <p:spPr>
          <a:xfrm>
            <a:off x="710880" y="2406454"/>
            <a:ext cx="5261928" cy="116955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Test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为:"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1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D77C0B67-35F0-484C-9842-A0EA9AA57DFE}"/>
              </a:ext>
            </a:extLst>
          </p:cNvPr>
          <p:cNvSpPr txBox="1"/>
          <p:nvPr/>
        </p:nvSpPr>
        <p:spPr>
          <a:xfrm>
            <a:off x="6219194" y="2406454"/>
            <a:ext cx="2753521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年龄为：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AC7A95B-1DCF-4A5D-AC08-00B968330578}"/>
              </a:ext>
            </a:extLst>
          </p:cNvPr>
          <p:cNvSpPr/>
          <p:nvPr/>
        </p:nvSpPr>
        <p:spPr>
          <a:xfrm>
            <a:off x="710880" y="3873500"/>
            <a:ext cx="5131120" cy="2662938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92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751D4C35-3EA7-41BF-96BC-E00B83F9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数值拆分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674917-1B20-2E40-8226-8EC87787C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需求：将数字 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123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拆分出个位、十位、百位后，打印在控制台</a:t>
            </a:r>
            <a:endParaRPr lang="en-US" altLang="zh-CN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A648E4DF-68DD-403F-8E79-0D6DDA52690F}"/>
              </a:ext>
            </a:extLst>
          </p:cNvPr>
          <p:cNvSpPr txBox="1"/>
          <p:nvPr/>
        </p:nvSpPr>
        <p:spPr>
          <a:xfrm>
            <a:off x="1824966" y="1710378"/>
            <a:ext cx="5465233" cy="738664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整数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123</a:t>
            </a: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的个位为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:3</a:t>
            </a:r>
          </a:p>
          <a:p>
            <a:pPr>
              <a:defRPr/>
            </a:pP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整数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123</a:t>
            </a: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的十位为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:2</a:t>
            </a:r>
          </a:p>
          <a:p>
            <a:pPr>
              <a:defRPr/>
            </a:pP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整数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123</a:t>
            </a:r>
            <a:r>
              <a:rPr lang="zh-CN" altLang="en-US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的百位为</a:t>
            </a:r>
            <a:r>
              <a:rPr lang="en-US" altLang="zh-CN" sz="1400" b="1" dirty="0">
                <a:solidFill>
                  <a:srgbClr val="CCCCC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:1</a:t>
            </a:r>
            <a:endParaRPr lang="zh-CN" altLang="zh-CN" sz="1400" b="1" dirty="0">
              <a:solidFill>
                <a:srgbClr val="CCCCCC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9353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8EF07-20EE-0DB9-092D-9701DB75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B9AA2BD-30CE-303C-DDE2-81FC558B64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当 </a:t>
            </a:r>
            <a:r>
              <a:rPr lang="en-US" altLang="zh-CN" dirty="0"/>
              <a:t>+ </a:t>
            </a:r>
            <a:r>
              <a:rPr lang="zh-CN" altLang="en-US" dirty="0"/>
              <a:t>号操作中遇到了字符串，就会变成字符串拼接</a:t>
            </a:r>
          </a:p>
        </p:txBody>
      </p:sp>
    </p:spTree>
    <p:extLst>
      <p:ext uri="{BB962C8B-B14F-4D97-AF65-F5344CB8AC3E}">
        <p14:creationId xmlns:p14="http://schemas.microsoft.com/office/powerpoint/2010/main" val="3601004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5C9A-8A48-DE6F-F8F1-DC0FCD1D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0441BFA-85BB-A72B-C9DC-1D9330FD50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算数运算符</a:t>
            </a:r>
            <a:endParaRPr lang="en-US" altLang="zh-CN" dirty="0"/>
          </a:p>
          <a:p>
            <a:r>
              <a:rPr lang="zh-CN" altLang="en-US" dirty="0"/>
              <a:t>字符串拼接</a:t>
            </a:r>
            <a:endParaRPr lang="en-US" altLang="zh-CN" dirty="0"/>
          </a:p>
          <a:p>
            <a:r>
              <a:rPr lang="zh-CN" altLang="en-US" dirty="0"/>
              <a:t>自增自减运算符</a:t>
            </a:r>
            <a:endParaRPr lang="en-US" altLang="zh-CN" dirty="0"/>
          </a:p>
          <a:p>
            <a:r>
              <a:rPr lang="zh-CN" altLang="en-US" dirty="0"/>
              <a:t>类型转换</a:t>
            </a:r>
            <a:endParaRPr lang="en-US" altLang="zh-CN" dirty="0"/>
          </a:p>
          <a:p>
            <a:r>
              <a:rPr lang="zh-CN" altLang="en-US" dirty="0"/>
              <a:t>赋值运算符</a:t>
            </a:r>
            <a:endParaRPr lang="en-US" altLang="zh-CN" dirty="0"/>
          </a:p>
          <a:p>
            <a:r>
              <a:rPr lang="zh-CN" altLang="en-US" dirty="0"/>
              <a:t>关系运算符</a:t>
            </a:r>
            <a:endParaRPr lang="en-US" altLang="zh-CN" dirty="0"/>
          </a:p>
          <a:p>
            <a:r>
              <a:rPr lang="zh-CN" altLang="en-US" dirty="0"/>
              <a:t>逻辑运算符</a:t>
            </a:r>
            <a:endParaRPr lang="en-US" altLang="zh-CN" dirty="0"/>
          </a:p>
          <a:p>
            <a:r>
              <a:rPr lang="zh-CN" altLang="en-US" dirty="0"/>
              <a:t>三元运算符</a:t>
            </a:r>
            <a:endParaRPr lang="en-US" altLang="zh-CN" dirty="0"/>
          </a:p>
          <a:p>
            <a:r>
              <a:rPr lang="zh-CN" altLang="en-US" dirty="0"/>
              <a:t>运算符优先级</a:t>
            </a:r>
            <a:endParaRPr lang="en-US" altLang="zh-CN" dirty="0"/>
          </a:p>
          <a:p>
            <a:r>
              <a:rPr lang="en-US" altLang="zh-CN" dirty="0"/>
              <a:t>Scanner </a:t>
            </a:r>
            <a:r>
              <a:rPr lang="zh-CN" altLang="en-US" dirty="0"/>
              <a:t>键盘录入</a:t>
            </a:r>
          </a:p>
        </p:txBody>
      </p:sp>
    </p:spTree>
    <p:extLst>
      <p:ext uri="{BB962C8B-B14F-4D97-AF65-F5344CB8AC3E}">
        <p14:creationId xmlns:p14="http://schemas.microsoft.com/office/powerpoint/2010/main" val="156986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09EC8-92E5-8A13-D5BC-7417030D3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36044C-AB5C-A382-0A66-1948DA7C4A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自增自减运算符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2EE3E1B-3C00-5C27-8126-269FE4FDD7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386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自增自减运算符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AC7A95B-1DCF-4A5D-AC08-00B968330578}"/>
              </a:ext>
            </a:extLst>
          </p:cNvPr>
          <p:cNvSpPr/>
          <p:nvPr/>
        </p:nvSpPr>
        <p:spPr>
          <a:xfrm>
            <a:off x="710880" y="3873500"/>
            <a:ext cx="5131120" cy="2662938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794404C-F5B8-4ED4-A1EC-D758EA8DF81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10413048" cy="1609543"/>
        </p:xfrm>
        <a:graphic>
          <a:graphicData uri="http://schemas.openxmlformats.org/drawingml/2006/table">
            <a:tbl>
              <a:tblPr/>
              <a:tblGrid>
                <a:gridCol w="1769898">
                  <a:extLst>
                    <a:ext uri="{9D8B030D-6E8A-4147-A177-3AD203B41FA5}">
                      <a16:colId xmlns:a16="http://schemas.microsoft.com/office/drawing/2014/main" val="555299219"/>
                    </a:ext>
                  </a:extLst>
                </a:gridCol>
                <a:gridCol w="1783423">
                  <a:extLst>
                    <a:ext uri="{9D8B030D-6E8A-4147-A177-3AD203B41FA5}">
                      <a16:colId xmlns:a16="http://schemas.microsoft.com/office/drawing/2014/main" val="1450431261"/>
                    </a:ext>
                  </a:extLst>
                </a:gridCol>
                <a:gridCol w="6859727">
                  <a:extLst>
                    <a:ext uri="{9D8B030D-6E8A-4147-A177-3AD203B41FA5}">
                      <a16:colId xmlns:a16="http://schemas.microsoft.com/office/drawing/2014/main" val="1932126364"/>
                    </a:ext>
                  </a:extLst>
                </a:gridCol>
              </a:tblGrid>
              <a:tr h="5904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符号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作用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898584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++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自增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变量自身的值加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187812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--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自减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变量自身的值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减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57182"/>
                  </a:ext>
                </a:extLst>
              </a:tr>
            </a:tbl>
          </a:graphicData>
        </a:graphic>
      </p:graphicFrame>
      <p:sp>
        <p:nvSpPr>
          <p:cNvPr id="11" name="TextBox 8">
            <a:extLst>
              <a:ext uri="{FF2B5EF4-FFF2-40B4-BE49-F238E27FC236}">
                <a16:creationId xmlns:a16="http://schemas.microsoft.com/office/drawing/2014/main" id="{C293688B-8AA1-48A6-A658-30CCC0DB48B8}"/>
              </a:ext>
            </a:extLst>
          </p:cNvPr>
          <p:cNvSpPr txBox="1"/>
          <p:nvPr/>
        </p:nvSpPr>
        <p:spPr>
          <a:xfrm>
            <a:off x="1090084" y="4254501"/>
            <a:ext cx="7543800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57708" lvl="4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++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--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既可以放在变量的后边，也可以放在变量的前边。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B146B98-47FB-4A92-BE27-96194280C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384" y="3998384"/>
            <a:ext cx="41656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118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FED5-2585-2D8F-261C-7FC2C2523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AF79324-F0CC-DB7E-D55C-E103165212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++</a:t>
            </a:r>
            <a:r>
              <a:rPr lang="zh-CN" altLang="en-US" dirty="0"/>
              <a:t>、</a:t>
            </a:r>
            <a:r>
              <a:rPr lang="en-US" altLang="zh-CN" dirty="0"/>
              <a:t>-- </a:t>
            </a:r>
            <a:r>
              <a:rPr lang="zh-CN" altLang="en-US" dirty="0"/>
              <a:t>单独使用在前在后无区别</a:t>
            </a:r>
            <a:endParaRPr lang="en-US" altLang="zh-CN" dirty="0"/>
          </a:p>
          <a:p>
            <a:r>
              <a:rPr lang="zh-CN" altLang="en-US" dirty="0"/>
              <a:t>参与运算使用</a:t>
            </a:r>
            <a:endParaRPr lang="en-US" altLang="zh-CN" dirty="0"/>
          </a:p>
          <a:p>
            <a:r>
              <a:rPr lang="en-US" altLang="zh-CN" dirty="0"/>
              <a:t>	++</a:t>
            </a:r>
            <a:r>
              <a:rPr lang="zh-CN" altLang="en-US" dirty="0"/>
              <a:t>在前，先自增再操作</a:t>
            </a:r>
            <a:endParaRPr lang="en-US" altLang="zh-CN" dirty="0"/>
          </a:p>
          <a:p>
            <a:r>
              <a:rPr lang="en-US" altLang="zh-CN" dirty="0"/>
              <a:t>	++</a:t>
            </a:r>
            <a:r>
              <a:rPr lang="zh-CN" altLang="en-US" dirty="0"/>
              <a:t>在后，先操作再自增</a:t>
            </a:r>
            <a:endParaRPr lang="en-US" altLang="zh-CN" dirty="0"/>
          </a:p>
          <a:p>
            <a:r>
              <a:rPr lang="en-US" altLang="zh-CN" dirty="0"/>
              <a:t>++</a:t>
            </a:r>
            <a:r>
              <a:rPr lang="zh-CN" altLang="en-US" dirty="0"/>
              <a:t>、</a:t>
            </a:r>
            <a:r>
              <a:rPr lang="en-US" altLang="zh-CN" dirty="0"/>
              <a:t>--</a:t>
            </a:r>
            <a:r>
              <a:rPr lang="zh-CN" altLang="en-US" dirty="0"/>
              <a:t> 只能操作变量不能操作字面量</a:t>
            </a:r>
          </a:p>
        </p:txBody>
      </p:sp>
    </p:spTree>
    <p:extLst>
      <p:ext uri="{BB962C8B-B14F-4D97-AF65-F5344CB8AC3E}">
        <p14:creationId xmlns:p14="http://schemas.microsoft.com/office/powerpoint/2010/main" val="1363074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732F8-8AD8-C44B-C9A7-1761FA2DF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44CAA1C-CE26-1C8A-6F75-93E572B5E3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算数运算符</a:t>
            </a:r>
            <a:endParaRPr lang="en-US" altLang="zh-CN" dirty="0"/>
          </a:p>
          <a:p>
            <a:r>
              <a:rPr lang="zh-CN" altLang="en-US" dirty="0"/>
              <a:t>字符串拼接</a:t>
            </a:r>
            <a:endParaRPr lang="en-US" altLang="zh-CN" dirty="0"/>
          </a:p>
          <a:p>
            <a:r>
              <a:rPr lang="zh-CN" altLang="en-US" dirty="0"/>
              <a:t>自增自减运算符</a:t>
            </a:r>
            <a:endParaRPr lang="en-US" altLang="zh-CN" dirty="0"/>
          </a:p>
          <a:p>
            <a:r>
              <a:rPr lang="zh-CN" altLang="en-US" dirty="0"/>
              <a:t>类型转换</a:t>
            </a:r>
            <a:endParaRPr lang="en-US" altLang="zh-CN" dirty="0"/>
          </a:p>
          <a:p>
            <a:r>
              <a:rPr lang="zh-CN" altLang="en-US" dirty="0"/>
              <a:t>赋值运算符</a:t>
            </a:r>
            <a:endParaRPr lang="en-US" altLang="zh-CN" dirty="0"/>
          </a:p>
          <a:p>
            <a:r>
              <a:rPr lang="zh-CN" altLang="en-US" dirty="0"/>
              <a:t>关系运算符</a:t>
            </a:r>
            <a:endParaRPr lang="en-US" altLang="zh-CN" dirty="0"/>
          </a:p>
          <a:p>
            <a:r>
              <a:rPr lang="zh-CN" altLang="en-US" dirty="0"/>
              <a:t>逻辑运算符</a:t>
            </a:r>
            <a:endParaRPr lang="en-US" altLang="zh-CN" dirty="0"/>
          </a:p>
          <a:p>
            <a:r>
              <a:rPr lang="zh-CN" altLang="en-US" dirty="0"/>
              <a:t>三元运算符</a:t>
            </a:r>
            <a:endParaRPr lang="en-US" altLang="zh-CN" dirty="0"/>
          </a:p>
          <a:p>
            <a:r>
              <a:rPr lang="zh-CN" altLang="en-US" dirty="0"/>
              <a:t>运算符优先级</a:t>
            </a:r>
            <a:endParaRPr lang="en-US" altLang="zh-CN" dirty="0"/>
          </a:p>
          <a:p>
            <a:r>
              <a:rPr lang="en-US" altLang="zh-CN" dirty="0"/>
              <a:t>Scanner </a:t>
            </a:r>
            <a:r>
              <a:rPr lang="zh-CN" altLang="en-US" dirty="0"/>
              <a:t>键盘录入</a:t>
            </a:r>
          </a:p>
        </p:txBody>
      </p:sp>
    </p:spTree>
    <p:extLst>
      <p:ext uri="{BB962C8B-B14F-4D97-AF65-F5344CB8AC3E}">
        <p14:creationId xmlns:p14="http://schemas.microsoft.com/office/powerpoint/2010/main" val="2687917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7D5B3-733F-D4F0-66B0-A0EE2660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5CD175-F47D-7993-4203-8DA2F35B72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类型转换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B7328AB9-DDEC-3842-2771-D579C8D734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1593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类型转换 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AC7A95B-1DCF-4A5D-AC08-00B968330578}"/>
              </a:ext>
            </a:extLst>
          </p:cNvPr>
          <p:cNvSpPr/>
          <p:nvPr/>
        </p:nvSpPr>
        <p:spPr>
          <a:xfrm>
            <a:off x="710880" y="3873500"/>
            <a:ext cx="5131120" cy="2662938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5789B55-018C-472A-A1E8-B5E7B0885E9C}"/>
              </a:ext>
            </a:extLst>
          </p:cNvPr>
          <p:cNvGrpSpPr/>
          <p:nvPr/>
        </p:nvGrpSpPr>
        <p:grpSpPr>
          <a:xfrm>
            <a:off x="824297" y="1763257"/>
            <a:ext cx="6170251" cy="343440"/>
            <a:chOff x="1240942" y="2153598"/>
            <a:chExt cx="6170251" cy="343440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059E5CA6-518D-415E-AA17-0BC3E679D6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0942" y="2153598"/>
              <a:ext cx="539529" cy="343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文本框 66">
              <a:extLst>
                <a:ext uri="{FF2B5EF4-FFF2-40B4-BE49-F238E27FC236}">
                  <a16:creationId xmlns:a16="http://schemas.microsoft.com/office/drawing/2014/main" id="{BE75F529-AC32-418F-A11A-D9FF4E7B6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3397" y="2153598"/>
              <a:ext cx="54177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r>
                <a:rPr lang="zh-CN" altLang="en-US" sz="16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隐式转换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183FA90-B446-4262-A07C-6E2B14FB0A4E}"/>
              </a:ext>
            </a:extLst>
          </p:cNvPr>
          <p:cNvGrpSpPr/>
          <p:nvPr/>
        </p:nvGrpSpPr>
        <p:grpSpPr>
          <a:xfrm>
            <a:off x="824297" y="2412683"/>
            <a:ext cx="6170251" cy="343440"/>
            <a:chOff x="1240942" y="2153598"/>
            <a:chExt cx="6170251" cy="343440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204A1A42-0002-4910-A7A1-D9941B791A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0942" y="2153598"/>
              <a:ext cx="539529" cy="343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" name="文本框 66">
              <a:extLst>
                <a:ext uri="{FF2B5EF4-FFF2-40B4-BE49-F238E27FC236}">
                  <a16:creationId xmlns:a16="http://schemas.microsoft.com/office/drawing/2014/main" id="{507510C0-078A-4351-89BC-43696B3CE0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3397" y="2153598"/>
              <a:ext cx="54177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r>
                <a:rPr lang="zh-CN" altLang="en-US" sz="16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强制转换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935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隐式转换介绍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AF2A9D-3203-439E-B0E8-1B162BDADEDE}"/>
              </a:ext>
            </a:extLst>
          </p:cNvPr>
          <p:cNvSpPr txBox="1"/>
          <p:nvPr/>
        </p:nvSpPr>
        <p:spPr>
          <a:xfrm>
            <a:off x="576626" y="1277453"/>
            <a:ext cx="7850717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把一个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取值范围小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的数值或者变量，</a:t>
            </a:r>
            <a:r>
              <a:rPr lang="zh-CN" altLang="en-US" sz="1600" b="1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赋值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给另一个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取值范围大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的变量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633EDAE-E11C-417A-89A1-B91D740EC589}"/>
              </a:ext>
            </a:extLst>
          </p:cNvPr>
          <p:cNvSpPr txBox="1"/>
          <p:nvPr/>
        </p:nvSpPr>
        <p:spPr>
          <a:xfrm>
            <a:off x="4216722" y="4642560"/>
            <a:ext cx="776817" cy="3820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升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48EC493-F634-4FCC-83C2-84DF6C1F5CE5}"/>
              </a:ext>
            </a:extLst>
          </p:cNvPr>
          <p:cNvSpPr txBox="1"/>
          <p:nvPr/>
        </p:nvSpPr>
        <p:spPr>
          <a:xfrm>
            <a:off x="6324922" y="4625627"/>
            <a:ext cx="774700" cy="3820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升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4369ECB-BC24-43A9-B85F-12D8A9D9C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6055" y="3127028"/>
            <a:ext cx="2207684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3">
            <a:extLst>
              <a:ext uri="{FF2B5EF4-FFF2-40B4-BE49-F238E27FC236}">
                <a16:creationId xmlns:a16="http://schemas.microsoft.com/office/drawing/2014/main" id="{E944ADD7-9577-493D-990E-1A4A7FF4C997}"/>
              </a:ext>
            </a:extLst>
          </p:cNvPr>
          <p:cNvSpPr txBox="1"/>
          <p:nvPr/>
        </p:nvSpPr>
        <p:spPr>
          <a:xfrm>
            <a:off x="6373605" y="1979615"/>
            <a:ext cx="1452033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CCCCC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Arial Unicode MS" panose="020B0604020202020204" pitchFamily="34" charset="-122"/>
              </a:rPr>
              <a:t>10.0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D589FB0B-A273-4D36-9538-3A7530CF90BC}"/>
              </a:ext>
            </a:extLst>
          </p:cNvPr>
          <p:cNvSpPr txBox="1"/>
          <p:nvPr/>
        </p:nvSpPr>
        <p:spPr>
          <a:xfrm>
            <a:off x="814918" y="1972757"/>
            <a:ext cx="5261928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Test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double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b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b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A36E025-B04B-4C91-9DBA-378808252C98}"/>
              </a:ext>
            </a:extLst>
          </p:cNvPr>
          <p:cNvGrpSpPr>
            <a:grpSpLocks/>
          </p:cNvGrpSpPr>
          <p:nvPr/>
        </p:nvGrpSpPr>
        <p:grpSpPr bwMode="auto">
          <a:xfrm>
            <a:off x="814918" y="4153912"/>
            <a:ext cx="9698567" cy="1975972"/>
            <a:chOff x="611560" y="2427734"/>
            <a:chExt cx="7272809" cy="1481273"/>
          </a:xfrm>
        </p:grpSpPr>
        <p:grpSp>
          <p:nvGrpSpPr>
            <p:cNvPr id="25" name="组合 6">
              <a:extLst>
                <a:ext uri="{FF2B5EF4-FFF2-40B4-BE49-F238E27FC236}">
                  <a16:creationId xmlns:a16="http://schemas.microsoft.com/office/drawing/2014/main" id="{E9C48608-76FE-45AC-B865-63A7A31089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560" y="2932319"/>
              <a:ext cx="6960119" cy="976688"/>
              <a:chOff x="767761" y="2788303"/>
              <a:chExt cx="6960119" cy="976688"/>
            </a:xfrm>
          </p:grpSpPr>
          <p:sp>
            <p:nvSpPr>
              <p:cNvPr id="27" name="TextBox 7">
                <a:extLst>
                  <a:ext uri="{FF2B5EF4-FFF2-40B4-BE49-F238E27FC236}">
                    <a16:creationId xmlns:a16="http://schemas.microsoft.com/office/drawing/2014/main" id="{B7B8C792-DDB4-49C2-979B-4918254FAC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761" y="2788303"/>
                <a:ext cx="923783" cy="222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333">
                    <a:solidFill>
                      <a:srgbClr val="404040"/>
                    </a:solidFill>
                    <a:latin typeface="微软雅黑" panose="020B0503020204020204" pitchFamily="34" charset="-122"/>
                  </a:rPr>
                  <a:t>byte</a:t>
                </a:r>
                <a:endParaRPr lang="zh-CN" altLang="en-US" sz="1333">
                  <a:solidFill>
                    <a:srgbClr val="40404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8" name="TextBox 8">
                <a:extLst>
                  <a:ext uri="{FF2B5EF4-FFF2-40B4-BE49-F238E27FC236}">
                    <a16:creationId xmlns:a16="http://schemas.microsoft.com/office/drawing/2014/main" id="{569F97F7-0DE2-478E-9347-904FE5BFD3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5663" y="2788303"/>
                <a:ext cx="923783" cy="222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333">
                    <a:solidFill>
                      <a:srgbClr val="404040"/>
                    </a:solidFill>
                    <a:latin typeface="微软雅黑" panose="020B0503020204020204" pitchFamily="34" charset="-122"/>
                  </a:rPr>
                  <a:t>short</a:t>
                </a:r>
                <a:endParaRPr lang="zh-CN" altLang="en-US" sz="1333">
                  <a:solidFill>
                    <a:srgbClr val="40404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9" name="TextBox 9">
                <a:extLst>
                  <a:ext uri="{FF2B5EF4-FFF2-40B4-BE49-F238E27FC236}">
                    <a16:creationId xmlns:a16="http://schemas.microsoft.com/office/drawing/2014/main" id="{2CBFFD58-7FD8-4D65-99DB-BC7D950ED9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81978" y="3172295"/>
                <a:ext cx="923783" cy="222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333">
                    <a:solidFill>
                      <a:srgbClr val="404040"/>
                    </a:solidFill>
                    <a:latin typeface="微软雅黑" panose="020B0503020204020204" pitchFamily="34" charset="-122"/>
                  </a:rPr>
                  <a:t>int</a:t>
                </a:r>
                <a:endParaRPr lang="zh-CN" altLang="en-US" sz="1333">
                  <a:solidFill>
                    <a:srgbClr val="40404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0" name="TextBox 10">
                <a:extLst>
                  <a:ext uri="{FF2B5EF4-FFF2-40B4-BE49-F238E27FC236}">
                    <a16:creationId xmlns:a16="http://schemas.microsoft.com/office/drawing/2014/main" id="{C4B1333B-41B9-4998-A3A3-EF48410E0C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9880" y="3172295"/>
                <a:ext cx="923783" cy="222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333">
                    <a:solidFill>
                      <a:srgbClr val="404040"/>
                    </a:solidFill>
                    <a:latin typeface="微软雅黑" panose="020B0503020204020204" pitchFamily="34" charset="-122"/>
                  </a:rPr>
                  <a:t>long</a:t>
                </a:r>
                <a:endParaRPr lang="zh-CN" altLang="en-US" sz="1333">
                  <a:solidFill>
                    <a:srgbClr val="40404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1" name="TextBox 11">
                <a:extLst>
                  <a:ext uri="{FF2B5EF4-FFF2-40B4-BE49-F238E27FC236}">
                    <a16:creationId xmlns:a16="http://schemas.microsoft.com/office/drawing/2014/main" id="{B982ED04-2696-4C5C-9E4A-EB02B4349A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6195" y="3172295"/>
                <a:ext cx="923783" cy="222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333">
                    <a:solidFill>
                      <a:srgbClr val="404040"/>
                    </a:solidFill>
                    <a:latin typeface="微软雅黑" panose="020B0503020204020204" pitchFamily="34" charset="-122"/>
                  </a:rPr>
                  <a:t>float</a:t>
                </a:r>
                <a:endParaRPr lang="zh-CN" altLang="en-US" sz="1333">
                  <a:solidFill>
                    <a:srgbClr val="40404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2" name="TextBox 12">
                <a:extLst>
                  <a:ext uri="{FF2B5EF4-FFF2-40B4-BE49-F238E27FC236}">
                    <a16:creationId xmlns:a16="http://schemas.microsoft.com/office/drawing/2014/main" id="{4A883F9C-A967-4825-9480-028121F415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7411" y="3542007"/>
                <a:ext cx="923783" cy="222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333">
                    <a:solidFill>
                      <a:srgbClr val="404040"/>
                    </a:solidFill>
                    <a:latin typeface="微软雅黑" panose="020B0503020204020204" pitchFamily="34" charset="-122"/>
                  </a:rPr>
                  <a:t>char</a:t>
                </a:r>
                <a:endParaRPr lang="zh-CN" altLang="en-US" sz="1333">
                  <a:solidFill>
                    <a:srgbClr val="40404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3" name="TextBox 13">
                <a:extLst>
                  <a:ext uri="{FF2B5EF4-FFF2-40B4-BE49-F238E27FC236}">
                    <a16:creationId xmlns:a16="http://schemas.microsoft.com/office/drawing/2014/main" id="{325B6EC5-6707-437E-9AF6-BFF45E6002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04097" y="3172295"/>
                <a:ext cx="923783" cy="222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333">
                    <a:solidFill>
                      <a:srgbClr val="404040"/>
                    </a:solidFill>
                    <a:latin typeface="微软雅黑" panose="020B0503020204020204" pitchFamily="34" charset="-122"/>
                  </a:rPr>
                  <a:t>double</a:t>
                </a:r>
                <a:endParaRPr lang="zh-CN" altLang="en-US" sz="1333">
                  <a:solidFill>
                    <a:srgbClr val="404040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4" name="右箭头 14">
                <a:extLst>
                  <a:ext uri="{FF2B5EF4-FFF2-40B4-BE49-F238E27FC236}">
                    <a16:creationId xmlns:a16="http://schemas.microsoft.com/office/drawing/2014/main" id="{CEDC35A9-B8F6-4B68-B5D9-92CB0C77FFED}"/>
                  </a:ext>
                </a:extLst>
              </p:cNvPr>
              <p:cNvSpPr/>
              <p:nvPr/>
            </p:nvSpPr>
            <p:spPr>
              <a:xfrm>
                <a:off x="6372363" y="3245285"/>
                <a:ext cx="576175" cy="107899"/>
              </a:xfrm>
              <a:prstGeom prst="rightArrow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右箭头 15">
                <a:extLst>
                  <a:ext uri="{FF2B5EF4-FFF2-40B4-BE49-F238E27FC236}">
                    <a16:creationId xmlns:a16="http://schemas.microsoft.com/office/drawing/2014/main" id="{F7B939A1-DA36-4F60-B92E-C553DDE1F8D2}"/>
                  </a:ext>
                </a:extLst>
              </p:cNvPr>
              <p:cNvSpPr/>
              <p:nvPr/>
            </p:nvSpPr>
            <p:spPr>
              <a:xfrm>
                <a:off x="5148589" y="3251632"/>
                <a:ext cx="574587" cy="107899"/>
              </a:xfrm>
              <a:prstGeom prst="rightArrow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右箭头 16">
                <a:extLst>
                  <a:ext uri="{FF2B5EF4-FFF2-40B4-BE49-F238E27FC236}">
                    <a16:creationId xmlns:a16="http://schemas.microsoft.com/office/drawing/2014/main" id="{6B5C99BD-96AF-4512-898B-B985C1763084}"/>
                  </a:ext>
                </a:extLst>
              </p:cNvPr>
              <p:cNvSpPr/>
              <p:nvPr/>
            </p:nvSpPr>
            <p:spPr>
              <a:xfrm>
                <a:off x="3923227" y="3251632"/>
                <a:ext cx="576174" cy="107899"/>
              </a:xfrm>
              <a:prstGeom prst="rightArrow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7" name="右箭头 17">
                <a:extLst>
                  <a:ext uri="{FF2B5EF4-FFF2-40B4-BE49-F238E27FC236}">
                    <a16:creationId xmlns:a16="http://schemas.microsoft.com/office/drawing/2014/main" id="{478CFA23-2E7B-4048-A331-E49F3D9B2014}"/>
                  </a:ext>
                </a:extLst>
              </p:cNvPr>
              <p:cNvSpPr/>
              <p:nvPr/>
            </p:nvSpPr>
            <p:spPr>
              <a:xfrm>
                <a:off x="1607419" y="2861293"/>
                <a:ext cx="576175" cy="107899"/>
              </a:xfrm>
              <a:prstGeom prst="rightArrow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右箭头 18">
                <a:extLst>
                  <a:ext uri="{FF2B5EF4-FFF2-40B4-BE49-F238E27FC236}">
                    <a16:creationId xmlns:a16="http://schemas.microsoft.com/office/drawing/2014/main" id="{612B2D43-BE8D-4314-9218-931AC6F053D0}"/>
                  </a:ext>
                </a:extLst>
              </p:cNvPr>
              <p:cNvSpPr/>
              <p:nvPr/>
            </p:nvSpPr>
            <p:spPr>
              <a:xfrm rot="19800000">
                <a:off x="2743895" y="3453149"/>
                <a:ext cx="576175" cy="107899"/>
              </a:xfrm>
              <a:prstGeom prst="rightArrow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9" name="右箭头 19">
                <a:extLst>
                  <a:ext uri="{FF2B5EF4-FFF2-40B4-BE49-F238E27FC236}">
                    <a16:creationId xmlns:a16="http://schemas.microsoft.com/office/drawing/2014/main" id="{5841357A-20C5-4038-B76D-A9970C29338E}"/>
                  </a:ext>
                </a:extLst>
              </p:cNvPr>
              <p:cNvSpPr/>
              <p:nvPr/>
            </p:nvSpPr>
            <p:spPr>
              <a:xfrm rot="1800000">
                <a:off x="2747069" y="3085024"/>
                <a:ext cx="576175" cy="107899"/>
              </a:xfrm>
              <a:prstGeom prst="rightArrow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6" name="TextBox 21">
              <a:extLst>
                <a:ext uri="{FF2B5EF4-FFF2-40B4-BE49-F238E27FC236}">
                  <a16:creationId xmlns:a16="http://schemas.microsoft.com/office/drawing/2014/main" id="{0EC5E9AE-3B47-4BA5-ACEA-4DED1D128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006" y="2427734"/>
              <a:ext cx="4563363" cy="288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accent2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表示数据范围从小到大图</a:t>
              </a:r>
              <a:endPara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C54CE6D4-5B68-FEAF-FF4B-25E4F3314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35" y="4202086"/>
            <a:ext cx="1329939" cy="170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815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19" grpId="1"/>
      <p:bldP spid="20" grpId="0"/>
      <p:bldP spid="20" grpId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 65">
            <a:extLst>
              <a:ext uri="{FF2B5EF4-FFF2-40B4-BE49-F238E27FC236}">
                <a16:creationId xmlns:a16="http://schemas.microsoft.com/office/drawing/2014/main" id="{5185186A-4341-47E1-B52A-5E18BC6A4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918" y="2327277"/>
            <a:ext cx="19219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double a</a:t>
            </a:r>
            <a:endParaRPr lang="zh-CN" altLang="en-US" sz="1600" b="1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运算过程中的隐式转换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9C872EB-1628-48B1-A969-485695D3470F}"/>
              </a:ext>
            </a:extLst>
          </p:cNvPr>
          <p:cNvSpPr txBox="1"/>
          <p:nvPr/>
        </p:nvSpPr>
        <p:spPr>
          <a:xfrm>
            <a:off x="1684867" y="2396068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F08C354-9EA0-4232-8B65-4E457F220AD4}"/>
              </a:ext>
            </a:extLst>
          </p:cNvPr>
          <p:cNvSpPr txBox="1"/>
          <p:nvPr/>
        </p:nvSpPr>
        <p:spPr>
          <a:xfrm>
            <a:off x="664636" y="1249353"/>
            <a:ext cx="8657334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取值范围小的数据，和取值范围大的数据进行运算，小的会先提升为大的之后，再进行运算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805772F4-7942-4B07-A04A-F5163280D6CA}"/>
              </a:ext>
            </a:extLst>
          </p:cNvPr>
          <p:cNvSpPr txBox="1"/>
          <p:nvPr/>
        </p:nvSpPr>
        <p:spPr>
          <a:xfrm>
            <a:off x="815975" y="2327277"/>
            <a:ext cx="5088467" cy="231986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12.3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chemeClr val="accent2"/>
                </a:solidFill>
                <a:latin typeface="Consolas" panose="020B0609020204030204" pitchFamily="49" charset="0"/>
              </a:rPr>
              <a:t>数据类型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c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+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DC60FB4-BA04-4922-94E3-F3343AA63B16}"/>
              </a:ext>
            </a:extLst>
          </p:cNvPr>
          <p:cNvSpPr/>
          <p:nvPr/>
        </p:nvSpPr>
        <p:spPr>
          <a:xfrm>
            <a:off x="6500285" y="2723094"/>
            <a:ext cx="478367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BC83861-7CE7-435F-B91F-9BBDB6067DFA}"/>
              </a:ext>
            </a:extLst>
          </p:cNvPr>
          <p:cNvSpPr/>
          <p:nvPr/>
        </p:nvSpPr>
        <p:spPr>
          <a:xfrm>
            <a:off x="6978651" y="2723094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6BAA8C0-5A85-4D6C-BE86-04DE0C461388}"/>
              </a:ext>
            </a:extLst>
          </p:cNvPr>
          <p:cNvSpPr/>
          <p:nvPr/>
        </p:nvSpPr>
        <p:spPr>
          <a:xfrm>
            <a:off x="7459134" y="2723094"/>
            <a:ext cx="480484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043FB5B-D14B-442A-87EE-F42D6EED0FF2}"/>
              </a:ext>
            </a:extLst>
          </p:cNvPr>
          <p:cNvSpPr/>
          <p:nvPr/>
        </p:nvSpPr>
        <p:spPr>
          <a:xfrm>
            <a:off x="7939617" y="2723094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29A384E-DD79-4F57-AB4C-9CD074BEC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918" y="2333627"/>
            <a:ext cx="19219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int a</a:t>
            </a:r>
            <a:endParaRPr lang="zh-CN" altLang="en-US" sz="1600" b="1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919C168-4D5B-4D22-A3A2-1C7653125C63}"/>
              </a:ext>
            </a:extLst>
          </p:cNvPr>
          <p:cNvSpPr/>
          <p:nvPr/>
        </p:nvSpPr>
        <p:spPr>
          <a:xfrm>
            <a:off x="6500285" y="3796244"/>
            <a:ext cx="478367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268702D-8F3E-4527-AB88-AFF3D91F15E9}"/>
              </a:ext>
            </a:extLst>
          </p:cNvPr>
          <p:cNvSpPr/>
          <p:nvPr/>
        </p:nvSpPr>
        <p:spPr>
          <a:xfrm>
            <a:off x="6978651" y="3796244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845F664-B863-4C70-B1FD-59543D317367}"/>
              </a:ext>
            </a:extLst>
          </p:cNvPr>
          <p:cNvSpPr/>
          <p:nvPr/>
        </p:nvSpPr>
        <p:spPr>
          <a:xfrm>
            <a:off x="7459134" y="3796244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5786F40-3C9B-4B2B-9149-14DF23CF563E}"/>
              </a:ext>
            </a:extLst>
          </p:cNvPr>
          <p:cNvSpPr/>
          <p:nvPr/>
        </p:nvSpPr>
        <p:spPr>
          <a:xfrm>
            <a:off x="7939617" y="3796244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C36F099-70EC-40A8-8265-39A1E9A043CF}"/>
              </a:ext>
            </a:extLst>
          </p:cNvPr>
          <p:cNvSpPr/>
          <p:nvPr/>
        </p:nvSpPr>
        <p:spPr>
          <a:xfrm>
            <a:off x="8420101" y="3796244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9032EE-D327-4F7F-A286-AB713FEC3E79}"/>
              </a:ext>
            </a:extLst>
          </p:cNvPr>
          <p:cNvSpPr/>
          <p:nvPr/>
        </p:nvSpPr>
        <p:spPr>
          <a:xfrm>
            <a:off x="8900584" y="3796244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C3119B3-908B-401B-AC68-C5E079815CE9}"/>
              </a:ext>
            </a:extLst>
          </p:cNvPr>
          <p:cNvSpPr/>
          <p:nvPr/>
        </p:nvSpPr>
        <p:spPr>
          <a:xfrm>
            <a:off x="9381067" y="3796244"/>
            <a:ext cx="478367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BED55DA-7607-4355-B107-C7F1A6CDE336}"/>
              </a:ext>
            </a:extLst>
          </p:cNvPr>
          <p:cNvSpPr/>
          <p:nvPr/>
        </p:nvSpPr>
        <p:spPr>
          <a:xfrm>
            <a:off x="9859434" y="3796244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DFEC20E-1C3A-462F-A8DE-DF6D13D0A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918" y="3402543"/>
            <a:ext cx="19219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double b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4517DA2-363D-4B7F-B05C-1982C3AE6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201" y="3167594"/>
            <a:ext cx="56515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endParaRPr lang="zh-CN" altLang="en-US" sz="3200" dirty="0">
              <a:solidFill>
                <a:schemeClr val="accent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DF99BEC-A503-4FB3-A2F8-7CE670C6FCD3}"/>
              </a:ext>
            </a:extLst>
          </p:cNvPr>
          <p:cNvSpPr/>
          <p:nvPr/>
        </p:nvSpPr>
        <p:spPr>
          <a:xfrm>
            <a:off x="6500285" y="2723094"/>
            <a:ext cx="478367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04016A1-9C15-4E0C-B2E5-EDF6A27F6E07}"/>
              </a:ext>
            </a:extLst>
          </p:cNvPr>
          <p:cNvSpPr/>
          <p:nvPr/>
        </p:nvSpPr>
        <p:spPr>
          <a:xfrm>
            <a:off x="6978651" y="2723094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5A2FBB3-891C-4475-9E1F-520A31B1C5C3}"/>
              </a:ext>
            </a:extLst>
          </p:cNvPr>
          <p:cNvSpPr/>
          <p:nvPr/>
        </p:nvSpPr>
        <p:spPr>
          <a:xfrm>
            <a:off x="7459134" y="2723094"/>
            <a:ext cx="480484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4CA2821-F756-48FA-BBE2-E8DCD094D8BD}"/>
              </a:ext>
            </a:extLst>
          </p:cNvPr>
          <p:cNvSpPr/>
          <p:nvPr/>
        </p:nvSpPr>
        <p:spPr>
          <a:xfrm>
            <a:off x="7939617" y="2723094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19737C1-CA6B-4104-856B-DF2D907D6869}"/>
              </a:ext>
            </a:extLst>
          </p:cNvPr>
          <p:cNvSpPr/>
          <p:nvPr/>
        </p:nvSpPr>
        <p:spPr>
          <a:xfrm>
            <a:off x="8420101" y="2723094"/>
            <a:ext cx="480484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7E6EA1F-BE9D-4D01-8485-6341A739740B}"/>
              </a:ext>
            </a:extLst>
          </p:cNvPr>
          <p:cNvSpPr/>
          <p:nvPr/>
        </p:nvSpPr>
        <p:spPr>
          <a:xfrm>
            <a:off x="8900584" y="2723094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DA303A9-3CFD-4ECE-9555-AFD93129BE93}"/>
              </a:ext>
            </a:extLst>
          </p:cNvPr>
          <p:cNvSpPr/>
          <p:nvPr/>
        </p:nvSpPr>
        <p:spPr>
          <a:xfrm>
            <a:off x="9381067" y="2723094"/>
            <a:ext cx="478367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8B93722-8420-4AEA-AAAA-6A7B4F4CDA6F}"/>
              </a:ext>
            </a:extLst>
          </p:cNvPr>
          <p:cNvSpPr/>
          <p:nvPr/>
        </p:nvSpPr>
        <p:spPr>
          <a:xfrm>
            <a:off x="9859434" y="2723094"/>
            <a:ext cx="480484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94ADE07-9601-47A4-A29C-32224FA83DC6}"/>
              </a:ext>
            </a:extLst>
          </p:cNvPr>
          <p:cNvSpPr/>
          <p:nvPr/>
        </p:nvSpPr>
        <p:spPr>
          <a:xfrm>
            <a:off x="6500285" y="5146677"/>
            <a:ext cx="478367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F6F8F4C-FE93-49E8-83E5-2DD550C9934B}"/>
              </a:ext>
            </a:extLst>
          </p:cNvPr>
          <p:cNvSpPr/>
          <p:nvPr/>
        </p:nvSpPr>
        <p:spPr>
          <a:xfrm>
            <a:off x="6978651" y="5146677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D0AB16E-60F6-4806-82B4-A80CF2BE025F}"/>
              </a:ext>
            </a:extLst>
          </p:cNvPr>
          <p:cNvSpPr/>
          <p:nvPr/>
        </p:nvSpPr>
        <p:spPr>
          <a:xfrm>
            <a:off x="7459134" y="5146677"/>
            <a:ext cx="480484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C5C28A2-D69B-4F35-A921-5F4DA1D6E1C2}"/>
              </a:ext>
            </a:extLst>
          </p:cNvPr>
          <p:cNvSpPr/>
          <p:nvPr/>
        </p:nvSpPr>
        <p:spPr>
          <a:xfrm>
            <a:off x="7939617" y="5146677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96A9BD2-183C-4A99-A9BA-B5DBAEA1A72A}"/>
              </a:ext>
            </a:extLst>
          </p:cNvPr>
          <p:cNvSpPr/>
          <p:nvPr/>
        </p:nvSpPr>
        <p:spPr>
          <a:xfrm>
            <a:off x="8420101" y="5146677"/>
            <a:ext cx="480484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57F7999-E1D5-4C42-A6FD-A915B6925567}"/>
              </a:ext>
            </a:extLst>
          </p:cNvPr>
          <p:cNvSpPr/>
          <p:nvPr/>
        </p:nvSpPr>
        <p:spPr>
          <a:xfrm>
            <a:off x="8900584" y="5146677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D9A606F-89A3-40C4-B497-9B6F5C072EF0}"/>
              </a:ext>
            </a:extLst>
          </p:cNvPr>
          <p:cNvSpPr/>
          <p:nvPr/>
        </p:nvSpPr>
        <p:spPr>
          <a:xfrm>
            <a:off x="9381067" y="5146677"/>
            <a:ext cx="478367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D11524E-E1D8-45BB-ABF2-3C6CE243E9BE}"/>
              </a:ext>
            </a:extLst>
          </p:cNvPr>
          <p:cNvSpPr/>
          <p:nvPr/>
        </p:nvSpPr>
        <p:spPr>
          <a:xfrm>
            <a:off x="9859434" y="5146677"/>
            <a:ext cx="480484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F3795491-64C5-4601-94A4-17CD93593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918" y="4750861"/>
            <a:ext cx="19219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double c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79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41" grpId="0"/>
      <p:bldP spid="42" grpId="0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/>
      <p:bldP spid="47" grpId="1"/>
      <p:bldP spid="47" grpId="2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/>
      <p:bldP spid="57" grpId="0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 65">
            <a:extLst>
              <a:ext uri="{FF2B5EF4-FFF2-40B4-BE49-F238E27FC236}">
                <a16:creationId xmlns:a16="http://schemas.microsoft.com/office/drawing/2014/main" id="{5185186A-4341-47E1-B52A-5E18BC6A4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918" y="2327277"/>
            <a:ext cx="19219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double a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运算过程中的隐式转换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9C872EB-1628-48B1-A969-485695D3470F}"/>
              </a:ext>
            </a:extLst>
          </p:cNvPr>
          <p:cNvSpPr txBox="1"/>
          <p:nvPr/>
        </p:nvSpPr>
        <p:spPr>
          <a:xfrm>
            <a:off x="1684867" y="2396068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805772F4-7942-4B07-A04A-F5163280D6CA}"/>
              </a:ext>
            </a:extLst>
          </p:cNvPr>
          <p:cNvSpPr txBox="1"/>
          <p:nvPr/>
        </p:nvSpPr>
        <p:spPr>
          <a:xfrm>
            <a:off x="815975" y="2327277"/>
            <a:ext cx="5088467" cy="231986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12.3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c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+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DC60FB4-BA04-4922-94E3-F3343AA63B16}"/>
              </a:ext>
            </a:extLst>
          </p:cNvPr>
          <p:cNvSpPr/>
          <p:nvPr/>
        </p:nvSpPr>
        <p:spPr>
          <a:xfrm>
            <a:off x="6500285" y="2723094"/>
            <a:ext cx="478367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BC83861-7CE7-435F-B91F-9BBDB6067DFA}"/>
              </a:ext>
            </a:extLst>
          </p:cNvPr>
          <p:cNvSpPr/>
          <p:nvPr/>
        </p:nvSpPr>
        <p:spPr>
          <a:xfrm>
            <a:off x="6978651" y="2723094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6BAA8C0-5A85-4D6C-BE86-04DE0C461388}"/>
              </a:ext>
            </a:extLst>
          </p:cNvPr>
          <p:cNvSpPr/>
          <p:nvPr/>
        </p:nvSpPr>
        <p:spPr>
          <a:xfrm>
            <a:off x="7459134" y="2723094"/>
            <a:ext cx="480484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043FB5B-D14B-442A-87EE-F42D6EED0FF2}"/>
              </a:ext>
            </a:extLst>
          </p:cNvPr>
          <p:cNvSpPr/>
          <p:nvPr/>
        </p:nvSpPr>
        <p:spPr>
          <a:xfrm>
            <a:off x="7939617" y="2723094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919C168-4D5B-4D22-A3A2-1C7653125C63}"/>
              </a:ext>
            </a:extLst>
          </p:cNvPr>
          <p:cNvSpPr/>
          <p:nvPr/>
        </p:nvSpPr>
        <p:spPr>
          <a:xfrm>
            <a:off x="6500285" y="3796244"/>
            <a:ext cx="478367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268702D-8F3E-4527-AB88-AFF3D91F15E9}"/>
              </a:ext>
            </a:extLst>
          </p:cNvPr>
          <p:cNvSpPr/>
          <p:nvPr/>
        </p:nvSpPr>
        <p:spPr>
          <a:xfrm>
            <a:off x="6978651" y="3796244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845F664-B863-4C70-B1FD-59543D317367}"/>
              </a:ext>
            </a:extLst>
          </p:cNvPr>
          <p:cNvSpPr/>
          <p:nvPr/>
        </p:nvSpPr>
        <p:spPr>
          <a:xfrm>
            <a:off x="7459134" y="3796244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5786F40-3C9B-4B2B-9149-14DF23CF563E}"/>
              </a:ext>
            </a:extLst>
          </p:cNvPr>
          <p:cNvSpPr/>
          <p:nvPr/>
        </p:nvSpPr>
        <p:spPr>
          <a:xfrm>
            <a:off x="7939617" y="3796244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C36F099-70EC-40A8-8265-39A1E9A043CF}"/>
              </a:ext>
            </a:extLst>
          </p:cNvPr>
          <p:cNvSpPr/>
          <p:nvPr/>
        </p:nvSpPr>
        <p:spPr>
          <a:xfrm>
            <a:off x="8420101" y="3796244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9032EE-D327-4F7F-A286-AB713FEC3E79}"/>
              </a:ext>
            </a:extLst>
          </p:cNvPr>
          <p:cNvSpPr/>
          <p:nvPr/>
        </p:nvSpPr>
        <p:spPr>
          <a:xfrm>
            <a:off x="8900584" y="3796244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C3119B3-908B-401B-AC68-C5E079815CE9}"/>
              </a:ext>
            </a:extLst>
          </p:cNvPr>
          <p:cNvSpPr/>
          <p:nvPr/>
        </p:nvSpPr>
        <p:spPr>
          <a:xfrm>
            <a:off x="9381067" y="3796244"/>
            <a:ext cx="478367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BED55DA-7607-4355-B107-C7F1A6CDE336}"/>
              </a:ext>
            </a:extLst>
          </p:cNvPr>
          <p:cNvSpPr/>
          <p:nvPr/>
        </p:nvSpPr>
        <p:spPr>
          <a:xfrm>
            <a:off x="9859434" y="3796244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DFEC20E-1C3A-462F-A8DE-DF6D13D0A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918" y="3402543"/>
            <a:ext cx="19219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double b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4517DA2-363D-4B7F-B05C-1982C3AE6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201" y="3167594"/>
            <a:ext cx="56515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endParaRPr lang="zh-CN" altLang="en-US" sz="3200" dirty="0">
              <a:solidFill>
                <a:schemeClr val="accent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DF99BEC-A503-4FB3-A2F8-7CE670C6FCD3}"/>
              </a:ext>
            </a:extLst>
          </p:cNvPr>
          <p:cNvSpPr/>
          <p:nvPr/>
        </p:nvSpPr>
        <p:spPr>
          <a:xfrm>
            <a:off x="6500285" y="2723094"/>
            <a:ext cx="478367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04016A1-9C15-4E0C-B2E5-EDF6A27F6E07}"/>
              </a:ext>
            </a:extLst>
          </p:cNvPr>
          <p:cNvSpPr/>
          <p:nvPr/>
        </p:nvSpPr>
        <p:spPr>
          <a:xfrm>
            <a:off x="6978651" y="2723094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5A2FBB3-891C-4475-9E1F-520A31B1C5C3}"/>
              </a:ext>
            </a:extLst>
          </p:cNvPr>
          <p:cNvSpPr/>
          <p:nvPr/>
        </p:nvSpPr>
        <p:spPr>
          <a:xfrm>
            <a:off x="7459134" y="2723094"/>
            <a:ext cx="480484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4CA2821-F756-48FA-BBE2-E8DCD094D8BD}"/>
              </a:ext>
            </a:extLst>
          </p:cNvPr>
          <p:cNvSpPr/>
          <p:nvPr/>
        </p:nvSpPr>
        <p:spPr>
          <a:xfrm>
            <a:off x="7939617" y="2723094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19737C1-CA6B-4104-856B-DF2D907D6869}"/>
              </a:ext>
            </a:extLst>
          </p:cNvPr>
          <p:cNvSpPr/>
          <p:nvPr/>
        </p:nvSpPr>
        <p:spPr>
          <a:xfrm>
            <a:off x="8420101" y="2723094"/>
            <a:ext cx="480484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7E6EA1F-BE9D-4D01-8485-6341A739740B}"/>
              </a:ext>
            </a:extLst>
          </p:cNvPr>
          <p:cNvSpPr/>
          <p:nvPr/>
        </p:nvSpPr>
        <p:spPr>
          <a:xfrm>
            <a:off x="8900584" y="2723094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DA303A9-3CFD-4ECE-9555-AFD93129BE93}"/>
              </a:ext>
            </a:extLst>
          </p:cNvPr>
          <p:cNvSpPr/>
          <p:nvPr/>
        </p:nvSpPr>
        <p:spPr>
          <a:xfrm>
            <a:off x="9381067" y="2723094"/>
            <a:ext cx="478367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8B93722-8420-4AEA-AAAA-6A7B4F4CDA6F}"/>
              </a:ext>
            </a:extLst>
          </p:cNvPr>
          <p:cNvSpPr/>
          <p:nvPr/>
        </p:nvSpPr>
        <p:spPr>
          <a:xfrm>
            <a:off x="9859434" y="2723094"/>
            <a:ext cx="480484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94ADE07-9601-47A4-A29C-32224FA83DC6}"/>
              </a:ext>
            </a:extLst>
          </p:cNvPr>
          <p:cNvSpPr/>
          <p:nvPr/>
        </p:nvSpPr>
        <p:spPr>
          <a:xfrm>
            <a:off x="6500285" y="5146677"/>
            <a:ext cx="478367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F6F8F4C-FE93-49E8-83E5-2DD550C9934B}"/>
              </a:ext>
            </a:extLst>
          </p:cNvPr>
          <p:cNvSpPr/>
          <p:nvPr/>
        </p:nvSpPr>
        <p:spPr>
          <a:xfrm>
            <a:off x="6978651" y="5146677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D0AB16E-60F6-4806-82B4-A80CF2BE025F}"/>
              </a:ext>
            </a:extLst>
          </p:cNvPr>
          <p:cNvSpPr/>
          <p:nvPr/>
        </p:nvSpPr>
        <p:spPr>
          <a:xfrm>
            <a:off x="7459134" y="5146677"/>
            <a:ext cx="480484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C5C28A2-D69B-4F35-A921-5F4DA1D6E1C2}"/>
              </a:ext>
            </a:extLst>
          </p:cNvPr>
          <p:cNvSpPr/>
          <p:nvPr/>
        </p:nvSpPr>
        <p:spPr>
          <a:xfrm>
            <a:off x="7939617" y="5146677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96A9BD2-183C-4A99-A9BA-B5DBAEA1A72A}"/>
              </a:ext>
            </a:extLst>
          </p:cNvPr>
          <p:cNvSpPr/>
          <p:nvPr/>
        </p:nvSpPr>
        <p:spPr>
          <a:xfrm>
            <a:off x="8420101" y="5146677"/>
            <a:ext cx="480484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57F7999-E1D5-4C42-A6FD-A915B6925567}"/>
              </a:ext>
            </a:extLst>
          </p:cNvPr>
          <p:cNvSpPr/>
          <p:nvPr/>
        </p:nvSpPr>
        <p:spPr>
          <a:xfrm>
            <a:off x="8900584" y="5146677"/>
            <a:ext cx="480483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D9A606F-89A3-40C4-B497-9B6F5C072EF0}"/>
              </a:ext>
            </a:extLst>
          </p:cNvPr>
          <p:cNvSpPr/>
          <p:nvPr/>
        </p:nvSpPr>
        <p:spPr>
          <a:xfrm>
            <a:off x="9381067" y="5146677"/>
            <a:ext cx="478367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D11524E-E1D8-45BB-ABF2-3C6CE243E9BE}"/>
              </a:ext>
            </a:extLst>
          </p:cNvPr>
          <p:cNvSpPr/>
          <p:nvPr/>
        </p:nvSpPr>
        <p:spPr>
          <a:xfrm>
            <a:off x="9859434" y="5146677"/>
            <a:ext cx="480484" cy="4783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F3795491-64C5-4601-94A4-17CD93593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918" y="4750861"/>
            <a:ext cx="19219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double c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070FEB4-B87C-80AD-8AB0-A400879FFBCB}"/>
              </a:ext>
            </a:extLst>
          </p:cNvPr>
          <p:cNvSpPr txBox="1"/>
          <p:nvPr/>
        </p:nvSpPr>
        <p:spPr>
          <a:xfrm>
            <a:off x="664636" y="1249353"/>
            <a:ext cx="8657334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取值范围小的数据，和取值范围大的数据进行运算，小的会先提升为大的之后，再进行运算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3889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运算过程中的隐式转换</a:t>
            </a:r>
          </a:p>
        </p:txBody>
      </p:sp>
      <p:sp>
        <p:nvSpPr>
          <p:cNvPr id="77" name="TextBox 3">
            <a:extLst>
              <a:ext uri="{FF2B5EF4-FFF2-40B4-BE49-F238E27FC236}">
                <a16:creationId xmlns:a16="http://schemas.microsoft.com/office/drawing/2014/main" id="{049A8736-4919-4E1E-AA16-EACDD07E4EAF}"/>
              </a:ext>
            </a:extLst>
          </p:cNvPr>
          <p:cNvSpPr txBox="1"/>
          <p:nvPr/>
        </p:nvSpPr>
        <p:spPr>
          <a:xfrm>
            <a:off x="826559" y="2845090"/>
            <a:ext cx="5088467" cy="231986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byte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byte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20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byte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c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+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3B08498-7F0D-4F43-8BED-4BC128A926C5}"/>
              </a:ext>
            </a:extLst>
          </p:cNvPr>
          <p:cNvSpPr txBox="1"/>
          <p:nvPr/>
        </p:nvSpPr>
        <p:spPr>
          <a:xfrm>
            <a:off x="1586443" y="4322523"/>
            <a:ext cx="22284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~~~~~~~~~~~~~~~</a:t>
            </a:r>
            <a:endParaRPr lang="zh-CN" altLang="en-US" sz="1400" b="1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FCF1DCF-CED5-4BB0-8F4D-71B3A9C38F84}"/>
              </a:ext>
            </a:extLst>
          </p:cNvPr>
          <p:cNvSpPr/>
          <p:nvPr/>
        </p:nvSpPr>
        <p:spPr>
          <a:xfrm>
            <a:off x="7158567" y="3432230"/>
            <a:ext cx="480483" cy="480483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C7BF0136-6D3B-4FC6-89C7-D097D03DE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5950" y="2985613"/>
            <a:ext cx="19219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byte a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97177B5-D89F-4544-B377-9EBA46EE7994}"/>
              </a:ext>
            </a:extLst>
          </p:cNvPr>
          <p:cNvSpPr/>
          <p:nvPr/>
        </p:nvSpPr>
        <p:spPr>
          <a:xfrm>
            <a:off x="9050867" y="3432230"/>
            <a:ext cx="480483" cy="480483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F2B409B-2649-4BE3-B361-99CE5B54D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1" y="2981380"/>
            <a:ext cx="19198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byte b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368391C-7055-458C-8F92-09200A4BB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0483" y="3296764"/>
            <a:ext cx="5672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chemeClr val="accent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+</a:t>
            </a:r>
            <a:endParaRPr lang="zh-CN" altLang="en-US" sz="3200">
              <a:solidFill>
                <a:schemeClr val="accent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E989B72-F294-4CF3-A4C7-7E222EFDF50C}"/>
              </a:ext>
            </a:extLst>
          </p:cNvPr>
          <p:cNvSpPr/>
          <p:nvPr/>
        </p:nvSpPr>
        <p:spPr>
          <a:xfrm>
            <a:off x="6246284" y="4285247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FD3AC60-0368-4822-8F91-E5EE81ADE520}"/>
              </a:ext>
            </a:extLst>
          </p:cNvPr>
          <p:cNvSpPr/>
          <p:nvPr/>
        </p:nvSpPr>
        <p:spPr>
          <a:xfrm>
            <a:off x="6726767" y="4285247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35E55AE-59D8-42E7-8342-D52366ABC707}"/>
              </a:ext>
            </a:extLst>
          </p:cNvPr>
          <p:cNvSpPr/>
          <p:nvPr/>
        </p:nvSpPr>
        <p:spPr>
          <a:xfrm>
            <a:off x="7207251" y="4285247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2688828-1604-429B-B086-A0B64DCD6A86}"/>
              </a:ext>
            </a:extLst>
          </p:cNvPr>
          <p:cNvSpPr/>
          <p:nvPr/>
        </p:nvSpPr>
        <p:spPr>
          <a:xfrm>
            <a:off x="7687735" y="4285247"/>
            <a:ext cx="478367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0413A8D-5DD7-4BB9-A4BF-B098F8411D35}"/>
              </a:ext>
            </a:extLst>
          </p:cNvPr>
          <p:cNvSpPr/>
          <p:nvPr/>
        </p:nvSpPr>
        <p:spPr>
          <a:xfrm>
            <a:off x="8646584" y="4285247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EE477AB8-9EEA-4BA2-A024-34E5B8415A7C}"/>
              </a:ext>
            </a:extLst>
          </p:cNvPr>
          <p:cNvSpPr/>
          <p:nvPr/>
        </p:nvSpPr>
        <p:spPr>
          <a:xfrm>
            <a:off x="9127067" y="4285247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9C16EF6D-479C-4B73-B69E-2F5C9C7A3636}"/>
              </a:ext>
            </a:extLst>
          </p:cNvPr>
          <p:cNvSpPr/>
          <p:nvPr/>
        </p:nvSpPr>
        <p:spPr>
          <a:xfrm>
            <a:off x="9607551" y="4285247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7808707-02C7-4C0A-BAC1-8B2B5D48A8DE}"/>
              </a:ext>
            </a:extLst>
          </p:cNvPr>
          <p:cNvSpPr/>
          <p:nvPr/>
        </p:nvSpPr>
        <p:spPr>
          <a:xfrm>
            <a:off x="10088035" y="4285247"/>
            <a:ext cx="478367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1AD8FBB-E0BE-4826-8DAE-B285C0AEE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034" y="3940231"/>
            <a:ext cx="19198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int a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617098A-F193-4A90-AD2D-9C1337277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1" y="3940231"/>
            <a:ext cx="8339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int b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A648F43C-7A49-4676-92CC-3BBEDFA2C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4568" y="4217514"/>
            <a:ext cx="5651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chemeClr val="accent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+</a:t>
            </a:r>
            <a:endParaRPr lang="zh-CN" altLang="en-US" sz="3200">
              <a:solidFill>
                <a:schemeClr val="accent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E28A2748-154B-4C7E-85ED-D1FB8EA0DCEE}"/>
              </a:ext>
            </a:extLst>
          </p:cNvPr>
          <p:cNvSpPr/>
          <p:nvPr/>
        </p:nvSpPr>
        <p:spPr>
          <a:xfrm>
            <a:off x="7543801" y="5394380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EE8FE826-DEE5-4578-A239-E985B5988987}"/>
              </a:ext>
            </a:extLst>
          </p:cNvPr>
          <p:cNvSpPr/>
          <p:nvPr/>
        </p:nvSpPr>
        <p:spPr>
          <a:xfrm>
            <a:off x="8024284" y="5394380"/>
            <a:ext cx="478367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F1F6B8C6-5EA5-44B8-8141-76D792AD91EB}"/>
              </a:ext>
            </a:extLst>
          </p:cNvPr>
          <p:cNvSpPr/>
          <p:nvPr/>
        </p:nvSpPr>
        <p:spPr>
          <a:xfrm>
            <a:off x="8502651" y="5394380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B887A96-2415-420F-AD67-3BEEED9D3E6D}"/>
              </a:ext>
            </a:extLst>
          </p:cNvPr>
          <p:cNvSpPr/>
          <p:nvPr/>
        </p:nvSpPr>
        <p:spPr>
          <a:xfrm>
            <a:off x="8983134" y="5394380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5038E40-F124-4538-A347-F173ABF99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7417" y="4996447"/>
            <a:ext cx="8339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int c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2372DF-74B1-F03A-3060-90DD8AF51469}"/>
              </a:ext>
            </a:extLst>
          </p:cNvPr>
          <p:cNvSpPr txBox="1"/>
          <p:nvPr/>
        </p:nvSpPr>
        <p:spPr>
          <a:xfrm>
            <a:off x="664636" y="1249353"/>
            <a:ext cx="8657334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取值范围小的数据，和取值范围大的数据进行运算，小的会先提升为大的之后，再进行运算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8B3EB3-B52A-E8D9-2196-C74CDD8B2A0B}"/>
              </a:ext>
            </a:extLst>
          </p:cNvPr>
          <p:cNvSpPr txBox="1"/>
          <p:nvPr/>
        </p:nvSpPr>
        <p:spPr>
          <a:xfrm>
            <a:off x="664636" y="1693044"/>
            <a:ext cx="8657334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byte short char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三种数据在运算的时候，都会提升为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，然后再进行运算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895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79" grpId="0" animBg="1"/>
      <p:bldP spid="80" grpId="0"/>
      <p:bldP spid="81" grpId="0" animBg="1"/>
      <p:bldP spid="82" grpId="0"/>
      <p:bldP spid="83" grpId="0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/>
      <p:bldP spid="93" grpId="0"/>
      <p:bldP spid="94" grpId="0"/>
      <p:bldP spid="95" grpId="0" animBg="1"/>
      <p:bldP spid="96" grpId="0" animBg="1"/>
      <p:bldP spid="97" grpId="0" animBg="1"/>
      <p:bldP spid="98" grpId="0" animBg="1"/>
      <p:bldP spid="9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运算过程中的隐式转换</a:t>
            </a:r>
            <a:endParaRPr kumimoji="1" lang="zh-CN" altLang="en-US" dirty="0"/>
          </a:p>
        </p:txBody>
      </p:sp>
      <p:sp>
        <p:nvSpPr>
          <p:cNvPr id="77" name="TextBox 3">
            <a:extLst>
              <a:ext uri="{FF2B5EF4-FFF2-40B4-BE49-F238E27FC236}">
                <a16:creationId xmlns:a16="http://schemas.microsoft.com/office/drawing/2014/main" id="{049A8736-4919-4E1E-AA16-EACDD07E4EAF}"/>
              </a:ext>
            </a:extLst>
          </p:cNvPr>
          <p:cNvSpPr txBox="1"/>
          <p:nvPr/>
        </p:nvSpPr>
        <p:spPr>
          <a:xfrm>
            <a:off x="869950" y="3207865"/>
            <a:ext cx="5088467" cy="231986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byte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byte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20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c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+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FCF1DCF-CED5-4BB0-8F4D-71B3A9C38F84}"/>
              </a:ext>
            </a:extLst>
          </p:cNvPr>
          <p:cNvSpPr/>
          <p:nvPr/>
        </p:nvSpPr>
        <p:spPr>
          <a:xfrm>
            <a:off x="7158567" y="3432230"/>
            <a:ext cx="480483" cy="480483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C7BF0136-6D3B-4FC6-89C7-D097D03DE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5950" y="2985613"/>
            <a:ext cx="19219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byte a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97177B5-D89F-4544-B377-9EBA46EE7994}"/>
              </a:ext>
            </a:extLst>
          </p:cNvPr>
          <p:cNvSpPr/>
          <p:nvPr/>
        </p:nvSpPr>
        <p:spPr>
          <a:xfrm>
            <a:off x="9050867" y="3432230"/>
            <a:ext cx="480483" cy="480483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F2B409B-2649-4BE3-B361-99CE5B54D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1" y="2981380"/>
            <a:ext cx="19198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byte b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368391C-7055-458C-8F92-09200A4BB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0483" y="3296764"/>
            <a:ext cx="5672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chemeClr val="accent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+</a:t>
            </a:r>
            <a:endParaRPr lang="zh-CN" altLang="en-US" sz="3200">
              <a:solidFill>
                <a:schemeClr val="accent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E989B72-F294-4CF3-A4C7-7E222EFDF50C}"/>
              </a:ext>
            </a:extLst>
          </p:cNvPr>
          <p:cNvSpPr/>
          <p:nvPr/>
        </p:nvSpPr>
        <p:spPr>
          <a:xfrm>
            <a:off x="6246284" y="4285247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FD3AC60-0368-4822-8F91-E5EE81ADE520}"/>
              </a:ext>
            </a:extLst>
          </p:cNvPr>
          <p:cNvSpPr/>
          <p:nvPr/>
        </p:nvSpPr>
        <p:spPr>
          <a:xfrm>
            <a:off x="6726767" y="4285247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35E55AE-59D8-42E7-8342-D52366ABC707}"/>
              </a:ext>
            </a:extLst>
          </p:cNvPr>
          <p:cNvSpPr/>
          <p:nvPr/>
        </p:nvSpPr>
        <p:spPr>
          <a:xfrm>
            <a:off x="7207251" y="4285247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2688828-1604-429B-B086-A0B64DCD6A86}"/>
              </a:ext>
            </a:extLst>
          </p:cNvPr>
          <p:cNvSpPr/>
          <p:nvPr/>
        </p:nvSpPr>
        <p:spPr>
          <a:xfrm>
            <a:off x="7687735" y="4285247"/>
            <a:ext cx="478367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0413A8D-5DD7-4BB9-A4BF-B098F8411D35}"/>
              </a:ext>
            </a:extLst>
          </p:cNvPr>
          <p:cNvSpPr/>
          <p:nvPr/>
        </p:nvSpPr>
        <p:spPr>
          <a:xfrm>
            <a:off x="8646584" y="4285247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EE477AB8-9EEA-4BA2-A024-34E5B8415A7C}"/>
              </a:ext>
            </a:extLst>
          </p:cNvPr>
          <p:cNvSpPr/>
          <p:nvPr/>
        </p:nvSpPr>
        <p:spPr>
          <a:xfrm>
            <a:off x="9127067" y="4285247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9C16EF6D-479C-4B73-B69E-2F5C9C7A3636}"/>
              </a:ext>
            </a:extLst>
          </p:cNvPr>
          <p:cNvSpPr/>
          <p:nvPr/>
        </p:nvSpPr>
        <p:spPr>
          <a:xfrm>
            <a:off x="9607551" y="4285247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7808707-02C7-4C0A-BAC1-8B2B5D48A8DE}"/>
              </a:ext>
            </a:extLst>
          </p:cNvPr>
          <p:cNvSpPr/>
          <p:nvPr/>
        </p:nvSpPr>
        <p:spPr>
          <a:xfrm>
            <a:off x="10088035" y="4285247"/>
            <a:ext cx="478367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1AD8FBB-E0BE-4826-8DAE-B285C0AEE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034" y="3940231"/>
            <a:ext cx="19198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int a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617098A-F193-4A90-AD2D-9C1337277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1" y="3940231"/>
            <a:ext cx="8339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int b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A648F43C-7A49-4676-92CC-3BBEDFA2C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4568" y="4217514"/>
            <a:ext cx="5651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chemeClr val="accent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+</a:t>
            </a:r>
            <a:endParaRPr lang="zh-CN" altLang="en-US" sz="3200">
              <a:solidFill>
                <a:schemeClr val="accent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E28A2748-154B-4C7E-85ED-D1FB8EA0DCEE}"/>
              </a:ext>
            </a:extLst>
          </p:cNvPr>
          <p:cNvSpPr/>
          <p:nvPr/>
        </p:nvSpPr>
        <p:spPr>
          <a:xfrm>
            <a:off x="7543801" y="5394380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EE8FE826-DEE5-4578-A239-E985B5988987}"/>
              </a:ext>
            </a:extLst>
          </p:cNvPr>
          <p:cNvSpPr/>
          <p:nvPr/>
        </p:nvSpPr>
        <p:spPr>
          <a:xfrm>
            <a:off x="8024284" y="5394380"/>
            <a:ext cx="478367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F1F6B8C6-5EA5-44B8-8141-76D792AD91EB}"/>
              </a:ext>
            </a:extLst>
          </p:cNvPr>
          <p:cNvSpPr/>
          <p:nvPr/>
        </p:nvSpPr>
        <p:spPr>
          <a:xfrm>
            <a:off x="8502651" y="5394380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B887A96-2415-420F-AD67-3BEEED9D3E6D}"/>
              </a:ext>
            </a:extLst>
          </p:cNvPr>
          <p:cNvSpPr/>
          <p:nvPr/>
        </p:nvSpPr>
        <p:spPr>
          <a:xfrm>
            <a:off x="8983134" y="5394380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5038E40-F124-4538-A347-F173ABF99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7417" y="4996447"/>
            <a:ext cx="8339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int c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DD3DD1-0291-1AC0-C7F5-32AE930AF2B8}"/>
              </a:ext>
            </a:extLst>
          </p:cNvPr>
          <p:cNvSpPr txBox="1"/>
          <p:nvPr/>
        </p:nvSpPr>
        <p:spPr>
          <a:xfrm>
            <a:off x="664636" y="1249353"/>
            <a:ext cx="8657334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取值范围小的数据，和取值范围大的数据进行运算，小的会先提升为大的之后，再进行运算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B803E5-E1D2-543A-9A5C-1C3647E3EEF8}"/>
              </a:ext>
            </a:extLst>
          </p:cNvPr>
          <p:cNvSpPr txBox="1"/>
          <p:nvPr/>
        </p:nvSpPr>
        <p:spPr>
          <a:xfrm>
            <a:off x="664636" y="1693044"/>
            <a:ext cx="8657334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byte short char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三种数据在运算的时候，都会提升为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，然后再进行运算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5551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运算过程中的隐式转换</a:t>
            </a:r>
            <a:endParaRPr kumimoji="1" lang="zh-CN" altLang="en-US" dirty="0"/>
          </a:p>
        </p:txBody>
      </p:sp>
      <p:sp>
        <p:nvSpPr>
          <p:cNvPr id="77" name="TextBox 3">
            <a:extLst>
              <a:ext uri="{FF2B5EF4-FFF2-40B4-BE49-F238E27FC236}">
                <a16:creationId xmlns:a16="http://schemas.microsoft.com/office/drawing/2014/main" id="{049A8736-4919-4E1E-AA16-EACDD07E4EAF}"/>
              </a:ext>
            </a:extLst>
          </p:cNvPr>
          <p:cNvSpPr txBox="1"/>
          <p:nvPr/>
        </p:nvSpPr>
        <p:spPr>
          <a:xfrm>
            <a:off x="869950" y="3207865"/>
            <a:ext cx="5088467" cy="231986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byte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byte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20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c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+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FCF1DCF-CED5-4BB0-8F4D-71B3A9C38F84}"/>
              </a:ext>
            </a:extLst>
          </p:cNvPr>
          <p:cNvSpPr/>
          <p:nvPr/>
        </p:nvSpPr>
        <p:spPr>
          <a:xfrm>
            <a:off x="7158567" y="3432230"/>
            <a:ext cx="480483" cy="480483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C7BF0136-6D3B-4FC6-89C7-D097D03DE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5950" y="2985613"/>
            <a:ext cx="19219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byte a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97177B5-D89F-4544-B377-9EBA46EE7994}"/>
              </a:ext>
            </a:extLst>
          </p:cNvPr>
          <p:cNvSpPr/>
          <p:nvPr/>
        </p:nvSpPr>
        <p:spPr>
          <a:xfrm>
            <a:off x="9050867" y="3432230"/>
            <a:ext cx="480483" cy="480483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F2B409B-2649-4BE3-B361-99CE5B54D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1" y="2981380"/>
            <a:ext cx="19198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byte b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368391C-7055-458C-8F92-09200A4BB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0483" y="3296764"/>
            <a:ext cx="5672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chemeClr val="accent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+</a:t>
            </a:r>
            <a:endParaRPr lang="zh-CN" altLang="en-US" sz="3200">
              <a:solidFill>
                <a:schemeClr val="accent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E989B72-F294-4CF3-A4C7-7E222EFDF50C}"/>
              </a:ext>
            </a:extLst>
          </p:cNvPr>
          <p:cNvSpPr/>
          <p:nvPr/>
        </p:nvSpPr>
        <p:spPr>
          <a:xfrm>
            <a:off x="6246284" y="4285247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FD3AC60-0368-4822-8F91-E5EE81ADE520}"/>
              </a:ext>
            </a:extLst>
          </p:cNvPr>
          <p:cNvSpPr/>
          <p:nvPr/>
        </p:nvSpPr>
        <p:spPr>
          <a:xfrm>
            <a:off x="6726767" y="4285247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35E55AE-59D8-42E7-8342-D52366ABC707}"/>
              </a:ext>
            </a:extLst>
          </p:cNvPr>
          <p:cNvSpPr/>
          <p:nvPr/>
        </p:nvSpPr>
        <p:spPr>
          <a:xfrm>
            <a:off x="7207251" y="4285247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2688828-1604-429B-B086-A0B64DCD6A86}"/>
              </a:ext>
            </a:extLst>
          </p:cNvPr>
          <p:cNvSpPr/>
          <p:nvPr/>
        </p:nvSpPr>
        <p:spPr>
          <a:xfrm>
            <a:off x="7687735" y="4285247"/>
            <a:ext cx="478367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50413A8D-5DD7-4BB9-A4BF-B098F8411D35}"/>
              </a:ext>
            </a:extLst>
          </p:cNvPr>
          <p:cNvSpPr/>
          <p:nvPr/>
        </p:nvSpPr>
        <p:spPr>
          <a:xfrm>
            <a:off x="8646584" y="4285247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EE477AB8-9EEA-4BA2-A024-34E5B8415A7C}"/>
              </a:ext>
            </a:extLst>
          </p:cNvPr>
          <p:cNvSpPr/>
          <p:nvPr/>
        </p:nvSpPr>
        <p:spPr>
          <a:xfrm>
            <a:off x="9127067" y="4285247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9C16EF6D-479C-4B73-B69E-2F5C9C7A3636}"/>
              </a:ext>
            </a:extLst>
          </p:cNvPr>
          <p:cNvSpPr/>
          <p:nvPr/>
        </p:nvSpPr>
        <p:spPr>
          <a:xfrm>
            <a:off x="9607551" y="4285247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7808707-02C7-4C0A-BAC1-8B2B5D48A8DE}"/>
              </a:ext>
            </a:extLst>
          </p:cNvPr>
          <p:cNvSpPr/>
          <p:nvPr/>
        </p:nvSpPr>
        <p:spPr>
          <a:xfrm>
            <a:off x="10088035" y="4285247"/>
            <a:ext cx="478367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1AD8FBB-E0BE-4826-8DAE-B285C0AEE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034" y="3940231"/>
            <a:ext cx="19198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int a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617098A-F193-4A90-AD2D-9C1337277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1" y="3940231"/>
            <a:ext cx="8339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int b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A648F43C-7A49-4676-92CC-3BBEDFA2C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4568" y="4217514"/>
            <a:ext cx="5651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chemeClr val="accent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+</a:t>
            </a:r>
            <a:endParaRPr lang="zh-CN" altLang="en-US" sz="3200">
              <a:solidFill>
                <a:schemeClr val="accent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E28A2748-154B-4C7E-85ED-D1FB8EA0DCEE}"/>
              </a:ext>
            </a:extLst>
          </p:cNvPr>
          <p:cNvSpPr/>
          <p:nvPr/>
        </p:nvSpPr>
        <p:spPr>
          <a:xfrm>
            <a:off x="7543801" y="5394380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EE8FE826-DEE5-4578-A239-E985B5988987}"/>
              </a:ext>
            </a:extLst>
          </p:cNvPr>
          <p:cNvSpPr/>
          <p:nvPr/>
        </p:nvSpPr>
        <p:spPr>
          <a:xfrm>
            <a:off x="8024284" y="5394380"/>
            <a:ext cx="478367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F1F6B8C6-5EA5-44B8-8141-76D792AD91EB}"/>
              </a:ext>
            </a:extLst>
          </p:cNvPr>
          <p:cNvSpPr/>
          <p:nvPr/>
        </p:nvSpPr>
        <p:spPr>
          <a:xfrm>
            <a:off x="8502651" y="5394380"/>
            <a:ext cx="480484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B887A96-2415-420F-AD67-3BEEED9D3E6D}"/>
              </a:ext>
            </a:extLst>
          </p:cNvPr>
          <p:cNvSpPr/>
          <p:nvPr/>
        </p:nvSpPr>
        <p:spPr>
          <a:xfrm>
            <a:off x="8983134" y="5394380"/>
            <a:ext cx="480483" cy="48048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5038E40-F124-4538-A347-F173ABF99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7417" y="4996447"/>
            <a:ext cx="8339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int c</a:t>
            </a:r>
            <a:endParaRPr lang="zh-CN" altLang="en-US" sz="1600" b="1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B1BC325A-5B67-4DD1-BF4B-23C284908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34" y="3799417"/>
            <a:ext cx="2639484" cy="2021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思想气泡: 云 28">
            <a:extLst>
              <a:ext uri="{FF2B5EF4-FFF2-40B4-BE49-F238E27FC236}">
                <a16:creationId xmlns:a16="http://schemas.microsoft.com/office/drawing/2014/main" id="{C9036128-5105-4808-9D32-F95F5E594236}"/>
              </a:ext>
            </a:extLst>
          </p:cNvPr>
          <p:cNvSpPr/>
          <p:nvPr/>
        </p:nvSpPr>
        <p:spPr>
          <a:xfrm>
            <a:off x="9091084" y="2923118"/>
            <a:ext cx="2175933" cy="1276349"/>
          </a:xfrm>
          <a:prstGeom prst="cloudCallout">
            <a:avLst>
              <a:gd name="adj1" fmla="val -34733"/>
              <a:gd name="adj2" fmla="val 57313"/>
            </a:avLst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char ?? int ??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Box 3">
            <a:extLst>
              <a:ext uri="{FF2B5EF4-FFF2-40B4-BE49-F238E27FC236}">
                <a16:creationId xmlns:a16="http://schemas.microsoft.com/office/drawing/2014/main" id="{7EAA9043-E3F5-42E2-B086-C74F9116FCAA}"/>
              </a:ext>
            </a:extLst>
          </p:cNvPr>
          <p:cNvSpPr txBox="1"/>
          <p:nvPr/>
        </p:nvSpPr>
        <p:spPr>
          <a:xfrm>
            <a:off x="869949" y="3207865"/>
            <a:ext cx="5088467" cy="264303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1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char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=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'a'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c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=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+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b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.println(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c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A5BC323-C9F0-4765-AE11-8C486F4E4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6825" y="4810125"/>
            <a:ext cx="762000" cy="42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133" b="1" dirty="0">
                <a:solidFill>
                  <a:schemeClr val="accent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98</a:t>
            </a:r>
            <a:endParaRPr lang="zh-CN" altLang="en-US" sz="2133" b="1" dirty="0">
              <a:solidFill>
                <a:schemeClr val="accent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EE3972-5AC9-3063-01AD-D19561357BDD}"/>
              </a:ext>
            </a:extLst>
          </p:cNvPr>
          <p:cNvSpPr txBox="1"/>
          <p:nvPr/>
        </p:nvSpPr>
        <p:spPr>
          <a:xfrm>
            <a:off x="664636" y="1249353"/>
            <a:ext cx="8657334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取值范围小的数据，和取值范围大的数据进行运算，小的会先提升为大的之后，再进行运算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55E0AD-0201-D9A4-8A69-2A8069B5E1DC}"/>
              </a:ext>
            </a:extLst>
          </p:cNvPr>
          <p:cNvSpPr txBox="1"/>
          <p:nvPr/>
        </p:nvSpPr>
        <p:spPr>
          <a:xfrm>
            <a:off x="664636" y="1693044"/>
            <a:ext cx="8657334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byte short char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三种数据在运算的时候，都会提升为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，然后再进行运算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684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9" grpId="0" animBg="1"/>
      <p:bldP spid="80" grpId="0"/>
      <p:bldP spid="81" grpId="0" animBg="1"/>
      <p:bldP spid="82" grpId="0"/>
      <p:bldP spid="83" grpId="0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/>
      <p:bldP spid="93" grpId="0"/>
      <p:bldP spid="94" grpId="0"/>
      <p:bldP spid="95" grpId="0" animBg="1"/>
      <p:bldP spid="96" grpId="0" animBg="1"/>
      <p:bldP spid="97" grpId="0" animBg="1"/>
      <p:bldP spid="98" grpId="0" animBg="1"/>
      <p:bldP spid="99" grpId="0"/>
      <p:bldP spid="29" grpId="0" animBg="1"/>
      <p:bldP spid="30" grpId="0" animBg="1"/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3B7E8-80C9-58D2-CAF8-8DAB4569F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9749A16-60BD-57F7-78B8-A092578BB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强制类型转换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2FA130-1E18-1365-7D0A-4E523646BFCC}"/>
              </a:ext>
            </a:extLst>
          </p:cNvPr>
          <p:cNvSpPr txBox="1"/>
          <p:nvPr/>
        </p:nvSpPr>
        <p:spPr>
          <a:xfrm>
            <a:off x="576626" y="1014963"/>
            <a:ext cx="8657334" cy="795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把一个</a:t>
            </a:r>
            <a:r>
              <a:rPr lang="zh-CN" altLang="en-US" sz="16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取值范围大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的数值或者变量，</a:t>
            </a:r>
            <a:r>
              <a:rPr lang="zh-CN" altLang="en-US" sz="1600" b="1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赋值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给另一个</a:t>
            </a:r>
            <a:r>
              <a:rPr lang="zh-CN" altLang="en-US" sz="16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取值范围小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的变量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不允许直接赋值，需要加入强制转换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2B9EB06-6296-2924-C599-99F979994EE1}"/>
              </a:ext>
            </a:extLst>
          </p:cNvPr>
          <p:cNvSpPr txBox="1"/>
          <p:nvPr/>
        </p:nvSpPr>
        <p:spPr>
          <a:xfrm>
            <a:off x="576626" y="1821848"/>
            <a:ext cx="8657334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  <a:r>
              <a:rPr lang="zh-CN" altLang="en-US" sz="16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目标数据类型 变量名 </a:t>
            </a:r>
            <a:r>
              <a:rPr lang="en-US" altLang="zh-CN" sz="16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目标数据类型</a:t>
            </a:r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</a:t>
            </a:r>
            <a:r>
              <a:rPr lang="zh-CN" altLang="en-US" sz="16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被强转的数据</a:t>
            </a:r>
            <a:r>
              <a:rPr lang="en-US" altLang="zh-CN" sz="16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A7B14A-7485-2F3D-E75C-05C3C614856B}"/>
              </a:ext>
            </a:extLst>
          </p:cNvPr>
          <p:cNvSpPr txBox="1"/>
          <p:nvPr/>
        </p:nvSpPr>
        <p:spPr>
          <a:xfrm>
            <a:off x="9958331" y="5049156"/>
            <a:ext cx="776816" cy="3820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C74C03-EAD6-FC82-43EC-77DFC3DEABF8}"/>
              </a:ext>
            </a:extLst>
          </p:cNvPr>
          <p:cNvSpPr txBox="1"/>
          <p:nvPr/>
        </p:nvSpPr>
        <p:spPr>
          <a:xfrm>
            <a:off x="6732214" y="5050812"/>
            <a:ext cx="774700" cy="3820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升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74196C3-15D2-FBCE-8D9A-A218841A3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229" y="3552213"/>
            <a:ext cx="2209800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3">
            <a:extLst>
              <a:ext uri="{FF2B5EF4-FFF2-40B4-BE49-F238E27FC236}">
                <a16:creationId xmlns:a16="http://schemas.microsoft.com/office/drawing/2014/main" id="{596F665A-1EAB-FA4C-C7F2-FA7B745B7750}"/>
              </a:ext>
            </a:extLst>
          </p:cNvPr>
          <p:cNvSpPr txBox="1"/>
          <p:nvPr/>
        </p:nvSpPr>
        <p:spPr>
          <a:xfrm>
            <a:off x="576626" y="2727890"/>
            <a:ext cx="5088467" cy="231986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double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12.3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  </a:t>
            </a:r>
            <a:endParaRPr lang="zh-CN" altLang="zh-CN" sz="2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D13C502F-9707-08D5-A036-B935FD71F67B}"/>
              </a:ext>
            </a:extLst>
          </p:cNvPr>
          <p:cNvSpPr txBox="1"/>
          <p:nvPr/>
        </p:nvSpPr>
        <p:spPr>
          <a:xfrm>
            <a:off x="5824163" y="2735989"/>
            <a:ext cx="1178983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CCCCC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Arial Unicode MS" panose="020B0604020202020204" pitchFamily="34" charset="-122"/>
              </a:rPr>
              <a:t>12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D8FDBA7-9B44-B9A7-901E-05F7DE472B1F}"/>
              </a:ext>
            </a:extLst>
          </p:cNvPr>
          <p:cNvSpPr txBox="1"/>
          <p:nvPr/>
        </p:nvSpPr>
        <p:spPr>
          <a:xfrm>
            <a:off x="1385887" y="3887823"/>
            <a:ext cx="2482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~~~~~~~~~</a:t>
            </a:r>
            <a:endParaRPr lang="zh-CN" altLang="en-US" sz="1400" b="1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A6A93B-D5CE-A998-0BC1-D354BAED08BD}"/>
              </a:ext>
            </a:extLst>
          </p:cNvPr>
          <p:cNvSpPr txBox="1"/>
          <p:nvPr/>
        </p:nvSpPr>
        <p:spPr>
          <a:xfrm>
            <a:off x="1385887" y="3750685"/>
            <a:ext cx="6094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E98D96-471F-9EF9-F427-9E8728B176D5}"/>
              </a:ext>
            </a:extLst>
          </p:cNvPr>
          <p:cNvSpPr txBox="1"/>
          <p:nvPr/>
        </p:nvSpPr>
        <p:spPr>
          <a:xfrm>
            <a:off x="1367532" y="4147624"/>
            <a:ext cx="6094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b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136BDF-F004-7AC1-80B2-A4C7B78F8459}"/>
              </a:ext>
            </a:extLst>
          </p:cNvPr>
          <p:cNvSpPr txBox="1"/>
          <p:nvPr/>
        </p:nvSpPr>
        <p:spPr>
          <a:xfrm>
            <a:off x="1385887" y="3756558"/>
            <a:ext cx="31534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4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6395169-041C-9FE3-F9A7-D5E44ECFC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2195" y="4578952"/>
            <a:ext cx="1329939" cy="170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345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 animBg="1"/>
      <p:bldP spid="13" grpId="0" animBg="1"/>
      <p:bldP spid="14" grpId="0"/>
      <p:bldP spid="14" grpId="1"/>
      <p:bldP spid="15" grpId="0"/>
      <p:bldP spid="16" grpId="0"/>
      <p:bldP spid="17" grpId="0"/>
      <p:bldP spid="17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3BE9E-4F81-CF21-DF7B-C7744030E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5128DD4-1621-4E04-1B4B-474793F83A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6569" y="1483864"/>
            <a:ext cx="7862949" cy="3962399"/>
          </a:xfrm>
        </p:spPr>
        <p:txBody>
          <a:bodyPr/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基本的隐式转换：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457200" lvl="1" indent="0">
              <a:buNone/>
            </a:pP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阿里巴巴普惠体" panose="00020600040101010101" pitchFamily="18" charset="-122"/>
              </a:rPr>
              <a:t>把一个取值范围小的数值或者变量，赋值给另一个取值范围大的变量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阿里巴巴普惠体" panose="00020600040101010101" pitchFamily="18" charset="-122"/>
            </a:endParaRPr>
          </a:p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运算中的隐式转换：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pPr marL="457200" lvl="1" indent="0">
              <a:buNone/>
            </a:pP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阿里巴巴普惠体" panose="00020600040101010101" pitchFamily="18" charset="-122"/>
              </a:rPr>
              <a:t>取值范围小的数据，和取值范围大的数据进行运算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阿里巴巴普惠体" panose="00020600040101010101" pitchFamily="18" charset="-122"/>
              </a:rPr>
              <a:t>小的会先提升为大的之后，再进行运算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阿里巴巴普惠体" panose="00020600040101010101" pitchFamily="18" charset="-122"/>
              </a:rPr>
              <a:t>byte short char 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阿里巴巴普惠体" panose="00020600040101010101" pitchFamily="18" charset="-122"/>
              </a:rPr>
              <a:t>三种数据在运算的时候，都会提升为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阿里巴巴普惠体" panose="00020600040101010101" pitchFamily="18" charset="-122"/>
              </a:rPr>
              <a:t>int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阿里巴巴普惠体" panose="00020600040101010101" pitchFamily="18" charset="-122"/>
              </a:rPr>
              <a:t>，然后再进行运算</a:t>
            </a: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阿里巴巴普惠体" panose="00020600040101010101" pitchFamily="18" charset="-122"/>
            </a:endParaRPr>
          </a:p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强制类型转换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:</a:t>
            </a:r>
          </a:p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      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取值范围大的数据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,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给取值范围小的变量赋值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,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需要强制类型转换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       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强转有可能造成精度损失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43473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7174B-85C5-C601-D0DC-206130D61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8FF2AF-59C2-0DCA-D35D-7C88405072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算数运算符</a:t>
            </a:r>
            <a:endParaRPr lang="en-US" altLang="zh-CN" dirty="0"/>
          </a:p>
          <a:p>
            <a:r>
              <a:rPr lang="zh-CN" altLang="en-US" dirty="0"/>
              <a:t>字符串拼接</a:t>
            </a:r>
            <a:endParaRPr lang="en-US" altLang="zh-CN" dirty="0"/>
          </a:p>
          <a:p>
            <a:r>
              <a:rPr lang="zh-CN" altLang="en-US" dirty="0"/>
              <a:t>自增自减运算符</a:t>
            </a:r>
            <a:endParaRPr lang="en-US" altLang="zh-CN" dirty="0"/>
          </a:p>
          <a:p>
            <a:r>
              <a:rPr lang="zh-CN" altLang="en-US" dirty="0"/>
              <a:t>类型转换</a:t>
            </a:r>
            <a:endParaRPr lang="en-US" altLang="zh-CN" dirty="0"/>
          </a:p>
          <a:p>
            <a:r>
              <a:rPr lang="zh-CN" altLang="en-US" dirty="0"/>
              <a:t>赋值运算符</a:t>
            </a:r>
            <a:endParaRPr lang="en-US" altLang="zh-CN" dirty="0"/>
          </a:p>
          <a:p>
            <a:r>
              <a:rPr lang="zh-CN" altLang="en-US" dirty="0"/>
              <a:t>关系运算符</a:t>
            </a:r>
            <a:endParaRPr lang="en-US" altLang="zh-CN" dirty="0"/>
          </a:p>
          <a:p>
            <a:r>
              <a:rPr lang="zh-CN" altLang="en-US" dirty="0"/>
              <a:t>逻辑运算符</a:t>
            </a:r>
            <a:endParaRPr lang="en-US" altLang="zh-CN" dirty="0"/>
          </a:p>
          <a:p>
            <a:r>
              <a:rPr lang="zh-CN" altLang="en-US" dirty="0"/>
              <a:t>三元运算符</a:t>
            </a:r>
            <a:endParaRPr lang="en-US" altLang="zh-CN" dirty="0"/>
          </a:p>
          <a:p>
            <a:r>
              <a:rPr lang="zh-CN" altLang="en-US" dirty="0"/>
              <a:t>运算符优先级</a:t>
            </a:r>
            <a:endParaRPr lang="en-US" altLang="zh-CN" dirty="0"/>
          </a:p>
          <a:p>
            <a:r>
              <a:rPr lang="en-US" altLang="zh-CN" dirty="0"/>
              <a:t>Scanner </a:t>
            </a:r>
            <a:r>
              <a:rPr lang="zh-CN" altLang="en-US" dirty="0"/>
              <a:t>键盘录入</a:t>
            </a:r>
          </a:p>
        </p:txBody>
      </p:sp>
    </p:spTree>
    <p:extLst>
      <p:ext uri="{BB962C8B-B14F-4D97-AF65-F5344CB8AC3E}">
        <p14:creationId xmlns:p14="http://schemas.microsoft.com/office/powerpoint/2010/main" val="398338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09197-EFF6-CB41-19D8-90CEACEF6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05A8BB-0621-6B96-EDA6-0FE0C33562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赋值运算符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AD97BCB0-DC87-E452-0451-3A22B4765C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756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赋值运算符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3A3CF54-2986-469F-BDEC-AE75433B1B5F}"/>
              </a:ext>
            </a:extLst>
          </p:cNvPr>
          <p:cNvGraphicFramePr>
            <a:graphicFrameLocks noGrp="1"/>
          </p:cNvGraphicFramePr>
          <p:nvPr/>
        </p:nvGraphicFramePr>
        <p:xfrm>
          <a:off x="834072" y="1169670"/>
          <a:ext cx="10413048" cy="3138172"/>
        </p:xfrm>
        <a:graphic>
          <a:graphicData uri="http://schemas.openxmlformats.org/drawingml/2006/table">
            <a:tbl>
              <a:tblPr/>
              <a:tblGrid>
                <a:gridCol w="1769898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1783423">
                  <a:extLst>
                    <a:ext uri="{9D8B030D-6E8A-4147-A177-3AD203B41FA5}">
                      <a16:colId xmlns:a16="http://schemas.microsoft.com/office/drawing/2014/main" val="4070352941"/>
                    </a:ext>
                  </a:extLst>
                </a:gridCol>
                <a:gridCol w="6859727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5904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符号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作用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=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赋值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a=10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，将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10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赋值给变量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+mn-cs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+mn-cs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+mn-cs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55523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+mn-cs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03320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AE833CC-DCFA-4A72-AA82-8F3082D7113F}"/>
              </a:ext>
            </a:extLst>
          </p:cNvPr>
          <p:cNvGraphicFramePr>
            <a:graphicFrameLocks noGrp="1"/>
          </p:cNvGraphicFramePr>
          <p:nvPr/>
        </p:nvGraphicFramePr>
        <p:xfrm>
          <a:off x="834072" y="4307842"/>
          <a:ext cx="10413048" cy="509543"/>
        </p:xfrm>
        <a:graphic>
          <a:graphicData uri="http://schemas.openxmlformats.org/drawingml/2006/table">
            <a:tbl>
              <a:tblPr/>
              <a:tblGrid>
                <a:gridCol w="1769898">
                  <a:extLst>
                    <a:ext uri="{9D8B030D-6E8A-4147-A177-3AD203B41FA5}">
                      <a16:colId xmlns:a16="http://schemas.microsoft.com/office/drawing/2014/main" val="3999713497"/>
                    </a:ext>
                  </a:extLst>
                </a:gridCol>
                <a:gridCol w="1783423">
                  <a:extLst>
                    <a:ext uri="{9D8B030D-6E8A-4147-A177-3AD203B41FA5}">
                      <a16:colId xmlns:a16="http://schemas.microsoft.com/office/drawing/2014/main" val="3008894118"/>
                    </a:ext>
                  </a:extLst>
                </a:gridCol>
                <a:gridCol w="6859727">
                  <a:extLst>
                    <a:ext uri="{9D8B030D-6E8A-4147-A177-3AD203B41FA5}">
                      <a16:colId xmlns:a16="http://schemas.microsoft.com/office/drawing/2014/main" val="488765521"/>
                    </a:ext>
                  </a:extLst>
                </a:gridCol>
              </a:tblGrid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027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9490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赋值运算符</a:t>
            </a:r>
            <a:endParaRPr kumimoji="1" lang="zh-CN" altLang="en-US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3A3CF54-2986-469F-BDEC-AE75433B1B5F}"/>
              </a:ext>
            </a:extLst>
          </p:cNvPr>
          <p:cNvGraphicFramePr>
            <a:graphicFrameLocks noGrp="1"/>
          </p:cNvGraphicFramePr>
          <p:nvPr/>
        </p:nvGraphicFramePr>
        <p:xfrm>
          <a:off x="834072" y="1169670"/>
          <a:ext cx="10413048" cy="3138172"/>
        </p:xfrm>
        <a:graphic>
          <a:graphicData uri="http://schemas.openxmlformats.org/drawingml/2006/table">
            <a:tbl>
              <a:tblPr/>
              <a:tblGrid>
                <a:gridCol w="1769898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1783423">
                  <a:extLst>
                    <a:ext uri="{9D8B030D-6E8A-4147-A177-3AD203B41FA5}">
                      <a16:colId xmlns:a16="http://schemas.microsoft.com/office/drawing/2014/main" val="4070352941"/>
                    </a:ext>
                  </a:extLst>
                </a:gridCol>
                <a:gridCol w="6859727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5904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符号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作用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=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赋值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a=10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，将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10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赋值给变量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+mn-cs"/>
                        </a:rPr>
                        <a:t>+=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+mn-cs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加后赋值</a:t>
                      </a: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a+=b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，将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+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的值给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+mn-cs"/>
                        </a:rPr>
                        <a:t>-=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+mn-cs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减后赋值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a-=b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，将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的值给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+mn-cs"/>
                        </a:rPr>
                        <a:t>*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+mn-cs"/>
                        </a:rPr>
                        <a:t>=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+mn-cs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乘后赋值</a:t>
                      </a: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a*=b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，将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 </a:t>
                      </a:r>
                      <a:r>
                        <a:rPr lang="en-US" altLang="zh-CN" sz="1600" b="1" kern="1200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×</a:t>
                      </a:r>
                      <a:r>
                        <a:rPr lang="en-US" altLang="zh-CN" sz="1600" b="1" kern="12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的值给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55523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+mn-cs"/>
                        </a:rPr>
                        <a:t>/=</a:t>
                      </a: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除后赋值</a:t>
                      </a: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a/=b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，将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 </a:t>
                      </a: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÷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的商给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03320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AE833CC-DCFA-4A72-AA82-8F3082D7113F}"/>
              </a:ext>
            </a:extLst>
          </p:cNvPr>
          <p:cNvGraphicFramePr>
            <a:graphicFrameLocks noGrp="1"/>
          </p:cNvGraphicFramePr>
          <p:nvPr/>
        </p:nvGraphicFramePr>
        <p:xfrm>
          <a:off x="834072" y="4307842"/>
          <a:ext cx="10413048" cy="509543"/>
        </p:xfrm>
        <a:graphic>
          <a:graphicData uri="http://schemas.openxmlformats.org/drawingml/2006/table">
            <a:tbl>
              <a:tblPr/>
              <a:tblGrid>
                <a:gridCol w="1769898">
                  <a:extLst>
                    <a:ext uri="{9D8B030D-6E8A-4147-A177-3AD203B41FA5}">
                      <a16:colId xmlns:a16="http://schemas.microsoft.com/office/drawing/2014/main" val="3999713497"/>
                    </a:ext>
                  </a:extLst>
                </a:gridCol>
                <a:gridCol w="1783423">
                  <a:extLst>
                    <a:ext uri="{9D8B030D-6E8A-4147-A177-3AD203B41FA5}">
                      <a16:colId xmlns:a16="http://schemas.microsoft.com/office/drawing/2014/main" val="3008894118"/>
                    </a:ext>
                  </a:extLst>
                </a:gridCol>
                <a:gridCol w="6859727">
                  <a:extLst>
                    <a:ext uri="{9D8B030D-6E8A-4147-A177-3AD203B41FA5}">
                      <a16:colId xmlns:a16="http://schemas.microsoft.com/office/drawing/2014/main" val="488765521"/>
                    </a:ext>
                  </a:extLst>
                </a:gridCol>
              </a:tblGrid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%=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取余后赋值</a:t>
                      </a: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a%=b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，将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 </a:t>
                      </a: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÷ 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的余数给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027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2654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6AC5F-B024-F5DA-3ABA-74990EB21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A4C9D0-8C37-03F7-CE57-E31F4E439D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关系运算符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D17F9C6-D831-A727-C6A6-94696F2E89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4408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关系运算符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3A3CF54-2986-469F-BDEC-AE75433B1B5F}"/>
              </a:ext>
            </a:extLst>
          </p:cNvPr>
          <p:cNvGraphicFramePr>
            <a:graphicFrameLocks noGrp="1"/>
          </p:cNvGraphicFramePr>
          <p:nvPr/>
        </p:nvGraphicFramePr>
        <p:xfrm>
          <a:off x="834072" y="1169670"/>
          <a:ext cx="10413048" cy="3138172"/>
        </p:xfrm>
        <a:graphic>
          <a:graphicData uri="http://schemas.openxmlformats.org/drawingml/2006/table">
            <a:tbl>
              <a:tblPr/>
              <a:tblGrid>
                <a:gridCol w="2743025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7670023">
                  <a:extLst>
                    <a:ext uri="{9D8B030D-6E8A-4147-A177-3AD203B41FA5}">
                      <a16:colId xmlns:a16="http://schemas.microsoft.com/office/drawing/2014/main" val="4070352941"/>
                    </a:ext>
                  </a:extLst>
                </a:gridCol>
              </a:tblGrid>
              <a:tr h="5904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符号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==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8" marB="4574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a==b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，判断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和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的值是否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相等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，成立为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，不成立为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8" marB="4574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!=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8" marB="4574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a!=b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，判断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和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的值是否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不相等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，成立为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，不成立为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8" marB="4574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&gt;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8" marB="4574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a&gt;b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，判断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是否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大于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，成立为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，不成立为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8" marB="4574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&gt;=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8" marB="4574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a&gt;=b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，判断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是否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大于等于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，成立为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，不成立为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8" marB="4574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55523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&lt;</a:t>
                      </a:r>
                    </a:p>
                  </a:txBody>
                  <a:tcPr marL="91408" marR="91408" marT="45748" marB="4574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a&lt;b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，判断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是否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小于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，成立为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，不成立为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endParaRPr kumimoji="0" lang="en-US" altLang="zh-CN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8" marB="4574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03320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AE833CC-DCFA-4A72-AA82-8F3082D7113F}"/>
              </a:ext>
            </a:extLst>
          </p:cNvPr>
          <p:cNvGraphicFramePr>
            <a:graphicFrameLocks noGrp="1"/>
          </p:cNvGraphicFramePr>
          <p:nvPr/>
        </p:nvGraphicFramePr>
        <p:xfrm>
          <a:off x="834072" y="4307842"/>
          <a:ext cx="10413048" cy="509543"/>
        </p:xfrm>
        <a:graphic>
          <a:graphicData uri="http://schemas.openxmlformats.org/drawingml/2006/table">
            <a:tbl>
              <a:tblPr/>
              <a:tblGrid>
                <a:gridCol w="2725992">
                  <a:extLst>
                    <a:ext uri="{9D8B030D-6E8A-4147-A177-3AD203B41FA5}">
                      <a16:colId xmlns:a16="http://schemas.microsoft.com/office/drawing/2014/main" val="3999713497"/>
                    </a:ext>
                  </a:extLst>
                </a:gridCol>
                <a:gridCol w="7687056">
                  <a:extLst>
                    <a:ext uri="{9D8B030D-6E8A-4147-A177-3AD203B41FA5}">
                      <a16:colId xmlns:a16="http://schemas.microsoft.com/office/drawing/2014/main" val="3008894118"/>
                    </a:ext>
                  </a:extLst>
                </a:gridCol>
              </a:tblGrid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&lt;=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8" marB="4574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a&lt;=b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，判断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是否</a:t>
                      </a:r>
                      <a:r>
                        <a:rPr kumimoji="0" lang="zh-CN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小于等于</a:t>
                      </a: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，成立为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，不成立为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endParaRPr kumimoji="0" lang="zh-CN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8" marB="4574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027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329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2C3BD-E2A8-6126-832F-FFD2B2974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A36430E-1435-D5D0-5768-8CB32D51E0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6569" y="1483864"/>
            <a:ext cx="7862949" cy="3962399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基本赋值运算符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:  =</a:t>
            </a:r>
          </a:p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扩展赋值运算符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:  +=  -=  *=  /=  %=</a:t>
            </a:r>
          </a:p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		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扩展赋值运算符隐含了强转效果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关系运算符：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		&gt;	&gt;=	&lt;	&lt;=	==	!=</a:t>
            </a:r>
          </a:p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		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最终返回的都是 </a:t>
            </a: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boolean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类型的结果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		==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和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=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号不要弄混淆了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78198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2FE2C-549A-889A-67BD-31BC3E0D7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B232EE9-F291-BBC1-C445-0D5D51D859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算数运算符</a:t>
            </a:r>
            <a:endParaRPr lang="en-US" altLang="zh-CN" dirty="0"/>
          </a:p>
          <a:p>
            <a:r>
              <a:rPr lang="zh-CN" altLang="en-US" dirty="0"/>
              <a:t>字符串拼接</a:t>
            </a:r>
            <a:endParaRPr lang="en-US" altLang="zh-CN" dirty="0"/>
          </a:p>
          <a:p>
            <a:r>
              <a:rPr lang="zh-CN" altLang="en-US" dirty="0"/>
              <a:t>自增自减运算符</a:t>
            </a:r>
            <a:endParaRPr lang="en-US" altLang="zh-CN" dirty="0"/>
          </a:p>
          <a:p>
            <a:r>
              <a:rPr lang="zh-CN" altLang="en-US" dirty="0"/>
              <a:t>类型转换</a:t>
            </a:r>
            <a:endParaRPr lang="en-US" altLang="zh-CN" dirty="0"/>
          </a:p>
          <a:p>
            <a:r>
              <a:rPr lang="zh-CN" altLang="en-US" dirty="0"/>
              <a:t>赋值运算符</a:t>
            </a:r>
            <a:endParaRPr lang="en-US" altLang="zh-CN" dirty="0"/>
          </a:p>
          <a:p>
            <a:r>
              <a:rPr lang="zh-CN" altLang="en-US" dirty="0"/>
              <a:t>关系运算符</a:t>
            </a:r>
            <a:endParaRPr lang="en-US" altLang="zh-CN" dirty="0"/>
          </a:p>
          <a:p>
            <a:r>
              <a:rPr lang="zh-CN" altLang="en-US" dirty="0"/>
              <a:t>逻辑运算符</a:t>
            </a:r>
            <a:endParaRPr lang="en-US" altLang="zh-CN" dirty="0"/>
          </a:p>
          <a:p>
            <a:r>
              <a:rPr lang="zh-CN" altLang="en-US" dirty="0"/>
              <a:t>三元运算符</a:t>
            </a:r>
            <a:endParaRPr lang="en-US" altLang="zh-CN" dirty="0"/>
          </a:p>
          <a:p>
            <a:r>
              <a:rPr lang="zh-CN" altLang="en-US" dirty="0"/>
              <a:t>运算符优先级</a:t>
            </a:r>
            <a:endParaRPr lang="en-US" altLang="zh-CN" dirty="0"/>
          </a:p>
          <a:p>
            <a:r>
              <a:rPr lang="en-US" altLang="zh-CN" dirty="0"/>
              <a:t>Scanner </a:t>
            </a:r>
            <a:r>
              <a:rPr lang="zh-CN" altLang="en-US" dirty="0"/>
              <a:t>键盘录入</a:t>
            </a:r>
          </a:p>
        </p:txBody>
      </p:sp>
    </p:spTree>
    <p:extLst>
      <p:ext uri="{BB962C8B-B14F-4D97-AF65-F5344CB8AC3E}">
        <p14:creationId xmlns:p14="http://schemas.microsoft.com/office/powerpoint/2010/main" val="3942975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E5104-CEB1-176A-70F6-0FF3C533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7871B9-B282-197E-82D9-38F153A724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逻辑运算符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CF6EC3F8-CF8D-8030-D8F2-15E5817DD2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5423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逻辑运算符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F6DACCCA-1996-4850-BC30-81CAE456DEA1}"/>
              </a:ext>
            </a:extLst>
          </p:cNvPr>
          <p:cNvSpPr txBox="1"/>
          <p:nvPr/>
        </p:nvSpPr>
        <p:spPr>
          <a:xfrm>
            <a:off x="710880" y="1570397"/>
            <a:ext cx="8640233" cy="38427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在程序中，判断一个学生成绩是否在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90~100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之间，是的话程序输出优秀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8E552A0B-A21B-4986-8A38-DC6C5BA8FD6C}"/>
              </a:ext>
            </a:extLst>
          </p:cNvPr>
          <p:cNvSpPr txBox="1"/>
          <p:nvPr/>
        </p:nvSpPr>
        <p:spPr>
          <a:xfrm>
            <a:off x="804806" y="2180551"/>
            <a:ext cx="8235562" cy="264303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score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95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score &gt;= 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90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score &lt;= 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100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);</a:t>
            </a:r>
          </a:p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6F4F626-C4E1-40DE-82AA-3B5749CFAC55}"/>
              </a:ext>
            </a:extLst>
          </p:cNvPr>
          <p:cNvSpPr/>
          <p:nvPr/>
        </p:nvSpPr>
        <p:spPr>
          <a:xfrm>
            <a:off x="1542288" y="3206496"/>
            <a:ext cx="3547872" cy="670560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67DCF28E-C193-47BF-816B-B4F79A7F185A}"/>
              </a:ext>
            </a:extLst>
          </p:cNvPr>
          <p:cNvSpPr txBox="1"/>
          <p:nvPr/>
        </p:nvSpPr>
        <p:spPr>
          <a:xfrm>
            <a:off x="5161785" y="3319825"/>
            <a:ext cx="562360" cy="38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合并</a:t>
            </a:r>
            <a:endParaRPr lang="en-US" altLang="zh-CN" sz="1400" dirty="0">
              <a:solidFill>
                <a:schemeClr val="accent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8D26BB4-BB2C-47D7-BD04-2E55CEB34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88" y="3179689"/>
            <a:ext cx="5013960" cy="98190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DAB742E-5264-4BF0-B54C-F1E4D09FE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835" y="3475165"/>
            <a:ext cx="350413" cy="670560"/>
          </a:xfrm>
          <a:prstGeom prst="rect">
            <a:avLst/>
          </a:prstGeom>
        </p:spPr>
      </p:pic>
      <p:sp>
        <p:nvSpPr>
          <p:cNvPr id="39" name="TextBox 9">
            <a:extLst>
              <a:ext uri="{FF2B5EF4-FFF2-40B4-BE49-F238E27FC236}">
                <a16:creationId xmlns:a16="http://schemas.microsoft.com/office/drawing/2014/main" id="{8BC4AFA7-EA1D-4742-9FD2-DF35CDF83D0B}"/>
              </a:ext>
            </a:extLst>
          </p:cNvPr>
          <p:cNvSpPr txBox="1"/>
          <p:nvPr/>
        </p:nvSpPr>
        <p:spPr>
          <a:xfrm>
            <a:off x="710880" y="5014462"/>
            <a:ext cx="8640233" cy="38427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连接布尔类型的表达式</a:t>
            </a:r>
            <a:r>
              <a:rPr lang="en-US" altLang="zh-CN" sz="14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或者是值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TextBox 9">
            <a:extLst>
              <a:ext uri="{FF2B5EF4-FFF2-40B4-BE49-F238E27FC236}">
                <a16:creationId xmlns:a16="http://schemas.microsoft.com/office/drawing/2014/main" id="{2D1F3C5D-0A10-4594-975B-A571EAE79687}"/>
              </a:ext>
            </a:extLst>
          </p:cNvPr>
          <p:cNvSpPr txBox="1"/>
          <p:nvPr/>
        </p:nvSpPr>
        <p:spPr>
          <a:xfrm>
            <a:off x="3486138" y="3764191"/>
            <a:ext cx="989903" cy="38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</a:rPr>
              <a:t>true</a:t>
            </a:r>
            <a:endParaRPr lang="en-US" altLang="zh-CN" sz="1400" dirty="0">
              <a:solidFill>
                <a:schemeClr val="accent2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TextBox 9">
            <a:extLst>
              <a:ext uri="{FF2B5EF4-FFF2-40B4-BE49-F238E27FC236}">
                <a16:creationId xmlns:a16="http://schemas.microsoft.com/office/drawing/2014/main" id="{94C7225B-9F7E-4168-96B9-FFCBCDC9AB14}"/>
              </a:ext>
            </a:extLst>
          </p:cNvPr>
          <p:cNvSpPr txBox="1"/>
          <p:nvPr/>
        </p:nvSpPr>
        <p:spPr>
          <a:xfrm>
            <a:off x="4979429" y="3763290"/>
            <a:ext cx="859295" cy="38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</a:rPr>
              <a:t>true</a:t>
            </a:r>
            <a:endParaRPr lang="en-US" altLang="zh-CN" sz="1400" dirty="0">
              <a:solidFill>
                <a:schemeClr val="accent2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7" name="TextBox 3">
            <a:extLst>
              <a:ext uri="{FF2B5EF4-FFF2-40B4-BE49-F238E27FC236}">
                <a16:creationId xmlns:a16="http://schemas.microsoft.com/office/drawing/2014/main" id="{1285FE44-21AB-465D-A9F6-3B58144715F5}"/>
              </a:ext>
            </a:extLst>
          </p:cNvPr>
          <p:cNvSpPr txBox="1"/>
          <p:nvPr/>
        </p:nvSpPr>
        <p:spPr>
          <a:xfrm>
            <a:off x="6319385" y="2302520"/>
            <a:ext cx="2111383" cy="95410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CCCCC"/>
                </a:solidFill>
                <a:latin typeface="Consolas" panose="020B0609020204030204" pitchFamily="49" charset="0"/>
                <a:ea typeface="思源黑体 CN Bold" panose="020B0800000000000000" pitchFamily="34" charset="-122"/>
                <a:cs typeface="Arial Unicode MS" panose="020B0604020202020204" pitchFamily="34" charset="-122"/>
              </a:rPr>
              <a:t>true</a:t>
            </a:r>
          </a:p>
          <a:p>
            <a:pPr>
              <a:defRPr/>
            </a:pPr>
            <a:endParaRPr lang="en-US" altLang="zh-CN" sz="1400" b="1" dirty="0">
              <a:solidFill>
                <a:srgbClr val="CCCCCC"/>
              </a:solidFill>
              <a:latin typeface="Consolas" panose="020B0609020204030204" pitchFamily="49" charset="0"/>
              <a:ea typeface="思源黑体 CN Bold" panose="020B0800000000000000" pitchFamily="34" charset="-122"/>
              <a:cs typeface="Arial Unicode MS" panose="020B0604020202020204" pitchFamily="34" charset="-122"/>
            </a:endParaRPr>
          </a:p>
          <a:p>
            <a:pPr>
              <a:defRPr/>
            </a:pPr>
            <a:endParaRPr lang="en-US" altLang="zh-CN" sz="1400" b="1" dirty="0">
              <a:solidFill>
                <a:srgbClr val="CCCCCC"/>
              </a:solidFill>
              <a:latin typeface="Consolas" panose="020B0609020204030204" pitchFamily="49" charset="0"/>
              <a:ea typeface="思源黑体 CN Bold" panose="020B0800000000000000" pitchFamily="34" charset="-122"/>
              <a:cs typeface="Arial Unicode MS" panose="020B0604020202020204" pitchFamily="34" charset="-122"/>
            </a:endParaRPr>
          </a:p>
          <a:p>
            <a:pPr>
              <a:defRPr/>
            </a:pPr>
            <a:endParaRPr lang="en-US" altLang="zh-CN" sz="1400" b="1" dirty="0">
              <a:solidFill>
                <a:srgbClr val="CCCCCC"/>
              </a:solidFill>
              <a:latin typeface="Consolas" panose="020B0609020204030204" pitchFamily="49" charset="0"/>
              <a:ea typeface="思源黑体 CN Bold" panose="020B0800000000000000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83F6D56C-5269-3C34-721D-2073314F4685}"/>
              </a:ext>
            </a:extLst>
          </p:cNvPr>
          <p:cNvSpPr txBox="1"/>
          <p:nvPr/>
        </p:nvSpPr>
        <p:spPr>
          <a:xfrm>
            <a:off x="707034" y="981126"/>
            <a:ext cx="8640233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把多个条件放在一起运算，最终返回布尔类型的值：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85247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 animBg="1"/>
      <p:bldP spid="5" grpId="0" animBg="1"/>
      <p:bldP spid="22" grpId="0"/>
      <p:bldP spid="39" grpId="0"/>
      <p:bldP spid="41" grpId="0"/>
      <p:bldP spid="42" grpId="0"/>
      <p:bldP spid="4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逻辑运算符分类 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2B9BFC2-569E-4E9A-9768-06AA57950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929690"/>
              </p:ext>
            </p:extLst>
          </p:nvPr>
        </p:nvGraphicFramePr>
        <p:xfrm>
          <a:off x="784032" y="1819529"/>
          <a:ext cx="7787639" cy="2628629"/>
        </p:xfrm>
        <a:graphic>
          <a:graphicData uri="http://schemas.openxmlformats.org/drawingml/2006/table">
            <a:tbl>
              <a:tblPr/>
              <a:tblGrid>
                <a:gridCol w="1323659">
                  <a:extLst>
                    <a:ext uri="{9D8B030D-6E8A-4147-A177-3AD203B41FA5}">
                      <a16:colId xmlns:a16="http://schemas.microsoft.com/office/drawing/2014/main" val="973644181"/>
                    </a:ext>
                  </a:extLst>
                </a:gridCol>
                <a:gridCol w="1333774">
                  <a:extLst>
                    <a:ext uri="{9D8B030D-6E8A-4147-A177-3AD203B41FA5}">
                      <a16:colId xmlns:a16="http://schemas.microsoft.com/office/drawing/2014/main" val="1819392816"/>
                    </a:ext>
                  </a:extLst>
                </a:gridCol>
                <a:gridCol w="5130206">
                  <a:extLst>
                    <a:ext uri="{9D8B030D-6E8A-4147-A177-3AD203B41FA5}">
                      <a16:colId xmlns:a16="http://schemas.microsoft.com/office/drawing/2014/main" val="85589329"/>
                    </a:ext>
                  </a:extLst>
                </a:gridCol>
              </a:tblGrid>
              <a:tr h="5904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符号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介绍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641929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&amp;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逻辑与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30" marB="4573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276553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|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逻辑或</a:t>
                      </a: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30" marB="4573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214377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 ！</a:t>
                      </a: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逻辑非</a:t>
                      </a: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30" marB="4573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85022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^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逻辑异或</a:t>
                      </a: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30" marB="4573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630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4890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逻辑运算符分类 </a:t>
            </a:r>
            <a:endParaRPr kumimoji="1"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2B9BFC2-569E-4E9A-9768-06AA57950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017747"/>
              </p:ext>
            </p:extLst>
          </p:nvPr>
        </p:nvGraphicFramePr>
        <p:xfrm>
          <a:off x="784032" y="1819529"/>
          <a:ext cx="7787639" cy="2628629"/>
        </p:xfrm>
        <a:graphic>
          <a:graphicData uri="http://schemas.openxmlformats.org/drawingml/2006/table">
            <a:tbl>
              <a:tblPr/>
              <a:tblGrid>
                <a:gridCol w="1323659">
                  <a:extLst>
                    <a:ext uri="{9D8B030D-6E8A-4147-A177-3AD203B41FA5}">
                      <a16:colId xmlns:a16="http://schemas.microsoft.com/office/drawing/2014/main" val="973644181"/>
                    </a:ext>
                  </a:extLst>
                </a:gridCol>
                <a:gridCol w="1333774">
                  <a:extLst>
                    <a:ext uri="{9D8B030D-6E8A-4147-A177-3AD203B41FA5}">
                      <a16:colId xmlns:a16="http://schemas.microsoft.com/office/drawing/2014/main" val="1819392816"/>
                    </a:ext>
                  </a:extLst>
                </a:gridCol>
                <a:gridCol w="5130206">
                  <a:extLst>
                    <a:ext uri="{9D8B030D-6E8A-4147-A177-3AD203B41FA5}">
                      <a16:colId xmlns:a16="http://schemas.microsoft.com/office/drawing/2014/main" val="85589329"/>
                    </a:ext>
                  </a:extLst>
                </a:gridCol>
              </a:tblGrid>
              <a:tr h="5904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符号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介绍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641929"/>
                  </a:ext>
                </a:extLst>
              </a:tr>
              <a:tr h="5095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&amp;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逻辑与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并且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遇 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 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则 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endParaRPr lang="zh-CN" altLang="en-US" sz="1400" dirty="0">
                        <a:solidFill>
                          <a:schemeClr val="tx1">
                            <a:lumMod val="50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30" marB="4573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276553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|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逻辑或</a:t>
                      </a: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或者，遇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 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则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30" marB="4573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214377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 ！</a:t>
                      </a: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逻辑非</a:t>
                      </a: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取反</a:t>
                      </a: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30" marB="4573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85022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^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逻辑异或</a:t>
                      </a:r>
                    </a:p>
                  </a:txBody>
                  <a:tcPr marL="91408" marR="91408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相同为 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，不同为 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</a:p>
                  </a:txBody>
                  <a:tcPr marL="91408" marR="91408" marT="45730" marB="4573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630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8643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短路逻辑运算符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2B9BFC2-569E-4E9A-9768-06AA57950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759305"/>
              </p:ext>
            </p:extLst>
          </p:nvPr>
        </p:nvGraphicFramePr>
        <p:xfrm>
          <a:off x="784032" y="1819529"/>
          <a:ext cx="7787639" cy="1609543"/>
        </p:xfrm>
        <a:graphic>
          <a:graphicData uri="http://schemas.openxmlformats.org/drawingml/2006/table">
            <a:tbl>
              <a:tblPr/>
              <a:tblGrid>
                <a:gridCol w="1323659">
                  <a:extLst>
                    <a:ext uri="{9D8B030D-6E8A-4147-A177-3AD203B41FA5}">
                      <a16:colId xmlns:a16="http://schemas.microsoft.com/office/drawing/2014/main" val="973644181"/>
                    </a:ext>
                  </a:extLst>
                </a:gridCol>
                <a:gridCol w="1333774">
                  <a:extLst>
                    <a:ext uri="{9D8B030D-6E8A-4147-A177-3AD203B41FA5}">
                      <a16:colId xmlns:a16="http://schemas.microsoft.com/office/drawing/2014/main" val="1819392816"/>
                    </a:ext>
                  </a:extLst>
                </a:gridCol>
                <a:gridCol w="5130206">
                  <a:extLst>
                    <a:ext uri="{9D8B030D-6E8A-4147-A177-3AD203B41FA5}">
                      <a16:colId xmlns:a16="http://schemas.microsoft.com/office/drawing/2014/main" val="85589329"/>
                    </a:ext>
                  </a:extLst>
                </a:gridCol>
              </a:tblGrid>
              <a:tr h="5904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符号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介绍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641929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&amp;&amp;</a:t>
                      </a:r>
                    </a:p>
                  </a:txBody>
                  <a:tcPr marL="121877" marR="121877" marT="61001" marB="6100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短路与</a:t>
                      </a:r>
                    </a:p>
                  </a:txBody>
                  <a:tcPr marL="121877" marR="121877" marT="61001" marB="6100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7" marR="121877" marT="61001" marB="6100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276553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||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7" marR="121877" marT="61001" marB="6100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短路或</a:t>
                      </a:r>
                    </a:p>
                  </a:txBody>
                  <a:tcPr marL="121877" marR="121877" marT="61001" marB="6100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7" marR="121877" marT="61001" marB="6100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214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8823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短路逻辑运算符</a:t>
            </a:r>
            <a:endParaRPr kumimoji="1"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2B9BFC2-569E-4E9A-9768-06AA57950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809663"/>
              </p:ext>
            </p:extLst>
          </p:nvPr>
        </p:nvGraphicFramePr>
        <p:xfrm>
          <a:off x="784032" y="1819529"/>
          <a:ext cx="7787639" cy="1609543"/>
        </p:xfrm>
        <a:graphic>
          <a:graphicData uri="http://schemas.openxmlformats.org/drawingml/2006/table">
            <a:tbl>
              <a:tblPr/>
              <a:tblGrid>
                <a:gridCol w="1323659">
                  <a:extLst>
                    <a:ext uri="{9D8B030D-6E8A-4147-A177-3AD203B41FA5}">
                      <a16:colId xmlns:a16="http://schemas.microsoft.com/office/drawing/2014/main" val="973644181"/>
                    </a:ext>
                  </a:extLst>
                </a:gridCol>
                <a:gridCol w="1333774">
                  <a:extLst>
                    <a:ext uri="{9D8B030D-6E8A-4147-A177-3AD203B41FA5}">
                      <a16:colId xmlns:a16="http://schemas.microsoft.com/office/drawing/2014/main" val="1819392816"/>
                    </a:ext>
                  </a:extLst>
                </a:gridCol>
                <a:gridCol w="5130206">
                  <a:extLst>
                    <a:ext uri="{9D8B030D-6E8A-4147-A177-3AD203B41FA5}">
                      <a16:colId xmlns:a16="http://schemas.microsoft.com/office/drawing/2014/main" val="85589329"/>
                    </a:ext>
                  </a:extLst>
                </a:gridCol>
              </a:tblGrid>
              <a:tr h="5904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符号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介绍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641929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&amp;&amp;</a:t>
                      </a:r>
                    </a:p>
                  </a:txBody>
                  <a:tcPr marL="121877" marR="121877" marT="61001" marB="6100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短路与</a:t>
                      </a:r>
                    </a:p>
                  </a:txBody>
                  <a:tcPr marL="121877" marR="121877" marT="61001" marB="6100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作用和 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&amp; 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相同，但是有短路效果</a:t>
                      </a:r>
                    </a:p>
                  </a:txBody>
                  <a:tcPr marL="121877" marR="121877" marT="61001" marB="6100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276553"/>
                  </a:ext>
                </a:extLst>
              </a:tr>
              <a:tr h="509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||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7" marR="121877" marT="61001" marB="6100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短路或</a:t>
                      </a:r>
                    </a:p>
                  </a:txBody>
                  <a:tcPr marL="121877" marR="121877" marT="61001" marB="6100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作用和 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| 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相同，但是有短路效果</a:t>
                      </a:r>
                    </a:p>
                  </a:txBody>
                  <a:tcPr marL="121877" marR="121877" marT="61001" marB="6100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214377"/>
                  </a:ext>
                </a:extLst>
              </a:tr>
            </a:tbl>
          </a:graphicData>
        </a:graphic>
      </p:graphicFrame>
      <p:sp>
        <p:nvSpPr>
          <p:cNvPr id="9" name="TextBox 9">
            <a:extLst>
              <a:ext uri="{FF2B5EF4-FFF2-40B4-BE49-F238E27FC236}">
                <a16:creationId xmlns:a16="http://schemas.microsoft.com/office/drawing/2014/main" id="{E62606F4-1AFC-4685-B006-B47EBD59420F}"/>
              </a:ext>
            </a:extLst>
          </p:cNvPr>
          <p:cNvSpPr txBox="1"/>
          <p:nvPr/>
        </p:nvSpPr>
        <p:spPr>
          <a:xfrm>
            <a:off x="710879" y="3708845"/>
            <a:ext cx="7860791" cy="102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lvl="4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逻辑与 </a:t>
            </a:r>
            <a:r>
              <a:rPr lang="en-US" altLang="zh-CN" sz="14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&amp;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，无论左边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 false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，右边都要执行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短路与 </a:t>
            </a:r>
            <a:r>
              <a:rPr lang="en-US" altLang="zh-CN" sz="14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&amp;&amp;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，如果左边为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，右边执行，如果</a:t>
            </a:r>
            <a:r>
              <a:rPr lang="zh-CN" altLang="en-US" sz="14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左边为 </a:t>
            </a:r>
            <a:r>
              <a:rPr lang="en-US" altLang="zh-CN" sz="14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false</a:t>
            </a:r>
            <a:r>
              <a:rPr lang="zh-CN" altLang="en-US" sz="14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，右边不执行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lvl="4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118F993-8540-44A9-B162-6114E0A3B4AB}"/>
              </a:ext>
            </a:extLst>
          </p:cNvPr>
          <p:cNvSpPr txBox="1"/>
          <p:nvPr/>
        </p:nvSpPr>
        <p:spPr>
          <a:xfrm>
            <a:off x="710878" y="4583464"/>
            <a:ext cx="6799393" cy="707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lvl="4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逻辑或 </a:t>
            </a:r>
            <a:r>
              <a:rPr lang="en-US" altLang="zh-CN" sz="14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|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，无论左边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 false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，右边都要执行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短路或 </a:t>
            </a:r>
            <a:r>
              <a:rPr lang="en-US" altLang="zh-CN" sz="14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||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，如果左边为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false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，右边执行，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</a:t>
            </a:r>
            <a:r>
              <a:rPr lang="zh-CN" altLang="en-US" sz="14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左边为 </a:t>
            </a:r>
            <a:r>
              <a:rPr lang="en-US" altLang="zh-CN" sz="14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</a:t>
            </a:r>
            <a:r>
              <a:rPr lang="zh-CN" altLang="en-US" sz="14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，右边不执行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EDE17649-25A0-4BBA-BCE3-45ECDF76DA76}"/>
              </a:ext>
            </a:extLst>
          </p:cNvPr>
          <p:cNvSpPr txBox="1"/>
          <p:nvPr/>
        </p:nvSpPr>
        <p:spPr>
          <a:xfrm>
            <a:off x="710878" y="5680646"/>
            <a:ext cx="7416800" cy="38427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最常用的逻辑运算符：</a:t>
            </a:r>
            <a:r>
              <a:rPr lang="en-US" altLang="zh-CN" sz="14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&amp;&amp;</a:t>
            </a:r>
            <a:r>
              <a:rPr lang="zh-CN" altLang="en-US" sz="14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lang="en-US" altLang="zh-CN" sz="14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||   !</a:t>
            </a:r>
            <a:endParaRPr lang="en-US" altLang="zh-CN" sz="1400" dirty="0">
              <a:solidFill>
                <a:srgbClr val="AD2B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15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F234B-A7FF-FDE0-557E-2CC14513D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E283066-55A0-858A-C9D5-60AE745D49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6569" y="1483864"/>
            <a:ext cx="7862949" cy="3962399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逻辑运算符有哪些，有什么特点？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609600" lvl="1" indent="0">
              <a:lnSpc>
                <a:spcPct val="200000"/>
              </a:lnSpc>
              <a:buNone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&amp; 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 遇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false 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则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false</a:t>
            </a:r>
          </a:p>
          <a:p>
            <a:pPr marL="609600" lvl="1" indent="0">
              <a:lnSpc>
                <a:spcPct val="200000"/>
              </a:lnSpc>
              <a:buNone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&amp;&amp;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 左边为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false, 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右边不执行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09600" lvl="1" indent="0">
              <a:lnSpc>
                <a:spcPct val="200000"/>
              </a:lnSpc>
              <a:buNone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| 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 遇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 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则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</a:t>
            </a:r>
          </a:p>
          <a:p>
            <a:pPr marL="609600" lvl="1" indent="0">
              <a:lnSpc>
                <a:spcPct val="200000"/>
              </a:lnSpc>
              <a:buNone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|| 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：左边为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 , 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右边不执行了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09600" lvl="1" indent="0">
              <a:lnSpc>
                <a:spcPct val="200000"/>
              </a:lnSpc>
              <a:buNone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!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：取反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09600" lvl="1" indent="0">
              <a:lnSpc>
                <a:spcPct val="200000"/>
              </a:lnSpc>
              <a:buNone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^  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：相同是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false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、不同是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</a:t>
            </a:r>
          </a:p>
          <a:p>
            <a:pPr indent="-76200">
              <a:lnSpc>
                <a:spcPct val="200000"/>
              </a:lnSpc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注意：实际开发中、常用的逻辑运算符是：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&amp;&amp;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、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|| 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84300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247E0-1DD9-34FB-C73A-934343D79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4CACC5C-8CF6-0179-287F-785F55B07D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算数运算符</a:t>
            </a:r>
            <a:endParaRPr lang="en-US" altLang="zh-CN" dirty="0"/>
          </a:p>
          <a:p>
            <a:r>
              <a:rPr lang="zh-CN" altLang="en-US" dirty="0"/>
              <a:t>字符串拼接</a:t>
            </a:r>
            <a:endParaRPr lang="en-US" altLang="zh-CN" dirty="0"/>
          </a:p>
          <a:p>
            <a:r>
              <a:rPr lang="zh-CN" altLang="en-US" dirty="0"/>
              <a:t>自增自减运算符</a:t>
            </a:r>
            <a:endParaRPr lang="en-US" altLang="zh-CN" dirty="0"/>
          </a:p>
          <a:p>
            <a:r>
              <a:rPr lang="zh-CN" altLang="en-US" dirty="0"/>
              <a:t>类型转换</a:t>
            </a:r>
            <a:endParaRPr lang="en-US" altLang="zh-CN" dirty="0"/>
          </a:p>
          <a:p>
            <a:r>
              <a:rPr lang="zh-CN" altLang="en-US" dirty="0"/>
              <a:t>赋值运算符</a:t>
            </a:r>
            <a:endParaRPr lang="en-US" altLang="zh-CN" dirty="0"/>
          </a:p>
          <a:p>
            <a:r>
              <a:rPr lang="zh-CN" altLang="en-US" dirty="0"/>
              <a:t>关系运算符</a:t>
            </a:r>
            <a:endParaRPr lang="en-US" altLang="zh-CN" dirty="0"/>
          </a:p>
          <a:p>
            <a:r>
              <a:rPr lang="zh-CN" altLang="en-US" dirty="0"/>
              <a:t>逻辑运算符</a:t>
            </a:r>
            <a:endParaRPr lang="en-US" altLang="zh-CN" dirty="0"/>
          </a:p>
          <a:p>
            <a:r>
              <a:rPr lang="zh-CN" altLang="en-US" dirty="0"/>
              <a:t>三元运算符</a:t>
            </a:r>
            <a:endParaRPr lang="en-US" altLang="zh-CN" dirty="0"/>
          </a:p>
          <a:p>
            <a:r>
              <a:rPr lang="zh-CN" altLang="en-US" dirty="0"/>
              <a:t>运算符优先级</a:t>
            </a:r>
            <a:endParaRPr lang="en-US" altLang="zh-CN" dirty="0"/>
          </a:p>
          <a:p>
            <a:r>
              <a:rPr lang="en-US" altLang="zh-CN" dirty="0"/>
              <a:t>Scanner </a:t>
            </a:r>
            <a:r>
              <a:rPr lang="zh-CN" altLang="en-US" dirty="0"/>
              <a:t>键盘录入</a:t>
            </a:r>
          </a:p>
        </p:txBody>
      </p:sp>
    </p:spTree>
    <p:extLst>
      <p:ext uri="{BB962C8B-B14F-4D97-AF65-F5344CB8AC3E}">
        <p14:creationId xmlns:p14="http://schemas.microsoft.com/office/powerpoint/2010/main" val="2837225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68CCC-AB17-05E5-564C-A14B118D2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8C8C34-F14D-0071-1753-F9F368F80E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三元运算符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0724C956-35FF-3504-2DC7-ABF4C5CD8E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6619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三元运算符</a:t>
            </a:r>
          </a:p>
        </p:txBody>
      </p:sp>
      <p:sp>
        <p:nvSpPr>
          <p:cNvPr id="66" name="TextBox 9">
            <a:extLst>
              <a:ext uri="{FF2B5EF4-FFF2-40B4-BE49-F238E27FC236}">
                <a16:creationId xmlns:a16="http://schemas.microsoft.com/office/drawing/2014/main" id="{41BDB602-4DB2-4FD7-B7E1-CF8C41E22A59}"/>
              </a:ext>
            </a:extLst>
          </p:cNvPr>
          <p:cNvSpPr txBox="1"/>
          <p:nvPr/>
        </p:nvSpPr>
        <p:spPr>
          <a:xfrm>
            <a:off x="704134" y="1603655"/>
            <a:ext cx="5657850" cy="38177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68288" lvl="4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格式：判断条件 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值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值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2;</a:t>
            </a:r>
          </a:p>
        </p:txBody>
      </p:sp>
      <p:sp>
        <p:nvSpPr>
          <p:cNvPr id="67" name="TextBox 6">
            <a:extLst>
              <a:ext uri="{FF2B5EF4-FFF2-40B4-BE49-F238E27FC236}">
                <a16:creationId xmlns:a16="http://schemas.microsoft.com/office/drawing/2014/main" id="{FF64C089-5917-4229-9BB2-7156B293E9AC}"/>
              </a:ext>
            </a:extLst>
          </p:cNvPr>
          <p:cNvSpPr txBox="1"/>
          <p:nvPr/>
        </p:nvSpPr>
        <p:spPr>
          <a:xfrm>
            <a:off x="698390" y="2194636"/>
            <a:ext cx="6480175" cy="135479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执行流程：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首先计算 </a:t>
            </a:r>
            <a:r>
              <a:rPr lang="zh-CN" altLang="en-US" sz="14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判断条件的值</a:t>
            </a:r>
            <a:endParaRPr lang="en-US" altLang="zh-CN" sz="1400" b="1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如果值为 </a:t>
            </a:r>
            <a:r>
              <a:rPr lang="en-US" altLang="zh-CN" sz="14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zh-CN" altLang="en-US" sz="1400" b="1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值</a:t>
            </a:r>
            <a:r>
              <a:rPr lang="en-US" altLang="zh-CN" sz="1400" b="1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就是运算结果 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如果值为 </a:t>
            </a:r>
            <a:r>
              <a:rPr lang="en-US" altLang="zh-CN" sz="1400" b="1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false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zh-CN" altLang="en-US" sz="1400" b="1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值</a:t>
            </a:r>
            <a:r>
              <a:rPr lang="en-US" altLang="zh-CN" sz="1400" b="1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就是运算结果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477E4EC-A929-CD4D-E520-C506D5048CBA}"/>
              </a:ext>
            </a:extLst>
          </p:cNvPr>
          <p:cNvSpPr/>
          <p:nvPr/>
        </p:nvSpPr>
        <p:spPr>
          <a:xfrm>
            <a:off x="787842" y="4254973"/>
            <a:ext cx="7074010" cy="517191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Alibaba PuHuiTi M"/>
              </a:rPr>
              <a:t>总结 </a:t>
            </a:r>
            <a:r>
              <a:rPr lang="en-US" altLang="zh-CN" dirty="0">
                <a:latin typeface="Alibaba PuHuiTi M"/>
              </a:rPr>
              <a:t>: </a:t>
            </a:r>
            <a:r>
              <a:rPr lang="zh-CN" altLang="en-US" dirty="0">
                <a:latin typeface="Alibaba PuHuiTi M"/>
              </a:rPr>
              <a:t>根据判断条件</a:t>
            </a:r>
            <a:r>
              <a:rPr lang="en-US" altLang="zh-CN" dirty="0">
                <a:latin typeface="Alibaba PuHuiTi M"/>
              </a:rPr>
              <a:t>, </a:t>
            </a:r>
            <a:r>
              <a:rPr lang="zh-CN" altLang="en-US" dirty="0">
                <a:latin typeface="Alibaba PuHuiTi M"/>
              </a:rPr>
              <a:t>从两份数据中二者选其一</a:t>
            </a:r>
          </a:p>
        </p:txBody>
      </p:sp>
    </p:spTree>
    <p:extLst>
      <p:ext uri="{BB962C8B-B14F-4D97-AF65-F5344CB8AC3E}">
        <p14:creationId xmlns:p14="http://schemas.microsoft.com/office/powerpoint/2010/main" val="67723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C7C45-7B3D-BB8A-6420-D0AB9DD23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6E70B3D-268D-4F34-1F36-F72EE2B436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算数运算符</a:t>
            </a:r>
            <a:endParaRPr lang="en-US" altLang="zh-CN" dirty="0"/>
          </a:p>
          <a:p>
            <a:r>
              <a:rPr lang="zh-CN" altLang="en-US" dirty="0"/>
              <a:t>字符串拼接</a:t>
            </a:r>
            <a:endParaRPr lang="en-US" altLang="zh-CN" dirty="0"/>
          </a:p>
          <a:p>
            <a:r>
              <a:rPr lang="zh-CN" altLang="en-US" dirty="0"/>
              <a:t>自增自减运算符</a:t>
            </a:r>
            <a:endParaRPr lang="en-US" altLang="zh-CN" dirty="0"/>
          </a:p>
          <a:p>
            <a:r>
              <a:rPr lang="zh-CN" altLang="en-US" dirty="0"/>
              <a:t>类型转换</a:t>
            </a:r>
            <a:endParaRPr lang="en-US" altLang="zh-CN" dirty="0"/>
          </a:p>
          <a:p>
            <a:r>
              <a:rPr lang="zh-CN" altLang="en-US" dirty="0"/>
              <a:t>赋值运算符</a:t>
            </a:r>
            <a:endParaRPr lang="en-US" altLang="zh-CN" dirty="0"/>
          </a:p>
          <a:p>
            <a:r>
              <a:rPr lang="zh-CN" altLang="en-US" dirty="0"/>
              <a:t>关系运算符</a:t>
            </a:r>
            <a:endParaRPr lang="en-US" altLang="zh-CN" dirty="0"/>
          </a:p>
          <a:p>
            <a:r>
              <a:rPr lang="zh-CN" altLang="en-US" dirty="0"/>
              <a:t>逻辑运算符</a:t>
            </a:r>
            <a:endParaRPr lang="en-US" altLang="zh-CN" dirty="0"/>
          </a:p>
          <a:p>
            <a:r>
              <a:rPr lang="zh-CN" altLang="en-US" dirty="0"/>
              <a:t>三元运算符</a:t>
            </a:r>
            <a:endParaRPr lang="en-US" altLang="zh-CN" dirty="0"/>
          </a:p>
          <a:p>
            <a:r>
              <a:rPr lang="zh-CN" altLang="en-US" dirty="0"/>
              <a:t>运算符优先级</a:t>
            </a:r>
            <a:endParaRPr lang="en-US" altLang="zh-CN" dirty="0"/>
          </a:p>
          <a:p>
            <a:r>
              <a:rPr lang="en-US" altLang="zh-CN" dirty="0"/>
              <a:t>Scanner </a:t>
            </a:r>
            <a:r>
              <a:rPr lang="zh-CN" altLang="en-US" dirty="0"/>
              <a:t>键盘录入</a:t>
            </a:r>
          </a:p>
        </p:txBody>
      </p:sp>
    </p:spTree>
    <p:extLst>
      <p:ext uri="{BB962C8B-B14F-4D97-AF65-F5344CB8AC3E}">
        <p14:creationId xmlns:p14="http://schemas.microsoft.com/office/powerpoint/2010/main" val="1706405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AA187-E60E-BB75-78BA-3D8264649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501F7F-9511-090C-F14A-26AA4A854A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运算符优先级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CD95291E-1E16-1EDB-934D-EE49446BBC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9758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运算符优先级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EF55E322-64B1-49E0-B762-39FB666971DF}"/>
              </a:ext>
            </a:extLst>
          </p:cNvPr>
          <p:cNvSpPr txBox="1"/>
          <p:nvPr/>
        </p:nvSpPr>
        <p:spPr>
          <a:xfrm>
            <a:off x="710880" y="1872913"/>
            <a:ext cx="5856816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20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&gt;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||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&lt;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&amp;&amp;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&gt;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}</a:t>
            </a:r>
            <a:endParaRPr lang="zh-CN" altLang="zh-CN" sz="2133" dirty="0">
              <a:highlight>
                <a:srgbClr val="FFFFE4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2456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运算符优先级</a:t>
            </a:r>
            <a:endParaRPr kumimoji="1" lang="zh-CN" altLang="en-US" dirty="0"/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EF55E322-64B1-49E0-B762-39FB666971DF}"/>
              </a:ext>
            </a:extLst>
          </p:cNvPr>
          <p:cNvSpPr txBox="1"/>
          <p:nvPr/>
        </p:nvSpPr>
        <p:spPr>
          <a:xfrm>
            <a:off x="710880" y="1872913"/>
            <a:ext cx="5856816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20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&gt;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||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&lt;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AD2B26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&amp;&amp;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&gt;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}</a:t>
            </a:r>
            <a:endParaRPr lang="zh-CN" altLang="zh-CN" sz="2133" dirty="0">
              <a:highlight>
                <a:srgbClr val="FFFFE4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8433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运算符优先级</a:t>
            </a:r>
            <a:endParaRPr kumimoji="1" lang="zh-CN" altLang="en-US" dirty="0"/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EF55E322-64B1-49E0-B762-39FB666971DF}"/>
              </a:ext>
            </a:extLst>
          </p:cNvPr>
          <p:cNvSpPr txBox="1"/>
          <p:nvPr/>
        </p:nvSpPr>
        <p:spPr>
          <a:xfrm>
            <a:off x="710880" y="1872913"/>
            <a:ext cx="5856816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20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&gt;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070C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||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&lt;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AD2B26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&amp;&amp;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&gt;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}</a:t>
            </a:r>
            <a:endParaRPr lang="zh-CN" altLang="zh-CN" sz="2133" dirty="0">
              <a:highlight>
                <a:srgbClr val="FFFFE4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5742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运算符优先级</a:t>
            </a:r>
            <a:endParaRPr kumimoji="1" lang="zh-CN" altLang="en-US" dirty="0"/>
          </a:p>
        </p:txBody>
      </p:sp>
      <p:pic>
        <p:nvPicPr>
          <p:cNvPr id="9" name="图片 3">
            <a:extLst>
              <a:ext uri="{FF2B5EF4-FFF2-40B4-BE49-F238E27FC236}">
                <a16:creationId xmlns:a16="http://schemas.microsoft.com/office/drawing/2014/main" id="{EC9EBF51-B688-426A-94FE-4814C8CBB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97" y="1635973"/>
            <a:ext cx="6369051" cy="4430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2F12F41-3CD1-40AD-A771-7B5AC1ADF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248" y="2499573"/>
            <a:ext cx="4123267" cy="3448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378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运算符优先级</a:t>
            </a:r>
            <a:endParaRPr kumimoji="1" lang="zh-CN" altLang="en-US" dirty="0"/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EF55E322-64B1-49E0-B762-39FB666971DF}"/>
              </a:ext>
            </a:extLst>
          </p:cNvPr>
          <p:cNvSpPr txBox="1"/>
          <p:nvPr/>
        </p:nvSpPr>
        <p:spPr>
          <a:xfrm>
            <a:off x="710880" y="1872913"/>
            <a:ext cx="5856816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20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&gt;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||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&lt;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&amp;&amp;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&gt;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}</a:t>
            </a:r>
            <a:endParaRPr lang="zh-CN" altLang="zh-CN" sz="2133" dirty="0">
              <a:highlight>
                <a:srgbClr val="FFFFE4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6110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运算符优先级</a:t>
            </a:r>
            <a:endParaRPr kumimoji="1" lang="zh-CN" altLang="en-US" dirty="0"/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EF55E322-64B1-49E0-B762-39FB666971DF}"/>
              </a:ext>
            </a:extLst>
          </p:cNvPr>
          <p:cNvSpPr txBox="1"/>
          <p:nvPr/>
        </p:nvSpPr>
        <p:spPr>
          <a:xfrm>
            <a:off x="710880" y="1872913"/>
            <a:ext cx="5856816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20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.println((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&gt;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||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&lt;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)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&amp;&amp;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&gt;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}</a:t>
            </a:r>
            <a:endParaRPr lang="zh-CN" altLang="zh-CN" sz="2133" dirty="0">
              <a:highlight>
                <a:srgbClr val="FFFFE4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6064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运算符优先级</a:t>
            </a:r>
            <a:endParaRPr kumimoji="1" lang="zh-CN" altLang="en-US" dirty="0"/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EF55E322-64B1-49E0-B762-39FB666971DF}"/>
              </a:ext>
            </a:extLst>
          </p:cNvPr>
          <p:cNvSpPr txBox="1"/>
          <p:nvPr/>
        </p:nvSpPr>
        <p:spPr>
          <a:xfrm>
            <a:off x="710880" y="1872913"/>
            <a:ext cx="5856816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20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&gt;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||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&lt;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&amp;&amp;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a 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&gt; </a:t>
            </a:r>
            <a:r>
              <a:rPr lang="zh-CN" altLang="zh-CN" sz="1400" dirty="0">
                <a:solidFill>
                  <a:srgbClr val="000000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b</a:t>
            </a: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));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highlight>
                  <a:srgbClr val="FFFFE4"/>
                </a:highlight>
                <a:latin typeface="Consolas" panose="020B0609020204030204" pitchFamily="49" charset="0"/>
              </a:rPr>
              <a:t>}</a:t>
            </a:r>
            <a:endParaRPr lang="zh-CN" altLang="zh-CN" sz="2133" dirty="0">
              <a:highlight>
                <a:srgbClr val="FFFFE4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122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30764-4A0E-E007-8A44-10190EF7F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8D161B6-F0FB-9254-3D34-998170C2BD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算数运算符</a:t>
            </a:r>
            <a:endParaRPr lang="en-US" altLang="zh-CN" dirty="0"/>
          </a:p>
          <a:p>
            <a:r>
              <a:rPr lang="zh-CN" altLang="en-US" dirty="0"/>
              <a:t>字符串拼接</a:t>
            </a:r>
            <a:endParaRPr lang="en-US" altLang="zh-CN" dirty="0"/>
          </a:p>
          <a:p>
            <a:r>
              <a:rPr lang="zh-CN" altLang="en-US" dirty="0"/>
              <a:t>自增自减运算符</a:t>
            </a:r>
            <a:endParaRPr lang="en-US" altLang="zh-CN" dirty="0"/>
          </a:p>
          <a:p>
            <a:r>
              <a:rPr lang="zh-CN" altLang="en-US" dirty="0"/>
              <a:t>类型转换</a:t>
            </a:r>
            <a:endParaRPr lang="en-US" altLang="zh-CN" dirty="0"/>
          </a:p>
          <a:p>
            <a:r>
              <a:rPr lang="zh-CN" altLang="en-US" dirty="0"/>
              <a:t>赋值运算符</a:t>
            </a:r>
            <a:endParaRPr lang="en-US" altLang="zh-CN" dirty="0"/>
          </a:p>
          <a:p>
            <a:r>
              <a:rPr lang="zh-CN" altLang="en-US" dirty="0"/>
              <a:t>关系运算符</a:t>
            </a:r>
            <a:endParaRPr lang="en-US" altLang="zh-CN" dirty="0"/>
          </a:p>
          <a:p>
            <a:r>
              <a:rPr lang="zh-CN" altLang="en-US" dirty="0"/>
              <a:t>逻辑运算符</a:t>
            </a:r>
            <a:endParaRPr lang="en-US" altLang="zh-CN" dirty="0"/>
          </a:p>
          <a:p>
            <a:r>
              <a:rPr lang="zh-CN" altLang="en-US" dirty="0"/>
              <a:t>三元运算符</a:t>
            </a:r>
            <a:endParaRPr lang="en-US" altLang="zh-CN" dirty="0"/>
          </a:p>
          <a:p>
            <a:r>
              <a:rPr lang="zh-CN" altLang="en-US" dirty="0"/>
              <a:t>运算符优先级</a:t>
            </a:r>
            <a:endParaRPr lang="en-US" altLang="zh-CN" dirty="0"/>
          </a:p>
          <a:p>
            <a:r>
              <a:rPr lang="en-US" altLang="zh-CN" dirty="0"/>
              <a:t>Scanner </a:t>
            </a:r>
            <a:r>
              <a:rPr lang="zh-CN" altLang="en-US" dirty="0"/>
              <a:t>键盘录入</a:t>
            </a:r>
          </a:p>
        </p:txBody>
      </p:sp>
    </p:spTree>
    <p:extLst>
      <p:ext uri="{BB962C8B-B14F-4D97-AF65-F5344CB8AC3E}">
        <p14:creationId xmlns:p14="http://schemas.microsoft.com/office/powerpoint/2010/main" val="4149759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A95E2-2E53-1AEF-F634-88D9EC11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48E923-6DC7-0DF0-9212-C1D0E80DB0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Scanner </a:t>
            </a:r>
            <a:r>
              <a:rPr lang="zh-CN" altLang="en-US" dirty="0"/>
              <a:t>键盘录入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394A6E58-F89F-8FE3-9DAC-AF53DA231C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9253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10880" y="957810"/>
            <a:ext cx="9596902" cy="842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需求：</a:t>
            </a:r>
            <a:endParaRPr lang="en-US" altLang="zh-CN" b="1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请在程序中，提示用户通过键盘输入自己的姓名、年龄，并能在程序中收到这些数据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266173" y="2273939"/>
            <a:ext cx="3270845" cy="205369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>
              <a:defRPr/>
            </a:pP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>
              <a:defRPr/>
            </a:pP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>
              <a:defRPr/>
            </a:pP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>
              <a:defRPr/>
            </a:pP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>
              <a:defRPr/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38049" y="2601527"/>
            <a:ext cx="28294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600" b="1" dirty="0" err="1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javac</a:t>
            </a: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等开发工具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088381" y="2307073"/>
            <a:ext cx="1164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</a:t>
            </a:r>
            <a:endParaRPr lang="en-US" altLang="zh-CN" b="1" dirty="0">
              <a:solidFill>
                <a:schemeClr val="bg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圆角矩形 1"/>
          <p:cNvSpPr/>
          <p:nvPr/>
        </p:nvSpPr>
        <p:spPr>
          <a:xfrm>
            <a:off x="8635227" y="3049869"/>
            <a:ext cx="2635135" cy="1111240"/>
          </a:xfrm>
          <a:prstGeom prst="roundRect">
            <a:avLst/>
          </a:prstGeom>
          <a:solidFill>
            <a:srgbClr val="FBD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>
              <a:defRPr/>
            </a:pP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>
              <a:defRPr/>
            </a:pP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>
              <a:defRPr/>
            </a:pP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407038" y="3047786"/>
            <a:ext cx="1109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JRE</a:t>
            </a:r>
          </a:p>
        </p:txBody>
      </p:sp>
      <p:sp>
        <p:nvSpPr>
          <p:cNvPr id="33" name="圆角矩形 9"/>
          <p:cNvSpPr/>
          <p:nvPr/>
        </p:nvSpPr>
        <p:spPr>
          <a:xfrm>
            <a:off x="9991064" y="3382048"/>
            <a:ext cx="1118981" cy="6052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核心类库</a:t>
            </a:r>
          </a:p>
        </p:txBody>
      </p:sp>
      <p:sp>
        <p:nvSpPr>
          <p:cNvPr id="34" name="圆角矩形 10"/>
          <p:cNvSpPr/>
          <p:nvPr/>
        </p:nvSpPr>
        <p:spPr>
          <a:xfrm>
            <a:off x="8791170" y="3382047"/>
            <a:ext cx="1022094" cy="59834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JVM</a:t>
            </a:r>
            <a:endParaRPr lang="zh-CN" altLang="en-US" sz="1600" b="1" dirty="0">
              <a:solidFill>
                <a:schemeClr val="bg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57C7C25-2872-7097-D1C8-C0B2B47FB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Scanner </a:t>
            </a:r>
            <a:r>
              <a:rPr lang="zh-CN" altLang="en-US" dirty="0"/>
              <a:t>键盘录入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978EEA-63BF-5AF9-C7D2-4F84CDAE3B0F}"/>
              </a:ext>
            </a:extLst>
          </p:cNvPr>
          <p:cNvSpPr txBox="1"/>
          <p:nvPr/>
        </p:nvSpPr>
        <p:spPr>
          <a:xfrm>
            <a:off x="1673406" y="2053743"/>
            <a:ext cx="473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Java</a:t>
            </a:r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已经写好了实现程序</a:t>
            </a:r>
            <a:r>
              <a:rPr lang="en-US" altLang="zh-CN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,</a:t>
            </a:r>
            <a:r>
              <a:rPr lang="zh-CN" altLang="en-US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我们调用即可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17" grpId="0"/>
      <p:bldP spid="31" grpId="0" animBg="1"/>
      <p:bldP spid="32" grpId="0"/>
      <p:bldP spid="33" grpId="0" animBg="1"/>
      <p:bldP spid="34" grpId="0" animBg="1"/>
      <p:bldP spid="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E67160-1BAB-4D97-9981-50CBB6397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489" y="365888"/>
            <a:ext cx="10737020" cy="474415"/>
          </a:xfrm>
        </p:spPr>
        <p:txBody>
          <a:bodyPr/>
          <a:lstStyle/>
          <a:p>
            <a:r>
              <a:rPr lang="en-US" altLang="zh-CN" dirty="0"/>
              <a:t>Scanner </a:t>
            </a:r>
            <a:r>
              <a:rPr lang="zh-CN" altLang="en-US" dirty="0"/>
              <a:t>键盘录入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564517" y="1143530"/>
            <a:ext cx="10748963" cy="51752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kumimoji="1" lang="zh-CN" altLang="en-US" dirty="0"/>
              <a:t>使用</a:t>
            </a:r>
            <a:r>
              <a:rPr kumimoji="1" lang="en-US" altLang="zh-CN" dirty="0"/>
              <a:t>Scanner</a:t>
            </a:r>
            <a:r>
              <a:rPr kumimoji="1" lang="zh-CN" altLang="en-US" dirty="0"/>
              <a:t>接收用户键盘输入的数据，需要三个步骤 ：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2A992BF-CF57-3EF3-8861-7E5F6309B042}"/>
              </a:ext>
            </a:extLst>
          </p:cNvPr>
          <p:cNvGrpSpPr/>
          <p:nvPr/>
        </p:nvGrpSpPr>
        <p:grpSpPr>
          <a:xfrm>
            <a:off x="564517" y="1636646"/>
            <a:ext cx="9584791" cy="4535717"/>
            <a:chOff x="1351994" y="3010028"/>
            <a:chExt cx="9584791" cy="453571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4BF67E4-8461-DD43-2198-2FC9D5195AA3}"/>
                </a:ext>
              </a:extLst>
            </p:cNvPr>
            <p:cNvSpPr/>
            <p:nvPr/>
          </p:nvSpPr>
          <p:spPr>
            <a:xfrm>
              <a:off x="1364268" y="3010028"/>
              <a:ext cx="9572517" cy="4535717"/>
            </a:xfrm>
            <a:prstGeom prst="roundRect">
              <a:avLst>
                <a:gd name="adj" fmla="val 3590"/>
              </a:avLst>
            </a:prstGeom>
            <a:solidFill>
              <a:srgbClr val="F9FBF9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A46BC4E-0022-484A-6BD7-1638543CD8B7}"/>
                </a:ext>
              </a:extLst>
            </p:cNvPr>
            <p:cNvSpPr txBox="1"/>
            <p:nvPr/>
          </p:nvSpPr>
          <p:spPr>
            <a:xfrm>
              <a:off x="1351994" y="3328116"/>
              <a:ext cx="8689969" cy="3940631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import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java.util.Scanner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public class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Test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{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public static void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627A"/>
                  </a:solidFill>
                  <a:effectLst/>
                  <a:latin typeface="Consolas" panose="020B0609020204030204" pitchFamily="49" charset="0"/>
                  <a:ea typeface="JetBrains Mono"/>
                </a:rPr>
                <a:t>main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String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[] args) {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Scanner sc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new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Scanner(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System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</a:t>
              </a:r>
              <a:r>
                <a:rPr kumimoji="0" lang="zh-CN" altLang="zh-CN" sz="1200" b="0" i="1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  <a:ea typeface="JetBrains Mono"/>
                </a:rPr>
                <a:t>in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System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</a:t>
              </a:r>
              <a:r>
                <a:rPr kumimoji="0" lang="zh-CN" altLang="zh-CN" sz="1200" b="0" i="1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  <a:ea typeface="JetBrains Mono"/>
                </a:rPr>
                <a:t>out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.println(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Arial Unicode MS"/>
                  <a:ea typeface="JetBrains Mono"/>
                </a:rPr>
                <a:t>"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</a:rPr>
                <a:t>请输入</a:t>
              </a:r>
              <a:r>
                <a:rPr lang="zh-CN" altLang="en-US" sz="1200" dirty="0">
                  <a:solidFill>
                    <a:srgbClr val="067D17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您的年龄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</a:rPr>
                <a:t>：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Arial Unicode MS"/>
                  <a:ea typeface="JetBrains Mono"/>
                </a:rPr>
                <a:t>"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   int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 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age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sc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.next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Int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();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System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</a:t>
              </a:r>
              <a:r>
                <a:rPr kumimoji="0" lang="zh-CN" altLang="zh-CN" sz="1200" b="0" i="1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  <a:ea typeface="JetBrains Mono"/>
                </a:rPr>
                <a:t>out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.println(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Arial Unicode MS"/>
                  <a:ea typeface="JetBrains Mono"/>
                </a:rPr>
                <a:t>"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</a:rPr>
                <a:t>年龄是：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Arial Unicode MS"/>
                  <a:ea typeface="JetBrains Mono"/>
                </a:rPr>
                <a:t>"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JetBrains Mono"/>
                </a:rPr>
                <a:t>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+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age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System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</a:t>
              </a:r>
              <a:r>
                <a:rPr kumimoji="0" lang="zh-CN" altLang="zh-CN" sz="1200" b="0" i="1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  <a:ea typeface="JetBrains Mono"/>
                </a:rPr>
                <a:t>out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.println(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Arial Unicode MS"/>
                  <a:ea typeface="JetBrains Mono"/>
                </a:rPr>
                <a:t>"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</a:rPr>
                <a:t>请输入您的</a:t>
              </a:r>
              <a:r>
                <a: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</a:rPr>
                <a:t>名称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</a:rPr>
                <a:t>：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Arial Unicode MS"/>
                  <a:ea typeface="JetBrains Mono"/>
                </a:rPr>
                <a:t> "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    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String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JetBrains Mono"/>
                </a:rPr>
                <a:t>name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sc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.next();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System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</a:t>
              </a:r>
              <a:r>
                <a:rPr kumimoji="0" lang="zh-CN" altLang="zh-CN" sz="1200" b="0" i="1" u="none" strike="noStrike" cap="none" normalizeH="0" baseline="0" dirty="0">
                  <a:ln>
                    <a:noFill/>
                  </a:ln>
                  <a:solidFill>
                    <a:srgbClr val="871094"/>
                  </a:solidFill>
                  <a:effectLst/>
                  <a:latin typeface="Consolas" panose="020B0609020204030204" pitchFamily="49" charset="0"/>
                  <a:ea typeface="JetBrains Mono"/>
                </a:rPr>
                <a:t>out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.println(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Arial Unicode MS"/>
                  <a:ea typeface="JetBrains Mono"/>
                </a:rPr>
                <a:t>"</a:t>
              </a:r>
              <a:r>
                <a:rPr kumimoji="0" lang="zh-CN" altLang="en-US" sz="120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JetBrains Mono"/>
                </a:rPr>
                <a:t>欢迎</a:t>
              </a:r>
              <a:r>
                <a:rPr kumimoji="0" lang="zh-CN" altLang="zh-CN" sz="120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</a:rPr>
                <a:t>：</a:t>
              </a:r>
              <a:r>
                <a:rPr kumimoji="0" lang="zh-CN" altLang="zh-CN" sz="120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Arial Unicode MS"/>
                  <a:ea typeface="JetBrains Mono"/>
                </a:rPr>
                <a:t> "</a:t>
              </a:r>
              <a:r>
                <a:rPr kumimoji="0" lang="zh-CN" altLang="zh-CN" sz="120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JetBrains Mono"/>
                </a:rPr>
                <a:t>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+ 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JetBrains Mono"/>
                </a:rPr>
                <a:t>name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    }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}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7329CBF6-CD0B-4F92-F671-2B5BBA3B2696}"/>
                </a:ext>
              </a:extLst>
            </p:cNvPr>
            <p:cNvSpPr/>
            <p:nvPr/>
          </p:nvSpPr>
          <p:spPr>
            <a:xfrm>
              <a:off x="1351995" y="3028401"/>
              <a:ext cx="9572516" cy="243057"/>
            </a:xfrm>
            <a:custGeom>
              <a:avLst/>
              <a:gdLst>
                <a:gd name="connsiteX0" fmla="*/ 89432 w 8960426"/>
                <a:gd name="connsiteY0" fmla="*/ 0 h 243057"/>
                <a:gd name="connsiteX1" fmla="*/ 8870994 w 8960426"/>
                <a:gd name="connsiteY1" fmla="*/ 0 h 243057"/>
                <a:gd name="connsiteX2" fmla="*/ 8960426 w 8960426"/>
                <a:gd name="connsiteY2" fmla="*/ 89432 h 243057"/>
                <a:gd name="connsiteX3" fmla="*/ 8960426 w 8960426"/>
                <a:gd name="connsiteY3" fmla="*/ 243057 h 243057"/>
                <a:gd name="connsiteX4" fmla="*/ 0 w 8960426"/>
                <a:gd name="connsiteY4" fmla="*/ 243057 h 243057"/>
                <a:gd name="connsiteX5" fmla="*/ 0 w 8960426"/>
                <a:gd name="connsiteY5" fmla="*/ 89432 h 243057"/>
                <a:gd name="connsiteX6" fmla="*/ 89432 w 8960426"/>
                <a:gd name="connsiteY6" fmla="*/ 0 h 24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60426" h="243057">
                  <a:moveTo>
                    <a:pt x="89432" y="0"/>
                  </a:moveTo>
                  <a:lnTo>
                    <a:pt x="8870994" y="0"/>
                  </a:lnTo>
                  <a:cubicBezTo>
                    <a:pt x="8920386" y="0"/>
                    <a:pt x="8960426" y="40040"/>
                    <a:pt x="8960426" y="89432"/>
                  </a:cubicBezTo>
                  <a:lnTo>
                    <a:pt x="8960426" y="243057"/>
                  </a:lnTo>
                  <a:lnTo>
                    <a:pt x="0" y="243057"/>
                  </a:lnTo>
                  <a:lnTo>
                    <a:pt x="0" y="89432"/>
                  </a:lnTo>
                  <a:cubicBezTo>
                    <a:pt x="0" y="40040"/>
                    <a:pt x="40040" y="0"/>
                    <a:pt x="89432" y="0"/>
                  </a:cubicBezTo>
                  <a:close/>
                </a:path>
              </a:pathLst>
            </a:custGeom>
            <a:solidFill>
              <a:srgbClr val="F2F2F2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216000" bIns="45720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F3E5639-7DE8-4A5A-66FC-2D8BF3F8AF58}"/>
                </a:ext>
              </a:extLst>
            </p:cNvPr>
            <p:cNvGrpSpPr/>
            <p:nvPr/>
          </p:nvGrpSpPr>
          <p:grpSpPr>
            <a:xfrm>
              <a:off x="1508863" y="3083391"/>
              <a:ext cx="730275" cy="133081"/>
              <a:chOff x="2016841" y="2556932"/>
              <a:chExt cx="730275" cy="133081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0398D9B1-1C29-06F1-4EEE-858D39988EF7}"/>
                  </a:ext>
                </a:extLst>
              </p:cNvPr>
              <p:cNvSpPr/>
              <p:nvPr/>
            </p:nvSpPr>
            <p:spPr>
              <a:xfrm>
                <a:off x="2016841" y="2556934"/>
                <a:ext cx="133079" cy="133079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46E36E1F-22FC-4BE6-0600-784BD9E5E3AF}"/>
                  </a:ext>
                </a:extLst>
              </p:cNvPr>
              <p:cNvSpPr/>
              <p:nvPr/>
            </p:nvSpPr>
            <p:spPr>
              <a:xfrm>
                <a:off x="2315439" y="2556933"/>
                <a:ext cx="133079" cy="133079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1AA756B1-06E8-D9CF-86F0-AA00DE214B1B}"/>
                  </a:ext>
                </a:extLst>
              </p:cNvPr>
              <p:cNvSpPr/>
              <p:nvPr/>
            </p:nvSpPr>
            <p:spPr>
              <a:xfrm>
                <a:off x="2614037" y="2556932"/>
                <a:ext cx="133079" cy="133079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0" name="文本框 29"/>
          <p:cNvSpPr txBox="1"/>
          <p:nvPr/>
        </p:nvSpPr>
        <p:spPr>
          <a:xfrm>
            <a:off x="3137440" y="1984894"/>
            <a:ext cx="5400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①：导包：告诉程序去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的哪个包中找扫描器技术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4775950" y="2808169"/>
            <a:ext cx="447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②：抄代码：代表得到键盘扫描器对象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东西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775950" y="3592413"/>
            <a:ext cx="4478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③：抄代码：等待接收用户输入数据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EB7562D-A361-294D-C6C1-1024FFCBB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Java</a:t>
            </a:r>
            <a:r>
              <a:rPr kumimoji="1" lang="zh-CN" altLang="en-US" dirty="0">
                <a:latin typeface="Consolas" panose="020B0609020204030204" pitchFamily="49" charset="0"/>
              </a:rPr>
              <a:t>程序中如何实现接收用户键盘输入的数据？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pPr marL="89535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提供的类 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Scanner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来完成，</a:t>
            </a: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步骤如下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5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、导包：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en-US" altLang="zh-CN" sz="14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java.util.Scanner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（目前照抄）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5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、创建对象：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Scanner </a:t>
            </a:r>
            <a:r>
              <a:rPr lang="en-US" altLang="zh-CN" sz="14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sc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new Scanner(System.in);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（目前照抄）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5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、调用方法接收数据：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504950" lvl="2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sc.nextInt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接收整数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504950" lvl="2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sc.next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接字符串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504950" lvl="2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sc.nextDouble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接收浮点数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9604</TotalTime>
  <Words>3345</Words>
  <Application>Microsoft Office PowerPoint</Application>
  <PresentationFormat>宽屏</PresentationFormat>
  <Paragraphs>484</Paragraphs>
  <Slides>62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62</vt:i4>
      </vt:variant>
    </vt:vector>
  </HeadingPairs>
  <TitlesOfParts>
    <vt:vector size="85" baseType="lpstr">
      <vt:lpstr>Alibaba PuHuiTi B</vt:lpstr>
      <vt:lpstr>Alibaba PuHuiTi M</vt:lpstr>
      <vt:lpstr>Alibaba PuHuiTi Medium</vt:lpstr>
      <vt:lpstr>Alibaba PuHuiTi R</vt:lpstr>
      <vt:lpstr>Arial Unicode MS</vt:lpstr>
      <vt:lpstr>阿里巴巴普惠体</vt:lpstr>
      <vt:lpstr>阿里巴巴普惠体 Heavy</vt:lpstr>
      <vt:lpstr>阿里巴巴普惠体 Medium</vt:lpstr>
      <vt:lpstr>等线</vt:lpstr>
      <vt:lpstr>楷体</vt:lpstr>
      <vt:lpstr>思源黑体 CN Normal</vt:lpstr>
      <vt:lpstr>微软雅黑</vt:lpstr>
      <vt:lpstr>杨任东竹石体-Heavy</vt:lpstr>
      <vt:lpstr>Arial</vt:lpstr>
      <vt:lpstr>Calisto MT</vt:lpstr>
      <vt:lpstr>Consolas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第四章：运算符</vt:lpstr>
      <vt:lpstr>PowerPoint 演示文稿</vt:lpstr>
      <vt:lpstr>PowerPoint 演示文稿</vt:lpstr>
      <vt:lpstr> 算数运算符</vt:lpstr>
      <vt:lpstr> 算数运算符</vt:lpstr>
      <vt:lpstr>数值拆分</vt:lpstr>
      <vt:lpstr>PowerPoint 演示文稿</vt:lpstr>
      <vt:lpstr>PowerPoint 演示文稿</vt:lpstr>
      <vt:lpstr>PowerPoint 演示文稿</vt:lpstr>
      <vt:lpstr>字符串拼接操作 </vt:lpstr>
      <vt:lpstr>字符串拼接操作 </vt:lpstr>
      <vt:lpstr>字符串拼接操作 </vt:lpstr>
      <vt:lpstr>数值拆分</vt:lpstr>
      <vt:lpstr>PowerPoint 演示文稿</vt:lpstr>
      <vt:lpstr>PowerPoint 演示文稿</vt:lpstr>
      <vt:lpstr>PowerPoint 演示文稿</vt:lpstr>
      <vt:lpstr>自增自减运算符</vt:lpstr>
      <vt:lpstr>PowerPoint 演示文稿</vt:lpstr>
      <vt:lpstr>PowerPoint 演示文稿</vt:lpstr>
      <vt:lpstr>PowerPoint 演示文稿</vt:lpstr>
      <vt:lpstr>类型转换 </vt:lpstr>
      <vt:lpstr>隐式转换介绍 </vt:lpstr>
      <vt:lpstr> 运算过程中的隐式转换</vt:lpstr>
      <vt:lpstr> 运算过程中的隐式转换</vt:lpstr>
      <vt:lpstr> 运算过程中的隐式转换</vt:lpstr>
      <vt:lpstr> 运算过程中的隐式转换</vt:lpstr>
      <vt:lpstr> 运算过程中的隐式转换</vt:lpstr>
      <vt:lpstr>强制类型转换</vt:lpstr>
      <vt:lpstr>PowerPoint 演示文稿</vt:lpstr>
      <vt:lpstr>PowerPoint 演示文稿</vt:lpstr>
      <vt:lpstr>PowerPoint 演示文稿</vt:lpstr>
      <vt:lpstr> 赋值运算符</vt:lpstr>
      <vt:lpstr> 赋值运算符</vt:lpstr>
      <vt:lpstr>PowerPoint 演示文稿</vt:lpstr>
      <vt:lpstr> 关系运算符</vt:lpstr>
      <vt:lpstr>PowerPoint 演示文稿</vt:lpstr>
      <vt:lpstr>PowerPoint 演示文稿</vt:lpstr>
      <vt:lpstr>PowerPoint 演示文稿</vt:lpstr>
      <vt:lpstr> 逻辑运算符</vt:lpstr>
      <vt:lpstr>逻辑运算符分类 </vt:lpstr>
      <vt:lpstr>逻辑运算符分类 </vt:lpstr>
      <vt:lpstr>短路逻辑运算符</vt:lpstr>
      <vt:lpstr>短路逻辑运算符</vt:lpstr>
      <vt:lpstr>PowerPoint 演示文稿</vt:lpstr>
      <vt:lpstr>PowerPoint 演示文稿</vt:lpstr>
      <vt:lpstr>PowerPoint 演示文稿</vt:lpstr>
      <vt:lpstr> 三元运算符</vt:lpstr>
      <vt:lpstr>PowerPoint 演示文稿</vt:lpstr>
      <vt:lpstr>PowerPoint 演示文稿</vt:lpstr>
      <vt:lpstr>运算符优先级</vt:lpstr>
      <vt:lpstr>运算符优先级</vt:lpstr>
      <vt:lpstr>运算符优先级</vt:lpstr>
      <vt:lpstr>运算符优先级</vt:lpstr>
      <vt:lpstr>运算符优先级</vt:lpstr>
      <vt:lpstr>运算符优先级</vt:lpstr>
      <vt:lpstr>运算符优先级</vt:lpstr>
      <vt:lpstr>PowerPoint 演示文稿</vt:lpstr>
      <vt:lpstr>PowerPoint 演示文稿</vt:lpstr>
      <vt:lpstr>Scanner 键盘录入</vt:lpstr>
      <vt:lpstr>Scanner 键盘录入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677</cp:revision>
  <cp:lastPrinted>2022-05-29T16:00:00Z</cp:lastPrinted>
  <dcterms:created xsi:type="dcterms:W3CDTF">2022-05-29T16:00:00Z</dcterms:created>
  <dcterms:modified xsi:type="dcterms:W3CDTF">2025-02-14T10:45:05Z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