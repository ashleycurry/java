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60" r:id="rId3"/>
    <p:sldMasterId id="2147483672" r:id="rId4"/>
    <p:sldMasterId id="2147483679" r:id="rId5"/>
  </p:sldMasterIdLst>
  <p:notesMasterIdLst>
    <p:notesMasterId r:id="rId76"/>
  </p:notesMasterIdLst>
  <p:handoutMasterIdLst>
    <p:handoutMasterId r:id="rId77"/>
  </p:handoutMasterIdLst>
  <p:sldIdLst>
    <p:sldId id="280" r:id="rId6"/>
    <p:sldId id="2768" r:id="rId7"/>
    <p:sldId id="2805" r:id="rId8"/>
    <p:sldId id="2769" r:id="rId9"/>
    <p:sldId id="1231" r:id="rId10"/>
    <p:sldId id="1219" r:id="rId11"/>
    <p:sldId id="1222" r:id="rId12"/>
    <p:sldId id="2800" r:id="rId13"/>
    <p:sldId id="1626" r:id="rId14"/>
    <p:sldId id="1624" r:id="rId15"/>
    <p:sldId id="1317" r:id="rId16"/>
    <p:sldId id="2806" r:id="rId17"/>
    <p:sldId id="1228" r:id="rId18"/>
    <p:sldId id="2807" r:id="rId19"/>
    <p:sldId id="1233" r:id="rId20"/>
    <p:sldId id="1234" r:id="rId21"/>
    <p:sldId id="1229" r:id="rId22"/>
    <p:sldId id="2817" r:id="rId23"/>
    <p:sldId id="1235" r:id="rId24"/>
    <p:sldId id="1236" r:id="rId25"/>
    <p:sldId id="2808" r:id="rId26"/>
    <p:sldId id="2818" r:id="rId27"/>
    <p:sldId id="2809" r:id="rId28"/>
    <p:sldId id="2810" r:id="rId29"/>
    <p:sldId id="1223" r:id="rId30"/>
    <p:sldId id="1264" r:id="rId31"/>
    <p:sldId id="2811" r:id="rId32"/>
    <p:sldId id="2819" r:id="rId33"/>
    <p:sldId id="1243" r:id="rId34"/>
    <p:sldId id="2812" r:id="rId35"/>
    <p:sldId id="1239" r:id="rId36"/>
    <p:sldId id="1240" r:id="rId37"/>
    <p:sldId id="2820" r:id="rId38"/>
    <p:sldId id="1242" r:id="rId39"/>
    <p:sldId id="1244" r:id="rId40"/>
    <p:sldId id="1245" r:id="rId41"/>
    <p:sldId id="1246" r:id="rId42"/>
    <p:sldId id="1247" r:id="rId43"/>
    <p:sldId id="1248" r:id="rId44"/>
    <p:sldId id="1249" r:id="rId45"/>
    <p:sldId id="1250" r:id="rId46"/>
    <p:sldId id="1251" r:id="rId47"/>
    <p:sldId id="1252" r:id="rId48"/>
    <p:sldId id="2813" r:id="rId49"/>
    <p:sldId id="2814" r:id="rId50"/>
    <p:sldId id="2815" r:id="rId51"/>
    <p:sldId id="1256" r:id="rId52"/>
    <p:sldId id="1627" r:id="rId53"/>
    <p:sldId id="1259" r:id="rId54"/>
    <p:sldId id="1319" r:id="rId55"/>
    <p:sldId id="1261" r:id="rId56"/>
    <p:sldId id="1320" r:id="rId57"/>
    <p:sldId id="2821" r:id="rId58"/>
    <p:sldId id="2824" r:id="rId59"/>
    <p:sldId id="1890" r:id="rId60"/>
    <p:sldId id="1891" r:id="rId61"/>
    <p:sldId id="2825" r:id="rId62"/>
    <p:sldId id="2822" r:id="rId63"/>
    <p:sldId id="1280" r:id="rId64"/>
    <p:sldId id="1281" r:id="rId65"/>
    <p:sldId id="2823" r:id="rId66"/>
    <p:sldId id="2826" r:id="rId67"/>
    <p:sldId id="1267" r:id="rId68"/>
    <p:sldId id="1274" r:id="rId69"/>
    <p:sldId id="1645" r:id="rId70"/>
    <p:sldId id="1277" r:id="rId71"/>
    <p:sldId id="1278" r:id="rId72"/>
    <p:sldId id="2828" r:id="rId73"/>
    <p:sldId id="2830" r:id="rId74"/>
    <p:sldId id="288" r:id="rId75"/>
  </p:sldIdLst>
  <p:sldSz cx="12192000" cy="6858000"/>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0C935-3A8C-4FC9-B6CD-4BB339AB9D93}">
          <p14:sldIdLst>
            <p14:sldId id="280"/>
            <p14:sldId id="2768"/>
            <p14:sldId id="2805"/>
            <p14:sldId id="2769"/>
            <p14:sldId id="1231"/>
            <p14:sldId id="1219"/>
            <p14:sldId id="1222"/>
            <p14:sldId id="2800"/>
            <p14:sldId id="1626"/>
            <p14:sldId id="1624"/>
            <p14:sldId id="1317"/>
            <p14:sldId id="2806"/>
            <p14:sldId id="1228"/>
            <p14:sldId id="2807"/>
            <p14:sldId id="1233"/>
            <p14:sldId id="1234"/>
            <p14:sldId id="1229"/>
            <p14:sldId id="2817"/>
            <p14:sldId id="1235"/>
            <p14:sldId id="1236"/>
            <p14:sldId id="2808"/>
            <p14:sldId id="2818"/>
            <p14:sldId id="2809"/>
            <p14:sldId id="2810"/>
            <p14:sldId id="1223"/>
            <p14:sldId id="1264"/>
            <p14:sldId id="2811"/>
            <p14:sldId id="2819"/>
            <p14:sldId id="1243"/>
            <p14:sldId id="2812"/>
            <p14:sldId id="1239"/>
            <p14:sldId id="1240"/>
            <p14:sldId id="2820"/>
            <p14:sldId id="1242"/>
            <p14:sldId id="1244"/>
            <p14:sldId id="1245"/>
            <p14:sldId id="1246"/>
            <p14:sldId id="1247"/>
            <p14:sldId id="1248"/>
            <p14:sldId id="1249"/>
            <p14:sldId id="1250"/>
            <p14:sldId id="1251"/>
            <p14:sldId id="1252"/>
            <p14:sldId id="2813"/>
            <p14:sldId id="2814"/>
            <p14:sldId id="2815"/>
            <p14:sldId id="1256"/>
            <p14:sldId id="1627"/>
            <p14:sldId id="1259"/>
            <p14:sldId id="1319"/>
            <p14:sldId id="1261"/>
            <p14:sldId id="1320"/>
            <p14:sldId id="2821"/>
            <p14:sldId id="2824"/>
            <p14:sldId id="1890"/>
            <p14:sldId id="1891"/>
            <p14:sldId id="2825"/>
            <p14:sldId id="2822"/>
            <p14:sldId id="1280"/>
            <p14:sldId id="1281"/>
            <p14:sldId id="2823"/>
            <p14:sldId id="2826"/>
            <p14:sldId id="1267"/>
            <p14:sldId id="1274"/>
            <p14:sldId id="1645"/>
            <p14:sldId id="1277"/>
            <p14:sldId id="1278"/>
            <p14:sldId id="2828"/>
            <p14:sldId id="2830"/>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DBD8D2"/>
    <a:srgbClr val="EC2025"/>
    <a:srgbClr val="F22126"/>
    <a:srgbClr val="E5E5E5"/>
    <a:srgbClr val="0067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118" autoAdjust="0"/>
    <p:restoredTop sz="94349" autoAdjust="0"/>
  </p:normalViewPr>
  <p:slideViewPr>
    <p:cSldViewPr snapToGrid="0" showGuides="1">
      <p:cViewPr varScale="1">
        <p:scale>
          <a:sx n="80" d="100"/>
          <a:sy n="80" d="100"/>
        </p:scale>
        <p:origin x="403"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ags" Target="tags/tag1.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2025/4/11</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2025/4/11</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a:t>
            </a:fld>
            <a:endParaRPr lang="zh-CN" altLang="en-US"/>
          </a:p>
        </p:txBody>
      </p:sp>
    </p:spTree>
    <p:extLst>
      <p:ext uri="{BB962C8B-B14F-4D97-AF65-F5344CB8AC3E}">
        <p14:creationId xmlns:p14="http://schemas.microsoft.com/office/powerpoint/2010/main" val="40048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14A6-3C2E-46C9-90F4-D41FFA7A81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795829-3F8A-F260-B557-7A8D89320D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AFF8C0-DB9A-5616-AFF6-9EC6B05428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71C233-701B-E36D-B12C-A352FA8D7149}"/>
              </a:ext>
            </a:extLst>
          </p:cNvPr>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3555506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3373930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A04BF-3FB7-C2FD-6CCF-01783D185E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8A6398-3E21-29A1-347D-7D5F7E54CA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7FFE53-31C4-E8D8-CF6D-EE6E1F64BD0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90A5D2D-3A05-6CA8-DB32-F8F74237CF55}"/>
              </a:ext>
            </a:extLst>
          </p:cNvPr>
          <p:cNvSpPr>
            <a:spLocks noGrp="1"/>
          </p:cNvSpPr>
          <p:nvPr>
            <p:ph type="sldNum" sz="quarter" idx="5"/>
          </p:nvPr>
        </p:nvSpPr>
        <p:spPr/>
        <p:txBody>
          <a:bodyPr/>
          <a:lstStyle/>
          <a:p>
            <a:fld id="{A3ED8765-8EF3-408C-9341-152904E414ED}" type="slidenum">
              <a:rPr lang="zh-CN" altLang="en-US" smtClean="0"/>
              <a:t>18</a:t>
            </a:fld>
            <a:endParaRPr lang="zh-CN" altLang="en-US"/>
          </a:p>
        </p:txBody>
      </p:sp>
    </p:spTree>
    <p:extLst>
      <p:ext uri="{BB962C8B-B14F-4D97-AF65-F5344CB8AC3E}">
        <p14:creationId xmlns:p14="http://schemas.microsoft.com/office/powerpoint/2010/main" val="3189697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EBE93-4D82-2897-5E1A-EB11FC8014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353F1B-7AFD-62D8-FF1C-CDDF11675C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A9E0F2-7709-B55A-154C-0579B8B38A5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67ADAD5-C25C-0ED9-25F7-1F169C362938}"/>
              </a:ext>
            </a:extLst>
          </p:cNvPr>
          <p:cNvSpPr>
            <a:spLocks noGrp="1"/>
          </p:cNvSpPr>
          <p:nvPr>
            <p:ph type="sldNum" sz="quarter" idx="5"/>
          </p:nvPr>
        </p:nvSpPr>
        <p:spPr/>
        <p:txBody>
          <a:bodyPr/>
          <a:lstStyle/>
          <a:p>
            <a:fld id="{A3ED8765-8EF3-408C-9341-152904E414ED}" type="slidenum">
              <a:rPr lang="zh-CN" altLang="en-US" smtClean="0"/>
              <a:t>22</a:t>
            </a:fld>
            <a:endParaRPr lang="zh-CN" altLang="en-US"/>
          </a:p>
        </p:txBody>
      </p:sp>
    </p:spTree>
    <p:extLst>
      <p:ext uri="{BB962C8B-B14F-4D97-AF65-F5344CB8AC3E}">
        <p14:creationId xmlns:p14="http://schemas.microsoft.com/office/powerpoint/2010/main" val="1155446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3501-2CF6-62E4-4796-86FD946CE5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8BAB73-39CA-6FD4-8B2E-F1BA1774E1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386FD2-E957-E2E9-A36F-B83351AECA1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025EA30-EF75-39B4-8E2A-D5E22536AB0A}"/>
              </a:ext>
            </a:extLst>
          </p:cNvPr>
          <p:cNvSpPr>
            <a:spLocks noGrp="1"/>
          </p:cNvSpPr>
          <p:nvPr>
            <p:ph type="sldNum" sz="quarter" idx="5"/>
          </p:nvPr>
        </p:nvSpPr>
        <p:spPr/>
        <p:txBody>
          <a:bodyPr/>
          <a:lstStyle/>
          <a:p>
            <a:fld id="{A3ED8765-8EF3-408C-9341-152904E414ED}" type="slidenum">
              <a:rPr lang="zh-CN" altLang="en-US" smtClean="0"/>
              <a:t>28</a:t>
            </a:fld>
            <a:endParaRPr lang="zh-CN" altLang="en-US"/>
          </a:p>
        </p:txBody>
      </p:sp>
    </p:spTree>
    <p:extLst>
      <p:ext uri="{BB962C8B-B14F-4D97-AF65-F5344CB8AC3E}">
        <p14:creationId xmlns:p14="http://schemas.microsoft.com/office/powerpoint/2010/main" val="2183119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E5A8-9B1C-C8DB-DA8C-2A29CE9875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70178D-D0D8-E55D-C809-A83E305707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F778D5-14A2-0B5B-E8D5-62B6DEC8D69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9F0A62C-31FA-424B-21B1-3BF913BF5AE8}"/>
              </a:ext>
            </a:extLst>
          </p:cNvPr>
          <p:cNvSpPr>
            <a:spLocks noGrp="1"/>
          </p:cNvSpPr>
          <p:nvPr>
            <p:ph type="sldNum" sz="quarter" idx="5"/>
          </p:nvPr>
        </p:nvSpPr>
        <p:spPr/>
        <p:txBody>
          <a:bodyPr/>
          <a:lstStyle/>
          <a:p>
            <a:fld id="{A3ED8765-8EF3-408C-9341-152904E414ED}" type="slidenum">
              <a:rPr lang="zh-CN" altLang="en-US" smtClean="0"/>
              <a:t>33</a:t>
            </a:fld>
            <a:endParaRPr lang="zh-CN" altLang="en-US"/>
          </a:p>
        </p:txBody>
      </p:sp>
    </p:spTree>
    <p:extLst>
      <p:ext uri="{BB962C8B-B14F-4D97-AF65-F5344CB8AC3E}">
        <p14:creationId xmlns:p14="http://schemas.microsoft.com/office/powerpoint/2010/main" val="60717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B924-58C8-CF46-60DB-9CAE4BCFD7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092419-5491-A9E5-380C-3FA042C7D0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C7157C-1094-4F3E-1E25-E51A5CBCA8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10CC01A-AB8F-2352-CEE2-1AD22947D3B0}"/>
              </a:ext>
            </a:extLst>
          </p:cNvPr>
          <p:cNvSpPr>
            <a:spLocks noGrp="1"/>
          </p:cNvSpPr>
          <p:nvPr>
            <p:ph type="sldNum" sz="quarter" idx="5"/>
          </p:nvPr>
        </p:nvSpPr>
        <p:spPr/>
        <p:txBody>
          <a:bodyPr/>
          <a:lstStyle/>
          <a:p>
            <a:fld id="{A3ED8765-8EF3-408C-9341-152904E414ED}" type="slidenum">
              <a:rPr lang="zh-CN" altLang="en-US" smtClean="0"/>
              <a:t>53</a:t>
            </a:fld>
            <a:endParaRPr lang="zh-CN" altLang="en-US"/>
          </a:p>
        </p:txBody>
      </p:sp>
    </p:spTree>
    <p:extLst>
      <p:ext uri="{BB962C8B-B14F-4D97-AF65-F5344CB8AC3E}">
        <p14:creationId xmlns:p14="http://schemas.microsoft.com/office/powerpoint/2010/main" val="3264207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关于</a:t>
            </a:r>
            <a:r>
              <a:rPr lang="en-US" altLang="zh-CN"/>
              <a:t>Object</a:t>
            </a:r>
            <a:r>
              <a:rPr lang="zh-CN" altLang="en-US"/>
              <a:t>类的学习，我们先到帮助文档中查看，然后到代码中演示，最后回到资料进行总结</a:t>
            </a:r>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55</a:t>
            </a:fld>
            <a:endParaRPr lang="zh-CN" altLang="en-US"/>
          </a:p>
        </p:txBody>
      </p:sp>
    </p:spTree>
    <p:extLst>
      <p:ext uri="{BB962C8B-B14F-4D97-AF65-F5344CB8AC3E}">
        <p14:creationId xmlns:p14="http://schemas.microsoft.com/office/powerpoint/2010/main" val="3646245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56</a:t>
            </a:fld>
            <a:endParaRPr lang="zh-CN" altLang="en-US"/>
          </a:p>
        </p:txBody>
      </p:sp>
    </p:spTree>
    <p:extLst>
      <p:ext uri="{BB962C8B-B14F-4D97-AF65-F5344CB8AC3E}">
        <p14:creationId xmlns:p14="http://schemas.microsoft.com/office/powerpoint/2010/main" val="1950146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A49A-7B9C-0A9C-CB6F-BC884DB719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48E1E4-5379-426D-D450-6D0C03B1C7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5CFC7A-6AE7-C398-4E54-3966439B209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ED1210B-C182-A7BD-C42E-CEF142536039}"/>
              </a:ext>
            </a:extLst>
          </p:cNvPr>
          <p:cNvSpPr>
            <a:spLocks noGrp="1"/>
          </p:cNvSpPr>
          <p:nvPr>
            <p:ph type="sldNum" sz="quarter" idx="5"/>
          </p:nvPr>
        </p:nvSpPr>
        <p:spPr/>
        <p:txBody>
          <a:bodyPr/>
          <a:lstStyle/>
          <a:p>
            <a:fld id="{A3ED8765-8EF3-408C-9341-152904E414ED}" type="slidenum">
              <a:rPr lang="zh-CN" altLang="en-US" smtClean="0"/>
              <a:t>57</a:t>
            </a:fld>
            <a:endParaRPr lang="zh-CN" altLang="en-US"/>
          </a:p>
        </p:txBody>
      </p:sp>
    </p:spTree>
    <p:extLst>
      <p:ext uri="{BB962C8B-B14F-4D97-AF65-F5344CB8AC3E}">
        <p14:creationId xmlns:p14="http://schemas.microsoft.com/office/powerpoint/2010/main" val="2779008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58</a:t>
            </a:fld>
            <a:endParaRPr lang="zh-CN" altLang="en-US"/>
          </a:p>
        </p:txBody>
      </p:sp>
    </p:spTree>
    <p:extLst>
      <p:ext uri="{BB962C8B-B14F-4D97-AF65-F5344CB8AC3E}">
        <p14:creationId xmlns:p14="http://schemas.microsoft.com/office/powerpoint/2010/main" val="3152893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528DA-7B74-62F3-D6B8-D04D0545D2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68EC14-988E-F0F6-659A-1A93B51881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729D23-4514-F977-8D55-05EA6C0AF7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C1DFB1E-4063-35C8-033C-C07A9573C2DA}"/>
              </a:ext>
            </a:extLst>
          </p:cNvPr>
          <p:cNvSpPr>
            <a:spLocks noGrp="1"/>
          </p:cNvSpPr>
          <p:nvPr>
            <p:ph type="sldNum" sz="quarter" idx="5"/>
          </p:nvPr>
        </p:nvSpPr>
        <p:spPr/>
        <p:txBody>
          <a:bodyPr/>
          <a:lstStyle/>
          <a:p>
            <a:fld id="{A3ED8765-8EF3-408C-9341-152904E414ED}" type="slidenum">
              <a:rPr lang="zh-CN" altLang="en-US" smtClean="0"/>
              <a:t>61</a:t>
            </a:fld>
            <a:endParaRPr lang="zh-CN" altLang="en-US"/>
          </a:p>
        </p:txBody>
      </p:sp>
    </p:spTree>
    <p:extLst>
      <p:ext uri="{BB962C8B-B14F-4D97-AF65-F5344CB8AC3E}">
        <p14:creationId xmlns:p14="http://schemas.microsoft.com/office/powerpoint/2010/main" val="3343732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63</a:t>
            </a:fld>
            <a:endParaRPr lang="zh-CN" altLang="en-US"/>
          </a:p>
        </p:txBody>
      </p:sp>
    </p:spTree>
    <p:extLst>
      <p:ext uri="{BB962C8B-B14F-4D97-AF65-F5344CB8AC3E}">
        <p14:creationId xmlns:p14="http://schemas.microsoft.com/office/powerpoint/2010/main" val="2064275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64</a:t>
            </a:fld>
            <a:endParaRPr lang="zh-CN" altLang="en-US"/>
          </a:p>
        </p:txBody>
      </p:sp>
    </p:spTree>
    <p:extLst>
      <p:ext uri="{BB962C8B-B14F-4D97-AF65-F5344CB8AC3E}">
        <p14:creationId xmlns:p14="http://schemas.microsoft.com/office/powerpoint/2010/main" val="202181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65</a:t>
            </a:fld>
            <a:endParaRPr lang="zh-CN" altLang="en-US"/>
          </a:p>
        </p:txBody>
      </p:sp>
    </p:spTree>
    <p:extLst>
      <p:ext uri="{BB962C8B-B14F-4D97-AF65-F5344CB8AC3E}">
        <p14:creationId xmlns:p14="http://schemas.microsoft.com/office/powerpoint/2010/main" val="3625214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66</a:t>
            </a:fld>
            <a:endParaRPr lang="zh-CN" altLang="en-US"/>
          </a:p>
        </p:txBody>
      </p:sp>
    </p:spTree>
    <p:extLst>
      <p:ext uri="{BB962C8B-B14F-4D97-AF65-F5344CB8AC3E}">
        <p14:creationId xmlns:p14="http://schemas.microsoft.com/office/powerpoint/2010/main" val="182228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67</a:t>
            </a:fld>
            <a:endParaRPr lang="zh-CN" altLang="en-US"/>
          </a:p>
        </p:txBody>
      </p:sp>
    </p:spTree>
    <p:extLst>
      <p:ext uri="{BB962C8B-B14F-4D97-AF65-F5344CB8AC3E}">
        <p14:creationId xmlns:p14="http://schemas.microsoft.com/office/powerpoint/2010/main" val="742375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324A7-885A-7168-0CBC-CDACBD4DDB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5BBC1A-EAAC-C701-8BD1-8CD4A37EEA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E8B91E-5DCE-0678-CC0C-3166CC06CA1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D88EED6-838A-9B42-DC10-70E0ECCDCBC0}"/>
              </a:ext>
            </a:extLst>
          </p:cNvPr>
          <p:cNvSpPr>
            <a:spLocks noGrp="1"/>
          </p:cNvSpPr>
          <p:nvPr>
            <p:ph type="sldNum" sz="quarter" idx="5"/>
          </p:nvPr>
        </p:nvSpPr>
        <p:spPr/>
        <p:txBody>
          <a:bodyPr/>
          <a:lstStyle/>
          <a:p>
            <a:fld id="{3CC63F50-FC71-46DD-9BDC-11F985EF414C}" type="slidenum">
              <a:rPr lang="zh-CN" altLang="en-US" smtClean="0"/>
              <a:t>68</a:t>
            </a:fld>
            <a:endParaRPr lang="zh-CN" altLang="en-US"/>
          </a:p>
        </p:txBody>
      </p:sp>
    </p:spTree>
    <p:extLst>
      <p:ext uri="{BB962C8B-B14F-4D97-AF65-F5344CB8AC3E}">
        <p14:creationId xmlns:p14="http://schemas.microsoft.com/office/powerpoint/2010/main" val="1579348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E9F37-F0D9-C8F3-6AED-E14702AAC8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DFB9BD-285C-C26B-74D5-1AAC0510B0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D37559-E7E8-E4C8-B3AE-07DEA061BC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C94DD6-EAC3-3B1A-157F-8906B3A79948}"/>
              </a:ext>
            </a:extLst>
          </p:cNvPr>
          <p:cNvSpPr>
            <a:spLocks noGrp="1"/>
          </p:cNvSpPr>
          <p:nvPr>
            <p:ph type="sldNum" sz="quarter" idx="5"/>
          </p:nvPr>
        </p:nvSpPr>
        <p:spPr/>
        <p:txBody>
          <a:bodyPr/>
          <a:lstStyle/>
          <a:p>
            <a:fld id="{3CC63F50-FC71-46DD-9BDC-11F985EF414C}" type="slidenum">
              <a:rPr lang="zh-CN" altLang="en-US" smtClean="0"/>
              <a:t>69</a:t>
            </a:fld>
            <a:endParaRPr lang="zh-CN" altLang="en-US"/>
          </a:p>
        </p:txBody>
      </p:sp>
    </p:spTree>
    <p:extLst>
      <p:ext uri="{BB962C8B-B14F-4D97-AF65-F5344CB8AC3E}">
        <p14:creationId xmlns:p14="http://schemas.microsoft.com/office/powerpoint/2010/main" val="1603772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2BBC2-772E-7EE4-D242-D42D4DA45AF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68446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5" y="1359878"/>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534625" y="2905780"/>
            <a:ext cx="2167598"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017939" y="3075057"/>
            <a:ext cx="1200970"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59796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323136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718886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397681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61095828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练习">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4782"/>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1FD7787D-704C-E74D-B53E-A392EAB4805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extLst>
      <p:ext uri="{BB962C8B-B14F-4D97-AF65-F5344CB8AC3E}">
        <p14:creationId xmlns:p14="http://schemas.microsoft.com/office/powerpoint/2010/main" val="3563029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1119124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329653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703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22555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3149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1115986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4"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6"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28" y="1304282"/>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220686"/>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54"/>
            <a:r>
              <a:rPr lang="zh-CN" altLang="en-US"/>
              <a:t>点击输入一级标题</a:t>
            </a:r>
            <a:endParaRPr lang="zh-CN" altLang="en-US" dirty="0"/>
          </a:p>
        </p:txBody>
      </p:sp>
      <p:sp>
        <p:nvSpPr>
          <p:cNvPr id="11" name="圆心2">
            <a:extLst>
              <a:ext uri="{FF2B5EF4-FFF2-40B4-BE49-F238E27FC236}">
                <a16:creationId xmlns:a16="http://schemas.microsoft.com/office/drawing/2014/main" id="{6F73DB22-8BD9-67FD-6EBE-B56D6BF83FC2}"/>
              </a:ext>
            </a:extLst>
          </p:cNvPr>
          <p:cNvSpPr/>
          <p:nvPr/>
        </p:nvSpPr>
        <p:spPr>
          <a:xfrm>
            <a:off x="7262969" y="2396723"/>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心">
            <a:extLst>
              <a:ext uri="{FF2B5EF4-FFF2-40B4-BE49-F238E27FC236}">
                <a16:creationId xmlns:a16="http://schemas.microsoft.com/office/drawing/2014/main" id="{82339D60-0D0F-E0A8-9FEF-57B1B018D0C7}"/>
              </a:ext>
            </a:extLst>
          </p:cNvPr>
          <p:cNvSpPr/>
          <p:nvPr userDrawn="1"/>
        </p:nvSpPr>
        <p:spPr>
          <a:xfrm>
            <a:off x="7414470" y="2547358"/>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占位符 7">
            <a:extLst>
              <a:ext uri="{FF2B5EF4-FFF2-40B4-BE49-F238E27FC236}">
                <a16:creationId xmlns:a16="http://schemas.microsoft.com/office/drawing/2014/main" id="{FC241F82-E1B0-0249-A9D6-2656A3C64CB7}"/>
              </a:ext>
            </a:extLst>
          </p:cNvPr>
          <p:cNvSpPr>
            <a:spLocks noGrp="1"/>
          </p:cNvSpPr>
          <p:nvPr userDrawn="1">
            <p:ph type="body" sz="quarter" idx="10" hasCustomPrompt="1"/>
          </p:nvPr>
        </p:nvSpPr>
        <p:spPr>
          <a:xfrm>
            <a:off x="660400" y="3586894"/>
            <a:ext cx="4486275" cy="563562"/>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3" y="1962438"/>
            <a:ext cx="350434" cy="35043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1"/>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8" y="5942536"/>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长直线">
            <a:extLst>
              <a:ext uri="{FF2B5EF4-FFF2-40B4-BE49-F238E27FC236}">
                <a16:creationId xmlns:a16="http://schemas.microsoft.com/office/drawing/2014/main" id="{29F34751-B9FF-378D-D7A3-B7B27A91478D}"/>
              </a:ext>
            </a:extLst>
          </p:cNvPr>
          <p:cNvCxnSpPr>
            <a:cxnSpLocks/>
          </p:cNvCxnSpPr>
          <p:nvPr userDrawn="1"/>
        </p:nvCxnSpPr>
        <p:spPr>
          <a:xfrm>
            <a:off x="7858832" y="2124884"/>
            <a:ext cx="129159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短直线">
            <a:extLst>
              <a:ext uri="{FF2B5EF4-FFF2-40B4-BE49-F238E27FC236}">
                <a16:creationId xmlns:a16="http://schemas.microsoft.com/office/drawing/2014/main" id="{E9D012F5-DFB7-A078-3B1C-F9FE02E47E91}"/>
              </a:ext>
            </a:extLst>
          </p:cNvPr>
          <p:cNvCxnSpPr/>
          <p:nvPr userDrawn="1"/>
        </p:nvCxnSpPr>
        <p:spPr>
          <a:xfrm flipV="1">
            <a:off x="7550306" y="2124884"/>
            <a:ext cx="308526" cy="26631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图形 8">
            <a:extLst>
              <a:ext uri="{FF2B5EF4-FFF2-40B4-BE49-F238E27FC236}">
                <a16:creationId xmlns:a16="http://schemas.microsoft.com/office/drawing/2014/main" id="{EA3F6F4D-08CF-9E00-D954-69D3520E644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081" t="21237" r="10346" b="18121"/>
          <a:stretch/>
        </p:blipFill>
        <p:spPr>
          <a:xfrm>
            <a:off x="9956716" y="152244"/>
            <a:ext cx="1848051" cy="605113"/>
          </a:xfrm>
          <a:prstGeom prst="rect">
            <a:avLst/>
          </a:prstGeom>
        </p:spPr>
      </p:pic>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64276" flipH="1" flipV="1">
            <a:off x="3592764" y="481454"/>
            <a:ext cx="9317253" cy="6210881"/>
          </a:xfrm>
          <a:prstGeom prst="rect">
            <a:avLst/>
          </a:prstGeom>
        </p:spPr>
      </p:pic>
      <p:sp>
        <p:nvSpPr>
          <p:cNvPr id="14" name="文本框">
            <a:extLst>
              <a:ext uri="{FF2B5EF4-FFF2-40B4-BE49-F238E27FC236}">
                <a16:creationId xmlns:a16="http://schemas.microsoft.com/office/drawing/2014/main" id="{C37184BC-D315-706A-20DF-529BAFF1993E}"/>
              </a:ext>
            </a:extLst>
          </p:cNvPr>
          <p:cNvSpPr txBox="1"/>
          <p:nvPr userDrawn="1"/>
        </p:nvSpPr>
        <p:spPr>
          <a:xfrm>
            <a:off x="8399534" y="1847885"/>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dirty="0">
              <a:solidFill>
                <a:schemeClr val="accent1"/>
              </a:solidFill>
            </a:endParaRPr>
          </a:p>
        </p:txBody>
      </p:sp>
    </p:spTree>
    <p:extLst>
      <p:ext uri="{BB962C8B-B14F-4D97-AF65-F5344CB8AC3E}">
        <p14:creationId xmlns:p14="http://schemas.microsoft.com/office/powerpoint/2010/main" val="321854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p:stCondLst>
                                    <p:cond delay="3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45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22" presetClass="entr" presetSubtype="8" fill="hold" nodeType="withEffect">
                                  <p:stCondLst>
                                    <p:cond delay="25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par>
                                <p:cTn id="33" presetID="22" presetClass="entr" presetSubtype="8" fill="hold" nodeType="withEffect">
                                  <p:stCondLst>
                                    <p:cond delay="75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decel="100000" fill="hold" grpId="0" nodeType="withEffect">
                                  <p:stCondLst>
                                    <p:cond delay="10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stCondLst>
                                            <p:cond delay="0"/>
                                          </p:stCondLst>
                                        </p:cTn>
                                        <p:tgtEl>
                                          <p:spTgt spid="14"/>
                                        </p:tgtEl>
                                      </p:cBhvr>
                                    </p:animEffect>
                                    <p:anim to="0" calcmode="lin" valueType="num">
                                      <p:cBhvr>
                                        <p:cTn id="39" dur="500" fill="hold">
                                          <p:stCondLst>
                                            <p:cond delay="0"/>
                                          </p:stCondLst>
                                        </p:cTn>
                                        <p:tgtEl>
                                          <p:spTgt spid="1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1" grpId="0" animBg="1"/>
      <p:bldP spid="12" grpId="0" animBg="1"/>
      <p:bldP spid="14"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28"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0" y="516758"/>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2" y="2118690"/>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4"/>
            <a:ext cx="12192000" cy="1478071"/>
          </a:xfrm>
          <a:prstGeom prst="rect">
            <a:avLst/>
          </a:prstGeom>
          <a:gradFill flip="none" rotWithShape="1">
            <a:gsLst>
              <a:gs pos="0">
                <a:schemeClr val="accent1"/>
              </a:gs>
              <a:gs pos="90000">
                <a:schemeClr val="accent1"/>
              </a:gs>
            </a:gsLst>
            <a:lin ang="0" scaled="1"/>
            <a:tileRect/>
          </a:gradFill>
          <a:ln>
            <a:noFill/>
          </a:ln>
          <a:effectLst>
            <a:outerShdw blurRad="139700" dist="76200" dir="456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5" y="2916806"/>
            <a:ext cx="4953838" cy="853924"/>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8"/>
              <a:ext cx="1989762" cy="646331"/>
            </a:xfrm>
            <a:prstGeom prst="rect">
              <a:avLst/>
            </a:prstGeom>
            <a:noFill/>
          </p:spPr>
          <p:txBody>
            <a:bodyPr wrap="square" rtlCol="0">
              <a:spAutoFit/>
            </a:bodyPr>
            <a:lstStyle/>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8" name="椭圆 7">
            <a:extLst>
              <a:ext uri="{FF2B5EF4-FFF2-40B4-BE49-F238E27FC236}">
                <a16:creationId xmlns:a16="http://schemas.microsoft.com/office/drawing/2014/main" id="{34FB0A6B-66AE-D2A8-FCAE-415D3251A19B}"/>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38539A05-556B-81A4-0795-3B191CB53943}"/>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0CECE50-264B-8294-A89A-D0F8A1907A78}"/>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6" name="图片 5">
            <a:extLst>
              <a:ext uri="{FF2B5EF4-FFF2-40B4-BE49-F238E27FC236}">
                <a16:creationId xmlns:a16="http://schemas.microsoft.com/office/drawing/2014/main" id="{8F041D8F-DCC0-35B8-2AA2-F0A7BAB253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19" name="椭圆 18">
            <a:extLst>
              <a:ext uri="{FF2B5EF4-FFF2-40B4-BE49-F238E27FC236}">
                <a16:creationId xmlns:a16="http://schemas.microsoft.com/office/drawing/2014/main" id="{C3296A99-F5C4-3E6A-FF6E-4852C12DEE94}"/>
              </a:ext>
            </a:extLst>
          </p:cNvPr>
          <p:cNvSpPr/>
          <p:nvPr userDrawn="1"/>
        </p:nvSpPr>
        <p:spPr>
          <a:xfrm>
            <a:off x="4631217" y="3066159"/>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心">
            <a:extLst>
              <a:ext uri="{FF2B5EF4-FFF2-40B4-BE49-F238E27FC236}">
                <a16:creationId xmlns:a16="http://schemas.microsoft.com/office/drawing/2014/main" id="{2B661CB4-3CBD-5C2B-5102-A013FB7A719E}"/>
              </a:ext>
            </a:extLst>
          </p:cNvPr>
          <p:cNvSpPr/>
          <p:nvPr/>
        </p:nvSpPr>
        <p:spPr>
          <a:xfrm>
            <a:off x="4184938" y="2356361"/>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5834081" y="2465278"/>
            <a:ext cx="3397250"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302239" y="2675622"/>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6"/>
                                        </p:tgtEl>
                                      </p:cBhvr>
                                    </p:animEffect>
                                    <p:set>
                                      <p:cBhvr>
                                        <p:cTn id="7" dur="1" fill="hold">
                                          <p:stCondLst>
                                            <p:cond delay="749"/>
                                          </p:stCondLst>
                                        </p:cTn>
                                        <p:tgtEl>
                                          <p:spTgt spid="6"/>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750"/>
                                        <p:tgtEl>
                                          <p:spTgt spid="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6"/>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6"/>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6"/>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par>
                                <p:cTn id="38" presetID="53" presetClass="entr" presetSubtype="16" fill="hold" grpId="0" nodeType="withEffect">
                                  <p:stCondLst>
                                    <p:cond delay="75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fltVal val="0"/>
                                          </p:val>
                                        </p:tav>
                                        <p:tav tm="100000">
                                          <p:val>
                                            <p:strVal val="#ppt_h"/>
                                          </p:val>
                                        </p:tav>
                                      </p:tavLst>
                                    </p:anim>
                                    <p:animEffect transition="in" filter="fade">
                                      <p:cBhvr>
                                        <p:cTn id="42" dur="500"/>
                                        <p:tgtEl>
                                          <p:spTgt spid="3"/>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42" presetClass="path" presetSubtype="0" accel="50000" decel="50000" fill="hold" grpId="1" nodeType="withEffect">
                                  <p:stCondLst>
                                    <p:cond delay="750"/>
                                  </p:stCondLst>
                                  <p:childTnLst>
                                    <p:animMotion origin="layout" path="M -4.58333E-6 -1.85185E-6 L 0.0168 0.02986 " pathEditMode="relative" rAng="0" ptsTypes="AA">
                                      <p:cBhvr>
                                        <p:cTn id="52" dur="500" fill="hold"/>
                                        <p:tgtEl>
                                          <p:spTgt spid="19"/>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stCondLst>
                                            <p:cond delay="0"/>
                                          </p:stCondLst>
                                        </p:cTn>
                                        <p:tgtEl>
                                          <p:spTgt spid="4"/>
                                        </p:tgtEl>
                                      </p:cBhvr>
                                    </p:animEffect>
                                    <p:anim to="0" calcmode="lin" valueType="num">
                                      <p:cBhvr>
                                        <p:cTn id="56" dur="500" fill="hold">
                                          <p:stCondLst>
                                            <p:cond delay="0"/>
                                          </p:stCondLst>
                                        </p:cTn>
                                        <p:tgtEl>
                                          <p:spTgt spid="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5" grpId="0" animBg="1"/>
      <p:bldP spid="19" grpId="0" animBg="1"/>
      <p:bldP spid="19" grpId="1" animBg="1"/>
      <p:bldP spid="17" grpId="0" animBg="1"/>
      <p:bldP spid="4" grpId="0">
        <p:tmplLst>
          <p:tmpl>
            <p:tnLst>
              <p:par>
                <p:cTn presetID="10" presetClass="entr" presetSubtype="0" decel="100000" fill="hold" nodeType="withEffect">
                  <p:stCondLst>
                    <p:cond delay="750"/>
                  </p:stCondLst>
                  <p:childTnLst>
                    <p:set>
                      <p:cBhvr>
                        <p:cTn dur="1" fill="hold">
                          <p:stCondLst>
                            <p:cond delay="0"/>
                          </p:stCondLst>
                        </p:cTn>
                        <p:tgtEl>
                          <p:spTgt spid="4"/>
                        </p:tgtEl>
                        <p:attrNameLst>
                          <p:attrName>style.visibility</p:attrName>
                        </p:attrNameLst>
                      </p:cBhvr>
                      <p:to>
                        <p:strVal val="visible"/>
                      </p:to>
                    </p:set>
                    <p:animEffect transition="in" filter="fade">
                      <p:cBhvr>
                        <p:cTn dur="500">
                          <p:stCondLst>
                            <p:cond delay="0"/>
                          </p:stCondLst>
                        </p:cTn>
                        <p:tgtEl>
                          <p:spTgt spid="4"/>
                        </p:tgtEl>
                      </p:cBhvr>
                    </p:animEffect>
                    <p:anim to="0" calcmode="lin" valueType="num">
                      <p:cBhvr>
                        <p:cTn dur="500" fill="hold">
                          <p:stCondLst>
                            <p:cond delay="0"/>
                          </p:stCondLst>
                        </p:cTn>
                        <p:tgtEl>
                          <p:spTgt spid="4"/>
                        </p:tgtEl>
                        <p:attrNameLst>
                          <p:attrName>ppt_x</p:attrName>
                        </p:attrNameLst>
                      </p:cBhvr>
                      <p:tavLst>
                        <p:tav tm="0">
                          <p:val>
                            <p:strVal val="#ppt_x-.05"/>
                          </p:val>
                        </p:tav>
                        <p:tav tm="100000">
                          <p:val>
                            <p:strVal val="#ppt_x"/>
                          </p:val>
                        </p:tav>
                      </p:tavLst>
                    </p:anim>
                  </p:childTnLst>
                </p:cTn>
              </p:par>
            </p:tnLst>
          </p:tmpl>
        </p:tmplLst>
      </p:bldP>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16" name="椭圆 15">
            <a:extLst>
              <a:ext uri="{FF2B5EF4-FFF2-40B4-BE49-F238E27FC236}">
                <a16:creationId xmlns:a16="http://schemas.microsoft.com/office/drawing/2014/main" id="{B46198AC-367B-0D53-9173-FC8CA63C085D}"/>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5EB1B61C-49CF-BE5E-D897-0E6165887E9C}"/>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2399A25-BD86-E6C4-1B6C-5E720BE7951F}"/>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5BB57A5-2F78-87EC-D302-EA186869EBC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4" name="图片 13">
            <a:extLst>
              <a:ext uri="{FF2B5EF4-FFF2-40B4-BE49-F238E27FC236}">
                <a16:creationId xmlns:a16="http://schemas.microsoft.com/office/drawing/2014/main" id="{956F742F-78A8-9974-FA4F-56396F38C2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5837223" y="2203928"/>
            <a:ext cx="3484714" cy="668338"/>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073412" y="2924828"/>
            <a:ext cx="3692525" cy="2206679"/>
          </a:xfrm>
          <a:prstGeom prst="rect">
            <a:avLst/>
          </a:prstGeom>
        </p:spPr>
        <p:txBody>
          <a:bodyPr anchor="t"/>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4" name="椭圆 3">
            <a:extLst>
              <a:ext uri="{FF2B5EF4-FFF2-40B4-BE49-F238E27FC236}">
                <a16:creationId xmlns:a16="http://schemas.microsoft.com/office/drawing/2014/main" id="{2249AA4E-BDC6-696B-EF7C-D82E9F67C155}"/>
              </a:ext>
            </a:extLst>
          </p:cNvPr>
          <p:cNvSpPr/>
          <p:nvPr userDrawn="1"/>
        </p:nvSpPr>
        <p:spPr>
          <a:xfrm>
            <a:off x="4633274" y="30699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心">
            <a:extLst>
              <a:ext uri="{FF2B5EF4-FFF2-40B4-BE49-F238E27FC236}">
                <a16:creationId xmlns:a16="http://schemas.microsoft.com/office/drawing/2014/main" id="{187CDF87-71AD-62FA-465E-4563734A654E}"/>
              </a:ext>
            </a:extLst>
          </p:cNvPr>
          <p:cNvSpPr/>
          <p:nvPr userDrawn="1"/>
        </p:nvSpPr>
        <p:spPr>
          <a:xfrm>
            <a:off x="4186995" y="2360165"/>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7" name="文本占位符 6">
            <a:extLst>
              <a:ext uri="{FF2B5EF4-FFF2-40B4-BE49-F238E27FC236}">
                <a16:creationId xmlns:a16="http://schemas.microsoft.com/office/drawing/2014/main" id="{0FA4BC60-2E49-93DC-4C3E-CA7B70C33EA7}"/>
              </a:ext>
            </a:extLst>
          </p:cNvPr>
          <p:cNvSpPr>
            <a:spLocks noGrp="1"/>
          </p:cNvSpPr>
          <p:nvPr>
            <p:ph type="body" sz="quarter" idx="14" hasCustomPrompt="1"/>
          </p:nvPr>
        </p:nvSpPr>
        <p:spPr>
          <a:xfrm>
            <a:off x="4304296" y="2679426"/>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4"/>
                                        </p:tgtEl>
                                      </p:cBhvr>
                                    </p:animEffect>
                                    <p:set>
                                      <p:cBhvr>
                                        <p:cTn id="7" dur="1" fill="hold">
                                          <p:stCondLst>
                                            <p:cond delay="749"/>
                                          </p:stCondLst>
                                        </p:cTn>
                                        <p:tgtEl>
                                          <p:spTgt spid="14"/>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50"/>
                                        <p:tgtEl>
                                          <p:spTgt spid="1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4"/>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4"/>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4"/>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par>
                                <p:cTn id="38" presetID="53" presetClass="entr" presetSubtype="16"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par>
                                <p:cTn id="51" presetID="42" presetClass="path" presetSubtype="0" accel="50000" decel="50000" fill="hold" grpId="1" nodeType="withEffect">
                                  <p:stCondLst>
                                    <p:cond delay="750"/>
                                  </p:stCondLst>
                                  <p:childTnLst>
                                    <p:animMotion origin="layout" path="M 5E-6 3.7037E-6 L 0.0168 0.02986 " pathEditMode="relative" rAng="0" ptsTypes="AA">
                                      <p:cBhvr>
                                        <p:cTn id="52" dur="500" fill="hold"/>
                                        <p:tgtEl>
                                          <p:spTgt spid="4"/>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stCondLst>
                                            <p:cond delay="0"/>
                                          </p:stCondLst>
                                        </p:cTn>
                                        <p:tgtEl>
                                          <p:spTgt spid="5"/>
                                        </p:tgtEl>
                                      </p:cBhvr>
                                    </p:animEffect>
                                    <p:anim to="0" calcmode="lin" valueType="num">
                                      <p:cBhvr>
                                        <p:cTn id="56" dur="500" fill="hold">
                                          <p:stCondLst>
                                            <p:cond delay="0"/>
                                          </p:stCondLst>
                                        </p:cTn>
                                        <p:tgtEl>
                                          <p:spTgt spid="5"/>
                                        </p:tgtEl>
                                        <p:attrNameLst>
                                          <p:attrName>ppt_x</p:attrName>
                                        </p:attrNameLst>
                                      </p:cBhvr>
                                      <p:tavLst>
                                        <p:tav tm="0">
                                          <p:val>
                                            <p:strVal val="#ppt_x-.05"/>
                                          </p:val>
                                        </p:tav>
                                        <p:tav tm="100000">
                                          <p:val>
                                            <p:strVal val="#ppt_x"/>
                                          </p:val>
                                        </p:tav>
                                      </p:tavLst>
                                    </p:anim>
                                  </p:childTnLst>
                                </p:cTn>
                              </p:par>
                              <p:par>
                                <p:cTn id="57" presetID="10" presetClass="entr" presetSubtype="0" decel="100000" fill="hold" grpId="0" nodeType="withEffect">
                                  <p:stCondLst>
                                    <p:cond delay="750"/>
                                  </p:stCondLst>
                                  <p:iterate type="wd">
                                    <p:tmPct val="8000"/>
                                  </p:iterate>
                                  <p:childTnLst>
                                    <p:set>
                                      <p:cBhvr>
                                        <p:cTn id="58" dur="1" fill="hold">
                                          <p:stCondLst>
                                            <p:cond delay="0"/>
                                          </p:stCondLst>
                                        </p:cTn>
                                        <p:tgtEl>
                                          <p:spTgt spid="2"/>
                                        </p:tgtEl>
                                        <p:attrNameLst>
                                          <p:attrName>style.visibility</p:attrName>
                                        </p:attrNameLst>
                                      </p:cBhvr>
                                      <p:to>
                                        <p:strVal val="visible"/>
                                      </p:to>
                                    </p:set>
                                    <p:animEffect transition="in" filter="fade">
                                      <p:cBhvr>
                                        <p:cTn id="59" dur="500">
                                          <p:stCondLst>
                                            <p:cond delay="0"/>
                                          </p:stCondLst>
                                        </p:cTn>
                                        <p:tgtEl>
                                          <p:spTgt spid="2"/>
                                        </p:tgtEl>
                                      </p:cBhvr>
                                    </p:animEffect>
                                    <p:anim to="0" calcmode="lin" valueType="num">
                                      <p:cBhvr>
                                        <p:cTn id="60" dur="500" fill="hold">
                                          <p:stCondLst>
                                            <p:cond delay="0"/>
                                          </p:stCondLst>
                                        </p:cTn>
                                        <p:tgtEl>
                                          <p:spTgt spid="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5" grpId="0">
        <p:tmplLst>
          <p:tmpl>
            <p:tnLst>
              <p:par>
                <p:cTn presetID="10" presetClass="entr" presetSubtype="0" decel="100000" fill="hold" nodeType="withEffect">
                  <p:stCondLst>
                    <p:cond delay="750"/>
                  </p:stCondLst>
                  <p:childTnLst>
                    <p:set>
                      <p:cBhvr>
                        <p:cTn dur="1" fill="hold">
                          <p:stCondLst>
                            <p:cond delay="0"/>
                          </p:stCondLst>
                        </p:cTn>
                        <p:tgtEl>
                          <p:spTgt spid="5"/>
                        </p:tgtEl>
                        <p:attrNameLst>
                          <p:attrName>style.visibility</p:attrName>
                        </p:attrNameLst>
                      </p:cBhvr>
                      <p:to>
                        <p:strVal val="visible"/>
                      </p:to>
                    </p:set>
                    <p:animEffect transition="in" filter="fade">
                      <p:cBhvr>
                        <p:cTn dur="500">
                          <p:stCondLst>
                            <p:cond delay="0"/>
                          </p:stCondLst>
                        </p:cTn>
                        <p:tgtEl>
                          <p:spTgt spid="5"/>
                        </p:tgtEl>
                      </p:cBhvr>
                    </p:animEffect>
                    <p:anim to="0" calcmode="lin" valueType="num">
                      <p:cBhvr>
                        <p:cTn dur="500" fill="hold">
                          <p:stCondLst>
                            <p:cond delay="0"/>
                          </p:stCondLst>
                        </p:cTn>
                        <p:tgtEl>
                          <p:spTgt spid="5"/>
                        </p:tgtEl>
                        <p:attrNameLst>
                          <p:attrName>ppt_x</p:attrName>
                        </p:attrNameLst>
                      </p:cBhvr>
                      <p:tavLst>
                        <p:tav tm="0">
                          <p:val>
                            <p:strVal val="#ppt_x-.05"/>
                          </p:val>
                        </p:tav>
                        <p:tav tm="100000">
                          <p:val>
                            <p:strVal val="#ppt_x"/>
                          </p:val>
                        </p:tav>
                      </p:tavLst>
                    </p:anim>
                  </p:childTnLst>
                </p:cTn>
              </p:par>
            </p:tnLst>
          </p:tmpl>
        </p:tmplLst>
      </p:bldP>
      <p:bldP spid="2" grpId="0">
        <p:tmplLst>
          <p:tmpl>
            <p:tnLst>
              <p:par>
                <p:cTn presetID="10" presetClass="entr" presetSubtype="0" decel="100000" fill="hold" nodeType="withEffect">
                  <p:stCondLst>
                    <p:cond delay="750"/>
                  </p:stCondLst>
                  <p:iterate type="wd">
                    <p:tmPct val="8000"/>
                  </p:iterate>
                  <p:childTnLst>
                    <p:set>
                      <p:cBhvr>
                        <p:cTn dur="1" fill="hold">
                          <p:stCondLst>
                            <p:cond delay="0"/>
                          </p:stCondLst>
                        </p:cTn>
                        <p:tgtEl>
                          <p:spTgt spid="2"/>
                        </p:tgtEl>
                        <p:attrNameLst>
                          <p:attrName>style.visibility</p:attrName>
                        </p:attrNameLst>
                      </p:cBhvr>
                      <p:to>
                        <p:strVal val="visible"/>
                      </p:to>
                    </p:set>
                    <p:animEffect transition="in" filter="fade">
                      <p:cBhvr>
                        <p:cTn dur="500">
                          <p:stCondLst>
                            <p:cond delay="0"/>
                          </p:stCondLst>
                        </p:cTn>
                        <p:tgtEl>
                          <p:spTgt spid="2"/>
                        </p:tgtEl>
                      </p:cBhvr>
                    </p:animEffect>
                    <p:anim to="0" calcmode="lin" valueType="num">
                      <p:cBhvr>
                        <p:cTn dur="500" fill="hold">
                          <p:stCondLst>
                            <p:cond delay="0"/>
                          </p:stCondLst>
                        </p:cTn>
                        <p:tgtEl>
                          <p:spTgt spid="2"/>
                        </p:tgtEl>
                        <p:attrNameLst>
                          <p:attrName>ppt_y</p:attrName>
                        </p:attrNameLst>
                      </p:cBhvr>
                      <p:tavLst>
                        <p:tav tm="0">
                          <p:val>
                            <p:strVal val="#ppt_y-.05"/>
                          </p:val>
                        </p:tav>
                        <p:tav tm="100000">
                          <p:val>
                            <p:strVal val="#ppt_y"/>
                          </p:val>
                        </p:tav>
                      </p:tavLst>
                    </p:anim>
                  </p:childTnLst>
                </p:cTn>
              </p:par>
            </p:tnLst>
          </p:tmpl>
        </p:tmplLst>
      </p:bldP>
      <p:bldP spid="4" grpId="0" animBg="1"/>
      <p:bldP spid="4" grpId="1" animBg="1"/>
      <p:bldP spid="6" grpId="0" animBg="1"/>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2" name="椭圆 11">
            <a:extLst>
              <a:ext uri="{FF2B5EF4-FFF2-40B4-BE49-F238E27FC236}">
                <a16:creationId xmlns:a16="http://schemas.microsoft.com/office/drawing/2014/main" id="{E9A4C940-17A0-EAF5-1288-423099172492}"/>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0B0CBC4C-0370-FC83-EFE2-A4655072B969}"/>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448C111F-EC00-73CD-D78D-B90FCF65990B}"/>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5EF8D094-C09B-FA07-5E8E-6D0A34E8E2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1" name="图片 10">
            <a:extLst>
              <a:ext uri="{FF2B5EF4-FFF2-40B4-BE49-F238E27FC236}">
                <a16:creationId xmlns:a16="http://schemas.microsoft.com/office/drawing/2014/main" id="{E50503D8-4014-AE09-8F7D-F2C94ED602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29" name="文本框 28">
            <a:extLst>
              <a:ext uri="{FF2B5EF4-FFF2-40B4-BE49-F238E27FC236}">
                <a16:creationId xmlns:a16="http://schemas.microsoft.com/office/drawing/2014/main" id="{06715BF8-0A12-5796-1551-488CA6BA7E8B}"/>
              </a:ext>
            </a:extLst>
          </p:cNvPr>
          <p:cNvSpPr txBox="1"/>
          <p:nvPr userDrawn="1"/>
        </p:nvSpPr>
        <p:spPr>
          <a:xfrm>
            <a:off x="3768481" y="2334719"/>
            <a:ext cx="2167598"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258201" y="1662411"/>
            <a:ext cx="3692525" cy="2631150"/>
          </a:xfrm>
          <a:prstGeom prst="rect">
            <a:avLst/>
          </a:prstGeom>
        </p:spPr>
        <p:txBody>
          <a:bodyPr anchor="ctr"/>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标题文本">
            <a:extLst>
              <a:ext uri="{FF2B5EF4-FFF2-40B4-BE49-F238E27FC236}">
                <a16:creationId xmlns:a16="http://schemas.microsoft.com/office/drawing/2014/main" id="{32B4F824-6998-DCF1-0043-E682C565BE4E}"/>
              </a:ext>
            </a:extLst>
          </p:cNvPr>
          <p:cNvSpPr txBox="1"/>
          <p:nvPr userDrawn="1"/>
        </p:nvSpPr>
        <p:spPr>
          <a:xfrm flipH="1">
            <a:off x="4207329" y="2704247"/>
            <a:ext cx="1098378"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64122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1"/>
                                        </p:tgtEl>
                                      </p:cBhvr>
                                    </p:animEffect>
                                    <p:set>
                                      <p:cBhvr>
                                        <p:cTn id="7" dur="1" fill="hold">
                                          <p:stCondLst>
                                            <p:cond delay="749"/>
                                          </p:stCondLst>
                                        </p:cTn>
                                        <p:tgtEl>
                                          <p:spTgt spid="11"/>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1"/>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0"/>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1"/>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0"/>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1"/>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0"/>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27"/>
                                        </p:tgtEl>
                                        <p:attrNameLst>
                                          <p:attrName>style.visibility</p:attrName>
                                        </p:attrNameLst>
                                      </p:cBhvr>
                                      <p:to>
                                        <p:strVal val="visible"/>
                                      </p:to>
                                    </p:set>
                                    <p:anim calcmode="lin" valueType="num">
                                      <p:cBhvr>
                                        <p:cTn id="25" dur="500" fill="hold"/>
                                        <p:tgtEl>
                                          <p:spTgt spid="27"/>
                                        </p:tgtEl>
                                        <p:attrNameLst>
                                          <p:attrName>ppt_w</p:attrName>
                                        </p:attrNameLst>
                                      </p:cBhvr>
                                      <p:tavLst>
                                        <p:tav tm="0">
                                          <p:val>
                                            <p:fltVal val="0"/>
                                          </p:val>
                                        </p:tav>
                                        <p:tav tm="100000">
                                          <p:val>
                                            <p:strVal val="#ppt_w"/>
                                          </p:val>
                                        </p:tav>
                                      </p:tavLst>
                                    </p:anim>
                                    <p:anim calcmode="lin" valueType="num">
                                      <p:cBhvr>
                                        <p:cTn id="26" dur="500" fill="hold"/>
                                        <p:tgtEl>
                                          <p:spTgt spid="27"/>
                                        </p:tgtEl>
                                        <p:attrNameLst>
                                          <p:attrName>ppt_h</p:attrName>
                                        </p:attrNameLst>
                                      </p:cBhvr>
                                      <p:tavLst>
                                        <p:tav tm="0">
                                          <p:val>
                                            <p:fltVal val="0"/>
                                          </p:val>
                                        </p:tav>
                                        <p:tav tm="100000">
                                          <p:val>
                                            <p:strVal val="#ppt_h"/>
                                          </p:val>
                                        </p:tav>
                                      </p:tavLst>
                                    </p:anim>
                                    <p:animEffect transition="in" filter="fade">
                                      <p:cBhvr>
                                        <p:cTn id="27" dur="500"/>
                                        <p:tgtEl>
                                          <p:spTgt spid="27"/>
                                        </p:tgtEl>
                                      </p:cBhvr>
                                    </p:animEffect>
                                  </p:childTnLst>
                                </p:cTn>
                              </p:par>
                              <p:par>
                                <p:cTn id="28" presetID="10" presetClass="entr" presetSubtype="0" decel="100000" fill="hold" grpId="0" nodeType="withEffect">
                                  <p:stCondLst>
                                    <p:cond delay="65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stCondLst>
                                            <p:cond delay="0"/>
                                          </p:stCondLst>
                                        </p:cTn>
                                        <p:tgtEl>
                                          <p:spTgt spid="29"/>
                                        </p:tgtEl>
                                      </p:cBhvr>
                                    </p:animEffect>
                                    <p:anim to="0" calcmode="lin" valueType="num">
                                      <p:cBhvr>
                                        <p:cTn id="31" dur="500" fill="hold">
                                          <p:stCondLst>
                                            <p:cond delay="0"/>
                                          </p:stCondLst>
                                        </p:cTn>
                                        <p:tgtEl>
                                          <p:spTgt spid="29"/>
                                        </p:tgtEl>
                                        <p:attrNameLst>
                                          <p:attrName>ppt_y</p:attrName>
                                        </p:attrNameLst>
                                      </p:cBhvr>
                                      <p:tavLst>
                                        <p:tav tm="0">
                                          <p:val>
                                            <p:strVal val="#ppt_y+.05"/>
                                          </p:val>
                                        </p:tav>
                                        <p:tav tm="100000">
                                          <p:val>
                                            <p:strVal val="#ppt_y"/>
                                          </p:val>
                                        </p:tav>
                                      </p:tavLst>
                                    </p:anim>
                                  </p:childTnLst>
                                </p:cTn>
                              </p:par>
                              <p:par>
                                <p:cTn id="32" presetID="53" presetClass="entr" presetSubtype="16" fill="hold" grpId="0" nodeType="withEffect">
                                  <p:stCondLst>
                                    <p:cond delay="70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ppt_w</p:attrName>
                                        </p:attrNameLst>
                                      </p:cBhvr>
                                      <p:tavLst>
                                        <p:tav tm="0">
                                          <p:val>
                                            <p:fltVal val="0"/>
                                          </p:val>
                                        </p:tav>
                                        <p:tav tm="100000">
                                          <p:val>
                                            <p:strVal val="#ppt_w"/>
                                          </p:val>
                                        </p:tav>
                                      </p:tavLst>
                                    </p:anim>
                                    <p:anim calcmode="lin" valueType="num">
                                      <p:cBhvr>
                                        <p:cTn id="35" dur="500" fill="hold"/>
                                        <p:tgtEl>
                                          <p:spTgt spid="7"/>
                                        </p:tgtEl>
                                        <p:attrNameLst>
                                          <p:attrName>ppt_h</p:attrName>
                                        </p:attrNameLst>
                                      </p:cBhvr>
                                      <p:tavLst>
                                        <p:tav tm="0">
                                          <p:val>
                                            <p:fltVal val="0"/>
                                          </p:val>
                                        </p:tav>
                                        <p:tav tm="100000">
                                          <p:val>
                                            <p:strVal val="#ppt_h"/>
                                          </p:val>
                                        </p:tav>
                                      </p:tavLst>
                                    </p:anim>
                                    <p:animEffect transition="in" filter="fade">
                                      <p:cBhvr>
                                        <p:cTn id="36" dur="500"/>
                                        <p:tgtEl>
                                          <p:spTgt spid="7"/>
                                        </p:tgtEl>
                                      </p:cBhvr>
                                    </p:animEffect>
                                  </p:childTnLst>
                                </p:cTn>
                              </p:par>
                              <p:par>
                                <p:cTn id="37" presetID="53" presetClass="entr" presetSubtype="16" fill="hold" grpId="0" nodeType="withEffect">
                                  <p:stCondLst>
                                    <p:cond delay="85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par>
                                <p:cTn id="42" presetID="10" presetClass="entr" presetSubtype="0" decel="100000" fill="hold" grpId="0" nodeType="withEffect">
                                  <p:stCondLst>
                                    <p:cond delay="850"/>
                                  </p:stCondLst>
                                  <p:iterate type="wd">
                                    <p:tmPct val="10000"/>
                                  </p:iterate>
                                  <p:childTnLst>
                                    <p:set>
                                      <p:cBhvr>
                                        <p:cTn id="43" dur="1" fill="hold">
                                          <p:stCondLst>
                                            <p:cond delay="0"/>
                                          </p:stCondLst>
                                        </p:cTn>
                                        <p:tgtEl>
                                          <p:spTgt spid="26"/>
                                        </p:tgtEl>
                                        <p:attrNameLst>
                                          <p:attrName>style.visibility</p:attrName>
                                        </p:attrNameLst>
                                      </p:cBhvr>
                                      <p:to>
                                        <p:strVal val="visible"/>
                                      </p:to>
                                    </p:set>
                                    <p:animEffect transition="in" filter="fade">
                                      <p:cBhvr>
                                        <p:cTn id="44" dur="500">
                                          <p:stCondLst>
                                            <p:cond delay="0"/>
                                          </p:stCondLst>
                                        </p:cTn>
                                        <p:tgtEl>
                                          <p:spTgt spid="26"/>
                                        </p:tgtEl>
                                      </p:cBhvr>
                                    </p:animEffect>
                                    <p:anim to="0" calcmode="lin" valueType="num">
                                      <p:cBhvr>
                                        <p:cTn id="45" dur="500" fill="hold">
                                          <p:stCondLst>
                                            <p:cond delay="0"/>
                                          </p:stCondLst>
                                        </p:cTn>
                                        <p:tgtEl>
                                          <p:spTgt spid="26"/>
                                        </p:tgtEl>
                                        <p:attrNameLst>
                                          <p:attrName>ppt_x</p:attrName>
                                        </p:attrNameLst>
                                      </p:cBhvr>
                                      <p:tavLst>
                                        <p:tav tm="0">
                                          <p:val>
                                            <p:strVal val="#ppt_x-.05"/>
                                          </p:val>
                                        </p:tav>
                                        <p:tav tm="100000">
                                          <p:val>
                                            <p:strVal val="#ppt_x"/>
                                          </p:val>
                                        </p:tav>
                                      </p:tavLst>
                                    </p:anim>
                                  </p:childTnLst>
                                </p:cTn>
                              </p:par>
                              <p:par>
                                <p:cTn id="46" presetID="53" presetClass="entr" presetSubtype="16" fill="hold" grpId="0" nodeType="withEffect">
                                  <p:stCondLst>
                                    <p:cond delay="90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7" grpId="0" animBg="1"/>
      <p:bldP spid="29" grpId="0"/>
      <p:bldP spid="26" grpId="0">
        <p:tmplLst>
          <p:tmpl>
            <p:tnLst>
              <p:par>
                <p:cTn presetID="10" presetClass="entr" presetSubtype="0" decel="100000" fill="hold" nodeType="withEffect">
                  <p:stCondLst>
                    <p:cond delay="850"/>
                  </p:stCondLst>
                  <p:iterate type="wd">
                    <p:tmPct val="10000"/>
                  </p:iterate>
                  <p:childTnLst>
                    <p:set>
                      <p:cBhvr>
                        <p:cTn dur="1" fill="hold">
                          <p:stCondLst>
                            <p:cond delay="0"/>
                          </p:stCondLst>
                        </p:cTn>
                        <p:tgtEl>
                          <p:spTgt spid="26"/>
                        </p:tgtEl>
                        <p:attrNameLst>
                          <p:attrName>style.visibility</p:attrName>
                        </p:attrNameLst>
                      </p:cBhvr>
                      <p:to>
                        <p:strVal val="visible"/>
                      </p:to>
                    </p:set>
                    <p:animEffect transition="in" filter="fade">
                      <p:cBhvr>
                        <p:cTn dur="500">
                          <p:stCondLst>
                            <p:cond delay="0"/>
                          </p:stCondLst>
                        </p:cTn>
                        <p:tgtEl>
                          <p:spTgt spid="26"/>
                        </p:tgtEl>
                      </p:cBhvr>
                    </p:animEffect>
                    <p:anim to="0" calcmode="lin" valueType="num">
                      <p:cBhvr>
                        <p:cTn dur="500" fill="hold">
                          <p:stCondLst>
                            <p:cond delay="0"/>
                          </p:stCondLst>
                        </p:cTn>
                        <p:tgtEl>
                          <p:spTgt spid="26"/>
                        </p:tgtEl>
                        <p:attrNameLst>
                          <p:attrName>ppt_x</p:attrName>
                        </p:attrNameLst>
                      </p:cBhvr>
                      <p:tavLst>
                        <p:tav tm="0">
                          <p:val>
                            <p:strVal val="#ppt_x-.05"/>
                          </p:val>
                        </p:tav>
                        <p:tav tm="100000">
                          <p:val>
                            <p:strVal val="#ppt_x"/>
                          </p:val>
                        </p:tav>
                      </p:tavLst>
                    </p:anim>
                  </p:childTnLst>
                </p:cTn>
              </p:par>
            </p:tnLst>
          </p:tmpl>
        </p:tmplLst>
      </p:bldP>
      <p:bldP spid="27"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2934960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556" y="1720312"/>
            <a:ext cx="711411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
        <p:nvSpPr>
          <p:cNvPr id="11" name="文本框 10">
            <a:extLst>
              <a:ext uri="{FF2B5EF4-FFF2-40B4-BE49-F238E27FC236}">
                <a16:creationId xmlns:a16="http://schemas.microsoft.com/office/drawing/2014/main" id="{382D0547-D899-4028-C68F-1B7E5E17FCC5}"/>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QUESTION</a:t>
            </a:r>
          </a:p>
        </p:txBody>
      </p:sp>
      <p:sp>
        <p:nvSpPr>
          <p:cNvPr id="12" name="íşľíďe">
            <a:extLst>
              <a:ext uri="{FF2B5EF4-FFF2-40B4-BE49-F238E27FC236}">
                <a16:creationId xmlns:a16="http://schemas.microsoft.com/office/drawing/2014/main" id="{66992E28-34C1-82B0-BBD1-9DB821AEB09B}"/>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32163038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3936569" y="1483864"/>
            <a:ext cx="7402227"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6" name="文本框 5">
            <a:extLst>
              <a:ext uri="{FF2B5EF4-FFF2-40B4-BE49-F238E27FC236}">
                <a16:creationId xmlns:a16="http://schemas.microsoft.com/office/drawing/2014/main" id="{E2B1B9D1-DEFE-AB9B-7D57-D4044AED1257}"/>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BRIEF</a:t>
            </a:r>
          </a:p>
        </p:txBody>
      </p:sp>
      <p:sp>
        <p:nvSpPr>
          <p:cNvPr id="8" name="íşľíďe">
            <a:extLst>
              <a:ext uri="{FF2B5EF4-FFF2-40B4-BE49-F238E27FC236}">
                <a16:creationId xmlns:a16="http://schemas.microsoft.com/office/drawing/2014/main" id="{0A58CF2E-C9AD-567D-B72D-E69212797F03}"/>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1044872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229" y="1359878"/>
            <a:ext cx="7170081" cy="3962399"/>
          </a:xfrm>
          <a:prstGeom prst="rect">
            <a:avLst/>
          </a:prstGeom>
        </p:spPr>
        <p:txBody>
          <a:bodyPr anchor="ctr"/>
          <a:lstStyle>
            <a:lvl1pPr marL="285750" indent="-285750">
              <a:lnSpc>
                <a:spcPct val="150000"/>
              </a:lnSpc>
              <a:buFont typeface="Wingdings" panose="05000000000000000000" pitchFamily="2" charset="2"/>
              <a:buChar char="l"/>
              <a:defRPr sz="1800" b="1"/>
            </a:lvl1pPr>
          </a:lstStyle>
          <a:p>
            <a:pPr lvl="0"/>
            <a:r>
              <a:rPr lang="zh-CN" altLang="en-US"/>
              <a:t>点击输入学习目标</a:t>
            </a:r>
          </a:p>
        </p:txBody>
      </p:sp>
      <p:sp>
        <p:nvSpPr>
          <p:cNvPr id="6" name="文本框 5">
            <a:extLst>
              <a:ext uri="{FF2B5EF4-FFF2-40B4-BE49-F238E27FC236}">
                <a16:creationId xmlns:a16="http://schemas.microsoft.com/office/drawing/2014/main" id="{D3F17914-8286-2740-0111-F53CC3BDDD9A}"/>
              </a:ext>
            </a:extLst>
          </p:cNvPr>
          <p:cNvSpPr txBox="1"/>
          <p:nvPr userDrawn="1"/>
        </p:nvSpPr>
        <p:spPr>
          <a:xfrm>
            <a:off x="698224" y="2861141"/>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TARGET</a:t>
            </a:r>
          </a:p>
        </p:txBody>
      </p:sp>
      <p:sp>
        <p:nvSpPr>
          <p:cNvPr id="8" name="íşľíďe">
            <a:extLst>
              <a:ext uri="{FF2B5EF4-FFF2-40B4-BE49-F238E27FC236}">
                <a16:creationId xmlns:a16="http://schemas.microsoft.com/office/drawing/2014/main" id="{FB3F6AA9-BBC1-E326-ABE9-AC067A990D01}"/>
              </a:ext>
            </a:extLst>
          </p:cNvPr>
          <p:cNvSpPr txBox="1"/>
          <p:nvPr userDrawn="1"/>
        </p:nvSpPr>
        <p:spPr>
          <a:xfrm flipH="1">
            <a:off x="1181538" y="3112479"/>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956513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1842820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80940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l"/>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083421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BRIEF</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3706713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目标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TARGET</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8057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2.sv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4.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2AF40A4C-1FC6-C591-0585-7320B21E306A}"/>
              </a:ext>
            </a:extLst>
          </p:cNvPr>
          <p:cNvPicPr>
            <a:picLocks noChangeAspect="1"/>
          </p:cNvPicPr>
          <p:nvPr userDrawn="1"/>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 id="2147483686" r:id="rId7"/>
    <p:sldLayoutId id="2147483687" r:id="rId8"/>
    <p:sldLayoutId id="2147483690" r:id="rId9"/>
    <p:sldLayoutId id="2147483691" r:id="rId10"/>
    <p:sldLayoutId id="2147483692" r:id="rId11"/>
    <p:sldLayoutId id="2147483693" r:id="rId12"/>
    <p:sldLayoutId id="2147483694" r:id="rId13"/>
    <p:sldLayoutId id="2147483696" r:id="rId14"/>
    <p:sldLayoutId id="2147483699" r:id="rId15"/>
    <p:sldLayoutId id="2147483700" r:id="rId16"/>
    <p:sldLayoutId id="2147483702" r:id="rId17"/>
    <p:sldLayoutId id="2147483703" r:id="rId18"/>
    <p:sldLayoutId id="2147483705" r:id="rId19"/>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形 7">
            <a:extLst>
              <a:ext uri="{FF2B5EF4-FFF2-40B4-BE49-F238E27FC236}">
                <a16:creationId xmlns:a16="http://schemas.microsoft.com/office/drawing/2014/main" id="{D5FC8854-8C90-CD00-F013-8034EF541B87}"/>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70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图形 8">
            <a:extLst>
              <a:ext uri="{FF2B5EF4-FFF2-40B4-BE49-F238E27FC236}">
                <a16:creationId xmlns:a16="http://schemas.microsoft.com/office/drawing/2014/main" id="{BCFD639D-1352-0D42-CD8B-502330285495}"/>
              </a:ext>
            </a:extLst>
          </p:cNvPr>
          <p:cNvPicPr>
            <a:picLocks noChangeAspect="1"/>
          </p:cNvPicPr>
          <p:nvPr userDrawn="1"/>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8081" t="21237" r="10346" b="18121"/>
          <a:stretch/>
        </p:blipFill>
        <p:spPr>
          <a:xfrm>
            <a:off x="9956716" y="152244"/>
            <a:ext cx="1848051" cy="605113"/>
          </a:xfrm>
          <a:prstGeom prst="rect">
            <a:avLst/>
          </a:prstGeom>
        </p:spPr>
      </p:pic>
      <p:sp>
        <p:nvSpPr>
          <p:cNvPr id="32" name="椭圆 31">
            <a:extLst>
              <a:ext uri="{FF2B5EF4-FFF2-40B4-BE49-F238E27FC236}">
                <a16:creationId xmlns:a16="http://schemas.microsoft.com/office/drawing/2014/main" id="{3B0EC498-20A1-566B-4915-5207C059B018}"/>
              </a:ext>
            </a:extLst>
          </p:cNvPr>
          <p:cNvSpPr/>
          <p:nvPr userDrawn="1"/>
        </p:nvSpPr>
        <p:spPr>
          <a:xfrm>
            <a:off x="751355" y="2336538"/>
            <a:ext cx="2111502" cy="2111502"/>
          </a:xfrm>
          <a:prstGeom prst="ellipse">
            <a:avLst/>
          </a:prstGeom>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58725F1-EF53-00F4-5D5F-187168DD6A01}"/>
              </a:ext>
            </a:extLst>
          </p:cNvPr>
          <p:cNvSpPr/>
          <p:nvPr userDrawn="1"/>
        </p:nvSpPr>
        <p:spPr>
          <a:xfrm>
            <a:off x="-625683" y="959500"/>
            <a:ext cx="4865579" cy="4865579"/>
          </a:xfrm>
          <a:prstGeom prst="ellipse">
            <a:avLst/>
          </a:prstGeom>
          <a:noFill/>
          <a:ln w="12700" cap="flat" cmpd="sng" algn="ctr">
            <a:solidFill>
              <a:schemeClr val="accent1">
                <a:alpha val="5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E0CB1513-F0AF-DFD8-F01B-E3C9C30338CD}"/>
              </a:ext>
            </a:extLst>
          </p:cNvPr>
          <p:cNvSpPr/>
          <p:nvPr userDrawn="1"/>
        </p:nvSpPr>
        <p:spPr>
          <a:xfrm>
            <a:off x="255264" y="1840447"/>
            <a:ext cx="3103685" cy="3103685"/>
          </a:xfrm>
          <a:prstGeom prst="ellipse">
            <a:avLst/>
          </a:prstGeom>
          <a:noFill/>
          <a:ln>
            <a:solidFill>
              <a:schemeClr val="accent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068B7EDE-A4CF-8360-8241-A673D650AA78}"/>
              </a:ext>
            </a:extLst>
          </p:cNvPr>
          <p:cNvSpPr/>
          <p:nvPr userDrawn="1"/>
        </p:nvSpPr>
        <p:spPr>
          <a:xfrm>
            <a:off x="-1544721" y="-114518"/>
            <a:ext cx="7013615" cy="7013615"/>
          </a:xfrm>
          <a:prstGeom prst="ellipse">
            <a:avLst/>
          </a:prstGeom>
          <a:noFill/>
          <a:ln w="12700" cap="flat" cmpd="sng" algn="ctr">
            <a:solidFill>
              <a:schemeClr val="accent1">
                <a:alpha val="3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D51DB15-8344-2ACA-142F-30B0A0200C56}"/>
              </a:ext>
            </a:extLst>
          </p:cNvPr>
          <p:cNvSpPr/>
          <p:nvPr userDrawn="1"/>
        </p:nvSpPr>
        <p:spPr>
          <a:xfrm>
            <a:off x="3015513" y="0"/>
            <a:ext cx="6784703" cy="6858000"/>
          </a:xfrm>
          <a:prstGeom prst="rect">
            <a:avLst/>
          </a:prstGeom>
          <a:gradFill flip="none" rotWithShape="1">
            <a:gsLst>
              <a:gs pos="27000">
                <a:schemeClr val="bg1"/>
              </a:gs>
              <a:gs pos="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88" r:id="rId4"/>
    <p:sldLayoutId id="214748370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40922FA6-892F-6E62-25A7-4EFD4311B4B7}"/>
              </a:ext>
            </a:extLst>
          </p:cNvPr>
          <p:cNvSpPr/>
          <p:nvPr userDrawn="1"/>
        </p:nvSpPr>
        <p:spPr>
          <a:xfrm>
            <a:off x="573736" y="474236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89EB921-EFFD-8A13-0578-9909E3F67A28}"/>
              </a:ext>
            </a:extLst>
          </p:cNvPr>
          <p:cNvSpPr/>
          <p:nvPr userDrawn="1"/>
        </p:nvSpPr>
        <p:spPr>
          <a:xfrm>
            <a:off x="2449602" y="4027163"/>
            <a:ext cx="926888" cy="926888"/>
          </a:xfrm>
          <a:prstGeom prst="ellipse">
            <a:avLst/>
          </a:prstGeom>
          <a:solidFill>
            <a:schemeClr val="accent1">
              <a:lumMod val="20000"/>
              <a:lumOff val="8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0DBB1E70-A6B4-325D-7E84-2D8D403E507E}"/>
              </a:ext>
            </a:extLst>
          </p:cNvPr>
          <p:cNvSpPr/>
          <p:nvPr userDrawn="1"/>
        </p:nvSpPr>
        <p:spPr>
          <a:xfrm>
            <a:off x="2274547" y="2102046"/>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938C16E6-FCD9-2FF6-E0D9-862FBA97E38E}"/>
              </a:ext>
            </a:extLst>
          </p:cNvPr>
          <p:cNvSpPr/>
          <p:nvPr userDrawn="1"/>
        </p:nvSpPr>
        <p:spPr>
          <a:xfrm>
            <a:off x="320390" y="151257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90B5C771-860C-6FE3-9141-296A747F7EC0}"/>
              </a:ext>
            </a:extLst>
          </p:cNvPr>
          <p:cNvSpPr/>
          <p:nvPr userDrawn="1"/>
        </p:nvSpPr>
        <p:spPr>
          <a:xfrm>
            <a:off x="2745115" y="1787721"/>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CC734A62-48DA-F6ED-AF10-0C9224E0A0EE}"/>
              </a:ext>
            </a:extLst>
          </p:cNvPr>
          <p:cNvSpPr/>
          <p:nvPr userDrawn="1"/>
        </p:nvSpPr>
        <p:spPr>
          <a:xfrm>
            <a:off x="594793" y="2155519"/>
            <a:ext cx="2544671" cy="25446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 空心 2">
            <a:extLst>
              <a:ext uri="{FF2B5EF4-FFF2-40B4-BE49-F238E27FC236}">
                <a16:creationId xmlns:a16="http://schemas.microsoft.com/office/drawing/2014/main" id="{D9836D2B-C9DD-3FC5-793A-4907096EF00C}"/>
              </a:ext>
            </a:extLst>
          </p:cNvPr>
          <p:cNvSpPr/>
          <p:nvPr userDrawn="1"/>
        </p:nvSpPr>
        <p:spPr>
          <a:xfrm>
            <a:off x="445476" y="2002997"/>
            <a:ext cx="2852005" cy="2852005"/>
          </a:xfrm>
          <a:prstGeom prst="donut">
            <a:avLst>
              <a:gd name="adj" fmla="val 649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29827110"/>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114D5-9D49-7225-E5E2-41EB2357CF8B}"/>
              </a:ext>
            </a:extLst>
          </p:cNvPr>
          <p:cNvSpPr>
            <a:spLocks noGrp="1"/>
          </p:cNvSpPr>
          <p:nvPr>
            <p:ph type="ctrTitle"/>
          </p:nvPr>
        </p:nvSpPr>
        <p:spPr/>
        <p:txBody>
          <a:bodyPr>
            <a:normAutofit/>
          </a:bodyPr>
          <a:lstStyle/>
          <a:p>
            <a:r>
              <a:rPr lang="zh-CN" altLang="en-US" sz="4000" dirty="0"/>
              <a:t>第九章：面向对象高级</a:t>
            </a:r>
          </a:p>
        </p:txBody>
      </p:sp>
      <p:sp>
        <p:nvSpPr>
          <p:cNvPr id="3" name="文本占位符 2">
            <a:extLst>
              <a:ext uri="{FF2B5EF4-FFF2-40B4-BE49-F238E27FC236}">
                <a16:creationId xmlns:a16="http://schemas.microsoft.com/office/drawing/2014/main" id="{88966428-CCB2-BA20-6795-2C913DCE3AAF}"/>
              </a:ext>
            </a:extLst>
          </p:cNvPr>
          <p:cNvSpPr>
            <a:spLocks noGrp="1"/>
          </p:cNvSpPr>
          <p:nvPr>
            <p:ph type="body" sz="quarter" idx="10"/>
          </p:nvPr>
        </p:nvSpPr>
        <p:spPr>
          <a:xfrm>
            <a:off x="660400" y="3586894"/>
            <a:ext cx="5057820" cy="563562"/>
          </a:xfrm>
        </p:spPr>
        <p:txBody>
          <a:bodyPr/>
          <a:lstStyle/>
          <a:p>
            <a:pPr algn="l"/>
            <a:r>
              <a:rPr lang="zh-CN" altLang="en-US" sz="1800" b="0" i="0" dirty="0">
                <a:solidFill>
                  <a:srgbClr val="222222"/>
                </a:solidFill>
                <a:effectLst/>
                <a:latin typeface="Inter"/>
              </a:rPr>
              <a:t>万物皆对象</a:t>
            </a:r>
          </a:p>
        </p:txBody>
      </p:sp>
    </p:spTree>
    <p:extLst>
      <p:ext uri="{BB962C8B-B14F-4D97-AF65-F5344CB8AC3E}">
        <p14:creationId xmlns:p14="http://schemas.microsoft.com/office/powerpoint/2010/main" val="153553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D7AC-AA23-449A-B03F-8BA3555B503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C71F140-AFA4-DD99-F2AF-05BD7A05217F}"/>
              </a:ext>
            </a:extLst>
          </p:cNvPr>
          <p:cNvSpPr>
            <a:spLocks noGrp="1"/>
          </p:cNvSpPr>
          <p:nvPr>
            <p:ph type="body" sz="quarter" idx="10"/>
          </p:nvPr>
        </p:nvSpPr>
        <p:spPr>
          <a:xfrm>
            <a:off x="6258201" y="1662411"/>
            <a:ext cx="3787673" cy="4287452"/>
          </a:xfrm>
        </p:spPr>
        <p:txBody>
          <a:bodyPr/>
          <a:lstStyle/>
          <a:p>
            <a:r>
              <a:rPr lang="zh-CN" altLang="en-US" dirty="0">
                <a:solidFill>
                  <a:schemeClr val="tx1">
                    <a:lumMod val="95000"/>
                    <a:lumOff val="5000"/>
                  </a:schemeClr>
                </a:solidFill>
                <a:latin typeface="Consolas" panose="020B0609020204030204" pitchFamily="49" charset="0"/>
                <a:ea typeface="Alibaba PuHuiTi R"/>
              </a:rPr>
              <a:t>继承</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Object </a:t>
            </a:r>
            <a:r>
              <a:rPr lang="zh-CN" altLang="en-US" dirty="0">
                <a:solidFill>
                  <a:schemeClr val="tx1">
                    <a:lumMod val="95000"/>
                    <a:lumOff val="5000"/>
                  </a:schemeClr>
                </a:solidFill>
                <a:latin typeface="Consolas" panose="020B0609020204030204" pitchFamily="49" charset="0"/>
                <a:ea typeface="Alibaba PuHuiTi R"/>
              </a:rPr>
              <a:t>类</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final </a:t>
            </a:r>
            <a:r>
              <a:rPr lang="zh-CN" altLang="en-US" dirty="0">
                <a:solidFill>
                  <a:schemeClr val="tx1">
                    <a:lumMod val="95000"/>
                    <a:lumOff val="5000"/>
                  </a:schemeClr>
                </a:solidFill>
                <a:latin typeface="Consolas" panose="020B0609020204030204" pitchFamily="49" charset="0"/>
                <a:ea typeface="Alibaba PuHuiTi R"/>
              </a:rPr>
              <a:t>关键字</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抽象类</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接口</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多态</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代码块</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内部类</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Lambda </a:t>
            </a:r>
            <a:r>
              <a:rPr lang="zh-CN" altLang="en-US" dirty="0">
                <a:solidFill>
                  <a:schemeClr val="tx1">
                    <a:lumMod val="95000"/>
                    <a:lumOff val="5000"/>
                  </a:schemeClr>
                </a:solidFill>
                <a:latin typeface="Consolas" panose="020B0609020204030204" pitchFamily="49" charset="0"/>
                <a:ea typeface="Alibaba PuHuiTi R"/>
              </a:rPr>
              <a:t>表达式</a:t>
            </a:r>
            <a:endParaRPr lang="en-US" altLang="zh-CN" dirty="0">
              <a:solidFill>
                <a:schemeClr val="tx1">
                  <a:lumMod val="95000"/>
                  <a:lumOff val="5000"/>
                </a:schemeClr>
              </a:solidFill>
              <a:latin typeface="Consolas" panose="020B0609020204030204" pitchFamily="49" charset="0"/>
              <a:ea typeface="Alibaba PuHuiTi R"/>
            </a:endParaRPr>
          </a:p>
        </p:txBody>
      </p:sp>
    </p:spTree>
    <p:extLst>
      <p:ext uri="{BB962C8B-B14F-4D97-AF65-F5344CB8AC3E}">
        <p14:creationId xmlns:p14="http://schemas.microsoft.com/office/powerpoint/2010/main" val="29777967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9520F1A-77B2-0C7D-E557-AC00D33EEE8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60B0315-BD43-28B8-32A5-3B981E6F8E00}"/>
              </a:ext>
            </a:extLst>
          </p:cNvPr>
          <p:cNvSpPr>
            <a:spLocks noGrp="1"/>
          </p:cNvSpPr>
          <p:nvPr>
            <p:ph type="body" sz="quarter" idx="10"/>
          </p:nvPr>
        </p:nvSpPr>
        <p:spPr>
          <a:xfrm>
            <a:off x="5853732" y="2042336"/>
            <a:ext cx="2164582" cy="1956553"/>
          </a:xfrm>
        </p:spPr>
        <p:txBody>
          <a:bodyPr/>
          <a:lstStyle/>
          <a:p>
            <a:r>
              <a:rPr lang="zh-CN" altLang="en-US" dirty="0">
                <a:solidFill>
                  <a:schemeClr val="tx1">
                    <a:lumMod val="95000"/>
                    <a:lumOff val="5000"/>
                  </a:schemeClr>
                </a:solidFill>
                <a:latin typeface="Consolas" panose="020B0609020204030204" pitchFamily="49" charset="0"/>
                <a:ea typeface="Alibaba PuHuiTi R"/>
              </a:rPr>
              <a:t>继承</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Object </a:t>
            </a:r>
            <a:r>
              <a:rPr lang="zh-CN" altLang="en-US" dirty="0">
                <a:solidFill>
                  <a:schemeClr val="tx1">
                    <a:lumMod val="95000"/>
                    <a:lumOff val="5000"/>
                  </a:schemeClr>
                </a:solidFill>
                <a:latin typeface="Consolas" panose="020B0609020204030204" pitchFamily="49" charset="0"/>
                <a:ea typeface="Alibaba PuHuiTi R"/>
              </a:rPr>
              <a:t>类</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final </a:t>
            </a:r>
            <a:r>
              <a:rPr lang="zh-CN" altLang="en-US" dirty="0">
                <a:solidFill>
                  <a:schemeClr val="tx1">
                    <a:lumMod val="95000"/>
                    <a:lumOff val="5000"/>
                  </a:schemeClr>
                </a:solidFill>
                <a:latin typeface="Consolas" panose="020B0609020204030204" pitchFamily="49" charset="0"/>
                <a:ea typeface="Alibaba PuHuiTi R"/>
              </a:rPr>
              <a:t>关键字</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抽象类</a:t>
            </a:r>
            <a:endParaRPr lang="en-US" altLang="zh-CN" dirty="0">
              <a:solidFill>
                <a:schemeClr val="tx1">
                  <a:lumMod val="95000"/>
                  <a:lumOff val="5000"/>
                </a:schemeClr>
              </a:solidFill>
              <a:latin typeface="Consolas" panose="020B0609020204030204" pitchFamily="49" charset="0"/>
              <a:ea typeface="Alibaba PuHuiTi R"/>
            </a:endParaRPr>
          </a:p>
        </p:txBody>
      </p:sp>
      <p:sp>
        <p:nvSpPr>
          <p:cNvPr id="3" name="文本占位符 1">
            <a:extLst>
              <a:ext uri="{FF2B5EF4-FFF2-40B4-BE49-F238E27FC236}">
                <a16:creationId xmlns:a16="http://schemas.microsoft.com/office/drawing/2014/main" id="{1C57DC9F-57D1-1961-1E4E-E459695FC2F6}"/>
              </a:ext>
            </a:extLst>
          </p:cNvPr>
          <p:cNvSpPr txBox="1">
            <a:spLocks/>
          </p:cNvSpPr>
          <p:nvPr/>
        </p:nvSpPr>
        <p:spPr>
          <a:xfrm>
            <a:off x="7940574" y="2042336"/>
            <a:ext cx="2164581" cy="1956553"/>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1">
                    <a:lumMod val="95000"/>
                    <a:lumOff val="5000"/>
                  </a:schemeClr>
                </a:solidFill>
                <a:latin typeface="Consolas" panose="020B0609020204030204" pitchFamily="49" charset="0"/>
                <a:ea typeface="Alibaba PuHuiTi R"/>
              </a:rPr>
              <a:t>接口</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多态</a:t>
            </a:r>
            <a:endParaRPr lang="en-US" altLang="zh-CN" dirty="0">
              <a:solidFill>
                <a:schemeClr val="tx1">
                  <a:lumMod val="95000"/>
                  <a:lumOff val="5000"/>
                </a:schemeClr>
              </a:solidFill>
              <a:latin typeface="Consolas" panose="020B0609020204030204" pitchFamily="49" charset="0"/>
              <a:ea typeface="Alibaba PuHuiTi R"/>
            </a:endParaRPr>
          </a:p>
          <a:p>
            <a:r>
              <a:rPr lang="zh-CN" altLang="en-US" dirty="0">
                <a:solidFill>
                  <a:schemeClr val="tx1">
                    <a:lumMod val="95000"/>
                    <a:lumOff val="5000"/>
                  </a:schemeClr>
                </a:solidFill>
                <a:latin typeface="Consolas" panose="020B0609020204030204" pitchFamily="49" charset="0"/>
                <a:ea typeface="Alibaba PuHuiTi R"/>
              </a:rPr>
              <a:t>代码块</a:t>
            </a:r>
            <a:endParaRPr lang="en-US" altLang="zh-CN" dirty="0">
              <a:solidFill>
                <a:schemeClr val="tx1">
                  <a:lumMod val="95000"/>
                  <a:lumOff val="5000"/>
                </a:schemeClr>
              </a:solidFill>
              <a:latin typeface="Consolas" panose="020B0609020204030204" pitchFamily="49" charset="0"/>
              <a:ea typeface="Alibaba PuHuiTi R"/>
            </a:endParaRPr>
          </a:p>
        </p:txBody>
      </p:sp>
      <p:sp>
        <p:nvSpPr>
          <p:cNvPr id="4" name="文本占位符 1">
            <a:extLst>
              <a:ext uri="{FF2B5EF4-FFF2-40B4-BE49-F238E27FC236}">
                <a16:creationId xmlns:a16="http://schemas.microsoft.com/office/drawing/2014/main" id="{4F4FB2AA-FD63-2D65-CDBA-0226B771B76A}"/>
              </a:ext>
            </a:extLst>
          </p:cNvPr>
          <p:cNvSpPr txBox="1">
            <a:spLocks/>
          </p:cNvSpPr>
          <p:nvPr/>
        </p:nvSpPr>
        <p:spPr>
          <a:xfrm>
            <a:off x="9693783" y="2042336"/>
            <a:ext cx="2164582" cy="1956553"/>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solidFill>
                <a:schemeClr val="tx1">
                  <a:lumMod val="95000"/>
                  <a:lumOff val="5000"/>
                </a:schemeClr>
              </a:solidFill>
              <a:latin typeface="Consolas" panose="020B0609020204030204" pitchFamily="49" charset="0"/>
              <a:ea typeface="Alibaba PuHuiTi R"/>
            </a:endParaRPr>
          </a:p>
        </p:txBody>
      </p:sp>
      <p:sp>
        <p:nvSpPr>
          <p:cNvPr id="5" name="文本占位符 1">
            <a:extLst>
              <a:ext uri="{FF2B5EF4-FFF2-40B4-BE49-F238E27FC236}">
                <a16:creationId xmlns:a16="http://schemas.microsoft.com/office/drawing/2014/main" id="{7714BFB0-6F39-E0C6-76B8-8D7CED25FAF1}"/>
              </a:ext>
            </a:extLst>
          </p:cNvPr>
          <p:cNvSpPr txBox="1">
            <a:spLocks/>
          </p:cNvSpPr>
          <p:nvPr/>
        </p:nvSpPr>
        <p:spPr>
          <a:xfrm>
            <a:off x="9616043" y="2309035"/>
            <a:ext cx="2164581" cy="1956553"/>
          </a:xfrm>
          <a:prstGeom prst="rect">
            <a:avLst/>
          </a:prstGeom>
        </p:spPr>
        <p:txBody>
          <a:bodyPr anchor="ctr"/>
          <a:lstStyle>
            <a:lvl1pPr marL="342900" indent="-342900" algn="l" defTabSz="914400" rtl="0" eaLnBrk="1" latinLnBrk="0" hangingPunct="1">
              <a:lnSpc>
                <a:spcPct val="150000"/>
              </a:lnSpc>
              <a:spcBef>
                <a:spcPts val="1000"/>
              </a:spcBef>
              <a:buFont typeface="Wingdings" panose="05000000000000000000" pitchFamily="2" charset="2"/>
              <a:buChar char="u"/>
              <a:defRPr sz="1800" kern="1200">
                <a:solidFill>
                  <a:schemeClr val="tx1"/>
                </a:solidFill>
                <a:latin typeface="+mn-ea"/>
                <a:ea typeface="+mn-ea"/>
                <a:cs typeface="阿里巴巴普惠体 Medium"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1">
                    <a:lumMod val="95000"/>
                    <a:lumOff val="5000"/>
                  </a:schemeClr>
                </a:solidFill>
                <a:latin typeface="Consolas" panose="020B0609020204030204" pitchFamily="49" charset="0"/>
                <a:ea typeface="Alibaba PuHuiTi R"/>
              </a:rPr>
              <a:t>内部类</a:t>
            </a:r>
            <a:endParaRPr lang="en-US" altLang="zh-CN" dirty="0">
              <a:solidFill>
                <a:schemeClr val="tx1">
                  <a:lumMod val="95000"/>
                  <a:lumOff val="5000"/>
                </a:schemeClr>
              </a:solidFill>
              <a:latin typeface="Consolas" panose="020B0609020204030204" pitchFamily="49" charset="0"/>
              <a:ea typeface="Alibaba PuHuiTi R"/>
            </a:endParaRPr>
          </a:p>
          <a:p>
            <a:r>
              <a:rPr lang="en-US" altLang="zh-CN" dirty="0">
                <a:solidFill>
                  <a:schemeClr val="tx1">
                    <a:lumMod val="95000"/>
                    <a:lumOff val="5000"/>
                  </a:schemeClr>
                </a:solidFill>
                <a:latin typeface="Consolas" panose="020B0609020204030204" pitchFamily="49" charset="0"/>
                <a:ea typeface="Alibaba PuHuiTi R"/>
              </a:rPr>
              <a:t>Lambda </a:t>
            </a:r>
            <a:r>
              <a:rPr lang="zh-CN" altLang="en-US" dirty="0">
                <a:solidFill>
                  <a:schemeClr val="tx1">
                    <a:lumMod val="95000"/>
                    <a:lumOff val="5000"/>
                  </a:schemeClr>
                </a:solidFill>
                <a:latin typeface="Consolas" panose="020B0609020204030204" pitchFamily="49" charset="0"/>
                <a:ea typeface="Alibaba PuHuiTi R"/>
              </a:rPr>
              <a:t>表达式</a:t>
            </a:r>
            <a:endParaRPr lang="en-US" altLang="zh-CN" dirty="0">
              <a:solidFill>
                <a:schemeClr val="tx1">
                  <a:lumMod val="95000"/>
                  <a:lumOff val="5000"/>
                </a:schemeClr>
              </a:solidFill>
              <a:latin typeface="Consolas" panose="020B0609020204030204" pitchFamily="49" charset="0"/>
              <a:ea typeface="Alibaba PuHuiTi R"/>
            </a:endParaRPr>
          </a:p>
          <a:p>
            <a:endParaRPr lang="en-US" altLang="zh-CN" dirty="0">
              <a:solidFill>
                <a:schemeClr val="tx1">
                  <a:lumMod val="95000"/>
                  <a:lumOff val="5000"/>
                </a:schemeClr>
              </a:solidFill>
              <a:latin typeface="Consolas" panose="020B0609020204030204" pitchFamily="49" charset="0"/>
              <a:ea typeface="Alibaba PuHuiTi R"/>
            </a:endParaRPr>
          </a:p>
        </p:txBody>
      </p:sp>
    </p:spTree>
    <p:extLst>
      <p:ext uri="{BB962C8B-B14F-4D97-AF65-F5344CB8AC3E}">
        <p14:creationId xmlns:p14="http://schemas.microsoft.com/office/powerpoint/2010/main" val="174074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par>
                                <p:cTn id="9" presetID="10" presetClass="entr" presetSubtype="0" decel="100000" fill="hold" grpId="0" nodeType="withEffect">
                                  <p:stCondLst>
                                    <p:cond delay="85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stCondLst>
                                            <p:cond delay="0"/>
                                          </p:stCondLst>
                                        </p:cTn>
                                        <p:tgtEl>
                                          <p:spTgt spid="3"/>
                                        </p:tgtEl>
                                      </p:cBhvr>
                                    </p:animEffect>
                                    <p:anim to="0" calcmode="lin" valueType="num">
                                      <p:cBhvr>
                                        <p:cTn id="12" dur="500" fill="hold">
                                          <p:stCondLst>
                                            <p:cond delay="0"/>
                                          </p:stCondLst>
                                        </p:cTn>
                                        <p:tgtEl>
                                          <p:spTgt spid="3"/>
                                        </p:tgtEl>
                                        <p:attrNameLst>
                                          <p:attrName>ppt_x</p:attrName>
                                        </p:attrNameLst>
                                      </p:cBhvr>
                                      <p:tavLst>
                                        <p:tav tm="0">
                                          <p:val>
                                            <p:strVal val="#ppt_x-.05"/>
                                          </p:val>
                                        </p:tav>
                                        <p:tav tm="100000">
                                          <p:val>
                                            <p:strVal val="#ppt_x"/>
                                          </p:val>
                                        </p:tav>
                                      </p:tavLst>
                                    </p:anim>
                                  </p:childTnLst>
                                </p:cTn>
                              </p:par>
                              <p:par>
                                <p:cTn id="13" presetID="10" presetClass="entr" presetSubtype="0" decel="100000" fill="hold" grpId="0" nodeType="withEffect" nodePh="1">
                                  <p:stCondLst>
                                    <p:cond delay="850"/>
                                  </p:stCondLst>
                                  <p:endCondLst>
                                    <p:cond evt="begin" delay="0">
                                      <p:tn val="13"/>
                                    </p:cond>
                                  </p:endCondLst>
                                  <p:iterate type="wd">
                                    <p:tmPct val="10000"/>
                                  </p:iterate>
                                  <p:childTnLst>
                                    <p:set>
                                      <p:cBhvr>
                                        <p:cTn id="14" dur="1" fill="hold">
                                          <p:stCondLst>
                                            <p:cond delay="0"/>
                                          </p:stCondLst>
                                        </p:cTn>
                                        <p:tgtEl>
                                          <p:spTgt spid="4"/>
                                        </p:tgtEl>
                                        <p:attrNameLst>
                                          <p:attrName>style.visibility</p:attrName>
                                        </p:attrNameLst>
                                      </p:cBhvr>
                                      <p:to>
                                        <p:strVal val="visible"/>
                                      </p:to>
                                    </p:set>
                                    <p:animEffect transition="in" filter="fade">
                                      <p:cBhvr>
                                        <p:cTn id="15" dur="500">
                                          <p:stCondLst>
                                            <p:cond delay="0"/>
                                          </p:stCondLst>
                                        </p:cTn>
                                        <p:tgtEl>
                                          <p:spTgt spid="4"/>
                                        </p:tgtEl>
                                      </p:cBhvr>
                                    </p:animEffect>
                                    <p:anim to="0" calcmode="lin" valueType="num">
                                      <p:cBhvr>
                                        <p:cTn id="16" dur="500" fill="hold">
                                          <p:stCondLst>
                                            <p:cond delay="0"/>
                                          </p:stCondLst>
                                        </p:cTn>
                                        <p:tgtEl>
                                          <p:spTgt spid="4"/>
                                        </p:tgtEl>
                                        <p:attrNameLst>
                                          <p:attrName>ppt_x</p:attrName>
                                        </p:attrNameLst>
                                      </p:cBhvr>
                                      <p:tavLst>
                                        <p:tav tm="0">
                                          <p:val>
                                            <p:strVal val="#ppt_x-.05"/>
                                          </p:val>
                                        </p:tav>
                                        <p:tav tm="100000">
                                          <p:val>
                                            <p:strVal val="#ppt_x"/>
                                          </p:val>
                                        </p:tav>
                                      </p:tavLst>
                                    </p:anim>
                                  </p:childTnLst>
                                </p:cTn>
                              </p:par>
                              <p:par>
                                <p:cTn id="17" presetID="10" presetClass="entr" presetSubtype="0" decel="100000" fill="hold" grpId="0" nodeType="withEffect">
                                  <p:stCondLst>
                                    <p:cond delay="850"/>
                                  </p:stCondLst>
                                  <p:iterate type="wd">
                                    <p:tmPct val="10000"/>
                                  </p:iterate>
                                  <p:childTnLst>
                                    <p:set>
                                      <p:cBhvr>
                                        <p:cTn id="18" dur="1" fill="hold">
                                          <p:stCondLst>
                                            <p:cond delay="0"/>
                                          </p:stCondLst>
                                        </p:cTn>
                                        <p:tgtEl>
                                          <p:spTgt spid="5"/>
                                        </p:tgtEl>
                                        <p:attrNameLst>
                                          <p:attrName>style.visibility</p:attrName>
                                        </p:attrNameLst>
                                      </p:cBhvr>
                                      <p:to>
                                        <p:strVal val="visible"/>
                                      </p:to>
                                    </p:set>
                                    <p:animEffect transition="in" filter="fade">
                                      <p:cBhvr>
                                        <p:cTn id="19" dur="500">
                                          <p:stCondLst>
                                            <p:cond delay="0"/>
                                          </p:stCondLst>
                                        </p:cTn>
                                        <p:tgtEl>
                                          <p:spTgt spid="5"/>
                                        </p:tgtEl>
                                      </p:cBhvr>
                                    </p:animEffect>
                                    <p:anim to="0" calcmode="lin" valueType="num">
                                      <p:cBhvr>
                                        <p:cTn id="20" dur="500" fill="hold">
                                          <p:stCondLst>
                                            <p:cond delay="0"/>
                                          </p:stCondLst>
                                        </p:cTn>
                                        <p:tgtEl>
                                          <p:spTgt spid="5"/>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C3DF-11CE-B144-710F-27354C02F83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BAA5E05D-3A8E-4642-F501-C32FC05F344A}"/>
              </a:ext>
            </a:extLst>
          </p:cNvPr>
          <p:cNvSpPr>
            <a:spLocks noGrp="1"/>
          </p:cNvSpPr>
          <p:nvPr>
            <p:ph type="body" sz="quarter" idx="13"/>
          </p:nvPr>
        </p:nvSpPr>
        <p:spPr>
          <a:xfrm>
            <a:off x="5834080" y="2465278"/>
            <a:ext cx="4831831" cy="901700"/>
          </a:xfrm>
        </p:spPr>
        <p:txBody>
          <a:bodyPr/>
          <a:lstStyle/>
          <a:p>
            <a:r>
              <a:rPr lang="zh-CN" altLang="en-US" dirty="0"/>
              <a:t>继承</a:t>
            </a:r>
          </a:p>
        </p:txBody>
      </p:sp>
      <p:sp>
        <p:nvSpPr>
          <p:cNvPr id="10" name="文本占位符 9">
            <a:extLst>
              <a:ext uri="{FF2B5EF4-FFF2-40B4-BE49-F238E27FC236}">
                <a16:creationId xmlns:a16="http://schemas.microsoft.com/office/drawing/2014/main" id="{858D89A2-9AAF-34B7-31D9-E0D8FB077129}"/>
              </a:ext>
            </a:extLst>
          </p:cNvPr>
          <p:cNvSpPr>
            <a:spLocks noGrp="1"/>
          </p:cNvSpPr>
          <p:nvPr>
            <p:ph type="body" sz="quarter" idx="14"/>
          </p:nvPr>
        </p:nvSpPr>
        <p:spPr/>
        <p:txBody>
          <a:bodyPr/>
          <a:lstStyle/>
          <a:p>
            <a:r>
              <a:rPr lang="en-US" altLang="zh-CN" dirty="0"/>
              <a:t>1</a:t>
            </a:r>
            <a:endParaRPr lang="zh-CN" altLang="en-US" dirty="0"/>
          </a:p>
        </p:txBody>
      </p:sp>
    </p:spTree>
    <p:extLst>
      <p:ext uri="{BB962C8B-B14F-4D97-AF65-F5344CB8AC3E}">
        <p14:creationId xmlns:p14="http://schemas.microsoft.com/office/powerpoint/2010/main" val="24843765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E9D5F2A5-48AA-49FC-B1CC-4B960FD8F5E1}"/>
              </a:ext>
            </a:extLst>
          </p:cNvPr>
          <p:cNvSpPr txBox="1"/>
          <p:nvPr/>
        </p:nvSpPr>
        <p:spPr>
          <a:xfrm>
            <a:off x="576626" y="1165146"/>
            <a:ext cx="8257116" cy="425950"/>
          </a:xfrm>
          <a:prstGeom prst="rect">
            <a:avLst/>
          </a:prstGeom>
          <a:noFill/>
        </p:spPr>
        <p:txBody>
          <a:bodyPr>
            <a:spAutoFit/>
          </a:bodyPr>
          <a:lstStyle/>
          <a:p>
            <a:pPr marL="228594" indent="-228594">
              <a:lnSpc>
                <a:spcPct val="150000"/>
              </a:lnSpc>
              <a:buFont typeface="Wingdings" panose="05000000000000000000" pitchFamily="2" charset="2"/>
              <a:buChar char="l"/>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继承：让</a:t>
            </a:r>
            <a:r>
              <a:rPr lang="zh-CN" altLang="en-US"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类与类之间产生关系</a:t>
            </a: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（子父类关系），</a:t>
            </a:r>
            <a:r>
              <a:rPr lang="zh-CN" altLang="en-US" sz="1600"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子类</a:t>
            </a: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可以</a:t>
            </a:r>
            <a:r>
              <a:rPr lang="zh-CN" altLang="en-US" sz="1600"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直接使用父类</a:t>
            </a: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中</a:t>
            </a:r>
            <a:r>
              <a:rPr lang="zh-CN" altLang="en-US" sz="1600"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非私有的成员</a:t>
            </a:r>
            <a:endParaRPr lang="zh-CN" altLang="zh-CN" sz="2000"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9" name="TextBox 3">
            <a:extLst>
              <a:ext uri="{FF2B5EF4-FFF2-40B4-BE49-F238E27FC236}">
                <a16:creationId xmlns:a16="http://schemas.microsoft.com/office/drawing/2014/main" id="{A72D9681-5FC5-48B8-8C72-26BC7EEBCB77}"/>
              </a:ext>
            </a:extLst>
          </p:cNvPr>
          <p:cNvSpPr txBox="1"/>
          <p:nvPr/>
        </p:nvSpPr>
        <p:spPr>
          <a:xfrm>
            <a:off x="1491929" y="4997239"/>
            <a:ext cx="3481917" cy="1169551"/>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Coder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姓名</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年龄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double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salary</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工资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2133"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0" name="TextBox 3">
            <a:extLst>
              <a:ext uri="{FF2B5EF4-FFF2-40B4-BE49-F238E27FC236}">
                <a16:creationId xmlns:a16="http://schemas.microsoft.com/office/drawing/2014/main" id="{679699FD-72BE-472D-A3C4-E63ED661A441}"/>
              </a:ext>
            </a:extLst>
          </p:cNvPr>
          <p:cNvSpPr txBox="1"/>
          <p:nvPr/>
        </p:nvSpPr>
        <p:spPr>
          <a:xfrm>
            <a:off x="5869196" y="4997239"/>
            <a:ext cx="3481917" cy="1169551"/>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Manager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姓名</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年龄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double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salary</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工资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2133"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1" name="TextBox 3">
            <a:extLst>
              <a:ext uri="{FF2B5EF4-FFF2-40B4-BE49-F238E27FC236}">
                <a16:creationId xmlns:a16="http://schemas.microsoft.com/office/drawing/2014/main" id="{833D6B74-F795-418D-B904-7831561D7377}"/>
              </a:ext>
            </a:extLst>
          </p:cNvPr>
          <p:cNvSpPr txBox="1"/>
          <p:nvPr/>
        </p:nvSpPr>
        <p:spPr>
          <a:xfrm>
            <a:off x="2823313" y="2402206"/>
            <a:ext cx="5088467" cy="1600438"/>
          </a:xfrm>
          <a:prstGeom prst="rect">
            <a:avLst/>
          </a:prstGeom>
          <a:solidFill>
            <a:srgbClr val="FFFFE4"/>
          </a:solidFill>
          <a:ln w="12700">
            <a:solidFill>
              <a:schemeClr val="tx1"/>
            </a:solidFill>
          </a:ln>
        </p:spPr>
        <p:txBody>
          <a:bodyPr>
            <a:spAutoFit/>
          </a:bodyPr>
          <a:lstStyle/>
          <a:p>
            <a:pPr>
              <a:defRPr/>
            </a:pPr>
            <a:r>
              <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en-US"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2" name="文本框 41">
            <a:extLst>
              <a:ext uri="{FF2B5EF4-FFF2-40B4-BE49-F238E27FC236}">
                <a16:creationId xmlns:a16="http://schemas.microsoft.com/office/drawing/2014/main" id="{5A7FFC93-D915-4A78-B40A-DBF02F842999}"/>
              </a:ext>
            </a:extLst>
          </p:cNvPr>
          <p:cNvSpPr txBox="1"/>
          <p:nvPr/>
        </p:nvSpPr>
        <p:spPr>
          <a:xfrm>
            <a:off x="3013813" y="2618107"/>
            <a:ext cx="5088467" cy="1384995"/>
          </a:xfrm>
          <a:prstGeom prst="rect">
            <a:avLst/>
          </a:prstGeom>
          <a:noFill/>
        </p:spPr>
        <p:txBody>
          <a:bodyPr>
            <a:spAutoFit/>
          </a:bodyPr>
          <a:lstStyle/>
          <a:p>
            <a:pPr>
              <a:defRPr/>
            </a:pP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姓名</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年龄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double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salary</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工资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2133" dirty="0">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endPar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3" name="文本框 42">
            <a:extLst>
              <a:ext uri="{FF2B5EF4-FFF2-40B4-BE49-F238E27FC236}">
                <a16:creationId xmlns:a16="http://schemas.microsoft.com/office/drawing/2014/main" id="{8AE61F6A-B01B-473C-B514-914179626062}"/>
              </a:ext>
            </a:extLst>
          </p:cNvPr>
          <p:cNvSpPr txBox="1"/>
          <p:nvPr/>
        </p:nvSpPr>
        <p:spPr>
          <a:xfrm>
            <a:off x="4262647" y="2618107"/>
            <a:ext cx="979755" cy="307777"/>
          </a:xfrm>
          <a:prstGeom prst="rect">
            <a:avLst/>
          </a:prstGeom>
          <a:noFill/>
        </p:spPr>
        <p:txBody>
          <a:bodyPr wrap="none">
            <a:spAutoFit/>
          </a:bodyPr>
          <a:lstStyle/>
          <a:p>
            <a:pPr>
              <a:defRPr/>
            </a:pP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Employee</a:t>
            </a:r>
            <a:endPar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46" name="连接符: 肘形 45">
            <a:extLst>
              <a:ext uri="{FF2B5EF4-FFF2-40B4-BE49-F238E27FC236}">
                <a16:creationId xmlns:a16="http://schemas.microsoft.com/office/drawing/2014/main" id="{6C6173CF-F36E-4B8A-B3FC-C60662D9B094}"/>
              </a:ext>
            </a:extLst>
          </p:cNvPr>
          <p:cNvCxnSpPr>
            <a:cxnSpLocks/>
          </p:cNvCxnSpPr>
          <p:nvPr/>
        </p:nvCxnSpPr>
        <p:spPr>
          <a:xfrm rot="5400000" flipH="1" flipV="1">
            <a:off x="2861413" y="2990640"/>
            <a:ext cx="2194984" cy="1890183"/>
          </a:xfrm>
          <a:prstGeom prst="bentConnector3">
            <a:avLst>
              <a:gd name="adj1" fmla="val 50000"/>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8858BCC3-6A9D-4AAE-B8CF-F6C95E1D21E6}"/>
              </a:ext>
            </a:extLst>
          </p:cNvPr>
          <p:cNvCxnSpPr>
            <a:cxnSpLocks/>
            <a:stCxn id="40" idx="0"/>
          </p:cNvCxnSpPr>
          <p:nvPr/>
        </p:nvCxnSpPr>
        <p:spPr>
          <a:xfrm rot="16200000" flipV="1">
            <a:off x="5238959" y="2626042"/>
            <a:ext cx="2209800" cy="2532593"/>
          </a:xfrm>
          <a:prstGeom prst="bentConnector2">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8" name="对话气泡: 椭圆形 47">
            <a:extLst>
              <a:ext uri="{FF2B5EF4-FFF2-40B4-BE49-F238E27FC236}">
                <a16:creationId xmlns:a16="http://schemas.microsoft.com/office/drawing/2014/main" id="{EB36B45A-F564-46CD-B997-8DB2FB723559}"/>
              </a:ext>
            </a:extLst>
          </p:cNvPr>
          <p:cNvSpPr/>
          <p:nvPr/>
        </p:nvSpPr>
        <p:spPr>
          <a:xfrm>
            <a:off x="721463" y="2139740"/>
            <a:ext cx="2197100" cy="1079500"/>
          </a:xfrm>
          <a:prstGeom prst="wedgeEllipseCallout">
            <a:avLst>
              <a:gd name="adj1" fmla="val 57159"/>
              <a:gd name="adj2" fmla="val 15994"/>
            </a:avLst>
          </a:prstGeom>
          <a:ln/>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sz="2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9" name="文本框 48">
            <a:extLst>
              <a:ext uri="{FF2B5EF4-FFF2-40B4-BE49-F238E27FC236}">
                <a16:creationId xmlns:a16="http://schemas.microsoft.com/office/drawing/2014/main" id="{A3FA7289-9DA5-40A4-94A3-EBC275278C79}"/>
              </a:ext>
            </a:extLst>
          </p:cNvPr>
          <p:cNvSpPr txBox="1"/>
          <p:nvPr/>
        </p:nvSpPr>
        <p:spPr>
          <a:xfrm>
            <a:off x="880214" y="2387390"/>
            <a:ext cx="1899879" cy="523220"/>
          </a:xfrm>
          <a:prstGeom prst="rect">
            <a:avLst/>
          </a:prstGeom>
          <a:noFill/>
        </p:spPr>
        <p:txBody>
          <a:bodyPr wrap="none">
            <a:spAutoFit/>
          </a:bodyPr>
          <a:lstStyle/>
          <a:p>
            <a:pPr>
              <a:defRPr/>
            </a:pPr>
            <a:r>
              <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哪来的倒霉玩意儿</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a:p>
            <a:pPr>
              <a:defRPr/>
            </a:pPr>
            <a:r>
              <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我东西你俩说用就用</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0" name="对话气泡: 椭圆形 49">
            <a:extLst>
              <a:ext uri="{FF2B5EF4-FFF2-40B4-BE49-F238E27FC236}">
                <a16:creationId xmlns:a16="http://schemas.microsoft.com/office/drawing/2014/main" id="{DD87C8D0-5098-44C9-BF26-F425A71188E2}"/>
              </a:ext>
            </a:extLst>
          </p:cNvPr>
          <p:cNvSpPr/>
          <p:nvPr/>
        </p:nvSpPr>
        <p:spPr>
          <a:xfrm>
            <a:off x="1077062" y="4154807"/>
            <a:ext cx="1890184" cy="723900"/>
          </a:xfrm>
          <a:prstGeom prst="wedgeEllipseCallout">
            <a:avLst>
              <a:gd name="adj1" fmla="val 39408"/>
              <a:gd name="adj2" fmla="val 61262"/>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zh-CN" altLang="en-US" sz="2400" dirty="0">
                <a:latin typeface="Consolas" panose="020B0609020204030204" pitchFamily="49" charset="0"/>
                <a:ea typeface="阿里巴巴普惠体" panose="00020600040101010101" pitchFamily="18" charset="-122"/>
                <a:cs typeface="阿里巴巴普惠体" panose="00020600040101010101" pitchFamily="18" charset="-122"/>
              </a:rPr>
              <a:t>爸爸</a:t>
            </a:r>
            <a:r>
              <a:rPr lang="en-US" altLang="zh-CN" sz="24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2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1" name="对话气泡: 椭圆形 50">
            <a:extLst>
              <a:ext uri="{FF2B5EF4-FFF2-40B4-BE49-F238E27FC236}">
                <a16:creationId xmlns:a16="http://schemas.microsoft.com/office/drawing/2014/main" id="{3B029563-6312-4F04-AC62-6F812D4A0BF3}"/>
              </a:ext>
            </a:extLst>
          </p:cNvPr>
          <p:cNvSpPr/>
          <p:nvPr/>
        </p:nvSpPr>
        <p:spPr>
          <a:xfrm>
            <a:off x="7714929" y="4169624"/>
            <a:ext cx="1890184" cy="723900"/>
          </a:xfrm>
          <a:prstGeom prst="wedgeEllipseCallout">
            <a:avLst>
              <a:gd name="adj1" fmla="val -36013"/>
              <a:gd name="adj2" fmla="val 68690"/>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zh-CN" altLang="en-US" sz="2400" dirty="0">
                <a:latin typeface="Consolas" panose="020B0609020204030204" pitchFamily="49" charset="0"/>
                <a:ea typeface="阿里巴巴普惠体" panose="00020600040101010101" pitchFamily="18" charset="-122"/>
                <a:cs typeface="阿里巴巴普惠体" panose="00020600040101010101" pitchFamily="18" charset="-122"/>
              </a:rPr>
              <a:t>爸爸</a:t>
            </a:r>
            <a:r>
              <a:rPr lang="en-US" altLang="zh-CN" sz="24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2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2" name="TextBox 10">
            <a:extLst>
              <a:ext uri="{FF2B5EF4-FFF2-40B4-BE49-F238E27FC236}">
                <a16:creationId xmlns:a16="http://schemas.microsoft.com/office/drawing/2014/main" id="{83E5F79B-F95E-4AD1-A63E-AF904B2995FE}"/>
              </a:ext>
            </a:extLst>
          </p:cNvPr>
          <p:cNvSpPr txBox="1"/>
          <p:nvPr/>
        </p:nvSpPr>
        <p:spPr>
          <a:xfrm>
            <a:off x="710879" y="2247690"/>
            <a:ext cx="5671259" cy="1903278"/>
          </a:xfrm>
          <a:prstGeom prst="rect">
            <a:avLst/>
          </a:prstGeom>
          <a:noFill/>
        </p:spPr>
        <p:txBody>
          <a:bodyPr wrap="square">
            <a:spAutoFit/>
          </a:bodyPr>
          <a:lstStyle/>
          <a:p>
            <a:pPr>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继承的格式</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814908" lvl="1" indent="-357708">
              <a:lnSpc>
                <a:spcPct val="150000"/>
              </a:lnSpc>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格式：</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子类名 </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extends</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父类名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marL="814908" lvl="1" indent="-357708">
              <a:lnSpc>
                <a:spcPct val="150000"/>
              </a:lnSpc>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范例：</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6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Zi</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extends</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Fu { }</a:t>
            </a:r>
          </a:p>
          <a:p>
            <a:pPr marL="814908" lvl="1" indent="-357708">
              <a:lnSpc>
                <a:spcPct val="150000"/>
              </a:lnSpc>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Fu</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：是父类，也被称为基类、超类</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814908" lvl="1" indent="-357708">
              <a:lnSpc>
                <a:spcPct val="150000"/>
              </a:lnSpc>
              <a:buFont typeface="Wingdings" pitchFamily="2" charset="2"/>
              <a:buChar char="l"/>
              <a:defRPr/>
            </a:pPr>
            <a:r>
              <a:rPr lang="en-US" altLang="zh-CN" sz="16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Zi</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：是子类，也被称为派生类</a:t>
            </a:r>
          </a:p>
        </p:txBody>
      </p:sp>
      <p:sp>
        <p:nvSpPr>
          <p:cNvPr id="53" name="TextBox 3">
            <a:extLst>
              <a:ext uri="{FF2B5EF4-FFF2-40B4-BE49-F238E27FC236}">
                <a16:creationId xmlns:a16="http://schemas.microsoft.com/office/drawing/2014/main" id="{1616464F-2ED6-45B0-ACFD-E599A21C3813}"/>
              </a:ext>
            </a:extLst>
          </p:cNvPr>
          <p:cNvSpPr txBox="1"/>
          <p:nvPr/>
        </p:nvSpPr>
        <p:spPr>
          <a:xfrm>
            <a:off x="8074763" y="2787439"/>
            <a:ext cx="3481917" cy="1169551"/>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Hr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姓名</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年龄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double </a:t>
            </a:r>
            <a:r>
              <a:rPr lang="en-US" altLang="zh-CN" sz="1400" dirty="0">
                <a:solidFill>
                  <a:srgbClr val="871094"/>
                </a:solidFill>
                <a:latin typeface="Consolas" panose="020B0609020204030204" pitchFamily="49" charset="0"/>
                <a:ea typeface="阿里巴巴普惠体" panose="00020600040101010101" pitchFamily="18" charset="-122"/>
                <a:cs typeface="阿里巴巴普惠体" panose="00020600040101010101" pitchFamily="18" charset="-122"/>
              </a:rPr>
              <a:t>salary</a:t>
            </a: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工资</a:t>
            </a:r>
            <a:br>
              <a:rPr lang="zh-CN" altLang="zh-CN" sz="14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2133"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4" name="图片 3">
            <a:extLst>
              <a:ext uri="{FF2B5EF4-FFF2-40B4-BE49-F238E27FC236}">
                <a16:creationId xmlns:a16="http://schemas.microsoft.com/office/drawing/2014/main" id="{DF1380BC-424C-4C54-B639-BC315400D018}"/>
              </a:ext>
            </a:extLst>
          </p:cNvPr>
          <p:cNvPicPr>
            <a:picLocks noChangeAspect="1"/>
          </p:cNvPicPr>
          <p:nvPr/>
        </p:nvPicPr>
        <p:blipFill>
          <a:blip r:embed="rId2"/>
          <a:stretch>
            <a:fillRect/>
          </a:stretch>
        </p:blipFill>
        <p:spPr>
          <a:xfrm>
            <a:off x="1863868" y="5270268"/>
            <a:ext cx="2738037" cy="681941"/>
          </a:xfrm>
          <a:prstGeom prst="rect">
            <a:avLst/>
          </a:prstGeom>
        </p:spPr>
      </p:pic>
      <p:pic>
        <p:nvPicPr>
          <p:cNvPr id="20" name="图片 19">
            <a:extLst>
              <a:ext uri="{FF2B5EF4-FFF2-40B4-BE49-F238E27FC236}">
                <a16:creationId xmlns:a16="http://schemas.microsoft.com/office/drawing/2014/main" id="{CBB0E893-B707-4159-BE70-87B754847B1E}"/>
              </a:ext>
            </a:extLst>
          </p:cNvPr>
          <p:cNvPicPr>
            <a:picLocks noChangeAspect="1"/>
          </p:cNvPicPr>
          <p:nvPr/>
        </p:nvPicPr>
        <p:blipFill>
          <a:blip r:embed="rId2"/>
          <a:stretch>
            <a:fillRect/>
          </a:stretch>
        </p:blipFill>
        <p:spPr>
          <a:xfrm>
            <a:off x="6220866" y="5241044"/>
            <a:ext cx="2738037" cy="681941"/>
          </a:xfrm>
          <a:prstGeom prst="rect">
            <a:avLst/>
          </a:prstGeom>
        </p:spPr>
      </p:pic>
      <p:sp>
        <p:nvSpPr>
          <p:cNvPr id="2" name="标题 1">
            <a:extLst>
              <a:ext uri="{FF2B5EF4-FFF2-40B4-BE49-F238E27FC236}">
                <a16:creationId xmlns:a16="http://schemas.microsoft.com/office/drawing/2014/main" id="{88E24C50-2137-9D07-A68F-763858F306D5}"/>
              </a:ext>
            </a:extLst>
          </p:cNvPr>
          <p:cNvSpPr>
            <a:spLocks noGrp="1"/>
          </p:cNvSpPr>
          <p:nvPr>
            <p:ph type="title"/>
          </p:nvPr>
        </p:nvSpPr>
        <p:spPr/>
        <p:txBody>
          <a:bodyPr/>
          <a:lstStyle/>
          <a:p>
            <a:r>
              <a:rPr lang="zh-CN" altLang="en-US" dirty="0"/>
              <a:t>继承介绍</a:t>
            </a:r>
          </a:p>
        </p:txBody>
      </p:sp>
    </p:spTree>
    <p:extLst>
      <p:ext uri="{BB962C8B-B14F-4D97-AF65-F5344CB8AC3E}">
        <p14:creationId xmlns:p14="http://schemas.microsoft.com/office/powerpoint/2010/main" val="74471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anim calcmode="lin" valueType="num">
                                      <p:cBhvr additive="base">
                                        <p:cTn id="21" dur="500" fill="hold"/>
                                        <p:tgtEl>
                                          <p:spTgt spid="53"/>
                                        </p:tgtEl>
                                        <p:attrNameLst>
                                          <p:attrName>ppt_x</p:attrName>
                                        </p:attrNameLst>
                                      </p:cBhvr>
                                      <p:tavLst>
                                        <p:tav tm="0">
                                          <p:val>
                                            <p:strVal val="1+#ppt_w/2"/>
                                          </p:val>
                                        </p:tav>
                                        <p:tav tm="100000">
                                          <p:val>
                                            <p:strVal val="#ppt_x"/>
                                          </p:val>
                                        </p:tav>
                                      </p:tavLst>
                                    </p:anim>
                                    <p:anim calcmode="lin" valueType="num">
                                      <p:cBhvr additive="base">
                                        <p:cTn id="22"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53"/>
                                        </p:tgtEl>
                                        <p:attrNameLst>
                                          <p:attrName>style.visibility</p:attrName>
                                        </p:attrNameLst>
                                      </p:cBhvr>
                                      <p:to>
                                        <p:strVal val="hidden"/>
                                      </p:to>
                                    </p:set>
                                  </p:childTnLst>
                                </p:cTn>
                              </p:par>
                            </p:childTnLst>
                          </p:cTn>
                        </p:par>
                        <p:par>
                          <p:cTn id="27" fill="hold">
                            <p:stCondLst>
                              <p:cond delay="0"/>
                            </p:stCondLst>
                            <p:childTnLst>
                              <p:par>
                                <p:cTn id="28" presetID="2" presetClass="entr" presetSubtype="1" fill="hold" grpId="0"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ppt_x"/>
                                          </p:val>
                                        </p:tav>
                                        <p:tav tm="100000">
                                          <p:val>
                                            <p:strVal val="#ppt_x"/>
                                          </p:val>
                                        </p:tav>
                                      </p:tavLst>
                                    </p:anim>
                                    <p:anim calcmode="lin" valueType="num">
                                      <p:cBhvr additive="base">
                                        <p:cTn id="31" dur="500" fill="hold"/>
                                        <p:tgtEl>
                                          <p:spTgt spid="41"/>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par>
                                <p:cTn id="36" presetID="22" presetClass="entr" presetSubtype="4"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22" presetClass="entr" presetSubtype="4"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down)">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left)">
                                      <p:cBhvr>
                                        <p:cTn id="46" dur="500"/>
                                        <p:tgtEl>
                                          <p:spTgt spid="4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wipe(down)">
                                      <p:cBhvr>
                                        <p:cTn id="51" dur="500"/>
                                        <p:tgtEl>
                                          <p:spTgt spid="46"/>
                                        </p:tgtEl>
                                      </p:cBhvr>
                                    </p:animEffect>
                                  </p:childTnLst>
                                </p:cTn>
                              </p:par>
                              <p:par>
                                <p:cTn id="52" presetID="22" presetClass="entr" presetSubtype="4" fill="hold"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wipe(down)">
                                      <p:cBhvr>
                                        <p:cTn id="54" dur="500"/>
                                        <p:tgtEl>
                                          <p:spTgt spid="4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wipe(right)">
                                      <p:cBhvr>
                                        <p:cTn id="59" dur="500"/>
                                        <p:tgtEl>
                                          <p:spTgt spid="4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wipe(down)">
                                      <p:cBhvr>
                                        <p:cTn id="67" dur="500"/>
                                        <p:tgtEl>
                                          <p:spTgt spid="50"/>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down)">
                                      <p:cBhvr>
                                        <p:cTn id="70" dur="500"/>
                                        <p:tgtEl>
                                          <p:spTgt spid="51"/>
                                        </p:tgtEl>
                                      </p:cBhvr>
                                    </p:animEffect>
                                  </p:childTnLst>
                                </p:cTn>
                              </p:par>
                              <p:par>
                                <p:cTn id="71" presetID="32" presetClass="emph" presetSubtype="0" fill="hold" grpId="1" nodeType="withEffect">
                                  <p:stCondLst>
                                    <p:cond delay="0"/>
                                  </p:stCondLst>
                                  <p:childTnLst>
                                    <p:animRot by="120000">
                                      <p:cBhvr>
                                        <p:cTn id="72" dur="100" fill="hold">
                                          <p:stCondLst>
                                            <p:cond delay="0"/>
                                          </p:stCondLst>
                                        </p:cTn>
                                        <p:tgtEl>
                                          <p:spTgt spid="50"/>
                                        </p:tgtEl>
                                        <p:attrNameLst>
                                          <p:attrName>r</p:attrName>
                                        </p:attrNameLst>
                                      </p:cBhvr>
                                    </p:animRot>
                                    <p:animRot by="-240000">
                                      <p:cBhvr>
                                        <p:cTn id="73" dur="200" fill="hold">
                                          <p:stCondLst>
                                            <p:cond delay="200"/>
                                          </p:stCondLst>
                                        </p:cTn>
                                        <p:tgtEl>
                                          <p:spTgt spid="50"/>
                                        </p:tgtEl>
                                        <p:attrNameLst>
                                          <p:attrName>r</p:attrName>
                                        </p:attrNameLst>
                                      </p:cBhvr>
                                    </p:animRot>
                                    <p:animRot by="240000">
                                      <p:cBhvr>
                                        <p:cTn id="74" dur="200" fill="hold">
                                          <p:stCondLst>
                                            <p:cond delay="400"/>
                                          </p:stCondLst>
                                        </p:cTn>
                                        <p:tgtEl>
                                          <p:spTgt spid="50"/>
                                        </p:tgtEl>
                                        <p:attrNameLst>
                                          <p:attrName>r</p:attrName>
                                        </p:attrNameLst>
                                      </p:cBhvr>
                                    </p:animRot>
                                    <p:animRot by="-240000">
                                      <p:cBhvr>
                                        <p:cTn id="75" dur="200" fill="hold">
                                          <p:stCondLst>
                                            <p:cond delay="600"/>
                                          </p:stCondLst>
                                        </p:cTn>
                                        <p:tgtEl>
                                          <p:spTgt spid="50"/>
                                        </p:tgtEl>
                                        <p:attrNameLst>
                                          <p:attrName>r</p:attrName>
                                        </p:attrNameLst>
                                      </p:cBhvr>
                                    </p:animRot>
                                    <p:animRot by="120000">
                                      <p:cBhvr>
                                        <p:cTn id="76" dur="200" fill="hold">
                                          <p:stCondLst>
                                            <p:cond delay="800"/>
                                          </p:stCondLst>
                                        </p:cTn>
                                        <p:tgtEl>
                                          <p:spTgt spid="50"/>
                                        </p:tgtEl>
                                        <p:attrNameLst>
                                          <p:attrName>r</p:attrName>
                                        </p:attrNameLst>
                                      </p:cBhvr>
                                    </p:animRot>
                                  </p:childTnLst>
                                </p:cTn>
                              </p:par>
                              <p:par>
                                <p:cTn id="77" presetID="32" presetClass="emph" presetSubtype="0" fill="hold" grpId="1" nodeType="withEffect">
                                  <p:stCondLst>
                                    <p:cond delay="0"/>
                                  </p:stCondLst>
                                  <p:childTnLst>
                                    <p:animRot by="120000">
                                      <p:cBhvr>
                                        <p:cTn id="78" dur="100" fill="hold">
                                          <p:stCondLst>
                                            <p:cond delay="0"/>
                                          </p:stCondLst>
                                        </p:cTn>
                                        <p:tgtEl>
                                          <p:spTgt spid="51"/>
                                        </p:tgtEl>
                                        <p:attrNameLst>
                                          <p:attrName>r</p:attrName>
                                        </p:attrNameLst>
                                      </p:cBhvr>
                                    </p:animRot>
                                    <p:animRot by="-240000">
                                      <p:cBhvr>
                                        <p:cTn id="79" dur="200" fill="hold">
                                          <p:stCondLst>
                                            <p:cond delay="200"/>
                                          </p:stCondLst>
                                        </p:cTn>
                                        <p:tgtEl>
                                          <p:spTgt spid="51"/>
                                        </p:tgtEl>
                                        <p:attrNameLst>
                                          <p:attrName>r</p:attrName>
                                        </p:attrNameLst>
                                      </p:cBhvr>
                                    </p:animRot>
                                    <p:animRot by="240000">
                                      <p:cBhvr>
                                        <p:cTn id="80" dur="200" fill="hold">
                                          <p:stCondLst>
                                            <p:cond delay="400"/>
                                          </p:stCondLst>
                                        </p:cTn>
                                        <p:tgtEl>
                                          <p:spTgt spid="51"/>
                                        </p:tgtEl>
                                        <p:attrNameLst>
                                          <p:attrName>r</p:attrName>
                                        </p:attrNameLst>
                                      </p:cBhvr>
                                    </p:animRot>
                                    <p:animRot by="-240000">
                                      <p:cBhvr>
                                        <p:cTn id="81" dur="200" fill="hold">
                                          <p:stCondLst>
                                            <p:cond delay="600"/>
                                          </p:stCondLst>
                                        </p:cTn>
                                        <p:tgtEl>
                                          <p:spTgt spid="51"/>
                                        </p:tgtEl>
                                        <p:attrNameLst>
                                          <p:attrName>r</p:attrName>
                                        </p:attrNameLst>
                                      </p:cBhvr>
                                    </p:animRot>
                                    <p:animRot by="120000">
                                      <p:cBhvr>
                                        <p:cTn id="82" dur="200" fill="hold">
                                          <p:stCondLst>
                                            <p:cond delay="800"/>
                                          </p:stCondLst>
                                        </p:cTn>
                                        <p:tgtEl>
                                          <p:spTgt spid="51"/>
                                        </p:tgtEl>
                                        <p:attrNameLst>
                                          <p:attrName>r</p:attrName>
                                        </p:attrNameLst>
                                      </p:cBhvr>
                                    </p:animRot>
                                  </p:childTnLst>
                                </p:cTn>
                              </p:par>
                            </p:childTnLst>
                          </p:cTn>
                        </p:par>
                      </p:childTnLst>
                    </p:cTn>
                  </p:par>
                  <p:par>
                    <p:cTn id="83" fill="hold">
                      <p:stCondLst>
                        <p:cond delay="indefinite"/>
                      </p:stCondLst>
                      <p:childTnLst>
                        <p:par>
                          <p:cTn id="84" fill="hold">
                            <p:stCondLst>
                              <p:cond delay="0"/>
                            </p:stCondLst>
                            <p:childTnLst>
                              <p:par>
                                <p:cTn id="85" presetID="2" presetClass="exit" presetSubtype="4" fill="hold" grpId="1" nodeType="clickEffect">
                                  <p:stCondLst>
                                    <p:cond delay="0"/>
                                  </p:stCondLst>
                                  <p:childTnLst>
                                    <p:anim calcmode="lin" valueType="num">
                                      <p:cBhvr additive="base">
                                        <p:cTn id="86" dur="500"/>
                                        <p:tgtEl>
                                          <p:spTgt spid="39"/>
                                        </p:tgtEl>
                                        <p:attrNameLst>
                                          <p:attrName>ppt_x</p:attrName>
                                        </p:attrNameLst>
                                      </p:cBhvr>
                                      <p:tavLst>
                                        <p:tav tm="0">
                                          <p:val>
                                            <p:strVal val="ppt_x"/>
                                          </p:val>
                                        </p:tav>
                                        <p:tav tm="100000">
                                          <p:val>
                                            <p:strVal val="ppt_x"/>
                                          </p:val>
                                        </p:tav>
                                      </p:tavLst>
                                    </p:anim>
                                    <p:anim calcmode="lin" valueType="num">
                                      <p:cBhvr additive="base">
                                        <p:cTn id="87" dur="500"/>
                                        <p:tgtEl>
                                          <p:spTgt spid="39"/>
                                        </p:tgtEl>
                                        <p:attrNameLst>
                                          <p:attrName>ppt_y</p:attrName>
                                        </p:attrNameLst>
                                      </p:cBhvr>
                                      <p:tavLst>
                                        <p:tav tm="0">
                                          <p:val>
                                            <p:strVal val="ppt_y"/>
                                          </p:val>
                                        </p:tav>
                                        <p:tav tm="100000">
                                          <p:val>
                                            <p:strVal val="1+ppt_h/2"/>
                                          </p:val>
                                        </p:tav>
                                      </p:tavLst>
                                    </p:anim>
                                    <p:set>
                                      <p:cBhvr>
                                        <p:cTn id="88" dur="1" fill="hold">
                                          <p:stCondLst>
                                            <p:cond delay="499"/>
                                          </p:stCondLst>
                                        </p:cTn>
                                        <p:tgtEl>
                                          <p:spTgt spid="39"/>
                                        </p:tgtEl>
                                        <p:attrNameLst>
                                          <p:attrName>style.visibility</p:attrName>
                                        </p:attrNameLst>
                                      </p:cBhvr>
                                      <p:to>
                                        <p:strVal val="hidden"/>
                                      </p:to>
                                    </p:set>
                                  </p:childTnLst>
                                </p:cTn>
                              </p:par>
                              <p:par>
                                <p:cTn id="89" presetID="2" presetClass="exit" presetSubtype="4" fill="hold" grpId="1" nodeType="withEffect">
                                  <p:stCondLst>
                                    <p:cond delay="0"/>
                                  </p:stCondLst>
                                  <p:childTnLst>
                                    <p:anim calcmode="lin" valueType="num">
                                      <p:cBhvr additive="base">
                                        <p:cTn id="90" dur="500"/>
                                        <p:tgtEl>
                                          <p:spTgt spid="40"/>
                                        </p:tgtEl>
                                        <p:attrNameLst>
                                          <p:attrName>ppt_x</p:attrName>
                                        </p:attrNameLst>
                                      </p:cBhvr>
                                      <p:tavLst>
                                        <p:tav tm="0">
                                          <p:val>
                                            <p:strVal val="ppt_x"/>
                                          </p:val>
                                        </p:tav>
                                        <p:tav tm="100000">
                                          <p:val>
                                            <p:strVal val="ppt_x"/>
                                          </p:val>
                                        </p:tav>
                                      </p:tavLst>
                                    </p:anim>
                                    <p:anim calcmode="lin" valueType="num">
                                      <p:cBhvr additive="base">
                                        <p:cTn id="91" dur="500"/>
                                        <p:tgtEl>
                                          <p:spTgt spid="40"/>
                                        </p:tgtEl>
                                        <p:attrNameLst>
                                          <p:attrName>ppt_y</p:attrName>
                                        </p:attrNameLst>
                                      </p:cBhvr>
                                      <p:tavLst>
                                        <p:tav tm="0">
                                          <p:val>
                                            <p:strVal val="ppt_y"/>
                                          </p:val>
                                        </p:tav>
                                        <p:tav tm="100000">
                                          <p:val>
                                            <p:strVal val="1+ppt_h/2"/>
                                          </p:val>
                                        </p:tav>
                                      </p:tavLst>
                                    </p:anim>
                                    <p:set>
                                      <p:cBhvr>
                                        <p:cTn id="92" dur="1" fill="hold">
                                          <p:stCondLst>
                                            <p:cond delay="499"/>
                                          </p:stCondLst>
                                        </p:cTn>
                                        <p:tgtEl>
                                          <p:spTgt spid="40"/>
                                        </p:tgtEl>
                                        <p:attrNameLst>
                                          <p:attrName>style.visibility</p:attrName>
                                        </p:attrNameLst>
                                      </p:cBhvr>
                                      <p:to>
                                        <p:strVal val="hidden"/>
                                      </p:to>
                                    </p:set>
                                  </p:childTnLst>
                                </p:cTn>
                              </p:par>
                              <p:par>
                                <p:cTn id="93" presetID="2" presetClass="exit" presetSubtype="4" fill="hold" grpId="1" nodeType="withEffect">
                                  <p:stCondLst>
                                    <p:cond delay="0"/>
                                  </p:stCondLst>
                                  <p:childTnLst>
                                    <p:anim calcmode="lin" valueType="num">
                                      <p:cBhvr additive="base">
                                        <p:cTn id="94" dur="500"/>
                                        <p:tgtEl>
                                          <p:spTgt spid="41"/>
                                        </p:tgtEl>
                                        <p:attrNameLst>
                                          <p:attrName>ppt_x</p:attrName>
                                        </p:attrNameLst>
                                      </p:cBhvr>
                                      <p:tavLst>
                                        <p:tav tm="0">
                                          <p:val>
                                            <p:strVal val="ppt_x"/>
                                          </p:val>
                                        </p:tav>
                                        <p:tav tm="100000">
                                          <p:val>
                                            <p:strVal val="ppt_x"/>
                                          </p:val>
                                        </p:tav>
                                      </p:tavLst>
                                    </p:anim>
                                    <p:anim calcmode="lin" valueType="num">
                                      <p:cBhvr additive="base">
                                        <p:cTn id="95" dur="500"/>
                                        <p:tgtEl>
                                          <p:spTgt spid="41"/>
                                        </p:tgtEl>
                                        <p:attrNameLst>
                                          <p:attrName>ppt_y</p:attrName>
                                        </p:attrNameLst>
                                      </p:cBhvr>
                                      <p:tavLst>
                                        <p:tav tm="0">
                                          <p:val>
                                            <p:strVal val="ppt_y"/>
                                          </p:val>
                                        </p:tav>
                                        <p:tav tm="100000">
                                          <p:val>
                                            <p:strVal val="1+ppt_h/2"/>
                                          </p:val>
                                        </p:tav>
                                      </p:tavLst>
                                    </p:anim>
                                    <p:set>
                                      <p:cBhvr>
                                        <p:cTn id="96" dur="1" fill="hold">
                                          <p:stCondLst>
                                            <p:cond delay="499"/>
                                          </p:stCondLst>
                                        </p:cTn>
                                        <p:tgtEl>
                                          <p:spTgt spid="41"/>
                                        </p:tgtEl>
                                        <p:attrNameLst>
                                          <p:attrName>style.visibility</p:attrName>
                                        </p:attrNameLst>
                                      </p:cBhvr>
                                      <p:to>
                                        <p:strVal val="hidden"/>
                                      </p:to>
                                    </p:set>
                                  </p:childTnLst>
                                </p:cTn>
                              </p:par>
                              <p:par>
                                <p:cTn id="97" presetID="2" presetClass="exit" presetSubtype="4" fill="hold" grpId="1" nodeType="withEffect">
                                  <p:stCondLst>
                                    <p:cond delay="0"/>
                                  </p:stCondLst>
                                  <p:childTnLst>
                                    <p:anim calcmode="lin" valueType="num">
                                      <p:cBhvr additive="base">
                                        <p:cTn id="98" dur="500"/>
                                        <p:tgtEl>
                                          <p:spTgt spid="42"/>
                                        </p:tgtEl>
                                        <p:attrNameLst>
                                          <p:attrName>ppt_x</p:attrName>
                                        </p:attrNameLst>
                                      </p:cBhvr>
                                      <p:tavLst>
                                        <p:tav tm="0">
                                          <p:val>
                                            <p:strVal val="ppt_x"/>
                                          </p:val>
                                        </p:tav>
                                        <p:tav tm="100000">
                                          <p:val>
                                            <p:strVal val="ppt_x"/>
                                          </p:val>
                                        </p:tav>
                                      </p:tavLst>
                                    </p:anim>
                                    <p:anim calcmode="lin" valueType="num">
                                      <p:cBhvr additive="base">
                                        <p:cTn id="99" dur="500"/>
                                        <p:tgtEl>
                                          <p:spTgt spid="42"/>
                                        </p:tgtEl>
                                        <p:attrNameLst>
                                          <p:attrName>ppt_y</p:attrName>
                                        </p:attrNameLst>
                                      </p:cBhvr>
                                      <p:tavLst>
                                        <p:tav tm="0">
                                          <p:val>
                                            <p:strVal val="ppt_y"/>
                                          </p:val>
                                        </p:tav>
                                        <p:tav tm="100000">
                                          <p:val>
                                            <p:strVal val="1+ppt_h/2"/>
                                          </p:val>
                                        </p:tav>
                                      </p:tavLst>
                                    </p:anim>
                                    <p:set>
                                      <p:cBhvr>
                                        <p:cTn id="100" dur="1" fill="hold">
                                          <p:stCondLst>
                                            <p:cond delay="499"/>
                                          </p:stCondLst>
                                        </p:cTn>
                                        <p:tgtEl>
                                          <p:spTgt spid="42"/>
                                        </p:tgtEl>
                                        <p:attrNameLst>
                                          <p:attrName>style.visibility</p:attrName>
                                        </p:attrNameLst>
                                      </p:cBhvr>
                                      <p:to>
                                        <p:strVal val="hidden"/>
                                      </p:to>
                                    </p:set>
                                  </p:childTnLst>
                                </p:cTn>
                              </p:par>
                              <p:par>
                                <p:cTn id="101" presetID="2" presetClass="exit" presetSubtype="4" fill="hold" grpId="1" nodeType="withEffect">
                                  <p:stCondLst>
                                    <p:cond delay="0"/>
                                  </p:stCondLst>
                                  <p:childTnLst>
                                    <p:anim calcmode="lin" valueType="num">
                                      <p:cBhvr additive="base">
                                        <p:cTn id="102" dur="500"/>
                                        <p:tgtEl>
                                          <p:spTgt spid="43"/>
                                        </p:tgtEl>
                                        <p:attrNameLst>
                                          <p:attrName>ppt_x</p:attrName>
                                        </p:attrNameLst>
                                      </p:cBhvr>
                                      <p:tavLst>
                                        <p:tav tm="0">
                                          <p:val>
                                            <p:strVal val="ppt_x"/>
                                          </p:val>
                                        </p:tav>
                                        <p:tav tm="100000">
                                          <p:val>
                                            <p:strVal val="ppt_x"/>
                                          </p:val>
                                        </p:tav>
                                      </p:tavLst>
                                    </p:anim>
                                    <p:anim calcmode="lin" valueType="num">
                                      <p:cBhvr additive="base">
                                        <p:cTn id="103" dur="500"/>
                                        <p:tgtEl>
                                          <p:spTgt spid="43"/>
                                        </p:tgtEl>
                                        <p:attrNameLst>
                                          <p:attrName>ppt_y</p:attrName>
                                        </p:attrNameLst>
                                      </p:cBhvr>
                                      <p:tavLst>
                                        <p:tav tm="0">
                                          <p:val>
                                            <p:strVal val="ppt_y"/>
                                          </p:val>
                                        </p:tav>
                                        <p:tav tm="100000">
                                          <p:val>
                                            <p:strVal val="1+ppt_h/2"/>
                                          </p:val>
                                        </p:tav>
                                      </p:tavLst>
                                    </p:anim>
                                    <p:set>
                                      <p:cBhvr>
                                        <p:cTn id="104" dur="1" fill="hold">
                                          <p:stCondLst>
                                            <p:cond delay="499"/>
                                          </p:stCondLst>
                                        </p:cTn>
                                        <p:tgtEl>
                                          <p:spTgt spid="43"/>
                                        </p:tgtEl>
                                        <p:attrNameLst>
                                          <p:attrName>style.visibility</p:attrName>
                                        </p:attrNameLst>
                                      </p:cBhvr>
                                      <p:to>
                                        <p:strVal val="hidden"/>
                                      </p:to>
                                    </p:set>
                                  </p:childTnLst>
                                </p:cTn>
                              </p:par>
                              <p:par>
                                <p:cTn id="105" presetID="2" presetClass="exit" presetSubtype="4" fill="hold" nodeType="withEffect">
                                  <p:stCondLst>
                                    <p:cond delay="0"/>
                                  </p:stCondLst>
                                  <p:childTnLst>
                                    <p:anim calcmode="lin" valueType="num">
                                      <p:cBhvr additive="base">
                                        <p:cTn id="106" dur="500"/>
                                        <p:tgtEl>
                                          <p:spTgt spid="46"/>
                                        </p:tgtEl>
                                        <p:attrNameLst>
                                          <p:attrName>ppt_x</p:attrName>
                                        </p:attrNameLst>
                                      </p:cBhvr>
                                      <p:tavLst>
                                        <p:tav tm="0">
                                          <p:val>
                                            <p:strVal val="ppt_x"/>
                                          </p:val>
                                        </p:tav>
                                        <p:tav tm="100000">
                                          <p:val>
                                            <p:strVal val="ppt_x"/>
                                          </p:val>
                                        </p:tav>
                                      </p:tavLst>
                                    </p:anim>
                                    <p:anim calcmode="lin" valueType="num">
                                      <p:cBhvr additive="base">
                                        <p:cTn id="107" dur="500"/>
                                        <p:tgtEl>
                                          <p:spTgt spid="46"/>
                                        </p:tgtEl>
                                        <p:attrNameLst>
                                          <p:attrName>ppt_y</p:attrName>
                                        </p:attrNameLst>
                                      </p:cBhvr>
                                      <p:tavLst>
                                        <p:tav tm="0">
                                          <p:val>
                                            <p:strVal val="ppt_y"/>
                                          </p:val>
                                        </p:tav>
                                        <p:tav tm="100000">
                                          <p:val>
                                            <p:strVal val="1+ppt_h/2"/>
                                          </p:val>
                                        </p:tav>
                                      </p:tavLst>
                                    </p:anim>
                                    <p:set>
                                      <p:cBhvr>
                                        <p:cTn id="108" dur="1" fill="hold">
                                          <p:stCondLst>
                                            <p:cond delay="499"/>
                                          </p:stCondLst>
                                        </p:cTn>
                                        <p:tgtEl>
                                          <p:spTgt spid="46"/>
                                        </p:tgtEl>
                                        <p:attrNameLst>
                                          <p:attrName>style.visibility</p:attrName>
                                        </p:attrNameLst>
                                      </p:cBhvr>
                                      <p:to>
                                        <p:strVal val="hidden"/>
                                      </p:to>
                                    </p:set>
                                  </p:childTnLst>
                                </p:cTn>
                              </p:par>
                              <p:par>
                                <p:cTn id="109" presetID="2" presetClass="exit" presetSubtype="4" fill="hold" nodeType="withEffect">
                                  <p:stCondLst>
                                    <p:cond delay="0"/>
                                  </p:stCondLst>
                                  <p:childTnLst>
                                    <p:anim calcmode="lin" valueType="num">
                                      <p:cBhvr additive="base">
                                        <p:cTn id="110" dur="500"/>
                                        <p:tgtEl>
                                          <p:spTgt spid="47"/>
                                        </p:tgtEl>
                                        <p:attrNameLst>
                                          <p:attrName>ppt_x</p:attrName>
                                        </p:attrNameLst>
                                      </p:cBhvr>
                                      <p:tavLst>
                                        <p:tav tm="0">
                                          <p:val>
                                            <p:strVal val="ppt_x"/>
                                          </p:val>
                                        </p:tav>
                                        <p:tav tm="100000">
                                          <p:val>
                                            <p:strVal val="ppt_x"/>
                                          </p:val>
                                        </p:tav>
                                      </p:tavLst>
                                    </p:anim>
                                    <p:anim calcmode="lin" valueType="num">
                                      <p:cBhvr additive="base">
                                        <p:cTn id="111" dur="500"/>
                                        <p:tgtEl>
                                          <p:spTgt spid="47"/>
                                        </p:tgtEl>
                                        <p:attrNameLst>
                                          <p:attrName>ppt_y</p:attrName>
                                        </p:attrNameLst>
                                      </p:cBhvr>
                                      <p:tavLst>
                                        <p:tav tm="0">
                                          <p:val>
                                            <p:strVal val="ppt_y"/>
                                          </p:val>
                                        </p:tav>
                                        <p:tav tm="100000">
                                          <p:val>
                                            <p:strVal val="1+ppt_h/2"/>
                                          </p:val>
                                        </p:tav>
                                      </p:tavLst>
                                    </p:anim>
                                    <p:set>
                                      <p:cBhvr>
                                        <p:cTn id="112" dur="1" fill="hold">
                                          <p:stCondLst>
                                            <p:cond delay="499"/>
                                          </p:stCondLst>
                                        </p:cTn>
                                        <p:tgtEl>
                                          <p:spTgt spid="47"/>
                                        </p:tgtEl>
                                        <p:attrNameLst>
                                          <p:attrName>style.visibility</p:attrName>
                                        </p:attrNameLst>
                                      </p:cBhvr>
                                      <p:to>
                                        <p:strVal val="hidden"/>
                                      </p:to>
                                    </p:set>
                                  </p:childTnLst>
                                </p:cTn>
                              </p:par>
                              <p:par>
                                <p:cTn id="113" presetID="2" presetClass="exit" presetSubtype="4" fill="hold" grpId="1" nodeType="withEffect">
                                  <p:stCondLst>
                                    <p:cond delay="0"/>
                                  </p:stCondLst>
                                  <p:childTnLst>
                                    <p:anim calcmode="lin" valueType="num">
                                      <p:cBhvr additive="base">
                                        <p:cTn id="114" dur="500"/>
                                        <p:tgtEl>
                                          <p:spTgt spid="48"/>
                                        </p:tgtEl>
                                        <p:attrNameLst>
                                          <p:attrName>ppt_x</p:attrName>
                                        </p:attrNameLst>
                                      </p:cBhvr>
                                      <p:tavLst>
                                        <p:tav tm="0">
                                          <p:val>
                                            <p:strVal val="ppt_x"/>
                                          </p:val>
                                        </p:tav>
                                        <p:tav tm="100000">
                                          <p:val>
                                            <p:strVal val="ppt_x"/>
                                          </p:val>
                                        </p:tav>
                                      </p:tavLst>
                                    </p:anim>
                                    <p:anim calcmode="lin" valueType="num">
                                      <p:cBhvr additive="base">
                                        <p:cTn id="115" dur="500"/>
                                        <p:tgtEl>
                                          <p:spTgt spid="48"/>
                                        </p:tgtEl>
                                        <p:attrNameLst>
                                          <p:attrName>ppt_y</p:attrName>
                                        </p:attrNameLst>
                                      </p:cBhvr>
                                      <p:tavLst>
                                        <p:tav tm="0">
                                          <p:val>
                                            <p:strVal val="ppt_y"/>
                                          </p:val>
                                        </p:tav>
                                        <p:tav tm="100000">
                                          <p:val>
                                            <p:strVal val="1+ppt_h/2"/>
                                          </p:val>
                                        </p:tav>
                                      </p:tavLst>
                                    </p:anim>
                                    <p:set>
                                      <p:cBhvr>
                                        <p:cTn id="116" dur="1" fill="hold">
                                          <p:stCondLst>
                                            <p:cond delay="499"/>
                                          </p:stCondLst>
                                        </p:cTn>
                                        <p:tgtEl>
                                          <p:spTgt spid="48"/>
                                        </p:tgtEl>
                                        <p:attrNameLst>
                                          <p:attrName>style.visibility</p:attrName>
                                        </p:attrNameLst>
                                      </p:cBhvr>
                                      <p:to>
                                        <p:strVal val="hidden"/>
                                      </p:to>
                                    </p:set>
                                  </p:childTnLst>
                                </p:cTn>
                              </p:par>
                              <p:par>
                                <p:cTn id="117" presetID="2" presetClass="exit" presetSubtype="4" fill="hold" grpId="1" nodeType="withEffect">
                                  <p:stCondLst>
                                    <p:cond delay="0"/>
                                  </p:stCondLst>
                                  <p:childTnLst>
                                    <p:anim calcmode="lin" valueType="num">
                                      <p:cBhvr additive="base">
                                        <p:cTn id="118" dur="500"/>
                                        <p:tgtEl>
                                          <p:spTgt spid="49"/>
                                        </p:tgtEl>
                                        <p:attrNameLst>
                                          <p:attrName>ppt_x</p:attrName>
                                        </p:attrNameLst>
                                      </p:cBhvr>
                                      <p:tavLst>
                                        <p:tav tm="0">
                                          <p:val>
                                            <p:strVal val="ppt_x"/>
                                          </p:val>
                                        </p:tav>
                                        <p:tav tm="100000">
                                          <p:val>
                                            <p:strVal val="ppt_x"/>
                                          </p:val>
                                        </p:tav>
                                      </p:tavLst>
                                    </p:anim>
                                    <p:anim calcmode="lin" valueType="num">
                                      <p:cBhvr additive="base">
                                        <p:cTn id="119" dur="500"/>
                                        <p:tgtEl>
                                          <p:spTgt spid="49"/>
                                        </p:tgtEl>
                                        <p:attrNameLst>
                                          <p:attrName>ppt_y</p:attrName>
                                        </p:attrNameLst>
                                      </p:cBhvr>
                                      <p:tavLst>
                                        <p:tav tm="0">
                                          <p:val>
                                            <p:strVal val="ppt_y"/>
                                          </p:val>
                                        </p:tav>
                                        <p:tav tm="100000">
                                          <p:val>
                                            <p:strVal val="1+ppt_h/2"/>
                                          </p:val>
                                        </p:tav>
                                      </p:tavLst>
                                    </p:anim>
                                    <p:set>
                                      <p:cBhvr>
                                        <p:cTn id="120" dur="1" fill="hold">
                                          <p:stCondLst>
                                            <p:cond delay="499"/>
                                          </p:stCondLst>
                                        </p:cTn>
                                        <p:tgtEl>
                                          <p:spTgt spid="49"/>
                                        </p:tgtEl>
                                        <p:attrNameLst>
                                          <p:attrName>style.visibility</p:attrName>
                                        </p:attrNameLst>
                                      </p:cBhvr>
                                      <p:to>
                                        <p:strVal val="hidden"/>
                                      </p:to>
                                    </p:set>
                                  </p:childTnLst>
                                </p:cTn>
                              </p:par>
                              <p:par>
                                <p:cTn id="121" presetID="2" presetClass="exit" presetSubtype="4" fill="hold" nodeType="withEffect">
                                  <p:stCondLst>
                                    <p:cond delay="0"/>
                                  </p:stCondLst>
                                  <p:childTnLst>
                                    <p:anim calcmode="lin" valueType="num">
                                      <p:cBhvr additive="base">
                                        <p:cTn id="122" dur="500"/>
                                        <p:tgtEl>
                                          <p:spTgt spid="4"/>
                                        </p:tgtEl>
                                        <p:attrNameLst>
                                          <p:attrName>ppt_x</p:attrName>
                                        </p:attrNameLst>
                                      </p:cBhvr>
                                      <p:tavLst>
                                        <p:tav tm="0">
                                          <p:val>
                                            <p:strVal val="ppt_x"/>
                                          </p:val>
                                        </p:tav>
                                        <p:tav tm="100000">
                                          <p:val>
                                            <p:strVal val="ppt_x"/>
                                          </p:val>
                                        </p:tav>
                                      </p:tavLst>
                                    </p:anim>
                                    <p:anim calcmode="lin" valueType="num">
                                      <p:cBhvr additive="base">
                                        <p:cTn id="123" dur="500"/>
                                        <p:tgtEl>
                                          <p:spTgt spid="4"/>
                                        </p:tgtEl>
                                        <p:attrNameLst>
                                          <p:attrName>ppt_y</p:attrName>
                                        </p:attrNameLst>
                                      </p:cBhvr>
                                      <p:tavLst>
                                        <p:tav tm="0">
                                          <p:val>
                                            <p:strVal val="ppt_y"/>
                                          </p:val>
                                        </p:tav>
                                        <p:tav tm="100000">
                                          <p:val>
                                            <p:strVal val="1+ppt_h/2"/>
                                          </p:val>
                                        </p:tav>
                                      </p:tavLst>
                                    </p:anim>
                                    <p:set>
                                      <p:cBhvr>
                                        <p:cTn id="124" dur="1" fill="hold">
                                          <p:stCondLst>
                                            <p:cond delay="499"/>
                                          </p:stCondLst>
                                        </p:cTn>
                                        <p:tgtEl>
                                          <p:spTgt spid="4"/>
                                        </p:tgtEl>
                                        <p:attrNameLst>
                                          <p:attrName>style.visibility</p:attrName>
                                        </p:attrNameLst>
                                      </p:cBhvr>
                                      <p:to>
                                        <p:strVal val="hidden"/>
                                      </p:to>
                                    </p:set>
                                  </p:childTnLst>
                                </p:cTn>
                              </p:par>
                              <p:par>
                                <p:cTn id="125" presetID="2" presetClass="exit" presetSubtype="4" fill="hold" nodeType="withEffect">
                                  <p:stCondLst>
                                    <p:cond delay="0"/>
                                  </p:stCondLst>
                                  <p:childTnLst>
                                    <p:anim calcmode="lin" valueType="num">
                                      <p:cBhvr additive="base">
                                        <p:cTn id="126" dur="500"/>
                                        <p:tgtEl>
                                          <p:spTgt spid="20"/>
                                        </p:tgtEl>
                                        <p:attrNameLst>
                                          <p:attrName>ppt_x</p:attrName>
                                        </p:attrNameLst>
                                      </p:cBhvr>
                                      <p:tavLst>
                                        <p:tav tm="0">
                                          <p:val>
                                            <p:strVal val="ppt_x"/>
                                          </p:val>
                                        </p:tav>
                                        <p:tav tm="100000">
                                          <p:val>
                                            <p:strVal val="ppt_x"/>
                                          </p:val>
                                        </p:tav>
                                      </p:tavLst>
                                    </p:anim>
                                    <p:anim calcmode="lin" valueType="num">
                                      <p:cBhvr additive="base">
                                        <p:cTn id="127" dur="500"/>
                                        <p:tgtEl>
                                          <p:spTgt spid="20"/>
                                        </p:tgtEl>
                                        <p:attrNameLst>
                                          <p:attrName>ppt_y</p:attrName>
                                        </p:attrNameLst>
                                      </p:cBhvr>
                                      <p:tavLst>
                                        <p:tav tm="0">
                                          <p:val>
                                            <p:strVal val="ppt_y"/>
                                          </p:val>
                                        </p:tav>
                                        <p:tav tm="100000">
                                          <p:val>
                                            <p:strVal val="1+ppt_h/2"/>
                                          </p:val>
                                        </p:tav>
                                      </p:tavLst>
                                    </p:anim>
                                    <p:set>
                                      <p:cBhvr>
                                        <p:cTn id="128" dur="1" fill="hold">
                                          <p:stCondLst>
                                            <p:cond delay="499"/>
                                          </p:stCondLst>
                                        </p:cTn>
                                        <p:tgtEl>
                                          <p:spTgt spid="20"/>
                                        </p:tgtEl>
                                        <p:attrNameLst>
                                          <p:attrName>style.visibility</p:attrName>
                                        </p:attrNameLst>
                                      </p:cBhvr>
                                      <p:to>
                                        <p:strVal val="hidden"/>
                                      </p:to>
                                    </p:set>
                                  </p:childTnLst>
                                </p:cTn>
                              </p:par>
                              <p:par>
                                <p:cTn id="129" presetID="2" presetClass="exit" presetSubtype="4" fill="hold" grpId="2" nodeType="withEffect">
                                  <p:stCondLst>
                                    <p:cond delay="0"/>
                                  </p:stCondLst>
                                  <p:childTnLst>
                                    <p:anim calcmode="lin" valueType="num">
                                      <p:cBhvr additive="base">
                                        <p:cTn id="130" dur="500"/>
                                        <p:tgtEl>
                                          <p:spTgt spid="50"/>
                                        </p:tgtEl>
                                        <p:attrNameLst>
                                          <p:attrName>ppt_x</p:attrName>
                                        </p:attrNameLst>
                                      </p:cBhvr>
                                      <p:tavLst>
                                        <p:tav tm="0">
                                          <p:val>
                                            <p:strVal val="ppt_x"/>
                                          </p:val>
                                        </p:tav>
                                        <p:tav tm="100000">
                                          <p:val>
                                            <p:strVal val="ppt_x"/>
                                          </p:val>
                                        </p:tav>
                                      </p:tavLst>
                                    </p:anim>
                                    <p:anim calcmode="lin" valueType="num">
                                      <p:cBhvr additive="base">
                                        <p:cTn id="131" dur="500"/>
                                        <p:tgtEl>
                                          <p:spTgt spid="50"/>
                                        </p:tgtEl>
                                        <p:attrNameLst>
                                          <p:attrName>ppt_y</p:attrName>
                                        </p:attrNameLst>
                                      </p:cBhvr>
                                      <p:tavLst>
                                        <p:tav tm="0">
                                          <p:val>
                                            <p:strVal val="ppt_y"/>
                                          </p:val>
                                        </p:tav>
                                        <p:tav tm="100000">
                                          <p:val>
                                            <p:strVal val="1+ppt_h/2"/>
                                          </p:val>
                                        </p:tav>
                                      </p:tavLst>
                                    </p:anim>
                                    <p:set>
                                      <p:cBhvr>
                                        <p:cTn id="132" dur="1" fill="hold">
                                          <p:stCondLst>
                                            <p:cond delay="499"/>
                                          </p:stCondLst>
                                        </p:cTn>
                                        <p:tgtEl>
                                          <p:spTgt spid="50"/>
                                        </p:tgtEl>
                                        <p:attrNameLst>
                                          <p:attrName>style.visibility</p:attrName>
                                        </p:attrNameLst>
                                      </p:cBhvr>
                                      <p:to>
                                        <p:strVal val="hidden"/>
                                      </p:to>
                                    </p:set>
                                  </p:childTnLst>
                                </p:cTn>
                              </p:par>
                              <p:par>
                                <p:cTn id="133" presetID="2" presetClass="exit" presetSubtype="4" fill="hold" grpId="2" nodeType="withEffect">
                                  <p:stCondLst>
                                    <p:cond delay="0"/>
                                  </p:stCondLst>
                                  <p:childTnLst>
                                    <p:anim calcmode="lin" valueType="num">
                                      <p:cBhvr additive="base">
                                        <p:cTn id="134" dur="500"/>
                                        <p:tgtEl>
                                          <p:spTgt spid="51"/>
                                        </p:tgtEl>
                                        <p:attrNameLst>
                                          <p:attrName>ppt_x</p:attrName>
                                        </p:attrNameLst>
                                      </p:cBhvr>
                                      <p:tavLst>
                                        <p:tav tm="0">
                                          <p:val>
                                            <p:strVal val="ppt_x"/>
                                          </p:val>
                                        </p:tav>
                                        <p:tav tm="100000">
                                          <p:val>
                                            <p:strVal val="ppt_x"/>
                                          </p:val>
                                        </p:tav>
                                      </p:tavLst>
                                    </p:anim>
                                    <p:anim calcmode="lin" valueType="num">
                                      <p:cBhvr additive="base">
                                        <p:cTn id="135" dur="500"/>
                                        <p:tgtEl>
                                          <p:spTgt spid="51"/>
                                        </p:tgtEl>
                                        <p:attrNameLst>
                                          <p:attrName>ppt_y</p:attrName>
                                        </p:attrNameLst>
                                      </p:cBhvr>
                                      <p:tavLst>
                                        <p:tav tm="0">
                                          <p:val>
                                            <p:strVal val="ppt_y"/>
                                          </p:val>
                                        </p:tav>
                                        <p:tav tm="100000">
                                          <p:val>
                                            <p:strVal val="1+ppt_h/2"/>
                                          </p:val>
                                        </p:tav>
                                      </p:tavLst>
                                    </p:anim>
                                    <p:set>
                                      <p:cBhvr>
                                        <p:cTn id="136" dur="1" fill="hold">
                                          <p:stCondLst>
                                            <p:cond delay="499"/>
                                          </p:stCondLst>
                                        </p:cTn>
                                        <p:tgtEl>
                                          <p:spTgt spid="51"/>
                                        </p:tgtEl>
                                        <p:attrNameLst>
                                          <p:attrName>style.visibility</p:attrName>
                                        </p:attrNameLst>
                                      </p:cBhvr>
                                      <p:to>
                                        <p:strVal val="hidden"/>
                                      </p:to>
                                    </p:set>
                                  </p:childTnLst>
                                </p:cTn>
                              </p:par>
                            </p:childTnLst>
                          </p:cTn>
                        </p:par>
                        <p:par>
                          <p:cTn id="137" fill="hold">
                            <p:stCondLst>
                              <p:cond delay="500"/>
                            </p:stCondLst>
                            <p:childTnLst>
                              <p:par>
                                <p:cTn id="138" presetID="1" presetClass="entr" presetSubtype="0" fill="hold" nodeType="afterEffect">
                                  <p:stCondLst>
                                    <p:cond delay="0"/>
                                  </p:stCondLst>
                                  <p:childTnLst>
                                    <p:set>
                                      <p:cBhvr>
                                        <p:cTn id="139"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nodeType="clickEffect">
                                  <p:stCondLst>
                                    <p:cond delay="0"/>
                                  </p:stCondLst>
                                  <p:childTnLst>
                                    <p:set>
                                      <p:cBhvr>
                                        <p:cTn id="143" dur="1" fill="hold">
                                          <p:stCondLst>
                                            <p:cond delay="0"/>
                                          </p:stCondLst>
                                        </p:cTn>
                                        <p:tgtEl>
                                          <p:spTgt spid="52">
                                            <p:txEl>
                                              <p:pRg st="1" end="1"/>
                                            </p:txEl>
                                          </p:spTgt>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nodeType="clickEffect">
                                  <p:stCondLst>
                                    <p:cond delay="0"/>
                                  </p:stCondLst>
                                  <p:childTnLst>
                                    <p:set>
                                      <p:cBhvr>
                                        <p:cTn id="147" dur="1" fill="hold">
                                          <p:stCondLst>
                                            <p:cond delay="0"/>
                                          </p:stCondLst>
                                        </p:cTn>
                                        <p:tgtEl>
                                          <p:spTgt spid="52">
                                            <p:txEl>
                                              <p:pRg st="2" end="2"/>
                                            </p:txEl>
                                          </p:spTgt>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52">
                                            <p:txEl>
                                              <p:pRg st="3" end="3"/>
                                            </p:txEl>
                                          </p:spTgt>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nodeType="clickEffect">
                                  <p:stCondLst>
                                    <p:cond delay="0"/>
                                  </p:stCondLst>
                                  <p:childTnLst>
                                    <p:set>
                                      <p:cBhvr>
                                        <p:cTn id="155" dur="1" fill="hold">
                                          <p:stCondLst>
                                            <p:cond delay="0"/>
                                          </p:stCondLst>
                                        </p:cTn>
                                        <p:tgtEl>
                                          <p:spTgt spid="5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animBg="1"/>
      <p:bldP spid="39" grpId="1" animBg="1"/>
      <p:bldP spid="40" grpId="0" animBg="1"/>
      <p:bldP spid="40" grpId="1" animBg="1"/>
      <p:bldP spid="41" grpId="0" animBg="1"/>
      <p:bldP spid="41" grpId="1" animBg="1"/>
      <p:bldP spid="42" grpId="0"/>
      <p:bldP spid="42" grpId="1"/>
      <p:bldP spid="43" grpId="0"/>
      <p:bldP spid="43" grpId="1"/>
      <p:bldP spid="48" grpId="0" animBg="1"/>
      <p:bldP spid="48" grpId="1" animBg="1"/>
      <p:bldP spid="49" grpId="0"/>
      <p:bldP spid="49" grpId="1"/>
      <p:bldP spid="50" grpId="0" animBg="1"/>
      <p:bldP spid="50" grpId="1" animBg="1"/>
      <p:bldP spid="50" grpId="2" animBg="1"/>
      <p:bldP spid="51" grpId="0" animBg="1"/>
      <p:bldP spid="51" grpId="1" animBg="1"/>
      <p:bldP spid="51" grpId="2" animBg="1"/>
      <p:bldP spid="53" grpId="0" animBg="1"/>
      <p:bldP spid="5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9118CDBD-3CAA-4F99-A7E5-B3FC3223B716}"/>
              </a:ext>
            </a:extLst>
          </p:cNvPr>
          <p:cNvSpPr txBox="1"/>
          <p:nvPr/>
        </p:nvSpPr>
        <p:spPr>
          <a:xfrm>
            <a:off x="576626" y="1127258"/>
            <a:ext cx="10150856" cy="3011274"/>
          </a:xfrm>
          <a:prstGeom prst="rect">
            <a:avLst/>
          </a:prstGeom>
          <a:noFill/>
        </p:spPr>
        <p:txBody>
          <a:bodyPr wrap="none">
            <a:spAutoFit/>
          </a:bodyPr>
          <a:lstStyle/>
          <a:p>
            <a:pPr>
              <a:lnSpc>
                <a:spcPct val="150000"/>
              </a:lnSpc>
              <a:defRPr/>
            </a:pPr>
            <a:r>
              <a:rPr lang="zh-CN" altLang="en-US"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什么时候使用继承？</a:t>
            </a:r>
            <a:endPar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当类与类之间，存在相同 </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共性</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的内容，并且产生了 </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is a </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的关系，就可以考虑使用继承，来优化代码</a:t>
            </a:r>
            <a:endPar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举例：</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学生：姓名，年龄</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项目经理：姓名，工号，工资</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老师：姓名，年龄</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程序员：姓名，工号，工资</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人：姓名，年龄</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员工：姓名，工号，工资</a:t>
            </a:r>
          </a:p>
        </p:txBody>
      </p:sp>
      <p:sp>
        <p:nvSpPr>
          <p:cNvPr id="2" name="标题 1">
            <a:extLst>
              <a:ext uri="{FF2B5EF4-FFF2-40B4-BE49-F238E27FC236}">
                <a16:creationId xmlns:a16="http://schemas.microsoft.com/office/drawing/2014/main" id="{6721E9DA-AEE1-D397-36C2-53EFA126FA8C}"/>
              </a:ext>
            </a:extLst>
          </p:cNvPr>
          <p:cNvSpPr>
            <a:spLocks noGrp="1"/>
          </p:cNvSpPr>
          <p:nvPr>
            <p:ph type="title"/>
          </p:nvPr>
        </p:nvSpPr>
        <p:spPr/>
        <p:txBody>
          <a:bodyPr/>
          <a:lstStyle/>
          <a:p>
            <a:r>
              <a:rPr lang="zh-CN" altLang="en-US" dirty="0"/>
              <a:t>继承介绍</a:t>
            </a:r>
          </a:p>
        </p:txBody>
      </p:sp>
    </p:spTree>
    <p:extLst>
      <p:ext uri="{BB962C8B-B14F-4D97-AF65-F5344CB8AC3E}">
        <p14:creationId xmlns:p14="http://schemas.microsoft.com/office/powerpoint/2010/main" val="50328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6071DD2-868A-D4BA-14E0-7FE7FD2AD4FD}"/>
              </a:ext>
            </a:extLst>
          </p:cNvPr>
          <p:cNvSpPr txBox="1"/>
          <p:nvPr/>
        </p:nvSpPr>
        <p:spPr>
          <a:xfrm>
            <a:off x="576626" y="1127258"/>
            <a:ext cx="9948877" cy="3011274"/>
          </a:xfrm>
          <a:prstGeom prst="rect">
            <a:avLst/>
          </a:prstGeom>
          <a:noFill/>
        </p:spPr>
        <p:txBody>
          <a:bodyPr wrap="none">
            <a:spAutoFit/>
          </a:bodyPr>
          <a:lstStyle/>
          <a:p>
            <a:pPr>
              <a:lnSpc>
                <a:spcPct val="150000"/>
              </a:lnSpc>
              <a:defRPr/>
            </a:pPr>
            <a:r>
              <a:rPr lang="zh-CN" altLang="en-US"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什么时候使用继承？</a:t>
            </a:r>
            <a:endPar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当类与类之间，存在相同 </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共性</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的内容，并且产生了 </a:t>
            </a:r>
            <a:r>
              <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is a </a:t>
            </a:r>
            <a:r>
              <a:rPr lang="zh-CN" altLang="en-US"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的关系，就可以考虑使用继承，来优化代码</a:t>
            </a:r>
            <a:endParaRPr lang="en-US" altLang="zh-CN" sz="1600"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错误例子：</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程序员：</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id</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，姓名，年龄</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商品：</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id</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，品牌，价格</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lvl="1">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父类：</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id</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，姓名，年龄，品牌，价格</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C7652329-4020-0EEC-E41B-0D3915CBB211}"/>
              </a:ext>
            </a:extLst>
          </p:cNvPr>
          <p:cNvSpPr>
            <a:spLocks noGrp="1"/>
          </p:cNvSpPr>
          <p:nvPr>
            <p:ph type="title"/>
          </p:nvPr>
        </p:nvSpPr>
        <p:spPr/>
        <p:txBody>
          <a:bodyPr/>
          <a:lstStyle/>
          <a:p>
            <a:r>
              <a:rPr lang="zh-CN" altLang="en-US" dirty="0"/>
              <a:t>继承介绍</a:t>
            </a:r>
          </a:p>
        </p:txBody>
      </p:sp>
    </p:spTree>
    <p:extLst>
      <p:ext uri="{BB962C8B-B14F-4D97-AF65-F5344CB8AC3E}">
        <p14:creationId xmlns:p14="http://schemas.microsoft.com/office/powerpoint/2010/main" val="102900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D156D-5C09-BBA7-40FA-FD6DB1D22E8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62EB406-62F2-B8A7-1B9B-3A3BFF82379C}"/>
              </a:ext>
            </a:extLst>
          </p:cNvPr>
          <p:cNvSpPr>
            <a:spLocks noGrp="1"/>
          </p:cNvSpPr>
          <p:nvPr>
            <p:ph type="body" sz="quarter" idx="10"/>
          </p:nvPr>
        </p:nvSpPr>
        <p:spPr>
          <a:xfrm>
            <a:off x="3936569" y="1483864"/>
            <a:ext cx="8255431" cy="3962399"/>
          </a:xfrm>
        </p:spPr>
        <p:txBody>
          <a:bodyPr/>
          <a:lstStyle/>
          <a:p>
            <a:r>
              <a:rPr lang="zh-CN" altLang="en-US" dirty="0">
                <a:solidFill>
                  <a:schemeClr val="tx1">
                    <a:lumMod val="50000"/>
                  </a:schemeClr>
                </a:solidFill>
                <a:latin typeface="+mn-ea"/>
              </a:rPr>
              <a:t>继承是什么 </a:t>
            </a:r>
            <a:r>
              <a:rPr lang="en-US" altLang="zh-CN" dirty="0">
                <a:solidFill>
                  <a:schemeClr val="tx1">
                    <a:lumMod val="50000"/>
                  </a:schemeClr>
                </a:solidFill>
                <a:latin typeface="+mn-ea"/>
              </a:rPr>
              <a:t>?</a:t>
            </a:r>
          </a:p>
          <a:p>
            <a:r>
              <a:rPr lang="en-US" altLang="zh-CN" dirty="0">
                <a:solidFill>
                  <a:schemeClr val="tx1">
                    <a:lumMod val="50000"/>
                  </a:schemeClr>
                </a:solidFill>
                <a:latin typeface="+mn-ea"/>
              </a:rPr>
              <a:t>	</a:t>
            </a:r>
            <a:r>
              <a:rPr lang="zh-CN" altLang="en-US" dirty="0">
                <a:solidFill>
                  <a:schemeClr val="tx1">
                    <a:lumMod val="50000"/>
                  </a:schemeClr>
                </a:solidFill>
                <a:latin typeface="+mn-ea"/>
              </a:rPr>
              <a:t>继承是面向对象三大特征之一，可以让类与类之间产生关系，父与子的关系</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子类可以直接使用父类中非私有的成员</a:t>
            </a:r>
            <a:endParaRPr lang="en-US" altLang="zh-CN" dirty="0">
              <a:solidFill>
                <a:schemeClr val="tx1">
                  <a:lumMod val="50000"/>
                </a:schemeClr>
              </a:solidFill>
              <a:latin typeface="+mn-ea"/>
            </a:endParaRPr>
          </a:p>
          <a:p>
            <a:r>
              <a:rPr lang="zh-CN" altLang="en-US" dirty="0">
                <a:solidFill>
                  <a:schemeClr val="tx1">
                    <a:lumMod val="50000"/>
                  </a:schemeClr>
                </a:solidFill>
                <a:latin typeface="+mn-ea"/>
              </a:rPr>
              <a:t>实现继承的关键字是什么 </a:t>
            </a:r>
            <a:r>
              <a:rPr lang="en-US" altLang="zh-CN" dirty="0">
                <a:solidFill>
                  <a:schemeClr val="tx1">
                    <a:lumMod val="50000"/>
                  </a:schemeClr>
                </a:solidFill>
                <a:latin typeface="+mn-ea"/>
              </a:rPr>
              <a:t>?</a:t>
            </a:r>
          </a:p>
          <a:p>
            <a:r>
              <a:rPr lang="en-US" altLang="zh-CN" dirty="0">
                <a:solidFill>
                  <a:schemeClr val="tx1">
                    <a:lumMod val="50000"/>
                  </a:schemeClr>
                </a:solidFill>
                <a:latin typeface="+mn-ea"/>
              </a:rPr>
              <a:t>	extends</a:t>
            </a:r>
          </a:p>
          <a:p>
            <a:r>
              <a:rPr lang="zh-CN" altLang="en-US" dirty="0">
                <a:solidFill>
                  <a:schemeClr val="tx1">
                    <a:lumMod val="50000"/>
                  </a:schemeClr>
                </a:solidFill>
                <a:latin typeface="+mn-ea"/>
              </a:rPr>
              <a:t>继承的好处是什么？</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提高代码的复用性，维护性</a:t>
            </a:r>
            <a:endParaRPr lang="en-US" altLang="zh-CN" dirty="0">
              <a:solidFill>
                <a:schemeClr val="tx1">
                  <a:lumMod val="50000"/>
                </a:schemeClr>
              </a:solidFill>
              <a:latin typeface="+mn-ea"/>
            </a:endParaRPr>
          </a:p>
          <a:p>
            <a:r>
              <a:rPr lang="zh-CN" altLang="en-US" dirty="0">
                <a:solidFill>
                  <a:schemeClr val="tx1">
                    <a:lumMod val="50000"/>
                  </a:schemeClr>
                </a:solidFill>
                <a:latin typeface="+mn-ea"/>
              </a:rPr>
              <a:t>什么时候使用继承 </a:t>
            </a:r>
            <a:r>
              <a:rPr lang="en-US" altLang="zh-CN" dirty="0">
                <a:solidFill>
                  <a:schemeClr val="tx1">
                    <a:lumMod val="50000"/>
                  </a:schemeClr>
                </a:solidFill>
                <a:latin typeface="+mn-ea"/>
              </a:rPr>
              <a:t>? </a:t>
            </a:r>
          </a:p>
          <a:p>
            <a:r>
              <a:rPr lang="en-US" altLang="zh-CN" dirty="0">
                <a:solidFill>
                  <a:schemeClr val="tx1">
                    <a:lumMod val="50000"/>
                  </a:schemeClr>
                </a:solidFill>
                <a:latin typeface="+mn-ea"/>
              </a:rPr>
              <a:t>	</a:t>
            </a:r>
            <a:r>
              <a:rPr lang="zh-CN" altLang="en-US" dirty="0">
                <a:solidFill>
                  <a:schemeClr val="tx1">
                    <a:lumMod val="50000"/>
                  </a:schemeClr>
                </a:solidFill>
                <a:latin typeface="+mn-ea"/>
              </a:rPr>
              <a:t>发现多个类中存在共性内容，并且存在 </a:t>
            </a:r>
            <a:r>
              <a:rPr lang="en-US" altLang="zh-CN" dirty="0">
                <a:solidFill>
                  <a:schemeClr val="tx1">
                    <a:lumMod val="50000"/>
                  </a:schemeClr>
                </a:solidFill>
                <a:latin typeface="+mn-ea"/>
              </a:rPr>
              <a:t>is...a </a:t>
            </a:r>
            <a:r>
              <a:rPr lang="zh-CN" altLang="en-US" dirty="0">
                <a:solidFill>
                  <a:schemeClr val="tx1">
                    <a:lumMod val="50000"/>
                  </a:schemeClr>
                </a:solidFill>
                <a:latin typeface="+mn-ea"/>
              </a:rPr>
              <a:t>的关系</a:t>
            </a:r>
            <a:endParaRPr lang="en-US" altLang="zh-CN" dirty="0">
              <a:solidFill>
                <a:schemeClr val="tx1">
                  <a:lumMod val="50000"/>
                </a:schemeClr>
              </a:solidFill>
              <a:latin typeface="+mn-ea"/>
            </a:endParaRPr>
          </a:p>
        </p:txBody>
      </p:sp>
      <p:sp>
        <p:nvSpPr>
          <p:cNvPr id="3" name="标题 2">
            <a:extLst>
              <a:ext uri="{FF2B5EF4-FFF2-40B4-BE49-F238E27FC236}">
                <a16:creationId xmlns:a16="http://schemas.microsoft.com/office/drawing/2014/main" id="{A84D7D39-AE69-1AB9-A9FD-ED34B5D2CCB5}"/>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7759493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E9D5F2A5-48AA-49FC-B1CC-4B960FD8F5E1}"/>
              </a:ext>
            </a:extLst>
          </p:cNvPr>
          <p:cNvSpPr txBox="1"/>
          <p:nvPr/>
        </p:nvSpPr>
        <p:spPr>
          <a:xfrm>
            <a:off x="576626" y="1075742"/>
            <a:ext cx="8257116" cy="1945020"/>
          </a:xfrm>
          <a:prstGeom prst="rect">
            <a:avLst/>
          </a:prstGeom>
          <a:noFill/>
        </p:spPr>
        <p:txBody>
          <a:bodyPr>
            <a:spAutoFit/>
          </a:bodyPr>
          <a:lstStyle/>
          <a:p>
            <a:pPr marL="228594" indent="-228594">
              <a:lnSpc>
                <a:spcPct val="150000"/>
              </a:lnSpc>
              <a:buFont typeface="Wingdings" panose="05000000000000000000" pitchFamily="2" charset="2"/>
              <a:buChar char="l"/>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知道什么是继承</a:t>
            </a:r>
            <a:r>
              <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以及什么时候使用继承</a:t>
            </a:r>
            <a:endPar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28594" indent="-228594">
              <a:lnSpc>
                <a:spcPct val="150000"/>
              </a:lnSpc>
              <a:buFont typeface="Wingdings" panose="05000000000000000000" pitchFamily="2" charset="2"/>
              <a:buChar char="l"/>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继承中成员的访问特点</a:t>
            </a:r>
            <a:endPar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800100" lvl="1" indent="-342900">
              <a:lnSpc>
                <a:spcPct val="150000"/>
              </a:lnSpc>
              <a:buFontTx/>
              <a:buChar char="-"/>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成员变量</a:t>
            </a:r>
            <a:endPar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800100" lvl="1" indent="-342900">
              <a:lnSpc>
                <a:spcPct val="150000"/>
              </a:lnSpc>
              <a:buFontTx/>
              <a:buChar char="-"/>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成员方法</a:t>
            </a:r>
            <a:endPar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800100" lvl="1" indent="-342900">
              <a:lnSpc>
                <a:spcPct val="150000"/>
              </a:lnSpc>
              <a:buFontTx/>
              <a:buChar char="-"/>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endParaRPr lang="en-US" altLang="zh-CN" sz="1600"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FA8A059A-2CBB-4F4A-C67D-48C846D4B758}"/>
              </a:ext>
            </a:extLst>
          </p:cNvPr>
          <p:cNvSpPr>
            <a:spLocks noGrp="1"/>
          </p:cNvSpPr>
          <p:nvPr>
            <p:ph type="title"/>
          </p:nvPr>
        </p:nvSpPr>
        <p:spPr/>
        <p:txBody>
          <a:bodyPr/>
          <a:lstStyle/>
          <a:p>
            <a:r>
              <a:rPr lang="zh-CN" altLang="en-US" dirty="0"/>
              <a:t>继承学习路径</a:t>
            </a:r>
          </a:p>
        </p:txBody>
      </p:sp>
    </p:spTree>
    <p:extLst>
      <p:ext uri="{BB962C8B-B14F-4D97-AF65-F5344CB8AC3E}">
        <p14:creationId xmlns:p14="http://schemas.microsoft.com/office/powerpoint/2010/main" val="39904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4062E16F-3ABE-4946-A498-041F93A17EE8}"/>
              </a:ext>
            </a:extLst>
          </p:cNvPr>
          <p:cNvSpPr txBox="1"/>
          <p:nvPr/>
        </p:nvSpPr>
        <p:spPr>
          <a:xfrm>
            <a:off x="576626" y="1123713"/>
            <a:ext cx="7984878" cy="467692"/>
          </a:xfrm>
          <a:prstGeom prst="rect">
            <a:avLst/>
          </a:prstGeom>
          <a:noFill/>
        </p:spPr>
        <p:txBody>
          <a:bodyPr wrap="non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思考：子父类中，如果出现了重名的成员变量，使用的时候会优先使用？？</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TextBox 3">
            <a:extLst>
              <a:ext uri="{FF2B5EF4-FFF2-40B4-BE49-F238E27FC236}">
                <a16:creationId xmlns:a16="http://schemas.microsoft.com/office/drawing/2014/main" id="{9EDF8C39-5C84-44F5-80E4-099E23A74363}"/>
              </a:ext>
            </a:extLst>
          </p:cNvPr>
          <p:cNvSpPr txBox="1"/>
          <p:nvPr/>
        </p:nvSpPr>
        <p:spPr>
          <a:xfrm>
            <a:off x="710880" y="2256078"/>
            <a:ext cx="3338606" cy="738664"/>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pic>
        <p:nvPicPr>
          <p:cNvPr id="6146" name="Picture 2">
            <a:extLst>
              <a:ext uri="{FF2B5EF4-FFF2-40B4-BE49-F238E27FC236}">
                <a16:creationId xmlns:a16="http://schemas.microsoft.com/office/drawing/2014/main" id="{C4AB1E77-6534-4342-8FFF-730F82223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573" y="4417313"/>
            <a:ext cx="1163132" cy="1163132"/>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44188D7E-762B-4F99-AE06-92FF8498E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7862" y="3354513"/>
            <a:ext cx="1925453" cy="1903737"/>
          </a:xfrm>
          <a:prstGeom prst="rect">
            <a:avLst/>
          </a:prstGeom>
        </p:spPr>
      </p:pic>
      <p:sp>
        <p:nvSpPr>
          <p:cNvPr id="20" name="对话气泡: 椭圆形 19">
            <a:extLst>
              <a:ext uri="{FF2B5EF4-FFF2-40B4-BE49-F238E27FC236}">
                <a16:creationId xmlns:a16="http://schemas.microsoft.com/office/drawing/2014/main" id="{D467BF3B-10CC-479B-BD57-D6541EDC8BF4}"/>
              </a:ext>
            </a:extLst>
          </p:cNvPr>
          <p:cNvSpPr/>
          <p:nvPr/>
        </p:nvSpPr>
        <p:spPr>
          <a:xfrm>
            <a:off x="6396761" y="2724539"/>
            <a:ext cx="3338606" cy="910987"/>
          </a:xfrm>
          <a:prstGeom prst="wedgeEllipseCallout">
            <a:avLst>
              <a:gd name="adj1" fmla="val 45181"/>
              <a:gd name="adj2" fmla="val 4659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根据就近原则，优先使用子类的</a:t>
            </a:r>
          </a:p>
        </p:txBody>
      </p:sp>
      <p:sp>
        <p:nvSpPr>
          <p:cNvPr id="21" name="TextBox 3">
            <a:extLst>
              <a:ext uri="{FF2B5EF4-FFF2-40B4-BE49-F238E27FC236}">
                <a16:creationId xmlns:a16="http://schemas.microsoft.com/office/drawing/2014/main" id="{AF06E338-8C9E-4E06-B768-B2B29D3C3430}"/>
              </a:ext>
            </a:extLst>
          </p:cNvPr>
          <p:cNvSpPr txBox="1"/>
          <p:nvPr/>
        </p:nvSpPr>
        <p:spPr>
          <a:xfrm>
            <a:off x="7113498" y="5222027"/>
            <a:ext cx="1527628" cy="307777"/>
          </a:xfrm>
          <a:prstGeom prst="rect">
            <a:avLst/>
          </a:prstGeom>
          <a:solidFill>
            <a:srgbClr val="0C0C0C"/>
          </a:solidFill>
          <a:ln w="12700">
            <a:solidFill>
              <a:schemeClr val="tx1"/>
            </a:solidFill>
          </a:ln>
        </p:spPr>
        <p:txBody>
          <a:bodyPr wrap="square">
            <a:spAutoFit/>
          </a:bodyPr>
          <a:lstStyle/>
          <a:p>
            <a:pPr>
              <a:defRPr/>
            </a:pPr>
            <a:r>
              <a:rPr lang="en-US" altLang="zh-CN" sz="1400" b="1" dirty="0">
                <a:solidFill>
                  <a:srgbClr val="CCCCCC"/>
                </a:solidFill>
                <a:latin typeface="Consolas" panose="020B0609020204030204" pitchFamily="49" charset="0"/>
                <a:ea typeface="思源黑体 CN Bold" panose="020B0800000000000000" pitchFamily="34" charset="-122"/>
                <a:cs typeface="Arial Unicode MS" panose="020B0604020202020204" pitchFamily="34" charset="-122"/>
              </a:rPr>
              <a:t>20</a:t>
            </a:r>
            <a:endParaRPr lang="zh-CN" altLang="zh-CN" sz="1400" dirty="0">
              <a:solidFill>
                <a:srgbClr val="CCCCCC"/>
              </a:solidFill>
              <a:latin typeface="Consolas" panose="020B0609020204030204" pitchFamily="49" charset="0"/>
              <a:ea typeface="思源黑体 CN Bold" panose="020B0800000000000000" pitchFamily="34" charset="-122"/>
            </a:endParaRPr>
          </a:p>
        </p:txBody>
      </p:sp>
      <p:sp>
        <p:nvSpPr>
          <p:cNvPr id="22" name="TextBox 3">
            <a:extLst>
              <a:ext uri="{FF2B5EF4-FFF2-40B4-BE49-F238E27FC236}">
                <a16:creationId xmlns:a16="http://schemas.microsoft.com/office/drawing/2014/main" id="{AFBA42B7-5A50-44FF-8BB7-7E1F669840FD}"/>
              </a:ext>
            </a:extLst>
          </p:cNvPr>
          <p:cNvSpPr txBox="1"/>
          <p:nvPr/>
        </p:nvSpPr>
        <p:spPr>
          <a:xfrm>
            <a:off x="710881" y="3281230"/>
            <a:ext cx="4280997" cy="1600438"/>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zh-CN" altLang="zh-CN" sz="1400" dirty="0">
                <a:solidFill>
                  <a:srgbClr val="871094"/>
                </a:solidFill>
                <a:latin typeface="Consolas" panose="020B0609020204030204" pitchFamily="49" charset="0"/>
              </a:rPr>
              <a:t>num</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23" name="TextBox 3">
            <a:extLst>
              <a:ext uri="{FF2B5EF4-FFF2-40B4-BE49-F238E27FC236}">
                <a16:creationId xmlns:a16="http://schemas.microsoft.com/office/drawing/2014/main" id="{658D44FB-6D89-479F-B719-6FB3CA1F1E9A}"/>
              </a:ext>
            </a:extLst>
          </p:cNvPr>
          <p:cNvSpPr txBox="1"/>
          <p:nvPr/>
        </p:nvSpPr>
        <p:spPr>
          <a:xfrm>
            <a:off x="710880" y="5168156"/>
            <a:ext cx="4747528" cy="1384995"/>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Test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static void </a:t>
            </a:r>
            <a:r>
              <a:rPr lang="zh-CN" altLang="zh-CN" sz="1400" dirty="0">
                <a:solidFill>
                  <a:srgbClr val="00627A"/>
                </a:solidFill>
                <a:latin typeface="Consolas" panose="020B0609020204030204" pitchFamily="49" charset="0"/>
              </a:rPr>
              <a:t>main</a:t>
            </a:r>
            <a:r>
              <a:rPr lang="zh-CN" altLang="zh-CN" sz="1400" dirty="0">
                <a:solidFill>
                  <a:srgbClr val="080808"/>
                </a:solidFill>
                <a:latin typeface="Consolas" panose="020B0609020204030204" pitchFamily="49" charset="0"/>
              </a:rPr>
              <a:t>(</a:t>
            </a:r>
            <a:r>
              <a:rPr lang="zh-CN" altLang="zh-CN" sz="1400" dirty="0">
                <a:solidFill>
                  <a:srgbClr val="000000"/>
                </a:solidFill>
                <a:latin typeface="Consolas" panose="020B0609020204030204" pitchFamily="49" charset="0"/>
              </a:rPr>
              <a:t>String</a:t>
            </a:r>
            <a:r>
              <a:rPr lang="zh-CN" altLang="zh-CN" sz="1400" dirty="0">
                <a:solidFill>
                  <a:srgbClr val="080808"/>
                </a:solidFill>
                <a:latin typeface="Consolas" panose="020B0609020204030204" pitchFamily="49" charset="0"/>
              </a:rPr>
              <a:t>[] args)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Zi </a:t>
            </a:r>
            <a:r>
              <a:rPr lang="zh-CN" altLang="zh-CN" sz="1400" dirty="0">
                <a:solidFill>
                  <a:srgbClr val="000000"/>
                </a:solidFill>
                <a:latin typeface="Consolas" panose="020B0609020204030204" pitchFamily="49" charset="0"/>
              </a:rPr>
              <a:t>z </a:t>
            </a: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new </a:t>
            </a:r>
            <a:r>
              <a:rPr lang="zh-CN" altLang="zh-CN" sz="1400" dirty="0">
                <a:solidFill>
                  <a:srgbClr val="080808"/>
                </a:solidFill>
                <a:latin typeface="Consolas" panose="020B0609020204030204" pitchFamily="49" charset="0"/>
              </a:rPr>
              <a:t>Zi();</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kumimoji="0" lang="en-US" altLang="zh-CN" sz="1400" b="0" i="0" u="none" strike="noStrike" cap="none" normalizeH="0" baseline="0" dirty="0" err="1">
                <a:ln>
                  <a:noFill/>
                </a:ln>
                <a:solidFill>
                  <a:srgbClr val="000000"/>
                </a:solidFill>
                <a:effectLst/>
                <a:latin typeface="Consolas" panose="020B0609020204030204" pitchFamily="49" charset="0"/>
              </a:rPr>
              <a:t>z.method</a:t>
            </a:r>
            <a:r>
              <a:rPr kumimoji="0" lang="en-US" altLang="zh-CN" sz="1400" b="0" i="0" u="none" strike="noStrike" cap="none" normalizeH="0" baseline="0" dirty="0">
                <a:ln>
                  <a:noFill/>
                </a:ln>
                <a:solidFill>
                  <a:srgbClr val="000000"/>
                </a:solidFill>
                <a:effectLst/>
                <a:latin typeface="Consolas" panose="020B0609020204030204" pitchFamily="49" charset="0"/>
              </a:rPr>
              <a:t>();</a:t>
            </a:r>
            <a:br>
              <a:rPr kumimoji="0" lang="zh-CN" altLang="zh-CN" sz="1400" b="0" i="0" u="none" strike="noStrike" cap="none" normalizeH="0" baseline="0" dirty="0">
                <a:ln>
                  <a:noFill/>
                </a:ln>
                <a:solidFill>
                  <a:srgbClr val="080808"/>
                </a:solidFill>
                <a:effectLst/>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 name="标题 1">
            <a:extLst>
              <a:ext uri="{FF2B5EF4-FFF2-40B4-BE49-F238E27FC236}">
                <a16:creationId xmlns:a16="http://schemas.microsoft.com/office/drawing/2014/main" id="{394D0FBD-8836-A057-7972-24E77CBAE913}"/>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Tree>
    <p:extLst>
      <p:ext uri="{BB962C8B-B14F-4D97-AF65-F5344CB8AC3E}">
        <p14:creationId xmlns:p14="http://schemas.microsoft.com/office/powerpoint/2010/main" val="168475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6146"/>
                                        </p:tgtEl>
                                        <p:attrNameLst>
                                          <p:attrName>style.visibility</p:attrName>
                                        </p:attrNameLst>
                                      </p:cBhvr>
                                      <p:to>
                                        <p:strVal val="visible"/>
                                      </p:to>
                                    </p:set>
                                    <p:anim calcmode="lin" valueType="num">
                                      <p:cBhvr>
                                        <p:cTn id="27" dur="500" fill="hold"/>
                                        <p:tgtEl>
                                          <p:spTgt spid="6146"/>
                                        </p:tgtEl>
                                        <p:attrNameLst>
                                          <p:attrName>ppt_w</p:attrName>
                                        </p:attrNameLst>
                                      </p:cBhvr>
                                      <p:tavLst>
                                        <p:tav tm="0">
                                          <p:val>
                                            <p:fltVal val="0"/>
                                          </p:val>
                                        </p:tav>
                                        <p:tav tm="100000">
                                          <p:val>
                                            <p:strVal val="#ppt_w"/>
                                          </p:val>
                                        </p:tav>
                                      </p:tavLst>
                                    </p:anim>
                                    <p:anim calcmode="lin" valueType="num">
                                      <p:cBhvr>
                                        <p:cTn id="28" dur="500" fill="hold"/>
                                        <p:tgtEl>
                                          <p:spTgt spid="6146"/>
                                        </p:tgtEl>
                                        <p:attrNameLst>
                                          <p:attrName>ppt_h</p:attrName>
                                        </p:attrNameLst>
                                      </p:cBhvr>
                                      <p:tavLst>
                                        <p:tav tm="0">
                                          <p:val>
                                            <p:fltVal val="0"/>
                                          </p:val>
                                        </p:tav>
                                        <p:tav tm="100000">
                                          <p:val>
                                            <p:strVal val="#ppt_h"/>
                                          </p:val>
                                        </p:tav>
                                      </p:tavLst>
                                    </p:anim>
                                    <p:animEffect transition="in" filter="fade">
                                      <p:cBhvr>
                                        <p:cTn id="29" dur="500"/>
                                        <p:tgtEl>
                                          <p:spTgt spid="614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1+#ppt_w/2"/>
                                          </p:val>
                                        </p:tav>
                                        <p:tav tm="100000">
                                          <p:val>
                                            <p:strVal val="#ppt_x"/>
                                          </p:val>
                                        </p:tav>
                                      </p:tavLst>
                                    </p:anim>
                                    <p:anim calcmode="lin" valueType="num">
                                      <p:cBhvr additive="base">
                                        <p:cTn id="35" dur="500" fill="hold"/>
                                        <p:tgtEl>
                                          <p:spTgt spid="18"/>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down)">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20"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
            <a:extLst>
              <a:ext uri="{FF2B5EF4-FFF2-40B4-BE49-F238E27FC236}">
                <a16:creationId xmlns:a16="http://schemas.microsoft.com/office/drawing/2014/main" id="{9EDF8C39-5C84-44F5-80E4-099E23A74363}"/>
              </a:ext>
            </a:extLst>
          </p:cNvPr>
          <p:cNvSpPr txBox="1"/>
          <p:nvPr/>
        </p:nvSpPr>
        <p:spPr>
          <a:xfrm>
            <a:off x="710880" y="2256078"/>
            <a:ext cx="3338606" cy="738664"/>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pic>
        <p:nvPicPr>
          <p:cNvPr id="6146" name="Picture 2">
            <a:extLst>
              <a:ext uri="{FF2B5EF4-FFF2-40B4-BE49-F238E27FC236}">
                <a16:creationId xmlns:a16="http://schemas.microsoft.com/office/drawing/2014/main" id="{C4AB1E77-6534-4342-8FFF-730F82223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600573" y="4417313"/>
            <a:ext cx="1163132" cy="1163132"/>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44188D7E-762B-4F99-AE06-92FF8498E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7862" y="3354513"/>
            <a:ext cx="1925453" cy="1903737"/>
          </a:xfrm>
          <a:prstGeom prst="rect">
            <a:avLst/>
          </a:prstGeom>
        </p:spPr>
      </p:pic>
      <p:sp>
        <p:nvSpPr>
          <p:cNvPr id="20" name="对话气泡: 椭圆形 19">
            <a:extLst>
              <a:ext uri="{FF2B5EF4-FFF2-40B4-BE49-F238E27FC236}">
                <a16:creationId xmlns:a16="http://schemas.microsoft.com/office/drawing/2014/main" id="{D467BF3B-10CC-479B-BD57-D6541EDC8BF4}"/>
              </a:ext>
            </a:extLst>
          </p:cNvPr>
          <p:cNvSpPr/>
          <p:nvPr/>
        </p:nvSpPr>
        <p:spPr>
          <a:xfrm>
            <a:off x="6396761" y="2724539"/>
            <a:ext cx="3338606" cy="910987"/>
          </a:xfrm>
          <a:prstGeom prst="wedgeEllipseCallout">
            <a:avLst>
              <a:gd name="adj1" fmla="val 45181"/>
              <a:gd name="adj2" fmla="val 4659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根据就近原则，优先使用子类的</a:t>
            </a:r>
          </a:p>
        </p:txBody>
      </p:sp>
      <p:sp>
        <p:nvSpPr>
          <p:cNvPr id="21" name="TextBox 3">
            <a:extLst>
              <a:ext uri="{FF2B5EF4-FFF2-40B4-BE49-F238E27FC236}">
                <a16:creationId xmlns:a16="http://schemas.microsoft.com/office/drawing/2014/main" id="{AF06E338-8C9E-4E06-B768-B2B29D3C3430}"/>
              </a:ext>
            </a:extLst>
          </p:cNvPr>
          <p:cNvSpPr txBox="1"/>
          <p:nvPr/>
        </p:nvSpPr>
        <p:spPr>
          <a:xfrm>
            <a:off x="7113498" y="5222027"/>
            <a:ext cx="1527628" cy="307777"/>
          </a:xfrm>
          <a:prstGeom prst="rect">
            <a:avLst/>
          </a:prstGeom>
          <a:solidFill>
            <a:srgbClr val="0C0C0C"/>
          </a:solidFill>
          <a:ln w="12700">
            <a:solidFill>
              <a:schemeClr val="tx1"/>
            </a:solidFill>
          </a:ln>
        </p:spPr>
        <p:txBody>
          <a:bodyPr wrap="square">
            <a:spAutoFit/>
          </a:bodyPr>
          <a:lstStyle/>
          <a:p>
            <a:pPr>
              <a:defRPr/>
            </a:pPr>
            <a:r>
              <a:rPr lang="en-US" altLang="zh-CN" sz="1400" b="1" dirty="0">
                <a:solidFill>
                  <a:srgbClr val="CCCCCC"/>
                </a:solidFill>
                <a:latin typeface="Consolas" panose="020B0609020204030204" pitchFamily="49" charset="0"/>
                <a:ea typeface="思源黑体 CN Bold" panose="020B0800000000000000" pitchFamily="34" charset="-122"/>
                <a:cs typeface="Arial Unicode MS" panose="020B0604020202020204" pitchFamily="34" charset="-122"/>
              </a:rPr>
              <a:t>20</a:t>
            </a:r>
            <a:endParaRPr lang="zh-CN" altLang="zh-CN" sz="1400" dirty="0">
              <a:solidFill>
                <a:srgbClr val="CCCCCC"/>
              </a:solidFill>
              <a:latin typeface="Consolas" panose="020B0609020204030204" pitchFamily="49" charset="0"/>
              <a:ea typeface="思源黑体 CN Bold" panose="020B0800000000000000" pitchFamily="34" charset="-122"/>
            </a:endParaRPr>
          </a:p>
        </p:txBody>
      </p:sp>
      <p:sp>
        <p:nvSpPr>
          <p:cNvPr id="2" name="对话气泡: 椭圆形 1">
            <a:extLst>
              <a:ext uri="{FF2B5EF4-FFF2-40B4-BE49-F238E27FC236}">
                <a16:creationId xmlns:a16="http://schemas.microsoft.com/office/drawing/2014/main" id="{5ECC912A-0828-4AB0-A372-32AE2756E8F1}"/>
              </a:ext>
            </a:extLst>
          </p:cNvPr>
          <p:cNvSpPr/>
          <p:nvPr/>
        </p:nvSpPr>
        <p:spPr>
          <a:xfrm>
            <a:off x="6254597" y="3833282"/>
            <a:ext cx="2244365" cy="910987"/>
          </a:xfrm>
          <a:prstGeom prst="wedgeEllipseCallout">
            <a:avLst>
              <a:gd name="adj1" fmla="val -31226"/>
              <a:gd name="adj2" fmla="val 53282"/>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那我就要用父类的</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怎么办</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46A5E12A-6A7A-459A-9E7D-52747B1BE391}"/>
              </a:ext>
            </a:extLst>
          </p:cNvPr>
          <p:cNvSpPr txBox="1"/>
          <p:nvPr/>
        </p:nvSpPr>
        <p:spPr>
          <a:xfrm>
            <a:off x="710881" y="3281230"/>
            <a:ext cx="4280997" cy="1600438"/>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zh-CN" altLang="zh-CN" sz="1400" dirty="0">
                <a:solidFill>
                  <a:srgbClr val="871094"/>
                </a:solidFill>
                <a:latin typeface="Consolas" panose="020B0609020204030204" pitchFamily="49" charset="0"/>
              </a:rPr>
              <a:t>num</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17" name="TextBox 3">
            <a:extLst>
              <a:ext uri="{FF2B5EF4-FFF2-40B4-BE49-F238E27FC236}">
                <a16:creationId xmlns:a16="http://schemas.microsoft.com/office/drawing/2014/main" id="{D1C879B8-CE96-4429-8671-04983E39CD52}"/>
              </a:ext>
            </a:extLst>
          </p:cNvPr>
          <p:cNvSpPr txBox="1"/>
          <p:nvPr/>
        </p:nvSpPr>
        <p:spPr>
          <a:xfrm>
            <a:off x="710880" y="5168156"/>
            <a:ext cx="4747528" cy="1384995"/>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Test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static void </a:t>
            </a:r>
            <a:r>
              <a:rPr lang="zh-CN" altLang="zh-CN" sz="1400" dirty="0">
                <a:solidFill>
                  <a:srgbClr val="00627A"/>
                </a:solidFill>
                <a:latin typeface="Consolas" panose="020B0609020204030204" pitchFamily="49" charset="0"/>
              </a:rPr>
              <a:t>main</a:t>
            </a:r>
            <a:r>
              <a:rPr lang="zh-CN" altLang="zh-CN" sz="1400" dirty="0">
                <a:solidFill>
                  <a:srgbClr val="080808"/>
                </a:solidFill>
                <a:latin typeface="Consolas" panose="020B0609020204030204" pitchFamily="49" charset="0"/>
              </a:rPr>
              <a:t>(</a:t>
            </a:r>
            <a:r>
              <a:rPr lang="zh-CN" altLang="zh-CN" sz="1400" dirty="0">
                <a:solidFill>
                  <a:srgbClr val="000000"/>
                </a:solidFill>
                <a:latin typeface="Consolas" panose="020B0609020204030204" pitchFamily="49" charset="0"/>
              </a:rPr>
              <a:t>String</a:t>
            </a:r>
            <a:r>
              <a:rPr lang="zh-CN" altLang="zh-CN" sz="1400" dirty="0">
                <a:solidFill>
                  <a:srgbClr val="080808"/>
                </a:solidFill>
                <a:latin typeface="Consolas" panose="020B0609020204030204" pitchFamily="49" charset="0"/>
              </a:rPr>
              <a:t>[] args)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Zi </a:t>
            </a:r>
            <a:r>
              <a:rPr lang="zh-CN" altLang="zh-CN" sz="1400" dirty="0">
                <a:solidFill>
                  <a:srgbClr val="000000"/>
                </a:solidFill>
                <a:latin typeface="Consolas" panose="020B0609020204030204" pitchFamily="49" charset="0"/>
              </a:rPr>
              <a:t>z </a:t>
            </a: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new </a:t>
            </a:r>
            <a:r>
              <a:rPr lang="zh-CN" altLang="zh-CN" sz="1400" dirty="0">
                <a:solidFill>
                  <a:srgbClr val="080808"/>
                </a:solidFill>
                <a:latin typeface="Consolas" panose="020B0609020204030204" pitchFamily="49" charset="0"/>
              </a:rPr>
              <a:t>Zi();</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kumimoji="0" lang="en-US" altLang="zh-CN" sz="1400" b="0" i="0" u="none" strike="noStrike" cap="none" normalizeH="0" baseline="0" dirty="0" err="1">
                <a:ln>
                  <a:noFill/>
                </a:ln>
                <a:solidFill>
                  <a:srgbClr val="000000"/>
                </a:solidFill>
                <a:effectLst/>
                <a:latin typeface="Consolas" panose="020B0609020204030204" pitchFamily="49" charset="0"/>
              </a:rPr>
              <a:t>z.method</a:t>
            </a:r>
            <a:r>
              <a:rPr kumimoji="0" lang="en-US" altLang="zh-CN" sz="1400" b="0" i="0" u="none" strike="noStrike" cap="none" normalizeH="0" baseline="0" dirty="0">
                <a:ln>
                  <a:noFill/>
                </a:ln>
                <a:solidFill>
                  <a:srgbClr val="000000"/>
                </a:solidFill>
                <a:effectLst/>
                <a:latin typeface="Consolas" panose="020B0609020204030204" pitchFamily="49" charset="0"/>
              </a:rPr>
              <a:t>();</a:t>
            </a:r>
            <a:br>
              <a:rPr kumimoji="0" lang="zh-CN" altLang="zh-CN" sz="1400" b="0" i="0" u="none" strike="noStrike" cap="none" normalizeH="0" baseline="0" dirty="0">
                <a:ln>
                  <a:noFill/>
                </a:ln>
                <a:solidFill>
                  <a:srgbClr val="080808"/>
                </a:solidFill>
                <a:effectLst/>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3" name="标题 2">
            <a:extLst>
              <a:ext uri="{FF2B5EF4-FFF2-40B4-BE49-F238E27FC236}">
                <a16:creationId xmlns:a16="http://schemas.microsoft.com/office/drawing/2014/main" id="{E562785A-92A3-61FD-E859-6E5685DF9B7B}"/>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5" name="文本框 4">
            <a:extLst>
              <a:ext uri="{FF2B5EF4-FFF2-40B4-BE49-F238E27FC236}">
                <a16:creationId xmlns:a16="http://schemas.microsoft.com/office/drawing/2014/main" id="{9F5E147E-AB2D-AC96-2127-D73758D44051}"/>
              </a:ext>
            </a:extLst>
          </p:cNvPr>
          <p:cNvSpPr txBox="1"/>
          <p:nvPr/>
        </p:nvSpPr>
        <p:spPr>
          <a:xfrm>
            <a:off x="576626" y="1123713"/>
            <a:ext cx="7984878" cy="467692"/>
          </a:xfrm>
          <a:prstGeom prst="rect">
            <a:avLst/>
          </a:prstGeom>
          <a:noFill/>
        </p:spPr>
        <p:txBody>
          <a:bodyPr wrap="non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思考：子父类中，如果出现了重名的成员变量，使用的时候会优先使用？？</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06291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
            <a:extLst>
              <a:ext uri="{FF2B5EF4-FFF2-40B4-BE49-F238E27FC236}">
                <a16:creationId xmlns:a16="http://schemas.microsoft.com/office/drawing/2014/main" id="{9EDF8C39-5C84-44F5-80E4-099E23A74363}"/>
              </a:ext>
            </a:extLst>
          </p:cNvPr>
          <p:cNvSpPr txBox="1"/>
          <p:nvPr/>
        </p:nvSpPr>
        <p:spPr>
          <a:xfrm>
            <a:off x="710880" y="2256078"/>
            <a:ext cx="3338606" cy="738664"/>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pic>
        <p:nvPicPr>
          <p:cNvPr id="6146" name="Picture 2">
            <a:extLst>
              <a:ext uri="{FF2B5EF4-FFF2-40B4-BE49-F238E27FC236}">
                <a16:creationId xmlns:a16="http://schemas.microsoft.com/office/drawing/2014/main" id="{C4AB1E77-6534-4342-8FFF-730F82223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600573" y="4417313"/>
            <a:ext cx="1163132" cy="1163132"/>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44188D7E-762B-4F99-AE06-92FF8498E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7862" y="3354513"/>
            <a:ext cx="1925453" cy="1903737"/>
          </a:xfrm>
          <a:prstGeom prst="rect">
            <a:avLst/>
          </a:prstGeom>
        </p:spPr>
      </p:pic>
      <p:sp>
        <p:nvSpPr>
          <p:cNvPr id="20" name="对话气泡: 椭圆形 19">
            <a:extLst>
              <a:ext uri="{FF2B5EF4-FFF2-40B4-BE49-F238E27FC236}">
                <a16:creationId xmlns:a16="http://schemas.microsoft.com/office/drawing/2014/main" id="{D467BF3B-10CC-479B-BD57-D6541EDC8BF4}"/>
              </a:ext>
            </a:extLst>
          </p:cNvPr>
          <p:cNvSpPr/>
          <p:nvPr/>
        </p:nvSpPr>
        <p:spPr>
          <a:xfrm>
            <a:off x="6396761" y="2724539"/>
            <a:ext cx="3338606" cy="910987"/>
          </a:xfrm>
          <a:prstGeom prst="wedgeEllipseCallout">
            <a:avLst>
              <a:gd name="adj1" fmla="val 45181"/>
              <a:gd name="adj2" fmla="val 4659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rPr>
              <a:t>super</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关键字来进行解决</a:t>
            </a:r>
          </a:p>
        </p:txBody>
      </p:sp>
      <p:sp>
        <p:nvSpPr>
          <p:cNvPr id="21" name="TextBox 3">
            <a:extLst>
              <a:ext uri="{FF2B5EF4-FFF2-40B4-BE49-F238E27FC236}">
                <a16:creationId xmlns:a16="http://schemas.microsoft.com/office/drawing/2014/main" id="{AF06E338-8C9E-4E06-B768-B2B29D3C3430}"/>
              </a:ext>
            </a:extLst>
          </p:cNvPr>
          <p:cNvSpPr txBox="1"/>
          <p:nvPr/>
        </p:nvSpPr>
        <p:spPr>
          <a:xfrm>
            <a:off x="7113498" y="5222027"/>
            <a:ext cx="1527628" cy="307777"/>
          </a:xfrm>
          <a:prstGeom prst="rect">
            <a:avLst/>
          </a:prstGeom>
          <a:solidFill>
            <a:srgbClr val="0C0C0C"/>
          </a:solidFill>
          <a:ln w="12700">
            <a:solidFill>
              <a:schemeClr val="tx1"/>
            </a:solidFill>
          </a:ln>
        </p:spPr>
        <p:txBody>
          <a:bodyPr wrap="square">
            <a:spAutoFit/>
          </a:bodyPr>
          <a:lstStyle/>
          <a:p>
            <a:pPr>
              <a:defRPr/>
            </a:pPr>
            <a:r>
              <a:rPr lang="en-US" altLang="zh-CN" sz="1400" b="1" dirty="0">
                <a:solidFill>
                  <a:srgbClr val="CCCCCC"/>
                </a:solidFill>
                <a:latin typeface="Consolas" panose="020B0609020204030204" pitchFamily="49" charset="0"/>
                <a:ea typeface="思源黑体 CN Bold" panose="020B0800000000000000" pitchFamily="34" charset="-122"/>
                <a:cs typeface="Arial Unicode MS" panose="020B0604020202020204" pitchFamily="34" charset="-122"/>
              </a:rPr>
              <a:t>20</a:t>
            </a:r>
            <a:endParaRPr lang="zh-CN" altLang="zh-CN" sz="1400" dirty="0">
              <a:solidFill>
                <a:srgbClr val="CCCCCC"/>
              </a:solidFill>
              <a:latin typeface="Consolas" panose="020B0609020204030204" pitchFamily="49" charset="0"/>
              <a:ea typeface="思源黑体 CN Bold" panose="020B0800000000000000" pitchFamily="34" charset="-122"/>
            </a:endParaRPr>
          </a:p>
        </p:txBody>
      </p:sp>
      <p:sp>
        <p:nvSpPr>
          <p:cNvPr id="2" name="对话气泡: 椭圆形 1">
            <a:extLst>
              <a:ext uri="{FF2B5EF4-FFF2-40B4-BE49-F238E27FC236}">
                <a16:creationId xmlns:a16="http://schemas.microsoft.com/office/drawing/2014/main" id="{5ECC912A-0828-4AB0-A372-32AE2756E8F1}"/>
              </a:ext>
            </a:extLst>
          </p:cNvPr>
          <p:cNvSpPr/>
          <p:nvPr/>
        </p:nvSpPr>
        <p:spPr>
          <a:xfrm>
            <a:off x="6254597" y="3833282"/>
            <a:ext cx="2244365" cy="910987"/>
          </a:xfrm>
          <a:prstGeom prst="wedgeEllipseCallout">
            <a:avLst>
              <a:gd name="adj1" fmla="val -31226"/>
              <a:gd name="adj2" fmla="val 53282"/>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那我就要用父类的</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怎么办</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15D0795E-FAAD-4934-8482-E43D5FF0CE22}"/>
              </a:ext>
            </a:extLst>
          </p:cNvPr>
          <p:cNvSpPr txBox="1"/>
          <p:nvPr/>
        </p:nvSpPr>
        <p:spPr>
          <a:xfrm>
            <a:off x="710881" y="3281230"/>
            <a:ext cx="4280997" cy="1600438"/>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zh-CN" altLang="zh-CN" sz="1400" dirty="0">
                <a:solidFill>
                  <a:srgbClr val="871094"/>
                </a:solidFill>
                <a:latin typeface="Consolas" panose="020B0609020204030204" pitchFamily="49" charset="0"/>
              </a:rPr>
              <a:t>num</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19" name="TextBox 3">
            <a:extLst>
              <a:ext uri="{FF2B5EF4-FFF2-40B4-BE49-F238E27FC236}">
                <a16:creationId xmlns:a16="http://schemas.microsoft.com/office/drawing/2014/main" id="{7D7FED02-8AA5-4429-9599-1CDA7ACC92CB}"/>
              </a:ext>
            </a:extLst>
          </p:cNvPr>
          <p:cNvSpPr txBox="1"/>
          <p:nvPr/>
        </p:nvSpPr>
        <p:spPr>
          <a:xfrm>
            <a:off x="710880" y="5168156"/>
            <a:ext cx="4747528" cy="1384995"/>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Test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static void </a:t>
            </a:r>
            <a:r>
              <a:rPr lang="zh-CN" altLang="zh-CN" sz="1400" dirty="0">
                <a:solidFill>
                  <a:srgbClr val="00627A"/>
                </a:solidFill>
                <a:latin typeface="Consolas" panose="020B0609020204030204" pitchFamily="49" charset="0"/>
              </a:rPr>
              <a:t>main</a:t>
            </a:r>
            <a:r>
              <a:rPr lang="zh-CN" altLang="zh-CN" sz="1400" dirty="0">
                <a:solidFill>
                  <a:srgbClr val="080808"/>
                </a:solidFill>
                <a:latin typeface="Consolas" panose="020B0609020204030204" pitchFamily="49" charset="0"/>
              </a:rPr>
              <a:t>(</a:t>
            </a:r>
            <a:r>
              <a:rPr lang="zh-CN" altLang="zh-CN" sz="1400" dirty="0">
                <a:solidFill>
                  <a:srgbClr val="000000"/>
                </a:solidFill>
                <a:latin typeface="Consolas" panose="020B0609020204030204" pitchFamily="49" charset="0"/>
              </a:rPr>
              <a:t>String</a:t>
            </a:r>
            <a:r>
              <a:rPr lang="zh-CN" altLang="zh-CN" sz="1400" dirty="0">
                <a:solidFill>
                  <a:srgbClr val="080808"/>
                </a:solidFill>
                <a:latin typeface="Consolas" panose="020B0609020204030204" pitchFamily="49" charset="0"/>
              </a:rPr>
              <a:t>[] args)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Zi </a:t>
            </a:r>
            <a:r>
              <a:rPr lang="zh-CN" altLang="zh-CN" sz="1400" dirty="0">
                <a:solidFill>
                  <a:srgbClr val="000000"/>
                </a:solidFill>
                <a:latin typeface="Consolas" panose="020B0609020204030204" pitchFamily="49" charset="0"/>
              </a:rPr>
              <a:t>z </a:t>
            </a: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new </a:t>
            </a:r>
            <a:r>
              <a:rPr lang="zh-CN" altLang="zh-CN" sz="1400" dirty="0">
                <a:solidFill>
                  <a:srgbClr val="080808"/>
                </a:solidFill>
                <a:latin typeface="Consolas" panose="020B0609020204030204" pitchFamily="49" charset="0"/>
              </a:rPr>
              <a:t>Zi();</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en-US" altLang="zh-CN" sz="1400" dirty="0" err="1">
                <a:solidFill>
                  <a:srgbClr val="080808"/>
                </a:solidFill>
                <a:latin typeface="Consolas" panose="020B0609020204030204" pitchFamily="49" charset="0"/>
              </a:rPr>
              <a:t>z.method</a:t>
            </a:r>
            <a:r>
              <a:rPr lang="en-US" altLang="zh-CN" sz="1400" dirty="0">
                <a:solidFill>
                  <a:srgbClr val="080808"/>
                </a:solidFill>
                <a:latin typeface="Consolas" panose="020B0609020204030204" pitchFamily="49" charset="0"/>
              </a:rPr>
              <a:t>();</a:t>
            </a:r>
            <a:br>
              <a:rPr kumimoji="0" lang="zh-CN" altLang="zh-CN" sz="1400" b="0" i="0" u="none" strike="noStrike" cap="none" normalizeH="0" baseline="0" dirty="0">
                <a:ln>
                  <a:noFill/>
                </a:ln>
                <a:solidFill>
                  <a:srgbClr val="080808"/>
                </a:solidFill>
                <a:effectLst/>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3" name="标题 2">
            <a:extLst>
              <a:ext uri="{FF2B5EF4-FFF2-40B4-BE49-F238E27FC236}">
                <a16:creationId xmlns:a16="http://schemas.microsoft.com/office/drawing/2014/main" id="{205C1C13-C667-193C-B785-745F0EB27A2A}"/>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6" name="文本框 5">
            <a:extLst>
              <a:ext uri="{FF2B5EF4-FFF2-40B4-BE49-F238E27FC236}">
                <a16:creationId xmlns:a16="http://schemas.microsoft.com/office/drawing/2014/main" id="{A259628E-D791-F0D3-5F92-D2F236D86A42}"/>
              </a:ext>
            </a:extLst>
          </p:cNvPr>
          <p:cNvSpPr txBox="1"/>
          <p:nvPr/>
        </p:nvSpPr>
        <p:spPr>
          <a:xfrm>
            <a:off x="576626" y="1123713"/>
            <a:ext cx="7984878" cy="467692"/>
          </a:xfrm>
          <a:prstGeom prst="rect">
            <a:avLst/>
          </a:prstGeom>
          <a:noFill/>
        </p:spPr>
        <p:txBody>
          <a:bodyPr wrap="non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思考：子父类中，如果出现了重名的成员变量，使用的时候会优先使用？？</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15980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
            <a:extLst>
              <a:ext uri="{FF2B5EF4-FFF2-40B4-BE49-F238E27FC236}">
                <a16:creationId xmlns:a16="http://schemas.microsoft.com/office/drawing/2014/main" id="{9EDF8C39-5C84-44F5-80E4-099E23A74363}"/>
              </a:ext>
            </a:extLst>
          </p:cNvPr>
          <p:cNvSpPr txBox="1"/>
          <p:nvPr/>
        </p:nvSpPr>
        <p:spPr>
          <a:xfrm>
            <a:off x="710880" y="2256078"/>
            <a:ext cx="3338606" cy="738664"/>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pic>
        <p:nvPicPr>
          <p:cNvPr id="6146" name="Picture 2">
            <a:extLst>
              <a:ext uri="{FF2B5EF4-FFF2-40B4-BE49-F238E27FC236}">
                <a16:creationId xmlns:a16="http://schemas.microsoft.com/office/drawing/2014/main" id="{C4AB1E77-6534-4342-8FFF-730F82223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600573" y="4417313"/>
            <a:ext cx="1163132" cy="1163132"/>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44188D7E-762B-4F99-AE06-92FF8498E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7862" y="3354513"/>
            <a:ext cx="1925453" cy="1903737"/>
          </a:xfrm>
          <a:prstGeom prst="rect">
            <a:avLst/>
          </a:prstGeom>
        </p:spPr>
      </p:pic>
      <p:sp>
        <p:nvSpPr>
          <p:cNvPr id="20" name="对话气泡: 椭圆形 19">
            <a:extLst>
              <a:ext uri="{FF2B5EF4-FFF2-40B4-BE49-F238E27FC236}">
                <a16:creationId xmlns:a16="http://schemas.microsoft.com/office/drawing/2014/main" id="{D467BF3B-10CC-479B-BD57-D6541EDC8BF4}"/>
              </a:ext>
            </a:extLst>
          </p:cNvPr>
          <p:cNvSpPr/>
          <p:nvPr/>
        </p:nvSpPr>
        <p:spPr>
          <a:xfrm>
            <a:off x="6396761" y="2724539"/>
            <a:ext cx="3338606" cy="910987"/>
          </a:xfrm>
          <a:prstGeom prst="wedgeEllipseCallout">
            <a:avLst>
              <a:gd name="adj1" fmla="val 45181"/>
              <a:gd name="adj2" fmla="val 4659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a:t>
            </a:r>
            <a:r>
              <a:rPr lang="en-US" altLang="zh-CN" dirty="0">
                <a:latin typeface="阿里巴巴普惠体" panose="00020600040101010101" pitchFamily="18" charset="-122"/>
                <a:ea typeface="阿里巴巴普惠体" panose="00020600040101010101" pitchFamily="18" charset="-122"/>
                <a:cs typeface="阿里巴巴普惠体" panose="00020600040101010101" pitchFamily="18" charset="-122"/>
              </a:rPr>
              <a:t>super</a:t>
            </a: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关键字来进行解决</a:t>
            </a:r>
          </a:p>
        </p:txBody>
      </p:sp>
      <p:sp>
        <p:nvSpPr>
          <p:cNvPr id="21" name="TextBox 3">
            <a:extLst>
              <a:ext uri="{FF2B5EF4-FFF2-40B4-BE49-F238E27FC236}">
                <a16:creationId xmlns:a16="http://schemas.microsoft.com/office/drawing/2014/main" id="{AF06E338-8C9E-4E06-B768-B2B29D3C3430}"/>
              </a:ext>
            </a:extLst>
          </p:cNvPr>
          <p:cNvSpPr txBox="1"/>
          <p:nvPr/>
        </p:nvSpPr>
        <p:spPr>
          <a:xfrm>
            <a:off x="7113498" y="5222027"/>
            <a:ext cx="1527628" cy="307777"/>
          </a:xfrm>
          <a:prstGeom prst="rect">
            <a:avLst/>
          </a:prstGeom>
          <a:solidFill>
            <a:srgbClr val="0C0C0C"/>
          </a:solidFill>
          <a:ln w="12700">
            <a:solidFill>
              <a:schemeClr val="tx1"/>
            </a:solidFill>
          </a:ln>
        </p:spPr>
        <p:txBody>
          <a:bodyPr wrap="square">
            <a:spAutoFit/>
          </a:bodyPr>
          <a:lstStyle/>
          <a:p>
            <a:pPr>
              <a:defRPr/>
            </a:pPr>
            <a:r>
              <a:rPr lang="en-US" altLang="zh-CN" sz="1400" b="1" dirty="0">
                <a:solidFill>
                  <a:srgbClr val="CCCCCC"/>
                </a:solidFill>
                <a:latin typeface="Consolas" panose="020B0609020204030204" pitchFamily="49" charset="0"/>
                <a:ea typeface="思源黑体 CN Bold" panose="020B0800000000000000" pitchFamily="34" charset="-122"/>
                <a:cs typeface="Arial Unicode MS" panose="020B0604020202020204" pitchFamily="34" charset="-122"/>
              </a:rPr>
              <a:t>20</a:t>
            </a:r>
            <a:endParaRPr lang="zh-CN" altLang="zh-CN" sz="1400" dirty="0">
              <a:solidFill>
                <a:srgbClr val="CCCCCC"/>
              </a:solidFill>
              <a:latin typeface="Consolas" panose="020B0609020204030204" pitchFamily="49" charset="0"/>
              <a:ea typeface="思源黑体 CN Bold" panose="020B0800000000000000" pitchFamily="34" charset="-122"/>
            </a:endParaRPr>
          </a:p>
        </p:txBody>
      </p:sp>
      <p:sp>
        <p:nvSpPr>
          <p:cNvPr id="2" name="对话气泡: 椭圆形 1">
            <a:extLst>
              <a:ext uri="{FF2B5EF4-FFF2-40B4-BE49-F238E27FC236}">
                <a16:creationId xmlns:a16="http://schemas.microsoft.com/office/drawing/2014/main" id="{5ECC912A-0828-4AB0-A372-32AE2756E8F1}"/>
              </a:ext>
            </a:extLst>
          </p:cNvPr>
          <p:cNvSpPr/>
          <p:nvPr/>
        </p:nvSpPr>
        <p:spPr>
          <a:xfrm>
            <a:off x="6254597" y="3833282"/>
            <a:ext cx="2244365" cy="910987"/>
          </a:xfrm>
          <a:prstGeom prst="wedgeEllipseCallout">
            <a:avLst>
              <a:gd name="adj1" fmla="val -31226"/>
              <a:gd name="adj2" fmla="val 53282"/>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那我就要用父类的</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怎么办</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15D0795E-FAAD-4934-8482-E43D5FF0CE22}"/>
              </a:ext>
            </a:extLst>
          </p:cNvPr>
          <p:cNvSpPr txBox="1"/>
          <p:nvPr/>
        </p:nvSpPr>
        <p:spPr>
          <a:xfrm>
            <a:off x="710881" y="3281230"/>
            <a:ext cx="4280997" cy="1600438"/>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super</a:t>
            </a:r>
            <a:r>
              <a:rPr lang="en-US" altLang="zh-CN" sz="1400" dirty="0">
                <a:solidFill>
                  <a:srgbClr val="080808"/>
                </a:solidFill>
                <a:latin typeface="Consolas" panose="020B0609020204030204" pitchFamily="49" charset="0"/>
              </a:rPr>
              <a:t>.</a:t>
            </a:r>
            <a:r>
              <a:rPr lang="zh-CN" altLang="zh-CN" sz="1400" dirty="0">
                <a:solidFill>
                  <a:srgbClr val="871094"/>
                </a:solidFill>
                <a:latin typeface="Consolas" panose="020B0609020204030204" pitchFamily="49" charset="0"/>
              </a:rPr>
              <a:t>num</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19" name="TextBox 3">
            <a:extLst>
              <a:ext uri="{FF2B5EF4-FFF2-40B4-BE49-F238E27FC236}">
                <a16:creationId xmlns:a16="http://schemas.microsoft.com/office/drawing/2014/main" id="{7D7FED02-8AA5-4429-9599-1CDA7ACC92CB}"/>
              </a:ext>
            </a:extLst>
          </p:cNvPr>
          <p:cNvSpPr txBox="1"/>
          <p:nvPr/>
        </p:nvSpPr>
        <p:spPr>
          <a:xfrm>
            <a:off x="710880" y="5168156"/>
            <a:ext cx="4747528" cy="1384995"/>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Test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static void </a:t>
            </a:r>
            <a:r>
              <a:rPr lang="zh-CN" altLang="zh-CN" sz="1400" dirty="0">
                <a:solidFill>
                  <a:srgbClr val="00627A"/>
                </a:solidFill>
                <a:latin typeface="Consolas" panose="020B0609020204030204" pitchFamily="49" charset="0"/>
              </a:rPr>
              <a:t>main</a:t>
            </a:r>
            <a:r>
              <a:rPr lang="zh-CN" altLang="zh-CN" sz="1400" dirty="0">
                <a:solidFill>
                  <a:srgbClr val="080808"/>
                </a:solidFill>
                <a:latin typeface="Consolas" panose="020B0609020204030204" pitchFamily="49" charset="0"/>
              </a:rPr>
              <a:t>(</a:t>
            </a:r>
            <a:r>
              <a:rPr lang="zh-CN" altLang="zh-CN" sz="1400" dirty="0">
                <a:solidFill>
                  <a:srgbClr val="000000"/>
                </a:solidFill>
                <a:latin typeface="Consolas" panose="020B0609020204030204" pitchFamily="49" charset="0"/>
              </a:rPr>
              <a:t>String</a:t>
            </a:r>
            <a:r>
              <a:rPr lang="zh-CN" altLang="zh-CN" sz="1400" dirty="0">
                <a:solidFill>
                  <a:srgbClr val="080808"/>
                </a:solidFill>
                <a:latin typeface="Consolas" panose="020B0609020204030204" pitchFamily="49" charset="0"/>
              </a:rPr>
              <a:t>[] args)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Zi </a:t>
            </a:r>
            <a:r>
              <a:rPr lang="zh-CN" altLang="zh-CN" sz="1400" dirty="0">
                <a:solidFill>
                  <a:srgbClr val="000000"/>
                </a:solidFill>
                <a:latin typeface="Consolas" panose="020B0609020204030204" pitchFamily="49" charset="0"/>
              </a:rPr>
              <a:t>z </a:t>
            </a: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new </a:t>
            </a:r>
            <a:r>
              <a:rPr lang="zh-CN" altLang="zh-CN" sz="1400" dirty="0">
                <a:solidFill>
                  <a:srgbClr val="080808"/>
                </a:solidFill>
                <a:latin typeface="Consolas" panose="020B0609020204030204" pitchFamily="49" charset="0"/>
              </a:rPr>
              <a:t>Zi();</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en-US" altLang="zh-CN" sz="1400" dirty="0" err="1">
                <a:solidFill>
                  <a:srgbClr val="080808"/>
                </a:solidFill>
                <a:latin typeface="Consolas" panose="020B0609020204030204" pitchFamily="49" charset="0"/>
              </a:rPr>
              <a:t>z.method</a:t>
            </a:r>
            <a:r>
              <a:rPr lang="en-US" altLang="zh-CN" sz="1400" dirty="0">
                <a:solidFill>
                  <a:srgbClr val="080808"/>
                </a:solidFill>
                <a:latin typeface="Consolas" panose="020B0609020204030204" pitchFamily="49" charset="0"/>
              </a:rPr>
              <a:t>();</a:t>
            </a:r>
            <a:br>
              <a:rPr kumimoji="0" lang="zh-CN" altLang="zh-CN" sz="1400" b="0" i="0" u="none" strike="noStrike" cap="none" normalizeH="0" baseline="0" dirty="0">
                <a:ln>
                  <a:noFill/>
                </a:ln>
                <a:solidFill>
                  <a:srgbClr val="080808"/>
                </a:solidFill>
                <a:effectLst/>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3" name="标题 2">
            <a:extLst>
              <a:ext uri="{FF2B5EF4-FFF2-40B4-BE49-F238E27FC236}">
                <a16:creationId xmlns:a16="http://schemas.microsoft.com/office/drawing/2014/main" id="{C041EC51-F7D3-E0BD-C2DE-8CD3C46154EA}"/>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4" name="文本框 3">
            <a:extLst>
              <a:ext uri="{FF2B5EF4-FFF2-40B4-BE49-F238E27FC236}">
                <a16:creationId xmlns:a16="http://schemas.microsoft.com/office/drawing/2014/main" id="{83C1EC83-00F1-BA0B-979D-C8369ADA7C2B}"/>
              </a:ext>
            </a:extLst>
          </p:cNvPr>
          <p:cNvSpPr txBox="1"/>
          <p:nvPr/>
        </p:nvSpPr>
        <p:spPr>
          <a:xfrm>
            <a:off x="576626" y="1123713"/>
            <a:ext cx="7984878" cy="467692"/>
          </a:xfrm>
          <a:prstGeom prst="rect">
            <a:avLst/>
          </a:prstGeom>
          <a:noFill/>
        </p:spPr>
        <p:txBody>
          <a:bodyPr wrap="non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思考：子父类中，如果出现了重名的成员变量，使用的时候会优先使用？？</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56400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0">
            <a:extLst>
              <a:ext uri="{FF2B5EF4-FFF2-40B4-BE49-F238E27FC236}">
                <a16:creationId xmlns:a16="http://schemas.microsoft.com/office/drawing/2014/main" id="{7BF4EE77-1B5F-4C2B-86F0-AD9C9CF30DEF}"/>
              </a:ext>
            </a:extLst>
          </p:cNvPr>
          <p:cNvSpPr txBox="1"/>
          <p:nvPr/>
        </p:nvSpPr>
        <p:spPr>
          <a:xfrm>
            <a:off x="576626" y="1433537"/>
            <a:ext cx="7762875" cy="795282"/>
          </a:xfrm>
          <a:prstGeom prst="rect">
            <a:avLst/>
          </a:prstGeom>
          <a:noFill/>
        </p:spPr>
        <p:txBody>
          <a:bodyPr>
            <a:spAutoFit/>
          </a:bodyPr>
          <a:lstStyle/>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：调用本类成员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：调用父类成员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D97653E6-30BC-462E-97BF-943447C84C86}"/>
              </a:ext>
            </a:extLst>
          </p:cNvPr>
          <p:cNvSpPr txBox="1"/>
          <p:nvPr/>
        </p:nvSpPr>
        <p:spPr>
          <a:xfrm>
            <a:off x="710880" y="2852738"/>
            <a:ext cx="2159000" cy="738664"/>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2" name="TextBox 3">
            <a:extLst>
              <a:ext uri="{FF2B5EF4-FFF2-40B4-BE49-F238E27FC236}">
                <a16:creationId xmlns:a16="http://schemas.microsoft.com/office/drawing/2014/main" id="{17D7F79C-65CB-4FD3-8AEE-AAC93A11CF7B}"/>
              </a:ext>
            </a:extLst>
          </p:cNvPr>
          <p:cNvSpPr txBox="1"/>
          <p:nvPr/>
        </p:nvSpPr>
        <p:spPr>
          <a:xfrm>
            <a:off x="710881" y="3684588"/>
            <a:ext cx="5531300" cy="2246769"/>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000000"/>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30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0000"/>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30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20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10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 name="标题 1">
            <a:extLst>
              <a:ext uri="{FF2B5EF4-FFF2-40B4-BE49-F238E27FC236}">
                <a16:creationId xmlns:a16="http://schemas.microsoft.com/office/drawing/2014/main" id="{B90167DC-D47D-9ECB-B76E-7ED0C7A8DE30}"/>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Tree>
    <p:extLst>
      <p:ext uri="{BB962C8B-B14F-4D97-AF65-F5344CB8AC3E}">
        <p14:creationId xmlns:p14="http://schemas.microsoft.com/office/powerpoint/2010/main" val="245408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
            <a:extLst>
              <a:ext uri="{FF2B5EF4-FFF2-40B4-BE49-F238E27FC236}">
                <a16:creationId xmlns:a16="http://schemas.microsoft.com/office/drawing/2014/main" id="{D97653E6-30BC-462E-97BF-943447C84C86}"/>
              </a:ext>
            </a:extLst>
          </p:cNvPr>
          <p:cNvSpPr txBox="1"/>
          <p:nvPr/>
        </p:nvSpPr>
        <p:spPr>
          <a:xfrm>
            <a:off x="710880" y="2852738"/>
            <a:ext cx="2159000" cy="738664"/>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2" name="TextBox 3">
            <a:extLst>
              <a:ext uri="{FF2B5EF4-FFF2-40B4-BE49-F238E27FC236}">
                <a16:creationId xmlns:a16="http://schemas.microsoft.com/office/drawing/2014/main" id="{17D7F79C-65CB-4FD3-8AEE-AAC93A11CF7B}"/>
              </a:ext>
            </a:extLst>
          </p:cNvPr>
          <p:cNvSpPr txBox="1"/>
          <p:nvPr/>
        </p:nvSpPr>
        <p:spPr>
          <a:xfrm>
            <a:off x="710881" y="3684588"/>
            <a:ext cx="5531300" cy="2246769"/>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000000"/>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30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30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20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10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 name="标题 1">
            <a:extLst>
              <a:ext uri="{FF2B5EF4-FFF2-40B4-BE49-F238E27FC236}">
                <a16:creationId xmlns:a16="http://schemas.microsoft.com/office/drawing/2014/main" id="{98E3BBF2-3711-7955-AEE3-4FC064498D45}"/>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3" name="TextBox 10">
            <a:extLst>
              <a:ext uri="{FF2B5EF4-FFF2-40B4-BE49-F238E27FC236}">
                <a16:creationId xmlns:a16="http://schemas.microsoft.com/office/drawing/2014/main" id="{DAB83FBF-809D-E391-8CA5-3E474DA0A02D}"/>
              </a:ext>
            </a:extLst>
          </p:cNvPr>
          <p:cNvSpPr txBox="1"/>
          <p:nvPr/>
        </p:nvSpPr>
        <p:spPr>
          <a:xfrm>
            <a:off x="576626" y="1433537"/>
            <a:ext cx="7762875" cy="795282"/>
          </a:xfrm>
          <a:prstGeom prst="rect">
            <a:avLst/>
          </a:prstGeom>
          <a:noFill/>
        </p:spPr>
        <p:txBody>
          <a:bodyPr>
            <a:spAutoFit/>
          </a:bodyPr>
          <a:lstStyle/>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：调用本类成员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：调用父类成员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123457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
            <a:extLst>
              <a:ext uri="{FF2B5EF4-FFF2-40B4-BE49-F238E27FC236}">
                <a16:creationId xmlns:a16="http://schemas.microsoft.com/office/drawing/2014/main" id="{D97653E6-30BC-462E-97BF-943447C84C86}"/>
              </a:ext>
            </a:extLst>
          </p:cNvPr>
          <p:cNvSpPr txBox="1"/>
          <p:nvPr/>
        </p:nvSpPr>
        <p:spPr>
          <a:xfrm>
            <a:off x="710880" y="2852738"/>
            <a:ext cx="2159000" cy="738664"/>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2" name="TextBox 3">
            <a:extLst>
              <a:ext uri="{FF2B5EF4-FFF2-40B4-BE49-F238E27FC236}">
                <a16:creationId xmlns:a16="http://schemas.microsoft.com/office/drawing/2014/main" id="{17D7F79C-65CB-4FD3-8AEE-AAC93A11CF7B}"/>
              </a:ext>
            </a:extLst>
          </p:cNvPr>
          <p:cNvSpPr txBox="1"/>
          <p:nvPr/>
        </p:nvSpPr>
        <p:spPr>
          <a:xfrm>
            <a:off x="710881" y="3684588"/>
            <a:ext cx="5531300" cy="2246769"/>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000000"/>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30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30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err="1">
                <a:solidFill>
                  <a:srgbClr val="0033B3"/>
                </a:solidFill>
                <a:latin typeface="Consolas" panose="020B0609020204030204" pitchFamily="49" charset="0"/>
              </a:rPr>
              <a:t>this.</a:t>
            </a:r>
            <a:r>
              <a:rPr lang="en-US" altLang="zh-CN" sz="1400" dirty="0" err="1">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20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33B3"/>
                </a:solidFill>
                <a:latin typeface="Consolas" panose="020B0609020204030204" pitchFamily="49" charset="0"/>
              </a:rPr>
              <a:t>         </a:t>
            </a:r>
            <a:r>
              <a:rPr lang="zh-CN"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10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 name="标题 1">
            <a:extLst>
              <a:ext uri="{FF2B5EF4-FFF2-40B4-BE49-F238E27FC236}">
                <a16:creationId xmlns:a16="http://schemas.microsoft.com/office/drawing/2014/main" id="{AF878016-1582-5D32-C242-3DCC48831F52}"/>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3" name="TextBox 10">
            <a:extLst>
              <a:ext uri="{FF2B5EF4-FFF2-40B4-BE49-F238E27FC236}">
                <a16:creationId xmlns:a16="http://schemas.microsoft.com/office/drawing/2014/main" id="{59F6618A-EB0F-9B0F-7B00-CCA2266D37A8}"/>
              </a:ext>
            </a:extLst>
          </p:cNvPr>
          <p:cNvSpPr txBox="1"/>
          <p:nvPr/>
        </p:nvSpPr>
        <p:spPr>
          <a:xfrm>
            <a:off x="576626" y="1433537"/>
            <a:ext cx="7762875" cy="795282"/>
          </a:xfrm>
          <a:prstGeom prst="rect">
            <a:avLst/>
          </a:prstGeom>
          <a:noFill/>
        </p:spPr>
        <p:txBody>
          <a:bodyPr>
            <a:spAutoFit/>
          </a:bodyPr>
          <a:lstStyle/>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：调用本类成员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：调用父类成员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588401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
            <a:extLst>
              <a:ext uri="{FF2B5EF4-FFF2-40B4-BE49-F238E27FC236}">
                <a16:creationId xmlns:a16="http://schemas.microsoft.com/office/drawing/2014/main" id="{D97653E6-30BC-462E-97BF-943447C84C86}"/>
              </a:ext>
            </a:extLst>
          </p:cNvPr>
          <p:cNvSpPr txBox="1"/>
          <p:nvPr/>
        </p:nvSpPr>
        <p:spPr>
          <a:xfrm>
            <a:off x="710880" y="2852738"/>
            <a:ext cx="2159000" cy="738664"/>
          </a:xfrm>
          <a:prstGeom prst="rect">
            <a:avLst/>
          </a:prstGeom>
          <a:solidFill>
            <a:srgbClr val="FFFFE4"/>
          </a:solidFill>
          <a:ln w="12700">
            <a:solidFill>
              <a:schemeClr val="tx1"/>
            </a:solidFill>
          </a:ln>
        </p:spPr>
        <p:txBody>
          <a:bodyPr>
            <a:spAutoFit/>
          </a:bodyPr>
          <a:lstStyle/>
          <a:p>
            <a:pPr>
              <a:defRPr/>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2" name="TextBox 3">
            <a:extLst>
              <a:ext uri="{FF2B5EF4-FFF2-40B4-BE49-F238E27FC236}">
                <a16:creationId xmlns:a16="http://schemas.microsoft.com/office/drawing/2014/main" id="{17D7F79C-65CB-4FD3-8AEE-AAC93A11CF7B}"/>
              </a:ext>
            </a:extLst>
          </p:cNvPr>
          <p:cNvSpPr txBox="1"/>
          <p:nvPr/>
        </p:nvSpPr>
        <p:spPr>
          <a:xfrm>
            <a:off x="710881" y="3684588"/>
            <a:ext cx="5531300" cy="2246769"/>
          </a:xfrm>
          <a:prstGeom prst="rect">
            <a:avLst/>
          </a:prstGeom>
          <a:solidFill>
            <a:srgbClr val="FFFFE4"/>
          </a:solidFill>
          <a:ln w="12700">
            <a:solidFill>
              <a:schemeClr val="tx1"/>
            </a:solidFill>
          </a:ln>
        </p:spPr>
        <p:txBody>
          <a:bodyPr wrap="square">
            <a:spAutoFit/>
          </a:bodyPr>
          <a:lstStyle/>
          <a:p>
            <a:pPr>
              <a:defRPr/>
            </a:pPr>
            <a:r>
              <a:rPr lang="zh-CN" altLang="zh-CN" sz="1400" dirty="0">
                <a:solidFill>
                  <a:srgbClr val="0033B3"/>
                </a:solidFill>
                <a:latin typeface="Consolas" panose="020B0609020204030204" pitchFamily="49" charset="0"/>
              </a:rPr>
              <a:t>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20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void </a:t>
            </a:r>
            <a:r>
              <a:rPr lang="zh-CN" altLang="zh-CN" sz="1400" dirty="0">
                <a:solidFill>
                  <a:srgbClr val="00627A"/>
                </a:solidFill>
                <a:latin typeface="Consolas" panose="020B0609020204030204" pitchFamily="49" charset="0"/>
              </a:rPr>
              <a:t>method</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000000"/>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30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30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err="1">
                <a:solidFill>
                  <a:srgbClr val="0033B3"/>
                </a:solidFill>
                <a:latin typeface="Consolas" panose="020B0609020204030204" pitchFamily="49" charset="0"/>
              </a:rPr>
              <a:t>this.</a:t>
            </a:r>
            <a:r>
              <a:rPr lang="en-US" altLang="zh-CN" sz="1400" dirty="0" err="1">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en-US"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20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en-US" altLang="zh-CN" sz="1400" dirty="0" err="1">
                <a:solidFill>
                  <a:srgbClr val="0033B3"/>
                </a:solidFill>
                <a:latin typeface="Consolas" panose="020B0609020204030204" pitchFamily="49" charset="0"/>
              </a:rPr>
              <a:t>super.</a:t>
            </a:r>
            <a:r>
              <a:rPr lang="en-US" altLang="zh-CN" sz="1400" dirty="0" err="1">
                <a:solidFill>
                  <a:srgbClr val="000000"/>
                </a:solidFill>
                <a:latin typeface="Consolas" panose="020B0609020204030204" pitchFamily="49" charset="0"/>
              </a:rPr>
              <a:t>num</a:t>
            </a:r>
            <a:r>
              <a:rPr lang="zh-CN" altLang="zh-CN" sz="1400" dirty="0">
                <a:solidFill>
                  <a:srgbClr val="080808"/>
                </a:solidFill>
                <a:latin typeface="Consolas" panose="020B0609020204030204" pitchFamily="49" charset="0"/>
              </a:rPr>
              <a:t>);      </a:t>
            </a:r>
            <a:r>
              <a:rPr lang="zh-CN" altLang="zh-CN" sz="1400" dirty="0">
                <a:solidFill>
                  <a:srgbClr val="1D8C13"/>
                </a:solidFill>
                <a:latin typeface="Consolas" panose="020B0609020204030204" pitchFamily="49" charset="0"/>
              </a:rPr>
              <a:t>// 10</a:t>
            </a:r>
            <a:br>
              <a:rPr lang="zh-CN" altLang="zh-CN" sz="1400" dirty="0">
                <a:solidFill>
                  <a:srgbClr val="1D8C13"/>
                </a:solidFill>
                <a:latin typeface="Consolas" panose="020B0609020204030204" pitchFamily="49" charset="0"/>
              </a:rPr>
            </a:br>
            <a:r>
              <a:rPr lang="zh-CN" altLang="zh-CN" sz="1400" dirty="0">
                <a:solidFill>
                  <a:srgbClr val="1D8C13"/>
                </a:solidFill>
                <a:latin typeface="Consolas" panose="020B0609020204030204" pitchFamily="49" charset="0"/>
              </a:rPr>
              <a:t>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1400" dirty="0">
              <a:latin typeface="Consolas" panose="020B0609020204030204" pitchFamily="49" charset="0"/>
            </a:endParaRPr>
          </a:p>
        </p:txBody>
      </p:sp>
      <p:sp>
        <p:nvSpPr>
          <p:cNvPr id="2" name="标题 1">
            <a:extLst>
              <a:ext uri="{FF2B5EF4-FFF2-40B4-BE49-F238E27FC236}">
                <a16:creationId xmlns:a16="http://schemas.microsoft.com/office/drawing/2014/main" id="{01AF9FAE-A413-0224-F58D-1847E9E8F19E}"/>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成员变量</a:t>
            </a:r>
            <a:endParaRPr lang="zh-CN" altLang="en-US" dirty="0"/>
          </a:p>
        </p:txBody>
      </p:sp>
      <p:sp>
        <p:nvSpPr>
          <p:cNvPr id="3" name="TextBox 10">
            <a:extLst>
              <a:ext uri="{FF2B5EF4-FFF2-40B4-BE49-F238E27FC236}">
                <a16:creationId xmlns:a16="http://schemas.microsoft.com/office/drawing/2014/main" id="{A1F53F79-9916-8531-A6F2-FAEFC77C94E7}"/>
              </a:ext>
            </a:extLst>
          </p:cNvPr>
          <p:cNvSpPr txBox="1"/>
          <p:nvPr/>
        </p:nvSpPr>
        <p:spPr>
          <a:xfrm>
            <a:off x="576626" y="1433537"/>
            <a:ext cx="7762875" cy="795282"/>
          </a:xfrm>
          <a:prstGeom prst="rect">
            <a:avLst/>
          </a:prstGeom>
          <a:noFill/>
        </p:spPr>
        <p:txBody>
          <a:bodyPr>
            <a:spAutoFit/>
          </a:bodyPr>
          <a:lstStyle/>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：调用本类成员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：调用父类成员</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271841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B0F7-2976-831C-6C59-B16A8CBFB39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1322771-D1D2-A944-F930-B295B4F4F450}"/>
              </a:ext>
            </a:extLst>
          </p:cNvPr>
          <p:cNvSpPr>
            <a:spLocks noGrp="1"/>
          </p:cNvSpPr>
          <p:nvPr>
            <p:ph type="body" sz="quarter" idx="10"/>
          </p:nvPr>
        </p:nvSpPr>
        <p:spPr>
          <a:xfrm>
            <a:off x="3936569" y="1483864"/>
            <a:ext cx="8255431" cy="3962399"/>
          </a:xfrm>
        </p:spPr>
        <p:txBody>
          <a:bodyPr/>
          <a:lstStyle/>
          <a:p>
            <a:r>
              <a:rPr lang="zh-CN" altLang="en-US" dirty="0">
                <a:solidFill>
                  <a:schemeClr val="tx1">
                    <a:lumMod val="50000"/>
                  </a:schemeClr>
                </a:solidFill>
                <a:latin typeface="+mn-ea"/>
              </a:rPr>
              <a:t>当子父类中出现了重名的成员变量，会根据什么原则进行选择？</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就近原则</a:t>
            </a:r>
            <a:endParaRPr lang="en-US" altLang="zh-CN" dirty="0">
              <a:solidFill>
                <a:schemeClr val="tx1">
                  <a:lumMod val="50000"/>
                </a:schemeClr>
              </a:solidFill>
              <a:latin typeface="+mn-ea"/>
            </a:endParaRPr>
          </a:p>
          <a:p>
            <a:r>
              <a:rPr lang="zh-CN" altLang="en-US" dirty="0">
                <a:solidFill>
                  <a:schemeClr val="tx1">
                    <a:lumMod val="50000"/>
                  </a:schemeClr>
                </a:solidFill>
                <a:latin typeface="+mn-ea"/>
              </a:rPr>
              <a:t>重名情况下，使用什么关键字可以调用到父类的成员呢？</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super</a:t>
            </a:r>
          </a:p>
        </p:txBody>
      </p:sp>
      <p:sp>
        <p:nvSpPr>
          <p:cNvPr id="3" name="标题 2">
            <a:extLst>
              <a:ext uri="{FF2B5EF4-FFF2-40B4-BE49-F238E27FC236}">
                <a16:creationId xmlns:a16="http://schemas.microsoft.com/office/drawing/2014/main" id="{8A89CA59-2F07-325F-5164-1DBE3AFEBDE6}"/>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27964715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5C63C905-A2A0-4E9B-A32C-17A2DAEFD4E8}"/>
              </a:ext>
            </a:extLst>
          </p:cNvPr>
          <p:cNvSpPr txBox="1"/>
          <p:nvPr/>
        </p:nvSpPr>
        <p:spPr>
          <a:xfrm>
            <a:off x="710880" y="1635973"/>
            <a:ext cx="6391493" cy="467692"/>
          </a:xfrm>
          <a:prstGeom prst="rect">
            <a:avLst/>
          </a:prstGeom>
          <a:noFill/>
        </p:spPr>
        <p:txBody>
          <a:bodyPr wrap="non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思考：子类继承了父类之后，是否可以自己继续定义方法？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8" name="TextBox 3">
            <a:extLst>
              <a:ext uri="{FF2B5EF4-FFF2-40B4-BE49-F238E27FC236}">
                <a16:creationId xmlns:a16="http://schemas.microsoft.com/office/drawing/2014/main" id="{89AFD051-B395-4C1D-A823-4E439ED5E74D}"/>
              </a:ext>
            </a:extLst>
          </p:cNvPr>
          <p:cNvSpPr txBox="1"/>
          <p:nvPr/>
        </p:nvSpPr>
        <p:spPr>
          <a:xfrm>
            <a:off x="710880" y="2347524"/>
            <a:ext cx="5385120" cy="1569660"/>
          </a:xfrm>
          <a:prstGeom prst="rect">
            <a:avLst/>
          </a:prstGeom>
          <a:solidFill>
            <a:srgbClr val="FFFFE4"/>
          </a:solidFill>
          <a:ln w="12700">
            <a:solidFill>
              <a:schemeClr val="tx1"/>
            </a:solidFill>
          </a:ln>
        </p:spPr>
        <p:txBody>
          <a:bodyPr wrap="square">
            <a:spAutoFit/>
          </a:bodyPr>
          <a:lstStyle/>
          <a:p>
            <a:pPr>
              <a:defRPr/>
            </a:pPr>
            <a:r>
              <a:rPr lang="zh-CN"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Fu </a:t>
            </a: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 {</a:t>
            </a:r>
          </a:p>
          <a:p>
            <a:pPr>
              <a:defRPr/>
            </a:pP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父类的方法</a:t>
            </a:r>
            <a:endParaRPr lang="en-US" altLang="zh-CN"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600" dirty="0">
                <a:solidFill>
                  <a:srgbClr val="000000"/>
                </a:solidFill>
                <a:latin typeface="Consolas" panose="020B0609020204030204" pitchFamily="49" charset="0"/>
              </a:rPr>
              <a:t>       </a:t>
            </a:r>
            <a:r>
              <a:rPr lang="zh-CN" altLang="zh-CN" sz="1600" dirty="0">
                <a:solidFill>
                  <a:srgbClr val="000000"/>
                </a:solidFill>
                <a:latin typeface="Consolas" panose="020B0609020204030204" pitchFamily="49" charset="0"/>
              </a:rPr>
              <a:t>System</a:t>
            </a:r>
            <a:r>
              <a:rPr lang="zh-CN" altLang="zh-CN" sz="1600" dirty="0">
                <a:solidFill>
                  <a:srgbClr val="080808"/>
                </a:solidFill>
                <a:latin typeface="Consolas" panose="020B0609020204030204" pitchFamily="49" charset="0"/>
              </a:rPr>
              <a:t>.</a:t>
            </a:r>
            <a:r>
              <a:rPr lang="zh-CN" altLang="zh-CN" sz="1600" i="1" dirty="0">
                <a:solidFill>
                  <a:srgbClr val="871094"/>
                </a:solidFill>
                <a:latin typeface="Consolas" panose="020B0609020204030204" pitchFamily="49" charset="0"/>
              </a:rPr>
              <a:t>out</a:t>
            </a:r>
            <a:r>
              <a:rPr lang="zh-CN" altLang="zh-CN" sz="1600" dirty="0">
                <a:solidFill>
                  <a:srgbClr val="080808"/>
                </a:solidFill>
                <a:latin typeface="Consolas" panose="020B0609020204030204" pitchFamily="49" charset="0"/>
              </a:rPr>
              <a:t>.println(</a:t>
            </a:r>
            <a:r>
              <a:rPr lang="zh-CN" altLang="zh-CN" sz="1600" dirty="0">
                <a:solidFill>
                  <a:srgbClr val="067D17"/>
                </a:solidFill>
                <a:latin typeface="Consolas" panose="020B0609020204030204" pitchFamily="49" charset="0"/>
              </a:rPr>
              <a:t>"</a:t>
            </a:r>
            <a:r>
              <a:rPr lang="zh-CN" altLang="en-US" sz="1600" dirty="0">
                <a:solidFill>
                  <a:srgbClr val="067D17"/>
                </a:solidFill>
                <a:latin typeface="宋体" panose="02010600030101010101" pitchFamily="2" charset="-122"/>
                <a:ea typeface="宋体" panose="02010600030101010101" pitchFamily="2" charset="-122"/>
              </a:rPr>
              <a:t>父类</a:t>
            </a:r>
            <a:r>
              <a:rPr lang="en-US" altLang="zh-CN" sz="1600" dirty="0">
                <a:solidFill>
                  <a:srgbClr val="067D17"/>
                </a:solidFill>
                <a:latin typeface="Consolas" panose="020B0609020204030204" pitchFamily="49" charset="0"/>
                <a:ea typeface="阿里巴巴普惠体" panose="00020600040101010101" pitchFamily="18" charset="-122"/>
                <a:cs typeface="阿里巴巴普惠体" panose="00020600040101010101" pitchFamily="18" charset="-122"/>
              </a:rPr>
              <a:t>method...</a:t>
            </a:r>
            <a:r>
              <a:rPr lang="zh-CN" altLang="zh-CN" sz="1600" dirty="0">
                <a:solidFill>
                  <a:srgbClr val="067D17"/>
                </a:solidFill>
                <a:latin typeface="Consolas" panose="020B0609020204030204" pitchFamily="49" charset="0"/>
              </a:rPr>
              <a:t>"</a:t>
            </a:r>
            <a:r>
              <a:rPr lang="zh-CN" altLang="zh-CN" sz="1600" dirty="0">
                <a:solidFill>
                  <a:srgbClr val="080808"/>
                </a:solidFill>
                <a:latin typeface="Consolas" panose="020B0609020204030204" pitchFamily="49" charset="0"/>
              </a:rPr>
              <a:t>);</a:t>
            </a:r>
            <a:endPar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3">
            <a:extLst>
              <a:ext uri="{FF2B5EF4-FFF2-40B4-BE49-F238E27FC236}">
                <a16:creationId xmlns:a16="http://schemas.microsoft.com/office/drawing/2014/main" id="{8C6EA90B-3977-499D-B41A-F8A988564E73}"/>
              </a:ext>
            </a:extLst>
          </p:cNvPr>
          <p:cNvSpPr txBox="1"/>
          <p:nvPr/>
        </p:nvSpPr>
        <p:spPr>
          <a:xfrm>
            <a:off x="710880" y="4094531"/>
            <a:ext cx="5385120" cy="1323439"/>
          </a:xfrm>
          <a:prstGeom prst="rect">
            <a:avLst/>
          </a:prstGeom>
          <a:solidFill>
            <a:srgbClr val="FFFFE4"/>
          </a:solidFill>
          <a:ln w="12700">
            <a:solidFill>
              <a:schemeClr val="tx1"/>
            </a:solidFill>
          </a:ln>
        </p:spPr>
        <p:txBody>
          <a:bodyPr wrap="square">
            <a:spAutoFit/>
          </a:bodyPr>
          <a:lstStyle/>
          <a:p>
            <a:pPr>
              <a:defRPr/>
            </a:pPr>
            <a:r>
              <a:rPr lang="zh-CN"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zh-CN"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Zi </a:t>
            </a:r>
            <a:r>
              <a:rPr lang="zh-CN"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Fu </a:t>
            </a: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show() {</a:t>
            </a:r>
          </a:p>
          <a:p>
            <a:pPr>
              <a:defRPr/>
            </a:pP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子类自己的方法</a:t>
            </a:r>
            <a:r>
              <a:rPr lang="en-US" altLang="zh-CN" sz="1600" dirty="0">
                <a:solidFill>
                  <a:srgbClr val="1D8C13"/>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TextBox 3">
            <a:extLst>
              <a:ext uri="{FF2B5EF4-FFF2-40B4-BE49-F238E27FC236}">
                <a16:creationId xmlns:a16="http://schemas.microsoft.com/office/drawing/2014/main" id="{45450ED4-8544-4EC6-B2C6-DE2B9F3917CE}"/>
              </a:ext>
            </a:extLst>
          </p:cNvPr>
          <p:cNvSpPr txBox="1"/>
          <p:nvPr/>
        </p:nvSpPr>
        <p:spPr>
          <a:xfrm>
            <a:off x="6435524" y="4094531"/>
            <a:ext cx="5385120" cy="1323439"/>
          </a:xfrm>
          <a:prstGeom prst="rect">
            <a:avLst/>
          </a:prstGeom>
          <a:solidFill>
            <a:srgbClr val="FFFFE4"/>
          </a:solidFill>
          <a:ln w="12700">
            <a:solidFill>
              <a:schemeClr val="tx1"/>
            </a:solidFill>
          </a:ln>
        </p:spPr>
        <p:txBody>
          <a:bodyPr wrap="square">
            <a:spAutoFit/>
          </a:bodyPr>
          <a:lstStyle/>
          <a:p>
            <a:pPr>
              <a:defRPr/>
            </a:pPr>
            <a:r>
              <a:rPr lang="zh-CN"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zh-CN"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Zi </a:t>
            </a:r>
            <a:r>
              <a:rPr lang="zh-CN"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Fu </a:t>
            </a: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solidFill>
                  <a:srgbClr val="0033B3"/>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 {</a:t>
            </a:r>
          </a:p>
          <a:p>
            <a:pPr>
              <a:defRPr/>
            </a:pPr>
            <a:r>
              <a:rPr lang="en-US" altLang="zh-CN" sz="1600" dirty="0">
                <a:solidFill>
                  <a:srgbClr val="000000"/>
                </a:solidFill>
                <a:latin typeface="Consolas" panose="020B0609020204030204" pitchFamily="49" charset="0"/>
              </a:rPr>
              <a:t>        </a:t>
            </a:r>
            <a:r>
              <a:rPr lang="zh-CN" altLang="zh-CN" sz="1600" dirty="0">
                <a:solidFill>
                  <a:srgbClr val="000000"/>
                </a:solidFill>
                <a:latin typeface="Consolas" panose="020B0609020204030204" pitchFamily="49" charset="0"/>
              </a:rPr>
              <a:t>System</a:t>
            </a:r>
            <a:r>
              <a:rPr lang="zh-CN" altLang="zh-CN" sz="1600" dirty="0">
                <a:solidFill>
                  <a:srgbClr val="080808"/>
                </a:solidFill>
                <a:latin typeface="Consolas" panose="020B0609020204030204" pitchFamily="49" charset="0"/>
              </a:rPr>
              <a:t>.</a:t>
            </a:r>
            <a:r>
              <a:rPr lang="zh-CN" altLang="zh-CN" sz="1600" i="1" dirty="0">
                <a:solidFill>
                  <a:srgbClr val="871094"/>
                </a:solidFill>
                <a:latin typeface="Consolas" panose="020B0609020204030204" pitchFamily="49" charset="0"/>
              </a:rPr>
              <a:t>out</a:t>
            </a:r>
            <a:r>
              <a:rPr lang="zh-CN" altLang="zh-CN" sz="1600" dirty="0">
                <a:solidFill>
                  <a:srgbClr val="080808"/>
                </a:solidFill>
                <a:latin typeface="Consolas" panose="020B0609020204030204" pitchFamily="49" charset="0"/>
              </a:rPr>
              <a:t>.println(</a:t>
            </a:r>
            <a:r>
              <a:rPr lang="zh-CN" altLang="zh-CN" sz="1600" dirty="0">
                <a:solidFill>
                  <a:srgbClr val="067D17"/>
                </a:solidFill>
                <a:latin typeface="Consolas" panose="020B0609020204030204" pitchFamily="49" charset="0"/>
              </a:rPr>
              <a:t>"</a:t>
            </a:r>
            <a:r>
              <a:rPr lang="zh-CN" altLang="en-US" sz="1600" dirty="0">
                <a:solidFill>
                  <a:srgbClr val="067D17"/>
                </a:solidFill>
                <a:latin typeface="Consolas" panose="020B0609020204030204" pitchFamily="49" charset="0"/>
                <a:ea typeface="阿里巴巴普惠体" panose="00020600040101010101" pitchFamily="18" charset="-122"/>
                <a:cs typeface="阿里巴巴普惠体" panose="00020600040101010101" pitchFamily="18" charset="-122"/>
              </a:rPr>
              <a:t>子类</a:t>
            </a:r>
            <a:r>
              <a:rPr lang="en-US" altLang="zh-CN" sz="1600" dirty="0">
                <a:solidFill>
                  <a:srgbClr val="067D17"/>
                </a:solidFill>
                <a:latin typeface="Consolas" panose="020B0609020204030204" pitchFamily="49" charset="0"/>
                <a:ea typeface="阿里巴巴普惠体" panose="00020600040101010101" pitchFamily="18" charset="-122"/>
                <a:cs typeface="阿里巴巴普惠体" panose="00020600040101010101" pitchFamily="18" charset="-122"/>
              </a:rPr>
              <a:t>method...</a:t>
            </a:r>
            <a:r>
              <a:rPr lang="zh-CN" altLang="zh-CN" sz="1600" dirty="0">
                <a:solidFill>
                  <a:srgbClr val="067D17"/>
                </a:solidFill>
                <a:latin typeface="Consolas" panose="020B0609020204030204" pitchFamily="49" charset="0"/>
              </a:rPr>
              <a:t>"</a:t>
            </a:r>
            <a:r>
              <a:rPr lang="zh-CN" altLang="zh-CN" sz="1600" dirty="0">
                <a:solidFill>
                  <a:srgbClr val="080808"/>
                </a:solidFill>
                <a:latin typeface="Consolas" panose="020B0609020204030204" pitchFamily="49" charset="0"/>
              </a:rPr>
              <a:t>);</a:t>
            </a:r>
            <a:endPar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6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600" dirty="0">
                <a:solidFill>
                  <a:srgbClr val="080808"/>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1" name="Picture 2">
            <a:extLst>
              <a:ext uri="{FF2B5EF4-FFF2-40B4-BE49-F238E27FC236}">
                <a16:creationId xmlns:a16="http://schemas.microsoft.com/office/drawing/2014/main" id="{F1E50E3B-46BF-487A-94E2-5E0E3DCDF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7902" y="2073550"/>
            <a:ext cx="1573212"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4FC52E5-9A78-6EC7-8A7A-EDFD6938D812}"/>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成员方法</a:t>
            </a:r>
            <a:endParaRPr lang="zh-CN" altLang="en-US" dirty="0"/>
          </a:p>
        </p:txBody>
      </p:sp>
    </p:spTree>
    <p:extLst>
      <p:ext uri="{BB962C8B-B14F-4D97-AF65-F5344CB8AC3E}">
        <p14:creationId xmlns:p14="http://schemas.microsoft.com/office/powerpoint/2010/main" val="115838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1164614"/>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在继承体系中，子类可以继承到父类的方法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但有时子类并不想原封不动地继承父类的方法，而是想作一定的修改</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这就需要采用方法的重写，方法重写又称方法覆盖</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3" name="图片 12">
            <a:extLst>
              <a:ext uri="{FF2B5EF4-FFF2-40B4-BE49-F238E27FC236}">
                <a16:creationId xmlns:a16="http://schemas.microsoft.com/office/drawing/2014/main" id="{B344A6A5-05C9-43D1-A262-44ADA66EA55E}"/>
              </a:ext>
            </a:extLst>
          </p:cNvPr>
          <p:cNvPicPr>
            <a:picLocks noChangeAspect="1"/>
          </p:cNvPicPr>
          <p:nvPr/>
        </p:nvPicPr>
        <p:blipFill>
          <a:blip r:embed="rId2"/>
          <a:stretch>
            <a:fillRect/>
          </a:stretch>
        </p:blipFill>
        <p:spPr>
          <a:xfrm>
            <a:off x="1002045" y="3429000"/>
            <a:ext cx="2039736" cy="2455648"/>
          </a:xfrm>
          <a:prstGeom prst="rect">
            <a:avLst/>
          </a:prstGeom>
        </p:spPr>
      </p:pic>
      <p:pic>
        <p:nvPicPr>
          <p:cNvPr id="4" name="图片 3">
            <a:extLst>
              <a:ext uri="{FF2B5EF4-FFF2-40B4-BE49-F238E27FC236}">
                <a16:creationId xmlns:a16="http://schemas.microsoft.com/office/drawing/2014/main" id="{C5EBC27B-9449-4706-8765-F3EF0334995F}"/>
              </a:ext>
            </a:extLst>
          </p:cNvPr>
          <p:cNvPicPr>
            <a:picLocks noChangeAspect="1"/>
          </p:cNvPicPr>
          <p:nvPr/>
        </p:nvPicPr>
        <p:blipFill>
          <a:blip r:embed="rId3"/>
          <a:stretch>
            <a:fillRect/>
          </a:stretch>
        </p:blipFill>
        <p:spPr>
          <a:xfrm>
            <a:off x="3262962" y="4044791"/>
            <a:ext cx="1626279" cy="1839857"/>
          </a:xfrm>
          <a:prstGeom prst="rect">
            <a:avLst/>
          </a:prstGeom>
        </p:spPr>
      </p:pic>
      <p:sp>
        <p:nvSpPr>
          <p:cNvPr id="5" name="矩形: 圆角 4">
            <a:extLst>
              <a:ext uri="{FF2B5EF4-FFF2-40B4-BE49-F238E27FC236}">
                <a16:creationId xmlns:a16="http://schemas.microsoft.com/office/drawing/2014/main" id="{24C861BF-4B3C-4EE4-B58D-74D1B8147155}"/>
              </a:ext>
            </a:extLst>
          </p:cNvPr>
          <p:cNvSpPr/>
          <p:nvPr/>
        </p:nvSpPr>
        <p:spPr>
          <a:xfrm>
            <a:off x="2827176" y="3051110"/>
            <a:ext cx="1626279" cy="55983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捉羊</a:t>
            </a:r>
          </a:p>
        </p:txBody>
      </p:sp>
      <p:pic>
        <p:nvPicPr>
          <p:cNvPr id="9218" name="Picture 2">
            <a:extLst>
              <a:ext uri="{FF2B5EF4-FFF2-40B4-BE49-F238E27FC236}">
                <a16:creationId xmlns:a16="http://schemas.microsoft.com/office/drawing/2014/main" id="{B8980380-6D66-4297-BB4E-3690399820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1207" y="4266509"/>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a:extLst>
              <a:ext uri="{FF2B5EF4-FFF2-40B4-BE49-F238E27FC236}">
                <a16:creationId xmlns:a16="http://schemas.microsoft.com/office/drawing/2014/main" id="{DDA90D63-5CB6-43D6-A064-5BC61B05C4DC}"/>
              </a:ext>
            </a:extLst>
          </p:cNvPr>
          <p:cNvPicPr>
            <a:picLocks noChangeAspect="1"/>
          </p:cNvPicPr>
          <p:nvPr/>
        </p:nvPicPr>
        <p:blipFill>
          <a:blip r:embed="rId5"/>
          <a:stretch>
            <a:fillRect/>
          </a:stretch>
        </p:blipFill>
        <p:spPr>
          <a:xfrm>
            <a:off x="5993123" y="3947415"/>
            <a:ext cx="2234719" cy="2248446"/>
          </a:xfrm>
          <a:prstGeom prst="rect">
            <a:avLst/>
          </a:prstGeom>
        </p:spPr>
      </p:pic>
      <p:sp>
        <p:nvSpPr>
          <p:cNvPr id="15" name="对话气泡: 椭圆形 14">
            <a:extLst>
              <a:ext uri="{FF2B5EF4-FFF2-40B4-BE49-F238E27FC236}">
                <a16:creationId xmlns:a16="http://schemas.microsoft.com/office/drawing/2014/main" id="{B0836BB4-FC5A-4F9A-827F-C55B20990A6C}"/>
              </a:ext>
            </a:extLst>
          </p:cNvPr>
          <p:cNvSpPr/>
          <p:nvPr/>
        </p:nvSpPr>
        <p:spPr>
          <a:xfrm>
            <a:off x="6727371" y="2985325"/>
            <a:ext cx="2491274" cy="1059466"/>
          </a:xfrm>
          <a:prstGeom prst="wedgeEllipseCallout">
            <a:avLst>
              <a:gd name="adj1" fmla="val 30478"/>
              <a:gd name="adj2" fmla="val 61619"/>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父亲，时代变了</a:t>
            </a:r>
          </a:p>
        </p:txBody>
      </p:sp>
      <p:sp>
        <p:nvSpPr>
          <p:cNvPr id="6" name="标题 5">
            <a:extLst>
              <a:ext uri="{FF2B5EF4-FFF2-40B4-BE49-F238E27FC236}">
                <a16:creationId xmlns:a16="http://schemas.microsoft.com/office/drawing/2014/main" id="{FD09CA30-34F1-E387-B9D5-2340295DF0C0}"/>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成员方法</a:t>
            </a:r>
            <a:endParaRPr lang="zh-CN" altLang="en-US" dirty="0"/>
          </a:p>
        </p:txBody>
      </p:sp>
    </p:spTree>
    <p:extLst>
      <p:ext uri="{BB962C8B-B14F-4D97-AF65-F5344CB8AC3E}">
        <p14:creationId xmlns:p14="http://schemas.microsoft.com/office/powerpoint/2010/main" val="60839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218"/>
                                        </p:tgtEl>
                                        <p:attrNameLst>
                                          <p:attrName>style.visibility</p:attrName>
                                        </p:attrNameLst>
                                      </p:cBhvr>
                                      <p:to>
                                        <p:strVal val="visible"/>
                                      </p:to>
                                    </p:set>
                                    <p:anim calcmode="lin" valueType="num">
                                      <p:cBhvr additive="base">
                                        <p:cTn id="31" dur="500" fill="hold"/>
                                        <p:tgtEl>
                                          <p:spTgt spid="9218"/>
                                        </p:tgtEl>
                                        <p:attrNameLst>
                                          <p:attrName>ppt_x</p:attrName>
                                        </p:attrNameLst>
                                      </p:cBhvr>
                                      <p:tavLst>
                                        <p:tav tm="0">
                                          <p:val>
                                            <p:strVal val="1+#ppt_w/2"/>
                                          </p:val>
                                        </p:tav>
                                        <p:tav tm="100000">
                                          <p:val>
                                            <p:strVal val="#ppt_x"/>
                                          </p:val>
                                        </p:tav>
                                      </p:tavLst>
                                    </p:anim>
                                    <p:anim calcmode="lin" valueType="num">
                                      <p:cBhvr additive="base">
                                        <p:cTn id="32" dur="500" fill="hold"/>
                                        <p:tgtEl>
                                          <p:spTgt spid="9218"/>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422103"/>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子类重写父类方法，需要保证方法声明完全一致（方法名，参数，返回值类型需要保持一致）</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 name="标题 3">
            <a:extLst>
              <a:ext uri="{FF2B5EF4-FFF2-40B4-BE49-F238E27FC236}">
                <a16:creationId xmlns:a16="http://schemas.microsoft.com/office/drawing/2014/main" id="{11A1C3B7-27AE-3E31-498C-1FD53EB856DC}"/>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成员方法</a:t>
            </a:r>
            <a:endParaRPr lang="zh-CN" altLang="en-US" dirty="0"/>
          </a:p>
        </p:txBody>
      </p:sp>
      <p:sp>
        <p:nvSpPr>
          <p:cNvPr id="11" name="文本框 10">
            <a:extLst>
              <a:ext uri="{FF2B5EF4-FFF2-40B4-BE49-F238E27FC236}">
                <a16:creationId xmlns:a16="http://schemas.microsoft.com/office/drawing/2014/main" id="{AA4F3A44-9F41-43AD-9339-2BD2EE666841}"/>
              </a:ext>
            </a:extLst>
          </p:cNvPr>
          <p:cNvSpPr txBox="1">
            <a:spLocks noChangeArrowheads="1"/>
          </p:cNvSpPr>
          <p:nvPr/>
        </p:nvSpPr>
        <p:spPr bwMode="auto">
          <a:xfrm>
            <a:off x="1053377" y="3200429"/>
            <a:ext cx="5740824" cy="70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69875" indent="-269875" fontAlgn="auto">
              <a:lnSpc>
                <a:spcPct val="150000"/>
              </a:lnSpc>
              <a:spcBef>
                <a:spcPts val="0"/>
              </a:spcBef>
              <a:spcAft>
                <a:spcPts val="0"/>
              </a:spcAft>
              <a:buFont typeface="Wingdings" panose="05000000000000000000" pitchFamily="2" charset="2"/>
              <a:buChar char="l"/>
              <a:defRPr/>
            </a:pP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父类中私有方法不能被重写</a:t>
            </a:r>
            <a:endPar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9875" indent="-269875" fontAlgn="auto">
              <a:lnSpc>
                <a:spcPct val="150000"/>
              </a:lnSpc>
              <a:spcBef>
                <a:spcPts val="0"/>
              </a:spcBef>
              <a:spcAft>
                <a:spcPts val="0"/>
              </a:spcAft>
              <a:buFont typeface="Wingdings" panose="05000000000000000000" pitchFamily="2" charset="2"/>
              <a:buChar char="l"/>
              <a:defRPr/>
            </a:pP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子类重写父类方法时，访问权限必须大于等于父类</a:t>
            </a:r>
            <a:endPar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三角形 9">
            <a:extLst>
              <a:ext uri="{FF2B5EF4-FFF2-40B4-BE49-F238E27FC236}">
                <a16:creationId xmlns:a16="http://schemas.microsoft.com/office/drawing/2014/main" id="{537CB563-A539-4C19-AE0E-E4159AD7547A}"/>
              </a:ext>
            </a:extLst>
          </p:cNvPr>
          <p:cNvSpPr/>
          <p:nvPr/>
        </p:nvSpPr>
        <p:spPr>
          <a:xfrm rot="2651319">
            <a:off x="717495" y="310973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E06D75D8-6774-4DF9-B32B-35AF71984FD2}"/>
              </a:ext>
            </a:extLst>
          </p:cNvPr>
          <p:cNvSpPr/>
          <p:nvPr/>
        </p:nvSpPr>
        <p:spPr>
          <a:xfrm>
            <a:off x="810809" y="2753151"/>
            <a:ext cx="5983392" cy="1351698"/>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665DD720-253B-4E28-A926-17C6FC78632B}"/>
              </a:ext>
            </a:extLst>
          </p:cNvPr>
          <p:cNvSpPr/>
          <p:nvPr/>
        </p:nvSpPr>
        <p:spPr>
          <a:xfrm>
            <a:off x="710881" y="2825620"/>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Alibaba PuHuiTi R" pitchFamily="18" charset="-122"/>
                <a:ea typeface="Alibaba PuHuiTi R" pitchFamily="18" charset="-122"/>
                <a:cs typeface="Alibaba PuHuiTi R" pitchFamily="18" charset="-122"/>
              </a:rPr>
              <a:t>注意事项</a:t>
            </a:r>
          </a:p>
        </p:txBody>
      </p:sp>
      <p:graphicFrame>
        <p:nvGraphicFramePr>
          <p:cNvPr id="5" name="表格 4">
            <a:extLst>
              <a:ext uri="{FF2B5EF4-FFF2-40B4-BE49-F238E27FC236}">
                <a16:creationId xmlns:a16="http://schemas.microsoft.com/office/drawing/2014/main" id="{70B7B7CA-5876-405A-9EB8-715F1BF0ECEA}"/>
              </a:ext>
            </a:extLst>
          </p:cNvPr>
          <p:cNvGraphicFramePr>
            <a:graphicFrameLocks noGrp="1"/>
          </p:cNvGraphicFramePr>
          <p:nvPr>
            <p:extLst>
              <p:ext uri="{D42A27DB-BD31-4B8C-83A1-F6EECF244321}">
                <p14:modId xmlns:p14="http://schemas.microsoft.com/office/powerpoint/2010/main" val="3585450880"/>
              </p:ext>
            </p:extLst>
          </p:nvPr>
        </p:nvGraphicFramePr>
        <p:xfrm>
          <a:off x="7538181" y="2753150"/>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权限修饰符</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private</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(default)</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protected</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public</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spTree>
    <p:extLst>
      <p:ext uri="{BB962C8B-B14F-4D97-AF65-F5344CB8AC3E}">
        <p14:creationId xmlns:p14="http://schemas.microsoft.com/office/powerpoint/2010/main" val="81204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left)">
                                      <p:cBhvr>
                                        <p:cTn id="14" dur="500"/>
                                        <p:tgtEl>
                                          <p:spTgt spid="1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500"/>
                                        <p:tgtEl>
                                          <p:spTgt spid="1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animEffect transition="in" filter="fade">
                                      <p:cBhvr>
                                        <p:cTn id="25" dur="500"/>
                                        <p:tgtEl>
                                          <p:spTgt spid="11">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5F92-B026-094B-6A18-B1ECF6E0698B}"/>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F9D7A80-3C2B-8634-F7EB-0C594D3CCC76}"/>
              </a:ext>
            </a:extLst>
          </p:cNvPr>
          <p:cNvSpPr>
            <a:spLocks noGrp="1"/>
          </p:cNvSpPr>
          <p:nvPr>
            <p:ph type="body" sz="quarter" idx="10"/>
          </p:nvPr>
        </p:nvSpPr>
        <p:spPr>
          <a:xfrm>
            <a:off x="3936569" y="1483864"/>
            <a:ext cx="8255431" cy="3962399"/>
          </a:xfrm>
        </p:spPr>
        <p:txBody>
          <a:bodyPr/>
          <a:lstStyle/>
          <a:p>
            <a:r>
              <a:rPr lang="en-US" altLang="zh-CN" dirty="0">
                <a:solidFill>
                  <a:schemeClr val="tx1">
                    <a:lumMod val="50000"/>
                  </a:schemeClr>
                </a:solidFill>
                <a:latin typeface="+mn-ea"/>
              </a:rPr>
              <a:t>Override</a:t>
            </a:r>
            <a:r>
              <a:rPr lang="zh-CN" altLang="en-US" dirty="0">
                <a:solidFill>
                  <a:schemeClr val="tx1">
                    <a:lumMod val="50000"/>
                  </a:schemeClr>
                </a:solidFill>
                <a:latin typeface="+mn-ea"/>
              </a:rPr>
              <a:t>（重写）：</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rPr>
              <a:t>在子类中重新定义父类中已存在的方法</a:t>
            </a:r>
            <a:endParaRPr lang="en-US" altLang="zh-CN" dirty="0">
              <a:solidFill>
                <a:schemeClr val="tx1">
                  <a:lumMod val="50000"/>
                </a:schemeClr>
              </a:solidFill>
            </a:endParaRPr>
          </a:p>
          <a:p>
            <a:r>
              <a:rPr lang="zh-CN" altLang="en-US" dirty="0">
                <a:solidFill>
                  <a:schemeClr val="tx1">
                    <a:lumMod val="50000"/>
                  </a:schemeClr>
                </a:solidFill>
              </a:rPr>
              <a:t>使用场景：</a:t>
            </a:r>
            <a:endParaRPr lang="en-US" altLang="zh-CN" dirty="0">
              <a:solidFill>
                <a:schemeClr val="tx1">
                  <a:lumMod val="50000"/>
                </a:schemeClr>
              </a:solidFill>
            </a:endParaRPr>
          </a:p>
          <a:p>
            <a:r>
              <a:rPr lang="en-US" altLang="zh-CN" dirty="0">
                <a:solidFill>
                  <a:schemeClr val="tx1">
                    <a:lumMod val="50000"/>
                  </a:schemeClr>
                </a:solidFill>
              </a:rPr>
              <a:t>	</a:t>
            </a:r>
            <a:r>
              <a:rPr lang="zh-CN" altLang="en-US" dirty="0">
                <a:solidFill>
                  <a:schemeClr val="tx1">
                    <a:lumMod val="50000"/>
                  </a:schemeClr>
                </a:solidFill>
              </a:rPr>
              <a:t>子类需要父类的方法，但是觉得父类的方法不好</a:t>
            </a:r>
            <a:endParaRPr lang="en-US" altLang="zh-CN" dirty="0">
              <a:solidFill>
                <a:schemeClr val="tx1">
                  <a:lumMod val="50000"/>
                </a:schemeClr>
              </a:solidFill>
            </a:endParaRPr>
          </a:p>
          <a:p>
            <a:r>
              <a:rPr lang="en-US" altLang="zh-CN" dirty="0">
                <a:solidFill>
                  <a:schemeClr val="tx1">
                    <a:lumMod val="50000"/>
                  </a:schemeClr>
                </a:solidFill>
              </a:rPr>
              <a:t>	</a:t>
            </a:r>
            <a:r>
              <a:rPr lang="zh-CN" altLang="en-US" dirty="0">
                <a:solidFill>
                  <a:schemeClr val="tx1">
                    <a:lumMod val="50000"/>
                  </a:schemeClr>
                </a:solidFill>
              </a:rPr>
              <a:t>想要修改或者是增强，就可以重写父类方法</a:t>
            </a:r>
            <a:endParaRPr lang="en-US" altLang="zh-CN" dirty="0">
              <a:solidFill>
                <a:schemeClr val="tx1">
                  <a:lumMod val="50000"/>
                </a:schemeClr>
              </a:solidFill>
            </a:endParaRPr>
          </a:p>
          <a:p>
            <a:r>
              <a:rPr lang="zh-CN" altLang="en-US" dirty="0">
                <a:solidFill>
                  <a:schemeClr val="tx1">
                    <a:lumMod val="50000"/>
                  </a:schemeClr>
                </a:solidFill>
              </a:rPr>
              <a:t>格式要求：</a:t>
            </a:r>
            <a:endParaRPr lang="en-US" altLang="zh-CN" dirty="0">
              <a:solidFill>
                <a:schemeClr val="tx1">
                  <a:lumMod val="50000"/>
                </a:schemeClr>
              </a:solidFill>
            </a:endParaRPr>
          </a:p>
          <a:p>
            <a:r>
              <a:rPr lang="en-US" altLang="zh-CN" dirty="0">
                <a:solidFill>
                  <a:schemeClr val="tx1">
                    <a:lumMod val="50000"/>
                  </a:schemeClr>
                </a:solidFill>
              </a:rPr>
              <a:t>	</a:t>
            </a:r>
            <a:r>
              <a:rPr lang="zh-CN" altLang="en-US" dirty="0">
                <a:solidFill>
                  <a:schemeClr val="tx1">
                    <a:lumMod val="50000"/>
                  </a:schemeClr>
                </a:solidFill>
              </a:rPr>
              <a:t>子类重写父类方法的时候，方法声明需要和父类完全一致</a:t>
            </a:r>
            <a:endParaRPr lang="en-US" altLang="zh-CN" dirty="0">
              <a:solidFill>
                <a:schemeClr val="tx1">
                  <a:lumMod val="50000"/>
                </a:schemeClr>
              </a:solidFill>
            </a:endParaRPr>
          </a:p>
          <a:p>
            <a:r>
              <a:rPr lang="zh-CN" altLang="en-US" dirty="0">
                <a:solidFill>
                  <a:schemeClr val="tx1">
                    <a:lumMod val="50000"/>
                  </a:schemeClr>
                </a:solidFill>
                <a:latin typeface="+mn-ea"/>
              </a:rPr>
              <a:t>重写父类方法的时候需要注意</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1. </a:t>
            </a:r>
            <a:r>
              <a:rPr lang="zh-CN" altLang="en-US" dirty="0">
                <a:solidFill>
                  <a:schemeClr val="tx1">
                    <a:lumMod val="50000"/>
                  </a:schemeClr>
                </a:solidFill>
                <a:latin typeface="+mn-ea"/>
              </a:rPr>
              <a:t>子类不可重写父类中私有的方法</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2. </a:t>
            </a:r>
            <a:r>
              <a:rPr lang="zh-CN" altLang="en-US" dirty="0">
                <a:solidFill>
                  <a:schemeClr val="tx1">
                    <a:lumMod val="50000"/>
                  </a:schemeClr>
                </a:solidFill>
                <a:latin typeface="+mn-ea"/>
              </a:rPr>
              <a:t>子类重写父类方法的时候，权限修饰符要大于等于父类</a:t>
            </a:r>
            <a:endParaRPr lang="en-US" altLang="zh-CN" dirty="0">
              <a:solidFill>
                <a:schemeClr val="tx1">
                  <a:lumMod val="50000"/>
                </a:schemeClr>
              </a:solidFill>
              <a:latin typeface="+mn-ea"/>
            </a:endParaRPr>
          </a:p>
        </p:txBody>
      </p:sp>
      <p:sp>
        <p:nvSpPr>
          <p:cNvPr id="3" name="标题 2">
            <a:extLst>
              <a:ext uri="{FF2B5EF4-FFF2-40B4-BE49-F238E27FC236}">
                <a16:creationId xmlns:a16="http://schemas.microsoft.com/office/drawing/2014/main" id="{719DA3A2-FFFD-F7E9-DD96-2C3B39D8A394}"/>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39527187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70B7B7CA-5876-405A-9EB8-715F1BF0ECEA}"/>
              </a:ext>
            </a:extLst>
          </p:cNvPr>
          <p:cNvGraphicFramePr>
            <a:graphicFrameLocks noGrp="1"/>
          </p:cNvGraphicFramePr>
          <p:nvPr/>
        </p:nvGraphicFramePr>
        <p:xfrm>
          <a:off x="776195"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权限修饰符</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private</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(default)</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protected</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public</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9" name="表格 8">
            <a:extLst>
              <a:ext uri="{FF2B5EF4-FFF2-40B4-BE49-F238E27FC236}">
                <a16:creationId xmlns:a16="http://schemas.microsoft.com/office/drawing/2014/main" id="{504112EE-1D46-4613-987E-1B8C8CDE4DA7}"/>
              </a:ext>
            </a:extLst>
          </p:cNvPr>
          <p:cNvGraphicFramePr>
            <a:graphicFrameLocks noGrp="1"/>
          </p:cNvGraphicFramePr>
          <p:nvPr/>
        </p:nvGraphicFramePr>
        <p:xfrm>
          <a:off x="2546093"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同一个类中</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0" name="表格 9">
            <a:extLst>
              <a:ext uri="{FF2B5EF4-FFF2-40B4-BE49-F238E27FC236}">
                <a16:creationId xmlns:a16="http://schemas.microsoft.com/office/drawing/2014/main" id="{E0345604-51CC-4DA2-AA21-9F6C50CDD523}"/>
              </a:ext>
            </a:extLst>
          </p:cNvPr>
          <p:cNvGraphicFramePr>
            <a:graphicFrameLocks noGrp="1"/>
          </p:cNvGraphicFramePr>
          <p:nvPr/>
        </p:nvGraphicFramePr>
        <p:xfrm>
          <a:off x="4315991"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同一个包中</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2" name="表格 11">
            <a:extLst>
              <a:ext uri="{FF2B5EF4-FFF2-40B4-BE49-F238E27FC236}">
                <a16:creationId xmlns:a16="http://schemas.microsoft.com/office/drawing/2014/main" id="{FE6DB358-D999-45CA-908E-02376658411F}"/>
              </a:ext>
            </a:extLst>
          </p:cNvPr>
          <p:cNvGraphicFramePr>
            <a:graphicFrameLocks noGrp="1"/>
          </p:cNvGraphicFramePr>
          <p:nvPr/>
        </p:nvGraphicFramePr>
        <p:xfrm>
          <a:off x="6085889"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不同包的子类</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3" name="表格 12">
            <a:extLst>
              <a:ext uri="{FF2B5EF4-FFF2-40B4-BE49-F238E27FC236}">
                <a16:creationId xmlns:a16="http://schemas.microsoft.com/office/drawing/2014/main" id="{4B70A756-1895-46EF-A400-22089E49193D}"/>
              </a:ext>
            </a:extLst>
          </p:cNvPr>
          <p:cNvGraphicFramePr>
            <a:graphicFrameLocks noGrp="1"/>
          </p:cNvGraphicFramePr>
          <p:nvPr/>
        </p:nvGraphicFramePr>
        <p:xfrm>
          <a:off x="7855786" y="2114685"/>
          <a:ext cx="2538515" cy="2628629"/>
        </p:xfrm>
        <a:graphic>
          <a:graphicData uri="http://schemas.openxmlformats.org/drawingml/2006/table">
            <a:tbl>
              <a:tblPr/>
              <a:tblGrid>
                <a:gridCol w="2538515">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不同包的无关类</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sp>
        <p:nvSpPr>
          <p:cNvPr id="3" name="标题 2">
            <a:extLst>
              <a:ext uri="{FF2B5EF4-FFF2-40B4-BE49-F238E27FC236}">
                <a16:creationId xmlns:a16="http://schemas.microsoft.com/office/drawing/2014/main" id="{991D0905-AA26-59A7-F261-EA333E29E949}"/>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权限修饰符</a:t>
            </a:r>
            <a:endParaRPr lang="zh-CN" altLang="en-US" dirty="0"/>
          </a:p>
        </p:txBody>
      </p:sp>
    </p:spTree>
    <p:extLst>
      <p:ext uri="{BB962C8B-B14F-4D97-AF65-F5344CB8AC3E}">
        <p14:creationId xmlns:p14="http://schemas.microsoft.com/office/powerpoint/2010/main" val="1781721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70B7B7CA-5876-405A-9EB8-715F1BF0ECEA}"/>
              </a:ext>
            </a:extLst>
          </p:cNvPr>
          <p:cNvGraphicFramePr>
            <a:graphicFrameLocks noGrp="1"/>
          </p:cNvGraphicFramePr>
          <p:nvPr/>
        </p:nvGraphicFramePr>
        <p:xfrm>
          <a:off x="776195"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权限修饰符</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Alibaba PuHuiTi R" pitchFamily="18" charset="-122"/>
                          <a:ea typeface="Alibaba PuHuiTi R" pitchFamily="18" charset="-122"/>
                          <a:cs typeface="Alibaba PuHuiTi R" pitchFamily="18" charset="-122"/>
                        </a:rPr>
                        <a:t>private</a:t>
                      </a:r>
                      <a:endParaRPr kumimoji="0" lang="zh-CN" altLang="en-US" sz="1600" b="0" i="0" u="none" strike="noStrike" cap="none" normalizeH="0" baseline="0" dirty="0">
                        <a:ln>
                          <a:noFill/>
                        </a:ln>
                        <a:solidFill>
                          <a:srgbClr val="C00000"/>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(default)</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protected</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Alibaba PuHuiTi R" pitchFamily="18" charset="-122"/>
                          <a:ea typeface="Alibaba PuHuiTi R" pitchFamily="18" charset="-122"/>
                          <a:cs typeface="Alibaba PuHuiTi R" pitchFamily="18" charset="-122"/>
                        </a:rPr>
                        <a:t>public</a:t>
                      </a:r>
                      <a:endParaRPr kumimoji="0" lang="zh-CN" altLang="en-US" sz="1600" b="0" i="0" u="none" strike="noStrike" cap="none" normalizeH="0" baseline="0" dirty="0">
                        <a:ln>
                          <a:noFill/>
                        </a:ln>
                        <a:solidFill>
                          <a:srgbClr val="C00000"/>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9" name="表格 8">
            <a:extLst>
              <a:ext uri="{FF2B5EF4-FFF2-40B4-BE49-F238E27FC236}">
                <a16:creationId xmlns:a16="http://schemas.microsoft.com/office/drawing/2014/main" id="{504112EE-1D46-4613-987E-1B8C8CDE4DA7}"/>
              </a:ext>
            </a:extLst>
          </p:cNvPr>
          <p:cNvGraphicFramePr>
            <a:graphicFrameLocks noGrp="1"/>
          </p:cNvGraphicFramePr>
          <p:nvPr/>
        </p:nvGraphicFramePr>
        <p:xfrm>
          <a:off x="2546093"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同一个类中</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0" name="表格 9">
            <a:extLst>
              <a:ext uri="{FF2B5EF4-FFF2-40B4-BE49-F238E27FC236}">
                <a16:creationId xmlns:a16="http://schemas.microsoft.com/office/drawing/2014/main" id="{E0345604-51CC-4DA2-AA21-9F6C50CDD523}"/>
              </a:ext>
            </a:extLst>
          </p:cNvPr>
          <p:cNvGraphicFramePr>
            <a:graphicFrameLocks noGrp="1"/>
          </p:cNvGraphicFramePr>
          <p:nvPr/>
        </p:nvGraphicFramePr>
        <p:xfrm>
          <a:off x="4315991"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同一个包中</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2" name="表格 11">
            <a:extLst>
              <a:ext uri="{FF2B5EF4-FFF2-40B4-BE49-F238E27FC236}">
                <a16:creationId xmlns:a16="http://schemas.microsoft.com/office/drawing/2014/main" id="{FE6DB358-D999-45CA-908E-02376658411F}"/>
              </a:ext>
            </a:extLst>
          </p:cNvPr>
          <p:cNvGraphicFramePr>
            <a:graphicFrameLocks noGrp="1"/>
          </p:cNvGraphicFramePr>
          <p:nvPr/>
        </p:nvGraphicFramePr>
        <p:xfrm>
          <a:off x="6085889" y="2114685"/>
          <a:ext cx="1769898" cy="2628629"/>
        </p:xfrm>
        <a:graphic>
          <a:graphicData uri="http://schemas.openxmlformats.org/drawingml/2006/table">
            <a:tbl>
              <a:tblPr/>
              <a:tblGrid>
                <a:gridCol w="1769898">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不同包的子类</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graphicFrame>
        <p:nvGraphicFramePr>
          <p:cNvPr id="13" name="表格 12">
            <a:extLst>
              <a:ext uri="{FF2B5EF4-FFF2-40B4-BE49-F238E27FC236}">
                <a16:creationId xmlns:a16="http://schemas.microsoft.com/office/drawing/2014/main" id="{4B70A756-1895-46EF-A400-22089E49193D}"/>
              </a:ext>
            </a:extLst>
          </p:cNvPr>
          <p:cNvGraphicFramePr>
            <a:graphicFrameLocks noGrp="1"/>
          </p:cNvGraphicFramePr>
          <p:nvPr/>
        </p:nvGraphicFramePr>
        <p:xfrm>
          <a:off x="7855786" y="2114685"/>
          <a:ext cx="2538515" cy="2628629"/>
        </p:xfrm>
        <a:graphic>
          <a:graphicData uri="http://schemas.openxmlformats.org/drawingml/2006/table">
            <a:tbl>
              <a:tblPr/>
              <a:tblGrid>
                <a:gridCol w="2538515">
                  <a:extLst>
                    <a:ext uri="{9D8B030D-6E8A-4147-A177-3AD203B41FA5}">
                      <a16:colId xmlns:a16="http://schemas.microsoft.com/office/drawing/2014/main" val="1488295056"/>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不同包的无关类</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1944311345"/>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917637580"/>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17096109"/>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24544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013539450"/>
                  </a:ext>
                </a:extLst>
              </a:tr>
            </a:tbl>
          </a:graphicData>
        </a:graphic>
      </p:graphicFrame>
      <p:sp>
        <p:nvSpPr>
          <p:cNvPr id="3" name="标题 2">
            <a:extLst>
              <a:ext uri="{FF2B5EF4-FFF2-40B4-BE49-F238E27FC236}">
                <a16:creationId xmlns:a16="http://schemas.microsoft.com/office/drawing/2014/main" id="{ED6B3DD2-6611-981A-3F0D-DE4C5CC151D0}"/>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权限修饰符</a:t>
            </a:r>
            <a:endParaRPr lang="zh-CN" altLang="en-US" dirty="0"/>
          </a:p>
        </p:txBody>
      </p:sp>
    </p:spTree>
    <p:extLst>
      <p:ext uri="{BB962C8B-B14F-4D97-AF65-F5344CB8AC3E}">
        <p14:creationId xmlns:p14="http://schemas.microsoft.com/office/powerpoint/2010/main" val="2208671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2E7E9B9-778D-4BCD-B1EB-F9B3E2C87108}"/>
              </a:ext>
            </a:extLst>
          </p:cNvPr>
          <p:cNvSpPr txBox="1"/>
          <p:nvPr/>
        </p:nvSpPr>
        <p:spPr>
          <a:xfrm>
            <a:off x="710880" y="1635973"/>
            <a:ext cx="5163593" cy="338554"/>
          </a:xfrm>
          <a:prstGeom prst="rect">
            <a:avLst/>
          </a:prstGeom>
          <a:noFill/>
        </p:spPr>
        <p:txBody>
          <a:bodyPr wrap="none">
            <a:spAutoFit/>
          </a:bodyPr>
          <a:lstStyle/>
          <a:p>
            <a:pPr marL="285750" indent="-285750">
              <a:buFont typeface="Wingdings" panose="05000000000000000000" pitchFamily="2" charset="2"/>
              <a:buChar char="l"/>
              <a:defRPr/>
            </a:pP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Java只支持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单继承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，不支持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，但支持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多层继承</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4" name="图片 3">
            <a:extLst>
              <a:ext uri="{FF2B5EF4-FFF2-40B4-BE49-F238E27FC236}">
                <a16:creationId xmlns:a16="http://schemas.microsoft.com/office/drawing/2014/main" id="{03955352-DE60-491C-97CF-89EE58CC6FBF}"/>
              </a:ext>
            </a:extLst>
          </p:cNvPr>
          <p:cNvPicPr>
            <a:picLocks noChangeAspect="1"/>
          </p:cNvPicPr>
          <p:nvPr/>
        </p:nvPicPr>
        <p:blipFill>
          <a:blip r:embed="rId2"/>
          <a:stretch>
            <a:fillRect/>
          </a:stretch>
        </p:blipFill>
        <p:spPr>
          <a:xfrm>
            <a:off x="6917617" y="4526102"/>
            <a:ext cx="1620997" cy="1814771"/>
          </a:xfrm>
          <a:prstGeom prst="rect">
            <a:avLst/>
          </a:prstGeom>
        </p:spPr>
      </p:pic>
      <p:pic>
        <p:nvPicPr>
          <p:cNvPr id="7" name="图片 6">
            <a:extLst>
              <a:ext uri="{FF2B5EF4-FFF2-40B4-BE49-F238E27FC236}">
                <a16:creationId xmlns:a16="http://schemas.microsoft.com/office/drawing/2014/main" id="{065152AE-1B99-4C52-B884-8CBCC7C96048}"/>
              </a:ext>
            </a:extLst>
          </p:cNvPr>
          <p:cNvPicPr>
            <a:picLocks noChangeAspect="1"/>
          </p:cNvPicPr>
          <p:nvPr/>
        </p:nvPicPr>
        <p:blipFill>
          <a:blip r:embed="rId3"/>
          <a:stretch>
            <a:fillRect/>
          </a:stretch>
        </p:blipFill>
        <p:spPr>
          <a:xfrm>
            <a:off x="4231611" y="3469971"/>
            <a:ext cx="2213992" cy="2827005"/>
          </a:xfrm>
          <a:prstGeom prst="rect">
            <a:avLst/>
          </a:prstGeom>
        </p:spPr>
      </p:pic>
      <p:pic>
        <p:nvPicPr>
          <p:cNvPr id="9" name="图片 8">
            <a:extLst>
              <a:ext uri="{FF2B5EF4-FFF2-40B4-BE49-F238E27FC236}">
                <a16:creationId xmlns:a16="http://schemas.microsoft.com/office/drawing/2014/main" id="{C26C3C47-81F1-41E7-8789-2CFD0C4CE2C3}"/>
              </a:ext>
            </a:extLst>
          </p:cNvPr>
          <p:cNvPicPr>
            <a:picLocks noChangeAspect="1"/>
          </p:cNvPicPr>
          <p:nvPr/>
        </p:nvPicPr>
        <p:blipFill>
          <a:blip r:embed="rId4"/>
          <a:stretch>
            <a:fillRect/>
          </a:stretch>
        </p:blipFill>
        <p:spPr>
          <a:xfrm>
            <a:off x="6853394" y="2179572"/>
            <a:ext cx="4812423" cy="2037865"/>
          </a:xfrm>
          <a:prstGeom prst="rect">
            <a:avLst/>
          </a:prstGeom>
        </p:spPr>
      </p:pic>
      <p:pic>
        <p:nvPicPr>
          <p:cNvPr id="11" name="图片 10">
            <a:extLst>
              <a:ext uri="{FF2B5EF4-FFF2-40B4-BE49-F238E27FC236}">
                <a16:creationId xmlns:a16="http://schemas.microsoft.com/office/drawing/2014/main" id="{BA2B7AD2-9022-4A76-AC4D-D1CFA5110787}"/>
              </a:ext>
            </a:extLst>
          </p:cNvPr>
          <p:cNvPicPr>
            <a:picLocks noChangeAspect="1"/>
          </p:cNvPicPr>
          <p:nvPr/>
        </p:nvPicPr>
        <p:blipFill>
          <a:blip r:embed="rId5"/>
          <a:stretch>
            <a:fillRect/>
          </a:stretch>
        </p:blipFill>
        <p:spPr>
          <a:xfrm>
            <a:off x="834093" y="2789853"/>
            <a:ext cx="2598267" cy="3128066"/>
          </a:xfrm>
          <a:prstGeom prst="rect">
            <a:avLst/>
          </a:prstGeom>
        </p:spPr>
      </p:pic>
      <p:sp>
        <p:nvSpPr>
          <p:cNvPr id="16" name="文本框 15">
            <a:extLst>
              <a:ext uri="{FF2B5EF4-FFF2-40B4-BE49-F238E27FC236}">
                <a16:creationId xmlns:a16="http://schemas.microsoft.com/office/drawing/2014/main" id="{2D32E0EF-294D-44BC-BA22-9B9CC5B20CEE}"/>
              </a:ext>
            </a:extLst>
          </p:cNvPr>
          <p:cNvSpPr txBox="1"/>
          <p:nvPr/>
        </p:nvSpPr>
        <p:spPr>
          <a:xfrm>
            <a:off x="1743120" y="2383695"/>
            <a:ext cx="498855" cy="338554"/>
          </a:xfrm>
          <a:prstGeom prst="rect">
            <a:avLst/>
          </a:prstGeom>
          <a:noFill/>
        </p:spPr>
        <p:txBody>
          <a:bodyPr wrap="none">
            <a:spAutoFit/>
          </a:bodyPr>
          <a:lstStyle/>
          <a:p>
            <a:pPr>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类</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文本框 16">
            <a:extLst>
              <a:ext uri="{FF2B5EF4-FFF2-40B4-BE49-F238E27FC236}">
                <a16:creationId xmlns:a16="http://schemas.microsoft.com/office/drawing/2014/main" id="{2F2E007D-708A-40E4-9156-93E67D448F89}"/>
              </a:ext>
            </a:extLst>
          </p:cNvPr>
          <p:cNvSpPr txBox="1"/>
          <p:nvPr/>
        </p:nvSpPr>
        <p:spPr>
          <a:xfrm>
            <a:off x="3982183" y="5222027"/>
            <a:ext cx="498855" cy="338554"/>
          </a:xfrm>
          <a:prstGeom prst="rect">
            <a:avLst/>
          </a:prstGeom>
          <a:noFill/>
        </p:spPr>
        <p:txBody>
          <a:bodyPr wrap="none">
            <a:spAutoFit/>
          </a:bodyPr>
          <a:lstStyle/>
          <a:p>
            <a:pPr>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B</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类</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文本框 18">
            <a:extLst>
              <a:ext uri="{FF2B5EF4-FFF2-40B4-BE49-F238E27FC236}">
                <a16:creationId xmlns:a16="http://schemas.microsoft.com/office/drawing/2014/main" id="{E7DFBF69-57F7-4B26-B4B0-34440ED7A558}"/>
              </a:ext>
            </a:extLst>
          </p:cNvPr>
          <p:cNvSpPr txBox="1"/>
          <p:nvPr/>
        </p:nvSpPr>
        <p:spPr>
          <a:xfrm>
            <a:off x="8696977" y="5838689"/>
            <a:ext cx="498855" cy="338554"/>
          </a:xfrm>
          <a:prstGeom prst="rect">
            <a:avLst/>
          </a:prstGeom>
          <a:noFill/>
        </p:spPr>
        <p:txBody>
          <a:bodyPr wrap="none">
            <a:spAutoFit/>
          </a:bodyPr>
          <a:lstStyle/>
          <a:p>
            <a:pPr>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C</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类</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9CAF7678-3B9D-3730-56C2-F730A12B0E92}"/>
              </a:ext>
            </a:extLst>
          </p:cNvPr>
          <p:cNvSpPr>
            <a:spLocks noGrp="1"/>
          </p:cNvSpPr>
          <p:nvPr>
            <p:ph type="title"/>
          </p:nvPr>
        </p:nvSpPr>
        <p:spPr/>
        <p:txBody>
          <a:bodyPr/>
          <a:lstStyle/>
          <a:p>
            <a:r>
              <a:rPr lang="en-US" altLang="zh-CN" dirty="0"/>
              <a:t>Java </a:t>
            </a:r>
            <a:r>
              <a:rPr lang="zh-CN" altLang="en-US" dirty="0"/>
              <a:t>中继承的特点</a:t>
            </a:r>
          </a:p>
        </p:txBody>
      </p:sp>
    </p:spTree>
    <p:extLst>
      <p:ext uri="{BB962C8B-B14F-4D97-AF65-F5344CB8AC3E}">
        <p14:creationId xmlns:p14="http://schemas.microsoft.com/office/powerpoint/2010/main" val="256871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xit" presetSubtype="32" fill="hold" nodeType="clickEffect">
                                  <p:stCondLst>
                                    <p:cond delay="0"/>
                                  </p:stCondLst>
                                  <p:childTnLst>
                                    <p:anim calcmode="lin" valueType="num">
                                      <p:cBhvr>
                                        <p:cTn id="25" dur="500"/>
                                        <p:tgtEl>
                                          <p:spTgt spid="9"/>
                                        </p:tgtEl>
                                        <p:attrNameLst>
                                          <p:attrName>ppt_w</p:attrName>
                                        </p:attrNameLst>
                                      </p:cBhvr>
                                      <p:tavLst>
                                        <p:tav tm="0">
                                          <p:val>
                                            <p:strVal val="ppt_w"/>
                                          </p:val>
                                        </p:tav>
                                        <p:tav tm="100000">
                                          <p:val>
                                            <p:fltVal val="0"/>
                                          </p:val>
                                        </p:tav>
                                      </p:tavLst>
                                    </p:anim>
                                    <p:anim calcmode="lin" valueType="num">
                                      <p:cBhvr>
                                        <p:cTn id="26" dur="500"/>
                                        <p:tgtEl>
                                          <p:spTgt spid="9"/>
                                        </p:tgtEl>
                                        <p:attrNameLst>
                                          <p:attrName>ppt_h</p:attrName>
                                        </p:attrNameLst>
                                      </p:cBhvr>
                                      <p:tavLst>
                                        <p:tav tm="0">
                                          <p:val>
                                            <p:strVal val="ppt_h"/>
                                          </p:val>
                                        </p:tav>
                                        <p:tav tm="100000">
                                          <p:val>
                                            <p:fltVal val="0"/>
                                          </p:val>
                                        </p:tav>
                                      </p:tavLst>
                                    </p:anim>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2E7E9B9-778D-4BCD-B1EB-F9B3E2C87108}"/>
              </a:ext>
            </a:extLst>
          </p:cNvPr>
          <p:cNvSpPr txBox="1"/>
          <p:nvPr/>
        </p:nvSpPr>
        <p:spPr>
          <a:xfrm>
            <a:off x="710880" y="1635973"/>
            <a:ext cx="5163593" cy="338554"/>
          </a:xfrm>
          <a:prstGeom prst="rect">
            <a:avLst/>
          </a:prstGeom>
          <a:noFill/>
        </p:spPr>
        <p:txBody>
          <a:bodyPr wrap="none">
            <a:spAutoFit/>
          </a:bodyPr>
          <a:lstStyle/>
          <a:p>
            <a:pPr marL="285750" indent="-285750">
              <a:buFont typeface="Wingdings" panose="05000000000000000000" pitchFamily="2" charset="2"/>
              <a:buChar char="l"/>
              <a:defRPr/>
            </a:pP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Java只支持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单继承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，不支持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，但支持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多层继承</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文本框 11">
            <a:extLst>
              <a:ext uri="{FF2B5EF4-FFF2-40B4-BE49-F238E27FC236}">
                <a16:creationId xmlns:a16="http://schemas.microsoft.com/office/drawing/2014/main" id="{1267BD72-7AEB-4C56-8A2C-DF42CB26BA96}"/>
              </a:ext>
            </a:extLst>
          </p:cNvPr>
          <p:cNvSpPr txBox="1"/>
          <p:nvPr/>
        </p:nvSpPr>
        <p:spPr>
          <a:xfrm>
            <a:off x="1093435" y="2153229"/>
            <a:ext cx="2114681" cy="338554"/>
          </a:xfrm>
          <a:prstGeom prst="rect">
            <a:avLst/>
          </a:prstGeom>
          <a:noFill/>
        </p:spPr>
        <p:txBody>
          <a:bodyPr wrap="none">
            <a:spAutoFit/>
          </a:bodyPr>
          <a:lstStyle/>
          <a:p>
            <a:pPr>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为什么不支持多继承</a:t>
            </a:r>
            <a:r>
              <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3" name="图片 12">
            <a:extLst>
              <a:ext uri="{FF2B5EF4-FFF2-40B4-BE49-F238E27FC236}">
                <a16:creationId xmlns:a16="http://schemas.microsoft.com/office/drawing/2014/main" id="{577CF08F-1AFE-4E30-87DD-CED847FE8365}"/>
              </a:ext>
            </a:extLst>
          </p:cNvPr>
          <p:cNvPicPr>
            <a:picLocks noChangeAspect="1"/>
          </p:cNvPicPr>
          <p:nvPr/>
        </p:nvPicPr>
        <p:blipFill>
          <a:blip r:embed="rId2"/>
          <a:stretch>
            <a:fillRect/>
          </a:stretch>
        </p:blipFill>
        <p:spPr>
          <a:xfrm>
            <a:off x="518588" y="3973149"/>
            <a:ext cx="1460539" cy="1864935"/>
          </a:xfrm>
          <a:prstGeom prst="rect">
            <a:avLst/>
          </a:prstGeom>
        </p:spPr>
      </p:pic>
      <p:pic>
        <p:nvPicPr>
          <p:cNvPr id="6" name="图片 5">
            <a:extLst>
              <a:ext uri="{FF2B5EF4-FFF2-40B4-BE49-F238E27FC236}">
                <a16:creationId xmlns:a16="http://schemas.microsoft.com/office/drawing/2014/main" id="{3E03945C-0AA3-4602-8DAC-2CB2F827C6B9}"/>
              </a:ext>
            </a:extLst>
          </p:cNvPr>
          <p:cNvPicPr>
            <a:picLocks noChangeAspect="1"/>
          </p:cNvPicPr>
          <p:nvPr/>
        </p:nvPicPr>
        <p:blipFill>
          <a:blip r:embed="rId3"/>
          <a:stretch>
            <a:fillRect/>
          </a:stretch>
        </p:blipFill>
        <p:spPr>
          <a:xfrm>
            <a:off x="10239488" y="1744687"/>
            <a:ext cx="1556893" cy="2212427"/>
          </a:xfrm>
          <a:prstGeom prst="rect">
            <a:avLst/>
          </a:prstGeom>
        </p:spPr>
      </p:pic>
      <p:pic>
        <p:nvPicPr>
          <p:cNvPr id="10" name="图片 9">
            <a:extLst>
              <a:ext uri="{FF2B5EF4-FFF2-40B4-BE49-F238E27FC236}">
                <a16:creationId xmlns:a16="http://schemas.microsoft.com/office/drawing/2014/main" id="{54208491-47E3-4C21-93DE-0064052A88F4}"/>
              </a:ext>
            </a:extLst>
          </p:cNvPr>
          <p:cNvPicPr>
            <a:picLocks noChangeAspect="1"/>
          </p:cNvPicPr>
          <p:nvPr/>
        </p:nvPicPr>
        <p:blipFill>
          <a:blip r:embed="rId4"/>
          <a:stretch>
            <a:fillRect/>
          </a:stretch>
        </p:blipFill>
        <p:spPr>
          <a:xfrm flipH="1">
            <a:off x="9974967" y="5056210"/>
            <a:ext cx="1182346" cy="1563748"/>
          </a:xfrm>
          <a:prstGeom prst="rect">
            <a:avLst/>
          </a:prstGeom>
        </p:spPr>
      </p:pic>
      <p:sp>
        <p:nvSpPr>
          <p:cNvPr id="18" name="对话气泡: 椭圆形 17">
            <a:extLst>
              <a:ext uri="{FF2B5EF4-FFF2-40B4-BE49-F238E27FC236}">
                <a16:creationId xmlns:a16="http://schemas.microsoft.com/office/drawing/2014/main" id="{95077932-7F91-492F-9974-BDE394378BDE}"/>
              </a:ext>
            </a:extLst>
          </p:cNvPr>
          <p:cNvSpPr/>
          <p:nvPr/>
        </p:nvSpPr>
        <p:spPr>
          <a:xfrm>
            <a:off x="2082583" y="3175296"/>
            <a:ext cx="4833383" cy="1495202"/>
          </a:xfrm>
          <a:prstGeom prst="wedgeEllipseCallout">
            <a:avLst>
              <a:gd name="adj1" fmla="val -49066"/>
              <a:gd name="adj2" fmla="val 35876"/>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父类A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System.</a:t>
            </a:r>
            <a:r>
              <a:rPr lang="zh-CN" altLang="zh-CN" sz="1200" b="1" i="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out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.println(</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复习数学</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2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对话气泡: 椭圆形 19">
            <a:extLst>
              <a:ext uri="{FF2B5EF4-FFF2-40B4-BE49-F238E27FC236}">
                <a16:creationId xmlns:a16="http://schemas.microsoft.com/office/drawing/2014/main" id="{E0D23A7F-3A8C-40F9-98A6-20E7093E2685}"/>
              </a:ext>
            </a:extLst>
          </p:cNvPr>
          <p:cNvSpPr/>
          <p:nvPr/>
        </p:nvSpPr>
        <p:spPr>
          <a:xfrm>
            <a:off x="5276034" y="1813247"/>
            <a:ext cx="4833383" cy="1495202"/>
          </a:xfrm>
          <a:prstGeom prst="wedgeEllipseCallout">
            <a:avLst>
              <a:gd name="adj1" fmla="val 52282"/>
              <a:gd name="adj2" fmla="val 22771"/>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父类</a:t>
            </a:r>
            <a:r>
              <a:rPr lang="en-US"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B</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System.</a:t>
            </a:r>
            <a:r>
              <a:rPr lang="zh-CN" altLang="zh-CN" sz="1200" b="1" i="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out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.println(</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复习语文</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2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文本框 20">
            <a:extLst>
              <a:ext uri="{FF2B5EF4-FFF2-40B4-BE49-F238E27FC236}">
                <a16:creationId xmlns:a16="http://schemas.microsoft.com/office/drawing/2014/main" id="{06E4D4B0-BE23-489B-8260-B38260E06DE0}"/>
              </a:ext>
            </a:extLst>
          </p:cNvPr>
          <p:cNvSpPr txBox="1"/>
          <p:nvPr/>
        </p:nvSpPr>
        <p:spPr>
          <a:xfrm>
            <a:off x="7680598" y="4411022"/>
            <a:ext cx="3311525" cy="646331"/>
          </a:xfrm>
          <a:prstGeom prst="rect">
            <a:avLst/>
          </a:prstGeom>
          <a:noFill/>
        </p:spPr>
        <p:txBody>
          <a:bodyPr>
            <a:spAutoFit/>
          </a:bodyPr>
          <a:lstStyle/>
          <a:p>
            <a:pPr>
              <a:defRPr/>
            </a:pPr>
            <a:r>
              <a:rPr lang="zh-CN" altLang="zh-CN" sz="1200" b="1" dirty="0">
                <a:solidFill>
                  <a:srgbClr val="000080"/>
                </a:solidFill>
                <a:latin typeface="Consolas" panose="020B0609020204030204" pitchFamily="49" charset="0"/>
              </a:rPr>
              <a:t>class </a:t>
            </a:r>
            <a:r>
              <a:rPr lang="zh-CN" altLang="zh-CN" sz="1200" dirty="0">
                <a:solidFill>
                  <a:srgbClr val="000000"/>
                </a:solidFill>
                <a:latin typeface="Consolas" panose="020B0609020204030204" pitchFamily="49" charset="0"/>
                <a:cs typeface="Arial" panose="020B0604020202020204" pitchFamily="34" charset="0"/>
              </a:rPr>
              <a:t>子类 </a:t>
            </a:r>
            <a:r>
              <a:rPr lang="zh-CN" altLang="zh-CN" sz="1200" b="1" dirty="0">
                <a:solidFill>
                  <a:srgbClr val="000080"/>
                </a:solidFill>
                <a:latin typeface="Consolas" panose="020B0609020204030204" pitchFamily="49" charset="0"/>
              </a:rPr>
              <a:t>extends </a:t>
            </a:r>
            <a:r>
              <a:rPr lang="zh-CN" altLang="zh-CN" sz="1200" dirty="0">
                <a:solidFill>
                  <a:srgbClr val="000000"/>
                </a:solidFill>
                <a:latin typeface="Consolas" panose="020B0609020204030204" pitchFamily="49" charset="0"/>
                <a:cs typeface="Arial" panose="020B0604020202020204" pitchFamily="34" charset="0"/>
              </a:rPr>
              <a:t>父类</a:t>
            </a:r>
            <a:r>
              <a:rPr lang="zh-CN" altLang="zh-CN" sz="1200" dirty="0">
                <a:solidFill>
                  <a:srgbClr val="000000"/>
                </a:solidFill>
                <a:latin typeface="Consolas" panose="020B0609020204030204" pitchFamily="49" charset="0"/>
              </a:rPr>
              <a:t>A</a:t>
            </a:r>
            <a:r>
              <a:rPr lang="en-US" altLang="zh-CN" sz="1200" dirty="0">
                <a:solidFill>
                  <a:srgbClr val="000000"/>
                </a:solidFill>
                <a:latin typeface="Consolas" panose="020B0609020204030204" pitchFamily="49" charset="0"/>
              </a:rPr>
              <a:t> </a:t>
            </a:r>
            <a:r>
              <a:rPr lang="zh-CN" altLang="zh-CN" sz="1200" dirty="0">
                <a:solidFill>
                  <a:srgbClr val="000000"/>
                </a:solidFill>
                <a:latin typeface="Consolas" panose="020B0609020204030204" pitchFamily="49" charset="0"/>
              </a:rPr>
              <a:t>,</a:t>
            </a:r>
            <a:r>
              <a:rPr lang="en-US" altLang="zh-CN" sz="1200" dirty="0">
                <a:solidFill>
                  <a:srgbClr val="000000"/>
                </a:solidFill>
                <a:latin typeface="Consolas" panose="020B0609020204030204" pitchFamily="49" charset="0"/>
              </a:rPr>
              <a:t> </a:t>
            </a:r>
            <a:r>
              <a:rPr lang="zh-CN" altLang="zh-CN" sz="1200" dirty="0">
                <a:solidFill>
                  <a:srgbClr val="000000"/>
                </a:solidFill>
                <a:latin typeface="Consolas" panose="020B0609020204030204" pitchFamily="49" charset="0"/>
                <a:cs typeface="Arial" panose="020B0604020202020204" pitchFamily="34" charset="0"/>
              </a:rPr>
              <a:t>父类</a:t>
            </a:r>
            <a:r>
              <a:rPr lang="zh-CN" altLang="zh-CN" sz="1200" dirty="0">
                <a:solidFill>
                  <a:srgbClr val="000000"/>
                </a:solidFill>
                <a:latin typeface="Consolas" panose="020B0609020204030204" pitchFamily="49" charset="0"/>
              </a:rPr>
              <a:t>B {</a:t>
            </a:r>
            <a:br>
              <a:rPr lang="zh-CN" altLang="zh-CN" sz="1200" dirty="0">
                <a:solidFill>
                  <a:srgbClr val="000000"/>
                </a:solidFill>
                <a:latin typeface="Consolas" panose="020B0609020204030204" pitchFamily="49" charset="0"/>
              </a:rPr>
            </a:br>
            <a:r>
              <a:rPr lang="zh-CN" altLang="zh-CN" sz="1200" dirty="0">
                <a:solidFill>
                  <a:srgbClr val="000000"/>
                </a:solidFill>
                <a:latin typeface="Consolas" panose="020B0609020204030204" pitchFamily="49" charset="0"/>
              </a:rPr>
              <a:t>    </a:t>
            </a:r>
            <a:br>
              <a:rPr lang="zh-CN" altLang="zh-CN" sz="1200" dirty="0">
                <a:solidFill>
                  <a:srgbClr val="000000"/>
                </a:solidFill>
                <a:latin typeface="Consolas" panose="020B0609020204030204" pitchFamily="49" charset="0"/>
              </a:rPr>
            </a:br>
            <a:r>
              <a:rPr lang="zh-CN" altLang="zh-CN" sz="1200" dirty="0">
                <a:solidFill>
                  <a:srgbClr val="000000"/>
                </a:solidFill>
                <a:latin typeface="Consolas" panose="020B0609020204030204" pitchFamily="49" charset="0"/>
              </a:rPr>
              <a:t>}</a:t>
            </a:r>
            <a:endParaRPr lang="zh-CN" altLang="zh-CN" sz="1200" dirty="0">
              <a:latin typeface="Consolas" panose="020B0609020204030204" pitchFamily="49" charset="0"/>
            </a:endParaRPr>
          </a:p>
        </p:txBody>
      </p:sp>
      <p:sp>
        <p:nvSpPr>
          <p:cNvPr id="22" name="TextBox 3">
            <a:extLst>
              <a:ext uri="{FF2B5EF4-FFF2-40B4-BE49-F238E27FC236}">
                <a16:creationId xmlns:a16="http://schemas.microsoft.com/office/drawing/2014/main" id="{EA1A5BCA-7135-4B82-A5FF-FBDD8574469F}"/>
              </a:ext>
            </a:extLst>
          </p:cNvPr>
          <p:cNvSpPr txBox="1"/>
          <p:nvPr/>
        </p:nvSpPr>
        <p:spPr>
          <a:xfrm>
            <a:off x="2388323" y="5016695"/>
            <a:ext cx="5066836" cy="1384995"/>
          </a:xfrm>
          <a:prstGeom prst="rect">
            <a:avLst/>
          </a:prstGeom>
          <a:solidFill>
            <a:srgbClr val="FFFFE4"/>
          </a:solidFill>
          <a:ln w="12700">
            <a:solidFill>
              <a:schemeClr val="tx1"/>
            </a:solidFill>
          </a:ln>
        </p:spPr>
        <p:txBody>
          <a:bodyPr wrap="square">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Test</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子类 z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子类();</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z.method();</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复习啥？懵了！</a:t>
            </a:r>
            <a:endPar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19B92735-37DB-27C3-4AB4-2CA313BE919E}"/>
              </a:ext>
            </a:extLst>
          </p:cNvPr>
          <p:cNvSpPr>
            <a:spLocks noGrp="1"/>
          </p:cNvSpPr>
          <p:nvPr>
            <p:ph type="title"/>
          </p:nvPr>
        </p:nvSpPr>
        <p:spPr/>
        <p:txBody>
          <a:bodyPr/>
          <a:lstStyle/>
          <a:p>
            <a:r>
              <a:rPr lang="en-US" altLang="zh-CN" dirty="0"/>
              <a:t>Java </a:t>
            </a:r>
            <a:r>
              <a:rPr lang="zh-CN" altLang="en-US" dirty="0"/>
              <a:t>中继承的特点</a:t>
            </a:r>
          </a:p>
        </p:txBody>
      </p:sp>
    </p:spTree>
    <p:extLst>
      <p:ext uri="{BB962C8B-B14F-4D97-AF65-F5344CB8AC3E}">
        <p14:creationId xmlns:p14="http://schemas.microsoft.com/office/powerpoint/2010/main" val="223558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2" presetClass="entr" presetSubtype="4" fill="hold" grpId="1"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par>
                                <p:cTn id="16" presetID="2" presetClass="entr" presetSubtype="2"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par>
                                <p:cTn id="20" presetID="22" presetClass="entr" presetSubtype="4" fill="hold" grpId="1"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10" presetClass="entr" presetSubtype="0" fill="hold" grpId="1"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1"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xit" presetSubtype="12" fill="hold" nodeType="clickEffect">
                                  <p:stCondLst>
                                    <p:cond delay="0"/>
                                  </p:stCondLst>
                                  <p:childTnLst>
                                    <p:anim calcmode="lin" valueType="num">
                                      <p:cBhvr additive="base">
                                        <p:cTn id="40" dur="500"/>
                                        <p:tgtEl>
                                          <p:spTgt spid="13"/>
                                        </p:tgtEl>
                                        <p:attrNameLst>
                                          <p:attrName>ppt_x</p:attrName>
                                        </p:attrNameLst>
                                      </p:cBhvr>
                                      <p:tavLst>
                                        <p:tav tm="0">
                                          <p:val>
                                            <p:strVal val="ppt_x"/>
                                          </p:val>
                                        </p:tav>
                                        <p:tav tm="100000">
                                          <p:val>
                                            <p:strVal val="0-ppt_w/2"/>
                                          </p:val>
                                        </p:tav>
                                      </p:tavLst>
                                    </p:anim>
                                    <p:anim calcmode="lin" valueType="num">
                                      <p:cBhvr additive="base">
                                        <p:cTn id="41" dur="500"/>
                                        <p:tgtEl>
                                          <p:spTgt spid="13"/>
                                        </p:tgtEl>
                                        <p:attrNameLst>
                                          <p:attrName>ppt_y</p:attrName>
                                        </p:attrNameLst>
                                      </p:cBhvr>
                                      <p:tavLst>
                                        <p:tav tm="0">
                                          <p:val>
                                            <p:strVal val="ppt_y"/>
                                          </p:val>
                                        </p:tav>
                                        <p:tav tm="100000">
                                          <p:val>
                                            <p:strVal val="1+ppt_h/2"/>
                                          </p:val>
                                        </p:tav>
                                      </p:tavLst>
                                    </p:anim>
                                    <p:set>
                                      <p:cBhvr>
                                        <p:cTn id="42" dur="1" fill="hold">
                                          <p:stCondLst>
                                            <p:cond delay="499"/>
                                          </p:stCondLst>
                                        </p:cTn>
                                        <p:tgtEl>
                                          <p:spTgt spid="13"/>
                                        </p:tgtEl>
                                        <p:attrNameLst>
                                          <p:attrName>style.visibility</p:attrName>
                                        </p:attrNameLst>
                                      </p:cBhvr>
                                      <p:to>
                                        <p:strVal val="hidden"/>
                                      </p:to>
                                    </p:set>
                                  </p:childTnLst>
                                </p:cTn>
                              </p:par>
                              <p:par>
                                <p:cTn id="43" presetID="2" presetClass="exit" presetSubtype="12" fill="hold" grpId="0" nodeType="withEffect">
                                  <p:stCondLst>
                                    <p:cond delay="0"/>
                                  </p:stCondLst>
                                  <p:childTnLst>
                                    <p:anim calcmode="lin" valueType="num">
                                      <p:cBhvr additive="base">
                                        <p:cTn id="44" dur="500"/>
                                        <p:tgtEl>
                                          <p:spTgt spid="18"/>
                                        </p:tgtEl>
                                        <p:attrNameLst>
                                          <p:attrName>ppt_x</p:attrName>
                                        </p:attrNameLst>
                                      </p:cBhvr>
                                      <p:tavLst>
                                        <p:tav tm="0">
                                          <p:val>
                                            <p:strVal val="ppt_x"/>
                                          </p:val>
                                        </p:tav>
                                        <p:tav tm="100000">
                                          <p:val>
                                            <p:strVal val="0-ppt_w/2"/>
                                          </p:val>
                                        </p:tav>
                                      </p:tavLst>
                                    </p:anim>
                                    <p:anim calcmode="lin" valueType="num">
                                      <p:cBhvr additive="base">
                                        <p:cTn id="45" dur="500"/>
                                        <p:tgtEl>
                                          <p:spTgt spid="18"/>
                                        </p:tgtEl>
                                        <p:attrNameLst>
                                          <p:attrName>ppt_y</p:attrName>
                                        </p:attrNameLst>
                                      </p:cBhvr>
                                      <p:tavLst>
                                        <p:tav tm="0">
                                          <p:val>
                                            <p:strVal val="ppt_y"/>
                                          </p:val>
                                        </p:tav>
                                        <p:tav tm="100000">
                                          <p:val>
                                            <p:strVal val="1+ppt_h/2"/>
                                          </p:val>
                                        </p:tav>
                                      </p:tavLst>
                                    </p:anim>
                                    <p:set>
                                      <p:cBhvr>
                                        <p:cTn id="46" dur="1" fill="hold">
                                          <p:stCondLst>
                                            <p:cond delay="499"/>
                                          </p:stCondLst>
                                        </p:cTn>
                                        <p:tgtEl>
                                          <p:spTgt spid="18"/>
                                        </p:tgtEl>
                                        <p:attrNameLst>
                                          <p:attrName>style.visibility</p:attrName>
                                        </p:attrNameLst>
                                      </p:cBhvr>
                                      <p:to>
                                        <p:strVal val="hidden"/>
                                      </p:to>
                                    </p:set>
                                  </p:childTnLst>
                                </p:cTn>
                              </p:par>
                              <p:par>
                                <p:cTn id="47" presetID="2" presetClass="exit" presetSubtype="2" fill="hold" grpId="0" nodeType="withEffect">
                                  <p:stCondLst>
                                    <p:cond delay="0"/>
                                  </p:stCondLst>
                                  <p:childTnLst>
                                    <p:anim calcmode="lin" valueType="num">
                                      <p:cBhvr additive="base">
                                        <p:cTn id="48" dur="500"/>
                                        <p:tgtEl>
                                          <p:spTgt spid="20"/>
                                        </p:tgtEl>
                                        <p:attrNameLst>
                                          <p:attrName>ppt_x</p:attrName>
                                        </p:attrNameLst>
                                      </p:cBhvr>
                                      <p:tavLst>
                                        <p:tav tm="0">
                                          <p:val>
                                            <p:strVal val="ppt_x"/>
                                          </p:val>
                                        </p:tav>
                                        <p:tav tm="100000">
                                          <p:val>
                                            <p:strVal val="1+ppt_w/2"/>
                                          </p:val>
                                        </p:tav>
                                      </p:tavLst>
                                    </p:anim>
                                    <p:anim calcmode="lin" valueType="num">
                                      <p:cBhvr additive="base">
                                        <p:cTn id="49" dur="500"/>
                                        <p:tgtEl>
                                          <p:spTgt spid="20"/>
                                        </p:tgtEl>
                                        <p:attrNameLst>
                                          <p:attrName>ppt_y</p:attrName>
                                        </p:attrNameLst>
                                      </p:cBhvr>
                                      <p:tavLst>
                                        <p:tav tm="0">
                                          <p:val>
                                            <p:strVal val="ppt_y"/>
                                          </p:val>
                                        </p:tav>
                                        <p:tav tm="100000">
                                          <p:val>
                                            <p:strVal val="ppt_y"/>
                                          </p:val>
                                        </p:tav>
                                      </p:tavLst>
                                    </p:anim>
                                    <p:set>
                                      <p:cBhvr>
                                        <p:cTn id="50" dur="1" fill="hold">
                                          <p:stCondLst>
                                            <p:cond delay="499"/>
                                          </p:stCondLst>
                                        </p:cTn>
                                        <p:tgtEl>
                                          <p:spTgt spid="20"/>
                                        </p:tgtEl>
                                        <p:attrNameLst>
                                          <p:attrName>style.visibility</p:attrName>
                                        </p:attrNameLst>
                                      </p:cBhvr>
                                      <p:to>
                                        <p:strVal val="hidden"/>
                                      </p:to>
                                    </p:set>
                                  </p:childTnLst>
                                </p:cTn>
                              </p:par>
                              <p:par>
                                <p:cTn id="51" presetID="2" presetClass="exit" presetSubtype="2" fill="hold" nodeType="withEffect">
                                  <p:stCondLst>
                                    <p:cond delay="0"/>
                                  </p:stCondLst>
                                  <p:childTnLst>
                                    <p:anim calcmode="lin" valueType="num">
                                      <p:cBhvr additive="base">
                                        <p:cTn id="52" dur="500"/>
                                        <p:tgtEl>
                                          <p:spTgt spid="6"/>
                                        </p:tgtEl>
                                        <p:attrNameLst>
                                          <p:attrName>ppt_x</p:attrName>
                                        </p:attrNameLst>
                                      </p:cBhvr>
                                      <p:tavLst>
                                        <p:tav tm="0">
                                          <p:val>
                                            <p:strVal val="ppt_x"/>
                                          </p:val>
                                        </p:tav>
                                        <p:tav tm="100000">
                                          <p:val>
                                            <p:strVal val="1+ppt_w/2"/>
                                          </p:val>
                                        </p:tav>
                                      </p:tavLst>
                                    </p:anim>
                                    <p:anim calcmode="lin" valueType="num">
                                      <p:cBhvr additive="base">
                                        <p:cTn id="53" dur="500"/>
                                        <p:tgtEl>
                                          <p:spTgt spid="6"/>
                                        </p:tgtEl>
                                        <p:attrNameLst>
                                          <p:attrName>ppt_y</p:attrName>
                                        </p:attrNameLst>
                                      </p:cBhvr>
                                      <p:tavLst>
                                        <p:tav tm="0">
                                          <p:val>
                                            <p:strVal val="ppt_y"/>
                                          </p:val>
                                        </p:tav>
                                        <p:tav tm="100000">
                                          <p:val>
                                            <p:strVal val="ppt_y"/>
                                          </p:val>
                                        </p:tav>
                                      </p:tavLst>
                                    </p:anim>
                                    <p:set>
                                      <p:cBhvr>
                                        <p:cTn id="54" dur="1" fill="hold">
                                          <p:stCondLst>
                                            <p:cond delay="499"/>
                                          </p:stCondLst>
                                        </p:cTn>
                                        <p:tgtEl>
                                          <p:spTgt spid="6"/>
                                        </p:tgtEl>
                                        <p:attrNameLst>
                                          <p:attrName>style.visibility</p:attrName>
                                        </p:attrNameLst>
                                      </p:cBhvr>
                                      <p:to>
                                        <p:strVal val="hidden"/>
                                      </p:to>
                                    </p:set>
                                  </p:childTnLst>
                                </p:cTn>
                              </p:par>
                              <p:par>
                                <p:cTn id="55" presetID="2" presetClass="exit" presetSubtype="6" fill="hold" grpId="0" nodeType="withEffect">
                                  <p:stCondLst>
                                    <p:cond delay="0"/>
                                  </p:stCondLst>
                                  <p:childTnLst>
                                    <p:anim calcmode="lin" valueType="num">
                                      <p:cBhvr additive="base">
                                        <p:cTn id="56" dur="500"/>
                                        <p:tgtEl>
                                          <p:spTgt spid="21"/>
                                        </p:tgtEl>
                                        <p:attrNameLst>
                                          <p:attrName>ppt_x</p:attrName>
                                        </p:attrNameLst>
                                      </p:cBhvr>
                                      <p:tavLst>
                                        <p:tav tm="0">
                                          <p:val>
                                            <p:strVal val="ppt_x"/>
                                          </p:val>
                                        </p:tav>
                                        <p:tav tm="100000">
                                          <p:val>
                                            <p:strVal val="1+ppt_w/2"/>
                                          </p:val>
                                        </p:tav>
                                      </p:tavLst>
                                    </p:anim>
                                    <p:anim calcmode="lin" valueType="num">
                                      <p:cBhvr additive="base">
                                        <p:cTn id="57" dur="500"/>
                                        <p:tgtEl>
                                          <p:spTgt spid="21"/>
                                        </p:tgtEl>
                                        <p:attrNameLst>
                                          <p:attrName>ppt_y</p:attrName>
                                        </p:attrNameLst>
                                      </p:cBhvr>
                                      <p:tavLst>
                                        <p:tav tm="0">
                                          <p:val>
                                            <p:strVal val="ppt_y"/>
                                          </p:val>
                                        </p:tav>
                                        <p:tav tm="100000">
                                          <p:val>
                                            <p:strVal val="1+ppt_h/2"/>
                                          </p:val>
                                        </p:tav>
                                      </p:tavLst>
                                    </p:anim>
                                    <p:set>
                                      <p:cBhvr>
                                        <p:cTn id="58" dur="1" fill="hold">
                                          <p:stCondLst>
                                            <p:cond delay="499"/>
                                          </p:stCondLst>
                                        </p:cTn>
                                        <p:tgtEl>
                                          <p:spTgt spid="21"/>
                                        </p:tgtEl>
                                        <p:attrNameLst>
                                          <p:attrName>style.visibility</p:attrName>
                                        </p:attrNameLst>
                                      </p:cBhvr>
                                      <p:to>
                                        <p:strVal val="hidden"/>
                                      </p:to>
                                    </p:set>
                                  </p:childTnLst>
                                </p:cTn>
                              </p:par>
                              <p:par>
                                <p:cTn id="59" presetID="2" presetClass="exit" presetSubtype="6" fill="hold" nodeType="withEffect">
                                  <p:stCondLst>
                                    <p:cond delay="0"/>
                                  </p:stCondLst>
                                  <p:childTnLst>
                                    <p:anim calcmode="lin" valueType="num">
                                      <p:cBhvr additive="base">
                                        <p:cTn id="60" dur="500"/>
                                        <p:tgtEl>
                                          <p:spTgt spid="10"/>
                                        </p:tgtEl>
                                        <p:attrNameLst>
                                          <p:attrName>ppt_x</p:attrName>
                                        </p:attrNameLst>
                                      </p:cBhvr>
                                      <p:tavLst>
                                        <p:tav tm="0">
                                          <p:val>
                                            <p:strVal val="ppt_x"/>
                                          </p:val>
                                        </p:tav>
                                        <p:tav tm="100000">
                                          <p:val>
                                            <p:strVal val="1+ppt_w/2"/>
                                          </p:val>
                                        </p:tav>
                                      </p:tavLst>
                                    </p:anim>
                                    <p:anim calcmode="lin" valueType="num">
                                      <p:cBhvr additive="base">
                                        <p:cTn id="61" dur="500"/>
                                        <p:tgtEl>
                                          <p:spTgt spid="10"/>
                                        </p:tgtEl>
                                        <p:attrNameLst>
                                          <p:attrName>ppt_y</p:attrName>
                                        </p:attrNameLst>
                                      </p:cBhvr>
                                      <p:tavLst>
                                        <p:tav tm="0">
                                          <p:val>
                                            <p:strVal val="ppt_y"/>
                                          </p:val>
                                        </p:tav>
                                        <p:tav tm="100000">
                                          <p:val>
                                            <p:strVal val="1+ppt_h/2"/>
                                          </p:val>
                                        </p:tav>
                                      </p:tavLst>
                                    </p:anim>
                                    <p:set>
                                      <p:cBhvr>
                                        <p:cTn id="62" dur="1" fill="hold">
                                          <p:stCondLst>
                                            <p:cond delay="499"/>
                                          </p:stCondLst>
                                        </p:cTn>
                                        <p:tgtEl>
                                          <p:spTgt spid="10"/>
                                        </p:tgtEl>
                                        <p:attrNameLst>
                                          <p:attrName>style.visibility</p:attrName>
                                        </p:attrNameLst>
                                      </p:cBhvr>
                                      <p:to>
                                        <p:strVal val="hidden"/>
                                      </p:to>
                                    </p:set>
                                  </p:childTnLst>
                                </p:cTn>
                              </p:par>
                              <p:par>
                                <p:cTn id="63" presetID="2" presetClass="exit" presetSubtype="4" fill="hold" grpId="0" nodeType="withEffect">
                                  <p:stCondLst>
                                    <p:cond delay="0"/>
                                  </p:stCondLst>
                                  <p:childTnLst>
                                    <p:anim calcmode="lin" valueType="num">
                                      <p:cBhvr additive="base">
                                        <p:cTn id="64" dur="500"/>
                                        <p:tgtEl>
                                          <p:spTgt spid="22"/>
                                        </p:tgtEl>
                                        <p:attrNameLst>
                                          <p:attrName>ppt_x</p:attrName>
                                        </p:attrNameLst>
                                      </p:cBhvr>
                                      <p:tavLst>
                                        <p:tav tm="0">
                                          <p:val>
                                            <p:strVal val="ppt_x"/>
                                          </p:val>
                                        </p:tav>
                                        <p:tav tm="100000">
                                          <p:val>
                                            <p:strVal val="ppt_x"/>
                                          </p:val>
                                        </p:tav>
                                      </p:tavLst>
                                    </p:anim>
                                    <p:anim calcmode="lin" valueType="num">
                                      <p:cBhvr additive="base">
                                        <p:cTn id="65" dur="500"/>
                                        <p:tgtEl>
                                          <p:spTgt spid="22"/>
                                        </p:tgtEl>
                                        <p:attrNameLst>
                                          <p:attrName>ppt_y</p:attrName>
                                        </p:attrNameLst>
                                      </p:cBhvr>
                                      <p:tavLst>
                                        <p:tav tm="0">
                                          <p:val>
                                            <p:strVal val="ppt_y"/>
                                          </p:val>
                                        </p:tav>
                                        <p:tav tm="100000">
                                          <p:val>
                                            <p:strVal val="1+ppt_h/2"/>
                                          </p:val>
                                        </p:tav>
                                      </p:tavLst>
                                    </p:anim>
                                    <p:set>
                                      <p:cBhvr>
                                        <p:cTn id="6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animBg="1"/>
      <p:bldP spid="18" grpId="1" animBg="1"/>
      <p:bldP spid="20" grpId="0" animBg="1"/>
      <p:bldP spid="20" grpId="1" animBg="1"/>
      <p:bldP spid="21" grpId="0"/>
      <p:bldP spid="21" grpId="1"/>
      <p:bldP spid="22" grpId="0" animBg="1"/>
      <p:bldP spid="22"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2E7E9B9-778D-4BCD-B1EB-F9B3E2C87108}"/>
              </a:ext>
            </a:extLst>
          </p:cNvPr>
          <p:cNvSpPr txBox="1"/>
          <p:nvPr/>
        </p:nvSpPr>
        <p:spPr>
          <a:xfrm>
            <a:off x="710880" y="1635973"/>
            <a:ext cx="5163593" cy="338554"/>
          </a:xfrm>
          <a:prstGeom prst="rect">
            <a:avLst/>
          </a:prstGeom>
          <a:noFill/>
        </p:spPr>
        <p:txBody>
          <a:bodyPr wrap="none">
            <a:spAutoFit/>
          </a:bodyPr>
          <a:lstStyle/>
          <a:p>
            <a:pPr marL="285750" indent="-285750">
              <a:buFont typeface="Wingdings" panose="05000000000000000000" pitchFamily="2" charset="2"/>
              <a:buChar char="l"/>
              <a:defRPr/>
            </a:pP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Java只支持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单继承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，不支持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多继承</a:t>
            </a:r>
            <a:r>
              <a:rPr lang="zh-CN"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，但支持</a:t>
            </a:r>
            <a:r>
              <a:rPr lang="zh-CN"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多层继承</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文本框 11">
            <a:extLst>
              <a:ext uri="{FF2B5EF4-FFF2-40B4-BE49-F238E27FC236}">
                <a16:creationId xmlns:a16="http://schemas.microsoft.com/office/drawing/2014/main" id="{1267BD72-7AEB-4C56-8A2C-DF42CB26BA96}"/>
              </a:ext>
            </a:extLst>
          </p:cNvPr>
          <p:cNvSpPr txBox="1"/>
          <p:nvPr/>
        </p:nvSpPr>
        <p:spPr>
          <a:xfrm>
            <a:off x="1093435" y="2153229"/>
            <a:ext cx="1912703" cy="338554"/>
          </a:xfrm>
          <a:prstGeom prst="rect">
            <a:avLst/>
          </a:prstGeom>
          <a:noFill/>
        </p:spPr>
        <p:txBody>
          <a:bodyPr wrap="none">
            <a:spAutoFit/>
          </a:bodyPr>
          <a:lstStyle/>
          <a:p>
            <a:pPr>
              <a:defRPr/>
            </a:pPr>
            <a:r>
              <a:rPr lang="zh-CN" altLang="en-US"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为啥多层继承可以</a:t>
            </a:r>
            <a:r>
              <a:rPr lang="en-US" altLang="zh-CN" sz="1600" dirty="0">
                <a:solidFill>
                  <a:srgbClr val="333333"/>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3" name="图片 12">
            <a:extLst>
              <a:ext uri="{FF2B5EF4-FFF2-40B4-BE49-F238E27FC236}">
                <a16:creationId xmlns:a16="http://schemas.microsoft.com/office/drawing/2014/main" id="{577CF08F-1AFE-4E30-87DD-CED847FE8365}"/>
              </a:ext>
            </a:extLst>
          </p:cNvPr>
          <p:cNvPicPr>
            <a:picLocks noChangeAspect="1"/>
          </p:cNvPicPr>
          <p:nvPr/>
        </p:nvPicPr>
        <p:blipFill>
          <a:blip r:embed="rId2"/>
          <a:stretch>
            <a:fillRect/>
          </a:stretch>
        </p:blipFill>
        <p:spPr>
          <a:xfrm>
            <a:off x="518588" y="3973149"/>
            <a:ext cx="1460539" cy="1864935"/>
          </a:xfrm>
          <a:prstGeom prst="rect">
            <a:avLst/>
          </a:prstGeom>
        </p:spPr>
      </p:pic>
      <p:pic>
        <p:nvPicPr>
          <p:cNvPr id="10" name="图片 9">
            <a:extLst>
              <a:ext uri="{FF2B5EF4-FFF2-40B4-BE49-F238E27FC236}">
                <a16:creationId xmlns:a16="http://schemas.microsoft.com/office/drawing/2014/main" id="{54208491-47E3-4C21-93DE-0064052A88F4}"/>
              </a:ext>
            </a:extLst>
          </p:cNvPr>
          <p:cNvPicPr>
            <a:picLocks noChangeAspect="1"/>
          </p:cNvPicPr>
          <p:nvPr/>
        </p:nvPicPr>
        <p:blipFill>
          <a:blip r:embed="rId3"/>
          <a:stretch>
            <a:fillRect/>
          </a:stretch>
        </p:blipFill>
        <p:spPr>
          <a:xfrm flipH="1">
            <a:off x="9974967" y="5056210"/>
            <a:ext cx="1182346" cy="1563748"/>
          </a:xfrm>
          <a:prstGeom prst="rect">
            <a:avLst/>
          </a:prstGeom>
        </p:spPr>
      </p:pic>
      <p:sp>
        <p:nvSpPr>
          <p:cNvPr id="18" name="对话气泡: 椭圆形 17">
            <a:extLst>
              <a:ext uri="{FF2B5EF4-FFF2-40B4-BE49-F238E27FC236}">
                <a16:creationId xmlns:a16="http://schemas.microsoft.com/office/drawing/2014/main" id="{95077932-7F91-492F-9974-BDE394378BDE}"/>
              </a:ext>
            </a:extLst>
          </p:cNvPr>
          <p:cNvSpPr/>
          <p:nvPr/>
        </p:nvSpPr>
        <p:spPr>
          <a:xfrm>
            <a:off x="2082583" y="3175296"/>
            <a:ext cx="4833383" cy="1495202"/>
          </a:xfrm>
          <a:prstGeom prst="wedgeEllipseCallout">
            <a:avLst>
              <a:gd name="adj1" fmla="val -49066"/>
              <a:gd name="adj2" fmla="val 35876"/>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en-US"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B</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0080"/>
                </a:solidFill>
                <a:latin typeface="Consolas" panose="020B0609020204030204" pitchFamily="49" charset="0"/>
              </a:rPr>
              <a:t>extends</a:t>
            </a:r>
            <a:r>
              <a:rPr lang="en-US" altLang="zh-CN" sz="1200" b="1" dirty="0">
                <a:solidFill>
                  <a:srgbClr val="000080"/>
                </a:solidFill>
                <a:latin typeface="Consolas" panose="020B0609020204030204" pitchFamily="49" charset="0"/>
              </a:rPr>
              <a:t> </a:t>
            </a:r>
            <a:r>
              <a:rPr lang="en-US"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System.</a:t>
            </a:r>
            <a:r>
              <a:rPr lang="zh-CN" altLang="zh-CN" sz="1200" b="1" i="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out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.println(</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复习数学</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2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对话气泡: 椭圆形 19">
            <a:extLst>
              <a:ext uri="{FF2B5EF4-FFF2-40B4-BE49-F238E27FC236}">
                <a16:creationId xmlns:a16="http://schemas.microsoft.com/office/drawing/2014/main" id="{E0D23A7F-3A8C-40F9-98A6-20E7093E2685}"/>
              </a:ext>
            </a:extLst>
          </p:cNvPr>
          <p:cNvSpPr/>
          <p:nvPr/>
        </p:nvSpPr>
        <p:spPr>
          <a:xfrm>
            <a:off x="5276034" y="1813247"/>
            <a:ext cx="4833383" cy="1495202"/>
          </a:xfrm>
          <a:prstGeom prst="wedgeEllipseCallout">
            <a:avLst>
              <a:gd name="adj1" fmla="val 52282"/>
              <a:gd name="adj2" fmla="val 22771"/>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class </a:t>
            </a:r>
            <a:r>
              <a:rPr lang="en-US"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void </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System.</a:t>
            </a:r>
            <a:r>
              <a:rPr lang="zh-CN" altLang="zh-CN" sz="1200" b="1" i="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out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.println(</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复习抓羊</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2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2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文本框 20">
            <a:extLst>
              <a:ext uri="{FF2B5EF4-FFF2-40B4-BE49-F238E27FC236}">
                <a16:creationId xmlns:a16="http://schemas.microsoft.com/office/drawing/2014/main" id="{06E4D4B0-BE23-489B-8260-B38260E06DE0}"/>
              </a:ext>
            </a:extLst>
          </p:cNvPr>
          <p:cNvSpPr txBox="1"/>
          <p:nvPr/>
        </p:nvSpPr>
        <p:spPr>
          <a:xfrm>
            <a:off x="7680598" y="4411022"/>
            <a:ext cx="3311525" cy="646331"/>
          </a:xfrm>
          <a:prstGeom prst="rect">
            <a:avLst/>
          </a:prstGeom>
          <a:noFill/>
        </p:spPr>
        <p:txBody>
          <a:bodyPr>
            <a:spAutoFit/>
          </a:bodyPr>
          <a:lstStyle/>
          <a:p>
            <a:pPr>
              <a:defRPr/>
            </a:pPr>
            <a:r>
              <a:rPr lang="zh-CN" altLang="zh-CN" sz="1200" b="1" dirty="0">
                <a:solidFill>
                  <a:srgbClr val="000080"/>
                </a:solidFill>
                <a:latin typeface="Consolas" panose="020B0609020204030204" pitchFamily="49" charset="0"/>
              </a:rPr>
              <a:t>class </a:t>
            </a:r>
            <a:r>
              <a:rPr lang="en-US" altLang="zh-CN" sz="1200" dirty="0">
                <a:solidFill>
                  <a:srgbClr val="000000"/>
                </a:solidFill>
                <a:latin typeface="Consolas" panose="020B0609020204030204" pitchFamily="49" charset="0"/>
                <a:cs typeface="Arial" panose="020B0604020202020204" pitchFamily="34" charset="0"/>
              </a:rPr>
              <a:t>C</a:t>
            </a:r>
            <a:r>
              <a:rPr lang="zh-CN" altLang="zh-CN" sz="1200" dirty="0">
                <a:solidFill>
                  <a:srgbClr val="000000"/>
                </a:solidFill>
                <a:latin typeface="Consolas" panose="020B0609020204030204" pitchFamily="49" charset="0"/>
                <a:cs typeface="Arial" panose="020B0604020202020204" pitchFamily="34" charset="0"/>
              </a:rPr>
              <a:t> </a:t>
            </a:r>
            <a:r>
              <a:rPr lang="zh-CN" altLang="zh-CN" sz="1200" b="1" dirty="0">
                <a:solidFill>
                  <a:srgbClr val="000080"/>
                </a:solidFill>
                <a:latin typeface="Consolas" panose="020B0609020204030204" pitchFamily="49" charset="0"/>
              </a:rPr>
              <a:t>extends </a:t>
            </a:r>
            <a:r>
              <a:rPr lang="en-US" altLang="zh-CN" sz="1200" dirty="0">
                <a:solidFill>
                  <a:srgbClr val="000000"/>
                </a:solidFill>
                <a:latin typeface="Consolas" panose="020B0609020204030204" pitchFamily="49" charset="0"/>
                <a:cs typeface="Arial" panose="020B0604020202020204" pitchFamily="34" charset="0"/>
              </a:rPr>
              <a:t>B</a:t>
            </a:r>
            <a:r>
              <a:rPr lang="zh-CN" altLang="zh-CN" sz="1200" dirty="0">
                <a:solidFill>
                  <a:srgbClr val="000000"/>
                </a:solidFill>
                <a:latin typeface="Consolas" panose="020B0609020204030204" pitchFamily="49" charset="0"/>
              </a:rPr>
              <a:t> {</a:t>
            </a:r>
            <a:br>
              <a:rPr lang="zh-CN" altLang="zh-CN" sz="1200" dirty="0">
                <a:solidFill>
                  <a:srgbClr val="000000"/>
                </a:solidFill>
                <a:latin typeface="Consolas" panose="020B0609020204030204" pitchFamily="49" charset="0"/>
              </a:rPr>
            </a:br>
            <a:r>
              <a:rPr lang="zh-CN" altLang="zh-CN" sz="1200" dirty="0">
                <a:solidFill>
                  <a:srgbClr val="000000"/>
                </a:solidFill>
                <a:latin typeface="Consolas" panose="020B0609020204030204" pitchFamily="49" charset="0"/>
              </a:rPr>
              <a:t>    </a:t>
            </a:r>
            <a:br>
              <a:rPr lang="zh-CN" altLang="zh-CN" sz="1200" dirty="0">
                <a:solidFill>
                  <a:srgbClr val="000000"/>
                </a:solidFill>
                <a:latin typeface="Consolas" panose="020B0609020204030204" pitchFamily="49" charset="0"/>
              </a:rPr>
            </a:br>
            <a:r>
              <a:rPr lang="zh-CN" altLang="zh-CN" sz="1200" dirty="0">
                <a:solidFill>
                  <a:srgbClr val="000000"/>
                </a:solidFill>
                <a:latin typeface="Consolas" panose="020B0609020204030204" pitchFamily="49" charset="0"/>
              </a:rPr>
              <a:t>}</a:t>
            </a:r>
            <a:endParaRPr lang="zh-CN" altLang="zh-CN" sz="1200" dirty="0">
              <a:latin typeface="Consolas" panose="020B0609020204030204" pitchFamily="49" charset="0"/>
            </a:endParaRPr>
          </a:p>
        </p:txBody>
      </p:sp>
      <p:sp>
        <p:nvSpPr>
          <p:cNvPr id="22" name="TextBox 3">
            <a:extLst>
              <a:ext uri="{FF2B5EF4-FFF2-40B4-BE49-F238E27FC236}">
                <a16:creationId xmlns:a16="http://schemas.microsoft.com/office/drawing/2014/main" id="{EA1A5BCA-7135-4B82-A5FF-FBDD8574469F}"/>
              </a:ext>
            </a:extLst>
          </p:cNvPr>
          <p:cNvSpPr txBox="1"/>
          <p:nvPr/>
        </p:nvSpPr>
        <p:spPr>
          <a:xfrm>
            <a:off x="2388323" y="5016695"/>
            <a:ext cx="5066836" cy="1384995"/>
          </a:xfrm>
          <a:prstGeom prst="rect">
            <a:avLst/>
          </a:prstGeom>
          <a:solidFill>
            <a:srgbClr val="FFFFE4"/>
          </a:solidFill>
          <a:ln w="12700">
            <a:solidFill>
              <a:schemeClr val="tx1"/>
            </a:solidFill>
          </a:ln>
        </p:spPr>
        <p:txBody>
          <a:bodyPr wrap="square">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Test</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C </a:t>
            </a:r>
            <a:r>
              <a:rPr lang="en-US" altLang="zh-CN" sz="140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c</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C</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c</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.method();</a:t>
            </a: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复习数学</a:t>
            </a:r>
            <a:endPar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4" name="图片 13">
            <a:extLst>
              <a:ext uri="{FF2B5EF4-FFF2-40B4-BE49-F238E27FC236}">
                <a16:creationId xmlns:a16="http://schemas.microsoft.com/office/drawing/2014/main" id="{9FA14BB4-3FB0-48EF-A875-89304FE3DB15}"/>
              </a:ext>
            </a:extLst>
          </p:cNvPr>
          <p:cNvPicPr>
            <a:picLocks noChangeAspect="1"/>
          </p:cNvPicPr>
          <p:nvPr/>
        </p:nvPicPr>
        <p:blipFill>
          <a:blip r:embed="rId4"/>
          <a:stretch>
            <a:fillRect/>
          </a:stretch>
        </p:blipFill>
        <p:spPr>
          <a:xfrm flipH="1">
            <a:off x="10233084" y="1974018"/>
            <a:ext cx="1848458" cy="2225367"/>
          </a:xfrm>
          <a:prstGeom prst="rect">
            <a:avLst/>
          </a:prstGeom>
        </p:spPr>
      </p:pic>
      <p:sp>
        <p:nvSpPr>
          <p:cNvPr id="2" name="标题 1">
            <a:extLst>
              <a:ext uri="{FF2B5EF4-FFF2-40B4-BE49-F238E27FC236}">
                <a16:creationId xmlns:a16="http://schemas.microsoft.com/office/drawing/2014/main" id="{F4CF9713-A1D5-744F-47D4-6E6BAAE57267}"/>
              </a:ext>
            </a:extLst>
          </p:cNvPr>
          <p:cNvSpPr>
            <a:spLocks noGrp="1"/>
          </p:cNvSpPr>
          <p:nvPr>
            <p:ph type="title"/>
          </p:nvPr>
        </p:nvSpPr>
        <p:spPr/>
        <p:txBody>
          <a:bodyPr/>
          <a:lstStyle/>
          <a:p>
            <a:r>
              <a:rPr lang="en-US" altLang="zh-CN" dirty="0"/>
              <a:t>Java </a:t>
            </a:r>
            <a:r>
              <a:rPr lang="zh-CN" altLang="en-US" dirty="0"/>
              <a:t>中继承的特点</a:t>
            </a:r>
          </a:p>
        </p:txBody>
      </p:sp>
    </p:spTree>
    <p:extLst>
      <p:ext uri="{BB962C8B-B14F-4D97-AF65-F5344CB8AC3E}">
        <p14:creationId xmlns:p14="http://schemas.microsoft.com/office/powerpoint/2010/main" val="165942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0-#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4"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FB95-480C-85A4-41EB-A7E0383243F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BBA660C-B517-78BC-2959-5F418560C4A7}"/>
              </a:ext>
            </a:extLst>
          </p:cNvPr>
          <p:cNvSpPr>
            <a:spLocks noGrp="1"/>
          </p:cNvSpPr>
          <p:nvPr>
            <p:ph type="body" sz="quarter" idx="10"/>
          </p:nvPr>
        </p:nvSpPr>
        <p:spPr>
          <a:xfrm>
            <a:off x="3936569" y="1483864"/>
            <a:ext cx="8255431" cy="3962399"/>
          </a:xfrm>
        </p:spPr>
        <p:txBody>
          <a:bodyPr/>
          <a:lstStyle/>
          <a:p>
            <a:r>
              <a:rPr lang="en-US" altLang="zh-CN" dirty="0">
                <a:solidFill>
                  <a:schemeClr val="tx1">
                    <a:lumMod val="50000"/>
                  </a:schemeClr>
                </a:solidFill>
                <a:latin typeface="+mn-ea"/>
              </a:rPr>
              <a:t>Java </a:t>
            </a:r>
            <a:r>
              <a:rPr lang="zh-CN" altLang="en-US" dirty="0">
                <a:solidFill>
                  <a:schemeClr val="tx1">
                    <a:lumMod val="50000"/>
                  </a:schemeClr>
                </a:solidFill>
                <a:latin typeface="+mn-ea"/>
              </a:rPr>
              <a:t>中的继承只允许单继承，不允许多继承，允许多层继承</a:t>
            </a:r>
            <a:endParaRPr lang="en-US" altLang="zh-CN" dirty="0">
              <a:solidFill>
                <a:schemeClr val="tx1">
                  <a:lumMod val="50000"/>
                </a:schemeClr>
              </a:solidFill>
              <a:latin typeface="+mn-ea"/>
            </a:endParaRPr>
          </a:p>
        </p:txBody>
      </p:sp>
      <p:sp>
        <p:nvSpPr>
          <p:cNvPr id="3" name="标题 2">
            <a:extLst>
              <a:ext uri="{FF2B5EF4-FFF2-40B4-BE49-F238E27FC236}">
                <a16:creationId xmlns:a16="http://schemas.microsoft.com/office/drawing/2014/main" id="{C298A1F9-26B4-6D57-C6D5-6AF1B66865FE}"/>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5655095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425950"/>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问题：构造方法能否被继承？</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TextBox 3">
            <a:extLst>
              <a:ext uri="{FF2B5EF4-FFF2-40B4-BE49-F238E27FC236}">
                <a16:creationId xmlns:a16="http://schemas.microsoft.com/office/drawing/2014/main" id="{09F95075-5AFF-43C0-8150-D357BF8581CB}"/>
              </a:ext>
            </a:extLst>
          </p:cNvPr>
          <p:cNvSpPr txBox="1"/>
          <p:nvPr/>
        </p:nvSpPr>
        <p:spPr>
          <a:xfrm>
            <a:off x="776195" y="2246661"/>
            <a:ext cx="3291952" cy="1169551"/>
          </a:xfrm>
          <a:prstGeom prst="rect">
            <a:avLst/>
          </a:prstGeom>
          <a:solidFill>
            <a:srgbClr val="FFFFE4"/>
          </a:solidFill>
          <a:ln w="12700">
            <a:solidFill>
              <a:schemeClr val="tx1"/>
            </a:solidFill>
          </a:ln>
        </p:spPr>
        <p:txBody>
          <a:bodyPr wrap="square">
            <a:spAutoFit/>
          </a:bodyPr>
          <a:lstStyle/>
          <a:p>
            <a:pPr lvl="0" eaLnBrk="0" fontAlgn="base" hangingPunct="0">
              <a:spcBef>
                <a:spcPct val="0"/>
              </a:spcBef>
              <a:spcAft>
                <a:spcPct val="0"/>
              </a:spcAft>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a:t>
            </a:r>
            <a:r>
              <a:rPr lang="zh-CN" altLang="zh-CN" sz="1400" dirty="0">
                <a:solidFill>
                  <a:srgbClr val="00627A"/>
                </a:solidFill>
                <a:latin typeface="Consolas" panose="020B0609020204030204" pitchFamily="49" charset="0"/>
              </a:rPr>
              <a:t>Fu</a:t>
            </a: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13" name="TextBox 3">
            <a:extLst>
              <a:ext uri="{FF2B5EF4-FFF2-40B4-BE49-F238E27FC236}">
                <a16:creationId xmlns:a16="http://schemas.microsoft.com/office/drawing/2014/main" id="{09859598-D43C-482A-B986-FF8119C55F39}"/>
              </a:ext>
            </a:extLst>
          </p:cNvPr>
          <p:cNvSpPr txBox="1"/>
          <p:nvPr/>
        </p:nvSpPr>
        <p:spPr>
          <a:xfrm>
            <a:off x="776195" y="3623509"/>
            <a:ext cx="4141038" cy="1169551"/>
          </a:xfrm>
          <a:prstGeom prst="rect">
            <a:avLst/>
          </a:prstGeom>
          <a:solidFill>
            <a:srgbClr val="FFFFE4"/>
          </a:solidFill>
          <a:ln w="12700">
            <a:solidFill>
              <a:schemeClr val="tx1"/>
            </a:solidFill>
          </a:ln>
        </p:spPr>
        <p:txBody>
          <a:bodyPr wrap="square">
            <a:spAutoFit/>
          </a:bodyPr>
          <a:lstStyle/>
          <a:p>
            <a:pPr lvl="0" eaLnBrk="0" fontAlgn="base" hangingPunct="0">
              <a:spcBef>
                <a:spcPct val="0"/>
              </a:spcBef>
              <a:spcAft>
                <a:spcPct val="0"/>
              </a:spcAft>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endParaRPr lang="en-US" altLang="zh-CN" sz="1400" dirty="0">
              <a:solidFill>
                <a:srgbClr val="080808"/>
              </a:solidFill>
              <a:latin typeface="Consolas" panose="020B0609020204030204" pitchFamily="49" charset="0"/>
            </a:endParaRPr>
          </a:p>
          <a:p>
            <a:pPr lvl="0" eaLnBrk="0" fontAlgn="base" hangingPunct="0">
              <a:spcBef>
                <a:spcPct val="0"/>
              </a:spcBef>
              <a:spcAft>
                <a:spcPct val="0"/>
              </a:spcAft>
            </a:pPr>
            <a:endParaRPr lang="en-US" altLang="zh-CN" sz="1400" dirty="0">
              <a:solidFill>
                <a:srgbClr val="080808"/>
              </a:solidFill>
              <a:latin typeface="Consolas" panose="020B0609020204030204" pitchFamily="49" charset="0"/>
            </a:endParaRPr>
          </a:p>
          <a:p>
            <a:pPr lvl="0" eaLnBrk="0" fontAlgn="base" hangingPunct="0">
              <a:spcBef>
                <a:spcPct val="0"/>
              </a:spcBef>
              <a:spcAft>
                <a:spcPct val="0"/>
              </a:spcAft>
            </a:pP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7" name="文本框 6">
            <a:extLst>
              <a:ext uri="{FF2B5EF4-FFF2-40B4-BE49-F238E27FC236}">
                <a16:creationId xmlns:a16="http://schemas.microsoft.com/office/drawing/2014/main" id="{590C784F-18B6-47B4-B12E-962C2E90D1A8}"/>
              </a:ext>
            </a:extLst>
          </p:cNvPr>
          <p:cNvSpPr txBox="1"/>
          <p:nvPr/>
        </p:nvSpPr>
        <p:spPr>
          <a:xfrm>
            <a:off x="1169696" y="2462104"/>
            <a:ext cx="3582955" cy="738664"/>
          </a:xfrm>
          <a:prstGeom prst="rect">
            <a:avLst/>
          </a:prstGeom>
          <a:noFill/>
        </p:spPr>
        <p:txBody>
          <a:bodyPr wrap="square" rtlCol="0">
            <a:spAutoFit/>
          </a:bodyPr>
          <a:lstStyle/>
          <a:p>
            <a:pPr fontAlgn="auto">
              <a:spcBef>
                <a:spcPts val="0"/>
              </a:spcBef>
              <a:spcAft>
                <a:spcPts val="0"/>
              </a:spcAft>
            </a:pPr>
            <a:r>
              <a:rPr lang="zh-CN" altLang="zh-CN" sz="1400" dirty="0">
                <a:solidFill>
                  <a:srgbClr val="0033B3"/>
                </a:solidFill>
                <a:latin typeface="Consolas" panose="020B0609020204030204" pitchFamily="49" charset="0"/>
              </a:rPr>
              <a:t>public </a:t>
            </a:r>
            <a:r>
              <a:rPr lang="zh-CN" altLang="zh-CN" sz="1400" dirty="0">
                <a:solidFill>
                  <a:srgbClr val="00627A"/>
                </a:solidFill>
                <a:latin typeface="Consolas" panose="020B0609020204030204" pitchFamily="49" charset="0"/>
              </a:rPr>
              <a:t>Fu</a:t>
            </a: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en-US" sz="1400" dirty="0">
              <a:solidFill>
                <a:schemeClr val="tx1">
                  <a:lumMod val="65000"/>
                  <a:lumOff val="35000"/>
                </a:schemeClr>
              </a:solidFill>
              <a:latin typeface="Consolas" panose="020B0609020204030204" pitchFamily="49" charset="0"/>
            </a:endParaRPr>
          </a:p>
        </p:txBody>
      </p:sp>
      <p:sp>
        <p:nvSpPr>
          <p:cNvPr id="9" name="矩形: 圆角 8">
            <a:extLst>
              <a:ext uri="{FF2B5EF4-FFF2-40B4-BE49-F238E27FC236}">
                <a16:creationId xmlns:a16="http://schemas.microsoft.com/office/drawing/2014/main" id="{28B90A48-4FB1-4E7D-9F6B-8608F6FDC1B2}"/>
              </a:ext>
            </a:extLst>
          </p:cNvPr>
          <p:cNvSpPr/>
          <p:nvPr/>
        </p:nvSpPr>
        <p:spPr>
          <a:xfrm>
            <a:off x="776195" y="5179255"/>
            <a:ext cx="4581331" cy="738664"/>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rPr>
              <a:t>子类需要自己手动编写构造方法</a:t>
            </a:r>
          </a:p>
        </p:txBody>
      </p:sp>
      <p:sp>
        <p:nvSpPr>
          <p:cNvPr id="2" name="标题 1">
            <a:extLst>
              <a:ext uri="{FF2B5EF4-FFF2-40B4-BE49-F238E27FC236}">
                <a16:creationId xmlns:a16="http://schemas.microsoft.com/office/drawing/2014/main" id="{DC32F851-9449-78D3-7716-03332E0058B7}"/>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构造方法</a:t>
            </a:r>
            <a:endParaRPr lang="zh-CN" altLang="en-US" dirty="0"/>
          </a:p>
        </p:txBody>
      </p:sp>
    </p:spTree>
    <p:extLst>
      <p:ext uri="{BB962C8B-B14F-4D97-AF65-F5344CB8AC3E}">
        <p14:creationId xmlns:p14="http://schemas.microsoft.com/office/powerpoint/2010/main" val="206085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42" presetClass="path" presetSubtype="0" fill="hold" grpId="0" nodeType="withEffect">
                                  <p:stCondLst>
                                    <p:cond delay="0"/>
                                  </p:stCondLst>
                                  <p:childTnLst>
                                    <p:animMotion origin="layout" path="M 1.45833E-6 -1.48148E-6 L 1.45833E-6 0.20486 " pathEditMode="relative" rAng="0" ptsTypes="AA">
                                      <p:cBhvr>
                                        <p:cTn id="23" dur="750" fill="hold"/>
                                        <p:tgtEl>
                                          <p:spTgt spid="7"/>
                                        </p:tgtEl>
                                        <p:attrNameLst>
                                          <p:attrName>ppt_x</p:attrName>
                                          <p:attrName>ppt_y</p:attrName>
                                        </p:attrNameLst>
                                      </p:cBhvr>
                                      <p:rCtr x="0" y="10231"/>
                                    </p:animMotion>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animBg="1"/>
      <p:bldP spid="13" grpId="0" animBg="1"/>
      <p:bldP spid="7" grpId="0"/>
      <p:bldP spid="7" grpId="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425950"/>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问题：子类在初始化之前，是否需要先完成父类的初始化？</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1" name="TextBox 3">
            <a:extLst>
              <a:ext uri="{FF2B5EF4-FFF2-40B4-BE49-F238E27FC236}">
                <a16:creationId xmlns:a16="http://schemas.microsoft.com/office/drawing/2014/main" id="{147164E2-2A5E-4324-A161-1E34B8D5AF30}"/>
              </a:ext>
            </a:extLst>
          </p:cNvPr>
          <p:cNvSpPr txBox="1"/>
          <p:nvPr/>
        </p:nvSpPr>
        <p:spPr>
          <a:xfrm>
            <a:off x="776195" y="2246661"/>
            <a:ext cx="3291952" cy="738664"/>
          </a:xfrm>
          <a:prstGeom prst="rect">
            <a:avLst/>
          </a:prstGeom>
          <a:solidFill>
            <a:srgbClr val="FFFFE4"/>
          </a:solidFill>
          <a:ln w="12700">
            <a:solidFill>
              <a:schemeClr val="tx1"/>
            </a:solidFill>
          </a:ln>
        </p:spPr>
        <p:txBody>
          <a:bodyPr wrap="square">
            <a:spAutoFit/>
          </a:bodyPr>
          <a:lstStyle/>
          <a:p>
            <a:pPr lvl="0" eaLnBrk="0" fontAlgn="base" hangingPunct="0">
              <a:spcBef>
                <a:spcPct val="0"/>
              </a:spcBef>
              <a:spcAft>
                <a:spcPct val="0"/>
              </a:spcAft>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int </a:t>
            </a:r>
            <a:r>
              <a:rPr lang="zh-CN" altLang="zh-CN" sz="1400" dirty="0">
                <a:solidFill>
                  <a:srgbClr val="871094"/>
                </a:solidFill>
                <a:latin typeface="Consolas" panose="020B0609020204030204" pitchFamily="49" charset="0"/>
              </a:rPr>
              <a:t>num </a:t>
            </a:r>
            <a:r>
              <a:rPr lang="zh-CN" altLang="zh-CN" sz="1400" dirty="0">
                <a:solidFill>
                  <a:srgbClr val="080808"/>
                </a:solidFill>
                <a:latin typeface="Consolas" panose="020B0609020204030204" pitchFamily="49" charset="0"/>
              </a:rPr>
              <a:t>= </a:t>
            </a:r>
            <a:r>
              <a:rPr lang="zh-CN" altLang="zh-CN" sz="1400" dirty="0">
                <a:solidFill>
                  <a:srgbClr val="1750EB"/>
                </a:solidFill>
                <a:latin typeface="Consolas" panose="020B0609020204030204" pitchFamily="49" charset="0"/>
              </a:rPr>
              <a:t>10</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16" name="TextBox 3">
            <a:extLst>
              <a:ext uri="{FF2B5EF4-FFF2-40B4-BE49-F238E27FC236}">
                <a16:creationId xmlns:a16="http://schemas.microsoft.com/office/drawing/2014/main" id="{C62397E8-D6AC-46B9-B4C7-753E39C23A85}"/>
              </a:ext>
            </a:extLst>
          </p:cNvPr>
          <p:cNvSpPr txBox="1"/>
          <p:nvPr/>
        </p:nvSpPr>
        <p:spPr>
          <a:xfrm>
            <a:off x="776195" y="3319682"/>
            <a:ext cx="4141038" cy="1169551"/>
          </a:xfrm>
          <a:prstGeom prst="rect">
            <a:avLst/>
          </a:prstGeom>
          <a:solidFill>
            <a:srgbClr val="FFFFE4"/>
          </a:solidFill>
          <a:ln w="12700">
            <a:solidFill>
              <a:schemeClr val="tx1"/>
            </a:solidFill>
          </a:ln>
        </p:spPr>
        <p:txBody>
          <a:bodyPr wrap="square">
            <a:spAutoFit/>
          </a:bodyPr>
          <a:lstStyle/>
          <a:p>
            <a:pPr lvl="0" eaLnBrk="0" fontAlgn="base" hangingPunct="0">
              <a:spcBef>
                <a:spcPct val="0"/>
              </a:spcBef>
              <a:spcAft>
                <a:spcPct val="0"/>
              </a:spcAft>
            </a:pPr>
            <a:r>
              <a:rPr lang="zh-CN" altLang="zh-CN" sz="1400" dirty="0">
                <a:solidFill>
                  <a:srgbClr val="0033B3"/>
                </a:solidFill>
                <a:latin typeface="Consolas" panose="020B0609020204030204" pitchFamily="49" charset="0"/>
              </a:rPr>
              <a:t>public class </a:t>
            </a:r>
            <a:r>
              <a:rPr lang="zh-CN" altLang="zh-CN" sz="1400" dirty="0">
                <a:solidFill>
                  <a:srgbClr val="000000"/>
                </a:solidFill>
                <a:latin typeface="Consolas" panose="020B0609020204030204" pitchFamily="49" charset="0"/>
              </a:rPr>
              <a:t>Zi </a:t>
            </a:r>
            <a:r>
              <a:rPr lang="zh-CN" altLang="zh-CN" sz="1400" dirty="0">
                <a:solidFill>
                  <a:srgbClr val="0033B3"/>
                </a:solidFill>
                <a:latin typeface="Consolas" panose="020B0609020204030204" pitchFamily="49" charset="0"/>
              </a:rPr>
              <a:t>extends </a:t>
            </a:r>
            <a:r>
              <a:rPr lang="zh-CN" altLang="zh-CN" sz="1400" dirty="0">
                <a:solidFill>
                  <a:srgbClr val="000000"/>
                </a:solidFill>
                <a:latin typeface="Consolas" panose="020B0609020204030204" pitchFamily="49" charset="0"/>
              </a:rPr>
              <a:t>Fu </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33B3"/>
                </a:solidFill>
                <a:latin typeface="Consolas" panose="020B0609020204030204" pitchFamily="49" charset="0"/>
              </a:rPr>
              <a:t>public </a:t>
            </a:r>
            <a:r>
              <a:rPr lang="zh-CN" altLang="zh-CN" sz="1400" dirty="0">
                <a:solidFill>
                  <a:srgbClr val="00627A"/>
                </a:solidFill>
                <a:latin typeface="Consolas" panose="020B0609020204030204" pitchFamily="49" charset="0"/>
              </a:rPr>
              <a:t>Zi</a:t>
            </a: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r>
              <a:rPr lang="zh-CN" altLang="zh-CN" sz="1400" dirty="0">
                <a:solidFill>
                  <a:srgbClr val="000000"/>
                </a:solidFill>
                <a:latin typeface="Consolas" panose="020B0609020204030204" pitchFamily="49" charset="0"/>
              </a:rPr>
              <a:t>System</a:t>
            </a:r>
            <a:r>
              <a:rPr lang="zh-CN" altLang="zh-CN" sz="1400" dirty="0">
                <a:solidFill>
                  <a:srgbClr val="080808"/>
                </a:solidFill>
                <a:latin typeface="Consolas" panose="020B0609020204030204" pitchFamily="49" charset="0"/>
              </a:rPr>
              <a:t>.</a:t>
            </a:r>
            <a:r>
              <a:rPr lang="zh-CN" altLang="zh-CN" sz="1400" i="1" dirty="0">
                <a:solidFill>
                  <a:srgbClr val="871094"/>
                </a:solidFill>
                <a:latin typeface="Consolas" panose="020B0609020204030204" pitchFamily="49" charset="0"/>
              </a:rPr>
              <a:t>out</a:t>
            </a:r>
            <a:r>
              <a:rPr lang="zh-CN" altLang="zh-CN" sz="1400" dirty="0">
                <a:solidFill>
                  <a:srgbClr val="080808"/>
                </a:solidFill>
                <a:latin typeface="Consolas" panose="020B0609020204030204" pitchFamily="49" charset="0"/>
              </a:rPr>
              <a:t>.println(</a:t>
            </a:r>
            <a:r>
              <a:rPr lang="zh-CN" altLang="zh-CN" sz="1400" dirty="0">
                <a:solidFill>
                  <a:srgbClr val="0033B3"/>
                </a:solidFill>
                <a:latin typeface="Consolas" panose="020B0609020204030204" pitchFamily="49" charset="0"/>
              </a:rPr>
              <a:t>super</a:t>
            </a:r>
            <a:r>
              <a:rPr lang="zh-CN" altLang="zh-CN" sz="1400" dirty="0">
                <a:solidFill>
                  <a:srgbClr val="080808"/>
                </a:solidFill>
                <a:latin typeface="Consolas" panose="020B0609020204030204" pitchFamily="49" charset="0"/>
              </a:rPr>
              <a:t>.</a:t>
            </a:r>
            <a:r>
              <a:rPr lang="zh-CN" altLang="zh-CN" sz="1400" dirty="0">
                <a:solidFill>
                  <a:srgbClr val="871094"/>
                </a:solidFill>
                <a:latin typeface="Consolas" panose="020B0609020204030204" pitchFamily="49" charset="0"/>
              </a:rPr>
              <a:t>num</a:t>
            </a:r>
            <a:r>
              <a:rPr lang="zh-CN" altLang="zh-CN" sz="1400" dirty="0">
                <a:solidFill>
                  <a:srgbClr val="080808"/>
                </a:solidFill>
                <a:latin typeface="Consolas" panose="020B0609020204030204" pitchFamily="49" charset="0"/>
              </a:rPr>
              <a:t>);</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    }</a:t>
            </a:r>
            <a:br>
              <a:rPr lang="zh-CN" altLang="zh-CN" sz="1400" dirty="0">
                <a:solidFill>
                  <a:srgbClr val="080808"/>
                </a:solidFill>
                <a:latin typeface="Consolas" panose="020B0609020204030204" pitchFamily="49" charset="0"/>
              </a:rPr>
            </a:br>
            <a:r>
              <a:rPr lang="zh-CN" altLang="zh-CN" sz="1400" dirty="0">
                <a:solidFill>
                  <a:srgbClr val="080808"/>
                </a:solidFill>
                <a:latin typeface="Consolas" panose="020B0609020204030204" pitchFamily="49" charset="0"/>
              </a:rPr>
              <a:t>}</a:t>
            </a:r>
            <a:endParaRPr lang="zh-CN" altLang="zh-CN" sz="2000" dirty="0">
              <a:latin typeface="Arial" panose="020B0604020202020204" pitchFamily="34" charset="0"/>
            </a:endParaRPr>
          </a:p>
        </p:txBody>
      </p:sp>
      <p:sp>
        <p:nvSpPr>
          <p:cNvPr id="8" name="对话气泡: 椭圆形 7">
            <a:extLst>
              <a:ext uri="{FF2B5EF4-FFF2-40B4-BE49-F238E27FC236}">
                <a16:creationId xmlns:a16="http://schemas.microsoft.com/office/drawing/2014/main" id="{EF9B52E1-5259-4FC4-BBED-334C861BD985}"/>
              </a:ext>
            </a:extLst>
          </p:cNvPr>
          <p:cNvSpPr/>
          <p:nvPr/>
        </p:nvSpPr>
        <p:spPr>
          <a:xfrm>
            <a:off x="3946850" y="2985324"/>
            <a:ext cx="3125754" cy="824987"/>
          </a:xfrm>
          <a:prstGeom prst="wedgeEllipseCallout">
            <a:avLst>
              <a:gd name="adj1" fmla="val -44850"/>
              <a:gd name="adj2" fmla="val 4335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爹！！！数据哪儿去了！</a:t>
            </a:r>
          </a:p>
        </p:txBody>
      </p:sp>
      <p:sp>
        <p:nvSpPr>
          <p:cNvPr id="2" name="标题 1">
            <a:extLst>
              <a:ext uri="{FF2B5EF4-FFF2-40B4-BE49-F238E27FC236}">
                <a16:creationId xmlns:a16="http://schemas.microsoft.com/office/drawing/2014/main" id="{BECF2D10-FDDC-3AB6-4E9E-DFFFEDEE816A}"/>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构造方法</a:t>
            </a:r>
            <a:endParaRPr lang="zh-CN" altLang="en-US" dirty="0"/>
          </a:p>
        </p:txBody>
      </p:sp>
    </p:spTree>
    <p:extLst>
      <p:ext uri="{BB962C8B-B14F-4D97-AF65-F5344CB8AC3E}">
        <p14:creationId xmlns:p14="http://schemas.microsoft.com/office/powerpoint/2010/main" val="239194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mph" presetSubtype="0" grpId="1" nodeType="clickEffect">
                                  <p:stCondLst>
                                    <p:cond delay="0"/>
                                  </p:stCondLst>
                                  <p:childTnLst>
                                    <p:set>
                                      <p:cBhvr>
                                        <p:cTn id="18" dur="indefinite"/>
                                        <p:tgtEl>
                                          <p:spTgt spid="11"/>
                                        </p:tgtEl>
                                        <p:attrNameLst>
                                          <p:attrName>style.opacity</p:attrName>
                                        </p:attrNameLst>
                                      </p:cBhvr>
                                      <p:to>
                                        <p:strVal val="0.5"/>
                                      </p:to>
                                    </p:set>
                                    <p:animEffect filter="image" prLst="opacity: 0.5">
                                      <p:cBhvr rctx="IE">
                                        <p:cTn id="19" dur="indefinite"/>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425950"/>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问题：子类在初始化之前，是否需要先完成父类的初始化？</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TextBox 10">
            <a:extLst>
              <a:ext uri="{FF2B5EF4-FFF2-40B4-BE49-F238E27FC236}">
                <a16:creationId xmlns:a16="http://schemas.microsoft.com/office/drawing/2014/main" id="{F4BCBD1D-AF98-401F-B831-D7A5FCF8BE89}"/>
              </a:ext>
            </a:extLst>
          </p:cNvPr>
          <p:cNvSpPr txBox="1"/>
          <p:nvPr/>
        </p:nvSpPr>
        <p:spPr>
          <a:xfrm>
            <a:off x="1632179" y="2320126"/>
            <a:ext cx="8927642" cy="425950"/>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问题：子类是如何完成父类初始化的呢？</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TextBox 10">
            <a:extLst>
              <a:ext uri="{FF2B5EF4-FFF2-40B4-BE49-F238E27FC236}">
                <a16:creationId xmlns:a16="http://schemas.microsoft.com/office/drawing/2014/main" id="{35BB69B3-DCA2-4FB3-81E3-94954F19D55A}"/>
              </a:ext>
            </a:extLst>
          </p:cNvPr>
          <p:cNvSpPr txBox="1"/>
          <p:nvPr/>
        </p:nvSpPr>
        <p:spPr>
          <a:xfrm>
            <a:off x="2532837" y="3018515"/>
            <a:ext cx="8927642" cy="425950"/>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问题：什么方法是用于对象初始化的？</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 name="矩形: 圆角 3">
            <a:extLst>
              <a:ext uri="{FF2B5EF4-FFF2-40B4-BE49-F238E27FC236}">
                <a16:creationId xmlns:a16="http://schemas.microsoft.com/office/drawing/2014/main" id="{A407C82B-B737-4229-8DC4-738C406FC0A6}"/>
              </a:ext>
            </a:extLst>
          </p:cNvPr>
          <p:cNvSpPr/>
          <p:nvPr/>
        </p:nvSpPr>
        <p:spPr>
          <a:xfrm>
            <a:off x="6251509" y="3608931"/>
            <a:ext cx="4040155" cy="92373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构造方法！</a:t>
            </a:r>
          </a:p>
        </p:txBody>
      </p:sp>
      <p:pic>
        <p:nvPicPr>
          <p:cNvPr id="7" name="图片 6">
            <a:extLst>
              <a:ext uri="{FF2B5EF4-FFF2-40B4-BE49-F238E27FC236}">
                <a16:creationId xmlns:a16="http://schemas.microsoft.com/office/drawing/2014/main" id="{BEC96B9C-F529-44F2-8201-40884EA8E920}"/>
              </a:ext>
            </a:extLst>
          </p:cNvPr>
          <p:cNvPicPr>
            <a:picLocks noChangeAspect="1"/>
          </p:cNvPicPr>
          <p:nvPr/>
        </p:nvPicPr>
        <p:blipFill>
          <a:blip r:embed="rId2"/>
          <a:stretch>
            <a:fillRect/>
          </a:stretch>
        </p:blipFill>
        <p:spPr>
          <a:xfrm>
            <a:off x="806852" y="4477497"/>
            <a:ext cx="1725986" cy="1956118"/>
          </a:xfrm>
          <a:prstGeom prst="rect">
            <a:avLst/>
          </a:prstGeom>
        </p:spPr>
      </p:pic>
      <p:sp>
        <p:nvSpPr>
          <p:cNvPr id="9" name="思想气泡: 云 8">
            <a:extLst>
              <a:ext uri="{FF2B5EF4-FFF2-40B4-BE49-F238E27FC236}">
                <a16:creationId xmlns:a16="http://schemas.microsoft.com/office/drawing/2014/main" id="{19F592C5-9EB2-4D64-8223-D01C4DB02047}"/>
              </a:ext>
            </a:extLst>
          </p:cNvPr>
          <p:cNvSpPr/>
          <p:nvPr/>
        </p:nvSpPr>
        <p:spPr>
          <a:xfrm>
            <a:off x="2761862" y="3820886"/>
            <a:ext cx="3178630" cy="1558212"/>
          </a:xfrm>
          <a:prstGeom prst="cloudCallout">
            <a:avLst>
              <a:gd name="adj1" fmla="val -54069"/>
              <a:gd name="adj2" fmla="val 25513"/>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子类只要有办法调用到父类的构造方法即可</a:t>
            </a:r>
          </a:p>
        </p:txBody>
      </p:sp>
      <p:pic>
        <p:nvPicPr>
          <p:cNvPr id="19460" name="Picture 4">
            <a:extLst>
              <a:ext uri="{FF2B5EF4-FFF2-40B4-BE49-F238E27FC236}">
                <a16:creationId xmlns:a16="http://schemas.microsoft.com/office/drawing/2014/main" id="{AD2FB7B2-6B90-42ED-8D97-31B24595B35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flipH="1">
            <a:off x="5940492" y="5097546"/>
            <a:ext cx="1496006" cy="149600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408498C2-9340-49F0-50E4-20FB8AEEFF7A}"/>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构造方法</a:t>
            </a:r>
            <a:endParaRPr lang="zh-CN" altLang="en-US" dirty="0"/>
          </a:p>
        </p:txBody>
      </p:sp>
    </p:spTree>
    <p:extLst>
      <p:ext uri="{BB962C8B-B14F-4D97-AF65-F5344CB8AC3E}">
        <p14:creationId xmlns:p14="http://schemas.microsoft.com/office/powerpoint/2010/main" val="3850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60"/>
                                        </p:tgtEl>
                                        <p:attrNameLst>
                                          <p:attrName>style.visibility</p:attrName>
                                        </p:attrNameLst>
                                      </p:cBhvr>
                                      <p:to>
                                        <p:strVal val="visible"/>
                                      </p:to>
                                    </p:set>
                                    <p:animEffect transition="in" filter="fade">
                                      <p:cBhvr>
                                        <p:cTn id="32"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0">
            <a:extLst>
              <a:ext uri="{FF2B5EF4-FFF2-40B4-BE49-F238E27FC236}">
                <a16:creationId xmlns:a16="http://schemas.microsoft.com/office/drawing/2014/main" id="{E50D63DA-D6FE-403A-916D-616495080B28}"/>
              </a:ext>
            </a:extLst>
          </p:cNvPr>
          <p:cNvSpPr txBox="1"/>
          <p:nvPr/>
        </p:nvSpPr>
        <p:spPr>
          <a:xfrm>
            <a:off x="710880" y="1638991"/>
            <a:ext cx="8927642" cy="791435"/>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在所有的构造方法中，都默认隐藏了一句话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通过这句代码，来访问父类的空参构造方法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27651748-6249-FE58-1182-51CA75F358AC}"/>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继承中的成员访问特点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构造方法</a:t>
            </a:r>
            <a:endParaRPr lang="zh-CN" altLang="en-US" dirty="0"/>
          </a:p>
        </p:txBody>
      </p:sp>
    </p:spTree>
    <p:extLst>
      <p:ext uri="{BB962C8B-B14F-4D97-AF65-F5344CB8AC3E}">
        <p14:creationId xmlns:p14="http://schemas.microsoft.com/office/powerpoint/2010/main" val="4195840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07A34-803E-7EDF-4028-66E18FBC9A4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AC182C4-C581-F3E1-C2E1-1A6D9F33EBAE}"/>
              </a:ext>
            </a:extLst>
          </p:cNvPr>
          <p:cNvSpPr>
            <a:spLocks noGrp="1"/>
          </p:cNvSpPr>
          <p:nvPr>
            <p:ph type="body" sz="quarter" idx="10"/>
          </p:nvPr>
        </p:nvSpPr>
        <p:spPr>
          <a:xfrm>
            <a:off x="3936569" y="1483864"/>
            <a:ext cx="8255431" cy="3962399"/>
          </a:xfrm>
        </p:spPr>
        <p:txBody>
          <a:bodyPr/>
          <a:lstStyle/>
          <a:p>
            <a:r>
              <a:rPr lang="zh-CN" altLang="en-US" dirty="0">
                <a:solidFill>
                  <a:schemeClr val="tx1">
                    <a:lumMod val="50000"/>
                  </a:schemeClr>
                </a:solidFill>
                <a:latin typeface="+mn-ea"/>
              </a:rPr>
              <a:t>子类是否可以继承到父类的构造方法？</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不可以，子类需要手动编写构造方法</a:t>
            </a:r>
            <a:endParaRPr lang="en-US" altLang="zh-CN" dirty="0">
              <a:solidFill>
                <a:schemeClr val="tx1">
                  <a:lumMod val="50000"/>
                </a:schemeClr>
              </a:solidFill>
              <a:latin typeface="+mn-ea"/>
            </a:endParaRPr>
          </a:p>
          <a:p>
            <a:r>
              <a:rPr lang="zh-CN" altLang="en-US" dirty="0">
                <a:solidFill>
                  <a:schemeClr val="tx1">
                    <a:lumMod val="50000"/>
                  </a:schemeClr>
                </a:solidFill>
                <a:latin typeface="+mn-ea"/>
              </a:rPr>
              <a:t>在子类所有的构造方法中，都默认隐藏了一句什么代码？</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super();</a:t>
            </a:r>
          </a:p>
        </p:txBody>
      </p:sp>
      <p:sp>
        <p:nvSpPr>
          <p:cNvPr id="3" name="标题 2">
            <a:extLst>
              <a:ext uri="{FF2B5EF4-FFF2-40B4-BE49-F238E27FC236}">
                <a16:creationId xmlns:a16="http://schemas.microsoft.com/office/drawing/2014/main" id="{9DE7B049-BABD-37CC-B714-999F090FAA02}"/>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23285264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9C70202-578A-5B27-65BA-E66058657CC9}"/>
              </a:ext>
            </a:extLst>
          </p:cNvPr>
          <p:cNvSpPr>
            <a:spLocks noGrp="1"/>
          </p:cNvSpPr>
          <p:nvPr>
            <p:ph type="title"/>
          </p:nvPr>
        </p:nvSpPr>
        <p:spPr/>
        <p:txBody>
          <a:bodyPr/>
          <a:lstStyle/>
          <a:p>
            <a:r>
              <a:rPr lang="zh-CN" altLang="en-US" dirty="0"/>
              <a:t>继承练习</a:t>
            </a:r>
          </a:p>
        </p:txBody>
      </p:sp>
      <p:sp>
        <p:nvSpPr>
          <p:cNvPr id="8" name="文本占位符 7">
            <a:extLst>
              <a:ext uri="{FF2B5EF4-FFF2-40B4-BE49-F238E27FC236}">
                <a16:creationId xmlns:a16="http://schemas.microsoft.com/office/drawing/2014/main" id="{43EDA500-301A-4C7D-9D0D-28FDC90CE971}"/>
              </a:ext>
            </a:extLst>
          </p:cNvPr>
          <p:cNvSpPr>
            <a:spLocks noGrp="1"/>
          </p:cNvSpPr>
          <p:nvPr>
            <p:ph type="body" sz="quarter" idx="10"/>
          </p:nvPr>
        </p:nvSpPr>
        <p:spPr>
          <a:prstGeom prst="rect">
            <a:avLst/>
          </a:prstGeom>
        </p:spPr>
        <p:txBody>
          <a:bodyPr/>
          <a:lstStyle/>
          <a:p>
            <a:r>
              <a:rPr lang="en-US" altLang="zh-CN" dirty="0"/>
              <a:t> </a:t>
            </a:r>
            <a:endParaRPr lang="zh-CN" altLang="en-US" dirty="0"/>
          </a:p>
        </p:txBody>
      </p:sp>
      <p:sp>
        <p:nvSpPr>
          <p:cNvPr id="11" name="文本占位符 10">
            <a:extLst>
              <a:ext uri="{FF2B5EF4-FFF2-40B4-BE49-F238E27FC236}">
                <a16:creationId xmlns:a16="http://schemas.microsoft.com/office/drawing/2014/main" id="{ADEA9144-F6E1-4C35-A070-8F95E07A6B31}"/>
              </a:ext>
            </a:extLst>
          </p:cNvPr>
          <p:cNvSpPr>
            <a:spLocks noGrp="1"/>
          </p:cNvSpPr>
          <p:nvPr>
            <p:ph type="body" sz="quarter" idx="4294967295"/>
          </p:nvPr>
        </p:nvSpPr>
        <p:spPr>
          <a:xfrm>
            <a:off x="1753098" y="1052512"/>
            <a:ext cx="9213850" cy="4219575"/>
          </a:xfrm>
          <a:prstGeom prst="rect">
            <a:avLst/>
          </a:prstGeom>
        </p:spPr>
        <p:txBody>
          <a:bodyPr/>
          <a:lstStyle/>
          <a:p>
            <a:pPr marL="0" indent="0">
              <a:lnSpc>
                <a:spcPct val="100000"/>
              </a:lnSpc>
              <a:buNone/>
            </a:pPr>
            <a:r>
              <a:rPr lang="zh-CN" altLang="en-US" dirty="0"/>
              <a:t>学生类：</a:t>
            </a:r>
          </a:p>
          <a:p>
            <a:pPr marL="0" indent="0">
              <a:lnSpc>
                <a:spcPct val="100000"/>
              </a:lnSpc>
              <a:buNone/>
            </a:pPr>
            <a:r>
              <a:rPr lang="zh-CN" altLang="en-US" dirty="0"/>
              <a:t>	成员变量：姓名，年龄，成绩</a:t>
            </a:r>
          </a:p>
          <a:p>
            <a:pPr marL="0" indent="0">
              <a:lnSpc>
                <a:spcPct val="100000"/>
              </a:lnSpc>
              <a:buNone/>
            </a:pPr>
            <a:r>
              <a:rPr lang="zh-CN" altLang="en-US" dirty="0"/>
              <a:t>老师类：</a:t>
            </a:r>
          </a:p>
          <a:p>
            <a:pPr marL="0" indent="0">
              <a:lnSpc>
                <a:spcPct val="100000"/>
              </a:lnSpc>
              <a:buNone/>
            </a:pPr>
            <a:r>
              <a:rPr lang="zh-CN" altLang="en-US" dirty="0"/>
              <a:t>	成员变量：姓名，年龄</a:t>
            </a:r>
            <a:endParaRPr lang="en-US" altLang="zh-CN" dirty="0"/>
          </a:p>
          <a:p>
            <a:pPr marL="0" indent="0">
              <a:lnSpc>
                <a:spcPct val="100000"/>
              </a:lnSpc>
              <a:buNone/>
            </a:pPr>
            <a:endParaRPr lang="zh-CN" altLang="en-US" dirty="0"/>
          </a:p>
        </p:txBody>
      </p:sp>
    </p:spTree>
    <p:extLst>
      <p:ext uri="{BB962C8B-B14F-4D97-AF65-F5344CB8AC3E}">
        <p14:creationId xmlns:p14="http://schemas.microsoft.com/office/powerpoint/2010/main" val="2284483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0">
            <a:extLst>
              <a:ext uri="{FF2B5EF4-FFF2-40B4-BE49-F238E27FC236}">
                <a16:creationId xmlns:a16="http://schemas.microsoft.com/office/drawing/2014/main" id="{1D1096D9-F9D8-4C36-AF07-C8FD96ADAAC1}"/>
              </a:ext>
            </a:extLst>
          </p:cNvPr>
          <p:cNvGrpSpPr>
            <a:grpSpLocks/>
          </p:cNvGrpSpPr>
          <p:nvPr/>
        </p:nvGrpSpPr>
        <p:grpSpPr bwMode="auto">
          <a:xfrm>
            <a:off x="8754534" y="1807633"/>
            <a:ext cx="3198284" cy="4790017"/>
            <a:chOff x="6565874" y="1354975"/>
            <a:chExt cx="2398614" cy="3592863"/>
          </a:xfrm>
        </p:grpSpPr>
        <p:sp>
          <p:nvSpPr>
            <p:cNvPr id="17" name="矩形 16">
              <a:extLst>
                <a:ext uri="{FF2B5EF4-FFF2-40B4-BE49-F238E27FC236}">
                  <a16:creationId xmlns:a16="http://schemas.microsoft.com/office/drawing/2014/main" id="{A8B8596A-3AA9-483E-AAC8-F5672CD056E3}"/>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TextBox 2">
              <a:extLst>
                <a:ext uri="{FF2B5EF4-FFF2-40B4-BE49-F238E27FC236}">
                  <a16:creationId xmlns:a16="http://schemas.microsoft.com/office/drawing/2014/main" id="{C479EB74-8EB4-4DD2-84E7-709275396C4D}"/>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19" name="组合 13">
            <a:extLst>
              <a:ext uri="{FF2B5EF4-FFF2-40B4-BE49-F238E27FC236}">
                <a16:creationId xmlns:a16="http://schemas.microsoft.com/office/drawing/2014/main" id="{C1833FBF-53AC-4E44-941C-D60F653CF9E4}"/>
              </a:ext>
            </a:extLst>
          </p:cNvPr>
          <p:cNvGrpSpPr>
            <a:grpSpLocks/>
          </p:cNvGrpSpPr>
          <p:nvPr/>
        </p:nvGrpSpPr>
        <p:grpSpPr bwMode="auto">
          <a:xfrm>
            <a:off x="5941484" y="1797051"/>
            <a:ext cx="2360083" cy="4800601"/>
            <a:chOff x="4441895" y="1347668"/>
            <a:chExt cx="1771200" cy="3600177"/>
          </a:xfrm>
        </p:grpSpPr>
        <p:sp>
          <p:nvSpPr>
            <p:cNvPr id="20" name="矩形 19">
              <a:extLst>
                <a:ext uri="{FF2B5EF4-FFF2-40B4-BE49-F238E27FC236}">
                  <a16:creationId xmlns:a16="http://schemas.microsoft.com/office/drawing/2014/main" id="{C6DE5A3E-6EF0-4250-A24A-8CB374C625C0}"/>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TextBox 2">
              <a:extLst>
                <a:ext uri="{FF2B5EF4-FFF2-40B4-BE49-F238E27FC236}">
                  <a16:creationId xmlns:a16="http://schemas.microsoft.com/office/drawing/2014/main" id="{78051EE2-383F-4A8A-9757-5872C655AD82}"/>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22" name="直接连接符 21">
              <a:extLst>
                <a:ext uri="{FF2B5EF4-FFF2-40B4-BE49-F238E27FC236}">
                  <a16:creationId xmlns:a16="http://schemas.microsoft.com/office/drawing/2014/main" id="{D3DD5EF7-CF27-49C0-B1FA-8817F2E75330}"/>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7AE280D-54F1-4D95-A39A-4EAA641D7791}"/>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06542FC-3F19-45F1-A92B-1A30A868743F}"/>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 name="TextBox 3">
            <a:extLst>
              <a:ext uri="{FF2B5EF4-FFF2-40B4-BE49-F238E27FC236}">
                <a16:creationId xmlns:a16="http://schemas.microsoft.com/office/drawing/2014/main" id="{0C88CAE2-144B-4499-A893-651B1E77BB48}"/>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7" name="矩形 26">
            <a:extLst>
              <a:ext uri="{FF2B5EF4-FFF2-40B4-BE49-F238E27FC236}">
                <a16:creationId xmlns:a16="http://schemas.microsoft.com/office/drawing/2014/main" id="{C432867A-0131-495F-AF80-3B72EC53FD3E}"/>
              </a:ext>
            </a:extLst>
          </p:cNvPr>
          <p:cNvSpPr/>
          <p:nvPr/>
        </p:nvSpPr>
        <p:spPr>
          <a:xfrm>
            <a:off x="425451" y="2404533"/>
            <a:ext cx="5433483"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TextBox 3">
            <a:extLst>
              <a:ext uri="{FF2B5EF4-FFF2-40B4-BE49-F238E27FC236}">
                <a16:creationId xmlns:a16="http://schemas.microsoft.com/office/drawing/2014/main" id="{1C1B58A4-64E5-4AA1-8136-DD8CCC05880B}"/>
              </a:ext>
            </a:extLst>
          </p:cNvPr>
          <p:cNvSpPr txBox="1"/>
          <p:nvPr/>
        </p:nvSpPr>
        <p:spPr>
          <a:xfrm>
            <a:off x="6017684" y="1411818"/>
            <a:ext cx="2209800" cy="30777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endParaRPr lang="en-US" altLang="zh-CN" sz="1400" b="1"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9" name="TextBox 3">
            <a:extLst>
              <a:ext uri="{FF2B5EF4-FFF2-40B4-BE49-F238E27FC236}">
                <a16:creationId xmlns:a16="http://schemas.microsoft.com/office/drawing/2014/main" id="{5E14B1D2-02DF-40A3-8653-01C27DDE240A}"/>
              </a:ext>
            </a:extLst>
          </p:cNvPr>
          <p:cNvSpPr txBox="1"/>
          <p:nvPr/>
        </p:nvSpPr>
        <p:spPr>
          <a:xfrm>
            <a:off x="6017684" y="5683252"/>
            <a:ext cx="2209800" cy="30777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endParaRPr lang="en-US" altLang="zh-CN" sz="1400" b="1"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0" name="TextBox 3">
            <a:extLst>
              <a:ext uri="{FF2B5EF4-FFF2-40B4-BE49-F238E27FC236}">
                <a16:creationId xmlns:a16="http://schemas.microsoft.com/office/drawing/2014/main" id="{0DADB517-CBA2-4F57-B47E-9B1829F1B956}"/>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1" name="矩形 30">
            <a:extLst>
              <a:ext uri="{FF2B5EF4-FFF2-40B4-BE49-F238E27FC236}">
                <a16:creationId xmlns:a16="http://schemas.microsoft.com/office/drawing/2014/main" id="{BA603C07-23F8-44D2-A947-E22F15042AC8}"/>
              </a:ext>
            </a:extLst>
          </p:cNvPr>
          <p:cNvSpPr/>
          <p:nvPr/>
        </p:nvSpPr>
        <p:spPr>
          <a:xfrm>
            <a:off x="425451" y="2607733"/>
            <a:ext cx="5433483"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45CAD0EE-5749-9CC9-EA86-695762CE1E53}"/>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继承中的构造方法执行流程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内存图解</a:t>
            </a:r>
          </a:p>
        </p:txBody>
      </p:sp>
    </p:spTree>
    <p:extLst>
      <p:ext uri="{BB962C8B-B14F-4D97-AF65-F5344CB8AC3E}">
        <p14:creationId xmlns:p14="http://schemas.microsoft.com/office/powerpoint/2010/main" val="322908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par>
                          <p:cTn id="23" fill="hold">
                            <p:stCondLst>
                              <p:cond delay="500"/>
                            </p:stCondLst>
                            <p:childTnLst>
                              <p:par>
                                <p:cTn id="24" presetID="42" presetClass="path" presetSubtype="0" fill="hold" grpId="1" nodeType="afterEffect">
                                  <p:stCondLst>
                                    <p:cond delay="0"/>
                                  </p:stCondLst>
                                  <p:childTnLst>
                                    <p:animMotion origin="layout" path="M -1.38889E-6 4.44444E-6 L -1.38889E-6 0.62284 " pathEditMode="relative" rAng="0" ptsTypes="AA">
                                      <p:cBhvr>
                                        <p:cTn id="25" dur="1000" fill="hold"/>
                                        <p:tgtEl>
                                          <p:spTgt spid="28"/>
                                        </p:tgtEl>
                                        <p:attrNameLst>
                                          <p:attrName>ppt_x</p:attrName>
                                          <p:attrName>ppt_y</p:attrName>
                                        </p:attrNameLst>
                                      </p:cBhvr>
                                      <p:rCtr x="0" y="31142"/>
                                    </p:animMotion>
                                  </p:childTnLst>
                                </p:cTn>
                              </p:par>
                            </p:childTnLst>
                          </p:cTn>
                        </p:par>
                        <p:par>
                          <p:cTn id="26" fill="hold">
                            <p:stCondLst>
                              <p:cond delay="1500"/>
                            </p:stCondLst>
                            <p:childTnLst>
                              <p:par>
                                <p:cTn id="27" presetID="1" presetClass="exit" presetSubtype="0" fill="hold" grpId="2" nodeType="afterEffect">
                                  <p:stCondLst>
                                    <p:cond delay="0"/>
                                  </p:stCondLst>
                                  <p:childTnLst>
                                    <p:set>
                                      <p:cBhvr>
                                        <p:cTn id="28" dur="1" fill="hold">
                                          <p:stCondLst>
                                            <p:cond delay="0"/>
                                          </p:stCondLst>
                                        </p:cTn>
                                        <p:tgtEl>
                                          <p:spTgt spid="2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par>
                          <p:cTn id="35" fill="hold">
                            <p:stCondLst>
                              <p:cond delay="0"/>
                            </p:stCondLst>
                            <p:childTnLst>
                              <p:par>
                                <p:cTn id="36" presetID="1" presetClass="exit" presetSubtype="0" fill="hold" grpId="1" nodeType="afterEffect">
                                  <p:stCondLst>
                                    <p:cond delay="0"/>
                                  </p:stCondLst>
                                  <p:childTnLst>
                                    <p:set>
                                      <p:cBhvr>
                                        <p:cTn id="37" dur="1" fill="hold">
                                          <p:stCondLst>
                                            <p:cond delay="0"/>
                                          </p:stCondLst>
                                        </p:cTn>
                                        <p:tgtEl>
                                          <p:spTgt spid="2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1" fill="hold" grpId="1" nodeType="clickEffect">
                                  <p:stCondLst>
                                    <p:cond delay="0"/>
                                  </p:stCondLst>
                                  <p:childTnLst>
                                    <p:animEffect transition="out" filter="wipe(up)">
                                      <p:cBhvr>
                                        <p:cTn id="41" dur="500"/>
                                        <p:tgtEl>
                                          <p:spTgt spid="29"/>
                                        </p:tgtEl>
                                      </p:cBhvr>
                                    </p:animEffect>
                                    <p:set>
                                      <p:cBhvr>
                                        <p:cTn id="42" dur="1" fill="hold">
                                          <p:stCondLst>
                                            <p:cond delay="499"/>
                                          </p:stCondLst>
                                        </p:cTn>
                                        <p:tgtEl>
                                          <p:spTgt spid="29"/>
                                        </p:tgtEl>
                                        <p:attrNameLst>
                                          <p:attrName>style.visibility</p:attrName>
                                        </p:attrNameLst>
                                      </p:cBhvr>
                                      <p:to>
                                        <p:strVal val="hidden"/>
                                      </p:to>
                                    </p:se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down)">
                                      <p:cBhvr>
                                        <p:cTn id="4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8" grpId="0" animBg="1"/>
      <p:bldP spid="28" grpId="1" animBg="1"/>
      <p:bldP spid="28" grpId="2" animBg="1"/>
      <p:bldP spid="29" grpId="0" animBg="1"/>
      <p:bldP spid="29" grpId="1" animBg="1"/>
      <p:bldP spid="30" grpId="0" animBg="1"/>
      <p:bldP spid="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10">
            <a:extLst>
              <a:ext uri="{FF2B5EF4-FFF2-40B4-BE49-F238E27FC236}">
                <a16:creationId xmlns:a16="http://schemas.microsoft.com/office/drawing/2014/main" id="{25B7319B-35F2-42B7-9ACA-FA71B3EE937F}"/>
              </a:ext>
            </a:extLst>
          </p:cNvPr>
          <p:cNvGrpSpPr>
            <a:grpSpLocks/>
          </p:cNvGrpSpPr>
          <p:nvPr/>
        </p:nvGrpSpPr>
        <p:grpSpPr bwMode="auto">
          <a:xfrm>
            <a:off x="8754534" y="1807633"/>
            <a:ext cx="3198284" cy="4790017"/>
            <a:chOff x="6565874" y="1354975"/>
            <a:chExt cx="2398614" cy="3592863"/>
          </a:xfrm>
        </p:grpSpPr>
        <p:sp>
          <p:nvSpPr>
            <p:cNvPr id="33" name="矩形 32">
              <a:extLst>
                <a:ext uri="{FF2B5EF4-FFF2-40B4-BE49-F238E27FC236}">
                  <a16:creationId xmlns:a16="http://schemas.microsoft.com/office/drawing/2014/main" id="{ED958342-C04E-4604-874F-E3750CC537C7}"/>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4" name="TextBox 2">
              <a:extLst>
                <a:ext uri="{FF2B5EF4-FFF2-40B4-BE49-F238E27FC236}">
                  <a16:creationId xmlns:a16="http://schemas.microsoft.com/office/drawing/2014/main" id="{B95791A3-104B-4745-A320-A86E2DC229A5}"/>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35" name="组合 13">
            <a:extLst>
              <a:ext uri="{FF2B5EF4-FFF2-40B4-BE49-F238E27FC236}">
                <a16:creationId xmlns:a16="http://schemas.microsoft.com/office/drawing/2014/main" id="{ABCCFCC9-B294-41DD-BAE7-D06ECF359F27}"/>
              </a:ext>
            </a:extLst>
          </p:cNvPr>
          <p:cNvGrpSpPr>
            <a:grpSpLocks/>
          </p:cNvGrpSpPr>
          <p:nvPr/>
        </p:nvGrpSpPr>
        <p:grpSpPr bwMode="auto">
          <a:xfrm>
            <a:off x="5941484" y="1797051"/>
            <a:ext cx="2360083" cy="4800601"/>
            <a:chOff x="4441895" y="1347668"/>
            <a:chExt cx="1771200" cy="3600177"/>
          </a:xfrm>
        </p:grpSpPr>
        <p:sp>
          <p:nvSpPr>
            <p:cNvPr id="36" name="矩形 35">
              <a:extLst>
                <a:ext uri="{FF2B5EF4-FFF2-40B4-BE49-F238E27FC236}">
                  <a16:creationId xmlns:a16="http://schemas.microsoft.com/office/drawing/2014/main" id="{3884AD3C-A281-4425-A69A-3B3E89C9A84A}"/>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7" name="TextBox 2">
              <a:extLst>
                <a:ext uri="{FF2B5EF4-FFF2-40B4-BE49-F238E27FC236}">
                  <a16:creationId xmlns:a16="http://schemas.microsoft.com/office/drawing/2014/main" id="{DF0D4E5D-C9CB-45D1-9888-909D1C92C291}"/>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38" name="直接连接符 37">
              <a:extLst>
                <a:ext uri="{FF2B5EF4-FFF2-40B4-BE49-F238E27FC236}">
                  <a16:creationId xmlns:a16="http://schemas.microsoft.com/office/drawing/2014/main" id="{CA096030-A99D-4F2A-8F6C-9D01764AC06C}"/>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5C1601C-3C2B-4BF7-BDD9-06565025AA44}"/>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4B74E041-60A0-46EF-A838-F509AFE184BC}"/>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1" name="TextBox 3">
            <a:extLst>
              <a:ext uri="{FF2B5EF4-FFF2-40B4-BE49-F238E27FC236}">
                <a16:creationId xmlns:a16="http://schemas.microsoft.com/office/drawing/2014/main" id="{55A50AA2-BAD9-4089-9C24-5A040D668B3E}"/>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2" name="矩形 41">
            <a:extLst>
              <a:ext uri="{FF2B5EF4-FFF2-40B4-BE49-F238E27FC236}">
                <a16:creationId xmlns:a16="http://schemas.microsoft.com/office/drawing/2014/main" id="{1108F0A5-D06F-4BDB-9F11-1DF43BE3366D}"/>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3" name="TextBox 3">
            <a:extLst>
              <a:ext uri="{FF2B5EF4-FFF2-40B4-BE49-F238E27FC236}">
                <a16:creationId xmlns:a16="http://schemas.microsoft.com/office/drawing/2014/main" id="{A203E554-F4D1-4CAC-B163-0406A0E1D434}"/>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4" name="TextBox 3">
            <a:extLst>
              <a:ext uri="{FF2B5EF4-FFF2-40B4-BE49-F238E27FC236}">
                <a16:creationId xmlns:a16="http://schemas.microsoft.com/office/drawing/2014/main" id="{070140C2-8EF8-4897-B865-662E89983963}"/>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5" name="TextBox 3">
            <a:extLst>
              <a:ext uri="{FF2B5EF4-FFF2-40B4-BE49-F238E27FC236}">
                <a16:creationId xmlns:a16="http://schemas.microsoft.com/office/drawing/2014/main" id="{999759E3-3C48-40DD-8BDB-A5D3008F9DD5}"/>
              </a:ext>
            </a:extLst>
          </p:cNvPr>
          <p:cNvSpPr txBox="1"/>
          <p:nvPr/>
        </p:nvSpPr>
        <p:spPr>
          <a:xfrm>
            <a:off x="6017684" y="5551903"/>
            <a:ext cx="2209800" cy="523220"/>
          </a:xfrm>
          <a:prstGeom prst="rect">
            <a:avLst/>
          </a:prstGeom>
          <a:solidFill>
            <a:srgbClr val="FFFFE4"/>
          </a:solidFill>
          <a:ln w="12700">
            <a:solidFill>
              <a:schemeClr val="tx1"/>
            </a:solidFill>
          </a:ln>
        </p:spPr>
        <p:txBody>
          <a:bodyPr wrap="square">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6" name="矩形 45">
            <a:extLst>
              <a:ext uri="{FF2B5EF4-FFF2-40B4-BE49-F238E27FC236}">
                <a16:creationId xmlns:a16="http://schemas.microsoft.com/office/drawing/2014/main" id="{F4659E59-FFDA-43F0-B2FE-791401E36C8D}"/>
              </a:ext>
            </a:extLst>
          </p:cNvPr>
          <p:cNvSpPr/>
          <p:nvPr/>
        </p:nvSpPr>
        <p:spPr>
          <a:xfrm>
            <a:off x="425451" y="4235451"/>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7" name="TextBox 4">
            <a:extLst>
              <a:ext uri="{FF2B5EF4-FFF2-40B4-BE49-F238E27FC236}">
                <a16:creationId xmlns:a16="http://schemas.microsoft.com/office/drawing/2014/main" id="{7752A1AA-4145-46CC-8488-4F49AD70EADC}"/>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8" name="TextBox 4">
            <a:extLst>
              <a:ext uri="{FF2B5EF4-FFF2-40B4-BE49-F238E27FC236}">
                <a16:creationId xmlns:a16="http://schemas.microsoft.com/office/drawing/2014/main" id="{1D37A91A-D587-409A-B996-705079215E5A}"/>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9" name="矩形 48">
            <a:extLst>
              <a:ext uri="{FF2B5EF4-FFF2-40B4-BE49-F238E27FC236}">
                <a16:creationId xmlns:a16="http://schemas.microsoft.com/office/drawing/2014/main" id="{46F27751-AF04-4E00-813C-883F7B68C279}"/>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50" name="矩形 49">
            <a:extLst>
              <a:ext uri="{FF2B5EF4-FFF2-40B4-BE49-F238E27FC236}">
                <a16:creationId xmlns:a16="http://schemas.microsoft.com/office/drawing/2014/main" id="{A1C82901-01F9-46B6-9977-9121FE89A725}"/>
              </a:ext>
            </a:extLst>
          </p:cNvPr>
          <p:cNvSpPr/>
          <p:nvPr/>
        </p:nvSpPr>
        <p:spPr>
          <a:xfrm>
            <a:off x="9647767" y="2791885"/>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51" name="TextBox 4">
            <a:extLst>
              <a:ext uri="{FF2B5EF4-FFF2-40B4-BE49-F238E27FC236}">
                <a16:creationId xmlns:a16="http://schemas.microsoft.com/office/drawing/2014/main" id="{E4D8ED87-3497-4325-ADAC-BC7556B70A9A}"/>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2" name="矩形 51">
            <a:extLst>
              <a:ext uri="{FF2B5EF4-FFF2-40B4-BE49-F238E27FC236}">
                <a16:creationId xmlns:a16="http://schemas.microsoft.com/office/drawing/2014/main" id="{2D565029-B9A6-4673-9529-B93C0BF19815}"/>
              </a:ext>
            </a:extLst>
          </p:cNvPr>
          <p:cNvSpPr/>
          <p:nvPr/>
        </p:nvSpPr>
        <p:spPr>
          <a:xfrm>
            <a:off x="10416117" y="2791885"/>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53" name="矩形 52">
            <a:extLst>
              <a:ext uri="{FF2B5EF4-FFF2-40B4-BE49-F238E27FC236}">
                <a16:creationId xmlns:a16="http://schemas.microsoft.com/office/drawing/2014/main" id="{F3B52766-924E-4E7B-BBA7-4A9F000483BE}"/>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4" name="矩形 53">
            <a:extLst>
              <a:ext uri="{FF2B5EF4-FFF2-40B4-BE49-F238E27FC236}">
                <a16:creationId xmlns:a16="http://schemas.microsoft.com/office/drawing/2014/main" id="{4C9EEE23-6C22-4279-90FF-32FB63B0B41C}"/>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5" name="TextBox 3">
            <a:extLst>
              <a:ext uri="{FF2B5EF4-FFF2-40B4-BE49-F238E27FC236}">
                <a16:creationId xmlns:a16="http://schemas.microsoft.com/office/drawing/2014/main" id="{840B84BF-0184-48BB-AB2D-DA15F4D5644B}"/>
              </a:ext>
            </a:extLst>
          </p:cNvPr>
          <p:cNvSpPr txBox="1"/>
          <p:nvPr/>
        </p:nvSpPr>
        <p:spPr>
          <a:xfrm>
            <a:off x="6017684" y="740834"/>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endPar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6" name="TextBox 3">
            <a:extLst>
              <a:ext uri="{FF2B5EF4-FFF2-40B4-BE49-F238E27FC236}">
                <a16:creationId xmlns:a16="http://schemas.microsoft.com/office/drawing/2014/main" id="{98FDFF2E-38BF-4E3C-8D00-017F60F96CDA}"/>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7" name="TextBox 3">
            <a:extLst>
              <a:ext uri="{FF2B5EF4-FFF2-40B4-BE49-F238E27FC236}">
                <a16:creationId xmlns:a16="http://schemas.microsoft.com/office/drawing/2014/main" id="{704C640F-C9D2-49EF-8E7C-4AD5E2E7D176}"/>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58" name="肘形连接符 7">
            <a:extLst>
              <a:ext uri="{FF2B5EF4-FFF2-40B4-BE49-F238E27FC236}">
                <a16:creationId xmlns:a16="http://schemas.microsoft.com/office/drawing/2014/main" id="{139FC9F1-17C4-43E9-AAA3-1F012A4613C1}"/>
              </a:ext>
            </a:extLst>
          </p:cNvPr>
          <p:cNvCxnSpPr/>
          <p:nvPr/>
        </p:nvCxnSpPr>
        <p:spPr>
          <a:xfrm>
            <a:off x="5338233" y="2675468"/>
            <a:ext cx="2305051" cy="1960033"/>
          </a:xfrm>
          <a:prstGeom prst="bent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B0657F99-C791-4D70-9763-7A5A1BC617F5}"/>
              </a:ext>
            </a:extLst>
          </p:cNvPr>
          <p:cNvSpPr/>
          <p:nvPr/>
        </p:nvSpPr>
        <p:spPr>
          <a:xfrm>
            <a:off x="912285" y="4023785"/>
            <a:ext cx="1822449" cy="215900"/>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0" name="椭圆 59">
            <a:extLst>
              <a:ext uri="{FF2B5EF4-FFF2-40B4-BE49-F238E27FC236}">
                <a16:creationId xmlns:a16="http://schemas.microsoft.com/office/drawing/2014/main" id="{D3AA8A4B-F557-4632-B01E-969415514645}"/>
              </a:ext>
            </a:extLst>
          </p:cNvPr>
          <p:cNvSpPr/>
          <p:nvPr/>
        </p:nvSpPr>
        <p:spPr>
          <a:xfrm>
            <a:off x="2548467" y="3731685"/>
            <a:ext cx="1483784" cy="357716"/>
          </a:xfrm>
          <a:prstGeom prst="ellipse">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p>
            <a:pPr algn="ctr">
              <a:defRPr/>
            </a:pPr>
            <a:endPar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1" name="下箭头 34">
            <a:extLst>
              <a:ext uri="{FF2B5EF4-FFF2-40B4-BE49-F238E27FC236}">
                <a16:creationId xmlns:a16="http://schemas.microsoft.com/office/drawing/2014/main" id="{E5AA0598-8E2A-4F59-B418-8FFFB1CFBF2D}"/>
              </a:ext>
            </a:extLst>
          </p:cNvPr>
          <p:cNvSpPr/>
          <p:nvPr/>
        </p:nvSpPr>
        <p:spPr>
          <a:xfrm>
            <a:off x="3119968" y="4089400"/>
            <a:ext cx="385233" cy="778933"/>
          </a:xfrm>
          <a:prstGeom prst="downArrow">
            <a:avLst/>
          </a:prstGeom>
          <a:solidFill>
            <a:srgbClr val="C00000"/>
          </a:solidFill>
          <a:ln>
            <a:noFill/>
          </a:ln>
        </p:spPr>
        <p:style>
          <a:lnRef idx="2">
            <a:schemeClr val="accent2"/>
          </a:lnRef>
          <a:fillRef idx="1">
            <a:schemeClr val="lt1"/>
          </a:fillRef>
          <a:effectRef idx="0">
            <a:schemeClr val="accent2"/>
          </a:effectRef>
          <a:fontRef idx="minor">
            <a:schemeClr val="dk1"/>
          </a:fontRef>
        </p:style>
        <p:txBody>
          <a:bodyPr anchor="ctr"/>
          <a:lstStyle/>
          <a:p>
            <a:pPr algn="ctr">
              <a:defRPr/>
            </a:pPr>
            <a:endPar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2" name="TextBox 3">
            <a:extLst>
              <a:ext uri="{FF2B5EF4-FFF2-40B4-BE49-F238E27FC236}">
                <a16:creationId xmlns:a16="http://schemas.microsoft.com/office/drawing/2014/main" id="{CFCD06BE-7643-4EE2-9203-789B6561D4B4}"/>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3" name="矩形 62">
            <a:extLst>
              <a:ext uri="{FF2B5EF4-FFF2-40B4-BE49-F238E27FC236}">
                <a16:creationId xmlns:a16="http://schemas.microsoft.com/office/drawing/2014/main" id="{BF18BCD8-D3D0-4466-8BE9-9DAC784865DA}"/>
              </a:ext>
            </a:extLst>
          </p:cNvPr>
          <p:cNvSpPr/>
          <p:nvPr/>
        </p:nvSpPr>
        <p:spPr>
          <a:xfrm>
            <a:off x="1610784" y="5171018"/>
            <a:ext cx="1989667" cy="41063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4" name="矩形 63">
            <a:extLst>
              <a:ext uri="{FF2B5EF4-FFF2-40B4-BE49-F238E27FC236}">
                <a16:creationId xmlns:a16="http://schemas.microsoft.com/office/drawing/2014/main" id="{CAB13E90-48F7-49EC-88E5-476C2E656AE7}"/>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65" name="矩形 64">
            <a:extLst>
              <a:ext uri="{FF2B5EF4-FFF2-40B4-BE49-F238E27FC236}">
                <a16:creationId xmlns:a16="http://schemas.microsoft.com/office/drawing/2014/main" id="{7D28A1B7-1D62-4FD9-ADF5-08531AEC8E89}"/>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66" name="矩形 65">
            <a:extLst>
              <a:ext uri="{FF2B5EF4-FFF2-40B4-BE49-F238E27FC236}">
                <a16:creationId xmlns:a16="http://schemas.microsoft.com/office/drawing/2014/main" id="{F8DEDEBE-1F4E-447C-B982-302614EEAF0B}"/>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null</a:t>
            </a:r>
          </a:p>
        </p:txBody>
      </p:sp>
      <p:sp>
        <p:nvSpPr>
          <p:cNvPr id="67" name="矩形 66">
            <a:extLst>
              <a:ext uri="{FF2B5EF4-FFF2-40B4-BE49-F238E27FC236}">
                <a16:creationId xmlns:a16="http://schemas.microsoft.com/office/drawing/2014/main" id="{BDDD8828-2A25-4D83-9247-484A14BF1A7A}"/>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68" name="矩形 67">
            <a:extLst>
              <a:ext uri="{FF2B5EF4-FFF2-40B4-BE49-F238E27FC236}">
                <a16:creationId xmlns:a16="http://schemas.microsoft.com/office/drawing/2014/main" id="{8004A0B1-4FCB-4C7F-A0BD-C4698BBC71FB}"/>
              </a:ext>
            </a:extLst>
          </p:cNvPr>
          <p:cNvSpPr/>
          <p:nvPr/>
        </p:nvSpPr>
        <p:spPr>
          <a:xfrm>
            <a:off x="10416117" y="3843867"/>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2" name="标题 1">
            <a:extLst>
              <a:ext uri="{FF2B5EF4-FFF2-40B4-BE49-F238E27FC236}">
                <a16:creationId xmlns:a16="http://schemas.microsoft.com/office/drawing/2014/main" id="{C215EEF9-DD85-8205-3924-542AB1F4695A}"/>
              </a:ext>
            </a:extLst>
          </p:cNvPr>
          <p:cNvSpPr>
            <a:spLocks noGrp="1"/>
          </p:cNvSpPr>
          <p:nvPr>
            <p:ph type="title"/>
          </p:nvPr>
        </p:nvSpPr>
        <p:spPr/>
        <p:txBody>
          <a:bodyPr/>
          <a:lstStyle/>
          <a:p>
            <a:r>
              <a:rPr kumimoji="1" lang="zh-CN" altLang="en-US" dirty="0">
                <a:solidFill>
                  <a:srgbClr val="AD2B26"/>
                </a:solidFill>
                <a:latin typeface="Consolas" panose="020B0609020204030204" pitchFamily="49" charset="0"/>
              </a:rPr>
              <a:t>继承中的构造方法执行流程 </a:t>
            </a:r>
            <a:r>
              <a:rPr kumimoji="1" lang="en-US" altLang="zh-CN" dirty="0">
                <a:solidFill>
                  <a:srgbClr val="AD2B26"/>
                </a:solidFill>
                <a:latin typeface="Consolas" panose="020B0609020204030204" pitchFamily="49" charset="0"/>
              </a:rPr>
              <a:t>- </a:t>
            </a:r>
            <a:r>
              <a:rPr kumimoji="1" lang="zh-CN" altLang="en-US" dirty="0">
                <a:solidFill>
                  <a:srgbClr val="AD2B26"/>
                </a:solidFill>
                <a:latin typeface="Consolas" panose="020B0609020204030204" pitchFamily="49" charset="0"/>
              </a:rPr>
              <a:t>内存图解</a:t>
            </a:r>
          </a:p>
        </p:txBody>
      </p:sp>
    </p:spTree>
    <p:extLst>
      <p:ext uri="{BB962C8B-B14F-4D97-AF65-F5344CB8AC3E}">
        <p14:creationId xmlns:p14="http://schemas.microsoft.com/office/powerpoint/2010/main" val="83126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59"/>
                                        </p:tgtEl>
                                        <p:attrNameLst>
                                          <p:attrName>style.visibility</p:attrName>
                                        </p:attrNameLst>
                                      </p:cBhvr>
                                      <p:to>
                                        <p:strVal val="visible"/>
                                      </p:to>
                                    </p:set>
                                  </p:childTnLst>
                                </p:cTn>
                              </p:par>
                            </p:childTnLst>
                          </p:cTn>
                        </p:par>
                        <p:par>
                          <p:cTn id="16" fill="hold">
                            <p:stCondLst>
                              <p:cond delay="0"/>
                            </p:stCondLst>
                            <p:childTnLst>
                              <p:par>
                                <p:cTn id="17" presetID="26" presetClass="emph" presetSubtype="0" repeatCount="10000" fill="hold" grpId="0" nodeType="afterEffect">
                                  <p:stCondLst>
                                    <p:cond delay="0"/>
                                  </p:stCondLst>
                                  <p:childTnLst>
                                    <p:animEffect transition="out" filter="fade">
                                      <p:cBhvr>
                                        <p:cTn id="18" dur="200" tmFilter="0, 0; .2, .5; .8, .5; 1, 0"/>
                                        <p:tgtEl>
                                          <p:spTgt spid="59"/>
                                        </p:tgtEl>
                                      </p:cBhvr>
                                    </p:animEffect>
                                    <p:animScale>
                                      <p:cBhvr>
                                        <p:cTn id="19" dur="100" autoRev="1" fill="hold"/>
                                        <p:tgtEl>
                                          <p:spTgt spid="59"/>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500"/>
                                        <p:tgtEl>
                                          <p:spTgt spid="49"/>
                                        </p:tgtEl>
                                      </p:cBhvr>
                                    </p:animEffect>
                                  </p:childTnLst>
                                </p:cTn>
                              </p:par>
                              <p:par>
                                <p:cTn id="25" presetID="1" presetClass="exit" presetSubtype="0" fill="hold" grpId="2" nodeType="withEffect">
                                  <p:stCondLst>
                                    <p:cond delay="0"/>
                                  </p:stCondLst>
                                  <p:childTnLst>
                                    <p:set>
                                      <p:cBhvr>
                                        <p:cTn id="26" dur="1" fill="hold">
                                          <p:stCondLst>
                                            <p:cond delay="0"/>
                                          </p:stCondLst>
                                        </p:cTn>
                                        <p:tgtEl>
                                          <p:spTgt spid="59"/>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fade">
                                      <p:cBhvr>
                                        <p:cTn id="29" dur="500"/>
                                        <p:tgtEl>
                                          <p:spTgt spid="5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wheel(1)">
                                      <p:cBhvr>
                                        <p:cTn id="46" dur="500"/>
                                        <p:tgtEl>
                                          <p:spTgt spid="60"/>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wipe(up)">
                                      <p:cBhvr>
                                        <p:cTn id="50" dur="500"/>
                                        <p:tgtEl>
                                          <p:spTgt spid="61"/>
                                        </p:tgtEl>
                                      </p:cBhvr>
                                    </p:animEffect>
                                  </p:childTnLst>
                                </p:cTn>
                              </p:par>
                            </p:childTnLst>
                          </p:cTn>
                        </p:par>
                        <p:par>
                          <p:cTn id="51" fill="hold">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62"/>
                                        </p:tgtEl>
                                        <p:attrNameLst>
                                          <p:attrName>style.visibility</p:attrName>
                                        </p:attrNameLst>
                                      </p:cBhvr>
                                      <p:to>
                                        <p:strVal val="visible"/>
                                      </p:to>
                                    </p:set>
                                    <p:animEffect transition="in" filter="wipe(up)">
                                      <p:cBhvr>
                                        <p:cTn id="54" dur="500"/>
                                        <p:tgtEl>
                                          <p:spTgt spid="62"/>
                                        </p:tgtEl>
                                      </p:cBhvr>
                                    </p:animEffect>
                                  </p:childTnLst>
                                </p:cTn>
                              </p:par>
                            </p:childTnLst>
                          </p:cTn>
                        </p:par>
                        <p:par>
                          <p:cTn id="55" fill="hold">
                            <p:stCondLst>
                              <p:cond delay="1500"/>
                            </p:stCondLst>
                            <p:childTnLst>
                              <p:par>
                                <p:cTn id="56" presetID="10" presetClass="exit" presetSubtype="0" fill="hold" grpId="1" nodeType="afterEffect">
                                  <p:stCondLst>
                                    <p:cond delay="0"/>
                                  </p:stCondLst>
                                  <p:childTnLst>
                                    <p:animEffect transition="out" filter="fade">
                                      <p:cBhvr>
                                        <p:cTn id="57" dur="500"/>
                                        <p:tgtEl>
                                          <p:spTgt spid="60"/>
                                        </p:tgtEl>
                                      </p:cBhvr>
                                    </p:animEffect>
                                    <p:set>
                                      <p:cBhvr>
                                        <p:cTn id="58" dur="1" fill="hold">
                                          <p:stCondLst>
                                            <p:cond delay="499"/>
                                          </p:stCondLst>
                                        </p:cTn>
                                        <p:tgtEl>
                                          <p:spTgt spid="60"/>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61"/>
                                        </p:tgtEl>
                                      </p:cBhvr>
                                    </p:animEffect>
                                    <p:set>
                                      <p:cBhvr>
                                        <p:cTn id="61" dur="1" fill="hold">
                                          <p:stCondLst>
                                            <p:cond delay="499"/>
                                          </p:stCondLst>
                                        </p:cTn>
                                        <p:tgtEl>
                                          <p:spTgt spid="61"/>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1" nodeType="clickEffect">
                                  <p:stCondLst>
                                    <p:cond delay="0"/>
                                  </p:stCondLst>
                                  <p:childTnLst>
                                    <p:set>
                                      <p:cBhvr>
                                        <p:cTn id="65" dur="1" fill="hold">
                                          <p:stCondLst>
                                            <p:cond delay="0"/>
                                          </p:stCondLst>
                                        </p:cTn>
                                        <p:tgtEl>
                                          <p:spTgt spid="63"/>
                                        </p:tgtEl>
                                        <p:attrNameLst>
                                          <p:attrName>style.visibility</p:attrName>
                                        </p:attrNameLst>
                                      </p:cBhvr>
                                      <p:to>
                                        <p:strVal val="visible"/>
                                      </p:to>
                                    </p:set>
                                  </p:childTnLst>
                                </p:cTn>
                              </p:par>
                            </p:childTnLst>
                          </p:cTn>
                        </p:par>
                        <p:par>
                          <p:cTn id="66" fill="hold">
                            <p:stCondLst>
                              <p:cond delay="0"/>
                            </p:stCondLst>
                            <p:childTnLst>
                              <p:par>
                                <p:cTn id="67" presetID="26" presetClass="emph" presetSubtype="0" repeatCount="10000" fill="hold" grpId="0" nodeType="afterEffect">
                                  <p:stCondLst>
                                    <p:cond delay="0"/>
                                  </p:stCondLst>
                                  <p:childTnLst>
                                    <p:animEffect transition="out" filter="fade">
                                      <p:cBhvr>
                                        <p:cTn id="68" dur="200" tmFilter="0, 0; .2, .5; .8, .5; 1, 0"/>
                                        <p:tgtEl>
                                          <p:spTgt spid="63"/>
                                        </p:tgtEl>
                                      </p:cBhvr>
                                    </p:animEffect>
                                    <p:animScale>
                                      <p:cBhvr>
                                        <p:cTn id="69" dur="100" autoRev="1" fill="hold"/>
                                        <p:tgtEl>
                                          <p:spTgt spid="63"/>
                                        </p:tgtEl>
                                      </p:cBhvr>
                                      <p:by x="105000" y="105000"/>
                                    </p:animScale>
                                  </p:childTnLst>
                                </p:cTn>
                              </p:par>
                            </p:childTnLst>
                          </p:cTn>
                        </p:par>
                        <p:par>
                          <p:cTn id="70" fill="hold">
                            <p:stCondLst>
                              <p:cond delay="2000"/>
                            </p:stCondLst>
                            <p:childTnLst>
                              <p:par>
                                <p:cTn id="71" presetID="1" presetClass="exit" presetSubtype="0" fill="hold" grpId="2" nodeType="afterEffect">
                                  <p:stCondLst>
                                    <p:cond delay="0"/>
                                  </p:stCondLst>
                                  <p:childTnLst>
                                    <p:set>
                                      <p:cBhvr>
                                        <p:cTn id="72" dur="1" fill="hold">
                                          <p:stCondLst>
                                            <p:cond delay="0"/>
                                          </p:stCondLst>
                                        </p:cTn>
                                        <p:tgtEl>
                                          <p:spTgt spid="6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64"/>
                                        </p:tgtEl>
                                        <p:attrNameLst>
                                          <p:attrName>style.visibility</p:attrName>
                                        </p:attrNameLst>
                                      </p:cBhvr>
                                      <p:to>
                                        <p:strVal val="visible"/>
                                      </p:to>
                                    </p:set>
                                    <p:animEffect transition="in" filter="wipe(up)">
                                      <p:cBhvr>
                                        <p:cTn id="77" dur="500"/>
                                        <p:tgtEl>
                                          <p:spTgt spid="64"/>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65"/>
                                        </p:tgtEl>
                                        <p:attrNameLst>
                                          <p:attrName>style.visibility</p:attrName>
                                        </p:attrNameLst>
                                      </p:cBhvr>
                                      <p:to>
                                        <p:strVal val="visible"/>
                                      </p:to>
                                    </p:set>
                                    <p:animEffect transition="in" filter="wipe(up)">
                                      <p:cBhvr>
                                        <p:cTn id="81" dur="500"/>
                                        <p:tgtEl>
                                          <p:spTgt spid="65"/>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wipe(up)">
                                      <p:cBhvr>
                                        <p:cTn id="84" dur="500"/>
                                        <p:tgtEl>
                                          <p:spTgt spid="66"/>
                                        </p:tgtEl>
                                      </p:cBhvr>
                                    </p:animEffect>
                                  </p:childTnLst>
                                </p:cTn>
                              </p:par>
                            </p:childTnLst>
                          </p:cTn>
                        </p:par>
                        <p:par>
                          <p:cTn id="85" fill="hold">
                            <p:stCondLst>
                              <p:cond delay="1000"/>
                            </p:stCondLst>
                            <p:childTnLst>
                              <p:par>
                                <p:cTn id="86" presetID="22" presetClass="entr" presetSubtype="1" fill="hold" grpId="0" nodeType="after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ipe(up)">
                                      <p:cBhvr>
                                        <p:cTn id="88" dur="500"/>
                                        <p:tgtEl>
                                          <p:spTgt spid="67"/>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up)">
                                      <p:cBhvr>
                                        <p:cTn id="91" dur="500"/>
                                        <p:tgtEl>
                                          <p:spTgt spid="6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wipe(up)">
                                      <p:cBhvr>
                                        <p:cTn id="96" dur="500"/>
                                        <p:tgtEl>
                                          <p:spTgt spid="45"/>
                                        </p:tgtEl>
                                      </p:cBhvr>
                                    </p:animEffect>
                                  </p:childTnLst>
                                </p:cTn>
                              </p:par>
                              <p:par>
                                <p:cTn id="97" presetID="10" presetClass="exit" presetSubtype="0" fill="hold" grpId="1" nodeType="withEffect">
                                  <p:stCondLst>
                                    <p:cond delay="0"/>
                                  </p:stCondLst>
                                  <p:childTnLst>
                                    <p:animEffect transition="out" filter="fade">
                                      <p:cBhvr>
                                        <p:cTn id="98" dur="500"/>
                                        <p:tgtEl>
                                          <p:spTgt spid="62"/>
                                        </p:tgtEl>
                                      </p:cBhvr>
                                    </p:animEffect>
                                    <p:set>
                                      <p:cBhvr>
                                        <p:cTn id="99" dur="1" fill="hold">
                                          <p:stCondLst>
                                            <p:cond delay="499"/>
                                          </p:stCondLst>
                                        </p:cTn>
                                        <p:tgtEl>
                                          <p:spTgt spid="62"/>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6"/>
                                        </p:tgtEl>
                                        <p:attrNameLst>
                                          <p:attrName>style.visibility</p:attrName>
                                        </p:attrNameLst>
                                      </p:cBhvr>
                                      <p:to>
                                        <p:strVal val="visible"/>
                                      </p:to>
                                    </p:se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500"/>
                                        <p:tgtEl>
                                          <p:spTgt spid="55"/>
                                        </p:tgtEl>
                                      </p:cBhvr>
                                    </p:animEffect>
                                  </p:childTnLst>
                                </p:cTn>
                              </p:par>
                            </p:childTnLst>
                          </p:cTn>
                        </p:par>
                        <p:par>
                          <p:cTn id="111" fill="hold">
                            <p:stCondLst>
                              <p:cond delay="500"/>
                            </p:stCondLst>
                            <p:childTnLst>
                              <p:par>
                                <p:cTn id="112" presetID="42" presetClass="path" presetSubtype="0" fill="hold" grpId="1" nodeType="afterEffect">
                                  <p:stCondLst>
                                    <p:cond delay="0"/>
                                  </p:stCondLst>
                                  <p:childTnLst>
                                    <p:animMotion origin="layout" path="M -4.79167E-6 2.96296E-6 L -0.00091 0.49791 " pathEditMode="relative" rAng="0" ptsTypes="AA">
                                      <p:cBhvr>
                                        <p:cTn id="113" dur="1000" fill="hold"/>
                                        <p:tgtEl>
                                          <p:spTgt spid="55"/>
                                        </p:tgtEl>
                                        <p:attrNameLst>
                                          <p:attrName>ppt_x</p:attrName>
                                          <p:attrName>ppt_y</p:attrName>
                                        </p:attrNameLst>
                                      </p:cBhvr>
                                      <p:rCtr x="-52" y="24884"/>
                                    </p:animMotion>
                                  </p:childTnLst>
                                </p:cTn>
                              </p:par>
                            </p:childTnLst>
                          </p:cTn>
                        </p:par>
                        <p:par>
                          <p:cTn id="114" fill="hold">
                            <p:stCondLst>
                              <p:cond delay="1500"/>
                            </p:stCondLst>
                            <p:childTnLst>
                              <p:par>
                                <p:cTn id="115" presetID="1" presetClass="exit" presetSubtype="0" fill="hold" grpId="2" nodeType="afterEffect">
                                  <p:stCondLst>
                                    <p:cond delay="0"/>
                                  </p:stCondLst>
                                  <p:childTnLst>
                                    <p:set>
                                      <p:cBhvr>
                                        <p:cTn id="116" dur="1" fill="hold">
                                          <p:stCondLst>
                                            <p:cond delay="0"/>
                                          </p:stCondLst>
                                        </p:cTn>
                                        <p:tgtEl>
                                          <p:spTgt spid="55"/>
                                        </p:tgtEl>
                                        <p:attrNameLst>
                                          <p:attrName>style.visibility</p:attrName>
                                        </p:attrNameLst>
                                      </p:cBhvr>
                                      <p:to>
                                        <p:strVal val="hidden"/>
                                      </p:to>
                                    </p:set>
                                  </p:childTnLst>
                                </p:cTn>
                              </p:par>
                            </p:childTnLst>
                          </p:cTn>
                        </p:par>
                        <p:par>
                          <p:cTn id="117" fill="hold">
                            <p:stCondLst>
                              <p:cond delay="1500"/>
                            </p:stCondLst>
                            <p:childTnLst>
                              <p:par>
                                <p:cTn id="118" presetID="1" presetClass="entr" presetSubtype="0" fill="hold" grpId="0" nodeType="afterEffect">
                                  <p:stCondLst>
                                    <p:cond delay="0"/>
                                  </p:stCondLst>
                                  <p:childTnLst>
                                    <p:set>
                                      <p:cBhvr>
                                        <p:cTn id="119" dur="1" fill="hold">
                                          <p:stCondLst>
                                            <p:cond delay="0"/>
                                          </p:stCondLst>
                                        </p:cTn>
                                        <p:tgtEl>
                                          <p:spTgt spid="56"/>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58"/>
                                        </p:tgtEl>
                                        <p:attrNameLst>
                                          <p:attrName>style.visibility</p:attrName>
                                        </p:attrNameLst>
                                      </p:cBhvr>
                                      <p:to>
                                        <p:strVal val="visible"/>
                                      </p:to>
                                    </p:set>
                                    <p:animEffect transition="in" filter="wipe(left)">
                                      <p:cBhvr>
                                        <p:cTn id="124" dur="500"/>
                                        <p:tgtEl>
                                          <p:spTgt spid="58"/>
                                        </p:tgtEl>
                                      </p:cBhvr>
                                    </p:animEffect>
                                  </p:childTnLst>
                                </p:cTn>
                              </p:par>
                            </p:childTnLst>
                          </p:cTn>
                        </p:par>
                        <p:par>
                          <p:cTn id="125" fill="hold">
                            <p:stCondLst>
                              <p:cond delay="500"/>
                            </p:stCondLst>
                            <p:childTnLst>
                              <p:par>
                                <p:cTn id="126" presetID="10" presetClass="entr" presetSubtype="0" fill="hold" grpId="0" nodeType="afterEffect">
                                  <p:stCondLst>
                                    <p:cond delay="0"/>
                                  </p:stCondLst>
                                  <p:childTnLst>
                                    <p:set>
                                      <p:cBhvr>
                                        <p:cTn id="127" dur="1" fill="hold">
                                          <p:stCondLst>
                                            <p:cond delay="0"/>
                                          </p:stCondLst>
                                        </p:cTn>
                                        <p:tgtEl>
                                          <p:spTgt spid="57"/>
                                        </p:tgtEl>
                                        <p:attrNameLst>
                                          <p:attrName>style.visibility</p:attrName>
                                        </p:attrNameLst>
                                      </p:cBhvr>
                                      <p:to>
                                        <p:strVal val="visible"/>
                                      </p:to>
                                    </p:set>
                                    <p:animEffect transition="in" filter="fade">
                                      <p:cBhvr>
                                        <p:cTn id="128" dur="500"/>
                                        <p:tgtEl>
                                          <p:spTgt spid="57"/>
                                        </p:tgtEl>
                                      </p:cBhvr>
                                    </p:animEffect>
                                  </p:childTnLst>
                                </p:cTn>
                              </p:par>
                            </p:childTnLst>
                          </p:cTn>
                        </p:par>
                        <p:par>
                          <p:cTn id="129" fill="hold">
                            <p:stCondLst>
                              <p:cond delay="1000"/>
                            </p:stCondLst>
                            <p:childTnLst>
                              <p:par>
                                <p:cTn id="130" presetID="10" presetClass="exit" presetSubtype="0" fill="hold" nodeType="afterEffect">
                                  <p:stCondLst>
                                    <p:cond delay="0"/>
                                  </p:stCondLst>
                                  <p:childTnLst>
                                    <p:animEffect transition="out" filter="fade">
                                      <p:cBhvr>
                                        <p:cTn id="131" dur="500"/>
                                        <p:tgtEl>
                                          <p:spTgt spid="58"/>
                                        </p:tgtEl>
                                      </p:cBhvr>
                                    </p:animEffect>
                                    <p:set>
                                      <p:cBhvr>
                                        <p:cTn id="132" dur="1" fill="hold">
                                          <p:stCondLst>
                                            <p:cond delay="499"/>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p:bldP spid="48" grpId="0"/>
      <p:bldP spid="49" grpId="0" animBg="1"/>
      <p:bldP spid="50" grpId="0" animBg="1"/>
      <p:bldP spid="51" grpId="0"/>
      <p:bldP spid="52" grpId="0" animBg="1"/>
      <p:bldP spid="53" grpId="0" animBg="1"/>
      <p:bldP spid="54" grpId="0" animBg="1"/>
      <p:bldP spid="55" grpId="0" animBg="1"/>
      <p:bldP spid="55" grpId="1" animBg="1"/>
      <p:bldP spid="55" grpId="2" animBg="1"/>
      <p:bldP spid="56" grpId="0" animBg="1"/>
      <p:bldP spid="57" grpId="0" animBg="1"/>
      <p:bldP spid="59" grpId="0" animBg="1"/>
      <p:bldP spid="59" grpId="1" animBg="1"/>
      <p:bldP spid="59" grpId="2" animBg="1"/>
      <p:bldP spid="60" grpId="0" animBg="1"/>
      <p:bldP spid="60" grpId="1" animBg="1"/>
      <p:bldP spid="61" grpId="0" animBg="1"/>
      <p:bldP spid="61" grpId="1" animBg="1"/>
      <p:bldP spid="62" grpId="0" animBg="1"/>
      <p:bldP spid="62" grpId="1" animBg="1"/>
      <p:bldP spid="63" grpId="0" animBg="1"/>
      <p:bldP spid="63" grpId="1" animBg="1"/>
      <p:bldP spid="63" grpId="2" animBg="1"/>
      <p:bldP spid="64" grpId="0" animBg="1"/>
      <p:bldP spid="65" grpId="0" animBg="1"/>
      <p:bldP spid="66" grpId="0" animBg="1"/>
      <p:bldP spid="67" grpId="0" animBg="1"/>
      <p:bldP spid="6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E58076E6-4201-44B7-A518-ED6EEC353295}"/>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3E138B54-DA37-45A7-A544-C9B48BDD4FC6}"/>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AA8C793B-D2D8-488F-BB04-5DCFC4DEF0A0}"/>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8A80867A-1F21-475F-A6A8-2F99443A705C}"/>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A54A94AD-056A-44D8-BE97-A4E90843E097}"/>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CB8A2713-AD3C-4C4C-9AF0-5829F95F79F3}"/>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6DA95767-20D0-4644-95A4-35B54A5BA361}"/>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7C46C096-1A2B-4945-B6E3-CC736C65B70C}"/>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BB927C8-5B89-40E2-AEFE-109EE61AF4BB}"/>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BC1276BF-DB73-4619-AB50-664C5263EE51}"/>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5900AED4-5674-4A81-A9E2-32B5BD85E949}"/>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TextBox 3">
            <a:extLst>
              <a:ext uri="{FF2B5EF4-FFF2-40B4-BE49-F238E27FC236}">
                <a16:creationId xmlns:a16="http://schemas.microsoft.com/office/drawing/2014/main" id="{11661DFF-40EB-4ED1-A587-0DD038C97A30}"/>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E786DC47-0CC7-4D26-9D8A-5F4737B5C17A}"/>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F051BB2A-E1CF-4031-83AB-5B25F2666491}"/>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CC63A08C-1F42-41B6-8945-7A1ECD24F6B9}"/>
              </a:ext>
            </a:extLst>
          </p:cNvPr>
          <p:cNvSpPr/>
          <p:nvPr/>
        </p:nvSpPr>
        <p:spPr>
          <a:xfrm>
            <a:off x="425451" y="4455585"/>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4">
            <a:extLst>
              <a:ext uri="{FF2B5EF4-FFF2-40B4-BE49-F238E27FC236}">
                <a16:creationId xmlns:a16="http://schemas.microsoft.com/office/drawing/2014/main" id="{659FE322-3F49-4CB9-8DD8-7F514FB09AA0}"/>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4">
            <a:extLst>
              <a:ext uri="{FF2B5EF4-FFF2-40B4-BE49-F238E27FC236}">
                <a16:creationId xmlns:a16="http://schemas.microsoft.com/office/drawing/2014/main" id="{DBA6A6EA-AEFF-4A71-A4BD-0CB115E24FAE}"/>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矩形 20">
            <a:extLst>
              <a:ext uri="{FF2B5EF4-FFF2-40B4-BE49-F238E27FC236}">
                <a16:creationId xmlns:a16="http://schemas.microsoft.com/office/drawing/2014/main" id="{09D75577-6E5B-4C88-A0E8-B8F6E1A446E5}"/>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2" name="TextBox 4">
            <a:extLst>
              <a:ext uri="{FF2B5EF4-FFF2-40B4-BE49-F238E27FC236}">
                <a16:creationId xmlns:a16="http://schemas.microsoft.com/office/drawing/2014/main" id="{144553C1-AFB7-4BE7-BC97-B75FE3A794EF}"/>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nvGrpSpPr>
          <p:cNvPr id="23" name="组合 3">
            <a:extLst>
              <a:ext uri="{FF2B5EF4-FFF2-40B4-BE49-F238E27FC236}">
                <a16:creationId xmlns:a16="http://schemas.microsoft.com/office/drawing/2014/main" id="{F4B6BCEF-EB1C-4DE6-A346-90F82ED1C975}"/>
              </a:ext>
            </a:extLst>
          </p:cNvPr>
          <p:cNvGrpSpPr>
            <a:grpSpLocks/>
          </p:cNvGrpSpPr>
          <p:nvPr/>
        </p:nvGrpSpPr>
        <p:grpSpPr bwMode="auto">
          <a:xfrm>
            <a:off x="9647768" y="2791885"/>
            <a:ext cx="1919817" cy="349249"/>
            <a:chOff x="7235825" y="2093913"/>
            <a:chExt cx="1439863" cy="261937"/>
          </a:xfrm>
        </p:grpSpPr>
        <p:sp>
          <p:nvSpPr>
            <p:cNvPr id="25" name="矩形 24">
              <a:extLst>
                <a:ext uri="{FF2B5EF4-FFF2-40B4-BE49-F238E27FC236}">
                  <a16:creationId xmlns:a16="http://schemas.microsoft.com/office/drawing/2014/main" id="{475C1805-0888-4EC7-BEB4-D24DF7FAA77B}"/>
                </a:ext>
              </a:extLst>
            </p:cNvPr>
            <p:cNvSpPr/>
            <p:nvPr/>
          </p:nvSpPr>
          <p:spPr>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26" name="矩形 25">
              <a:extLst>
                <a:ext uri="{FF2B5EF4-FFF2-40B4-BE49-F238E27FC236}">
                  <a16:creationId xmlns:a16="http://schemas.microsoft.com/office/drawing/2014/main" id="{9114CA51-559C-460B-9144-B9DFCC26E0F1}"/>
                </a:ext>
              </a:extLst>
            </p:cNvPr>
            <p:cNvSpPr/>
            <p:nvPr/>
          </p:nvSpPr>
          <p:spPr>
            <a:xfrm>
              <a:off x="7812088" y="209391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grpSp>
      <p:sp>
        <p:nvSpPr>
          <p:cNvPr id="27" name="矩形 26">
            <a:extLst>
              <a:ext uri="{FF2B5EF4-FFF2-40B4-BE49-F238E27FC236}">
                <a16:creationId xmlns:a16="http://schemas.microsoft.com/office/drawing/2014/main" id="{382E6671-6CC4-406F-BD5D-866F499CF133}"/>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矩形 27">
            <a:extLst>
              <a:ext uri="{FF2B5EF4-FFF2-40B4-BE49-F238E27FC236}">
                <a16:creationId xmlns:a16="http://schemas.microsoft.com/office/drawing/2014/main" id="{EBD04368-1321-4028-B67D-20BE046409C7}"/>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9" name="TextBox 3">
            <a:extLst>
              <a:ext uri="{FF2B5EF4-FFF2-40B4-BE49-F238E27FC236}">
                <a16:creationId xmlns:a16="http://schemas.microsoft.com/office/drawing/2014/main" id="{829763DB-E6FF-46D1-9CC4-180553EA7257}"/>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0" name="矩形 29">
            <a:extLst>
              <a:ext uri="{FF2B5EF4-FFF2-40B4-BE49-F238E27FC236}">
                <a16:creationId xmlns:a16="http://schemas.microsoft.com/office/drawing/2014/main" id="{EA0CD8CC-A513-4D24-B86A-817AC96E4E28}"/>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31" name="矩形 30">
            <a:extLst>
              <a:ext uri="{FF2B5EF4-FFF2-40B4-BE49-F238E27FC236}">
                <a16:creationId xmlns:a16="http://schemas.microsoft.com/office/drawing/2014/main" id="{A2F73626-4556-42BF-92EC-FE47B7D8CD32}"/>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32" name="矩形 31">
            <a:extLst>
              <a:ext uri="{FF2B5EF4-FFF2-40B4-BE49-F238E27FC236}">
                <a16:creationId xmlns:a16="http://schemas.microsoft.com/office/drawing/2014/main" id="{A24FB591-0C0D-43F6-8075-E3DBC16B0CFF}"/>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null</a:t>
            </a:r>
          </a:p>
        </p:txBody>
      </p:sp>
      <p:sp>
        <p:nvSpPr>
          <p:cNvPr id="33" name="矩形 32">
            <a:extLst>
              <a:ext uri="{FF2B5EF4-FFF2-40B4-BE49-F238E27FC236}">
                <a16:creationId xmlns:a16="http://schemas.microsoft.com/office/drawing/2014/main" id="{17B3F159-1106-42DC-8C29-02FA19BB515C}"/>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34" name="矩形 33">
            <a:extLst>
              <a:ext uri="{FF2B5EF4-FFF2-40B4-BE49-F238E27FC236}">
                <a16:creationId xmlns:a16="http://schemas.microsoft.com/office/drawing/2014/main" id="{4F5BCA91-B3D6-424D-A91D-9A9903C0F9D2}"/>
              </a:ext>
            </a:extLst>
          </p:cNvPr>
          <p:cNvSpPr/>
          <p:nvPr/>
        </p:nvSpPr>
        <p:spPr>
          <a:xfrm>
            <a:off x="10416117" y="3843867"/>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35" name="矩形 34">
            <a:extLst>
              <a:ext uri="{FF2B5EF4-FFF2-40B4-BE49-F238E27FC236}">
                <a16:creationId xmlns:a16="http://schemas.microsoft.com/office/drawing/2014/main" id="{13E7AA93-479B-4003-8C9C-70136ACFAD4C}"/>
              </a:ext>
            </a:extLst>
          </p:cNvPr>
          <p:cNvSpPr/>
          <p:nvPr/>
        </p:nvSpPr>
        <p:spPr>
          <a:xfrm>
            <a:off x="1134534" y="5594351"/>
            <a:ext cx="427143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6" name="TextBox 3">
            <a:extLst>
              <a:ext uri="{FF2B5EF4-FFF2-40B4-BE49-F238E27FC236}">
                <a16:creationId xmlns:a16="http://schemas.microsoft.com/office/drawing/2014/main" id="{586889C2-4778-4045-BB13-7FB57CF398DE}"/>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11250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E0E2072A-ED30-4670-8E15-DAD6963BEA30}"/>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06334E79-D0CF-426D-BD83-4C267C078C63}"/>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E59E854F-BFB7-4159-BCDB-6380CFA20F7F}"/>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4762D906-B332-49FC-B318-B203754CC62C}"/>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FEB23F34-8F0A-4CBC-B039-C9C236B8D603}"/>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B8C66095-6A4B-419A-AA21-A1B49A7AEE6D}"/>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7E902BF5-E15B-4505-B1E9-6B003D1874FB}"/>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44D46B60-C6C7-4E26-A611-5B949E0047C9}"/>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068BC39-8CD7-4DF4-9315-E248C716A307}"/>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F5C68D15-B4EE-48C2-8009-B579C4579CD1}"/>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0EED9A4D-81E0-4851-9EED-8D1BCD66F001}"/>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TextBox 3">
            <a:extLst>
              <a:ext uri="{FF2B5EF4-FFF2-40B4-BE49-F238E27FC236}">
                <a16:creationId xmlns:a16="http://schemas.microsoft.com/office/drawing/2014/main" id="{6BC4AFCC-2C12-4DBB-97D7-0062FDA632C9}"/>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98721CEF-2250-4C7C-B2DE-8640A88FD0D7}"/>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23169822-B857-41B4-ABC0-BBBC3DCF045F}"/>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r>
              <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EA4F5F56-B26E-433B-A9BF-4CE4264EA8B2}"/>
              </a:ext>
            </a:extLst>
          </p:cNvPr>
          <p:cNvSpPr/>
          <p:nvPr/>
        </p:nvSpPr>
        <p:spPr>
          <a:xfrm>
            <a:off x="425451" y="4455585"/>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4">
            <a:extLst>
              <a:ext uri="{FF2B5EF4-FFF2-40B4-BE49-F238E27FC236}">
                <a16:creationId xmlns:a16="http://schemas.microsoft.com/office/drawing/2014/main" id="{E7C4FF9F-6DCB-410A-B13F-F6B9CAE0CA58}"/>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4">
            <a:extLst>
              <a:ext uri="{FF2B5EF4-FFF2-40B4-BE49-F238E27FC236}">
                <a16:creationId xmlns:a16="http://schemas.microsoft.com/office/drawing/2014/main" id="{117C4E82-0A76-44B8-86B1-8289CFF5B925}"/>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矩形 20">
            <a:extLst>
              <a:ext uri="{FF2B5EF4-FFF2-40B4-BE49-F238E27FC236}">
                <a16:creationId xmlns:a16="http://schemas.microsoft.com/office/drawing/2014/main" id="{C1113A85-FAB7-44EC-91D5-969F1BF4AA73}"/>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2" name="TextBox 4">
            <a:extLst>
              <a:ext uri="{FF2B5EF4-FFF2-40B4-BE49-F238E27FC236}">
                <a16:creationId xmlns:a16="http://schemas.microsoft.com/office/drawing/2014/main" id="{00DE8C07-04F7-41E2-9DE9-EC79961DC0BF}"/>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3" name="矩形 22">
            <a:extLst>
              <a:ext uri="{FF2B5EF4-FFF2-40B4-BE49-F238E27FC236}">
                <a16:creationId xmlns:a16="http://schemas.microsoft.com/office/drawing/2014/main" id="{873FEB8E-3650-4C8A-8D6C-1A240F39E494}"/>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5" name="矩形 24">
            <a:extLst>
              <a:ext uri="{FF2B5EF4-FFF2-40B4-BE49-F238E27FC236}">
                <a16:creationId xmlns:a16="http://schemas.microsoft.com/office/drawing/2014/main" id="{D7B92720-5666-47A2-864B-883C7DFA60B8}"/>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TextBox 3">
            <a:extLst>
              <a:ext uri="{FF2B5EF4-FFF2-40B4-BE49-F238E27FC236}">
                <a16:creationId xmlns:a16="http://schemas.microsoft.com/office/drawing/2014/main" id="{EE0B96E2-3D55-4CA8-8BED-F247B0C40F1E}"/>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7" name="矩形 26">
            <a:extLst>
              <a:ext uri="{FF2B5EF4-FFF2-40B4-BE49-F238E27FC236}">
                <a16:creationId xmlns:a16="http://schemas.microsoft.com/office/drawing/2014/main" id="{570DB9C0-5885-4699-9F47-93AB39A713E7}"/>
              </a:ext>
            </a:extLst>
          </p:cNvPr>
          <p:cNvSpPr/>
          <p:nvPr/>
        </p:nvSpPr>
        <p:spPr>
          <a:xfrm>
            <a:off x="1134534" y="5594351"/>
            <a:ext cx="427143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TextBox 3">
            <a:extLst>
              <a:ext uri="{FF2B5EF4-FFF2-40B4-BE49-F238E27FC236}">
                <a16:creationId xmlns:a16="http://schemas.microsoft.com/office/drawing/2014/main" id="{48B72457-9ADB-4F09-9D51-7D77018A4190}"/>
              </a:ext>
            </a:extLst>
          </p:cNvPr>
          <p:cNvSpPr txBox="1"/>
          <p:nvPr/>
        </p:nvSpPr>
        <p:spPr>
          <a:xfrm>
            <a:off x="6017684" y="9673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endPar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p>
        </p:txBody>
      </p:sp>
      <p:sp>
        <p:nvSpPr>
          <p:cNvPr id="29" name="TextBox 3">
            <a:extLst>
              <a:ext uri="{FF2B5EF4-FFF2-40B4-BE49-F238E27FC236}">
                <a16:creationId xmlns:a16="http://schemas.microsoft.com/office/drawing/2014/main" id="{5B2D7EF3-7633-4FB4-AFF3-9E46AFBC72AA}"/>
              </a:ext>
            </a:extLst>
          </p:cNvPr>
          <p:cNvSpPr txBox="1"/>
          <p:nvPr/>
        </p:nvSpPr>
        <p:spPr>
          <a:xfrm>
            <a:off x="6017684" y="30501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p>
        </p:txBody>
      </p:sp>
      <p:cxnSp>
        <p:nvCxnSpPr>
          <p:cNvPr id="30" name="肘形连接符 7">
            <a:extLst>
              <a:ext uri="{FF2B5EF4-FFF2-40B4-BE49-F238E27FC236}">
                <a16:creationId xmlns:a16="http://schemas.microsoft.com/office/drawing/2014/main" id="{E73D295B-1499-48EF-8181-44710ADBFC66}"/>
              </a:ext>
            </a:extLst>
          </p:cNvPr>
          <p:cNvCxnSpPr/>
          <p:nvPr/>
        </p:nvCxnSpPr>
        <p:spPr>
          <a:xfrm rot="5400000">
            <a:off x="2899834" y="3204635"/>
            <a:ext cx="1407583" cy="632883"/>
          </a:xfrm>
          <a:prstGeom prst="bent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肘形连接符 9">
            <a:extLst>
              <a:ext uri="{FF2B5EF4-FFF2-40B4-BE49-F238E27FC236}">
                <a16:creationId xmlns:a16="http://schemas.microsoft.com/office/drawing/2014/main" id="{78546DB1-6532-4C0E-ACC9-39D1C211F55C}"/>
              </a:ext>
            </a:extLst>
          </p:cNvPr>
          <p:cNvCxnSpPr/>
          <p:nvPr/>
        </p:nvCxnSpPr>
        <p:spPr>
          <a:xfrm rot="5400000">
            <a:off x="3729567" y="3274484"/>
            <a:ext cx="1407583" cy="493184"/>
          </a:xfrm>
          <a:prstGeom prst="bentConnector3">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13">
            <a:extLst>
              <a:ext uri="{FF2B5EF4-FFF2-40B4-BE49-F238E27FC236}">
                <a16:creationId xmlns:a16="http://schemas.microsoft.com/office/drawing/2014/main" id="{1032319E-3499-4339-A93B-A2110E6C0141}"/>
              </a:ext>
            </a:extLst>
          </p:cNvPr>
          <p:cNvCxnSpPr/>
          <p:nvPr/>
        </p:nvCxnSpPr>
        <p:spPr>
          <a:xfrm rot="16200000" flipH="1">
            <a:off x="4437593" y="3485093"/>
            <a:ext cx="1407583" cy="71967"/>
          </a:xfrm>
          <a:prstGeom prst="bentConnector3">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肘形连接符 24">
            <a:extLst>
              <a:ext uri="{FF2B5EF4-FFF2-40B4-BE49-F238E27FC236}">
                <a16:creationId xmlns:a16="http://schemas.microsoft.com/office/drawing/2014/main" id="{65899846-A215-4379-9D88-7CB36C4104E7}"/>
              </a:ext>
            </a:extLst>
          </p:cNvPr>
          <p:cNvCxnSpPr/>
          <p:nvPr/>
        </p:nvCxnSpPr>
        <p:spPr>
          <a:xfrm rot="5400000">
            <a:off x="3455458" y="3825876"/>
            <a:ext cx="99484" cy="1363133"/>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肘形连接符 26">
            <a:extLst>
              <a:ext uri="{FF2B5EF4-FFF2-40B4-BE49-F238E27FC236}">
                <a16:creationId xmlns:a16="http://schemas.microsoft.com/office/drawing/2014/main" id="{50DE6C44-AFCF-4CA1-BB8E-9241187DB7F9}"/>
              </a:ext>
            </a:extLst>
          </p:cNvPr>
          <p:cNvCxnSpPr/>
          <p:nvPr/>
        </p:nvCxnSpPr>
        <p:spPr>
          <a:xfrm rot="10800000" flipV="1">
            <a:off x="2112433" y="4341284"/>
            <a:ext cx="958851" cy="99483"/>
          </a:xfrm>
          <a:prstGeom prst="bent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肘形连接符 87">
            <a:extLst>
              <a:ext uri="{FF2B5EF4-FFF2-40B4-BE49-F238E27FC236}">
                <a16:creationId xmlns:a16="http://schemas.microsoft.com/office/drawing/2014/main" id="{E10F0F28-F70D-4ECB-B419-41F3EE17259E}"/>
              </a:ext>
            </a:extLst>
          </p:cNvPr>
          <p:cNvCxnSpPr/>
          <p:nvPr/>
        </p:nvCxnSpPr>
        <p:spPr>
          <a:xfrm rot="16200000" flipH="1">
            <a:off x="2533651" y="4252383"/>
            <a:ext cx="916517" cy="1758951"/>
          </a:xfrm>
          <a:prstGeom prst="bentConnector3">
            <a:avLst>
              <a:gd name="adj1" fmla="val 7632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肘形连接符 89">
            <a:extLst>
              <a:ext uri="{FF2B5EF4-FFF2-40B4-BE49-F238E27FC236}">
                <a16:creationId xmlns:a16="http://schemas.microsoft.com/office/drawing/2014/main" id="{C1C24E7B-F4F6-434D-B819-75C010384126}"/>
              </a:ext>
            </a:extLst>
          </p:cNvPr>
          <p:cNvCxnSpPr/>
          <p:nvPr/>
        </p:nvCxnSpPr>
        <p:spPr>
          <a:xfrm rot="16200000" flipH="1">
            <a:off x="3263900" y="4051300"/>
            <a:ext cx="916517" cy="2161117"/>
          </a:xfrm>
          <a:prstGeom prst="bentConnector3">
            <a:avLst>
              <a:gd name="adj1" fmla="val 53464"/>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
            <a:extLst>
              <a:ext uri="{FF2B5EF4-FFF2-40B4-BE49-F238E27FC236}">
                <a16:creationId xmlns:a16="http://schemas.microsoft.com/office/drawing/2014/main" id="{613D947F-6369-449A-B47C-BAA3935C81FE}"/>
              </a:ext>
            </a:extLst>
          </p:cNvPr>
          <p:cNvSpPr txBox="1"/>
          <p:nvPr/>
        </p:nvSpPr>
        <p:spPr>
          <a:xfrm>
            <a:off x="6017684" y="30501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38" name="肘形连接符 95">
            <a:extLst>
              <a:ext uri="{FF2B5EF4-FFF2-40B4-BE49-F238E27FC236}">
                <a16:creationId xmlns:a16="http://schemas.microsoft.com/office/drawing/2014/main" id="{408ED944-1C55-48B1-9B8D-8A2A3A8F1D2B}"/>
              </a:ext>
            </a:extLst>
          </p:cNvPr>
          <p:cNvCxnSpPr>
            <a:cxnSpLocks/>
          </p:cNvCxnSpPr>
          <p:nvPr/>
        </p:nvCxnSpPr>
        <p:spPr>
          <a:xfrm flipV="1">
            <a:off x="5105401" y="3765551"/>
            <a:ext cx="2171700" cy="1951567"/>
          </a:xfrm>
          <a:prstGeom prst="bentConnector3">
            <a:avLst>
              <a:gd name="adj1" fmla="val 67825"/>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57">
            <a:extLst>
              <a:ext uri="{FF2B5EF4-FFF2-40B4-BE49-F238E27FC236}">
                <a16:creationId xmlns:a16="http://schemas.microsoft.com/office/drawing/2014/main" id="{9C6E3C43-600B-410A-9C35-A18DF508685E}"/>
              </a:ext>
            </a:extLst>
          </p:cNvPr>
          <p:cNvGrpSpPr>
            <a:grpSpLocks/>
          </p:cNvGrpSpPr>
          <p:nvPr/>
        </p:nvGrpSpPr>
        <p:grpSpPr bwMode="auto">
          <a:xfrm>
            <a:off x="9647768" y="2791885"/>
            <a:ext cx="1919817" cy="349249"/>
            <a:chOff x="7235825" y="2093913"/>
            <a:chExt cx="1439863" cy="261937"/>
          </a:xfrm>
        </p:grpSpPr>
        <p:sp>
          <p:nvSpPr>
            <p:cNvPr id="40" name="矩形 39">
              <a:extLst>
                <a:ext uri="{FF2B5EF4-FFF2-40B4-BE49-F238E27FC236}">
                  <a16:creationId xmlns:a16="http://schemas.microsoft.com/office/drawing/2014/main" id="{95E93F87-AAC2-4E3D-B12E-E57C59312675}"/>
                </a:ext>
              </a:extLst>
            </p:cNvPr>
            <p:cNvSpPr/>
            <p:nvPr/>
          </p:nvSpPr>
          <p:spPr>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41" name="矩形 40">
              <a:extLst>
                <a:ext uri="{FF2B5EF4-FFF2-40B4-BE49-F238E27FC236}">
                  <a16:creationId xmlns:a16="http://schemas.microsoft.com/office/drawing/2014/main" id="{F32A94A4-C5C7-4E33-8B22-A2276E337B3B}"/>
                </a:ext>
              </a:extLst>
            </p:cNvPr>
            <p:cNvSpPr/>
            <p:nvPr/>
          </p:nvSpPr>
          <p:spPr>
            <a:xfrm>
              <a:off x="7812088" y="209391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grpSp>
      <p:sp>
        <p:nvSpPr>
          <p:cNvPr id="42" name="矩形 41">
            <a:extLst>
              <a:ext uri="{FF2B5EF4-FFF2-40B4-BE49-F238E27FC236}">
                <a16:creationId xmlns:a16="http://schemas.microsoft.com/office/drawing/2014/main" id="{55E84A87-DA1F-4E53-AE65-6273B2761EDF}"/>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43" name="矩形 42">
            <a:extLst>
              <a:ext uri="{FF2B5EF4-FFF2-40B4-BE49-F238E27FC236}">
                <a16:creationId xmlns:a16="http://schemas.microsoft.com/office/drawing/2014/main" id="{594172BB-1B97-4F6E-92B6-B0D428CA0770}"/>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44" name="矩形 43">
            <a:extLst>
              <a:ext uri="{FF2B5EF4-FFF2-40B4-BE49-F238E27FC236}">
                <a16:creationId xmlns:a16="http://schemas.microsoft.com/office/drawing/2014/main" id="{FC42C1C8-4847-4D76-936F-73878BC9286C}"/>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null</a:t>
            </a:r>
          </a:p>
        </p:txBody>
      </p:sp>
      <p:sp>
        <p:nvSpPr>
          <p:cNvPr id="45" name="矩形 44">
            <a:extLst>
              <a:ext uri="{FF2B5EF4-FFF2-40B4-BE49-F238E27FC236}">
                <a16:creationId xmlns:a16="http://schemas.microsoft.com/office/drawing/2014/main" id="{E62BFAF3-40DD-40CB-B394-2590BC90F0D6}"/>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46" name="矩形 45">
            <a:extLst>
              <a:ext uri="{FF2B5EF4-FFF2-40B4-BE49-F238E27FC236}">
                <a16:creationId xmlns:a16="http://schemas.microsoft.com/office/drawing/2014/main" id="{C8B001D6-480A-48C4-8ED6-73C364FB7196}"/>
              </a:ext>
            </a:extLst>
          </p:cNvPr>
          <p:cNvSpPr/>
          <p:nvPr/>
        </p:nvSpPr>
        <p:spPr>
          <a:xfrm>
            <a:off x="10416117" y="3843867"/>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47" name="TextBox 3">
            <a:extLst>
              <a:ext uri="{FF2B5EF4-FFF2-40B4-BE49-F238E27FC236}">
                <a16:creationId xmlns:a16="http://schemas.microsoft.com/office/drawing/2014/main" id="{E39A96E8-5C06-4BAF-9295-18EE80014A05}"/>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77274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42" presetClass="path" presetSubtype="0" fill="hold" grpId="1" nodeType="afterEffect">
                                  <p:stCondLst>
                                    <p:cond delay="0"/>
                                  </p:stCondLst>
                                  <p:childTnLst>
                                    <p:animMotion origin="layout" path="M -4.79167E-6 3.33333E-6 L -0.00052 0.30463 " pathEditMode="relative" rAng="0" ptsTypes="AA">
                                      <p:cBhvr>
                                        <p:cTn id="10" dur="500" fill="hold"/>
                                        <p:tgtEl>
                                          <p:spTgt spid="28"/>
                                        </p:tgtEl>
                                        <p:attrNameLst>
                                          <p:attrName>ppt_x</p:attrName>
                                          <p:attrName>ppt_y</p:attrName>
                                        </p:attrNameLst>
                                      </p:cBhvr>
                                      <p:rCtr x="-26" y="15231"/>
                                    </p:animMotion>
                                  </p:childTnLst>
                                </p:cTn>
                              </p:par>
                            </p:childTnLst>
                          </p:cTn>
                        </p:par>
                        <p:par>
                          <p:cTn id="11" fill="hold">
                            <p:stCondLst>
                              <p:cond delay="1000"/>
                            </p:stCondLst>
                            <p:childTnLst>
                              <p:par>
                                <p:cTn id="12" presetID="1" presetClass="exit" presetSubtype="0" fill="hold" grpId="2" nodeType="afterEffect">
                                  <p:stCondLst>
                                    <p:cond delay="0"/>
                                  </p:stCondLst>
                                  <p:childTnLst>
                                    <p:set>
                                      <p:cBhvr>
                                        <p:cTn id="13" dur="1" fill="hold">
                                          <p:stCondLst>
                                            <p:cond delay="0"/>
                                          </p:stCondLst>
                                        </p:cTn>
                                        <p:tgtEl>
                                          <p:spTgt spid="28"/>
                                        </p:tgtEl>
                                        <p:attrNameLst>
                                          <p:attrName>style.visibility</p:attrName>
                                        </p:attrNameLst>
                                      </p:cBhvr>
                                      <p:to>
                                        <p:strVal val="hidden"/>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up)">
                                      <p:cBhvr>
                                        <p:cTn id="21" dur="500"/>
                                        <p:tgtEl>
                                          <p:spTgt spid="30"/>
                                        </p:tgtEl>
                                      </p:cBhvr>
                                    </p:animEffect>
                                  </p:childTnLst>
                                </p:cTn>
                              </p:par>
                              <p:par>
                                <p:cTn id="22" presetID="22" presetClass="entr" presetSubtype="1"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up)">
                                      <p:cBhvr>
                                        <p:cTn id="24" dur="500"/>
                                        <p:tgtEl>
                                          <p:spTgt spid="31"/>
                                        </p:tgtEl>
                                      </p:cBhvr>
                                    </p:animEffect>
                                  </p:childTnLst>
                                </p:cTn>
                              </p:par>
                              <p:par>
                                <p:cTn id="25" presetID="22" presetClass="entr" presetSubtype="1"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right)">
                                      <p:cBhvr>
                                        <p:cTn id="32" dur="500"/>
                                        <p:tgtEl>
                                          <p:spTgt spid="34"/>
                                        </p:tgtEl>
                                      </p:cBhvr>
                                    </p:animEffect>
                                  </p:childTnLst>
                                </p:cTn>
                              </p:par>
                              <p:par>
                                <p:cTn id="33" presetID="22" presetClass="entr" presetSubtype="2"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right)">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500"/>
                                        <p:tgtEl>
                                          <p:spTgt spid="35"/>
                                        </p:tgtEl>
                                      </p:cBhvr>
                                    </p:animEffect>
                                  </p:childTnLst>
                                </p:cTn>
                              </p:par>
                              <p:par>
                                <p:cTn id="41" presetID="22" presetClass="entr" presetSubtype="8"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left)">
                                      <p:cBhvr>
                                        <p:cTn id="43" dur="500"/>
                                        <p:tgtEl>
                                          <p:spTgt spid="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left)">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31"/>
                                        </p:tgtEl>
                                      </p:cBhvr>
                                    </p:animEffect>
                                    <p:set>
                                      <p:cBhvr>
                                        <p:cTn id="60" dur="1" fill="hold">
                                          <p:stCondLst>
                                            <p:cond delay="499"/>
                                          </p:stCondLst>
                                        </p:cTn>
                                        <p:tgtEl>
                                          <p:spTgt spid="3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32"/>
                                        </p:tgtEl>
                                      </p:cBhvr>
                                    </p:animEffect>
                                    <p:set>
                                      <p:cBhvr>
                                        <p:cTn id="63" dur="1" fill="hold">
                                          <p:stCondLst>
                                            <p:cond delay="499"/>
                                          </p:stCondLst>
                                        </p:cTn>
                                        <p:tgtEl>
                                          <p:spTgt spid="32"/>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34"/>
                                        </p:tgtEl>
                                      </p:cBhvr>
                                    </p:animEffect>
                                    <p:set>
                                      <p:cBhvr>
                                        <p:cTn id="66" dur="1" fill="hold">
                                          <p:stCondLst>
                                            <p:cond delay="499"/>
                                          </p:stCondLst>
                                        </p:cTn>
                                        <p:tgtEl>
                                          <p:spTgt spid="34"/>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35"/>
                                        </p:tgtEl>
                                      </p:cBhvr>
                                    </p:animEffect>
                                    <p:set>
                                      <p:cBhvr>
                                        <p:cTn id="72" dur="1" fill="hold">
                                          <p:stCondLst>
                                            <p:cond delay="499"/>
                                          </p:stCondLst>
                                        </p:cTn>
                                        <p:tgtEl>
                                          <p:spTgt spid="3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500"/>
                                        <p:tgtEl>
                                          <p:spTgt spid="36"/>
                                        </p:tgtEl>
                                      </p:cBhvr>
                                    </p:animEffect>
                                    <p:set>
                                      <p:cBhvr>
                                        <p:cTn id="75" dur="1" fill="hold">
                                          <p:stCondLst>
                                            <p:cond delay="499"/>
                                          </p:stCondLst>
                                        </p:cTn>
                                        <p:tgtEl>
                                          <p:spTgt spid="36"/>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38"/>
                                        </p:tgtEl>
                                      </p:cBhvr>
                                    </p:animEffect>
                                    <p:set>
                                      <p:cBhvr>
                                        <p:cTn id="78"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28" grpId="2" animBg="1"/>
      <p:bldP spid="29" grpId="0" animBg="1"/>
      <p:bldP spid="3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9739DEB2-3147-43BA-9E8F-34B066EC6CDB}"/>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9E53A28E-0ACC-47E4-8E3C-9271561D27DE}"/>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F43E3566-A493-4004-962D-C99D3A3FD2DA}"/>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C0744DA7-EFDC-4123-AD5B-1A8BE46C1F38}"/>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ED8DF7E7-0180-4084-BF89-49FCB2EA386A}"/>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5590DE34-CC8E-4C17-9F33-141C5A4F0C98}"/>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D6B69D61-484E-43D1-8166-04385BD43D89}"/>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A37B80F-43DC-41DC-91DC-6435444EA199}"/>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8B24B93-F9FE-4307-90ED-88F76F6B69F7}"/>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D77072E2-DF0E-4D6D-B5FE-E61D3665CE95}"/>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E3DB7018-2045-4792-BFBE-C2C717A3AE5B}"/>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DCCE3AF3-32E5-4920-A38D-60016F311FD5}"/>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5FF14911-68D9-4268-B057-39D086445184}"/>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DF375D15-3140-49ED-B5CE-2A6256A00AB6}"/>
              </a:ext>
            </a:extLst>
          </p:cNvPr>
          <p:cNvSpPr/>
          <p:nvPr/>
        </p:nvSpPr>
        <p:spPr>
          <a:xfrm>
            <a:off x="425451" y="4455585"/>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4">
            <a:extLst>
              <a:ext uri="{FF2B5EF4-FFF2-40B4-BE49-F238E27FC236}">
                <a16:creationId xmlns:a16="http://schemas.microsoft.com/office/drawing/2014/main" id="{03D5EB2F-4418-4E2F-B09E-33FCC55E347F}"/>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4">
            <a:extLst>
              <a:ext uri="{FF2B5EF4-FFF2-40B4-BE49-F238E27FC236}">
                <a16:creationId xmlns:a16="http://schemas.microsoft.com/office/drawing/2014/main" id="{7420C894-DDF1-4CA6-95B7-8D6DCF4E7A56}"/>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TextBox 3">
            <a:extLst>
              <a:ext uri="{FF2B5EF4-FFF2-40B4-BE49-F238E27FC236}">
                <a16:creationId xmlns:a16="http://schemas.microsoft.com/office/drawing/2014/main" id="{25616F19-30AA-4318-849B-BFCBD3974B1B}"/>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2" name="TextBox 3">
            <a:extLst>
              <a:ext uri="{FF2B5EF4-FFF2-40B4-BE49-F238E27FC236}">
                <a16:creationId xmlns:a16="http://schemas.microsoft.com/office/drawing/2014/main" id="{2C22A4B1-143C-4D2F-9046-141D36AE06F1}"/>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3" name="矩形 22">
            <a:extLst>
              <a:ext uri="{FF2B5EF4-FFF2-40B4-BE49-F238E27FC236}">
                <a16:creationId xmlns:a16="http://schemas.microsoft.com/office/drawing/2014/main" id="{96698853-9FD5-4980-9E41-6FF0108C0479}"/>
              </a:ext>
            </a:extLst>
          </p:cNvPr>
          <p:cNvSpPr/>
          <p:nvPr/>
        </p:nvSpPr>
        <p:spPr>
          <a:xfrm>
            <a:off x="1134534" y="5816601"/>
            <a:ext cx="4271433" cy="4042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5" name="TextBox 3">
            <a:extLst>
              <a:ext uri="{FF2B5EF4-FFF2-40B4-BE49-F238E27FC236}">
                <a16:creationId xmlns:a16="http://schemas.microsoft.com/office/drawing/2014/main" id="{07F3C3F7-0F06-4713-8F21-1A8F96FCDFF1}"/>
              </a:ext>
            </a:extLst>
          </p:cNvPr>
          <p:cNvSpPr txBox="1"/>
          <p:nvPr/>
        </p:nvSpPr>
        <p:spPr>
          <a:xfrm>
            <a:off x="6017684" y="30501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矩形 25">
            <a:extLst>
              <a:ext uri="{FF2B5EF4-FFF2-40B4-BE49-F238E27FC236}">
                <a16:creationId xmlns:a16="http://schemas.microsoft.com/office/drawing/2014/main" id="{79FEFB35-214D-4536-A133-FE4BADA4419A}"/>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7" name="TextBox 4">
            <a:extLst>
              <a:ext uri="{FF2B5EF4-FFF2-40B4-BE49-F238E27FC236}">
                <a16:creationId xmlns:a16="http://schemas.microsoft.com/office/drawing/2014/main" id="{F4E50597-09B5-4ECF-9B69-AF8FD10E9BFA}"/>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矩形 27">
            <a:extLst>
              <a:ext uri="{FF2B5EF4-FFF2-40B4-BE49-F238E27FC236}">
                <a16:creationId xmlns:a16="http://schemas.microsoft.com/office/drawing/2014/main" id="{F8B93A8B-7BF7-48B3-9C09-8F637B25C6AF}"/>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9" name="矩形 28">
            <a:extLst>
              <a:ext uri="{FF2B5EF4-FFF2-40B4-BE49-F238E27FC236}">
                <a16:creationId xmlns:a16="http://schemas.microsoft.com/office/drawing/2014/main" id="{A38323E0-91F6-418E-99FA-9E5C8EEEB77B}"/>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0" name="矩形 29">
            <a:extLst>
              <a:ext uri="{FF2B5EF4-FFF2-40B4-BE49-F238E27FC236}">
                <a16:creationId xmlns:a16="http://schemas.microsoft.com/office/drawing/2014/main" id="{F11805D6-B4CF-45C1-902D-D31835B72273}"/>
              </a:ext>
            </a:extLst>
          </p:cNvPr>
          <p:cNvSpPr/>
          <p:nvPr/>
        </p:nvSpPr>
        <p:spPr bwMode="auto">
          <a:xfrm>
            <a:off x="9647767" y="2791885"/>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31" name="矩形 30">
            <a:extLst>
              <a:ext uri="{FF2B5EF4-FFF2-40B4-BE49-F238E27FC236}">
                <a16:creationId xmlns:a16="http://schemas.microsoft.com/office/drawing/2014/main" id="{3DBA1AC5-E052-4E56-8F03-98A21AA936B7}"/>
              </a:ext>
            </a:extLst>
          </p:cNvPr>
          <p:cNvSpPr/>
          <p:nvPr/>
        </p:nvSpPr>
        <p:spPr bwMode="auto">
          <a:xfrm>
            <a:off x="10416117" y="2791885"/>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32" name="矩形 31">
            <a:extLst>
              <a:ext uri="{FF2B5EF4-FFF2-40B4-BE49-F238E27FC236}">
                <a16:creationId xmlns:a16="http://schemas.microsoft.com/office/drawing/2014/main" id="{42E581AC-80E5-406D-818C-EBAB0AFC1537}"/>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33" name="矩形 32">
            <a:extLst>
              <a:ext uri="{FF2B5EF4-FFF2-40B4-BE49-F238E27FC236}">
                <a16:creationId xmlns:a16="http://schemas.microsoft.com/office/drawing/2014/main" id="{C9490B4F-8D44-4034-A71D-799550B67400}"/>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34" name="矩形 33">
            <a:extLst>
              <a:ext uri="{FF2B5EF4-FFF2-40B4-BE49-F238E27FC236}">
                <a16:creationId xmlns:a16="http://schemas.microsoft.com/office/drawing/2014/main" id="{825D763D-2C6C-4842-82F4-B8CD1B64B3A5}"/>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null</a:t>
            </a:r>
          </a:p>
        </p:txBody>
      </p:sp>
      <p:sp>
        <p:nvSpPr>
          <p:cNvPr id="35" name="矩形 34">
            <a:extLst>
              <a:ext uri="{FF2B5EF4-FFF2-40B4-BE49-F238E27FC236}">
                <a16:creationId xmlns:a16="http://schemas.microsoft.com/office/drawing/2014/main" id="{E286C733-E6C2-4329-B6B9-70E90E5D1C8C}"/>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36" name="矩形 35">
            <a:extLst>
              <a:ext uri="{FF2B5EF4-FFF2-40B4-BE49-F238E27FC236}">
                <a16:creationId xmlns:a16="http://schemas.microsoft.com/office/drawing/2014/main" id="{474FF573-50E5-43F1-B0F2-109DB72BED31}"/>
              </a:ext>
            </a:extLst>
          </p:cNvPr>
          <p:cNvSpPr/>
          <p:nvPr/>
        </p:nvSpPr>
        <p:spPr>
          <a:xfrm>
            <a:off x="10416117" y="3843867"/>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Tree>
    <p:extLst>
      <p:ext uri="{BB962C8B-B14F-4D97-AF65-F5344CB8AC3E}">
        <p14:creationId xmlns:p14="http://schemas.microsoft.com/office/powerpoint/2010/main" val="123198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500" fill="hold"/>
                                        <p:tgtEl>
                                          <p:spTgt spid="33"/>
                                        </p:tgtEl>
                                        <p:attrNameLst>
                                          <p:attrName>fillcolor</p:attrName>
                                        </p:attrNameLst>
                                      </p:cBhvr>
                                      <p:to>
                                        <a:srgbClr val="99CCFF"/>
                                      </p:to>
                                    </p:animClr>
                                    <p:set>
                                      <p:cBhvr>
                                        <p:cTn id="7" dur="500" fill="hold"/>
                                        <p:tgtEl>
                                          <p:spTgt spid="33"/>
                                        </p:tgtEl>
                                        <p:attrNameLst>
                                          <p:attrName>fill.type</p:attrName>
                                        </p:attrNameLst>
                                      </p:cBhvr>
                                      <p:to>
                                        <p:strVal val="solid"/>
                                      </p:to>
                                    </p:set>
                                    <p:set>
                                      <p:cBhvr>
                                        <p:cTn id="8" dur="500" fill="hold"/>
                                        <p:tgtEl>
                                          <p:spTgt spid="33"/>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grpId="0" nodeType="clickEffect">
                                  <p:stCondLst>
                                    <p:cond delay="0"/>
                                  </p:stCondLst>
                                  <p:childTnLst>
                                    <p:animClr clrSpc="rgb" dir="cw">
                                      <p:cBhvr>
                                        <p:cTn id="12" dur="500" fill="hold"/>
                                        <p:tgtEl>
                                          <p:spTgt spid="35"/>
                                        </p:tgtEl>
                                        <p:attrNameLst>
                                          <p:attrName>fillcolor</p:attrName>
                                        </p:attrNameLst>
                                      </p:cBhvr>
                                      <p:to>
                                        <a:srgbClr val="99CCFF"/>
                                      </p:to>
                                    </p:animClr>
                                    <p:set>
                                      <p:cBhvr>
                                        <p:cTn id="13" dur="500" fill="hold"/>
                                        <p:tgtEl>
                                          <p:spTgt spid="35"/>
                                        </p:tgtEl>
                                        <p:attrNameLst>
                                          <p:attrName>fill.type</p:attrName>
                                        </p:attrNameLst>
                                      </p:cBhvr>
                                      <p:to>
                                        <p:strVal val="solid"/>
                                      </p:to>
                                    </p:set>
                                    <p:set>
                                      <p:cBhvr>
                                        <p:cTn id="14" dur="500" fill="hold"/>
                                        <p:tgtEl>
                                          <p:spTgt spid="35"/>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500" fill="hold"/>
                                        <p:tgtEl>
                                          <p:spTgt spid="33"/>
                                        </p:tgtEl>
                                        <p:attrNameLst>
                                          <p:attrName>fillcolor</p:attrName>
                                        </p:attrNameLst>
                                      </p:cBhvr>
                                      <p:to>
                                        <a:schemeClr val="bg1"/>
                                      </p:to>
                                    </p:animClr>
                                    <p:set>
                                      <p:cBhvr>
                                        <p:cTn id="19" dur="500" fill="hold"/>
                                        <p:tgtEl>
                                          <p:spTgt spid="33"/>
                                        </p:tgtEl>
                                        <p:attrNameLst>
                                          <p:attrName>fill.type</p:attrName>
                                        </p:attrNameLst>
                                      </p:cBhvr>
                                      <p:to>
                                        <p:strVal val="solid"/>
                                      </p:to>
                                    </p:set>
                                    <p:set>
                                      <p:cBhvr>
                                        <p:cTn id="20" dur="500" fill="hold"/>
                                        <p:tgtEl>
                                          <p:spTgt spid="33"/>
                                        </p:tgtEl>
                                        <p:attrNameLst>
                                          <p:attrName>fill.on</p:attrName>
                                        </p:attrNameLst>
                                      </p:cBhvr>
                                      <p:to>
                                        <p:strVal val="true"/>
                                      </p:to>
                                    </p:set>
                                  </p:childTnLst>
                                </p:cTn>
                              </p:par>
                              <p:par>
                                <p:cTn id="21" presetID="1" presetClass="emph" presetSubtype="2" fill="hold" nodeType="withEffect">
                                  <p:stCondLst>
                                    <p:cond delay="0"/>
                                  </p:stCondLst>
                                  <p:childTnLst>
                                    <p:animClr clrSpc="rgb" dir="cw">
                                      <p:cBhvr>
                                        <p:cTn id="22" dur="500" fill="hold"/>
                                        <p:tgtEl>
                                          <p:spTgt spid="35"/>
                                        </p:tgtEl>
                                        <p:attrNameLst>
                                          <p:attrName>fillcolor</p:attrName>
                                        </p:attrNameLst>
                                      </p:cBhvr>
                                      <p:to>
                                        <a:schemeClr val="bg1"/>
                                      </p:to>
                                    </p:animClr>
                                    <p:set>
                                      <p:cBhvr>
                                        <p:cTn id="23" dur="500" fill="hold"/>
                                        <p:tgtEl>
                                          <p:spTgt spid="35"/>
                                        </p:tgtEl>
                                        <p:attrNameLst>
                                          <p:attrName>fill.type</p:attrName>
                                        </p:attrNameLst>
                                      </p:cBhvr>
                                      <p:to>
                                        <p:strVal val="solid"/>
                                      </p:to>
                                    </p:set>
                                    <p:set>
                                      <p:cBhvr>
                                        <p:cTn id="24" dur="5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153C4C22-C4CF-480D-BAB8-43A071A03E24}"/>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C59A2077-EC1D-4F12-96F3-5E6EB2FE77F4}"/>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B6705DC2-08B1-4A1D-BCE7-0BFC8BB02EFB}"/>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6F4B7AB7-F3A6-472C-9E17-703CF2316719}"/>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70466979-51E7-4B7C-9306-9FC4A7B3CE20}"/>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EED138FB-9CE3-4157-BDEC-A14266CC2B48}"/>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4ABEF587-FB43-41AF-B831-4CD8DF655658}"/>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42BB257-3929-41AD-B52F-EE9A45396F04}"/>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DBE46CD-C016-4FCA-8BC1-2EE1B7E2242B}"/>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4143E4A1-F455-48A2-9D73-41410FF0372B}"/>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1728A660-A6FA-4EF2-B1BE-C70E10C4E09E}"/>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3">
            <a:extLst>
              <a:ext uri="{FF2B5EF4-FFF2-40B4-BE49-F238E27FC236}">
                <a16:creationId xmlns:a16="http://schemas.microsoft.com/office/drawing/2014/main" id="{E4DDEC50-E073-414C-9E10-657BC0A4F98D}"/>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3">
            <a:extLst>
              <a:ext uri="{FF2B5EF4-FFF2-40B4-BE49-F238E27FC236}">
                <a16:creationId xmlns:a16="http://schemas.microsoft.com/office/drawing/2014/main" id="{FAE3AE42-1DAA-47D2-864F-91BD70672243}"/>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E55FF91B-7BC2-4DCC-9C2C-10AC7250FE04}"/>
              </a:ext>
            </a:extLst>
          </p:cNvPr>
          <p:cNvSpPr/>
          <p:nvPr/>
        </p:nvSpPr>
        <p:spPr>
          <a:xfrm>
            <a:off x="425451" y="4455585"/>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4">
            <a:extLst>
              <a:ext uri="{FF2B5EF4-FFF2-40B4-BE49-F238E27FC236}">
                <a16:creationId xmlns:a16="http://schemas.microsoft.com/office/drawing/2014/main" id="{7E031CDB-12A0-49DD-886D-6E022A5767C6}"/>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4">
            <a:extLst>
              <a:ext uri="{FF2B5EF4-FFF2-40B4-BE49-F238E27FC236}">
                <a16:creationId xmlns:a16="http://schemas.microsoft.com/office/drawing/2014/main" id="{EFA711CF-63BC-465C-B45F-27C5585DE854}"/>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TextBox 3">
            <a:extLst>
              <a:ext uri="{FF2B5EF4-FFF2-40B4-BE49-F238E27FC236}">
                <a16:creationId xmlns:a16="http://schemas.microsoft.com/office/drawing/2014/main" id="{2E9EBD40-25E5-4E89-A08F-6C170F6C1396}"/>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2" name="TextBox 3">
            <a:extLst>
              <a:ext uri="{FF2B5EF4-FFF2-40B4-BE49-F238E27FC236}">
                <a16:creationId xmlns:a16="http://schemas.microsoft.com/office/drawing/2014/main" id="{E263AECD-4601-42A7-9087-1473247D4161}"/>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3" name="矩形 22">
            <a:extLst>
              <a:ext uri="{FF2B5EF4-FFF2-40B4-BE49-F238E27FC236}">
                <a16:creationId xmlns:a16="http://schemas.microsoft.com/office/drawing/2014/main" id="{C8FAF961-0D8D-4322-8A4C-53920A806963}"/>
              </a:ext>
            </a:extLst>
          </p:cNvPr>
          <p:cNvSpPr/>
          <p:nvPr/>
        </p:nvSpPr>
        <p:spPr>
          <a:xfrm>
            <a:off x="1134534" y="5816601"/>
            <a:ext cx="4271433" cy="4042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5" name="TextBox 3">
            <a:extLst>
              <a:ext uri="{FF2B5EF4-FFF2-40B4-BE49-F238E27FC236}">
                <a16:creationId xmlns:a16="http://schemas.microsoft.com/office/drawing/2014/main" id="{92E9721B-B9FC-4352-980E-2A40A0C455B0}"/>
              </a:ext>
            </a:extLst>
          </p:cNvPr>
          <p:cNvSpPr txBox="1"/>
          <p:nvPr/>
        </p:nvSpPr>
        <p:spPr>
          <a:xfrm>
            <a:off x="6017684" y="30501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矩形 25">
            <a:extLst>
              <a:ext uri="{FF2B5EF4-FFF2-40B4-BE49-F238E27FC236}">
                <a16:creationId xmlns:a16="http://schemas.microsoft.com/office/drawing/2014/main" id="{87224085-E17B-4E45-B6AB-053A8B7DBB82}"/>
              </a:ext>
            </a:extLst>
          </p:cNvPr>
          <p:cNvSpPr/>
          <p:nvPr/>
        </p:nvSpPr>
        <p:spPr>
          <a:xfrm>
            <a:off x="7285567" y="3689351"/>
            <a:ext cx="478367" cy="307777"/>
          </a:xfrm>
          <a:prstGeom prst="rect">
            <a:avLst/>
          </a:prstGeom>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7" name="矩形 26">
            <a:extLst>
              <a:ext uri="{FF2B5EF4-FFF2-40B4-BE49-F238E27FC236}">
                <a16:creationId xmlns:a16="http://schemas.microsoft.com/office/drawing/2014/main" id="{D4F788BA-38E7-4C60-93AC-DAEE410708C7}"/>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8" name="TextBox 4">
            <a:extLst>
              <a:ext uri="{FF2B5EF4-FFF2-40B4-BE49-F238E27FC236}">
                <a16:creationId xmlns:a16="http://schemas.microsoft.com/office/drawing/2014/main" id="{423466CB-2062-498A-878E-19AD2DA9075A}"/>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9" name="矩形 28">
            <a:extLst>
              <a:ext uri="{FF2B5EF4-FFF2-40B4-BE49-F238E27FC236}">
                <a16:creationId xmlns:a16="http://schemas.microsoft.com/office/drawing/2014/main" id="{40A971AC-C297-44E8-8D25-849142AAF923}"/>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0" name="矩形 29">
            <a:extLst>
              <a:ext uri="{FF2B5EF4-FFF2-40B4-BE49-F238E27FC236}">
                <a16:creationId xmlns:a16="http://schemas.microsoft.com/office/drawing/2014/main" id="{AB188454-2678-4418-8734-EE2451E7E12F}"/>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nvGrpSpPr>
          <p:cNvPr id="31" name="组合 65">
            <a:extLst>
              <a:ext uri="{FF2B5EF4-FFF2-40B4-BE49-F238E27FC236}">
                <a16:creationId xmlns:a16="http://schemas.microsoft.com/office/drawing/2014/main" id="{9C657277-A2AE-4C04-8660-E7497D0E0AEE}"/>
              </a:ext>
            </a:extLst>
          </p:cNvPr>
          <p:cNvGrpSpPr>
            <a:grpSpLocks/>
          </p:cNvGrpSpPr>
          <p:nvPr/>
        </p:nvGrpSpPr>
        <p:grpSpPr bwMode="auto">
          <a:xfrm>
            <a:off x="9647768" y="2791885"/>
            <a:ext cx="1919817" cy="349249"/>
            <a:chOff x="7235825" y="2093913"/>
            <a:chExt cx="1439863" cy="261937"/>
          </a:xfrm>
        </p:grpSpPr>
        <p:sp>
          <p:nvSpPr>
            <p:cNvPr id="32" name="矩形 31">
              <a:extLst>
                <a:ext uri="{FF2B5EF4-FFF2-40B4-BE49-F238E27FC236}">
                  <a16:creationId xmlns:a16="http://schemas.microsoft.com/office/drawing/2014/main" id="{CBF3AF9C-6474-4D2C-971B-0AF9EDE2D0EE}"/>
                </a:ext>
              </a:extLst>
            </p:cNvPr>
            <p:cNvSpPr/>
            <p:nvPr/>
          </p:nvSpPr>
          <p:spPr>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33" name="矩形 32">
              <a:extLst>
                <a:ext uri="{FF2B5EF4-FFF2-40B4-BE49-F238E27FC236}">
                  <a16:creationId xmlns:a16="http://schemas.microsoft.com/office/drawing/2014/main" id="{823BBA61-DBF9-493D-AB64-61608C638D85}"/>
                </a:ext>
              </a:extLst>
            </p:cNvPr>
            <p:cNvSpPr/>
            <p:nvPr/>
          </p:nvSpPr>
          <p:spPr>
            <a:xfrm>
              <a:off x="7812088" y="209391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grpSp>
      <p:sp>
        <p:nvSpPr>
          <p:cNvPr id="34" name="矩形 33">
            <a:extLst>
              <a:ext uri="{FF2B5EF4-FFF2-40B4-BE49-F238E27FC236}">
                <a16:creationId xmlns:a16="http://schemas.microsoft.com/office/drawing/2014/main" id="{15933364-C606-4B4A-B6FE-BDAB05C8C29D}"/>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35" name="矩形 34">
            <a:extLst>
              <a:ext uri="{FF2B5EF4-FFF2-40B4-BE49-F238E27FC236}">
                <a16:creationId xmlns:a16="http://schemas.microsoft.com/office/drawing/2014/main" id="{5CA8849C-844F-4622-8305-41D37CD66592}"/>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36" name="矩形 35">
            <a:extLst>
              <a:ext uri="{FF2B5EF4-FFF2-40B4-BE49-F238E27FC236}">
                <a16:creationId xmlns:a16="http://schemas.microsoft.com/office/drawing/2014/main" id="{5E3242F5-2BC7-4C8A-B130-B65792C7EF40}"/>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null</a:t>
            </a:r>
          </a:p>
        </p:txBody>
      </p:sp>
      <p:sp>
        <p:nvSpPr>
          <p:cNvPr id="37" name="矩形 36">
            <a:extLst>
              <a:ext uri="{FF2B5EF4-FFF2-40B4-BE49-F238E27FC236}">
                <a16:creationId xmlns:a16="http://schemas.microsoft.com/office/drawing/2014/main" id="{1194AD24-A6D7-4E5E-81DE-B559B4B1ADFF}"/>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38" name="矩形 37">
            <a:extLst>
              <a:ext uri="{FF2B5EF4-FFF2-40B4-BE49-F238E27FC236}">
                <a16:creationId xmlns:a16="http://schemas.microsoft.com/office/drawing/2014/main" id="{22456D9A-8E06-41D2-8A48-28FC979737D1}"/>
              </a:ext>
            </a:extLst>
          </p:cNvPr>
          <p:cNvSpPr/>
          <p:nvPr/>
        </p:nvSpPr>
        <p:spPr>
          <a:xfrm>
            <a:off x="10416117" y="3843867"/>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39" name="矩形 38">
            <a:extLst>
              <a:ext uri="{FF2B5EF4-FFF2-40B4-BE49-F238E27FC236}">
                <a16:creationId xmlns:a16="http://schemas.microsoft.com/office/drawing/2014/main" id="{94518736-DB6B-4367-840F-2C12A497B121}"/>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0" name="矩形 39">
            <a:extLst>
              <a:ext uri="{FF2B5EF4-FFF2-40B4-BE49-F238E27FC236}">
                <a16:creationId xmlns:a16="http://schemas.microsoft.com/office/drawing/2014/main" id="{2579E988-AA32-4E23-9AEC-25671AF1F0F8}"/>
              </a:ext>
            </a:extLst>
          </p:cNvPr>
          <p:cNvSpPr/>
          <p:nvPr/>
        </p:nvSpPr>
        <p:spPr>
          <a:xfrm>
            <a:off x="10416117" y="3843867"/>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1" name="矩形 40">
            <a:extLst>
              <a:ext uri="{FF2B5EF4-FFF2-40B4-BE49-F238E27FC236}">
                <a16:creationId xmlns:a16="http://schemas.microsoft.com/office/drawing/2014/main" id="{0296BBB5-986C-43C7-B1F9-A7F7AAC8E59F}"/>
              </a:ext>
            </a:extLst>
          </p:cNvPr>
          <p:cNvSpPr/>
          <p:nvPr/>
        </p:nvSpPr>
        <p:spPr>
          <a:xfrm>
            <a:off x="7114960" y="3503388"/>
            <a:ext cx="1140884" cy="276999"/>
          </a:xfrm>
          <a:prstGeom prst="rect">
            <a:avLst/>
          </a:prstGeom>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62461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par>
                          <p:cTn id="9" fill="hold">
                            <p:stCondLst>
                              <p:cond delay="0"/>
                            </p:stCondLst>
                            <p:childTnLst>
                              <p:par>
                                <p:cTn id="10" presetID="42" presetClass="path" presetSubtype="0" accel="50000" decel="50000" fill="hold" grpId="1" nodeType="afterEffect">
                                  <p:stCondLst>
                                    <p:cond delay="0"/>
                                  </p:stCondLst>
                                  <p:childTnLst>
                                    <p:animMotion origin="layout" path="M 2.5E-6 -4.32099E-6 L 0.28333 0.02223 " pathEditMode="relative" rAng="0" ptsTypes="AA">
                                      <p:cBhvr>
                                        <p:cTn id="11" dur="750" fill="hold"/>
                                        <p:tgtEl>
                                          <p:spTgt spid="26"/>
                                        </p:tgtEl>
                                        <p:attrNameLst>
                                          <p:attrName>ppt_x</p:attrName>
                                          <p:attrName>ppt_y</p:attrName>
                                        </p:attrNameLst>
                                      </p:cBhvr>
                                      <p:rCtr x="14167" y="1111"/>
                                    </p:animMotion>
                                  </p:childTnLst>
                                </p:cTn>
                              </p:par>
                              <p:par>
                                <p:cTn id="12" presetID="42" presetClass="path" presetSubtype="0" accel="50000" decel="50000" fill="hold" grpId="1" nodeType="withEffect">
                                  <p:stCondLst>
                                    <p:cond delay="0"/>
                                  </p:stCondLst>
                                  <p:childTnLst>
                                    <p:animMotion origin="layout" path="M 1.45833E-6 1.48148E-6 L 0.27226 0.00208 " pathEditMode="relative" rAng="0" ptsTypes="AA">
                                      <p:cBhvr>
                                        <p:cTn id="13" dur="750" fill="hold"/>
                                        <p:tgtEl>
                                          <p:spTgt spid="41"/>
                                        </p:tgtEl>
                                        <p:attrNameLst>
                                          <p:attrName>ppt_x</p:attrName>
                                          <p:attrName>ppt_y</p:attrName>
                                        </p:attrNameLst>
                                      </p:cBhvr>
                                      <p:rCtr x="13607" y="93"/>
                                    </p:animMotion>
                                  </p:childTnLst>
                                </p:cTn>
                              </p:par>
                            </p:childTnLst>
                          </p:cTn>
                        </p:par>
                        <p:par>
                          <p:cTn id="14" fill="hold">
                            <p:stCondLst>
                              <p:cond delay="750"/>
                            </p:stCondLst>
                            <p:childTnLst>
                              <p:par>
                                <p:cTn id="15" presetID="1" presetClass="entr" presetSubtype="0" fill="hold" grpId="0" nodeType="after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par>
                          <p:cTn id="17" fill="hold">
                            <p:stCondLst>
                              <p:cond delay="750"/>
                            </p:stCondLst>
                            <p:childTnLst>
                              <p:par>
                                <p:cTn id="18" presetID="1" presetClass="entr" presetSubtype="0" fill="hold" grpId="0" nodeType="after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par>
                          <p:cTn id="20" fill="hold">
                            <p:stCondLst>
                              <p:cond delay="750"/>
                            </p:stCondLst>
                            <p:childTnLst>
                              <p:par>
                                <p:cTn id="21" presetID="1" presetClass="exit" presetSubtype="0" fill="hold" grpId="2" nodeType="afterEffect">
                                  <p:stCondLst>
                                    <p:cond delay="0"/>
                                  </p:stCondLst>
                                  <p:childTnLst>
                                    <p:set>
                                      <p:cBhvr>
                                        <p:cTn id="22" dur="1" fill="hold">
                                          <p:stCondLst>
                                            <p:cond delay="0"/>
                                          </p:stCondLst>
                                        </p:cTn>
                                        <p:tgtEl>
                                          <p:spTgt spid="26"/>
                                        </p:tgtEl>
                                        <p:attrNameLst>
                                          <p:attrName>style.visibility</p:attrName>
                                        </p:attrNameLst>
                                      </p:cBhvr>
                                      <p:to>
                                        <p:strVal val="hidden"/>
                                      </p:to>
                                    </p:set>
                                  </p:childTnLst>
                                </p:cTn>
                              </p:par>
                            </p:childTnLst>
                          </p:cTn>
                        </p:par>
                        <p:par>
                          <p:cTn id="23" fill="hold">
                            <p:stCondLst>
                              <p:cond delay="750"/>
                            </p:stCondLst>
                            <p:childTnLst>
                              <p:par>
                                <p:cTn id="24" presetID="1" presetClass="exit" presetSubtype="0" fill="hold" grpId="2" nodeType="afterEffect">
                                  <p:stCondLst>
                                    <p:cond delay="0"/>
                                  </p:stCondLst>
                                  <p:childTnLst>
                                    <p:set>
                                      <p:cBhvr>
                                        <p:cTn id="25"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6" grpId="2"/>
      <p:bldP spid="39" grpId="0" animBg="1"/>
      <p:bldP spid="40" grpId="0" animBg="1"/>
      <p:bldP spid="41" grpId="0"/>
      <p:bldP spid="41" grpId="1"/>
      <p:bldP spid="41"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8E2E8FF9-6B63-4401-AAB0-58FA264F3D3E}"/>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FE386660-FFC2-4063-AFC4-5AE95992E274}"/>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8A36ED46-BC14-46B4-A8AA-500C9B8A978D}"/>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FBDAC05E-5A58-46F4-912B-78E9B5674913}"/>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FA85CD3F-53C6-4660-9507-B0184F157203}"/>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6542CEC4-EACF-4E65-A6D7-9E5A7B9D4008}"/>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F57C7D1C-C51D-4F45-B47F-69A708002098}"/>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74994338-4449-470F-9A75-1779888864BD}"/>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92EF245-88B8-4695-989E-96BFBF858148}"/>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CDB7320B-0C5B-487E-BA0C-547B48AC617C}"/>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1951A38D-415C-4159-90F8-3C298CBB6013}"/>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TextBox 3">
            <a:extLst>
              <a:ext uri="{FF2B5EF4-FFF2-40B4-BE49-F238E27FC236}">
                <a16:creationId xmlns:a16="http://schemas.microsoft.com/office/drawing/2014/main" id="{6A5EB8EB-1DD0-4E9C-A406-E5495A7AD483}"/>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矩形 15">
            <a:extLst>
              <a:ext uri="{FF2B5EF4-FFF2-40B4-BE49-F238E27FC236}">
                <a16:creationId xmlns:a16="http://schemas.microsoft.com/office/drawing/2014/main" id="{E3EBDB82-3085-4D30-ADCA-9930CEAAE12E}"/>
              </a:ext>
            </a:extLst>
          </p:cNvPr>
          <p:cNvSpPr/>
          <p:nvPr/>
        </p:nvSpPr>
        <p:spPr>
          <a:xfrm>
            <a:off x="425451" y="4455585"/>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4">
            <a:extLst>
              <a:ext uri="{FF2B5EF4-FFF2-40B4-BE49-F238E27FC236}">
                <a16:creationId xmlns:a16="http://schemas.microsoft.com/office/drawing/2014/main" id="{A8763208-81F2-4ECD-9828-3FD812263B9F}"/>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TextBox 4">
            <a:extLst>
              <a:ext uri="{FF2B5EF4-FFF2-40B4-BE49-F238E27FC236}">
                <a16:creationId xmlns:a16="http://schemas.microsoft.com/office/drawing/2014/main" id="{721420A1-DDEF-4695-9FCD-BE4684C86908}"/>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3">
            <a:extLst>
              <a:ext uri="{FF2B5EF4-FFF2-40B4-BE49-F238E27FC236}">
                <a16:creationId xmlns:a16="http://schemas.microsoft.com/office/drawing/2014/main" id="{7C9ED420-EBFF-4C7D-AAF0-06D9AC80C5B0}"/>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3">
            <a:extLst>
              <a:ext uri="{FF2B5EF4-FFF2-40B4-BE49-F238E27FC236}">
                <a16:creationId xmlns:a16="http://schemas.microsoft.com/office/drawing/2014/main" id="{1DE95696-C08C-4338-9E59-0AEC9DEA04D6}"/>
              </a:ext>
            </a:extLst>
          </p:cNvPr>
          <p:cNvSpPr txBox="1"/>
          <p:nvPr/>
        </p:nvSpPr>
        <p:spPr>
          <a:xfrm>
            <a:off x="1134534" y="4881034"/>
            <a:ext cx="4271433" cy="1815882"/>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name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name;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矩形 20">
            <a:extLst>
              <a:ext uri="{FF2B5EF4-FFF2-40B4-BE49-F238E27FC236}">
                <a16:creationId xmlns:a16="http://schemas.microsoft.com/office/drawing/2014/main" id="{B6C1D78A-A179-49D0-89C4-D2B74C185DF4}"/>
              </a:ext>
            </a:extLst>
          </p:cNvPr>
          <p:cNvSpPr/>
          <p:nvPr/>
        </p:nvSpPr>
        <p:spPr>
          <a:xfrm>
            <a:off x="1134534" y="6231467"/>
            <a:ext cx="4271433" cy="198967"/>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2" name="TextBox 3">
            <a:extLst>
              <a:ext uri="{FF2B5EF4-FFF2-40B4-BE49-F238E27FC236}">
                <a16:creationId xmlns:a16="http://schemas.microsoft.com/office/drawing/2014/main" id="{09098CD1-EF77-4797-B531-DE643E0DA1CA}"/>
              </a:ext>
            </a:extLst>
          </p:cNvPr>
          <p:cNvSpPr txBox="1"/>
          <p:nvPr/>
        </p:nvSpPr>
        <p:spPr>
          <a:xfrm>
            <a:off x="6017684" y="3050118"/>
            <a:ext cx="2209800" cy="954107"/>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Person()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2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3" name="TextBox 3">
            <a:extLst>
              <a:ext uri="{FF2B5EF4-FFF2-40B4-BE49-F238E27FC236}">
                <a16:creationId xmlns:a16="http://schemas.microsoft.com/office/drawing/2014/main" id="{B7A5AE60-2D48-4DA8-853D-E1197B950DE6}"/>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5" name="矩形 24">
            <a:extLst>
              <a:ext uri="{FF2B5EF4-FFF2-40B4-BE49-F238E27FC236}">
                <a16:creationId xmlns:a16="http://schemas.microsoft.com/office/drawing/2014/main" id="{B844FA79-2277-4E75-86CE-06F942C53516}"/>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6" name="TextBox 4">
            <a:extLst>
              <a:ext uri="{FF2B5EF4-FFF2-40B4-BE49-F238E27FC236}">
                <a16:creationId xmlns:a16="http://schemas.microsoft.com/office/drawing/2014/main" id="{4DDA1127-6470-44FC-AD82-9F4B11F33669}"/>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7" name="矩形 26">
            <a:extLst>
              <a:ext uri="{FF2B5EF4-FFF2-40B4-BE49-F238E27FC236}">
                <a16:creationId xmlns:a16="http://schemas.microsoft.com/office/drawing/2014/main" id="{BA28FD9C-3125-4936-8CFC-3AE346B7A8FE}"/>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矩形 27">
            <a:extLst>
              <a:ext uri="{FF2B5EF4-FFF2-40B4-BE49-F238E27FC236}">
                <a16:creationId xmlns:a16="http://schemas.microsoft.com/office/drawing/2014/main" id="{5E584CE5-641B-46E3-B85E-86240DA4F633}"/>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nvGrpSpPr>
          <p:cNvPr id="29" name="组合 77">
            <a:extLst>
              <a:ext uri="{FF2B5EF4-FFF2-40B4-BE49-F238E27FC236}">
                <a16:creationId xmlns:a16="http://schemas.microsoft.com/office/drawing/2014/main" id="{0D22002C-480A-4CEC-9DCD-E4934EDD6044}"/>
              </a:ext>
            </a:extLst>
          </p:cNvPr>
          <p:cNvGrpSpPr>
            <a:grpSpLocks/>
          </p:cNvGrpSpPr>
          <p:nvPr/>
        </p:nvGrpSpPr>
        <p:grpSpPr bwMode="auto">
          <a:xfrm>
            <a:off x="9647768" y="2791885"/>
            <a:ext cx="1919817" cy="349249"/>
            <a:chOff x="7235825" y="2093913"/>
            <a:chExt cx="1439863" cy="261937"/>
          </a:xfrm>
        </p:grpSpPr>
        <p:sp>
          <p:nvSpPr>
            <p:cNvPr id="30" name="矩形 29">
              <a:extLst>
                <a:ext uri="{FF2B5EF4-FFF2-40B4-BE49-F238E27FC236}">
                  <a16:creationId xmlns:a16="http://schemas.microsoft.com/office/drawing/2014/main" id="{06EBC328-CF9D-4616-AC32-1C74BBF7905D}"/>
                </a:ext>
              </a:extLst>
            </p:cNvPr>
            <p:cNvSpPr/>
            <p:nvPr/>
          </p:nvSpPr>
          <p:spPr>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31" name="矩形 30">
              <a:extLst>
                <a:ext uri="{FF2B5EF4-FFF2-40B4-BE49-F238E27FC236}">
                  <a16:creationId xmlns:a16="http://schemas.microsoft.com/office/drawing/2014/main" id="{54DB57D7-72F2-4EB2-A1AB-6891C06AD3CA}"/>
                </a:ext>
              </a:extLst>
            </p:cNvPr>
            <p:cNvSpPr/>
            <p:nvPr/>
          </p:nvSpPr>
          <p:spPr>
            <a:xfrm>
              <a:off x="7812088" y="209391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grpSp>
      <p:sp>
        <p:nvSpPr>
          <p:cNvPr id="32" name="矩形 31">
            <a:extLst>
              <a:ext uri="{FF2B5EF4-FFF2-40B4-BE49-F238E27FC236}">
                <a16:creationId xmlns:a16="http://schemas.microsoft.com/office/drawing/2014/main" id="{50AC601F-B8C8-4F4A-B9CB-99976D12FD03}"/>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33" name="矩形 32">
            <a:extLst>
              <a:ext uri="{FF2B5EF4-FFF2-40B4-BE49-F238E27FC236}">
                <a16:creationId xmlns:a16="http://schemas.microsoft.com/office/drawing/2014/main" id="{F82B2D4E-4003-42FA-9B7A-CB4D7473B5C5}"/>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34" name="矩形 33">
            <a:extLst>
              <a:ext uri="{FF2B5EF4-FFF2-40B4-BE49-F238E27FC236}">
                <a16:creationId xmlns:a16="http://schemas.microsoft.com/office/drawing/2014/main" id="{F1FC2CD8-933B-4C41-94BA-CF5ED9B8BFBA}"/>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35" name="矩形 34">
            <a:extLst>
              <a:ext uri="{FF2B5EF4-FFF2-40B4-BE49-F238E27FC236}">
                <a16:creationId xmlns:a16="http://schemas.microsoft.com/office/drawing/2014/main" id="{9A1BDE97-D305-439B-BBEA-12384B47F1BE}"/>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6" name="矩形 35">
            <a:extLst>
              <a:ext uri="{FF2B5EF4-FFF2-40B4-BE49-F238E27FC236}">
                <a16:creationId xmlns:a16="http://schemas.microsoft.com/office/drawing/2014/main" id="{B3B35F6C-D5BC-45D0-9FE8-9BEEFF409105}"/>
              </a:ext>
            </a:extLst>
          </p:cNvPr>
          <p:cNvSpPr/>
          <p:nvPr/>
        </p:nvSpPr>
        <p:spPr>
          <a:xfrm>
            <a:off x="10416117" y="3843867"/>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62592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1.38889E-6 1.97531E-6 L -1.38889E-6 -0.33827 " pathEditMode="relative" rAng="0" ptsTypes="AA">
                                      <p:cBhvr>
                                        <p:cTn id="6" dur="750" fill="hold"/>
                                        <p:tgtEl>
                                          <p:spTgt spid="22"/>
                                        </p:tgtEl>
                                        <p:attrNameLst>
                                          <p:attrName>ppt_x</p:attrName>
                                          <p:attrName>ppt_y</p:attrName>
                                        </p:attrNameLst>
                                      </p:cBhvr>
                                      <p:rCtr x="0" y="-16914"/>
                                    </p:animMotion>
                                  </p:childTnLst>
                                </p:cTn>
                              </p:par>
                              <p:par>
                                <p:cTn id="7" presetID="10" presetClass="exit" presetSubtype="0" fill="hold" grpId="1" nodeType="withEffect">
                                  <p:stCondLst>
                                    <p:cond delay="0"/>
                                  </p:stCondLst>
                                  <p:childTnLst>
                                    <p:animEffect transition="out" filter="fade">
                                      <p:cBhvr>
                                        <p:cTn id="8" dur="1000"/>
                                        <p:tgtEl>
                                          <p:spTgt spid="22"/>
                                        </p:tgtEl>
                                      </p:cBhvr>
                                    </p:animEffect>
                                    <p:set>
                                      <p:cBhvr>
                                        <p:cTn id="9" dur="1" fill="hold">
                                          <p:stCondLst>
                                            <p:cond delay="999"/>
                                          </p:stCondLst>
                                        </p:cTn>
                                        <p:tgtEl>
                                          <p:spTgt spid="22"/>
                                        </p:tgtEl>
                                        <p:attrNameLst>
                                          <p:attrName>style.visibility</p:attrName>
                                        </p:attrNameLst>
                                      </p:cBhvr>
                                      <p:to>
                                        <p:strVal val="hidden"/>
                                      </p:to>
                                    </p:set>
                                  </p:childTnLst>
                                </p:cTn>
                              </p:par>
                              <p:par>
                                <p:cTn id="10" presetID="10" presetClass="exit" presetSubtype="0" fill="hold" grpId="0" nodeType="withEffect">
                                  <p:stCondLst>
                                    <p:cond delay="0"/>
                                  </p:stCondLst>
                                  <p:childTnLst>
                                    <p:animEffect transition="out" filter="fade">
                                      <p:cBhvr>
                                        <p:cTn id="11" dur="500"/>
                                        <p:tgtEl>
                                          <p:spTgt spid="20"/>
                                        </p:tgtEl>
                                      </p:cBhvr>
                                    </p:animEffect>
                                    <p:set>
                                      <p:cBhvr>
                                        <p:cTn id="12" dur="1" fill="hold">
                                          <p:stCondLst>
                                            <p:cond delay="499"/>
                                          </p:stCondLst>
                                        </p:cTn>
                                        <p:tgtEl>
                                          <p:spTgt spid="20"/>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21"/>
                                        </p:tgtEl>
                                      </p:cBhvr>
                                    </p:animEffect>
                                    <p:set>
                                      <p:cBhvr>
                                        <p:cTn id="15"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2"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FF6EF840-3EDF-4753-8621-C24FA084DCB1}"/>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7C11FFF6-174B-43CD-8646-2648829D78BE}"/>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2E546524-1F9F-420E-9CD4-3B52EDC39DE5}"/>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9FE69AA9-799C-4274-9DF4-233155A37A2F}"/>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090F8E07-75B3-4ACF-B674-D357511E1909}"/>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96010A29-01CD-4FDB-831B-8459D86907F9}"/>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7271E638-16CF-4E7E-9785-195944C963F0}"/>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267F2D4-8EAA-40E4-811E-9034FFE39D5A}"/>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BF05B28-B02C-43C1-9853-65132962FF49}"/>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0A6A6F95-9DA0-4F66-B480-466A2CB68106}"/>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FD4C2812-90BE-4F1B-A7C9-394EF8082C62}"/>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TextBox 3">
            <a:extLst>
              <a:ext uri="{FF2B5EF4-FFF2-40B4-BE49-F238E27FC236}">
                <a16:creationId xmlns:a16="http://schemas.microsoft.com/office/drawing/2014/main" id="{5D03DC1F-2288-4EB3-A531-D294D9B2F7AF}"/>
              </a:ext>
            </a:extLst>
          </p:cNvPr>
          <p:cNvSpPr txBox="1"/>
          <p:nvPr/>
        </p:nvSpPr>
        <p:spPr>
          <a:xfrm>
            <a:off x="425451" y="3738033"/>
            <a:ext cx="5433483" cy="1600438"/>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class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extends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Person{</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private int </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Student(String name,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age,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int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score)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(name, age);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400" b="1" dirty="0">
                <a:solidFill>
                  <a:srgbClr val="660E7A"/>
                </a:solidFill>
                <a:latin typeface="Consolas" panose="020B0609020204030204" pitchFamily="49" charset="0"/>
                <a:ea typeface="阿里巴巴普惠体" panose="00020600040101010101" pitchFamily="18" charset="-122"/>
                <a:cs typeface="阿里巴巴普惠体" panose="00020600040101010101" pitchFamily="18" charset="-122"/>
              </a:rPr>
              <a:t>score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矩形 15">
            <a:extLst>
              <a:ext uri="{FF2B5EF4-FFF2-40B4-BE49-F238E27FC236}">
                <a16:creationId xmlns:a16="http://schemas.microsoft.com/office/drawing/2014/main" id="{72672412-33E4-4FFA-9604-7B88BF39AC5D}"/>
              </a:ext>
            </a:extLst>
          </p:cNvPr>
          <p:cNvSpPr/>
          <p:nvPr/>
        </p:nvSpPr>
        <p:spPr>
          <a:xfrm>
            <a:off x="425451" y="4654551"/>
            <a:ext cx="5433483" cy="213783"/>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4">
            <a:extLst>
              <a:ext uri="{FF2B5EF4-FFF2-40B4-BE49-F238E27FC236}">
                <a16:creationId xmlns:a16="http://schemas.microsoft.com/office/drawing/2014/main" id="{5DD1250A-4F51-4A5D-9185-086230E826F2}"/>
              </a:ext>
            </a:extLst>
          </p:cNvPr>
          <p:cNvSpPr txBox="1">
            <a:spLocks noChangeArrowheads="1"/>
          </p:cNvSpPr>
          <p:nvPr/>
        </p:nvSpPr>
        <p:spPr bwMode="auto">
          <a:xfrm>
            <a:off x="2226733"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a:t>
            </a:r>
            <a:endPar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TextBox 4">
            <a:extLst>
              <a:ext uri="{FF2B5EF4-FFF2-40B4-BE49-F238E27FC236}">
                <a16:creationId xmlns:a16="http://schemas.microsoft.com/office/drawing/2014/main" id="{C950A4DA-9255-4705-B517-4A0227AF2B36}"/>
              </a:ext>
            </a:extLst>
          </p:cNvPr>
          <p:cNvSpPr txBox="1">
            <a:spLocks noChangeArrowheads="1"/>
          </p:cNvSpPr>
          <p:nvPr/>
        </p:nvSpPr>
        <p:spPr bwMode="auto">
          <a:xfrm>
            <a:off x="2802467" y="2353734"/>
            <a:ext cx="431800"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2</a:t>
            </a:r>
            <a:endParaRPr lang="zh-CN" altLang="en-US" sz="2400" b="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TextBox 3">
            <a:extLst>
              <a:ext uri="{FF2B5EF4-FFF2-40B4-BE49-F238E27FC236}">
                <a16:creationId xmlns:a16="http://schemas.microsoft.com/office/drawing/2014/main" id="{28F6E106-50C6-4B3F-A531-91FE4AA8B7E4}"/>
              </a:ext>
            </a:extLst>
          </p:cNvPr>
          <p:cNvSpPr txBox="1"/>
          <p:nvPr/>
        </p:nvSpPr>
        <p:spPr>
          <a:xfrm>
            <a:off x="6017684" y="4148667"/>
            <a:ext cx="2209800" cy="1169551"/>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构造方法：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String name </a:t>
            </a:r>
            <a:r>
              <a:rPr lang="zh-CN" altLang="zh-CN" sz="12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333"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age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int</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score </a:t>
            </a: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kern="0"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TextBox 3">
            <a:extLst>
              <a:ext uri="{FF2B5EF4-FFF2-40B4-BE49-F238E27FC236}">
                <a16:creationId xmlns:a16="http://schemas.microsoft.com/office/drawing/2014/main" id="{520B01EC-E2DF-4292-AF88-092E3943B690}"/>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矩形 20">
            <a:extLst>
              <a:ext uri="{FF2B5EF4-FFF2-40B4-BE49-F238E27FC236}">
                <a16:creationId xmlns:a16="http://schemas.microsoft.com/office/drawing/2014/main" id="{183D555D-5193-4F4E-A1A8-DE85897C79F7}"/>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2" name="TextBox 4">
            <a:extLst>
              <a:ext uri="{FF2B5EF4-FFF2-40B4-BE49-F238E27FC236}">
                <a16:creationId xmlns:a16="http://schemas.microsoft.com/office/drawing/2014/main" id="{3D53B75C-533D-4C43-BBBB-6FA569EE22EB}"/>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3" name="矩形 22">
            <a:extLst>
              <a:ext uri="{FF2B5EF4-FFF2-40B4-BE49-F238E27FC236}">
                <a16:creationId xmlns:a16="http://schemas.microsoft.com/office/drawing/2014/main" id="{77B5ECA5-6E01-4DC7-92C8-BF63CCD71577}"/>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5" name="矩形 24">
            <a:extLst>
              <a:ext uri="{FF2B5EF4-FFF2-40B4-BE49-F238E27FC236}">
                <a16:creationId xmlns:a16="http://schemas.microsoft.com/office/drawing/2014/main" id="{EDFB2164-30D1-4A9A-8666-A1873A481C08}"/>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矩形 25">
            <a:extLst>
              <a:ext uri="{FF2B5EF4-FFF2-40B4-BE49-F238E27FC236}">
                <a16:creationId xmlns:a16="http://schemas.microsoft.com/office/drawing/2014/main" id="{EEB7A882-8D39-4E5C-A3C2-F199AAE3D6C1}"/>
              </a:ext>
            </a:extLst>
          </p:cNvPr>
          <p:cNvSpPr/>
          <p:nvPr/>
        </p:nvSpPr>
        <p:spPr bwMode="auto">
          <a:xfrm>
            <a:off x="9647767" y="2791885"/>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27" name="矩形 26">
            <a:extLst>
              <a:ext uri="{FF2B5EF4-FFF2-40B4-BE49-F238E27FC236}">
                <a16:creationId xmlns:a16="http://schemas.microsoft.com/office/drawing/2014/main" id="{C9E28A77-CADD-447D-97F2-9B9B3AD10040}"/>
              </a:ext>
            </a:extLst>
          </p:cNvPr>
          <p:cNvSpPr/>
          <p:nvPr/>
        </p:nvSpPr>
        <p:spPr bwMode="auto">
          <a:xfrm>
            <a:off x="10416117" y="2791885"/>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0</a:t>
            </a:r>
          </a:p>
        </p:txBody>
      </p:sp>
      <p:sp>
        <p:nvSpPr>
          <p:cNvPr id="28" name="矩形 27">
            <a:extLst>
              <a:ext uri="{FF2B5EF4-FFF2-40B4-BE49-F238E27FC236}">
                <a16:creationId xmlns:a16="http://schemas.microsoft.com/office/drawing/2014/main" id="{AE9848A5-5521-47FC-9415-F13ACB16AE75}"/>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29" name="矩形 28">
            <a:extLst>
              <a:ext uri="{FF2B5EF4-FFF2-40B4-BE49-F238E27FC236}">
                <a16:creationId xmlns:a16="http://schemas.microsoft.com/office/drawing/2014/main" id="{DC668CFE-7188-4BFF-9CF5-55622C5540A7}"/>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30" name="矩形 29">
            <a:extLst>
              <a:ext uri="{FF2B5EF4-FFF2-40B4-BE49-F238E27FC236}">
                <a16:creationId xmlns:a16="http://schemas.microsoft.com/office/drawing/2014/main" id="{CC4D0EC8-228F-458F-9488-24753C1E5F20}"/>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31" name="矩形 30">
            <a:extLst>
              <a:ext uri="{FF2B5EF4-FFF2-40B4-BE49-F238E27FC236}">
                <a16:creationId xmlns:a16="http://schemas.microsoft.com/office/drawing/2014/main" id="{438001E7-BC3E-4032-89C3-9D78E2F7FC40}"/>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2" name="矩形 31">
            <a:extLst>
              <a:ext uri="{FF2B5EF4-FFF2-40B4-BE49-F238E27FC236}">
                <a16:creationId xmlns:a16="http://schemas.microsoft.com/office/drawing/2014/main" id="{6A3E9835-6CDB-4F8C-9F49-0C8AD1464DBC}"/>
              </a:ext>
            </a:extLst>
          </p:cNvPr>
          <p:cNvSpPr/>
          <p:nvPr/>
        </p:nvSpPr>
        <p:spPr>
          <a:xfrm>
            <a:off x="10416117" y="3843867"/>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3" name="矩形 32">
            <a:extLst>
              <a:ext uri="{FF2B5EF4-FFF2-40B4-BE49-F238E27FC236}">
                <a16:creationId xmlns:a16="http://schemas.microsoft.com/office/drawing/2014/main" id="{007985E1-E512-4BC9-ABEC-0C77DC020120}"/>
              </a:ext>
            </a:extLst>
          </p:cNvPr>
          <p:cNvSpPr/>
          <p:nvPr/>
        </p:nvSpPr>
        <p:spPr>
          <a:xfrm>
            <a:off x="10416117" y="2791884"/>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32830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0" nodeType="clickEffect">
                                  <p:stCondLst>
                                    <p:cond delay="0"/>
                                  </p:stCondLst>
                                  <p:childTnLst>
                                    <p:animMotion origin="layout" path="M -1.38889E-6 -3.95062E-6 L -1.38889E-6 -0.52407 " pathEditMode="relative" rAng="0" ptsTypes="AA">
                                      <p:cBhvr>
                                        <p:cTn id="11" dur="750" fill="hold"/>
                                        <p:tgtEl>
                                          <p:spTgt spid="19"/>
                                        </p:tgtEl>
                                        <p:attrNameLst>
                                          <p:attrName>ppt_x</p:attrName>
                                          <p:attrName>ppt_y</p:attrName>
                                        </p:attrNameLst>
                                      </p:cBhvr>
                                      <p:rCtr x="0" y="-26204"/>
                                    </p:animMotion>
                                  </p:childTnLst>
                                </p:cTn>
                              </p:par>
                              <p:par>
                                <p:cTn id="12" presetID="10" presetClass="exit" presetSubtype="0" fill="hold" grpId="1" nodeType="withEffect">
                                  <p:stCondLst>
                                    <p:cond delay="0"/>
                                  </p:stCondLst>
                                  <p:childTnLst>
                                    <p:animEffect transition="out" filter="fade">
                                      <p:cBhvr>
                                        <p:cTn id="13" dur="1000"/>
                                        <p:tgtEl>
                                          <p:spTgt spid="19"/>
                                        </p:tgtEl>
                                      </p:cBhvr>
                                    </p:animEffect>
                                    <p:set>
                                      <p:cBhvr>
                                        <p:cTn id="14" dur="1" fill="hold">
                                          <p:stCondLst>
                                            <p:cond delay="999"/>
                                          </p:stCondLst>
                                        </p:cTn>
                                        <p:tgtEl>
                                          <p:spTgt spid="19"/>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16"/>
                                        </p:tgtEl>
                                      </p:cBhvr>
                                    </p:animEffect>
                                    <p:set>
                                      <p:cBhvr>
                                        <p:cTn id="20" dur="1" fill="hold">
                                          <p:stCondLst>
                                            <p:cond delay="499"/>
                                          </p:stCondLst>
                                        </p:cTn>
                                        <p:tgtEl>
                                          <p:spTgt spid="1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P spid="19" grpId="0" animBg="1"/>
      <p:bldP spid="19" grpId="1" animBg="1"/>
      <p:bldP spid="3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F13FDE4F-5489-4B52-91FD-F4ECD2450407}"/>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EE2A9313-0C2D-43E0-888E-7AEE4BD343CA}"/>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D9732BA5-42F6-42D9-8C00-96DB77F28505}"/>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E17D41EE-27BC-4C4F-9981-9D5D82400E47}"/>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0AA76847-35C6-4F87-BE8A-4926F0A64A8C}"/>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0AC2E663-AAB0-4499-8E1C-086E51C7FC70}"/>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2876499C-9E9C-4592-9A19-7100BA1F88DB}"/>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3D11398-D631-46C6-B75E-0DA7CAFD6BA1}"/>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781AE68-0B24-4999-B3C7-434F2A02F1E8}"/>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1290C87D-87BA-41E8-8EC0-D462B9265A6B}"/>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0E1B3CE6-B40C-4D11-B801-27BB26FD39DF}"/>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矩形 15">
            <a:extLst>
              <a:ext uri="{FF2B5EF4-FFF2-40B4-BE49-F238E27FC236}">
                <a16:creationId xmlns:a16="http://schemas.microsoft.com/office/drawing/2014/main" id="{EEF3B868-A66A-45E6-AB9C-87EA9FA5A887}"/>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17" name="TextBox 4">
            <a:extLst>
              <a:ext uri="{FF2B5EF4-FFF2-40B4-BE49-F238E27FC236}">
                <a16:creationId xmlns:a16="http://schemas.microsoft.com/office/drawing/2014/main" id="{CCC1D0B1-4DD5-4C40-9C85-56B43FB0B7FA}"/>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684839DA-61DA-487D-B265-79DE0AD4FE24}"/>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矩形 18">
            <a:extLst>
              <a:ext uri="{FF2B5EF4-FFF2-40B4-BE49-F238E27FC236}">
                <a16:creationId xmlns:a16="http://schemas.microsoft.com/office/drawing/2014/main" id="{491B69A4-C14A-4088-97DC-C491E47EC85B}"/>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矩形 19">
            <a:extLst>
              <a:ext uri="{FF2B5EF4-FFF2-40B4-BE49-F238E27FC236}">
                <a16:creationId xmlns:a16="http://schemas.microsoft.com/office/drawing/2014/main" id="{9950CC34-AB60-4F50-9598-2D8F3A57ED20}"/>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grpSp>
        <p:nvGrpSpPr>
          <p:cNvPr id="21" name="组合 20">
            <a:extLst>
              <a:ext uri="{FF2B5EF4-FFF2-40B4-BE49-F238E27FC236}">
                <a16:creationId xmlns:a16="http://schemas.microsoft.com/office/drawing/2014/main" id="{27408D41-AA27-469A-8DF7-ED49FCAF705A}"/>
              </a:ext>
            </a:extLst>
          </p:cNvPr>
          <p:cNvGrpSpPr>
            <a:grpSpLocks/>
          </p:cNvGrpSpPr>
          <p:nvPr/>
        </p:nvGrpSpPr>
        <p:grpSpPr bwMode="auto">
          <a:xfrm>
            <a:off x="9647768" y="3494618"/>
            <a:ext cx="1919817" cy="349249"/>
            <a:chOff x="7235825" y="2620193"/>
            <a:chExt cx="1439863" cy="261937"/>
          </a:xfrm>
        </p:grpSpPr>
        <p:sp>
          <p:nvSpPr>
            <p:cNvPr id="22" name="矩形 21">
              <a:extLst>
                <a:ext uri="{FF2B5EF4-FFF2-40B4-BE49-F238E27FC236}">
                  <a16:creationId xmlns:a16="http://schemas.microsoft.com/office/drawing/2014/main" id="{D8120EBC-A122-49B4-A03F-7447EAAC5678}"/>
                </a:ext>
              </a:extLst>
            </p:cNvPr>
            <p:cNvSpPr/>
            <p:nvPr/>
          </p:nvSpPr>
          <p:spPr>
            <a:xfrm>
              <a:off x="7235825" y="262019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23" name="矩形 22">
              <a:extLst>
                <a:ext uri="{FF2B5EF4-FFF2-40B4-BE49-F238E27FC236}">
                  <a16:creationId xmlns:a16="http://schemas.microsoft.com/office/drawing/2014/main" id="{D88E8FB1-A3BD-4D9D-8BEA-46B3A55B42A1}"/>
                </a:ext>
              </a:extLst>
            </p:cNvPr>
            <p:cNvSpPr/>
            <p:nvPr/>
          </p:nvSpPr>
          <p:spPr>
            <a:xfrm>
              <a:off x="7812088" y="262019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25" name="组合 24">
            <a:extLst>
              <a:ext uri="{FF2B5EF4-FFF2-40B4-BE49-F238E27FC236}">
                <a16:creationId xmlns:a16="http://schemas.microsoft.com/office/drawing/2014/main" id="{9DA1C570-E5D8-4E5F-8A6C-774ECBEB3065}"/>
              </a:ext>
            </a:extLst>
          </p:cNvPr>
          <p:cNvGrpSpPr>
            <a:grpSpLocks/>
          </p:cNvGrpSpPr>
          <p:nvPr/>
        </p:nvGrpSpPr>
        <p:grpSpPr bwMode="auto">
          <a:xfrm>
            <a:off x="9647768" y="3843867"/>
            <a:ext cx="1919817" cy="349251"/>
            <a:chOff x="7235825" y="2882130"/>
            <a:chExt cx="1439863" cy="261938"/>
          </a:xfrm>
        </p:grpSpPr>
        <p:sp>
          <p:nvSpPr>
            <p:cNvPr id="26" name="矩形 25">
              <a:extLst>
                <a:ext uri="{FF2B5EF4-FFF2-40B4-BE49-F238E27FC236}">
                  <a16:creationId xmlns:a16="http://schemas.microsoft.com/office/drawing/2014/main" id="{F8BC52F2-8A1B-49B4-80EC-DCFE231EBD47}"/>
                </a:ext>
              </a:extLst>
            </p:cNvPr>
            <p:cNvSpPr/>
            <p:nvPr/>
          </p:nvSpPr>
          <p:spPr>
            <a:xfrm>
              <a:off x="7235825" y="2882130"/>
              <a:ext cx="576263" cy="261938"/>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27" name="矩形 26">
              <a:extLst>
                <a:ext uri="{FF2B5EF4-FFF2-40B4-BE49-F238E27FC236}">
                  <a16:creationId xmlns:a16="http://schemas.microsoft.com/office/drawing/2014/main" id="{C032BD37-F5AA-4A01-B680-A7F972E93EB8}"/>
                </a:ext>
              </a:extLst>
            </p:cNvPr>
            <p:cNvSpPr/>
            <p:nvPr/>
          </p:nvSpPr>
          <p:spPr>
            <a:xfrm>
              <a:off x="7812088" y="2882130"/>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28" name="组合 27">
            <a:extLst>
              <a:ext uri="{FF2B5EF4-FFF2-40B4-BE49-F238E27FC236}">
                <a16:creationId xmlns:a16="http://schemas.microsoft.com/office/drawing/2014/main" id="{D3B5231D-6C54-4475-AEAA-724F1919E86A}"/>
              </a:ext>
            </a:extLst>
          </p:cNvPr>
          <p:cNvGrpSpPr>
            <a:grpSpLocks/>
          </p:cNvGrpSpPr>
          <p:nvPr/>
        </p:nvGrpSpPr>
        <p:grpSpPr bwMode="auto">
          <a:xfrm>
            <a:off x="9647768" y="2791885"/>
            <a:ext cx="1919817" cy="349249"/>
            <a:chOff x="7235825" y="2093913"/>
            <a:chExt cx="1439863" cy="261937"/>
          </a:xfrm>
        </p:grpSpPr>
        <p:sp>
          <p:nvSpPr>
            <p:cNvPr id="29" name="矩形 28">
              <a:extLst>
                <a:ext uri="{FF2B5EF4-FFF2-40B4-BE49-F238E27FC236}">
                  <a16:creationId xmlns:a16="http://schemas.microsoft.com/office/drawing/2014/main" id="{11E918D7-4EEA-4A14-ABA1-13090736DEB9}"/>
                </a:ext>
              </a:extLst>
            </p:cNvPr>
            <p:cNvSpPr/>
            <p:nvPr/>
          </p:nvSpPr>
          <p:spPr bwMode="auto">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30" name="矩形 29">
              <a:extLst>
                <a:ext uri="{FF2B5EF4-FFF2-40B4-BE49-F238E27FC236}">
                  <a16:creationId xmlns:a16="http://schemas.microsoft.com/office/drawing/2014/main" id="{0EDF3833-5DB6-4D54-9084-D2F9F0F42E8B}"/>
                </a:ext>
              </a:extLst>
            </p:cNvPr>
            <p:cNvSpPr/>
            <p:nvPr/>
          </p:nvSpPr>
          <p:spPr>
            <a:xfrm>
              <a:off x="7812088" y="2093913"/>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sp>
        <p:nvSpPr>
          <p:cNvPr id="31" name="TextBox 3">
            <a:extLst>
              <a:ext uri="{FF2B5EF4-FFF2-40B4-BE49-F238E27FC236}">
                <a16:creationId xmlns:a16="http://schemas.microsoft.com/office/drawing/2014/main" id="{1D476DD4-AF33-4C3A-B468-DBE9AD18B8E8}"/>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endPar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85788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8"/>
                                        </p:tgtEl>
                                      </p:cBhvr>
                                    </p:animEffect>
                                    <p:animScale>
                                      <p:cBhvr>
                                        <p:cTn id="7" dur="250" autoRev="1" fill="hold"/>
                                        <p:tgtEl>
                                          <p:spTgt spid="28"/>
                                        </p:tgtEl>
                                      </p:cBhvr>
                                      <p:by x="105000" y="105000"/>
                                    </p:animScale>
                                  </p:childTnLst>
                                </p:cTn>
                              </p:par>
                            </p:childTnLst>
                          </p:cTn>
                        </p:par>
                        <p:par>
                          <p:cTn id="8" fill="hold">
                            <p:stCondLst>
                              <p:cond delay="500"/>
                            </p:stCondLst>
                            <p:childTnLst>
                              <p:par>
                                <p:cTn id="9" presetID="26" presetClass="emph" presetSubtype="0" fill="hold" nodeType="afterEffect">
                                  <p:stCondLst>
                                    <p:cond delay="0"/>
                                  </p:stCondLst>
                                  <p:childTnLst>
                                    <p:animEffect transition="out" filter="fade">
                                      <p:cBhvr>
                                        <p:cTn id="10" dur="500" tmFilter="0, 0; .2, .5; .8, .5; 1, 0"/>
                                        <p:tgtEl>
                                          <p:spTgt spid="21"/>
                                        </p:tgtEl>
                                      </p:cBhvr>
                                    </p:animEffect>
                                    <p:animScale>
                                      <p:cBhvr>
                                        <p:cTn id="11" dur="250" autoRev="1" fill="hold"/>
                                        <p:tgtEl>
                                          <p:spTgt spid="21"/>
                                        </p:tgtEl>
                                      </p:cBhvr>
                                      <p:by x="105000" y="105000"/>
                                    </p:animScale>
                                  </p:childTnLst>
                                </p:cTn>
                              </p:par>
                            </p:childTnLst>
                          </p:cTn>
                        </p:par>
                        <p:par>
                          <p:cTn id="12" fill="hold">
                            <p:stCondLst>
                              <p:cond delay="1000"/>
                            </p:stCondLst>
                            <p:childTnLst>
                              <p:par>
                                <p:cTn id="13" presetID="26" presetClass="emph" presetSubtype="0" fill="hold" nodeType="afterEffect">
                                  <p:stCondLst>
                                    <p:cond delay="0"/>
                                  </p:stCondLst>
                                  <p:childTnLst>
                                    <p:animEffect transition="out" filter="fade">
                                      <p:cBhvr>
                                        <p:cTn id="14" dur="500" tmFilter="0, 0; .2, .5; .8, .5; 1, 0"/>
                                        <p:tgtEl>
                                          <p:spTgt spid="25"/>
                                        </p:tgtEl>
                                      </p:cBhvr>
                                    </p:animEffect>
                                    <p:animScale>
                                      <p:cBhvr>
                                        <p:cTn id="15"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F13FDE4F-5489-4B52-91FD-F4ECD2450407}"/>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EE2A9313-0C2D-43E0-888E-7AEE4BD343CA}"/>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D9732BA5-42F6-42D9-8C00-96DB77F28505}"/>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E17D41EE-27BC-4C4F-9981-9D5D82400E47}"/>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0AA76847-35C6-4F87-BE8A-4926F0A64A8C}"/>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0AC2E663-AAB0-4499-8E1C-086E51C7FC70}"/>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2876499C-9E9C-4592-9A19-7100BA1F88DB}"/>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3D11398-D631-46C6-B75E-0DA7CAFD6BA1}"/>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781AE68-0B24-4999-B3C7-434F2A02F1E8}"/>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1290C87D-87BA-41E8-8EC0-D462B9265A6B}"/>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0E1B3CE6-B40C-4D11-B801-27BB26FD39DF}"/>
              </a:ext>
            </a:extLst>
          </p:cNvPr>
          <p:cNvSpPr/>
          <p:nvPr/>
        </p:nvSpPr>
        <p:spPr>
          <a:xfrm>
            <a:off x="2256367" y="2607733"/>
            <a:ext cx="3071284"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矩形 15">
            <a:extLst>
              <a:ext uri="{FF2B5EF4-FFF2-40B4-BE49-F238E27FC236}">
                <a16:creationId xmlns:a16="http://schemas.microsoft.com/office/drawing/2014/main" id="{EEF3B868-A66A-45E6-AB9C-87EA9FA5A887}"/>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17" name="TextBox 4">
            <a:extLst>
              <a:ext uri="{FF2B5EF4-FFF2-40B4-BE49-F238E27FC236}">
                <a16:creationId xmlns:a16="http://schemas.microsoft.com/office/drawing/2014/main" id="{CCC1D0B1-4DD5-4C40-9C85-56B43FB0B7FA}"/>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8" name="矩形 17">
            <a:extLst>
              <a:ext uri="{FF2B5EF4-FFF2-40B4-BE49-F238E27FC236}">
                <a16:creationId xmlns:a16="http://schemas.microsoft.com/office/drawing/2014/main" id="{684839DA-61DA-487D-B265-79DE0AD4FE24}"/>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9" name="矩形 18">
            <a:extLst>
              <a:ext uri="{FF2B5EF4-FFF2-40B4-BE49-F238E27FC236}">
                <a16:creationId xmlns:a16="http://schemas.microsoft.com/office/drawing/2014/main" id="{491B69A4-C14A-4088-97DC-C491E47EC85B}"/>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0" name="矩形 19">
            <a:extLst>
              <a:ext uri="{FF2B5EF4-FFF2-40B4-BE49-F238E27FC236}">
                <a16:creationId xmlns:a16="http://schemas.microsoft.com/office/drawing/2014/main" id="{9950CC34-AB60-4F50-9598-2D8F3A57ED20}"/>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grpSp>
        <p:nvGrpSpPr>
          <p:cNvPr id="21" name="组合 20">
            <a:extLst>
              <a:ext uri="{FF2B5EF4-FFF2-40B4-BE49-F238E27FC236}">
                <a16:creationId xmlns:a16="http://schemas.microsoft.com/office/drawing/2014/main" id="{27408D41-AA27-469A-8DF7-ED49FCAF705A}"/>
              </a:ext>
            </a:extLst>
          </p:cNvPr>
          <p:cNvGrpSpPr>
            <a:grpSpLocks/>
          </p:cNvGrpSpPr>
          <p:nvPr/>
        </p:nvGrpSpPr>
        <p:grpSpPr bwMode="auto">
          <a:xfrm>
            <a:off x="9647768" y="3494618"/>
            <a:ext cx="1919817" cy="349249"/>
            <a:chOff x="7235825" y="2620193"/>
            <a:chExt cx="1439863" cy="261937"/>
          </a:xfrm>
        </p:grpSpPr>
        <p:sp>
          <p:nvSpPr>
            <p:cNvPr id="22" name="矩形 21">
              <a:extLst>
                <a:ext uri="{FF2B5EF4-FFF2-40B4-BE49-F238E27FC236}">
                  <a16:creationId xmlns:a16="http://schemas.microsoft.com/office/drawing/2014/main" id="{D8120EBC-A122-49B4-A03F-7447EAAC5678}"/>
                </a:ext>
              </a:extLst>
            </p:cNvPr>
            <p:cNvSpPr/>
            <p:nvPr/>
          </p:nvSpPr>
          <p:spPr>
            <a:xfrm>
              <a:off x="7235825" y="262019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23" name="矩形 22">
              <a:extLst>
                <a:ext uri="{FF2B5EF4-FFF2-40B4-BE49-F238E27FC236}">
                  <a16:creationId xmlns:a16="http://schemas.microsoft.com/office/drawing/2014/main" id="{D88E8FB1-A3BD-4D9D-8BEA-46B3A55B42A1}"/>
                </a:ext>
              </a:extLst>
            </p:cNvPr>
            <p:cNvSpPr/>
            <p:nvPr/>
          </p:nvSpPr>
          <p:spPr>
            <a:xfrm>
              <a:off x="7812088" y="262019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25" name="组合 24">
            <a:extLst>
              <a:ext uri="{FF2B5EF4-FFF2-40B4-BE49-F238E27FC236}">
                <a16:creationId xmlns:a16="http://schemas.microsoft.com/office/drawing/2014/main" id="{9DA1C570-E5D8-4E5F-8A6C-774ECBEB3065}"/>
              </a:ext>
            </a:extLst>
          </p:cNvPr>
          <p:cNvGrpSpPr>
            <a:grpSpLocks/>
          </p:cNvGrpSpPr>
          <p:nvPr/>
        </p:nvGrpSpPr>
        <p:grpSpPr bwMode="auto">
          <a:xfrm>
            <a:off x="9647768" y="3843867"/>
            <a:ext cx="1919817" cy="349251"/>
            <a:chOff x="7235825" y="2882130"/>
            <a:chExt cx="1439863" cy="261938"/>
          </a:xfrm>
        </p:grpSpPr>
        <p:sp>
          <p:nvSpPr>
            <p:cNvPr id="26" name="矩形 25">
              <a:extLst>
                <a:ext uri="{FF2B5EF4-FFF2-40B4-BE49-F238E27FC236}">
                  <a16:creationId xmlns:a16="http://schemas.microsoft.com/office/drawing/2014/main" id="{F8BC52F2-8A1B-49B4-80EC-DCFE231EBD47}"/>
                </a:ext>
              </a:extLst>
            </p:cNvPr>
            <p:cNvSpPr/>
            <p:nvPr/>
          </p:nvSpPr>
          <p:spPr>
            <a:xfrm>
              <a:off x="7235825" y="2882130"/>
              <a:ext cx="576263" cy="261938"/>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27" name="矩形 26">
              <a:extLst>
                <a:ext uri="{FF2B5EF4-FFF2-40B4-BE49-F238E27FC236}">
                  <a16:creationId xmlns:a16="http://schemas.microsoft.com/office/drawing/2014/main" id="{C032BD37-F5AA-4A01-B680-A7F972E93EB8}"/>
                </a:ext>
              </a:extLst>
            </p:cNvPr>
            <p:cNvSpPr/>
            <p:nvPr/>
          </p:nvSpPr>
          <p:spPr>
            <a:xfrm>
              <a:off x="7812088" y="2882130"/>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28" name="组合 27">
            <a:extLst>
              <a:ext uri="{FF2B5EF4-FFF2-40B4-BE49-F238E27FC236}">
                <a16:creationId xmlns:a16="http://schemas.microsoft.com/office/drawing/2014/main" id="{D3B5231D-6C54-4475-AEAA-724F1919E86A}"/>
              </a:ext>
            </a:extLst>
          </p:cNvPr>
          <p:cNvGrpSpPr>
            <a:grpSpLocks/>
          </p:cNvGrpSpPr>
          <p:nvPr/>
        </p:nvGrpSpPr>
        <p:grpSpPr bwMode="auto">
          <a:xfrm>
            <a:off x="9647768" y="2791885"/>
            <a:ext cx="1919817" cy="349249"/>
            <a:chOff x="7235825" y="2093913"/>
            <a:chExt cx="1439863" cy="261937"/>
          </a:xfrm>
        </p:grpSpPr>
        <p:sp>
          <p:nvSpPr>
            <p:cNvPr id="29" name="矩形 28">
              <a:extLst>
                <a:ext uri="{FF2B5EF4-FFF2-40B4-BE49-F238E27FC236}">
                  <a16:creationId xmlns:a16="http://schemas.microsoft.com/office/drawing/2014/main" id="{11E918D7-4EEA-4A14-ABA1-13090736DEB9}"/>
                </a:ext>
              </a:extLst>
            </p:cNvPr>
            <p:cNvSpPr/>
            <p:nvPr/>
          </p:nvSpPr>
          <p:spPr bwMode="auto">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30" name="矩形 29">
              <a:extLst>
                <a:ext uri="{FF2B5EF4-FFF2-40B4-BE49-F238E27FC236}">
                  <a16:creationId xmlns:a16="http://schemas.microsoft.com/office/drawing/2014/main" id="{0EDF3833-5DB6-4D54-9084-D2F9F0F42E8B}"/>
                </a:ext>
              </a:extLst>
            </p:cNvPr>
            <p:cNvSpPr/>
            <p:nvPr/>
          </p:nvSpPr>
          <p:spPr>
            <a:xfrm>
              <a:off x="7812088" y="2093913"/>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sp>
        <p:nvSpPr>
          <p:cNvPr id="31" name="TextBox 3">
            <a:extLst>
              <a:ext uri="{FF2B5EF4-FFF2-40B4-BE49-F238E27FC236}">
                <a16:creationId xmlns:a16="http://schemas.microsoft.com/office/drawing/2014/main" id="{1D476DD4-AF33-4C3A-B468-DBE9AD18B8E8}"/>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  0x0011</a:t>
            </a:r>
          </a:p>
        </p:txBody>
      </p:sp>
    </p:spTree>
    <p:extLst>
      <p:ext uri="{BB962C8B-B14F-4D97-AF65-F5344CB8AC3E}">
        <p14:creationId xmlns:p14="http://schemas.microsoft.com/office/powerpoint/2010/main" val="513528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a:solidFill>
                  <a:srgbClr val="AD2B26"/>
                </a:solidFill>
                <a:latin typeface="Consolas" panose="020B0609020204030204" pitchFamily="49" charset="0"/>
              </a:rPr>
              <a:t>继承中的构造方法执行流程 </a:t>
            </a:r>
            <a:r>
              <a:rPr kumimoji="1" lang="en-US" altLang="zh-CN">
                <a:solidFill>
                  <a:srgbClr val="AD2B26"/>
                </a:solidFill>
                <a:latin typeface="Consolas" panose="020B0609020204030204" pitchFamily="49" charset="0"/>
              </a:rPr>
              <a:t>- </a:t>
            </a:r>
            <a:r>
              <a:rPr kumimoji="1" lang="zh-CN" altLang="en-US">
                <a:solidFill>
                  <a:srgbClr val="AD2B26"/>
                </a:solidFill>
                <a:latin typeface="Consolas" panose="020B0609020204030204" pitchFamily="49" charset="0"/>
              </a:rPr>
              <a:t>内存图解</a:t>
            </a:r>
            <a:endParaRPr kumimoji="1" lang="zh-CN" altLang="en-US" dirty="0">
              <a:solidFill>
                <a:srgbClr val="AD2B26"/>
              </a:solidFill>
              <a:latin typeface="Consolas" panose="020B0609020204030204" pitchFamily="49" charset="0"/>
            </a:endParaRPr>
          </a:p>
        </p:txBody>
      </p:sp>
      <p:grpSp>
        <p:nvGrpSpPr>
          <p:cNvPr id="4" name="组合 10">
            <a:extLst>
              <a:ext uri="{FF2B5EF4-FFF2-40B4-BE49-F238E27FC236}">
                <a16:creationId xmlns:a16="http://schemas.microsoft.com/office/drawing/2014/main" id="{398199CE-DA57-4815-B10A-C568F18DE3CA}"/>
              </a:ext>
            </a:extLst>
          </p:cNvPr>
          <p:cNvGrpSpPr>
            <a:grpSpLocks/>
          </p:cNvGrpSpPr>
          <p:nvPr/>
        </p:nvGrpSpPr>
        <p:grpSpPr bwMode="auto">
          <a:xfrm>
            <a:off x="8754534" y="1807633"/>
            <a:ext cx="3198284" cy="4790017"/>
            <a:chOff x="6565874" y="1354975"/>
            <a:chExt cx="2398614" cy="3592863"/>
          </a:xfrm>
        </p:grpSpPr>
        <p:sp>
          <p:nvSpPr>
            <p:cNvPr id="5" name="矩形 4">
              <a:extLst>
                <a:ext uri="{FF2B5EF4-FFF2-40B4-BE49-F238E27FC236}">
                  <a16:creationId xmlns:a16="http://schemas.microsoft.com/office/drawing/2014/main" id="{328C494D-638F-4619-96B5-FBC888715693}"/>
                </a:ext>
              </a:extLst>
            </p:cNvPr>
            <p:cNvSpPr/>
            <p:nvPr/>
          </p:nvSpPr>
          <p:spPr bwMode="auto">
            <a:xfrm>
              <a:off x="6565874" y="1354975"/>
              <a:ext cx="2398614" cy="3592863"/>
            </a:xfrm>
            <a:prstGeom prst="rect">
              <a:avLst/>
            </a:prstGeom>
            <a:solidFill>
              <a:srgbClr val="047FFD">
                <a:alpha val="10000"/>
              </a:srgbClr>
            </a:solidFill>
            <a:ln w="38100">
              <a:solidFill>
                <a:srgbClr val="047FFD"/>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TextBox 2">
              <a:extLst>
                <a:ext uri="{FF2B5EF4-FFF2-40B4-BE49-F238E27FC236}">
                  <a16:creationId xmlns:a16="http://schemas.microsoft.com/office/drawing/2014/main" id="{3DFCCF70-5717-4B32-8768-3AC3C93B8705}"/>
                </a:ext>
              </a:extLst>
            </p:cNvPr>
            <p:cNvSpPr txBox="1">
              <a:spLocks noChangeArrowheads="1"/>
            </p:cNvSpPr>
            <p:nvPr/>
          </p:nvSpPr>
          <p:spPr bwMode="auto">
            <a:xfrm>
              <a:off x="7296868" y="4489224"/>
              <a:ext cx="936625" cy="44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a:solidFill>
                    <a:srgbClr val="047FFD"/>
                  </a:solidFill>
                  <a:latin typeface="Consolas" panose="020B0609020204030204" pitchFamily="49" charset="0"/>
                  <a:ea typeface="阿里巴巴普惠体" panose="00020600040101010101" pitchFamily="18" charset="-122"/>
                  <a:cs typeface="阿里巴巴普惠体" panose="00020600040101010101" pitchFamily="18" charset="-122"/>
                </a:rPr>
                <a:t>堆内存</a:t>
              </a:r>
            </a:p>
          </p:txBody>
        </p:sp>
      </p:grpSp>
      <p:grpSp>
        <p:nvGrpSpPr>
          <p:cNvPr id="7" name="组合 13">
            <a:extLst>
              <a:ext uri="{FF2B5EF4-FFF2-40B4-BE49-F238E27FC236}">
                <a16:creationId xmlns:a16="http://schemas.microsoft.com/office/drawing/2014/main" id="{4B9654DC-7980-4A4A-8CB4-FEA681982541}"/>
              </a:ext>
            </a:extLst>
          </p:cNvPr>
          <p:cNvGrpSpPr>
            <a:grpSpLocks/>
          </p:cNvGrpSpPr>
          <p:nvPr/>
        </p:nvGrpSpPr>
        <p:grpSpPr bwMode="auto">
          <a:xfrm>
            <a:off x="5941484" y="1797051"/>
            <a:ext cx="2360083" cy="4800601"/>
            <a:chOff x="4441895" y="1347668"/>
            <a:chExt cx="1771200" cy="3600177"/>
          </a:xfrm>
        </p:grpSpPr>
        <p:sp>
          <p:nvSpPr>
            <p:cNvPr id="8" name="矩形 7">
              <a:extLst>
                <a:ext uri="{FF2B5EF4-FFF2-40B4-BE49-F238E27FC236}">
                  <a16:creationId xmlns:a16="http://schemas.microsoft.com/office/drawing/2014/main" id="{AAD930A3-B5FF-48EA-AE74-843C1409B4B0}"/>
                </a:ext>
              </a:extLst>
            </p:cNvPr>
            <p:cNvSpPr/>
            <p:nvPr/>
          </p:nvSpPr>
          <p:spPr bwMode="auto">
            <a:xfrm>
              <a:off x="4472076" y="1350843"/>
              <a:ext cx="1728310" cy="3597002"/>
            </a:xfrm>
            <a:prstGeom prst="rect">
              <a:avLst/>
            </a:prstGeom>
            <a:solidFill>
              <a:srgbClr val="FD0000">
                <a:alpha val="1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TextBox 2">
              <a:extLst>
                <a:ext uri="{FF2B5EF4-FFF2-40B4-BE49-F238E27FC236}">
                  <a16:creationId xmlns:a16="http://schemas.microsoft.com/office/drawing/2014/main" id="{7D612D4A-C347-4A56-A702-05A39EEF3DCA}"/>
                </a:ext>
              </a:extLst>
            </p:cNvPr>
            <p:cNvSpPr txBox="1">
              <a:spLocks noChangeArrowheads="1"/>
            </p:cNvSpPr>
            <p:nvPr/>
          </p:nvSpPr>
          <p:spPr bwMode="auto">
            <a:xfrm>
              <a:off x="4868464" y="4457474"/>
              <a:ext cx="935038" cy="4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栈内存</a:t>
              </a:r>
              <a:endParaRPr lang="en-US" altLang="zh-CN" sz="24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0" name="直接连接符 9">
              <a:extLst>
                <a:ext uri="{FF2B5EF4-FFF2-40B4-BE49-F238E27FC236}">
                  <a16:creationId xmlns:a16="http://schemas.microsoft.com/office/drawing/2014/main" id="{7D1DACC5-0292-4392-B6A5-A8C06425496C}"/>
                </a:ext>
              </a:extLst>
            </p:cNvPr>
            <p:cNvCxnSpPr/>
            <p:nvPr/>
          </p:nvCxnSpPr>
          <p:spPr>
            <a:xfrm>
              <a:off x="4448249" y="1347668"/>
              <a:ext cx="11119"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B8730A45-7B25-4B74-977D-698519DFA71B}"/>
                </a:ext>
              </a:extLst>
            </p:cNvPr>
            <p:cNvCxnSpPr/>
            <p:nvPr/>
          </p:nvCxnSpPr>
          <p:spPr>
            <a:xfrm>
              <a:off x="6184502" y="1350843"/>
              <a:ext cx="11120" cy="359700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3715BD8-798D-4C2F-9354-E824974C3EE9}"/>
                </a:ext>
              </a:extLst>
            </p:cNvPr>
            <p:cNvCxnSpPr/>
            <p:nvPr/>
          </p:nvCxnSpPr>
          <p:spPr>
            <a:xfrm flipH="1">
              <a:off x="4441895" y="4944670"/>
              <a:ext cx="1771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3">
            <a:extLst>
              <a:ext uri="{FF2B5EF4-FFF2-40B4-BE49-F238E27FC236}">
                <a16:creationId xmlns:a16="http://schemas.microsoft.com/office/drawing/2014/main" id="{4E72DA28-546C-4636-AF49-3F069DD3F0E7}"/>
              </a:ext>
            </a:extLst>
          </p:cNvPr>
          <p:cNvSpPr txBox="1"/>
          <p:nvPr/>
        </p:nvSpPr>
        <p:spPr>
          <a:xfrm>
            <a:off x="425451" y="2341033"/>
            <a:ext cx="5433483" cy="1169551"/>
          </a:xfrm>
          <a:prstGeom prst="rect">
            <a:avLst/>
          </a:prstGeom>
          <a:solidFill>
            <a:srgbClr val="FFFFE4"/>
          </a:solidFill>
          <a:ln w="12700">
            <a:solidFill>
              <a:schemeClr val="tx1"/>
            </a:solidFill>
          </a:ln>
        </p:spPr>
        <p:txBody>
          <a:bodyPr>
            <a:spAutoFit/>
          </a:bodyPr>
          <a:lstStyle/>
          <a:p>
            <a:pP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public static void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main(String[] args) {</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Student stu = </a:t>
            </a: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new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sout(stu.getName() +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stu.getAge() + </a:t>
            </a:r>
            <a:endParaRPr lang="en-US"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a:defRPr/>
            </a:pPr>
            <a:r>
              <a:rPr lang="en-US" altLang="zh-CN" sz="1400" b="1"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 stu.getScore());</a:t>
            </a:r>
            <a:b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br>
            <a:r>
              <a:rPr lang="zh-CN" altLang="zh-CN" sz="140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4" name="TextBox 4">
            <a:extLst>
              <a:ext uri="{FF2B5EF4-FFF2-40B4-BE49-F238E27FC236}">
                <a16:creationId xmlns:a16="http://schemas.microsoft.com/office/drawing/2014/main" id="{4FE0C2AF-7813-494E-B460-3B3F02FB8BE4}"/>
              </a:ext>
            </a:extLst>
          </p:cNvPr>
          <p:cNvSpPr txBox="1"/>
          <p:nvPr/>
        </p:nvSpPr>
        <p:spPr>
          <a:xfrm>
            <a:off x="8858251" y="2042584"/>
            <a:ext cx="967316" cy="385298"/>
          </a:xfrm>
          <a:prstGeom prst="rect">
            <a:avLst/>
          </a:prstGeom>
          <a:noFill/>
        </p:spPr>
        <p:txBody>
          <a:bodyPr>
            <a:spAutoFit/>
          </a:bodyPr>
          <a:lstStyle/>
          <a:p>
            <a:pPr>
              <a:lnSpc>
                <a:spcPct val="150000"/>
              </a:lnSpc>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TextBox 3">
            <a:extLst>
              <a:ext uri="{FF2B5EF4-FFF2-40B4-BE49-F238E27FC236}">
                <a16:creationId xmlns:a16="http://schemas.microsoft.com/office/drawing/2014/main" id="{17995393-696D-4136-9357-FBB5C94257D1}"/>
              </a:ext>
            </a:extLst>
          </p:cNvPr>
          <p:cNvSpPr txBox="1"/>
          <p:nvPr/>
        </p:nvSpPr>
        <p:spPr>
          <a:xfrm>
            <a:off x="6017684" y="5551903"/>
            <a:ext cx="2209800" cy="523220"/>
          </a:xfrm>
          <a:prstGeom prst="rect">
            <a:avLst/>
          </a:prstGeom>
          <a:solidFill>
            <a:srgbClr val="FFFFE4"/>
          </a:solidFill>
          <a:ln w="12700">
            <a:solidFill>
              <a:schemeClr val="tx1"/>
            </a:solidFill>
          </a:ln>
        </p:spPr>
        <p:txBody>
          <a:bodyPr>
            <a:spAutoFit/>
          </a:bodyPr>
          <a:lstStyle/>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zh-CN" altLang="en-US"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方法：</a:t>
            </a: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main()</a:t>
            </a:r>
          </a:p>
          <a:p>
            <a:pPr>
              <a:tabLst>
                <a:tab pos="775527" algn="l"/>
                <a:tab pos="1551055" algn="l"/>
                <a:tab pos="2326582" algn="l"/>
                <a:tab pos="3102109" algn="l"/>
                <a:tab pos="3877636" algn="l"/>
                <a:tab pos="4653164" algn="l"/>
                <a:tab pos="5428691" algn="l"/>
                <a:tab pos="6204218" algn="l"/>
                <a:tab pos="6979746" algn="l"/>
                <a:tab pos="7755273" algn="l"/>
                <a:tab pos="8530800" algn="l"/>
                <a:tab pos="9306327" algn="l"/>
                <a:tab pos="10081855" algn="l"/>
                <a:tab pos="10857382" algn="l"/>
                <a:tab pos="11632909" algn="l"/>
                <a:tab pos="12408436" algn="l"/>
              </a:tabLst>
              <a:defRPr/>
            </a:pPr>
            <a:r>
              <a:rPr lang="en-US" altLang="zh-CN" sz="1400" kern="0" dirty="0">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kern="0" dirty="0" err="1">
                <a:solidFill>
                  <a:srgbClr val="000000"/>
                </a:solidFill>
                <a:latin typeface="Consolas" panose="020B0609020204030204" pitchFamily="49" charset="0"/>
                <a:ea typeface="阿里巴巴普惠体" panose="00020600040101010101" pitchFamily="18" charset="-122"/>
                <a:cs typeface="阿里巴巴普惠体" panose="00020600040101010101" pitchFamily="18" charset="-122"/>
              </a:rPr>
              <a:t>stu</a:t>
            </a:r>
            <a:r>
              <a:rPr lang="zh-CN" altLang="en-US" sz="12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p>
        </p:txBody>
      </p:sp>
      <p:sp>
        <p:nvSpPr>
          <p:cNvPr id="16" name="矩形 15">
            <a:extLst>
              <a:ext uri="{FF2B5EF4-FFF2-40B4-BE49-F238E27FC236}">
                <a16:creationId xmlns:a16="http://schemas.microsoft.com/office/drawing/2014/main" id="{CBA08E43-6AF4-4231-AF98-E67C0020BDEC}"/>
              </a:ext>
            </a:extLst>
          </p:cNvPr>
          <p:cNvSpPr/>
          <p:nvPr/>
        </p:nvSpPr>
        <p:spPr>
          <a:xfrm>
            <a:off x="1428751" y="2849033"/>
            <a:ext cx="1305983"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17" name="肘形连接符 10">
            <a:extLst>
              <a:ext uri="{FF2B5EF4-FFF2-40B4-BE49-F238E27FC236}">
                <a16:creationId xmlns:a16="http://schemas.microsoft.com/office/drawing/2014/main" id="{0C1D15F1-9AC0-4D55-ACC6-99515100705C}"/>
              </a:ext>
            </a:extLst>
          </p:cNvPr>
          <p:cNvCxnSpPr>
            <a:cxnSpLocks/>
          </p:cNvCxnSpPr>
          <p:nvPr/>
        </p:nvCxnSpPr>
        <p:spPr>
          <a:xfrm>
            <a:off x="1538344" y="3039533"/>
            <a:ext cx="5319656" cy="2860491"/>
          </a:xfrm>
          <a:prstGeom prst="bentConnector3">
            <a:avLst>
              <a:gd name="adj1" fmla="val 25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肘形连接符 13">
            <a:extLst>
              <a:ext uri="{FF2B5EF4-FFF2-40B4-BE49-F238E27FC236}">
                <a16:creationId xmlns:a16="http://schemas.microsoft.com/office/drawing/2014/main" id="{AD354929-6CB9-4A69-ACCB-2A03707962BE}"/>
              </a:ext>
            </a:extLst>
          </p:cNvPr>
          <p:cNvCxnSpPr/>
          <p:nvPr/>
        </p:nvCxnSpPr>
        <p:spPr>
          <a:xfrm flipV="1">
            <a:off x="8087784" y="2266951"/>
            <a:ext cx="844549" cy="3579283"/>
          </a:xfrm>
          <a:prstGeom prst="bent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C43490C1-73A0-4817-A6E3-454BF0CA13AF}"/>
              </a:ext>
            </a:extLst>
          </p:cNvPr>
          <p:cNvSpPr/>
          <p:nvPr/>
        </p:nvSpPr>
        <p:spPr>
          <a:xfrm>
            <a:off x="9647768" y="2093385"/>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FF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20" name="矩形 19">
            <a:extLst>
              <a:ext uri="{FF2B5EF4-FFF2-40B4-BE49-F238E27FC236}">
                <a16:creationId xmlns:a16="http://schemas.microsoft.com/office/drawing/2014/main" id="{4AC07C87-9E6D-443A-ABD1-9691C92D8552}"/>
              </a:ext>
            </a:extLst>
          </p:cNvPr>
          <p:cNvSpPr/>
          <p:nvPr/>
        </p:nvSpPr>
        <p:spPr>
          <a:xfrm>
            <a:off x="9647767" y="2442633"/>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矩形 20">
            <a:extLst>
              <a:ext uri="{FF2B5EF4-FFF2-40B4-BE49-F238E27FC236}">
                <a16:creationId xmlns:a16="http://schemas.microsoft.com/office/drawing/2014/main" id="{74EE1BE0-F596-4D19-8CB1-32A5993F3F5E}"/>
              </a:ext>
            </a:extLst>
          </p:cNvPr>
          <p:cNvSpPr/>
          <p:nvPr/>
        </p:nvSpPr>
        <p:spPr>
          <a:xfrm>
            <a:off x="10416117" y="2442633"/>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2" name="矩形 21">
            <a:extLst>
              <a:ext uri="{FF2B5EF4-FFF2-40B4-BE49-F238E27FC236}">
                <a16:creationId xmlns:a16="http://schemas.microsoft.com/office/drawing/2014/main" id="{C2141B9B-911F-4E86-B8C8-C8E101896D8E}"/>
              </a:ext>
            </a:extLst>
          </p:cNvPr>
          <p:cNvSpPr/>
          <p:nvPr/>
        </p:nvSpPr>
        <p:spPr>
          <a:xfrm>
            <a:off x="9647768" y="3141133"/>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FF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sp>
        <p:nvSpPr>
          <p:cNvPr id="23" name="矩形 22">
            <a:extLst>
              <a:ext uri="{FF2B5EF4-FFF2-40B4-BE49-F238E27FC236}">
                <a16:creationId xmlns:a16="http://schemas.microsoft.com/office/drawing/2014/main" id="{8B58EDE5-F623-4202-A14F-9171AE41D461}"/>
              </a:ext>
            </a:extLst>
          </p:cNvPr>
          <p:cNvSpPr/>
          <p:nvPr/>
        </p:nvSpPr>
        <p:spPr>
          <a:xfrm>
            <a:off x="9647767" y="3494618"/>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25" name="矩形 24">
            <a:extLst>
              <a:ext uri="{FF2B5EF4-FFF2-40B4-BE49-F238E27FC236}">
                <a16:creationId xmlns:a16="http://schemas.microsoft.com/office/drawing/2014/main" id="{890FBE82-8FBB-47EF-B258-CE9222871F5D}"/>
              </a:ext>
            </a:extLst>
          </p:cNvPr>
          <p:cNvSpPr/>
          <p:nvPr/>
        </p:nvSpPr>
        <p:spPr>
          <a:xfrm>
            <a:off x="10416117" y="3494618"/>
            <a:ext cx="115146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矩形 25">
            <a:extLst>
              <a:ext uri="{FF2B5EF4-FFF2-40B4-BE49-F238E27FC236}">
                <a16:creationId xmlns:a16="http://schemas.microsoft.com/office/drawing/2014/main" id="{804932CF-34AC-4042-A851-84B6D1840BA0}"/>
              </a:ext>
            </a:extLst>
          </p:cNvPr>
          <p:cNvSpPr/>
          <p:nvPr/>
        </p:nvSpPr>
        <p:spPr>
          <a:xfrm>
            <a:off x="9647767" y="3843867"/>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27" name="矩形 26">
            <a:extLst>
              <a:ext uri="{FF2B5EF4-FFF2-40B4-BE49-F238E27FC236}">
                <a16:creationId xmlns:a16="http://schemas.microsoft.com/office/drawing/2014/main" id="{3493F951-F323-451E-A4B0-6CEBDB486A62}"/>
              </a:ext>
            </a:extLst>
          </p:cNvPr>
          <p:cNvSpPr/>
          <p:nvPr/>
        </p:nvSpPr>
        <p:spPr>
          <a:xfrm>
            <a:off x="10416117" y="3843867"/>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8" name="矩形 27">
            <a:extLst>
              <a:ext uri="{FF2B5EF4-FFF2-40B4-BE49-F238E27FC236}">
                <a16:creationId xmlns:a16="http://schemas.microsoft.com/office/drawing/2014/main" id="{1D982B07-1E93-4FF8-BC6C-165F63B3C285}"/>
              </a:ext>
            </a:extLst>
          </p:cNvPr>
          <p:cNvSpPr/>
          <p:nvPr/>
        </p:nvSpPr>
        <p:spPr bwMode="auto">
          <a:xfrm>
            <a:off x="9647767" y="2791885"/>
            <a:ext cx="768351"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29" name="矩形 28">
            <a:extLst>
              <a:ext uri="{FF2B5EF4-FFF2-40B4-BE49-F238E27FC236}">
                <a16:creationId xmlns:a16="http://schemas.microsoft.com/office/drawing/2014/main" id="{186A0A6E-4CDD-4D5A-80B9-71334F9671E9}"/>
              </a:ext>
            </a:extLst>
          </p:cNvPr>
          <p:cNvSpPr/>
          <p:nvPr/>
        </p:nvSpPr>
        <p:spPr>
          <a:xfrm>
            <a:off x="10416117" y="2791884"/>
            <a:ext cx="1151467" cy="347133"/>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0" name="矩形 29">
            <a:extLst>
              <a:ext uri="{FF2B5EF4-FFF2-40B4-BE49-F238E27FC236}">
                <a16:creationId xmlns:a16="http://schemas.microsoft.com/office/drawing/2014/main" id="{4C04389E-E7D5-4BF1-9359-73403A9DA4F2}"/>
              </a:ext>
            </a:extLst>
          </p:cNvPr>
          <p:cNvSpPr/>
          <p:nvPr/>
        </p:nvSpPr>
        <p:spPr>
          <a:xfrm>
            <a:off x="2159000" y="3039533"/>
            <a:ext cx="1441451"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1" name="矩形 30">
            <a:extLst>
              <a:ext uri="{FF2B5EF4-FFF2-40B4-BE49-F238E27FC236}">
                <a16:creationId xmlns:a16="http://schemas.microsoft.com/office/drawing/2014/main" id="{48C24433-7ED2-49F3-B046-4D7B964FFD6E}"/>
              </a:ext>
            </a:extLst>
          </p:cNvPr>
          <p:cNvSpPr/>
          <p:nvPr/>
        </p:nvSpPr>
        <p:spPr>
          <a:xfrm>
            <a:off x="3733800" y="2849033"/>
            <a:ext cx="1210733" cy="213784"/>
          </a:xfrm>
          <a:prstGeom prst="rect">
            <a:avLst/>
          </a:prstGeom>
          <a:solidFill>
            <a:srgbClr val="FD0000">
              <a:alpha val="20000"/>
            </a:srgb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38943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mph" presetSubtype="2" fill="hold" nodeType="clickEffect">
                                  <p:stCondLst>
                                    <p:cond delay="0"/>
                                  </p:stCondLst>
                                  <p:childTnLst>
                                    <p:animClr clrSpc="rgb" dir="cw">
                                      <p:cBhvr>
                                        <p:cTn id="15" dur="500" fill="hold"/>
                                        <p:tgtEl>
                                          <p:spTgt spid="23"/>
                                        </p:tgtEl>
                                        <p:attrNameLst>
                                          <p:attrName>fillcolor</p:attrName>
                                        </p:attrNameLst>
                                      </p:cBhvr>
                                      <p:to>
                                        <a:srgbClr val="99CCFF"/>
                                      </p:to>
                                    </p:animClr>
                                    <p:set>
                                      <p:cBhvr>
                                        <p:cTn id="16" dur="500" fill="hold"/>
                                        <p:tgtEl>
                                          <p:spTgt spid="23"/>
                                        </p:tgtEl>
                                        <p:attrNameLst>
                                          <p:attrName>fill.type</p:attrName>
                                        </p:attrNameLst>
                                      </p:cBhvr>
                                      <p:to>
                                        <p:strVal val="solid"/>
                                      </p:to>
                                    </p:set>
                                    <p:set>
                                      <p:cBhvr>
                                        <p:cTn id="17" dur="500" fill="hold"/>
                                        <p:tgtEl>
                                          <p:spTgt spid="23"/>
                                        </p:tgtEl>
                                        <p:attrNameLst>
                                          <p:attrName>fill.on</p:attrName>
                                        </p:attrNameLst>
                                      </p:cBhvr>
                                      <p:to>
                                        <p:strVal val="true"/>
                                      </p:to>
                                    </p:set>
                                  </p:childTnLst>
                                </p:cTn>
                              </p:par>
                              <p:par>
                                <p:cTn id="18" presetID="1" presetClass="emph" presetSubtype="2" fill="hold" nodeType="withEffect">
                                  <p:stCondLst>
                                    <p:cond delay="0"/>
                                  </p:stCondLst>
                                  <p:childTnLst>
                                    <p:animClr clrSpc="rgb" dir="cw">
                                      <p:cBhvr>
                                        <p:cTn id="19" dur="500" fill="hold"/>
                                        <p:tgtEl>
                                          <p:spTgt spid="28"/>
                                        </p:tgtEl>
                                        <p:attrNameLst>
                                          <p:attrName>fillcolor</p:attrName>
                                        </p:attrNameLst>
                                      </p:cBhvr>
                                      <p:to>
                                        <a:schemeClr val="bg1"/>
                                      </p:to>
                                    </p:animClr>
                                    <p:set>
                                      <p:cBhvr>
                                        <p:cTn id="20" dur="500" fill="hold"/>
                                        <p:tgtEl>
                                          <p:spTgt spid="28"/>
                                        </p:tgtEl>
                                        <p:attrNameLst>
                                          <p:attrName>fill.type</p:attrName>
                                        </p:attrNameLst>
                                      </p:cBhvr>
                                      <p:to>
                                        <p:strVal val="solid"/>
                                      </p:to>
                                    </p:set>
                                    <p:set>
                                      <p:cBhvr>
                                        <p:cTn id="21" dur="500" fill="hold"/>
                                        <p:tgtEl>
                                          <p:spTgt spid="28"/>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 presetClass="emph" presetSubtype="2" fill="hold" nodeType="clickEffect">
                                  <p:stCondLst>
                                    <p:cond delay="0"/>
                                  </p:stCondLst>
                                  <p:childTnLst>
                                    <p:animClr clrSpc="rgb" dir="cw">
                                      <p:cBhvr>
                                        <p:cTn id="25" dur="500" fill="hold"/>
                                        <p:tgtEl>
                                          <p:spTgt spid="25"/>
                                        </p:tgtEl>
                                        <p:attrNameLst>
                                          <p:attrName>fillcolor</p:attrName>
                                        </p:attrNameLst>
                                      </p:cBhvr>
                                      <p:to>
                                        <a:srgbClr val="99FF99"/>
                                      </p:to>
                                    </p:animClr>
                                    <p:set>
                                      <p:cBhvr>
                                        <p:cTn id="26" dur="500" fill="hold"/>
                                        <p:tgtEl>
                                          <p:spTgt spid="25"/>
                                        </p:tgtEl>
                                        <p:attrNameLst>
                                          <p:attrName>fill.type</p:attrName>
                                        </p:attrNameLst>
                                      </p:cBhvr>
                                      <p:to>
                                        <p:strVal val="solid"/>
                                      </p:to>
                                    </p:set>
                                    <p:set>
                                      <p:cBhvr>
                                        <p:cTn id="27" dur="500" fill="hold"/>
                                        <p:tgtEl>
                                          <p:spTgt spid="25"/>
                                        </p:tgtEl>
                                        <p:attrNameLst>
                                          <p:attrName>fill.on</p:attrName>
                                        </p:attrNameLst>
                                      </p:cBhvr>
                                      <p:to>
                                        <p:strVal val="true"/>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18"/>
                                        </p:tgtEl>
                                      </p:cBhvr>
                                    </p:animEffect>
                                    <p:set>
                                      <p:cBhvr>
                                        <p:cTn id="35" dur="1" fill="hold">
                                          <p:stCondLst>
                                            <p:cond delay="499"/>
                                          </p:stCondLst>
                                        </p:cTn>
                                        <p:tgtEl>
                                          <p:spTgt spid="18"/>
                                        </p:tgtEl>
                                        <p:attrNameLst>
                                          <p:attrName>style.visibility</p:attrName>
                                        </p:attrNameLst>
                                      </p:cBhvr>
                                      <p:to>
                                        <p:strVal val="hidden"/>
                                      </p:to>
                                    </p:set>
                                  </p:childTnLst>
                                </p:cTn>
                              </p:par>
                            </p:childTnLst>
                          </p:cTn>
                        </p:par>
                        <p:par>
                          <p:cTn id="36" fill="hold">
                            <p:stCondLst>
                              <p:cond delay="500"/>
                            </p:stCondLst>
                            <p:childTnLst>
                              <p:par>
                                <p:cTn id="37" presetID="1" presetClass="exit"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500" fill="hold"/>
                                        <p:tgtEl>
                                          <p:spTgt spid="26"/>
                                        </p:tgtEl>
                                        <p:attrNameLst>
                                          <p:attrName>fillcolor</p:attrName>
                                        </p:attrNameLst>
                                      </p:cBhvr>
                                      <p:to>
                                        <a:srgbClr val="99CCFF"/>
                                      </p:to>
                                    </p:animClr>
                                    <p:set>
                                      <p:cBhvr>
                                        <p:cTn id="45" dur="500" fill="hold"/>
                                        <p:tgtEl>
                                          <p:spTgt spid="26"/>
                                        </p:tgtEl>
                                        <p:attrNameLst>
                                          <p:attrName>fill.type</p:attrName>
                                        </p:attrNameLst>
                                      </p:cBhvr>
                                      <p:to>
                                        <p:strVal val="solid"/>
                                      </p:to>
                                    </p:set>
                                    <p:set>
                                      <p:cBhvr>
                                        <p:cTn id="46" dur="500" fill="hold"/>
                                        <p:tgtEl>
                                          <p:spTgt spid="26"/>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500" fill="hold"/>
                                        <p:tgtEl>
                                          <p:spTgt spid="27"/>
                                        </p:tgtEl>
                                        <p:attrNameLst>
                                          <p:attrName>fillcolor</p:attrName>
                                        </p:attrNameLst>
                                      </p:cBhvr>
                                      <p:to>
                                        <a:srgbClr val="99FF99"/>
                                      </p:to>
                                    </p:animClr>
                                    <p:set>
                                      <p:cBhvr>
                                        <p:cTn id="51" dur="500" fill="hold"/>
                                        <p:tgtEl>
                                          <p:spTgt spid="27"/>
                                        </p:tgtEl>
                                        <p:attrNameLst>
                                          <p:attrName>fill.type</p:attrName>
                                        </p:attrNameLst>
                                      </p:cBhvr>
                                      <p:to>
                                        <p:strVal val="solid"/>
                                      </p:to>
                                    </p:set>
                                    <p:set>
                                      <p:cBhvr>
                                        <p:cTn id="52" dur="500" fill="hold"/>
                                        <p:tgtEl>
                                          <p:spTgt spid="27"/>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1"/>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mph" presetSubtype="2" fill="hold" nodeType="clickEffect">
                                  <p:stCondLst>
                                    <p:cond delay="0"/>
                                  </p:stCondLst>
                                  <p:childTnLst>
                                    <p:animClr clrSpc="rgb" dir="cw">
                                      <p:cBhvr>
                                        <p:cTn id="62" dur="500" fill="hold"/>
                                        <p:tgtEl>
                                          <p:spTgt spid="28"/>
                                        </p:tgtEl>
                                        <p:attrNameLst>
                                          <p:attrName>fillcolor</p:attrName>
                                        </p:attrNameLst>
                                      </p:cBhvr>
                                      <p:to>
                                        <a:srgbClr val="99CCFF"/>
                                      </p:to>
                                    </p:animClr>
                                    <p:set>
                                      <p:cBhvr>
                                        <p:cTn id="63" dur="500" fill="hold"/>
                                        <p:tgtEl>
                                          <p:spTgt spid="28"/>
                                        </p:tgtEl>
                                        <p:attrNameLst>
                                          <p:attrName>fill.type</p:attrName>
                                        </p:attrNameLst>
                                      </p:cBhvr>
                                      <p:to>
                                        <p:strVal val="solid"/>
                                      </p:to>
                                    </p:set>
                                    <p:set>
                                      <p:cBhvr>
                                        <p:cTn id="64" dur="500" fill="hold"/>
                                        <p:tgtEl>
                                          <p:spTgt spid="28"/>
                                        </p:tgtEl>
                                        <p:attrNameLst>
                                          <p:attrName>fill.on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mph" presetSubtype="2" fill="hold" nodeType="clickEffect">
                                  <p:stCondLst>
                                    <p:cond delay="0"/>
                                  </p:stCondLst>
                                  <p:childTnLst>
                                    <p:animClr clrSpc="rgb" dir="cw">
                                      <p:cBhvr>
                                        <p:cTn id="68" dur="500" fill="hold"/>
                                        <p:tgtEl>
                                          <p:spTgt spid="29"/>
                                        </p:tgtEl>
                                        <p:attrNameLst>
                                          <p:attrName>fillcolor</p:attrName>
                                        </p:attrNameLst>
                                      </p:cBhvr>
                                      <p:to>
                                        <a:srgbClr val="99FF99"/>
                                      </p:to>
                                    </p:animClr>
                                    <p:set>
                                      <p:cBhvr>
                                        <p:cTn id="69" dur="500" fill="hold"/>
                                        <p:tgtEl>
                                          <p:spTgt spid="29"/>
                                        </p:tgtEl>
                                        <p:attrNameLst>
                                          <p:attrName>fill.type</p:attrName>
                                        </p:attrNameLst>
                                      </p:cBhvr>
                                      <p:to>
                                        <p:strVal val="solid"/>
                                      </p:to>
                                    </p:set>
                                    <p:set>
                                      <p:cBhvr>
                                        <p:cTn id="70" dur="500" fill="hold"/>
                                        <p:tgtEl>
                                          <p:spTgt spid="2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0" grpId="0" animBg="1"/>
      <p:bldP spid="31" grpId="0" animBg="1"/>
      <p:bldP spid="31"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继承必掌握案例</a:t>
            </a:r>
          </a:p>
        </p:txBody>
      </p:sp>
      <p:sp>
        <p:nvSpPr>
          <p:cNvPr id="8" name="文本占位符 7">
            <a:extLst>
              <a:ext uri="{FF2B5EF4-FFF2-40B4-BE49-F238E27FC236}">
                <a16:creationId xmlns:a16="http://schemas.microsoft.com/office/drawing/2014/main" id="{43EDA500-301A-4C7D-9D0D-28FDC90CE971}"/>
              </a:ext>
            </a:extLst>
          </p:cNvPr>
          <p:cNvSpPr>
            <a:spLocks noGrp="1"/>
          </p:cNvSpPr>
          <p:nvPr>
            <p:ph type="body" sz="quarter" idx="10"/>
          </p:nvPr>
        </p:nvSpPr>
        <p:spPr>
          <a:prstGeom prst="rect">
            <a:avLst/>
          </a:prstGeom>
        </p:spPr>
        <p:txBody>
          <a:bodyPr/>
          <a:lstStyle/>
          <a:p>
            <a:r>
              <a:rPr lang="en-US" altLang="zh-CN" dirty="0"/>
              <a:t> </a:t>
            </a:r>
            <a:endParaRPr lang="zh-CN" altLang="en-US" dirty="0"/>
          </a:p>
        </p:txBody>
      </p:sp>
      <p:sp>
        <p:nvSpPr>
          <p:cNvPr id="12" name="矩形: 圆角 11">
            <a:extLst>
              <a:ext uri="{FF2B5EF4-FFF2-40B4-BE49-F238E27FC236}">
                <a16:creationId xmlns:a16="http://schemas.microsoft.com/office/drawing/2014/main" id="{B36020CB-CB58-4153-9F28-419CFE9FC5AA}"/>
              </a:ext>
            </a:extLst>
          </p:cNvPr>
          <p:cNvSpPr/>
          <p:nvPr/>
        </p:nvSpPr>
        <p:spPr>
          <a:xfrm>
            <a:off x="6538788" y="2792019"/>
            <a:ext cx="5299788" cy="1684176"/>
          </a:xfrm>
          <a:prstGeom prst="roundRect">
            <a:avLst/>
          </a:prstGeom>
          <a:ln/>
        </p:spPr>
        <p:style>
          <a:lnRef idx="3">
            <a:schemeClr val="lt1"/>
          </a:lnRef>
          <a:fillRef idx="1">
            <a:schemeClr val="accent4"/>
          </a:fillRef>
          <a:effectRef idx="1">
            <a:schemeClr val="accent4"/>
          </a:effectRef>
          <a:fontRef idx="minor">
            <a:schemeClr val="lt1"/>
          </a:fontRef>
        </p:style>
        <p:txBody>
          <a:bodyPr rtlCol="0" anchor="t"/>
          <a:lstStyle/>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项目经理类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Manager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成员变量：姓名，年龄，工资，奖金</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姓名为李四，年龄为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24</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，工资为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18000</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，奖金为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5000</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的项目经理正在分配任务</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矩形: 圆角 12">
            <a:extLst>
              <a:ext uri="{FF2B5EF4-FFF2-40B4-BE49-F238E27FC236}">
                <a16:creationId xmlns:a16="http://schemas.microsoft.com/office/drawing/2014/main" id="{00F76FAF-158D-4396-9AB4-AA287748316A}"/>
              </a:ext>
            </a:extLst>
          </p:cNvPr>
          <p:cNvSpPr/>
          <p:nvPr/>
        </p:nvSpPr>
        <p:spPr>
          <a:xfrm>
            <a:off x="533303" y="2792019"/>
            <a:ext cx="5856515" cy="1684176"/>
          </a:xfrm>
          <a:prstGeom prst="roundRect">
            <a:avLst/>
          </a:prstGeom>
          <a:solidFill>
            <a:srgbClr val="4F81BD"/>
          </a:solidFill>
          <a:ln/>
        </p:spPr>
        <p:style>
          <a:lnRef idx="3">
            <a:schemeClr val="lt1"/>
          </a:lnRef>
          <a:fillRef idx="1">
            <a:schemeClr val="accent4"/>
          </a:fillRef>
          <a:effectRef idx="1">
            <a:schemeClr val="accent4"/>
          </a:effectRef>
          <a:fontRef idx="minor">
            <a:schemeClr val="lt1"/>
          </a:fontRef>
        </p:style>
        <p:txBody>
          <a:bodyPr rtlCol="0" anchor="t"/>
          <a:lstStyle/>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程序员类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Coder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成员变量：姓名，年龄，工资</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姓名为张三，年龄为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23</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，工资为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15000</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的程序员正在编写代码</a:t>
            </a:r>
          </a:p>
        </p:txBody>
      </p:sp>
      <p:sp>
        <p:nvSpPr>
          <p:cNvPr id="15" name="矩形: 圆角 14">
            <a:extLst>
              <a:ext uri="{FF2B5EF4-FFF2-40B4-BE49-F238E27FC236}">
                <a16:creationId xmlns:a16="http://schemas.microsoft.com/office/drawing/2014/main" id="{F05BF24B-250D-4637-A9CE-CD127643B7EF}"/>
              </a:ext>
            </a:extLst>
          </p:cNvPr>
          <p:cNvSpPr/>
          <p:nvPr/>
        </p:nvSpPr>
        <p:spPr>
          <a:xfrm>
            <a:off x="533303" y="1315019"/>
            <a:ext cx="4505132" cy="1236306"/>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员工类 </a:t>
            </a:r>
            <a:r>
              <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rPr>
              <a:t>Employee</a:t>
            </a: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成员变量：姓名，年龄，工资</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成员方法：</a:t>
            </a:r>
            <a:r>
              <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10">
            <a:extLst>
              <a:ext uri="{FF2B5EF4-FFF2-40B4-BE49-F238E27FC236}">
                <a16:creationId xmlns:a16="http://schemas.microsoft.com/office/drawing/2014/main" id="{2842D5F5-2640-43F7-AB41-6F8C011650C0}"/>
              </a:ext>
            </a:extLst>
          </p:cNvPr>
          <p:cNvSpPr txBox="1"/>
          <p:nvPr/>
        </p:nvSpPr>
        <p:spPr>
          <a:xfrm>
            <a:off x="5141210" y="1137726"/>
            <a:ext cx="3450573" cy="1533946"/>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私有成员变量</a:t>
            </a:r>
            <a:endPar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提供空参，带参构造</a:t>
            </a:r>
            <a:endPar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提供</a:t>
            </a:r>
            <a:r>
              <a:rPr lang="en-US" altLang="zh-CN" sz="1600" dirty="0" err="1">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setXxx</a:t>
            </a:r>
            <a:r>
              <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en-US" altLang="zh-CN" sz="1600" dirty="0" err="1">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getXxx</a:t>
            </a: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编写</a:t>
            </a:r>
            <a:r>
              <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 </a:t>
            </a:r>
            <a:r>
              <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员工工作</a:t>
            </a:r>
            <a:endParaRPr lang="en-US" altLang="zh-CN" sz="1600" dirty="0">
              <a:solidFill>
                <a:schemeClr val="accent3">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7" name="TextBox 10">
            <a:extLst>
              <a:ext uri="{FF2B5EF4-FFF2-40B4-BE49-F238E27FC236}">
                <a16:creationId xmlns:a16="http://schemas.microsoft.com/office/drawing/2014/main" id="{25AD545C-0F0C-4038-A11B-15886F619654}"/>
              </a:ext>
            </a:extLst>
          </p:cNvPr>
          <p:cNvSpPr txBox="1"/>
          <p:nvPr/>
        </p:nvSpPr>
        <p:spPr>
          <a:xfrm>
            <a:off x="533303" y="4588810"/>
            <a:ext cx="5203052" cy="1164614"/>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继承</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Employee</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父类</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提供空参，带参构造</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p>
        </p:txBody>
      </p:sp>
      <p:sp>
        <p:nvSpPr>
          <p:cNvPr id="18" name="TextBox 10">
            <a:extLst>
              <a:ext uri="{FF2B5EF4-FFF2-40B4-BE49-F238E27FC236}">
                <a16:creationId xmlns:a16="http://schemas.microsoft.com/office/drawing/2014/main" id="{E8406F6F-DC85-46B6-BFD6-8067E5DE6DE6}"/>
              </a:ext>
            </a:extLst>
          </p:cNvPr>
          <p:cNvSpPr txBox="1"/>
          <p:nvPr/>
        </p:nvSpPr>
        <p:spPr>
          <a:xfrm>
            <a:off x="6538787" y="4588810"/>
            <a:ext cx="5595257" cy="1903278"/>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继承</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Employee</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父类</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编写子类特有的成员变量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奖金</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私有化</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提供</a:t>
            </a:r>
            <a:r>
              <a:rPr lang="en-US" altLang="zh-CN" sz="16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setXxx</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en-US" altLang="zh-CN" sz="16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getXxx</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提供空参，带参构造</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work</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06408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anim calcmode="lin" valueType="num">
                                      <p:cBhvr>
                                        <p:cTn id="18" dur="500" fill="hold"/>
                                        <p:tgtEl>
                                          <p:spTgt spid="15"/>
                                        </p:tgtEl>
                                        <p:attrNameLst>
                                          <p:attrName>ppt_x</p:attrName>
                                        </p:attrNameLst>
                                      </p:cBhvr>
                                      <p:tavLst>
                                        <p:tav tm="0">
                                          <p:val>
                                            <p:strVal val="#ppt_x"/>
                                          </p:val>
                                        </p:tav>
                                        <p:tav tm="100000">
                                          <p:val>
                                            <p:strVal val="#ppt_x"/>
                                          </p:val>
                                        </p:tav>
                                      </p:tavLst>
                                    </p:anim>
                                    <p:anim calcmode="lin" valueType="num">
                                      <p:cBhvr>
                                        <p:cTn id="1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fade">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xEl>
                                              <p:pRg st="1" end="1"/>
                                            </p:txEl>
                                          </p:spTgt>
                                        </p:tgtEl>
                                        <p:attrNameLst>
                                          <p:attrName>style.visibility</p:attrName>
                                        </p:attrNameLst>
                                      </p:cBhvr>
                                      <p:to>
                                        <p:strVal val="visible"/>
                                      </p:to>
                                    </p:set>
                                    <p:animEffect transition="in" filter="fade">
                                      <p:cBhvr>
                                        <p:cTn id="32" dur="500"/>
                                        <p:tgtEl>
                                          <p:spTgt spid="1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xEl>
                                              <p:pRg st="2" end="2"/>
                                            </p:txEl>
                                          </p:spTgt>
                                        </p:tgtEl>
                                        <p:attrNameLst>
                                          <p:attrName>style.visibility</p:attrName>
                                        </p:attrNameLst>
                                      </p:cBhvr>
                                      <p:to>
                                        <p:strVal val="visible"/>
                                      </p:to>
                                    </p:set>
                                    <p:animEffect transition="in" filter="fade">
                                      <p:cBhvr>
                                        <p:cTn id="37" dur="500"/>
                                        <p:tgtEl>
                                          <p:spTgt spid="1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xEl>
                                              <p:pRg st="3" end="3"/>
                                            </p:txEl>
                                          </p:spTgt>
                                        </p:tgtEl>
                                        <p:attrNameLst>
                                          <p:attrName>style.visibility</p:attrName>
                                        </p:attrNameLst>
                                      </p:cBhvr>
                                      <p:to>
                                        <p:strVal val="visible"/>
                                      </p:to>
                                    </p:set>
                                    <p:animEffect transition="in" filter="fade">
                                      <p:cBhvr>
                                        <p:cTn id="42" dur="500"/>
                                        <p:tgtEl>
                                          <p:spTgt spid="1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xEl>
                                              <p:pRg st="0" end="0"/>
                                            </p:txEl>
                                          </p:spTgt>
                                        </p:tgtEl>
                                        <p:attrNameLst>
                                          <p:attrName>style.visibility</p:attrName>
                                        </p:attrNameLst>
                                      </p:cBhvr>
                                      <p:to>
                                        <p:strVal val="visible"/>
                                      </p:to>
                                    </p:set>
                                    <p:animEffect transition="in" filter="fade">
                                      <p:cBhvr>
                                        <p:cTn id="50" dur="500"/>
                                        <p:tgtEl>
                                          <p:spTgt spid="17">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7">
                                            <p:txEl>
                                              <p:pRg st="1" end="1"/>
                                            </p:txEl>
                                          </p:spTgt>
                                        </p:tgtEl>
                                        <p:attrNameLst>
                                          <p:attrName>style.visibility</p:attrName>
                                        </p:attrNameLst>
                                      </p:cBhvr>
                                      <p:to>
                                        <p:strVal val="visible"/>
                                      </p:to>
                                    </p:set>
                                    <p:animEffect transition="in" filter="fade">
                                      <p:cBhvr>
                                        <p:cTn id="55" dur="500"/>
                                        <p:tgtEl>
                                          <p:spTgt spid="17">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7">
                                            <p:txEl>
                                              <p:pRg st="2" end="2"/>
                                            </p:txEl>
                                          </p:spTgt>
                                        </p:tgtEl>
                                        <p:attrNameLst>
                                          <p:attrName>style.visibility</p:attrName>
                                        </p:attrNameLst>
                                      </p:cBhvr>
                                      <p:to>
                                        <p:strVal val="visible"/>
                                      </p:to>
                                    </p:set>
                                    <p:animEffect transition="in" filter="fade">
                                      <p:cBhvr>
                                        <p:cTn id="60" dur="500"/>
                                        <p:tgtEl>
                                          <p:spTgt spid="17">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par>
                                <p:cTn id="66" presetID="10" presetClass="entr" presetSubtype="0" fill="hold" nodeType="withEffect">
                                  <p:stCondLst>
                                    <p:cond delay="0"/>
                                  </p:stCondLst>
                                  <p:childTnLst>
                                    <p:set>
                                      <p:cBhvr>
                                        <p:cTn id="67" dur="1" fill="hold">
                                          <p:stCondLst>
                                            <p:cond delay="0"/>
                                          </p:stCondLst>
                                        </p:cTn>
                                        <p:tgtEl>
                                          <p:spTgt spid="18">
                                            <p:txEl>
                                              <p:pRg st="0" end="0"/>
                                            </p:txEl>
                                          </p:spTgt>
                                        </p:tgtEl>
                                        <p:attrNameLst>
                                          <p:attrName>style.visibility</p:attrName>
                                        </p:attrNameLst>
                                      </p:cBhvr>
                                      <p:to>
                                        <p:strVal val="visible"/>
                                      </p:to>
                                    </p:set>
                                    <p:animEffect transition="in" filter="fade">
                                      <p:cBhvr>
                                        <p:cTn id="68" dur="500"/>
                                        <p:tgtEl>
                                          <p:spTgt spid="18">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8">
                                            <p:txEl>
                                              <p:pRg st="1" end="1"/>
                                            </p:txEl>
                                          </p:spTgt>
                                        </p:tgtEl>
                                        <p:attrNameLst>
                                          <p:attrName>style.visibility</p:attrName>
                                        </p:attrNameLst>
                                      </p:cBhvr>
                                      <p:to>
                                        <p:strVal val="visible"/>
                                      </p:to>
                                    </p:set>
                                    <p:animEffect transition="in" filter="fade">
                                      <p:cBhvr>
                                        <p:cTn id="73" dur="500"/>
                                        <p:tgtEl>
                                          <p:spTgt spid="18">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8">
                                            <p:txEl>
                                              <p:pRg st="2" end="2"/>
                                            </p:txEl>
                                          </p:spTgt>
                                        </p:tgtEl>
                                        <p:attrNameLst>
                                          <p:attrName>style.visibility</p:attrName>
                                        </p:attrNameLst>
                                      </p:cBhvr>
                                      <p:to>
                                        <p:strVal val="visible"/>
                                      </p:to>
                                    </p:set>
                                    <p:animEffect transition="in" filter="fade">
                                      <p:cBhvr>
                                        <p:cTn id="78" dur="500"/>
                                        <p:tgtEl>
                                          <p:spTgt spid="18">
                                            <p:txEl>
                                              <p:pRg st="2" end="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8">
                                            <p:txEl>
                                              <p:pRg st="3" end="3"/>
                                            </p:txEl>
                                          </p:spTgt>
                                        </p:tgtEl>
                                        <p:attrNameLst>
                                          <p:attrName>style.visibility</p:attrName>
                                        </p:attrNameLst>
                                      </p:cBhvr>
                                      <p:to>
                                        <p:strVal val="visible"/>
                                      </p:to>
                                    </p:set>
                                    <p:animEffect transition="in" filter="fade">
                                      <p:cBhvr>
                                        <p:cTn id="83" dur="500"/>
                                        <p:tgtEl>
                                          <p:spTgt spid="18">
                                            <p:txEl>
                                              <p:pRg st="3" end="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8">
                                            <p:txEl>
                                              <p:pRg st="4" end="4"/>
                                            </p:txEl>
                                          </p:spTgt>
                                        </p:tgtEl>
                                        <p:attrNameLst>
                                          <p:attrName>style.visibility</p:attrName>
                                        </p:attrNameLst>
                                      </p:cBhvr>
                                      <p:to>
                                        <p:strVal val="visible"/>
                                      </p:to>
                                    </p:set>
                                    <p:animEffect transition="in" filter="fade">
                                      <p:cBhvr>
                                        <p:cTn id="88"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p:bldP spid="17" grpId="0"/>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solidFill>
                  <a:srgbClr val="AD2B26"/>
                </a:solidFill>
                <a:latin typeface="Consolas" panose="020B0609020204030204" pitchFamily="49" charset="0"/>
              </a:rPr>
              <a:t>this</a:t>
            </a:r>
            <a:r>
              <a:rPr kumimoji="1" lang="zh-CN" altLang="en-US" dirty="0">
                <a:solidFill>
                  <a:srgbClr val="AD2B26"/>
                </a:solidFill>
                <a:latin typeface="Consolas" panose="020B0609020204030204" pitchFamily="49" charset="0"/>
              </a:rPr>
              <a:t> </a:t>
            </a:r>
            <a:r>
              <a:rPr kumimoji="1" lang="en-US" altLang="zh-CN" dirty="0">
                <a:solidFill>
                  <a:srgbClr val="AD2B26"/>
                </a:solidFill>
                <a:latin typeface="Consolas" panose="020B0609020204030204" pitchFamily="49" charset="0"/>
              </a:rPr>
              <a:t>super</a:t>
            </a:r>
            <a:endParaRPr kumimoji="1" lang="zh-CN" altLang="en-US" dirty="0">
              <a:solidFill>
                <a:srgbClr val="AD2B26"/>
              </a:solidFill>
              <a:latin typeface="Consolas" panose="020B0609020204030204" pitchFamily="49" charset="0"/>
            </a:endParaRPr>
          </a:p>
        </p:txBody>
      </p:sp>
      <p:sp>
        <p:nvSpPr>
          <p:cNvPr id="7" name="TextBox 10">
            <a:extLst>
              <a:ext uri="{FF2B5EF4-FFF2-40B4-BE49-F238E27FC236}">
                <a16:creationId xmlns:a16="http://schemas.microsoft.com/office/drawing/2014/main" id="{147C9850-F079-4302-B510-68B7A8F1F095}"/>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矩形 1">
            <a:extLst>
              <a:ext uri="{FF2B5EF4-FFF2-40B4-BE49-F238E27FC236}">
                <a16:creationId xmlns:a16="http://schemas.microsoft.com/office/drawing/2014/main" id="{66067807-712D-749A-1C20-F529AC3BDEB4}"/>
              </a:ext>
            </a:extLst>
          </p:cNvPr>
          <p:cNvSpPr/>
          <p:nvPr/>
        </p:nvSpPr>
        <p:spPr>
          <a:xfrm>
            <a:off x="793017" y="2653222"/>
            <a:ext cx="1919817" cy="34924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Student</a:t>
            </a:r>
          </a:p>
        </p:txBody>
      </p:sp>
      <p:sp>
        <p:nvSpPr>
          <p:cNvPr id="4" name="矩形 3">
            <a:extLst>
              <a:ext uri="{FF2B5EF4-FFF2-40B4-BE49-F238E27FC236}">
                <a16:creationId xmlns:a16="http://schemas.microsoft.com/office/drawing/2014/main" id="{2CA79FC7-A0E9-3B5E-E8D9-F6DAC1E6EABE}"/>
              </a:ext>
            </a:extLst>
          </p:cNvPr>
          <p:cNvSpPr/>
          <p:nvPr/>
        </p:nvSpPr>
        <p:spPr>
          <a:xfrm>
            <a:off x="793016" y="3002470"/>
            <a:ext cx="768351"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0080"/>
                </a:solidFill>
                <a:latin typeface="Consolas" panose="020B0609020204030204" pitchFamily="49" charset="0"/>
                <a:ea typeface="阿里巴巴普惠体" panose="00020600040101010101" pitchFamily="18" charset="-122"/>
                <a:cs typeface="阿里巴巴普惠体" panose="00020600040101010101" pitchFamily="18" charset="-122"/>
              </a:rPr>
              <a:t>this</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矩形 5">
            <a:extLst>
              <a:ext uri="{FF2B5EF4-FFF2-40B4-BE49-F238E27FC236}">
                <a16:creationId xmlns:a16="http://schemas.microsoft.com/office/drawing/2014/main" id="{C3269925-39F9-2513-63BE-5B93AA1F3F00}"/>
              </a:ext>
            </a:extLst>
          </p:cNvPr>
          <p:cNvSpPr/>
          <p:nvPr/>
        </p:nvSpPr>
        <p:spPr>
          <a:xfrm>
            <a:off x="1561366" y="3002470"/>
            <a:ext cx="115146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rPr>
              <a:t>0x0011</a:t>
            </a:r>
            <a:endParaRPr lang="zh-CN" altLang="en-US" sz="1400" b="1" dirty="0">
              <a:solidFill>
                <a:srgbClr val="7030A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8" name="矩形 7">
            <a:extLst>
              <a:ext uri="{FF2B5EF4-FFF2-40B4-BE49-F238E27FC236}">
                <a16:creationId xmlns:a16="http://schemas.microsoft.com/office/drawing/2014/main" id="{3CDD4023-BE4B-5D75-1D3C-DBD34E44ACA0}"/>
              </a:ext>
            </a:extLst>
          </p:cNvPr>
          <p:cNvSpPr/>
          <p:nvPr/>
        </p:nvSpPr>
        <p:spPr>
          <a:xfrm>
            <a:off x="793017" y="3700970"/>
            <a:ext cx="1919817" cy="34925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Person(super)</a:t>
            </a:r>
          </a:p>
        </p:txBody>
      </p:sp>
      <p:grpSp>
        <p:nvGrpSpPr>
          <p:cNvPr id="9" name="组合 8">
            <a:extLst>
              <a:ext uri="{FF2B5EF4-FFF2-40B4-BE49-F238E27FC236}">
                <a16:creationId xmlns:a16="http://schemas.microsoft.com/office/drawing/2014/main" id="{9021C385-4405-D768-5492-D0F257CB05DF}"/>
              </a:ext>
            </a:extLst>
          </p:cNvPr>
          <p:cNvGrpSpPr>
            <a:grpSpLocks/>
          </p:cNvGrpSpPr>
          <p:nvPr/>
        </p:nvGrpSpPr>
        <p:grpSpPr bwMode="auto">
          <a:xfrm>
            <a:off x="793017" y="4050645"/>
            <a:ext cx="1919817" cy="349249"/>
            <a:chOff x="7235825" y="2620193"/>
            <a:chExt cx="1439863" cy="261937"/>
          </a:xfrm>
        </p:grpSpPr>
        <p:sp>
          <p:nvSpPr>
            <p:cNvPr id="10" name="矩形 9">
              <a:extLst>
                <a:ext uri="{FF2B5EF4-FFF2-40B4-BE49-F238E27FC236}">
                  <a16:creationId xmlns:a16="http://schemas.microsoft.com/office/drawing/2014/main" id="{8A37F0A5-69D1-6474-4B25-4FC47F162A48}"/>
                </a:ext>
              </a:extLst>
            </p:cNvPr>
            <p:cNvSpPr/>
            <p:nvPr/>
          </p:nvSpPr>
          <p:spPr>
            <a:xfrm>
              <a:off x="7235825" y="262019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name</a:t>
              </a:r>
            </a:p>
          </p:txBody>
        </p:sp>
        <p:sp>
          <p:nvSpPr>
            <p:cNvPr id="11" name="矩形 10">
              <a:extLst>
                <a:ext uri="{FF2B5EF4-FFF2-40B4-BE49-F238E27FC236}">
                  <a16:creationId xmlns:a16="http://schemas.microsoft.com/office/drawing/2014/main" id="{DE4A5C29-F693-7193-73EA-F6B3A6C7E2B8}"/>
                </a:ext>
              </a:extLst>
            </p:cNvPr>
            <p:cNvSpPr/>
            <p:nvPr/>
          </p:nvSpPr>
          <p:spPr>
            <a:xfrm>
              <a:off x="7812088" y="2620193"/>
              <a:ext cx="863600"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b="1" dirty="0">
                  <a:solidFill>
                    <a:srgbClr val="008000"/>
                  </a:solidFill>
                  <a:latin typeface="Consolas" panose="020B0609020204030204" pitchFamily="49" charset="0"/>
                  <a:ea typeface="阿里巴巴普惠体" panose="00020600040101010101" pitchFamily="18" charset="-122"/>
                  <a:cs typeface="阿里巴巴普惠体" panose="00020600040101010101" pitchFamily="18" charset="-122"/>
                </a:rPr>
                <a:t>"钢门吹雪"</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12" name="组合 11">
            <a:extLst>
              <a:ext uri="{FF2B5EF4-FFF2-40B4-BE49-F238E27FC236}">
                <a16:creationId xmlns:a16="http://schemas.microsoft.com/office/drawing/2014/main" id="{4B402253-0F1E-A212-1FE0-405B8ACA2F6E}"/>
              </a:ext>
            </a:extLst>
          </p:cNvPr>
          <p:cNvGrpSpPr>
            <a:grpSpLocks/>
          </p:cNvGrpSpPr>
          <p:nvPr/>
        </p:nvGrpSpPr>
        <p:grpSpPr bwMode="auto">
          <a:xfrm>
            <a:off x="793017" y="4399894"/>
            <a:ext cx="1919817" cy="349251"/>
            <a:chOff x="7235825" y="2882130"/>
            <a:chExt cx="1439863" cy="261938"/>
          </a:xfrm>
        </p:grpSpPr>
        <p:sp>
          <p:nvSpPr>
            <p:cNvPr id="13" name="矩形 12">
              <a:extLst>
                <a:ext uri="{FF2B5EF4-FFF2-40B4-BE49-F238E27FC236}">
                  <a16:creationId xmlns:a16="http://schemas.microsoft.com/office/drawing/2014/main" id="{2685E65E-EB1A-042F-68DA-96AEC3E3AA1F}"/>
                </a:ext>
              </a:extLst>
            </p:cNvPr>
            <p:cNvSpPr/>
            <p:nvPr/>
          </p:nvSpPr>
          <p:spPr>
            <a:xfrm>
              <a:off x="7235825" y="2882130"/>
              <a:ext cx="576263" cy="261938"/>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age</a:t>
              </a:r>
            </a:p>
          </p:txBody>
        </p:sp>
        <p:sp>
          <p:nvSpPr>
            <p:cNvPr id="14" name="矩形 13">
              <a:extLst>
                <a:ext uri="{FF2B5EF4-FFF2-40B4-BE49-F238E27FC236}">
                  <a16:creationId xmlns:a16="http://schemas.microsoft.com/office/drawing/2014/main" id="{70F64FF0-C869-143C-C297-36B6B4B0B12B}"/>
                </a:ext>
              </a:extLst>
            </p:cNvPr>
            <p:cNvSpPr/>
            <p:nvPr/>
          </p:nvSpPr>
          <p:spPr>
            <a:xfrm>
              <a:off x="7812088" y="2882130"/>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23</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grpSp>
        <p:nvGrpSpPr>
          <p:cNvPr id="15" name="组合 14">
            <a:extLst>
              <a:ext uri="{FF2B5EF4-FFF2-40B4-BE49-F238E27FC236}">
                <a16:creationId xmlns:a16="http://schemas.microsoft.com/office/drawing/2014/main" id="{5A01D908-8B98-87E7-2EB3-0DA2335FF126}"/>
              </a:ext>
            </a:extLst>
          </p:cNvPr>
          <p:cNvGrpSpPr>
            <a:grpSpLocks/>
          </p:cNvGrpSpPr>
          <p:nvPr/>
        </p:nvGrpSpPr>
        <p:grpSpPr bwMode="auto">
          <a:xfrm>
            <a:off x="793017" y="3351722"/>
            <a:ext cx="1919817" cy="349249"/>
            <a:chOff x="7235825" y="2093913"/>
            <a:chExt cx="1439863" cy="261937"/>
          </a:xfrm>
        </p:grpSpPr>
        <p:sp>
          <p:nvSpPr>
            <p:cNvPr id="16" name="矩形 15">
              <a:extLst>
                <a:ext uri="{FF2B5EF4-FFF2-40B4-BE49-F238E27FC236}">
                  <a16:creationId xmlns:a16="http://schemas.microsoft.com/office/drawing/2014/main" id="{129CE117-7CBC-24E9-4EB2-2960F576FD38}"/>
                </a:ext>
              </a:extLst>
            </p:cNvPr>
            <p:cNvSpPr/>
            <p:nvPr/>
          </p:nvSpPr>
          <p:spPr bwMode="auto">
            <a:xfrm>
              <a:off x="7235825" y="2093913"/>
              <a:ext cx="576263" cy="26193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score</a:t>
              </a:r>
            </a:p>
          </p:txBody>
        </p:sp>
        <p:sp>
          <p:nvSpPr>
            <p:cNvPr id="17" name="矩形 16">
              <a:extLst>
                <a:ext uri="{FF2B5EF4-FFF2-40B4-BE49-F238E27FC236}">
                  <a16:creationId xmlns:a16="http://schemas.microsoft.com/office/drawing/2014/main" id="{CBB2A8AD-7D95-F0E1-C3C7-6B1E4ABC9FCD}"/>
                </a:ext>
              </a:extLst>
            </p:cNvPr>
            <p:cNvSpPr/>
            <p:nvPr/>
          </p:nvSpPr>
          <p:spPr>
            <a:xfrm>
              <a:off x="7812088" y="2095342"/>
              <a:ext cx="863600" cy="26035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1400" dirty="0">
                  <a:solidFill>
                    <a:srgbClr val="0000FF"/>
                  </a:solidFill>
                  <a:latin typeface="Consolas" panose="020B0609020204030204" pitchFamily="49" charset="0"/>
                  <a:ea typeface="阿里巴巴普惠体" panose="00020600040101010101" pitchFamily="18" charset="-122"/>
                  <a:cs typeface="阿里巴巴普惠体" panose="00020600040101010101" pitchFamily="18" charset="-122"/>
                </a:rPr>
                <a:t>100</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spTree>
    <p:extLst>
      <p:ext uri="{BB962C8B-B14F-4D97-AF65-F5344CB8AC3E}">
        <p14:creationId xmlns:p14="http://schemas.microsoft.com/office/powerpoint/2010/main" val="98948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randombar(horizontal)">
                                      <p:cBhvr>
                                        <p:cTn id="15" dur="500"/>
                                        <p:tgtEl>
                                          <p:spTgt spid="2"/>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randombar(horizontal)">
                                      <p:cBhvr>
                                        <p:cTn id="18" dur="500"/>
                                        <p:tgtEl>
                                          <p:spTgt spid="4"/>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randombar(horizontal)">
                                      <p:cBhvr>
                                        <p:cTn id="21" dur="500"/>
                                        <p:tgtEl>
                                          <p:spTgt spid="6"/>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randombar(horizontal)">
                                      <p:cBhvr>
                                        <p:cTn id="24" dur="500"/>
                                        <p:tgtEl>
                                          <p:spTgt spid="8"/>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par>
                                <p:cTn id="28" presetID="14" presetClass="entr" presetSubtype="1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horizontal)">
                                      <p:cBhvr>
                                        <p:cTn id="30" dur="500"/>
                                        <p:tgtEl>
                                          <p:spTgt spid="12"/>
                                        </p:tgtEl>
                                      </p:cBhvr>
                                    </p:animEffect>
                                  </p:childTnLst>
                                </p:cTn>
                              </p:par>
                              <p:par>
                                <p:cTn id="31" presetID="14" presetClass="entr" presetSubtype="1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randombar(horizontal)">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this</a:t>
            </a:r>
            <a:r>
              <a:rPr kumimoji="1" lang="zh-CN" altLang="en-US">
                <a:solidFill>
                  <a:srgbClr val="AD2B26"/>
                </a:solidFill>
                <a:latin typeface="Consolas" panose="020B0609020204030204" pitchFamily="49" charset="0"/>
              </a:rPr>
              <a:t> </a:t>
            </a:r>
            <a:r>
              <a:rPr kumimoji="1" lang="en-US" altLang="zh-CN">
                <a:solidFill>
                  <a:srgbClr val="AD2B26"/>
                </a:solidFill>
                <a:latin typeface="Consolas" panose="020B0609020204030204" pitchFamily="49" charset="0"/>
              </a:rPr>
              <a:t>super</a:t>
            </a:r>
            <a:endParaRPr kumimoji="1" lang="zh-CN" altLang="en-US" dirty="0"/>
          </a:p>
        </p:txBody>
      </p:sp>
      <p:graphicFrame>
        <p:nvGraphicFramePr>
          <p:cNvPr id="5" name="表格 8">
            <a:extLst>
              <a:ext uri="{FF2B5EF4-FFF2-40B4-BE49-F238E27FC236}">
                <a16:creationId xmlns:a16="http://schemas.microsoft.com/office/drawing/2014/main" id="{108807B0-AFC4-4238-AAFB-0C437694EA96}"/>
              </a:ext>
            </a:extLst>
          </p:cNvPr>
          <p:cNvGraphicFramePr>
            <a:graphicFrameLocks noGrp="1"/>
          </p:cNvGraphicFramePr>
          <p:nvPr/>
        </p:nvGraphicFramePr>
        <p:xfrm>
          <a:off x="785524" y="2725749"/>
          <a:ext cx="10350500" cy="1976880"/>
        </p:xfrm>
        <a:graphic>
          <a:graphicData uri="http://schemas.openxmlformats.org/drawingml/2006/table">
            <a:tbl>
              <a:tblPr firstRow="1" bandRow="1">
                <a:tableStyleId>{5C22544A-7EE6-4342-B048-85BDC9FD1C3A}</a:tableStyleId>
              </a:tblPr>
              <a:tblGrid>
                <a:gridCol w="1911023">
                  <a:extLst>
                    <a:ext uri="{9D8B030D-6E8A-4147-A177-3AD203B41FA5}">
                      <a16:colId xmlns:a16="http://schemas.microsoft.com/office/drawing/2014/main" val="1970340643"/>
                    </a:ext>
                  </a:extLst>
                </a:gridCol>
                <a:gridCol w="2985796">
                  <a:extLst>
                    <a:ext uri="{9D8B030D-6E8A-4147-A177-3AD203B41FA5}">
                      <a16:colId xmlns:a16="http://schemas.microsoft.com/office/drawing/2014/main" val="1486953852"/>
                    </a:ext>
                  </a:extLst>
                </a:gridCol>
                <a:gridCol w="2976465">
                  <a:extLst>
                    <a:ext uri="{9D8B030D-6E8A-4147-A177-3AD203B41FA5}">
                      <a16:colId xmlns:a16="http://schemas.microsoft.com/office/drawing/2014/main" val="1394388281"/>
                    </a:ext>
                  </a:extLst>
                </a:gridCol>
                <a:gridCol w="2477216">
                  <a:extLst>
                    <a:ext uri="{9D8B030D-6E8A-4147-A177-3AD203B41FA5}">
                      <a16:colId xmlns:a16="http://schemas.microsoft.com/office/drawing/2014/main" val="1715132283"/>
                    </a:ext>
                  </a:extLst>
                </a:gridCol>
              </a:tblGrid>
              <a:tr h="650816">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访问成员变量</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访问成员方法</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访问构造方法</a:t>
                      </a:r>
                    </a:p>
                  </a:txBody>
                  <a:tcPr anchor="ctr">
                    <a:solidFill>
                      <a:srgbClr val="AD2B26"/>
                    </a:solidFill>
                  </a:tcPr>
                </a:tc>
                <a:extLst>
                  <a:ext uri="{0D108BD9-81ED-4DB2-BD59-A6C34878D82A}">
                    <a16:rowId xmlns:a16="http://schemas.microsoft.com/office/drawing/2014/main" val="1261269164"/>
                  </a:ext>
                </a:extLst>
              </a:tr>
              <a:tr h="663032">
                <a:tc>
                  <a:txBody>
                    <a:bodyPr/>
                    <a:lstStyle/>
                    <a:p>
                      <a:pPr algn="ctr"/>
                      <a:r>
                        <a:rPr lang="en-US" altLang="zh-CN" sz="1800" dirty="0">
                          <a:latin typeface="Consolas" panose="020B0609020204030204" pitchFamily="49" charset="0"/>
                        </a:rPr>
                        <a:t>this</a:t>
                      </a:r>
                      <a:endParaRPr lang="zh-CN" altLang="en-US" sz="1800" dirty="0">
                        <a:latin typeface="Consolas" panose="020B0609020204030204" pitchFamily="49" charset="0"/>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extLst>
                  <a:ext uri="{0D108BD9-81ED-4DB2-BD59-A6C34878D82A}">
                    <a16:rowId xmlns:a16="http://schemas.microsoft.com/office/drawing/2014/main" val="812956417"/>
                  </a:ext>
                </a:extLst>
              </a:tr>
              <a:tr h="663032">
                <a:tc>
                  <a:txBody>
                    <a:bodyPr/>
                    <a:lstStyle/>
                    <a:p>
                      <a:pPr algn="ctr"/>
                      <a:r>
                        <a:rPr lang="en-US" altLang="zh-CN" sz="1800" dirty="0">
                          <a:latin typeface="Consolas" panose="020B0609020204030204" pitchFamily="49" charset="0"/>
                        </a:rPr>
                        <a:t>super</a:t>
                      </a:r>
                      <a:endParaRPr lang="zh-CN" altLang="en-US" sz="1800" dirty="0">
                        <a:latin typeface="Consolas" panose="020B0609020204030204" pitchFamily="49" charset="0"/>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extLst>
                  <a:ext uri="{0D108BD9-81ED-4DB2-BD59-A6C34878D82A}">
                    <a16:rowId xmlns:a16="http://schemas.microsoft.com/office/drawing/2014/main" val="1031750113"/>
                  </a:ext>
                </a:extLst>
              </a:tr>
            </a:tbl>
          </a:graphicData>
        </a:graphic>
      </p:graphicFrame>
      <p:sp>
        <p:nvSpPr>
          <p:cNvPr id="9" name="TextBox 10">
            <a:extLst>
              <a:ext uri="{FF2B5EF4-FFF2-40B4-BE49-F238E27FC236}">
                <a16:creationId xmlns:a16="http://schemas.microsoft.com/office/drawing/2014/main" id="{FBD59942-ECE8-94E5-DEBB-DB0CE907CBA1}"/>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44796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this</a:t>
            </a:r>
            <a:r>
              <a:rPr kumimoji="1" lang="zh-CN" altLang="en-US">
                <a:solidFill>
                  <a:srgbClr val="AD2B26"/>
                </a:solidFill>
                <a:latin typeface="Consolas" panose="020B0609020204030204" pitchFamily="49" charset="0"/>
              </a:rPr>
              <a:t> </a:t>
            </a:r>
            <a:r>
              <a:rPr kumimoji="1" lang="en-US" altLang="zh-CN">
                <a:solidFill>
                  <a:srgbClr val="AD2B26"/>
                </a:solidFill>
                <a:latin typeface="Consolas" panose="020B0609020204030204" pitchFamily="49" charset="0"/>
              </a:rPr>
              <a:t>super</a:t>
            </a:r>
            <a:endParaRPr kumimoji="1" lang="zh-CN" altLang="en-US" dirty="0"/>
          </a:p>
        </p:txBody>
      </p:sp>
      <p:graphicFrame>
        <p:nvGraphicFramePr>
          <p:cNvPr id="5" name="表格 8">
            <a:extLst>
              <a:ext uri="{FF2B5EF4-FFF2-40B4-BE49-F238E27FC236}">
                <a16:creationId xmlns:a16="http://schemas.microsoft.com/office/drawing/2014/main" id="{108807B0-AFC4-4238-AAFB-0C437694EA96}"/>
              </a:ext>
            </a:extLst>
          </p:cNvPr>
          <p:cNvGraphicFramePr>
            <a:graphicFrameLocks noGrp="1"/>
          </p:cNvGraphicFramePr>
          <p:nvPr/>
        </p:nvGraphicFramePr>
        <p:xfrm>
          <a:off x="785524" y="2725749"/>
          <a:ext cx="10350500" cy="1976880"/>
        </p:xfrm>
        <a:graphic>
          <a:graphicData uri="http://schemas.openxmlformats.org/drawingml/2006/table">
            <a:tbl>
              <a:tblPr firstRow="1" bandRow="1">
                <a:tableStyleId>{5C22544A-7EE6-4342-B048-85BDC9FD1C3A}</a:tableStyleId>
              </a:tblPr>
              <a:tblGrid>
                <a:gridCol w="1911023">
                  <a:extLst>
                    <a:ext uri="{9D8B030D-6E8A-4147-A177-3AD203B41FA5}">
                      <a16:colId xmlns:a16="http://schemas.microsoft.com/office/drawing/2014/main" val="1970340643"/>
                    </a:ext>
                  </a:extLst>
                </a:gridCol>
                <a:gridCol w="2985796">
                  <a:extLst>
                    <a:ext uri="{9D8B030D-6E8A-4147-A177-3AD203B41FA5}">
                      <a16:colId xmlns:a16="http://schemas.microsoft.com/office/drawing/2014/main" val="1486953852"/>
                    </a:ext>
                  </a:extLst>
                </a:gridCol>
                <a:gridCol w="2976465">
                  <a:extLst>
                    <a:ext uri="{9D8B030D-6E8A-4147-A177-3AD203B41FA5}">
                      <a16:colId xmlns:a16="http://schemas.microsoft.com/office/drawing/2014/main" val="1394388281"/>
                    </a:ext>
                  </a:extLst>
                </a:gridCol>
                <a:gridCol w="2477216">
                  <a:extLst>
                    <a:ext uri="{9D8B030D-6E8A-4147-A177-3AD203B41FA5}">
                      <a16:colId xmlns:a16="http://schemas.microsoft.com/office/drawing/2014/main" val="1715132283"/>
                    </a:ext>
                  </a:extLst>
                </a:gridCol>
              </a:tblGrid>
              <a:tr h="650816">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访问成员变量</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访问成员方法</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访问构造方法</a:t>
                      </a:r>
                    </a:p>
                  </a:txBody>
                  <a:tcPr anchor="ctr">
                    <a:solidFill>
                      <a:srgbClr val="AD2B26"/>
                    </a:solidFill>
                  </a:tcPr>
                </a:tc>
                <a:extLst>
                  <a:ext uri="{0D108BD9-81ED-4DB2-BD59-A6C34878D82A}">
                    <a16:rowId xmlns:a16="http://schemas.microsoft.com/office/drawing/2014/main" val="1261269164"/>
                  </a:ext>
                </a:extLst>
              </a:tr>
              <a:tr h="663032">
                <a:tc>
                  <a:txBody>
                    <a:bodyPr/>
                    <a:lstStyle/>
                    <a:p>
                      <a:pPr algn="ctr"/>
                      <a:r>
                        <a:rPr lang="en-US" altLang="zh-CN" sz="1800" dirty="0">
                          <a:latin typeface="Consolas" panose="020B0609020204030204" pitchFamily="49" charset="0"/>
                        </a:rPr>
                        <a:t>this</a:t>
                      </a:r>
                      <a:endParaRPr lang="zh-CN" altLang="en-US" sz="1800" dirty="0">
                        <a:latin typeface="Consolas" panose="020B0609020204030204" pitchFamily="49" charset="0"/>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extLst>
                  <a:ext uri="{0D108BD9-81ED-4DB2-BD59-A6C34878D82A}">
                    <a16:rowId xmlns:a16="http://schemas.microsoft.com/office/drawing/2014/main" val="812956417"/>
                  </a:ext>
                </a:extLst>
              </a:tr>
              <a:tr h="663032">
                <a:tc>
                  <a:txBody>
                    <a:bodyPr/>
                    <a:lstStyle/>
                    <a:p>
                      <a:pPr algn="ctr"/>
                      <a:r>
                        <a:rPr lang="en-US" altLang="zh-CN" sz="1800" dirty="0">
                          <a:latin typeface="Consolas" panose="020B0609020204030204" pitchFamily="49" charset="0"/>
                        </a:rPr>
                        <a:t>super</a:t>
                      </a:r>
                      <a:endParaRPr lang="zh-CN" altLang="en-US" sz="1800" dirty="0">
                        <a:latin typeface="Consolas" panose="020B0609020204030204" pitchFamily="49" charset="0"/>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extLst>
                  <a:ext uri="{0D108BD9-81ED-4DB2-BD59-A6C34878D82A}">
                    <a16:rowId xmlns:a16="http://schemas.microsoft.com/office/drawing/2014/main" val="1031750113"/>
                  </a:ext>
                </a:extLst>
              </a:tr>
            </a:tbl>
          </a:graphicData>
        </a:graphic>
      </p:graphicFrame>
      <p:sp>
        <p:nvSpPr>
          <p:cNvPr id="2" name="TextBox 10">
            <a:extLst>
              <a:ext uri="{FF2B5EF4-FFF2-40B4-BE49-F238E27FC236}">
                <a16:creationId xmlns:a16="http://schemas.microsoft.com/office/drawing/2014/main" id="{4C88DA56-0A63-9F06-CF75-8F6374943AA4}"/>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90875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this</a:t>
            </a:r>
            <a:r>
              <a:rPr kumimoji="1" lang="zh-CN" altLang="en-US">
                <a:solidFill>
                  <a:srgbClr val="AD2B26"/>
                </a:solidFill>
                <a:latin typeface="Consolas" panose="020B0609020204030204" pitchFamily="49" charset="0"/>
              </a:rPr>
              <a:t> </a:t>
            </a:r>
            <a:r>
              <a:rPr kumimoji="1" lang="en-US" altLang="zh-CN">
                <a:solidFill>
                  <a:srgbClr val="AD2B26"/>
                </a:solidFill>
                <a:latin typeface="Consolas" panose="020B0609020204030204" pitchFamily="49" charset="0"/>
              </a:rPr>
              <a:t>super</a:t>
            </a:r>
            <a:endParaRPr kumimoji="1" lang="zh-CN" altLang="en-US" dirty="0"/>
          </a:p>
        </p:txBody>
      </p:sp>
      <p:graphicFrame>
        <p:nvGraphicFramePr>
          <p:cNvPr id="5" name="表格 8">
            <a:extLst>
              <a:ext uri="{FF2B5EF4-FFF2-40B4-BE49-F238E27FC236}">
                <a16:creationId xmlns:a16="http://schemas.microsoft.com/office/drawing/2014/main" id="{108807B0-AFC4-4238-AAFB-0C437694EA96}"/>
              </a:ext>
            </a:extLst>
          </p:cNvPr>
          <p:cNvGraphicFramePr>
            <a:graphicFrameLocks noGrp="1"/>
          </p:cNvGraphicFramePr>
          <p:nvPr/>
        </p:nvGraphicFramePr>
        <p:xfrm>
          <a:off x="785524" y="2725749"/>
          <a:ext cx="10350500" cy="1976880"/>
        </p:xfrm>
        <a:graphic>
          <a:graphicData uri="http://schemas.openxmlformats.org/drawingml/2006/table">
            <a:tbl>
              <a:tblPr firstRow="1" bandRow="1">
                <a:tableStyleId>{5C22544A-7EE6-4342-B048-85BDC9FD1C3A}</a:tableStyleId>
              </a:tblPr>
              <a:tblGrid>
                <a:gridCol w="1911023">
                  <a:extLst>
                    <a:ext uri="{9D8B030D-6E8A-4147-A177-3AD203B41FA5}">
                      <a16:colId xmlns:a16="http://schemas.microsoft.com/office/drawing/2014/main" val="1970340643"/>
                    </a:ext>
                  </a:extLst>
                </a:gridCol>
                <a:gridCol w="2985796">
                  <a:extLst>
                    <a:ext uri="{9D8B030D-6E8A-4147-A177-3AD203B41FA5}">
                      <a16:colId xmlns:a16="http://schemas.microsoft.com/office/drawing/2014/main" val="1486953852"/>
                    </a:ext>
                  </a:extLst>
                </a:gridCol>
                <a:gridCol w="2976465">
                  <a:extLst>
                    <a:ext uri="{9D8B030D-6E8A-4147-A177-3AD203B41FA5}">
                      <a16:colId xmlns:a16="http://schemas.microsoft.com/office/drawing/2014/main" val="1394388281"/>
                    </a:ext>
                  </a:extLst>
                </a:gridCol>
                <a:gridCol w="2477216">
                  <a:extLst>
                    <a:ext uri="{9D8B030D-6E8A-4147-A177-3AD203B41FA5}">
                      <a16:colId xmlns:a16="http://schemas.microsoft.com/office/drawing/2014/main" val="1715132283"/>
                    </a:ext>
                  </a:extLst>
                </a:gridCol>
              </a:tblGrid>
              <a:tr h="650816">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访问成员变量</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访问成员方法</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访问构造方法</a:t>
                      </a:r>
                    </a:p>
                  </a:txBody>
                  <a:tcPr anchor="ctr">
                    <a:solidFill>
                      <a:srgbClr val="AD2B26"/>
                    </a:solidFill>
                  </a:tcPr>
                </a:tc>
                <a:extLst>
                  <a:ext uri="{0D108BD9-81ED-4DB2-BD59-A6C34878D82A}">
                    <a16:rowId xmlns:a16="http://schemas.microsoft.com/office/drawing/2014/main" val="1261269164"/>
                  </a:ext>
                </a:extLst>
              </a:tr>
              <a:tr h="663032">
                <a:tc>
                  <a:txBody>
                    <a:bodyPr/>
                    <a:lstStyle/>
                    <a:p>
                      <a:pPr algn="ctr"/>
                      <a:r>
                        <a:rPr lang="en-US" altLang="zh-CN" sz="1800" dirty="0">
                          <a:latin typeface="Consolas" panose="020B0609020204030204" pitchFamily="49" charset="0"/>
                        </a:rPr>
                        <a:t>this</a:t>
                      </a:r>
                      <a:endParaRPr lang="zh-CN" altLang="en-US" sz="1800" dirty="0">
                        <a:latin typeface="Consolas" panose="020B0609020204030204" pitchFamily="49" charset="0"/>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extLst>
                  <a:ext uri="{0D108BD9-81ED-4DB2-BD59-A6C34878D82A}">
                    <a16:rowId xmlns:a16="http://schemas.microsoft.com/office/drawing/2014/main" val="812956417"/>
                  </a:ext>
                </a:extLst>
              </a:tr>
              <a:tr h="663032">
                <a:tc>
                  <a:txBody>
                    <a:bodyPr/>
                    <a:lstStyle/>
                    <a:p>
                      <a:pPr algn="ctr"/>
                      <a:r>
                        <a:rPr lang="en-US" altLang="zh-CN" sz="1800" dirty="0">
                          <a:latin typeface="Consolas" panose="020B0609020204030204" pitchFamily="49" charset="0"/>
                        </a:rPr>
                        <a:t>super</a:t>
                      </a:r>
                      <a:endParaRPr lang="zh-CN" altLang="en-US" sz="1800" dirty="0">
                        <a:latin typeface="Consolas" panose="020B0609020204030204" pitchFamily="49" charset="0"/>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extLst>
                  <a:ext uri="{0D108BD9-81ED-4DB2-BD59-A6C34878D82A}">
                    <a16:rowId xmlns:a16="http://schemas.microsoft.com/office/drawing/2014/main" val="1031750113"/>
                  </a:ext>
                </a:extLst>
              </a:tr>
            </a:tbl>
          </a:graphicData>
        </a:graphic>
      </p:graphicFrame>
      <p:sp>
        <p:nvSpPr>
          <p:cNvPr id="2" name="TextBox 10">
            <a:extLst>
              <a:ext uri="{FF2B5EF4-FFF2-40B4-BE49-F238E27FC236}">
                <a16:creationId xmlns:a16="http://schemas.microsoft.com/office/drawing/2014/main" id="{40329F7C-32C2-E09A-20B1-BE464669BB92}"/>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5078123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this</a:t>
            </a:r>
            <a:r>
              <a:rPr kumimoji="1" lang="zh-CN" altLang="en-US">
                <a:solidFill>
                  <a:srgbClr val="AD2B26"/>
                </a:solidFill>
                <a:latin typeface="Consolas" panose="020B0609020204030204" pitchFamily="49" charset="0"/>
              </a:rPr>
              <a:t> </a:t>
            </a:r>
            <a:r>
              <a:rPr kumimoji="1" lang="en-US" altLang="zh-CN">
                <a:solidFill>
                  <a:srgbClr val="AD2B26"/>
                </a:solidFill>
                <a:latin typeface="Consolas" panose="020B0609020204030204" pitchFamily="49" charset="0"/>
              </a:rPr>
              <a:t>super</a:t>
            </a:r>
            <a:endParaRPr kumimoji="1" lang="zh-CN" altLang="en-US" dirty="0"/>
          </a:p>
        </p:txBody>
      </p:sp>
      <p:graphicFrame>
        <p:nvGraphicFramePr>
          <p:cNvPr id="5" name="表格 8">
            <a:extLst>
              <a:ext uri="{FF2B5EF4-FFF2-40B4-BE49-F238E27FC236}">
                <a16:creationId xmlns:a16="http://schemas.microsoft.com/office/drawing/2014/main" id="{108807B0-AFC4-4238-AAFB-0C437694EA96}"/>
              </a:ext>
            </a:extLst>
          </p:cNvPr>
          <p:cNvGraphicFramePr>
            <a:graphicFrameLocks noGrp="1"/>
          </p:cNvGraphicFramePr>
          <p:nvPr/>
        </p:nvGraphicFramePr>
        <p:xfrm>
          <a:off x="785524" y="2725749"/>
          <a:ext cx="10350500" cy="1976880"/>
        </p:xfrm>
        <a:graphic>
          <a:graphicData uri="http://schemas.openxmlformats.org/drawingml/2006/table">
            <a:tbl>
              <a:tblPr firstRow="1" bandRow="1">
                <a:tableStyleId>{5C22544A-7EE6-4342-B048-85BDC9FD1C3A}</a:tableStyleId>
              </a:tblPr>
              <a:tblGrid>
                <a:gridCol w="1911023">
                  <a:extLst>
                    <a:ext uri="{9D8B030D-6E8A-4147-A177-3AD203B41FA5}">
                      <a16:colId xmlns:a16="http://schemas.microsoft.com/office/drawing/2014/main" val="1970340643"/>
                    </a:ext>
                  </a:extLst>
                </a:gridCol>
                <a:gridCol w="2985796">
                  <a:extLst>
                    <a:ext uri="{9D8B030D-6E8A-4147-A177-3AD203B41FA5}">
                      <a16:colId xmlns:a16="http://schemas.microsoft.com/office/drawing/2014/main" val="1486953852"/>
                    </a:ext>
                  </a:extLst>
                </a:gridCol>
                <a:gridCol w="2976465">
                  <a:extLst>
                    <a:ext uri="{9D8B030D-6E8A-4147-A177-3AD203B41FA5}">
                      <a16:colId xmlns:a16="http://schemas.microsoft.com/office/drawing/2014/main" val="1394388281"/>
                    </a:ext>
                  </a:extLst>
                </a:gridCol>
                <a:gridCol w="2477216">
                  <a:extLst>
                    <a:ext uri="{9D8B030D-6E8A-4147-A177-3AD203B41FA5}">
                      <a16:colId xmlns:a16="http://schemas.microsoft.com/office/drawing/2014/main" val="1715132283"/>
                    </a:ext>
                  </a:extLst>
                </a:gridCol>
              </a:tblGrid>
              <a:tr h="650816">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访问成员变量</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访问成员方法</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访问构造方法</a:t>
                      </a:r>
                    </a:p>
                  </a:txBody>
                  <a:tcPr anchor="ctr">
                    <a:solidFill>
                      <a:srgbClr val="AD2B26"/>
                    </a:solidFill>
                  </a:tcPr>
                </a:tc>
                <a:extLst>
                  <a:ext uri="{0D108BD9-81ED-4DB2-BD59-A6C34878D82A}">
                    <a16:rowId xmlns:a16="http://schemas.microsoft.com/office/drawing/2014/main" val="1261269164"/>
                  </a:ext>
                </a:extLst>
              </a:tr>
              <a:tr h="663032">
                <a:tc>
                  <a:txBody>
                    <a:bodyPr/>
                    <a:lstStyle/>
                    <a:p>
                      <a:pPr algn="ctr"/>
                      <a:r>
                        <a:rPr lang="en-US" altLang="zh-CN" sz="1800" dirty="0">
                          <a:latin typeface="Consolas" panose="020B0609020204030204" pitchFamily="49" charset="0"/>
                        </a:rPr>
                        <a:t>this</a:t>
                      </a:r>
                      <a:endParaRPr lang="zh-CN" altLang="en-US" sz="1800" dirty="0">
                        <a:latin typeface="Consolas" panose="020B0609020204030204" pitchFamily="49" charset="0"/>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extLst>
                  <a:ext uri="{0D108BD9-81ED-4DB2-BD59-A6C34878D82A}">
                    <a16:rowId xmlns:a16="http://schemas.microsoft.com/office/drawing/2014/main" val="812956417"/>
                  </a:ext>
                </a:extLst>
              </a:tr>
              <a:tr h="663032">
                <a:tc>
                  <a:txBody>
                    <a:bodyPr/>
                    <a:lstStyle/>
                    <a:p>
                      <a:pPr algn="ctr"/>
                      <a:r>
                        <a:rPr lang="en-US" altLang="zh-CN" sz="1800" dirty="0">
                          <a:latin typeface="Consolas" panose="020B0609020204030204" pitchFamily="49" charset="0"/>
                        </a:rPr>
                        <a:t>super</a:t>
                      </a:r>
                      <a:endParaRPr lang="zh-CN" altLang="en-US" sz="1800" dirty="0">
                        <a:latin typeface="Consolas" panose="020B0609020204030204" pitchFamily="49" charset="0"/>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 super(…);</a:t>
                      </a:r>
                    </a:p>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父类构造方法</a:t>
                      </a:r>
                    </a:p>
                  </a:txBody>
                  <a:tcPr anchor="ctr">
                    <a:solidFill>
                      <a:srgbClr val="D9D9D9"/>
                    </a:solidFill>
                  </a:tcPr>
                </a:tc>
                <a:extLst>
                  <a:ext uri="{0D108BD9-81ED-4DB2-BD59-A6C34878D82A}">
                    <a16:rowId xmlns:a16="http://schemas.microsoft.com/office/drawing/2014/main" val="1031750113"/>
                  </a:ext>
                </a:extLst>
              </a:tr>
            </a:tbl>
          </a:graphicData>
        </a:graphic>
      </p:graphicFrame>
      <p:sp>
        <p:nvSpPr>
          <p:cNvPr id="2" name="TextBox 10">
            <a:extLst>
              <a:ext uri="{FF2B5EF4-FFF2-40B4-BE49-F238E27FC236}">
                <a16:creationId xmlns:a16="http://schemas.microsoft.com/office/drawing/2014/main" id="{B6E5276B-7768-CBCF-83B9-7B11A8132116}"/>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50144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this</a:t>
            </a:r>
            <a:r>
              <a:rPr kumimoji="1" lang="zh-CN" altLang="en-US">
                <a:solidFill>
                  <a:srgbClr val="AD2B26"/>
                </a:solidFill>
                <a:latin typeface="Consolas" panose="020B0609020204030204" pitchFamily="49" charset="0"/>
              </a:rPr>
              <a:t> </a:t>
            </a:r>
            <a:r>
              <a:rPr kumimoji="1" lang="en-US" altLang="zh-CN">
                <a:solidFill>
                  <a:srgbClr val="AD2B26"/>
                </a:solidFill>
                <a:latin typeface="Consolas" panose="020B0609020204030204" pitchFamily="49" charset="0"/>
              </a:rPr>
              <a:t>super</a:t>
            </a:r>
            <a:endParaRPr kumimoji="1" lang="zh-CN" altLang="en-US" dirty="0"/>
          </a:p>
        </p:txBody>
      </p:sp>
      <p:graphicFrame>
        <p:nvGraphicFramePr>
          <p:cNvPr id="5" name="表格 8">
            <a:extLst>
              <a:ext uri="{FF2B5EF4-FFF2-40B4-BE49-F238E27FC236}">
                <a16:creationId xmlns:a16="http://schemas.microsoft.com/office/drawing/2014/main" id="{108807B0-AFC4-4238-AAFB-0C437694EA96}"/>
              </a:ext>
            </a:extLst>
          </p:cNvPr>
          <p:cNvGraphicFramePr>
            <a:graphicFrameLocks noGrp="1"/>
          </p:cNvGraphicFramePr>
          <p:nvPr/>
        </p:nvGraphicFramePr>
        <p:xfrm>
          <a:off x="785524" y="2725749"/>
          <a:ext cx="10350500" cy="1976880"/>
        </p:xfrm>
        <a:graphic>
          <a:graphicData uri="http://schemas.openxmlformats.org/drawingml/2006/table">
            <a:tbl>
              <a:tblPr firstRow="1" bandRow="1">
                <a:tableStyleId>{5C22544A-7EE6-4342-B048-85BDC9FD1C3A}</a:tableStyleId>
              </a:tblPr>
              <a:tblGrid>
                <a:gridCol w="1911023">
                  <a:extLst>
                    <a:ext uri="{9D8B030D-6E8A-4147-A177-3AD203B41FA5}">
                      <a16:colId xmlns:a16="http://schemas.microsoft.com/office/drawing/2014/main" val="1970340643"/>
                    </a:ext>
                  </a:extLst>
                </a:gridCol>
                <a:gridCol w="2985796">
                  <a:extLst>
                    <a:ext uri="{9D8B030D-6E8A-4147-A177-3AD203B41FA5}">
                      <a16:colId xmlns:a16="http://schemas.microsoft.com/office/drawing/2014/main" val="1486953852"/>
                    </a:ext>
                  </a:extLst>
                </a:gridCol>
                <a:gridCol w="2976465">
                  <a:extLst>
                    <a:ext uri="{9D8B030D-6E8A-4147-A177-3AD203B41FA5}">
                      <a16:colId xmlns:a16="http://schemas.microsoft.com/office/drawing/2014/main" val="1394388281"/>
                    </a:ext>
                  </a:extLst>
                </a:gridCol>
                <a:gridCol w="2477216">
                  <a:extLst>
                    <a:ext uri="{9D8B030D-6E8A-4147-A177-3AD203B41FA5}">
                      <a16:colId xmlns:a16="http://schemas.microsoft.com/office/drawing/2014/main" val="1715132283"/>
                    </a:ext>
                  </a:extLst>
                </a:gridCol>
              </a:tblGrid>
              <a:tr h="650816">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访问成员变量</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访问成员方法</a:t>
                      </a:r>
                    </a:p>
                  </a:txBody>
                  <a:tcPr anchor="ctr">
                    <a:solidFill>
                      <a:srgbClr val="AD2B26"/>
                    </a:solidFill>
                  </a:tcPr>
                </a:tc>
                <a:tc>
                  <a:txBody>
                    <a:bodyPr/>
                    <a:lstStyle/>
                    <a:p>
                      <a:pPr algn="ct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访问构造方法</a:t>
                      </a:r>
                    </a:p>
                  </a:txBody>
                  <a:tcPr anchor="ctr">
                    <a:solidFill>
                      <a:srgbClr val="AD2B26"/>
                    </a:solidFill>
                  </a:tcPr>
                </a:tc>
                <a:extLst>
                  <a:ext uri="{0D108BD9-81ED-4DB2-BD59-A6C34878D82A}">
                    <a16:rowId xmlns:a16="http://schemas.microsoft.com/office/drawing/2014/main" val="1261269164"/>
                  </a:ext>
                </a:extLst>
              </a:tr>
              <a:tr h="663032">
                <a:tc>
                  <a:txBody>
                    <a:bodyPr/>
                    <a:lstStyle/>
                    <a:p>
                      <a:pPr algn="ctr"/>
                      <a:r>
                        <a:rPr lang="en-US" altLang="zh-CN" sz="1800" dirty="0">
                          <a:latin typeface="Consolas" panose="020B0609020204030204" pitchFamily="49" charset="0"/>
                        </a:rPr>
                        <a:t>this</a:t>
                      </a:r>
                      <a:endParaRPr lang="zh-CN" altLang="en-US" sz="1800" dirty="0">
                        <a:latin typeface="Consolas" panose="020B0609020204030204" pitchFamily="49" charset="0"/>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F2F2F2"/>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this(…);</a:t>
                      </a:r>
                    </a:p>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本类构造方法</a:t>
                      </a:r>
                    </a:p>
                  </a:txBody>
                  <a:tcPr anchor="ctr">
                    <a:solidFill>
                      <a:srgbClr val="F2F2F2"/>
                    </a:solidFill>
                  </a:tcPr>
                </a:tc>
                <a:extLst>
                  <a:ext uri="{0D108BD9-81ED-4DB2-BD59-A6C34878D82A}">
                    <a16:rowId xmlns:a16="http://schemas.microsoft.com/office/drawing/2014/main" val="812956417"/>
                  </a:ext>
                </a:extLst>
              </a:tr>
              <a:tr h="663032">
                <a:tc>
                  <a:txBody>
                    <a:bodyPr/>
                    <a:lstStyle/>
                    <a:p>
                      <a:pPr algn="ctr"/>
                      <a:r>
                        <a:rPr lang="en-US" altLang="zh-CN" sz="1800" dirty="0">
                          <a:latin typeface="Consolas" panose="020B0609020204030204" pitchFamily="49" charset="0"/>
                        </a:rPr>
                        <a:t>super</a:t>
                      </a:r>
                      <a:endParaRPr lang="zh-CN" altLang="en-US" sz="1800" dirty="0">
                        <a:latin typeface="Consolas" panose="020B0609020204030204" pitchFamily="49" charset="0"/>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父类成员变量</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父类成员方法</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endParaRPr>
                    </a:p>
                  </a:txBody>
                  <a:tcPr anchor="ctr">
                    <a:solidFill>
                      <a:srgbClr val="D9D9D9"/>
                    </a:solidFill>
                  </a:tcPr>
                </a:tc>
                <a:tc>
                  <a:txBody>
                    <a:bodyPr/>
                    <a:lstStyle/>
                    <a:p>
                      <a:pPr algn="ct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super(); super(…);</a:t>
                      </a:r>
                    </a:p>
                    <a:p>
                      <a:pPr algn="ct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父类构造方法</a:t>
                      </a:r>
                    </a:p>
                  </a:txBody>
                  <a:tcPr anchor="ctr">
                    <a:solidFill>
                      <a:srgbClr val="D9D9D9"/>
                    </a:solidFill>
                  </a:tcPr>
                </a:tc>
                <a:extLst>
                  <a:ext uri="{0D108BD9-81ED-4DB2-BD59-A6C34878D82A}">
                    <a16:rowId xmlns:a16="http://schemas.microsoft.com/office/drawing/2014/main" val="1031750113"/>
                  </a:ext>
                </a:extLst>
              </a:tr>
            </a:tbl>
          </a:graphicData>
        </a:graphic>
      </p:graphicFrame>
      <p:sp>
        <p:nvSpPr>
          <p:cNvPr id="2" name="TextBox 10">
            <a:extLst>
              <a:ext uri="{FF2B5EF4-FFF2-40B4-BE49-F238E27FC236}">
                <a16:creationId xmlns:a16="http://schemas.microsoft.com/office/drawing/2014/main" id="{86B3FD31-BEC7-1647-3D4C-4987F754A167}"/>
              </a:ext>
            </a:extLst>
          </p:cNvPr>
          <p:cNvSpPr txBox="1"/>
          <p:nvPr/>
        </p:nvSpPr>
        <p:spPr>
          <a:xfrm>
            <a:off x="576626" y="1155205"/>
            <a:ext cx="10350500" cy="795282"/>
          </a:xfrm>
          <a:prstGeom prst="rect">
            <a:avLst/>
          </a:prstGeom>
          <a:noFill/>
        </p:spPr>
        <p:txBody>
          <a:bodyPr>
            <a:spAutoFit/>
          </a:bodyPr>
          <a:lstStyle/>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：代表本类对象的引用</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：代表父类存储空间的标识</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6203582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3B4A3-8D8E-0709-D3B6-C26B741DB2B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D6DE75E-3FF8-D969-EF1B-56F14E9FB1D2}"/>
              </a:ext>
            </a:extLst>
          </p:cNvPr>
          <p:cNvSpPr>
            <a:spLocks noGrp="1"/>
          </p:cNvSpPr>
          <p:nvPr>
            <p:ph type="body" sz="quarter" idx="10"/>
          </p:nvPr>
        </p:nvSpPr>
        <p:spPr>
          <a:xfrm>
            <a:off x="3936569" y="1483864"/>
            <a:ext cx="8255431" cy="3962399"/>
          </a:xfrm>
        </p:spPr>
        <p:txBody>
          <a:bodyPr/>
          <a:lstStyle/>
          <a:p>
            <a:r>
              <a:rPr lang="en-US" altLang="zh-CN" sz="1800" dirty="0">
                <a:solidFill>
                  <a:schemeClr val="tx1">
                    <a:lumMod val="50000"/>
                  </a:schemeClr>
                </a:solidFill>
                <a:latin typeface="+mn-ea"/>
              </a:rPr>
              <a:t>this </a:t>
            </a:r>
            <a:r>
              <a:rPr lang="zh-CN" altLang="en-US" sz="1800" dirty="0">
                <a:solidFill>
                  <a:schemeClr val="tx1">
                    <a:lumMod val="50000"/>
                  </a:schemeClr>
                </a:solidFill>
                <a:latin typeface="+mn-ea"/>
              </a:rPr>
              <a:t>调用本类成员、</a:t>
            </a:r>
            <a:r>
              <a:rPr lang="en-US" altLang="zh-CN" sz="1800" dirty="0">
                <a:solidFill>
                  <a:schemeClr val="tx1">
                    <a:lumMod val="50000"/>
                  </a:schemeClr>
                </a:solidFill>
                <a:latin typeface="+mn-ea"/>
              </a:rPr>
              <a:t>super </a:t>
            </a:r>
            <a:r>
              <a:rPr lang="zh-CN" altLang="en-US" sz="1800" dirty="0">
                <a:solidFill>
                  <a:schemeClr val="tx1">
                    <a:lumMod val="50000"/>
                  </a:schemeClr>
                </a:solidFill>
                <a:latin typeface="+mn-ea"/>
              </a:rPr>
              <a:t>调用父类成员</a:t>
            </a:r>
            <a:r>
              <a:rPr lang="en-US" altLang="zh-CN" sz="1800" dirty="0">
                <a:solidFill>
                  <a:schemeClr val="tx1">
                    <a:lumMod val="50000"/>
                  </a:schemeClr>
                </a:solidFill>
                <a:latin typeface="+mn-ea"/>
              </a:rPr>
              <a:t> </a:t>
            </a:r>
          </a:p>
          <a:p>
            <a:r>
              <a:rPr lang="en-US" altLang="zh-CN" sz="1800" dirty="0">
                <a:solidFill>
                  <a:schemeClr val="tx1">
                    <a:lumMod val="50000"/>
                  </a:schemeClr>
                </a:solidFill>
                <a:latin typeface="+mn-ea"/>
              </a:rPr>
              <a:t>this()</a:t>
            </a:r>
            <a:r>
              <a:rPr lang="zh-CN" altLang="en-US" sz="1800" dirty="0">
                <a:solidFill>
                  <a:schemeClr val="tx1">
                    <a:lumMod val="50000"/>
                  </a:schemeClr>
                </a:solidFill>
                <a:latin typeface="+mn-ea"/>
              </a:rPr>
              <a:t> </a:t>
            </a:r>
            <a:r>
              <a:rPr lang="en-US" altLang="zh-CN" sz="1800" dirty="0">
                <a:solidFill>
                  <a:schemeClr val="tx1">
                    <a:lumMod val="50000"/>
                  </a:schemeClr>
                </a:solidFill>
                <a:latin typeface="+mn-ea"/>
              </a:rPr>
              <a:t>super() </a:t>
            </a:r>
            <a:r>
              <a:rPr lang="zh-CN" altLang="en-US" sz="1800" dirty="0">
                <a:solidFill>
                  <a:schemeClr val="tx1">
                    <a:lumMod val="50000"/>
                  </a:schemeClr>
                </a:solidFill>
                <a:latin typeface="+mn-ea"/>
              </a:rPr>
              <a:t>二者都在争夺构造方法的第一行位置，所以二者不能共存</a:t>
            </a:r>
            <a:endParaRPr lang="en-US" altLang="zh-CN" sz="1800" dirty="0">
              <a:solidFill>
                <a:schemeClr val="tx1">
                  <a:lumMod val="50000"/>
                </a:schemeClr>
              </a:solidFill>
              <a:latin typeface="+mn-ea"/>
            </a:endParaRPr>
          </a:p>
        </p:txBody>
      </p:sp>
      <p:sp>
        <p:nvSpPr>
          <p:cNvPr id="3" name="标题 2">
            <a:extLst>
              <a:ext uri="{FF2B5EF4-FFF2-40B4-BE49-F238E27FC236}">
                <a16:creationId xmlns:a16="http://schemas.microsoft.com/office/drawing/2014/main" id="{96B8F421-D264-84C0-7C53-15F487A1CD9D}"/>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18937461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1873-8414-AF2D-D77F-763936817638}"/>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962DE604-6B03-FA23-B88B-02F9AC96B19B}"/>
              </a:ext>
            </a:extLst>
          </p:cNvPr>
          <p:cNvSpPr>
            <a:spLocks noGrp="1"/>
          </p:cNvSpPr>
          <p:nvPr>
            <p:ph type="body" sz="quarter" idx="13"/>
          </p:nvPr>
        </p:nvSpPr>
        <p:spPr>
          <a:xfrm>
            <a:off x="5834080" y="2465278"/>
            <a:ext cx="4831831" cy="901700"/>
          </a:xfrm>
        </p:spPr>
        <p:txBody>
          <a:bodyPr/>
          <a:lstStyle/>
          <a:p>
            <a:r>
              <a:rPr lang="en-US" altLang="zh-CN" dirty="0"/>
              <a:t>Object </a:t>
            </a:r>
            <a:r>
              <a:rPr lang="zh-CN" altLang="en-US" dirty="0"/>
              <a:t>类</a:t>
            </a:r>
          </a:p>
        </p:txBody>
      </p:sp>
      <p:sp>
        <p:nvSpPr>
          <p:cNvPr id="10" name="文本占位符 9">
            <a:extLst>
              <a:ext uri="{FF2B5EF4-FFF2-40B4-BE49-F238E27FC236}">
                <a16:creationId xmlns:a16="http://schemas.microsoft.com/office/drawing/2014/main" id="{1A1CB593-3F09-6086-B408-438F66DE1A03}"/>
              </a:ext>
            </a:extLst>
          </p:cNvPr>
          <p:cNvSpPr>
            <a:spLocks noGrp="1"/>
          </p:cNvSpPr>
          <p:nvPr>
            <p:ph type="body" sz="quarter" idx="14"/>
          </p:nvPr>
        </p:nvSpPr>
        <p:spPr/>
        <p:txBody>
          <a:bodyPr/>
          <a:lstStyle/>
          <a:p>
            <a:r>
              <a:rPr lang="en-US" altLang="zh-CN" dirty="0"/>
              <a:t>2</a:t>
            </a:r>
            <a:endParaRPr lang="zh-CN" altLang="en-US" dirty="0"/>
          </a:p>
        </p:txBody>
      </p:sp>
    </p:spTree>
    <p:extLst>
      <p:ext uri="{BB962C8B-B14F-4D97-AF65-F5344CB8AC3E}">
        <p14:creationId xmlns:p14="http://schemas.microsoft.com/office/powerpoint/2010/main" val="363141293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AAC7E335-801D-492F-A2F8-90E77B1EAB09}"/>
              </a:ext>
            </a:extLst>
          </p:cNvPr>
          <p:cNvSpPr txBox="1"/>
          <p:nvPr/>
        </p:nvSpPr>
        <p:spPr>
          <a:xfrm>
            <a:off x="576626" y="1097631"/>
            <a:ext cx="11033760" cy="1011880"/>
          </a:xfrm>
          <a:prstGeom prst="rect">
            <a:avLst/>
          </a:prstGeom>
          <a:noFill/>
        </p:spPr>
        <p:txBody>
          <a:bodyPr wrap="square">
            <a:spAutoFit/>
          </a:bodyPr>
          <a:lstStyle/>
          <a:p>
            <a:pPr marL="285750" indent="-285750">
              <a:lnSpc>
                <a:spcPct val="200000"/>
              </a:lnSpc>
              <a:buFont typeface="Wingdings" panose="05000000000000000000" pitchFamily="2" charset="2"/>
              <a:buChar char="l"/>
            </a:pP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所有的类，都直接或者间接的继承了 </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 </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 （祖宗类）</a:t>
            </a:r>
            <a:endPar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200000"/>
              </a:lnSpc>
              <a:buFont typeface="Wingdings" panose="05000000000000000000" pitchFamily="2" charset="2"/>
              <a:buChar char="l"/>
            </a:pP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Object类的方法是一切子类都可以直接使用的，所以我们要学习Object类的方法</a:t>
            </a:r>
          </a:p>
        </p:txBody>
      </p:sp>
      <p:graphicFrame>
        <p:nvGraphicFramePr>
          <p:cNvPr id="14" name="表格 13">
            <a:extLst>
              <a:ext uri="{FF2B5EF4-FFF2-40B4-BE49-F238E27FC236}">
                <a16:creationId xmlns:a16="http://schemas.microsoft.com/office/drawing/2014/main" id="{B5294E3F-54C8-49B9-9677-D0B8BCABF5FF}"/>
              </a:ext>
            </a:extLst>
          </p:cNvPr>
          <p:cNvGraphicFramePr>
            <a:graphicFrameLocks noGrp="1"/>
          </p:cNvGraphicFramePr>
          <p:nvPr>
            <p:extLst>
              <p:ext uri="{D42A27DB-BD31-4B8C-83A1-F6EECF244321}">
                <p14:modId xmlns:p14="http://schemas.microsoft.com/office/powerpoint/2010/main" val="637712509"/>
              </p:ext>
            </p:extLst>
          </p:nvPr>
        </p:nvGraphicFramePr>
        <p:xfrm>
          <a:off x="620440" y="3237900"/>
          <a:ext cx="10946131" cy="1212756"/>
        </p:xfrm>
        <a:graphic>
          <a:graphicData uri="http://schemas.openxmlformats.org/drawingml/2006/table">
            <a:tbl>
              <a:tblPr/>
              <a:tblGrid>
                <a:gridCol w="3249931">
                  <a:extLst>
                    <a:ext uri="{9D8B030D-6E8A-4147-A177-3AD203B41FA5}">
                      <a16:colId xmlns:a16="http://schemas.microsoft.com/office/drawing/2014/main" val="1138920238"/>
                    </a:ext>
                  </a:extLst>
                </a:gridCol>
                <a:gridCol w="7696200">
                  <a:extLst>
                    <a:ext uri="{9D8B030D-6E8A-4147-A177-3AD203B41FA5}">
                      <a16:colId xmlns:a16="http://schemas.microsoft.com/office/drawing/2014/main" val="432614512"/>
                    </a:ext>
                  </a:extLst>
                </a:gridCol>
              </a:tblGrid>
              <a:tr h="51883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Alibaba PuHuiTi R"/>
                          <a:cs typeface="Alibaba PuHuiTi R" pitchFamily="18" charset="-122"/>
                        </a:rPr>
                        <a:t>方法名</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Alibaba PuHuiTi R"/>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69392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String </a:t>
                      </a:r>
                      <a:r>
                        <a:rPr lang="en-US" altLang="zh-CN" sz="1400" b="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toString</a:t>
                      </a:r>
                      <a:r>
                        <a:rPr lang="en-US" altLang="zh-CN" sz="14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默认是返回当前对象在堆内存中的地址信息</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类的全限名@内存地址</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bl>
          </a:graphicData>
        </a:graphic>
      </p:graphicFrame>
      <p:sp>
        <p:nvSpPr>
          <p:cNvPr id="15" name="文本框 14">
            <a:extLst>
              <a:ext uri="{FF2B5EF4-FFF2-40B4-BE49-F238E27FC236}">
                <a16:creationId xmlns:a16="http://schemas.microsoft.com/office/drawing/2014/main" id="{E0AA3646-FA52-4D7D-B438-7914A520BD07}"/>
              </a:ext>
            </a:extLst>
          </p:cNvPr>
          <p:cNvSpPr txBox="1"/>
          <p:nvPr/>
        </p:nvSpPr>
        <p:spPr>
          <a:xfrm>
            <a:off x="576626" y="2632587"/>
            <a:ext cx="6096000" cy="369332"/>
          </a:xfrm>
          <a:prstGeom prst="rect">
            <a:avLst/>
          </a:prstGeom>
          <a:noFill/>
        </p:spPr>
        <p:txBody>
          <a:bodyPr wrap="square">
            <a:spAutoFit/>
          </a:bodyPr>
          <a:lstStyle/>
          <a:p>
            <a:r>
              <a:rPr lang="zh-CN" altLang="en-US" b="1" dirty="0">
                <a:latin typeface="阿里巴巴普惠体" panose="00020600040101010101" pitchFamily="18" charset="-122"/>
                <a:ea typeface="阿里巴巴普惠体" panose="00020600040101010101" pitchFamily="18" charset="-122"/>
                <a:cs typeface="阿里巴巴普惠体" panose="00020600040101010101" pitchFamily="18" charset="-122"/>
              </a:rPr>
              <a:t>Object类的常用方法：</a:t>
            </a:r>
            <a:endParaRPr lang="zh-CN" altLang="en-US" dirty="0"/>
          </a:p>
        </p:txBody>
      </p:sp>
      <p:sp>
        <p:nvSpPr>
          <p:cNvPr id="2" name="标题 1">
            <a:extLst>
              <a:ext uri="{FF2B5EF4-FFF2-40B4-BE49-F238E27FC236}">
                <a16:creationId xmlns:a16="http://schemas.microsoft.com/office/drawing/2014/main" id="{C0EA7C51-075D-8966-8B96-29458E297D07}"/>
              </a:ext>
            </a:extLst>
          </p:cNvPr>
          <p:cNvSpPr>
            <a:spLocks noGrp="1"/>
          </p:cNvSpPr>
          <p:nvPr>
            <p:ph type="title"/>
          </p:nvPr>
        </p:nvSpPr>
        <p:spPr/>
        <p:txBody>
          <a:bodyPr/>
          <a:lstStyle/>
          <a:p>
            <a:r>
              <a:rPr lang="en-US" altLang="zh-CN" dirty="0"/>
              <a:t>Object </a:t>
            </a:r>
            <a:r>
              <a:rPr lang="zh-CN" altLang="en-US" dirty="0"/>
              <a:t>类介绍</a:t>
            </a:r>
          </a:p>
        </p:txBody>
      </p:sp>
      <p:pic>
        <p:nvPicPr>
          <p:cNvPr id="4" name="图片 3">
            <a:extLst>
              <a:ext uri="{FF2B5EF4-FFF2-40B4-BE49-F238E27FC236}">
                <a16:creationId xmlns:a16="http://schemas.microsoft.com/office/drawing/2014/main" id="{FEDA7B02-E5A8-05D6-7E78-35DDA1657BE9}"/>
              </a:ext>
            </a:extLst>
          </p:cNvPr>
          <p:cNvPicPr>
            <a:picLocks noChangeAspect="1"/>
          </p:cNvPicPr>
          <p:nvPr/>
        </p:nvPicPr>
        <p:blipFill>
          <a:blip r:embed="rId3"/>
          <a:stretch>
            <a:fillRect/>
          </a:stretch>
        </p:blipFill>
        <p:spPr>
          <a:xfrm>
            <a:off x="8307336" y="1116081"/>
            <a:ext cx="3589331" cy="5197290"/>
          </a:xfrm>
          <a:prstGeom prst="rect">
            <a:avLst/>
          </a:prstGeom>
          <a:ln>
            <a:noFill/>
          </a:ln>
          <a:effectLst>
            <a:softEdge rad="112500"/>
          </a:effectLst>
        </p:spPr>
      </p:pic>
    </p:spTree>
    <p:extLst>
      <p:ext uri="{BB962C8B-B14F-4D97-AF65-F5344CB8AC3E}">
        <p14:creationId xmlns:p14="http://schemas.microsoft.com/office/powerpoint/2010/main" val="15172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AAC7E335-801D-492F-A2F8-90E77B1EAB09}"/>
              </a:ext>
            </a:extLst>
          </p:cNvPr>
          <p:cNvSpPr txBox="1"/>
          <p:nvPr/>
        </p:nvSpPr>
        <p:spPr>
          <a:xfrm>
            <a:off x="622934" y="2980658"/>
            <a:ext cx="12336146" cy="1010726"/>
          </a:xfrm>
          <a:prstGeom prst="rect">
            <a:avLst/>
          </a:prstGeom>
          <a:noFill/>
        </p:spPr>
        <p:txBody>
          <a:bodyPr wrap="square">
            <a:spAutoFit/>
          </a:bodyPr>
          <a:lstStyle/>
          <a:p>
            <a:pPr marL="285750" indent="-285750">
              <a:lnSpc>
                <a:spcPct val="200000"/>
              </a:lnSpc>
              <a:buFont typeface="Wingdings" panose="05000000000000000000" pitchFamily="2" charset="2"/>
              <a:buChar char="l"/>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开发中直接输出对象，默认输出对象的地址其实是毫无意义的。</a:t>
            </a:r>
          </a:p>
          <a:p>
            <a:pPr marL="285750" indent="-285750">
              <a:lnSpc>
                <a:spcPct val="200000"/>
              </a:lnSpc>
              <a:buFont typeface="Wingdings" panose="05000000000000000000" pitchFamily="2" charset="2"/>
              <a:buChar char="l"/>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开发中输出对象变量，更多的时候是希望看到对象的内容数据而不是对象的地址信息。</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aphicFrame>
        <p:nvGraphicFramePr>
          <p:cNvPr id="14" name="表格 13">
            <a:extLst>
              <a:ext uri="{FF2B5EF4-FFF2-40B4-BE49-F238E27FC236}">
                <a16:creationId xmlns:a16="http://schemas.microsoft.com/office/drawing/2014/main" id="{B5294E3F-54C8-49B9-9677-D0B8BCABF5FF}"/>
              </a:ext>
            </a:extLst>
          </p:cNvPr>
          <p:cNvGraphicFramePr>
            <a:graphicFrameLocks noGrp="1"/>
          </p:cNvGraphicFramePr>
          <p:nvPr>
            <p:extLst>
              <p:ext uri="{D42A27DB-BD31-4B8C-83A1-F6EECF244321}">
                <p14:modId xmlns:p14="http://schemas.microsoft.com/office/powerpoint/2010/main" val="3621896543"/>
              </p:ext>
            </p:extLst>
          </p:nvPr>
        </p:nvGraphicFramePr>
        <p:xfrm>
          <a:off x="622934" y="1635038"/>
          <a:ext cx="10946131" cy="1032723"/>
        </p:xfrm>
        <a:graphic>
          <a:graphicData uri="http://schemas.openxmlformats.org/drawingml/2006/table">
            <a:tbl>
              <a:tblPr/>
              <a:tblGrid>
                <a:gridCol w="3249931">
                  <a:extLst>
                    <a:ext uri="{9D8B030D-6E8A-4147-A177-3AD203B41FA5}">
                      <a16:colId xmlns:a16="http://schemas.microsoft.com/office/drawing/2014/main" val="1138920238"/>
                    </a:ext>
                  </a:extLst>
                </a:gridCol>
                <a:gridCol w="7696200">
                  <a:extLst>
                    <a:ext uri="{9D8B030D-6E8A-4147-A177-3AD203B41FA5}">
                      <a16:colId xmlns:a16="http://schemas.microsoft.com/office/drawing/2014/main" val="432614512"/>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a:cs typeface="Alibaba PuHuiTi R" pitchFamily="18" charset="-122"/>
                        </a:rPr>
                        <a:t>方法名</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658221">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String </a:t>
                      </a:r>
                      <a:r>
                        <a:rPr lang="en-US" altLang="zh-CN" sz="1600" b="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toString</a:t>
                      </a: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默认是返回当前对象在堆内存中的地址信息</a:t>
                      </a: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类的全类名@十六进制哈希值</a:t>
                      </a:r>
                      <a:endParaRPr kumimoji="0" lang="zh-CN" altLang="en-US" sz="1600" b="0" i="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bl>
          </a:graphicData>
        </a:graphic>
      </p:graphicFrame>
      <p:sp>
        <p:nvSpPr>
          <p:cNvPr id="15" name="文本框 14">
            <a:extLst>
              <a:ext uri="{FF2B5EF4-FFF2-40B4-BE49-F238E27FC236}">
                <a16:creationId xmlns:a16="http://schemas.microsoft.com/office/drawing/2014/main" id="{E0AA3646-FA52-4D7D-B438-7914A520BD07}"/>
              </a:ext>
            </a:extLst>
          </p:cNvPr>
          <p:cNvSpPr txBox="1"/>
          <p:nvPr/>
        </p:nvSpPr>
        <p:spPr>
          <a:xfrm>
            <a:off x="576626" y="1014278"/>
            <a:ext cx="6096000" cy="369332"/>
          </a:xfrm>
          <a:prstGeom prst="rect">
            <a:avLst/>
          </a:prstGeom>
          <a:noFill/>
        </p:spPr>
        <p:txBody>
          <a:bodyPr wrap="square">
            <a:spAutoFit/>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toString</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zh-CN" altLang="en-US" dirty="0">
              <a:solidFill>
                <a:srgbClr val="AD2B26"/>
              </a:solidFill>
              <a:latin typeface="Consolas" panose="020B0609020204030204" pitchFamily="49" charset="0"/>
            </a:endParaRPr>
          </a:p>
        </p:txBody>
      </p:sp>
      <p:sp>
        <p:nvSpPr>
          <p:cNvPr id="2" name="标题 1">
            <a:extLst>
              <a:ext uri="{FF2B5EF4-FFF2-40B4-BE49-F238E27FC236}">
                <a16:creationId xmlns:a16="http://schemas.microsoft.com/office/drawing/2014/main" id="{3AD8806F-E288-0A49-4EE0-7C11270CA885}"/>
              </a:ext>
            </a:extLst>
          </p:cNvPr>
          <p:cNvSpPr>
            <a:spLocks noGrp="1"/>
          </p:cNvSpPr>
          <p:nvPr>
            <p:ph type="title"/>
          </p:nvPr>
        </p:nvSpPr>
        <p:spPr/>
        <p:txBody>
          <a:bodyPr/>
          <a:lstStyle/>
          <a:p>
            <a:r>
              <a:rPr lang="en-US" altLang="zh-CN" dirty="0"/>
              <a:t>Object </a:t>
            </a:r>
            <a:r>
              <a:rPr lang="zh-CN" altLang="en-US" dirty="0"/>
              <a:t>类介绍</a:t>
            </a:r>
          </a:p>
        </p:txBody>
      </p:sp>
    </p:spTree>
    <p:extLst>
      <p:ext uri="{BB962C8B-B14F-4D97-AF65-F5344CB8AC3E}">
        <p14:creationId xmlns:p14="http://schemas.microsoft.com/office/powerpoint/2010/main" val="146331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26A83-0096-69D5-1D31-3BBDB3996C0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07C512DF-F405-B8A2-845D-FA71BD8B6E62}"/>
              </a:ext>
            </a:extLst>
          </p:cNvPr>
          <p:cNvSpPr>
            <a:spLocks noGrp="1"/>
          </p:cNvSpPr>
          <p:nvPr>
            <p:ph type="body" sz="quarter" idx="10"/>
          </p:nvPr>
        </p:nvSpPr>
        <p:spPr>
          <a:xfrm>
            <a:off x="3936569" y="1483864"/>
            <a:ext cx="8255431" cy="3962399"/>
          </a:xfrm>
        </p:spPr>
        <p:txBody>
          <a:bodyPr/>
          <a:lstStyle/>
          <a:p>
            <a:r>
              <a:rPr lang="zh-CN" altLang="en-US" sz="1800" dirty="0">
                <a:solidFill>
                  <a:schemeClr val="tx1">
                    <a:lumMod val="50000"/>
                  </a:schemeClr>
                </a:solidFill>
                <a:latin typeface="+mn-ea"/>
              </a:rPr>
              <a:t>开发中建议重写 </a:t>
            </a:r>
            <a:r>
              <a:rPr lang="en-US" altLang="zh-CN" sz="1800" dirty="0" err="1">
                <a:solidFill>
                  <a:schemeClr val="tx1">
                    <a:lumMod val="50000"/>
                  </a:schemeClr>
                </a:solidFill>
                <a:latin typeface="+mn-ea"/>
              </a:rPr>
              <a:t>toString</a:t>
            </a:r>
            <a:r>
              <a:rPr lang="en-US" altLang="zh-CN" sz="1800" dirty="0">
                <a:solidFill>
                  <a:schemeClr val="tx1">
                    <a:lumMod val="50000"/>
                  </a:schemeClr>
                </a:solidFill>
                <a:latin typeface="+mn-ea"/>
              </a:rPr>
              <a:t> </a:t>
            </a:r>
            <a:r>
              <a:rPr lang="zh-CN" altLang="en-US" sz="1800" dirty="0">
                <a:solidFill>
                  <a:schemeClr val="tx1">
                    <a:lumMod val="50000"/>
                  </a:schemeClr>
                </a:solidFill>
                <a:latin typeface="+mn-ea"/>
              </a:rPr>
              <a:t>方法，以便展示对象属性信息</a:t>
            </a:r>
            <a:endParaRPr lang="en-US" altLang="zh-CN" sz="1800" dirty="0">
              <a:solidFill>
                <a:schemeClr val="tx1">
                  <a:lumMod val="50000"/>
                </a:schemeClr>
              </a:solidFill>
              <a:latin typeface="+mn-ea"/>
            </a:endParaRPr>
          </a:p>
        </p:txBody>
      </p:sp>
      <p:sp>
        <p:nvSpPr>
          <p:cNvPr id="3" name="标题 2">
            <a:extLst>
              <a:ext uri="{FF2B5EF4-FFF2-40B4-BE49-F238E27FC236}">
                <a16:creationId xmlns:a16="http://schemas.microsoft.com/office/drawing/2014/main" id="{BE24E79A-2A54-19A1-C771-947675679C6B}"/>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2563496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09EF-15AF-294D-689D-201CA99581E0}"/>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B818751-D80B-B7B5-1E06-E875110FE950}"/>
              </a:ext>
            </a:extLst>
          </p:cNvPr>
          <p:cNvSpPr>
            <a:spLocks noGrp="1"/>
          </p:cNvSpPr>
          <p:nvPr>
            <p:ph type="body" sz="quarter" idx="13"/>
          </p:nvPr>
        </p:nvSpPr>
        <p:spPr>
          <a:xfrm>
            <a:off x="5834080" y="2465278"/>
            <a:ext cx="4831831" cy="901700"/>
          </a:xfrm>
        </p:spPr>
        <p:txBody>
          <a:bodyPr/>
          <a:lstStyle/>
          <a:p>
            <a:r>
              <a:rPr lang="en-US" altLang="zh-CN" dirty="0"/>
              <a:t>final</a:t>
            </a:r>
            <a:r>
              <a:rPr lang="zh-CN" altLang="en-US" dirty="0"/>
              <a:t> 关键字</a:t>
            </a:r>
          </a:p>
        </p:txBody>
      </p:sp>
      <p:sp>
        <p:nvSpPr>
          <p:cNvPr id="10" name="文本占位符 9">
            <a:extLst>
              <a:ext uri="{FF2B5EF4-FFF2-40B4-BE49-F238E27FC236}">
                <a16:creationId xmlns:a16="http://schemas.microsoft.com/office/drawing/2014/main" id="{627DCB7F-AF83-01EC-C062-BFBEC0895EA7}"/>
              </a:ext>
            </a:extLst>
          </p:cNvPr>
          <p:cNvSpPr>
            <a:spLocks noGrp="1"/>
          </p:cNvSpPr>
          <p:nvPr>
            <p:ph type="body" sz="quarter" idx="14"/>
          </p:nvPr>
        </p:nvSpPr>
        <p:spPr/>
        <p:txBody>
          <a:bodyPr/>
          <a:lstStyle/>
          <a:p>
            <a:r>
              <a:rPr lang="en-US" altLang="zh-CN" dirty="0"/>
              <a:t>3</a:t>
            </a:r>
            <a:endParaRPr lang="zh-CN" altLang="en-US" dirty="0"/>
          </a:p>
        </p:txBody>
      </p:sp>
    </p:spTree>
    <p:extLst>
      <p:ext uri="{BB962C8B-B14F-4D97-AF65-F5344CB8AC3E}">
        <p14:creationId xmlns:p14="http://schemas.microsoft.com/office/powerpoint/2010/main" val="8548154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final </a:t>
            </a:r>
            <a:r>
              <a:rPr kumimoji="1" lang="zh-CN" altLang="en-US">
                <a:solidFill>
                  <a:srgbClr val="AD2B26"/>
                </a:solidFill>
                <a:latin typeface="Consolas" panose="020B0609020204030204" pitchFamily="49" charset="0"/>
              </a:rPr>
              <a:t>关键字的介绍</a:t>
            </a:r>
            <a:endParaRPr kumimoji="1" lang="zh-CN" altLang="en-US" dirty="0">
              <a:solidFill>
                <a:srgbClr val="AD2B26"/>
              </a:solidFill>
              <a:latin typeface="Consolas" panose="020B0609020204030204" pitchFamily="49" charset="0"/>
            </a:endParaRPr>
          </a:p>
        </p:txBody>
      </p:sp>
      <p:sp>
        <p:nvSpPr>
          <p:cNvPr id="24" name="文本占位符 3">
            <a:extLst>
              <a:ext uri="{FF2B5EF4-FFF2-40B4-BE49-F238E27FC236}">
                <a16:creationId xmlns:a16="http://schemas.microsoft.com/office/drawing/2014/main" id="{C4B8F0B7-B839-4DC0-8545-B40734C46EA9}"/>
              </a:ext>
            </a:extLst>
          </p:cNvPr>
          <p:cNvSpPr txBox="1">
            <a:spLocks/>
          </p:cNvSpPr>
          <p:nvPr/>
        </p:nvSpPr>
        <p:spPr>
          <a:xfrm>
            <a:off x="710880" y="940081"/>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kumimoji="1" lang="zh-CN" altLang="en-US" dirty="0">
              <a:solidFill>
                <a:srgbClr val="AD2B26"/>
              </a:solidFill>
              <a:latin typeface="Consolas" panose="020B0609020204030204" pitchFamily="49" charset="0"/>
            </a:endParaRPr>
          </a:p>
        </p:txBody>
      </p:sp>
      <p:sp>
        <p:nvSpPr>
          <p:cNvPr id="9" name="TextBox 6">
            <a:extLst>
              <a:ext uri="{FF2B5EF4-FFF2-40B4-BE49-F238E27FC236}">
                <a16:creationId xmlns:a16="http://schemas.microsoft.com/office/drawing/2014/main" id="{BB28DB02-3A7C-472F-8F03-1480E4535A6C}"/>
              </a:ext>
            </a:extLst>
          </p:cNvPr>
          <p:cNvSpPr txBox="1"/>
          <p:nvPr/>
        </p:nvSpPr>
        <p:spPr>
          <a:xfrm>
            <a:off x="576626" y="1198676"/>
            <a:ext cx="6610350" cy="2641942"/>
          </a:xfrm>
          <a:prstGeom prst="rect">
            <a:avLst/>
          </a:prstGeom>
          <a:noFill/>
        </p:spPr>
        <p:txBody>
          <a:bodyPr>
            <a:spAutoFit/>
          </a:bodyPr>
          <a:lstStyle/>
          <a:p>
            <a:pPr fontAlgn="auto">
              <a:lnSpc>
                <a:spcPct val="150000"/>
              </a:lnSpc>
              <a:spcBef>
                <a:spcPts val="0"/>
              </a:spcBef>
              <a:spcAft>
                <a:spcPts val="0"/>
              </a:spcAft>
              <a:defRPr/>
            </a:pPr>
            <a:r>
              <a:rPr lang="en-US" altLang="zh-CN"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final</a:t>
            </a:r>
            <a:r>
              <a:rPr lang="en-US" altLang="zh-CN" sz="1600" b="1" dirty="0">
                <a:solidFill>
                  <a:srgbClr val="FF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关键字是最终的意思，可以修饰（方法，类，变量）</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defRPr/>
            </a:pP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defRPr/>
            </a:pPr>
            <a:r>
              <a:rPr lang="en-US" altLang="zh-CN"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final</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修饰的特点</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defRPr/>
            </a:pP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fontAlgn="auto">
              <a:lnSpc>
                <a:spcPct val="150000"/>
              </a:lnSpc>
              <a:spcBef>
                <a:spcPts val="0"/>
              </a:spcBef>
              <a:spcAft>
                <a:spcPts val="0"/>
              </a:spcAft>
              <a:buFont typeface="Wingdings" panose="05000000000000000000" pitchFamily="2" charset="2"/>
              <a:buChar char="l"/>
              <a:defRPr/>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修饰方法：表明该方法是最终方法，</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不能被重写</a:t>
            </a:r>
            <a:endParaRPr lang="en-US" altLang="zh-CN"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fontAlgn="auto">
              <a:lnSpc>
                <a:spcPct val="150000"/>
              </a:lnSpc>
              <a:spcBef>
                <a:spcPts val="0"/>
              </a:spcBef>
              <a:spcAft>
                <a:spcPts val="0"/>
              </a:spcAft>
              <a:buFont typeface="Wingdings" panose="05000000000000000000" pitchFamily="2" charset="2"/>
              <a:buChar char="l"/>
              <a:defRPr/>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修饰类：表明该类是最终类，</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不能被继承</a:t>
            </a:r>
            <a:endParaRPr lang="en-US" altLang="zh-CN"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修饰变量：表明该变量是常量，</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不能再次被赋值</a:t>
            </a:r>
            <a:endPar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 name="矩形: 圆角 3">
            <a:extLst>
              <a:ext uri="{FF2B5EF4-FFF2-40B4-BE49-F238E27FC236}">
                <a16:creationId xmlns:a16="http://schemas.microsoft.com/office/drawing/2014/main" id="{624B5301-9A6F-4705-8203-472EEA87E3D0}"/>
              </a:ext>
            </a:extLst>
          </p:cNvPr>
          <p:cNvSpPr/>
          <p:nvPr/>
        </p:nvSpPr>
        <p:spPr>
          <a:xfrm>
            <a:off x="576626" y="4229676"/>
            <a:ext cx="1250302" cy="522514"/>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t>max</a:t>
            </a:r>
            <a:endParaRPr lang="zh-CN" altLang="en-US" dirty="0"/>
          </a:p>
        </p:txBody>
      </p:sp>
      <p:sp>
        <p:nvSpPr>
          <p:cNvPr id="11" name="矩形: 圆角 10">
            <a:extLst>
              <a:ext uri="{FF2B5EF4-FFF2-40B4-BE49-F238E27FC236}">
                <a16:creationId xmlns:a16="http://schemas.microsoft.com/office/drawing/2014/main" id="{12E7AB78-6A71-4D5B-B49C-B65A6A80F4A9}"/>
              </a:ext>
            </a:extLst>
          </p:cNvPr>
          <p:cNvSpPr/>
          <p:nvPr/>
        </p:nvSpPr>
        <p:spPr>
          <a:xfrm>
            <a:off x="2397935" y="4229676"/>
            <a:ext cx="1250302" cy="522514"/>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t>MAX</a:t>
            </a:r>
            <a:endParaRPr lang="zh-CN" altLang="en-US" dirty="0"/>
          </a:p>
        </p:txBody>
      </p:sp>
      <p:sp>
        <p:nvSpPr>
          <p:cNvPr id="12" name="矩形: 圆角 11">
            <a:extLst>
              <a:ext uri="{FF2B5EF4-FFF2-40B4-BE49-F238E27FC236}">
                <a16:creationId xmlns:a16="http://schemas.microsoft.com/office/drawing/2014/main" id="{482EC93C-FDB4-415D-AAB9-93668670FF1A}"/>
              </a:ext>
            </a:extLst>
          </p:cNvPr>
          <p:cNvSpPr/>
          <p:nvPr/>
        </p:nvSpPr>
        <p:spPr>
          <a:xfrm>
            <a:off x="576626" y="5133738"/>
            <a:ext cx="1492898" cy="643812"/>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zh-CN" dirty="0" err="1"/>
              <a:t>maxValue</a:t>
            </a:r>
            <a:endParaRPr lang="zh-CN" altLang="en-US" dirty="0"/>
          </a:p>
        </p:txBody>
      </p:sp>
      <p:sp>
        <p:nvSpPr>
          <p:cNvPr id="13" name="矩形: 圆角 12">
            <a:extLst>
              <a:ext uri="{FF2B5EF4-FFF2-40B4-BE49-F238E27FC236}">
                <a16:creationId xmlns:a16="http://schemas.microsoft.com/office/drawing/2014/main" id="{C84042BF-AC45-4409-8062-FAEC87E1FFF4}"/>
              </a:ext>
            </a:extLst>
          </p:cNvPr>
          <p:cNvSpPr/>
          <p:nvPr/>
        </p:nvSpPr>
        <p:spPr>
          <a:xfrm>
            <a:off x="2397935" y="5133738"/>
            <a:ext cx="1670180" cy="643812"/>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zh-CN" dirty="0"/>
              <a:t>MAX_VALUE</a:t>
            </a:r>
            <a:endParaRPr lang="zh-CN" altLang="en-US" dirty="0"/>
          </a:p>
        </p:txBody>
      </p:sp>
    </p:spTree>
    <p:extLst>
      <p:ext uri="{BB962C8B-B14F-4D97-AF65-F5344CB8AC3E}">
        <p14:creationId xmlns:p14="http://schemas.microsoft.com/office/powerpoint/2010/main" val="268884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a:solidFill>
                  <a:srgbClr val="AD2B26"/>
                </a:solidFill>
                <a:latin typeface="Consolas" panose="020B0609020204030204" pitchFamily="49" charset="0"/>
              </a:rPr>
              <a:t>final </a:t>
            </a:r>
            <a:r>
              <a:rPr kumimoji="1" lang="zh-CN" altLang="en-US">
                <a:solidFill>
                  <a:srgbClr val="AD2B26"/>
                </a:solidFill>
                <a:latin typeface="Consolas" panose="020B0609020204030204" pitchFamily="49" charset="0"/>
              </a:rPr>
              <a:t>修饰变量的细节补充</a:t>
            </a:r>
            <a:endParaRPr kumimoji="1" lang="zh-CN" altLang="en-US" dirty="0">
              <a:solidFill>
                <a:srgbClr val="AD2B26"/>
              </a:solidFill>
              <a:latin typeface="Consolas" panose="020B0609020204030204" pitchFamily="49" charset="0"/>
            </a:endParaRPr>
          </a:p>
        </p:txBody>
      </p:sp>
      <p:sp>
        <p:nvSpPr>
          <p:cNvPr id="24" name="文本占位符 3">
            <a:extLst>
              <a:ext uri="{FF2B5EF4-FFF2-40B4-BE49-F238E27FC236}">
                <a16:creationId xmlns:a16="http://schemas.microsoft.com/office/drawing/2014/main" id="{C4B8F0B7-B839-4DC0-8545-B40734C46EA9}"/>
              </a:ext>
            </a:extLst>
          </p:cNvPr>
          <p:cNvSpPr txBox="1">
            <a:spLocks/>
          </p:cNvSpPr>
          <p:nvPr/>
        </p:nvSpPr>
        <p:spPr>
          <a:xfrm>
            <a:off x="710880" y="940081"/>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kumimoji="1" lang="zh-CN" altLang="en-US" dirty="0">
              <a:solidFill>
                <a:srgbClr val="AD2B26"/>
              </a:solidFill>
              <a:latin typeface="Consolas" panose="020B0609020204030204" pitchFamily="49" charset="0"/>
            </a:endParaRPr>
          </a:p>
        </p:txBody>
      </p:sp>
      <p:sp>
        <p:nvSpPr>
          <p:cNvPr id="9" name="TextBox 6">
            <a:extLst>
              <a:ext uri="{FF2B5EF4-FFF2-40B4-BE49-F238E27FC236}">
                <a16:creationId xmlns:a16="http://schemas.microsoft.com/office/drawing/2014/main" id="{BB28DB02-3A7C-472F-8F03-1480E4535A6C}"/>
              </a:ext>
            </a:extLst>
          </p:cNvPr>
          <p:cNvSpPr txBox="1"/>
          <p:nvPr/>
        </p:nvSpPr>
        <p:spPr>
          <a:xfrm>
            <a:off x="576626" y="1076033"/>
            <a:ext cx="10513847" cy="1164614"/>
          </a:xfrm>
          <a:prstGeom prst="rect">
            <a:avLst/>
          </a:prstGeom>
          <a:noFill/>
        </p:spPr>
        <p:txBody>
          <a:bodyPr wrap="square">
            <a:spAutoFit/>
          </a:bodyPr>
          <a:lstStyle/>
          <a:p>
            <a:pPr marL="268288" indent="-268288" fontAlgn="auto">
              <a:lnSpc>
                <a:spcPct val="150000"/>
              </a:lnSpc>
              <a:spcBef>
                <a:spcPts val="0"/>
              </a:spcBef>
              <a:spcAft>
                <a:spcPts val="0"/>
              </a:spcAft>
              <a:buFont typeface="Wingdings"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变量是基本类型：</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final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修饰指的是基本类型的</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数据值</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不能发生改变</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变量是引用类型：</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final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修饰指的是引用类型的</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地址值</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不能发生改变，但是地址里面的内容是可以发生改变的</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marL="268288" indent="-268288" fontAlgn="auto">
              <a:lnSpc>
                <a:spcPct val="150000"/>
              </a:lnSpc>
              <a:spcBef>
                <a:spcPts val="0"/>
              </a:spcBef>
              <a:spcAft>
                <a:spcPts val="0"/>
              </a:spcAft>
              <a:buFont typeface="Wingdings"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成员变量如果被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final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修饰，需要在构造方法结束之前完成赋值</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79785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9AFFC-66D6-0FFC-3686-C889DA48AA5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9E39BFC-3AC0-9A15-DB53-3E2531428615}"/>
              </a:ext>
            </a:extLst>
          </p:cNvPr>
          <p:cNvSpPr>
            <a:spLocks noGrp="1"/>
          </p:cNvSpPr>
          <p:nvPr>
            <p:ph type="body" sz="quarter" idx="10"/>
          </p:nvPr>
        </p:nvSpPr>
        <p:spPr>
          <a:xfrm>
            <a:off x="3936569" y="1483864"/>
            <a:ext cx="8255431" cy="3962399"/>
          </a:xfrm>
        </p:spPr>
        <p:txBody>
          <a:bodyPr/>
          <a:lstStyle/>
          <a:p>
            <a:r>
              <a:rPr lang="en-US" altLang="zh-CN" dirty="0">
                <a:solidFill>
                  <a:schemeClr val="tx1">
                    <a:lumMod val="50000"/>
                  </a:schemeClr>
                </a:solidFill>
                <a:latin typeface="+mn-ea"/>
              </a:rPr>
              <a:t>final</a:t>
            </a:r>
            <a:r>
              <a:rPr lang="zh-CN" altLang="en-US" dirty="0">
                <a:solidFill>
                  <a:schemeClr val="tx1">
                    <a:lumMod val="50000"/>
                  </a:schemeClr>
                </a:solidFill>
                <a:latin typeface="+mn-ea"/>
              </a:rPr>
              <a:t>可以修饰什么？</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方法，类，变量</a:t>
            </a:r>
            <a:endParaRPr lang="en-US" altLang="zh-CN" dirty="0">
              <a:solidFill>
                <a:schemeClr val="tx1">
                  <a:lumMod val="50000"/>
                </a:schemeClr>
              </a:solidFill>
              <a:latin typeface="+mn-ea"/>
            </a:endParaRPr>
          </a:p>
          <a:p>
            <a:r>
              <a:rPr lang="zh-CN" altLang="en-US" dirty="0">
                <a:solidFill>
                  <a:schemeClr val="tx1">
                    <a:lumMod val="50000"/>
                  </a:schemeClr>
                </a:solidFill>
                <a:latin typeface="+mn-ea"/>
              </a:rPr>
              <a:t>修饰的内容有什么特点？</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方法：不能重写</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类：不能继承</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变量：不能更改</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final </a:t>
            </a:r>
            <a:r>
              <a:rPr lang="zh-CN" altLang="en-US" dirty="0">
                <a:solidFill>
                  <a:schemeClr val="tx1">
                    <a:lumMod val="50000"/>
                  </a:schemeClr>
                </a:solidFill>
                <a:latin typeface="+mn-ea"/>
              </a:rPr>
              <a:t>修饰基本类型变量和引用类型变量有什么不同？</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基本类型：数据值不可改变</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引用类型：地址值不可改变</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final </a:t>
            </a:r>
            <a:r>
              <a:rPr lang="zh-CN" altLang="en-US" dirty="0">
                <a:solidFill>
                  <a:schemeClr val="tx1">
                    <a:lumMod val="50000"/>
                  </a:schemeClr>
                </a:solidFill>
                <a:latin typeface="+mn-ea"/>
              </a:rPr>
              <a:t>修饰成员变量的话，赋值时机是？</a:t>
            </a:r>
            <a:endParaRPr lang="en-US" altLang="zh-CN" dirty="0">
              <a:solidFill>
                <a:schemeClr val="tx1">
                  <a:lumMod val="50000"/>
                </a:schemeClr>
              </a:solidFill>
              <a:latin typeface="+mn-ea"/>
            </a:endParaRPr>
          </a:p>
          <a:p>
            <a:r>
              <a:rPr lang="en-US" altLang="zh-CN" dirty="0">
                <a:solidFill>
                  <a:schemeClr val="tx1">
                    <a:lumMod val="50000"/>
                  </a:schemeClr>
                </a:solidFill>
                <a:latin typeface="+mn-ea"/>
              </a:rPr>
              <a:t>	</a:t>
            </a:r>
            <a:r>
              <a:rPr lang="zh-CN" altLang="en-US" dirty="0">
                <a:solidFill>
                  <a:schemeClr val="tx1">
                    <a:lumMod val="50000"/>
                  </a:schemeClr>
                </a:solidFill>
                <a:latin typeface="+mn-ea"/>
              </a:rPr>
              <a:t>定义时，或者在构造方法中完成赋值</a:t>
            </a:r>
            <a:endParaRPr lang="en-US" altLang="zh-CN" dirty="0">
              <a:solidFill>
                <a:schemeClr val="tx1">
                  <a:lumMod val="50000"/>
                </a:schemeClr>
              </a:solidFill>
              <a:latin typeface="+mn-ea"/>
            </a:endParaRPr>
          </a:p>
        </p:txBody>
      </p:sp>
      <p:sp>
        <p:nvSpPr>
          <p:cNvPr id="3" name="标题 2">
            <a:extLst>
              <a:ext uri="{FF2B5EF4-FFF2-40B4-BE49-F238E27FC236}">
                <a16:creationId xmlns:a16="http://schemas.microsoft.com/office/drawing/2014/main" id="{9DDE0696-AFB0-0EEC-E13B-8A23D07AEC74}"/>
              </a:ext>
            </a:extLst>
          </p:cNvPr>
          <p:cNvSpPr>
            <a:spLocks noGrp="1"/>
          </p:cNvSpPr>
          <p:nvPr>
            <p:ph type="title" idx="4294967295"/>
          </p:nvPr>
        </p:nvSpPr>
        <p:spPr>
          <a:xfrm>
            <a:off x="0" y="244475"/>
            <a:ext cx="8770938" cy="517525"/>
          </a:xfrm>
          <a:prstGeom prst="rect">
            <a:avLst/>
          </a:prstGeom>
        </p:spPr>
        <p:txBody>
          <a:bodyPr/>
          <a:lstStyle/>
          <a:p>
            <a:r>
              <a:rPr kumimoji="1" lang="en-US" altLang="zh-CN" dirty="0"/>
              <a:t> </a:t>
            </a:r>
            <a:endParaRPr kumimoji="1" lang="zh-CN" altLang="en-US" dirty="0"/>
          </a:p>
        </p:txBody>
      </p:sp>
    </p:spTree>
    <p:extLst>
      <p:ext uri="{BB962C8B-B14F-4D97-AF65-F5344CB8AC3E}">
        <p14:creationId xmlns:p14="http://schemas.microsoft.com/office/powerpoint/2010/main" val="32942884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C3DF-11CE-B144-710F-27354C02F83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BAA5E05D-3A8E-4642-F501-C32FC05F344A}"/>
              </a:ext>
            </a:extLst>
          </p:cNvPr>
          <p:cNvSpPr>
            <a:spLocks noGrp="1"/>
          </p:cNvSpPr>
          <p:nvPr>
            <p:ph type="body" sz="quarter" idx="13"/>
          </p:nvPr>
        </p:nvSpPr>
        <p:spPr>
          <a:xfrm>
            <a:off x="5834080" y="2465278"/>
            <a:ext cx="4831831" cy="901700"/>
          </a:xfrm>
        </p:spPr>
        <p:txBody>
          <a:bodyPr/>
          <a:lstStyle/>
          <a:p>
            <a:r>
              <a:rPr lang="zh-CN" altLang="en-US" dirty="0"/>
              <a:t>抽象类</a:t>
            </a:r>
          </a:p>
        </p:txBody>
      </p:sp>
      <p:sp>
        <p:nvSpPr>
          <p:cNvPr id="10" name="文本占位符 9">
            <a:extLst>
              <a:ext uri="{FF2B5EF4-FFF2-40B4-BE49-F238E27FC236}">
                <a16:creationId xmlns:a16="http://schemas.microsoft.com/office/drawing/2014/main" id="{858D89A2-9AAF-34B7-31D9-E0D8FB077129}"/>
              </a:ext>
            </a:extLst>
          </p:cNvPr>
          <p:cNvSpPr>
            <a:spLocks noGrp="1"/>
          </p:cNvSpPr>
          <p:nvPr>
            <p:ph type="body" sz="quarter" idx="14"/>
          </p:nvPr>
        </p:nvSpPr>
        <p:spPr/>
        <p:txBody>
          <a:bodyPr/>
          <a:lstStyle/>
          <a:p>
            <a:r>
              <a:rPr lang="en-US" altLang="zh-CN" dirty="0"/>
              <a:t>4</a:t>
            </a:r>
            <a:endParaRPr lang="zh-CN" altLang="en-US" dirty="0"/>
          </a:p>
        </p:txBody>
      </p:sp>
    </p:spTree>
    <p:extLst>
      <p:ext uri="{BB962C8B-B14F-4D97-AF65-F5344CB8AC3E}">
        <p14:creationId xmlns:p14="http://schemas.microsoft.com/office/powerpoint/2010/main" val="8567026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t> </a:t>
            </a:r>
            <a:endParaRPr kumimoji="1" lang="zh-CN" altLang="en-US" dirty="0"/>
          </a:p>
        </p:txBody>
      </p:sp>
      <p:sp>
        <p:nvSpPr>
          <p:cNvPr id="2" name="文本框 1">
            <a:extLst>
              <a:ext uri="{FF2B5EF4-FFF2-40B4-BE49-F238E27FC236}">
                <a16:creationId xmlns:a16="http://schemas.microsoft.com/office/drawing/2014/main" id="{A6375FE0-59A9-DAED-288B-F8959E3A1B58}"/>
              </a:ext>
            </a:extLst>
          </p:cNvPr>
          <p:cNvSpPr txBox="1"/>
          <p:nvPr/>
        </p:nvSpPr>
        <p:spPr>
          <a:xfrm>
            <a:off x="2000069" y="2528595"/>
            <a:ext cx="5245347" cy="646331"/>
          </a:xfrm>
          <a:prstGeom prst="rect">
            <a:avLst/>
          </a:prstGeom>
          <a:noFill/>
        </p:spPr>
        <p:txBody>
          <a:bodyPr wrap="none" rtlCol="0">
            <a:spAutoFit/>
          </a:bodyPr>
          <a:lstStyle/>
          <a:p>
            <a:pPr fontAlgn="auto">
              <a:spcBef>
                <a:spcPts val="0"/>
              </a:spcBef>
              <a:spcAft>
                <a:spcPts val="0"/>
              </a:spcAft>
            </a:pPr>
            <a:r>
              <a:rPr lang="zh-CN" altLang="en-US" sz="3600" dirty="0">
                <a:solidFill>
                  <a:srgbClr val="AD2B26"/>
                </a:solidFill>
                <a:latin typeface="杨任东竹石体-Bold" panose="02000000000000000000" pitchFamily="2" charset="-122"/>
                <a:ea typeface="杨任东竹石体-Bold" panose="02000000000000000000" pitchFamily="2" charset="-122"/>
              </a:rPr>
              <a:t>抽象类是一种特殊的父类</a:t>
            </a:r>
          </a:p>
        </p:txBody>
      </p:sp>
      <p:sp>
        <p:nvSpPr>
          <p:cNvPr id="4" name="文本框 3">
            <a:extLst>
              <a:ext uri="{FF2B5EF4-FFF2-40B4-BE49-F238E27FC236}">
                <a16:creationId xmlns:a16="http://schemas.microsoft.com/office/drawing/2014/main" id="{AA7BC733-23AF-3264-AEE0-51578B077F01}"/>
              </a:ext>
            </a:extLst>
          </p:cNvPr>
          <p:cNvSpPr txBox="1"/>
          <p:nvPr/>
        </p:nvSpPr>
        <p:spPr>
          <a:xfrm>
            <a:off x="4696617" y="3549363"/>
            <a:ext cx="4785284" cy="646331"/>
          </a:xfrm>
          <a:prstGeom prst="rect">
            <a:avLst/>
          </a:prstGeom>
          <a:noFill/>
        </p:spPr>
        <p:txBody>
          <a:bodyPr wrap="none" rtlCol="0">
            <a:spAutoFit/>
          </a:bodyPr>
          <a:lstStyle/>
          <a:p>
            <a:pPr fontAlgn="auto">
              <a:spcBef>
                <a:spcPts val="0"/>
              </a:spcBef>
              <a:spcAft>
                <a:spcPts val="0"/>
              </a:spcAft>
            </a:pPr>
            <a:r>
              <a:rPr lang="zh-CN" altLang="en-US" sz="3600" dirty="0">
                <a:solidFill>
                  <a:srgbClr val="AD2B26"/>
                </a:solidFill>
                <a:latin typeface="杨任东竹石体-Bold" panose="02000000000000000000" pitchFamily="2" charset="-122"/>
                <a:ea typeface="杨任东竹石体-Bold" panose="02000000000000000000" pitchFamily="2" charset="-122"/>
              </a:rPr>
              <a:t>内部可以编写抽象方法</a:t>
            </a:r>
          </a:p>
        </p:txBody>
      </p:sp>
      <p:pic>
        <p:nvPicPr>
          <p:cNvPr id="2050" name="Picture 2" descr="微笑小猫表情包 - 可爱微笑小猫表情包_斗图_猫咪表情">
            <a:extLst>
              <a:ext uri="{FF2B5EF4-FFF2-40B4-BE49-F238E27FC236}">
                <a16:creationId xmlns:a16="http://schemas.microsoft.com/office/drawing/2014/main" id="{9CDAA0A0-BD37-E5DA-29CB-53414CF07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704" y="4279671"/>
            <a:ext cx="2437604" cy="217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988961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 calcmode="lin" valueType="num">
                                      <p:cBhvr>
                                        <p:cTn id="12" dur="500" fill="hold"/>
                                        <p:tgtEl>
                                          <p:spTgt spid="2050"/>
                                        </p:tgtEl>
                                        <p:attrNameLst>
                                          <p:attrName>ppt_w</p:attrName>
                                        </p:attrNameLst>
                                      </p:cBhvr>
                                      <p:tavLst>
                                        <p:tav tm="0">
                                          <p:val>
                                            <p:fltVal val="0"/>
                                          </p:val>
                                        </p:tav>
                                        <p:tav tm="100000">
                                          <p:val>
                                            <p:strVal val="#ppt_w"/>
                                          </p:val>
                                        </p:tav>
                                      </p:tavLst>
                                    </p:anim>
                                    <p:anim calcmode="lin" valueType="num">
                                      <p:cBhvr>
                                        <p:cTn id="13" dur="500" fill="hold"/>
                                        <p:tgtEl>
                                          <p:spTgt spid="2050"/>
                                        </p:tgtEl>
                                        <p:attrNameLst>
                                          <p:attrName>ppt_h</p:attrName>
                                        </p:attrNameLst>
                                      </p:cBhvr>
                                      <p:tavLst>
                                        <p:tav tm="0">
                                          <p:val>
                                            <p:fltVal val="0"/>
                                          </p:val>
                                        </p:tav>
                                        <p:tav tm="100000">
                                          <p:val>
                                            <p:strVal val="#ppt_h"/>
                                          </p:val>
                                        </p:tav>
                                      </p:tavLst>
                                    </p:anim>
                                    <p:animEffect transition="in" filter="fade">
                                      <p:cBhvr>
                                        <p:cTn id="14"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 抽象方法介绍</a:t>
            </a:r>
          </a:p>
        </p:txBody>
      </p:sp>
      <p:sp>
        <p:nvSpPr>
          <p:cNvPr id="24" name="文本占位符 3">
            <a:extLst>
              <a:ext uri="{FF2B5EF4-FFF2-40B4-BE49-F238E27FC236}">
                <a16:creationId xmlns:a16="http://schemas.microsoft.com/office/drawing/2014/main" id="{C4B8F0B7-B839-4DC0-8545-B40734C46EA9}"/>
              </a:ext>
            </a:extLst>
          </p:cNvPr>
          <p:cNvSpPr txBox="1">
            <a:spLocks/>
          </p:cNvSpPr>
          <p:nvPr/>
        </p:nvSpPr>
        <p:spPr>
          <a:xfrm>
            <a:off x="710880" y="940081"/>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kumimoji="1" lang="zh-CN" altLang="en-US" dirty="0">
              <a:solidFill>
                <a:srgbClr val="AD2B26"/>
              </a:solidFill>
              <a:latin typeface="Consolas" panose="020B0609020204030204" pitchFamily="49" charset="0"/>
            </a:endParaRPr>
          </a:p>
        </p:txBody>
      </p:sp>
      <p:sp>
        <p:nvSpPr>
          <p:cNvPr id="15" name="文本框 14">
            <a:extLst>
              <a:ext uri="{FF2B5EF4-FFF2-40B4-BE49-F238E27FC236}">
                <a16:creationId xmlns:a16="http://schemas.microsoft.com/office/drawing/2014/main" id="{CE1E6746-13B0-4B60-86F6-D3BB550D9525}"/>
              </a:ext>
            </a:extLst>
          </p:cNvPr>
          <p:cNvSpPr txBox="1"/>
          <p:nvPr/>
        </p:nvSpPr>
        <p:spPr>
          <a:xfrm>
            <a:off x="453302" y="1001675"/>
            <a:ext cx="8641549" cy="795282"/>
          </a:xfrm>
          <a:prstGeom prst="rect">
            <a:avLst/>
          </a:prstGeom>
          <a:noFill/>
        </p:spPr>
        <p:txBody>
          <a:bodyPr wrap="square">
            <a:spAutoFit/>
          </a:bodyPr>
          <a:lstStyle/>
          <a:p>
            <a:pPr marL="285750" indent="-285750" fontAlgn="auto">
              <a:lnSpc>
                <a:spcPct val="150000"/>
              </a:lnSpc>
              <a:spcBef>
                <a:spcPts val="0"/>
              </a:spcBef>
              <a:spcAft>
                <a:spcPts val="0"/>
              </a:spcAft>
              <a:buFont typeface="Wingdings" panose="05000000000000000000"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抽象方法：将共性的行为（方法）抽取到父类之后，发现该方法的实现逻辑</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defRPr/>
            </a:pP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无法在父类中给出具体明确</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，该方法就可以定义为抽象方法。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1163731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47BC4DF-A351-96A4-C65B-8E1213A8765F}"/>
              </a:ext>
            </a:extLst>
          </p:cNvPr>
          <p:cNvSpPr>
            <a:spLocks noGrp="1"/>
          </p:cNvSpPr>
          <p:nvPr>
            <p:ph type="body" sz="quarter" idx="10"/>
          </p:nvPr>
        </p:nvSpPr>
        <p:spPr/>
        <p:txBody>
          <a:bodyPr/>
          <a:lstStyle/>
          <a:p>
            <a:r>
              <a:rPr lang="zh-CN" altLang="en-US" dirty="0"/>
              <a:t>什么是抽象类 </a:t>
            </a:r>
            <a:r>
              <a:rPr lang="en-US" altLang="zh-CN" dirty="0"/>
              <a:t>?</a:t>
            </a:r>
          </a:p>
          <a:p>
            <a:pPr marL="457200" lvl="1" indent="0">
              <a:buNone/>
            </a:pPr>
            <a:r>
              <a:rPr lang="zh-CN" altLang="en-US"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一种特殊的父类</a:t>
            </a:r>
            <a:endParaRPr lang="en-US" altLang="zh-CN"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dirty="0"/>
              <a:t>特殊点在哪里呢 </a:t>
            </a:r>
            <a:r>
              <a:rPr lang="en-US" altLang="zh-CN" dirty="0"/>
              <a:t>?</a:t>
            </a:r>
          </a:p>
          <a:p>
            <a:pPr marL="457200" lvl="1" indent="0">
              <a:buNone/>
            </a:pPr>
            <a:r>
              <a:rPr lang="zh-CN" altLang="en-US"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内部可以编写抽象方法</a:t>
            </a:r>
            <a:endParaRPr lang="en-US" altLang="zh-CN"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dirty="0"/>
              <a:t>什么样的方法该定义为抽象方法 </a:t>
            </a:r>
            <a:r>
              <a:rPr lang="en-US" altLang="zh-CN" dirty="0"/>
              <a:t>?</a:t>
            </a:r>
          </a:p>
          <a:p>
            <a:pPr marL="457200" lvl="1" indent="0">
              <a:buNone/>
            </a:pPr>
            <a:r>
              <a:rPr lang="zh-CN" altLang="en-US"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共性方法抽取到父类之后</a:t>
            </a:r>
            <a:r>
              <a:rPr lang="en-US" altLang="zh-CN"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无法给出具体明确的方法</a:t>
            </a:r>
            <a:endParaRPr lang="en-US" altLang="zh-CN" sz="1600" b="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dirty="0"/>
              <a:t>定义抽象类和抽象方法使用的关键字是 </a:t>
            </a:r>
            <a:r>
              <a:rPr lang="en-US" altLang="zh-CN" dirty="0"/>
              <a:t>?</a:t>
            </a:r>
          </a:p>
          <a:p>
            <a:pPr marL="457200" lvl="1" indent="0">
              <a:buNone/>
            </a:pPr>
            <a:r>
              <a:rPr lang="en-US" altLang="zh-CN" sz="1600" b="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abstract</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idx="4294967295"/>
          </p:nvPr>
        </p:nvSpPr>
        <p:spPr>
          <a:xfrm>
            <a:off x="0" y="244475"/>
            <a:ext cx="8770938" cy="517525"/>
          </a:xfrm>
          <a:prstGeom prst="rect">
            <a:avLst/>
          </a:prstGeom>
        </p:spPr>
        <p:txBody>
          <a:bodyPr/>
          <a:lstStyle/>
          <a:p>
            <a:r>
              <a:rPr kumimoji="1" lang="zh-CN" altLang="en-US" dirty="0"/>
              <a:t> </a:t>
            </a:r>
          </a:p>
        </p:txBody>
      </p:sp>
    </p:spTree>
    <p:extLst>
      <p:ext uri="{BB962C8B-B14F-4D97-AF65-F5344CB8AC3E}">
        <p14:creationId xmlns:p14="http://schemas.microsoft.com/office/powerpoint/2010/main" val="270811850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 抽象类注意事项</a:t>
            </a:r>
          </a:p>
        </p:txBody>
      </p:sp>
      <p:sp>
        <p:nvSpPr>
          <p:cNvPr id="20" name="文本框 19">
            <a:extLst>
              <a:ext uri="{FF2B5EF4-FFF2-40B4-BE49-F238E27FC236}">
                <a16:creationId xmlns:a16="http://schemas.microsoft.com/office/drawing/2014/main" id="{78C076EF-1F77-4770-9E4E-DEABEBE3A72E}"/>
              </a:ext>
            </a:extLst>
          </p:cNvPr>
          <p:cNvSpPr txBox="1">
            <a:spLocks noChangeArrowheads="1"/>
          </p:cNvSpPr>
          <p:nvPr/>
        </p:nvSpPr>
        <p:spPr bwMode="auto">
          <a:xfrm>
            <a:off x="819194" y="1630485"/>
            <a:ext cx="5740824" cy="2272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Wingdings" panose="05000000000000000000"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抽象类不能实例化</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抽象类存在构造方法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抽象类中可以存在普通方法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抽象类的子类</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457200" lvl="1" indent="0" fontAlgn="auto">
              <a:lnSpc>
                <a:spcPct val="150000"/>
              </a:lnSpc>
              <a:spcBef>
                <a:spcPts val="0"/>
              </a:spcBef>
              <a:spcAft>
                <a:spcPts val="0"/>
              </a:spcAft>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要么重写抽象类中的所有抽象方法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457200" lvl="1" indent="0" fontAlgn="auto">
              <a:lnSpc>
                <a:spcPct val="150000"/>
              </a:lnSpc>
              <a:spcBef>
                <a:spcPts val="0"/>
              </a:spcBef>
              <a:spcAft>
                <a:spcPts val="0"/>
              </a:spcAft>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要么是抽象类</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1" name="三角形 9">
            <a:extLst>
              <a:ext uri="{FF2B5EF4-FFF2-40B4-BE49-F238E27FC236}">
                <a16:creationId xmlns:a16="http://schemas.microsoft.com/office/drawing/2014/main" id="{8477F648-80EF-43DB-95DD-7173D2162767}"/>
              </a:ext>
            </a:extLst>
          </p:cNvPr>
          <p:cNvSpPr/>
          <p:nvPr/>
        </p:nvSpPr>
        <p:spPr>
          <a:xfrm rot="2651319">
            <a:off x="483312" y="1539789"/>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559A4C34-642F-40A5-BF31-E3048B65E54B}"/>
              </a:ext>
            </a:extLst>
          </p:cNvPr>
          <p:cNvSpPr/>
          <p:nvPr/>
        </p:nvSpPr>
        <p:spPr>
          <a:xfrm>
            <a:off x="576626" y="1183205"/>
            <a:ext cx="6281374" cy="284788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9D65CDF2-793D-46D9-BBFE-E11A286606DB}"/>
              </a:ext>
            </a:extLst>
          </p:cNvPr>
          <p:cNvSpPr/>
          <p:nvPr/>
        </p:nvSpPr>
        <p:spPr>
          <a:xfrm>
            <a:off x="476698" y="1255676"/>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13898878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t>abstract </a:t>
            </a:r>
            <a:r>
              <a:rPr kumimoji="1" lang="zh-CN" altLang="en-US" dirty="0"/>
              <a:t>关键字的冲突问题 </a:t>
            </a:r>
          </a:p>
        </p:txBody>
      </p:sp>
      <p:sp>
        <p:nvSpPr>
          <p:cNvPr id="19" name="文本框 18">
            <a:extLst>
              <a:ext uri="{FF2B5EF4-FFF2-40B4-BE49-F238E27FC236}">
                <a16:creationId xmlns:a16="http://schemas.microsoft.com/office/drawing/2014/main" id="{0A20DDA8-3B99-46A3-BF0A-E4A1FCFD633E}"/>
              </a:ext>
            </a:extLst>
          </p:cNvPr>
          <p:cNvSpPr txBox="1">
            <a:spLocks noChangeArrowheads="1"/>
          </p:cNvSpPr>
          <p:nvPr/>
        </p:nvSpPr>
        <p:spPr bwMode="auto">
          <a:xfrm>
            <a:off x="576626" y="1030666"/>
            <a:ext cx="9758067" cy="1164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Wingdings" panose="05000000000000000000" pitchFamily="2" charset="2"/>
              <a:buChar char="l"/>
              <a:defRPr/>
            </a:pP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final</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被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abstract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修饰的方法，强制要求子类重写，被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final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修饰的方法子类不能重写</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private</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被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abstract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修饰的方法，强制要求子类重写，被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private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修饰的方法子类不能重写</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defRPr/>
            </a:pP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static</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被 </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static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修饰的方法可以类名调用，类名调用抽象方法没有意义</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017869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fad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fade">
                                      <p:cBhvr>
                                        <p:cTn id="17"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8D312-C7EE-48B4-AD8B-B2C477D382F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D616C68-6BA5-A966-82CF-511C43C427F6}"/>
              </a:ext>
            </a:extLst>
          </p:cNvPr>
          <p:cNvSpPr>
            <a:spLocks noGrp="1"/>
          </p:cNvSpPr>
          <p:nvPr>
            <p:ph type="body" sz="quarter" idx="10"/>
          </p:nvPr>
        </p:nvSpPr>
        <p:spPr/>
        <p:txBody>
          <a:bodyPr/>
          <a:lstStyle/>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抽象类是否可以实例化？</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不可以，避免调用内部的抽象方法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抽象类不允许创建对象，内部是否可以编写构造方法？</a:t>
            </a:r>
            <a:endPar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可以，子类可以通过</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super()</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访问</a:t>
            </a:r>
            <a:endPar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抽象类中可以写</a:t>
            </a:r>
            <a:r>
              <a:rPr lang="zh-CN" altLang="en-US" sz="1600" b="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普通的方法</a:t>
            </a:r>
            <a:r>
              <a:rPr lang="zh-CN" altLang="en-US"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吗？</a:t>
            </a:r>
            <a:endPar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可以，子类可以直接继承到使用</a:t>
            </a:r>
            <a:endPar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抽象类的子类需要做什么？</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要么重写所有抽象方法，要么将子类变成抽象类</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abstract</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关键字与哪些关键字冲突？</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private final static</a:t>
            </a:r>
          </a:p>
        </p:txBody>
      </p:sp>
      <p:sp>
        <p:nvSpPr>
          <p:cNvPr id="3" name="标题 2">
            <a:extLst>
              <a:ext uri="{FF2B5EF4-FFF2-40B4-BE49-F238E27FC236}">
                <a16:creationId xmlns:a16="http://schemas.microsoft.com/office/drawing/2014/main" id="{C292C1BC-10D9-D7B3-961C-EE620CABEA38}"/>
              </a:ext>
            </a:extLst>
          </p:cNvPr>
          <p:cNvSpPr>
            <a:spLocks noGrp="1"/>
          </p:cNvSpPr>
          <p:nvPr>
            <p:ph type="title" idx="4294967295"/>
          </p:nvPr>
        </p:nvSpPr>
        <p:spPr>
          <a:xfrm>
            <a:off x="0" y="244475"/>
            <a:ext cx="8770938" cy="517525"/>
          </a:xfrm>
          <a:prstGeom prst="rect">
            <a:avLst/>
          </a:prstGeom>
        </p:spPr>
        <p:txBody>
          <a:bodyPr/>
          <a:lstStyle/>
          <a:p>
            <a:r>
              <a:rPr kumimoji="1" lang="zh-CN" altLang="en-US" dirty="0"/>
              <a:t> </a:t>
            </a:r>
          </a:p>
        </p:txBody>
      </p:sp>
    </p:spTree>
    <p:extLst>
      <p:ext uri="{BB962C8B-B14F-4D97-AF65-F5344CB8AC3E}">
        <p14:creationId xmlns:p14="http://schemas.microsoft.com/office/powerpoint/2010/main" val="33366392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9A1DA-76C4-795A-E589-D010E7434BE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13298A0-3B0C-FDE7-326E-E0DF4835DE05}"/>
              </a:ext>
            </a:extLst>
          </p:cNvPr>
          <p:cNvSpPr>
            <a:spLocks noGrp="1"/>
          </p:cNvSpPr>
          <p:nvPr>
            <p:ph type="title"/>
          </p:nvPr>
        </p:nvSpPr>
        <p:spPr/>
        <p:txBody>
          <a:bodyPr/>
          <a:lstStyle/>
          <a:p>
            <a:r>
              <a:rPr kumimoji="1" lang="zh-CN" altLang="en-US" dirty="0"/>
              <a:t>模板设计模式</a:t>
            </a:r>
          </a:p>
        </p:txBody>
      </p:sp>
      <p:sp>
        <p:nvSpPr>
          <p:cNvPr id="4" name="文本框 3">
            <a:extLst>
              <a:ext uri="{FF2B5EF4-FFF2-40B4-BE49-F238E27FC236}">
                <a16:creationId xmlns:a16="http://schemas.microsoft.com/office/drawing/2014/main" id="{A54A17A8-52A9-51D6-A46F-7F3580578794}"/>
              </a:ext>
            </a:extLst>
          </p:cNvPr>
          <p:cNvSpPr txBox="1"/>
          <p:nvPr/>
        </p:nvSpPr>
        <p:spPr>
          <a:xfrm>
            <a:off x="576626" y="1739110"/>
            <a:ext cx="10604142" cy="795282"/>
          </a:xfrm>
          <a:prstGeom prst="rect">
            <a:avLst/>
          </a:prstGeom>
          <a:noFill/>
        </p:spPr>
        <p:txBody>
          <a:bodyPr wrap="square">
            <a:spAutoFit/>
          </a:bodyPr>
          <a:lstStyle/>
          <a:p>
            <a:pPr marL="171450" indent="-171450">
              <a:lnSpc>
                <a:spcPct val="150000"/>
              </a:lnSpc>
              <a:buFont typeface="Wingdings" panose="05000000000000000000" pitchFamily="2" charset="2"/>
              <a:buChar char="l"/>
              <a:defRPr/>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模板</a:t>
            </a: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设计模式</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把抽象类整体就可以看做成一个模板，模板中不能决定的东西定义成抽象方法</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让使用模板的类（继承抽象类的类）去重写抽象方法实现需求 </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 name="文本框 4">
            <a:extLst>
              <a:ext uri="{FF2B5EF4-FFF2-40B4-BE49-F238E27FC236}">
                <a16:creationId xmlns:a16="http://schemas.microsoft.com/office/drawing/2014/main" id="{C5A2749B-691E-29D1-CD74-6967B5173841}"/>
              </a:ext>
            </a:extLst>
          </p:cNvPr>
          <p:cNvSpPr txBox="1"/>
          <p:nvPr/>
        </p:nvSpPr>
        <p:spPr>
          <a:xfrm>
            <a:off x="576626" y="1101606"/>
            <a:ext cx="10604142" cy="425950"/>
          </a:xfrm>
          <a:prstGeom prst="rect">
            <a:avLst/>
          </a:prstGeom>
          <a:noFill/>
        </p:spPr>
        <p:txBody>
          <a:bodyPr wrap="square">
            <a:spAutoFit/>
          </a:bodyPr>
          <a:lstStyle/>
          <a:p>
            <a:pPr marL="171450" indent="-171450">
              <a:lnSpc>
                <a:spcPct val="150000"/>
              </a:lnSpc>
              <a:buFont typeface="Wingdings" panose="05000000000000000000" pitchFamily="2" charset="2"/>
              <a:buChar char="l"/>
              <a:defRPr/>
            </a:pPr>
            <a:r>
              <a:rPr lang="zh-CN" altLang="en-US" sz="1600" b="0" i="0" dirty="0">
                <a:effectLst/>
                <a:latin typeface="Inter"/>
              </a:rPr>
              <a:t> 设计模式是软件开发中针对反复出现问题总结归纳出的通用解决方案。</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6" name="文本框 5">
            <a:extLst>
              <a:ext uri="{FF2B5EF4-FFF2-40B4-BE49-F238E27FC236}">
                <a16:creationId xmlns:a16="http://schemas.microsoft.com/office/drawing/2014/main" id="{D481C281-06D2-40A2-53FA-81951AD94774}"/>
              </a:ext>
            </a:extLst>
          </p:cNvPr>
          <p:cNvSpPr txBox="1"/>
          <p:nvPr/>
        </p:nvSpPr>
        <p:spPr>
          <a:xfrm>
            <a:off x="710880" y="5566940"/>
            <a:ext cx="9244838" cy="338554"/>
          </a:xfrm>
          <a:prstGeom prst="rect">
            <a:avLst/>
          </a:prstGeom>
          <a:noFill/>
        </p:spPr>
        <p:txBody>
          <a:bodyPr wrap="none">
            <a:spAutoFit/>
          </a:bodyPr>
          <a:lstStyle/>
          <a:p>
            <a:pPr marL="171450" indent="-171450">
              <a:buFont typeface="Wingdings" panose="05000000000000000000" pitchFamily="2" charset="2"/>
              <a:buChar char="l"/>
              <a:defRPr/>
            </a:pP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小结</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模板设计模式的优势，模板已经定义了通用结构，使用者只需要关心自己需要实现的功能即可</a:t>
            </a:r>
          </a:p>
        </p:txBody>
      </p:sp>
      <p:pic>
        <p:nvPicPr>
          <p:cNvPr id="7" name="图片 6">
            <a:extLst>
              <a:ext uri="{FF2B5EF4-FFF2-40B4-BE49-F238E27FC236}">
                <a16:creationId xmlns:a16="http://schemas.microsoft.com/office/drawing/2014/main" id="{CD74B077-DF88-A9FB-B2D5-56E52FC27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187" y="2975340"/>
            <a:ext cx="2092662" cy="20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0E71D46-E77A-761C-CE4F-2268C1A0CB0B}"/>
              </a:ext>
            </a:extLst>
          </p:cNvPr>
          <p:cNvSpPr txBox="1"/>
          <p:nvPr/>
        </p:nvSpPr>
        <p:spPr>
          <a:xfrm>
            <a:off x="4753766" y="3348847"/>
            <a:ext cx="1873250" cy="1569660"/>
          </a:xfrm>
          <a:prstGeom prst="rect">
            <a:avLst/>
          </a:prstGeom>
          <a:noFill/>
        </p:spPr>
        <p:txBody>
          <a:bodyPr>
            <a:spAutoFit/>
          </a:bodyPr>
          <a:lstStyle/>
          <a:p>
            <a:pPr fontAlgn="auto">
              <a:spcBef>
                <a:spcPts val="0"/>
              </a:spcBef>
              <a:spcAft>
                <a:spcPts val="0"/>
              </a:spcAft>
              <a:defRPr/>
            </a:pP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&lt;&lt;</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我的爸爸</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&gt;&gt;</a:t>
            </a:r>
          </a:p>
          <a:p>
            <a:pPr fontAlgn="auto">
              <a:spcBef>
                <a:spcPts val="0"/>
              </a:spcBef>
              <a:spcAft>
                <a:spcPts val="0"/>
              </a:spcAft>
              <a:defRPr/>
            </a:pP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fontAlgn="auto">
              <a:spcBef>
                <a:spcPts val="0"/>
              </a:spcBef>
              <a:spcAft>
                <a:spcPts val="0"/>
              </a:spcAft>
              <a:defRPr/>
            </a:pP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p>
          <a:p>
            <a:pPr fontAlgn="auto">
              <a:spcBef>
                <a:spcPts val="0"/>
              </a:spcBef>
              <a:spcAft>
                <a:spcPts val="0"/>
              </a:spcAft>
              <a:defRPr/>
            </a:pP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a:p>
            <a:pPr fontAlgn="auto">
              <a:spcBef>
                <a:spcPts val="0"/>
              </a:spcBef>
              <a:spcAft>
                <a:spcPts val="0"/>
              </a:spcAft>
              <a:defRPr/>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啊</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这就是我的爸爸</a:t>
            </a:r>
          </a:p>
        </p:txBody>
      </p:sp>
      <p:sp>
        <p:nvSpPr>
          <p:cNvPr id="9" name="思想气泡: 云 8">
            <a:extLst>
              <a:ext uri="{FF2B5EF4-FFF2-40B4-BE49-F238E27FC236}">
                <a16:creationId xmlns:a16="http://schemas.microsoft.com/office/drawing/2014/main" id="{07845F9F-687A-DEAC-CA08-BCF9FE70F8C2}"/>
              </a:ext>
            </a:extLst>
          </p:cNvPr>
          <p:cNvSpPr/>
          <p:nvPr/>
        </p:nvSpPr>
        <p:spPr>
          <a:xfrm>
            <a:off x="3293126" y="2922751"/>
            <a:ext cx="4852498" cy="2294746"/>
          </a:xfrm>
          <a:prstGeom prst="cloudCallout">
            <a:avLst>
              <a:gd name="adj1" fmla="val -59773"/>
              <a:gd name="adj2" fmla="val -8494"/>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5647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9870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heme/theme1.xml><?xml version="1.0" encoding="utf-8"?>
<a:theme xmlns:a="http://schemas.openxmlformats.org/drawingml/2006/main" name="内容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Seven</Template>
  <TotalTime>10516</TotalTime>
  <Words>5829</Words>
  <Application>Microsoft Office PowerPoint</Application>
  <PresentationFormat>宽屏</PresentationFormat>
  <Paragraphs>799</Paragraphs>
  <Slides>70</Slides>
  <Notes>20</Notes>
  <HiddenSlides>0</HiddenSlides>
  <MMClips>0</MMClips>
  <ScaleCrop>false</ScaleCrop>
  <HeadingPairs>
    <vt:vector size="6" baseType="variant">
      <vt:variant>
        <vt:lpstr>已用的字体</vt:lpstr>
      </vt:variant>
      <vt:variant>
        <vt:i4>17</vt:i4>
      </vt:variant>
      <vt:variant>
        <vt:lpstr>主题</vt:lpstr>
      </vt:variant>
      <vt:variant>
        <vt:i4>5</vt:i4>
      </vt:variant>
      <vt:variant>
        <vt:lpstr>幻灯片标题</vt:lpstr>
      </vt:variant>
      <vt:variant>
        <vt:i4>70</vt:i4>
      </vt:variant>
    </vt:vector>
  </HeadingPairs>
  <TitlesOfParts>
    <vt:vector size="92" baseType="lpstr">
      <vt:lpstr>Alibaba PuHuiTi B</vt:lpstr>
      <vt:lpstr>Alibaba PuHuiTi M</vt:lpstr>
      <vt:lpstr>Alibaba PuHuiTi Medium</vt:lpstr>
      <vt:lpstr>Alibaba PuHuiTi R</vt:lpstr>
      <vt:lpstr>Inter</vt:lpstr>
      <vt:lpstr>阿里巴巴普惠体</vt:lpstr>
      <vt:lpstr>阿里巴巴普惠体 Heavy</vt:lpstr>
      <vt:lpstr>阿里巴巴普惠体 Medium</vt:lpstr>
      <vt:lpstr>等线</vt:lpstr>
      <vt:lpstr>楷体</vt:lpstr>
      <vt:lpstr>宋体</vt:lpstr>
      <vt:lpstr>杨任东竹石体-Bold</vt:lpstr>
      <vt:lpstr>Arial</vt:lpstr>
      <vt:lpstr>Calisto MT</vt:lpstr>
      <vt:lpstr>Consolas</vt:lpstr>
      <vt:lpstr>Source Code Pro</vt:lpstr>
      <vt:lpstr>Wingdings</vt:lpstr>
      <vt:lpstr>内容模板</vt:lpstr>
      <vt:lpstr>封面</vt:lpstr>
      <vt:lpstr>章节目录模板</vt:lpstr>
      <vt:lpstr>小结思考模板2</vt:lpstr>
      <vt:lpstr>1_小结思考模板2</vt:lpstr>
      <vt:lpstr>第九章：面向对象高级</vt:lpstr>
      <vt:lpstr>PowerPoint 演示文稿</vt:lpstr>
      <vt:lpstr>PowerPoint 演示文稿</vt:lpstr>
      <vt:lpstr>PowerPoint 演示文稿</vt:lpstr>
      <vt:lpstr>继承介绍</vt:lpstr>
      <vt:lpstr>继承介绍</vt:lpstr>
      <vt:lpstr>继承介绍</vt:lpstr>
      <vt:lpstr> </vt:lpstr>
      <vt:lpstr>继承学习路径</vt:lpstr>
      <vt:lpstr>继承中的成员访问特点 - 成员变量</vt:lpstr>
      <vt:lpstr>继承中的成员访问特点 - 成员变量</vt:lpstr>
      <vt:lpstr>继承中的成员访问特点 - 成员变量</vt:lpstr>
      <vt:lpstr>继承中的成员访问特点 - 成员变量</vt:lpstr>
      <vt:lpstr>继承中的成员访问特点 - 成员变量</vt:lpstr>
      <vt:lpstr>继承中的成员访问特点 - 成员变量</vt:lpstr>
      <vt:lpstr>继承中的成员访问特点 - 成员变量</vt:lpstr>
      <vt:lpstr>继承中的成员访问特点 - 成员变量</vt:lpstr>
      <vt:lpstr> </vt:lpstr>
      <vt:lpstr>继承中的成员访问特点 - 成员方法</vt:lpstr>
      <vt:lpstr>继承中的成员访问特点 - 成员方法</vt:lpstr>
      <vt:lpstr>继承中的成员访问特点 - 成员方法</vt:lpstr>
      <vt:lpstr> </vt:lpstr>
      <vt:lpstr>权限修饰符</vt:lpstr>
      <vt:lpstr>权限修饰符</vt:lpstr>
      <vt:lpstr>Java 中继承的特点</vt:lpstr>
      <vt:lpstr>Java 中继承的特点</vt:lpstr>
      <vt:lpstr>Java 中继承的特点</vt:lpstr>
      <vt:lpstr> </vt:lpstr>
      <vt:lpstr>继承中的成员访问特点 – 构造方法</vt:lpstr>
      <vt:lpstr>继承中的成员访问特点 – 构造方法</vt:lpstr>
      <vt:lpstr>继承中的成员访问特点 – 构造方法</vt:lpstr>
      <vt:lpstr>继承中的成员访问特点 – 构造方法</vt:lpstr>
      <vt:lpstr> </vt:lpstr>
      <vt:lpstr>继承练习</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继承中的构造方法执行流程 - 内存图解</vt:lpstr>
      <vt:lpstr>继承必掌握案例</vt:lpstr>
      <vt:lpstr>this super</vt:lpstr>
      <vt:lpstr>this super</vt:lpstr>
      <vt:lpstr>this super</vt:lpstr>
      <vt:lpstr>this super</vt:lpstr>
      <vt:lpstr>this super</vt:lpstr>
      <vt:lpstr>this super</vt:lpstr>
      <vt:lpstr> </vt:lpstr>
      <vt:lpstr>PowerPoint 演示文稿</vt:lpstr>
      <vt:lpstr>Object 类介绍</vt:lpstr>
      <vt:lpstr>Object 类介绍</vt:lpstr>
      <vt:lpstr> </vt:lpstr>
      <vt:lpstr>PowerPoint 演示文稿</vt:lpstr>
      <vt:lpstr>final 关键字的介绍</vt:lpstr>
      <vt:lpstr>final 修饰变量的细节补充</vt:lpstr>
      <vt:lpstr> </vt:lpstr>
      <vt:lpstr>PowerPoint 演示文稿</vt:lpstr>
      <vt:lpstr> </vt:lpstr>
      <vt:lpstr> 抽象方法介绍</vt:lpstr>
      <vt:lpstr> </vt:lpstr>
      <vt:lpstr> 抽象类注意事项</vt:lpstr>
      <vt:lpstr>abstract 关键字的冲突问题 </vt:lpstr>
      <vt:lpstr> </vt:lpstr>
      <vt:lpstr>模板设计模式</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ys h</cp:lastModifiedBy>
  <cp:revision>1151</cp:revision>
  <cp:lastPrinted>2022-05-29T16:00:00Z</cp:lastPrinted>
  <dcterms:created xsi:type="dcterms:W3CDTF">2022-05-29T16:00:00Z</dcterms:created>
  <dcterms:modified xsi:type="dcterms:W3CDTF">2025-04-11T05:29:27Z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