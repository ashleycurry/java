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80"/>
  </p:notesMasterIdLst>
  <p:handoutMasterIdLst>
    <p:handoutMasterId r:id="rId81"/>
  </p:handoutMasterIdLst>
  <p:sldIdLst>
    <p:sldId id="280" r:id="rId6"/>
    <p:sldId id="308" r:id="rId7"/>
    <p:sldId id="440" r:id="rId8"/>
    <p:sldId id="1054" r:id="rId9"/>
    <p:sldId id="1055" r:id="rId10"/>
    <p:sldId id="1053" r:id="rId11"/>
    <p:sldId id="2733" r:id="rId12"/>
    <p:sldId id="2734" r:id="rId13"/>
    <p:sldId id="1003" r:id="rId14"/>
    <p:sldId id="1058" r:id="rId15"/>
    <p:sldId id="1169" r:id="rId16"/>
    <p:sldId id="1062" r:id="rId17"/>
    <p:sldId id="1057" r:id="rId18"/>
    <p:sldId id="2736" r:id="rId19"/>
    <p:sldId id="2737" r:id="rId20"/>
    <p:sldId id="2723" r:id="rId21"/>
    <p:sldId id="1222" r:id="rId22"/>
    <p:sldId id="2738" r:id="rId23"/>
    <p:sldId id="2739" r:id="rId24"/>
    <p:sldId id="2753" r:id="rId25"/>
    <p:sldId id="2754" r:id="rId26"/>
    <p:sldId id="2750" r:id="rId27"/>
    <p:sldId id="2751" r:id="rId28"/>
    <p:sldId id="967" r:id="rId29"/>
    <p:sldId id="2752" r:id="rId30"/>
    <p:sldId id="2768" r:id="rId31"/>
    <p:sldId id="2740" r:id="rId32"/>
    <p:sldId id="2741" r:id="rId33"/>
    <p:sldId id="2742" r:id="rId34"/>
    <p:sldId id="1517" r:id="rId35"/>
    <p:sldId id="1070" r:id="rId36"/>
    <p:sldId id="1071" r:id="rId37"/>
    <p:sldId id="1072" r:id="rId38"/>
    <p:sldId id="1073" r:id="rId39"/>
    <p:sldId id="1074" r:id="rId40"/>
    <p:sldId id="1076" r:id="rId41"/>
    <p:sldId id="2748" r:id="rId42"/>
    <p:sldId id="1077" r:id="rId43"/>
    <p:sldId id="1079" r:id="rId44"/>
    <p:sldId id="1082" r:id="rId45"/>
    <p:sldId id="2743" r:id="rId46"/>
    <p:sldId id="1084" r:id="rId47"/>
    <p:sldId id="1085" r:id="rId48"/>
    <p:sldId id="1086" r:id="rId49"/>
    <p:sldId id="1087" r:id="rId50"/>
    <p:sldId id="1088" r:id="rId51"/>
    <p:sldId id="1089" r:id="rId52"/>
    <p:sldId id="2744" r:id="rId53"/>
    <p:sldId id="2745" r:id="rId54"/>
    <p:sldId id="2746" r:id="rId55"/>
    <p:sldId id="2749" r:id="rId56"/>
    <p:sldId id="1093" r:id="rId57"/>
    <p:sldId id="2725" r:id="rId58"/>
    <p:sldId id="2735" r:id="rId59"/>
    <p:sldId id="2755" r:id="rId60"/>
    <p:sldId id="2756" r:id="rId61"/>
    <p:sldId id="1192" r:id="rId62"/>
    <p:sldId id="1235" r:id="rId63"/>
    <p:sldId id="1234" r:id="rId64"/>
    <p:sldId id="2757" r:id="rId65"/>
    <p:sldId id="2758" r:id="rId66"/>
    <p:sldId id="1075" r:id="rId67"/>
    <p:sldId id="2762" r:id="rId68"/>
    <p:sldId id="2759" r:id="rId69"/>
    <p:sldId id="2760" r:id="rId70"/>
    <p:sldId id="2761" r:id="rId71"/>
    <p:sldId id="1123" r:id="rId72"/>
    <p:sldId id="2763" r:id="rId73"/>
    <p:sldId id="2764" r:id="rId74"/>
    <p:sldId id="2765" r:id="rId75"/>
    <p:sldId id="999" r:id="rId76"/>
    <p:sldId id="2766" r:id="rId77"/>
    <p:sldId id="2767" r:id="rId78"/>
    <p:sldId id="288" r:id="rId79"/>
  </p:sldIdLst>
  <p:sldSz cx="12192000" cy="6858000"/>
  <p:notesSz cx="6858000" cy="9144000"/>
  <p:custDataLst>
    <p:tags r:id="rId8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308"/>
            <p14:sldId id="440"/>
            <p14:sldId id="1054"/>
            <p14:sldId id="1055"/>
            <p14:sldId id="1053"/>
            <p14:sldId id="2733"/>
            <p14:sldId id="2734"/>
            <p14:sldId id="1003"/>
            <p14:sldId id="1058"/>
            <p14:sldId id="1169"/>
            <p14:sldId id="1062"/>
            <p14:sldId id="1057"/>
            <p14:sldId id="2736"/>
            <p14:sldId id="2737"/>
            <p14:sldId id="2723"/>
            <p14:sldId id="1222"/>
            <p14:sldId id="2738"/>
            <p14:sldId id="2739"/>
            <p14:sldId id="2753"/>
            <p14:sldId id="2754"/>
            <p14:sldId id="2750"/>
            <p14:sldId id="2751"/>
            <p14:sldId id="967"/>
            <p14:sldId id="2752"/>
            <p14:sldId id="2768"/>
            <p14:sldId id="2740"/>
            <p14:sldId id="2741"/>
            <p14:sldId id="2742"/>
            <p14:sldId id="1517"/>
            <p14:sldId id="1070"/>
            <p14:sldId id="1071"/>
            <p14:sldId id="1072"/>
            <p14:sldId id="1073"/>
            <p14:sldId id="1074"/>
            <p14:sldId id="1076"/>
            <p14:sldId id="2748"/>
            <p14:sldId id="1077"/>
            <p14:sldId id="1079"/>
            <p14:sldId id="1082"/>
            <p14:sldId id="2743"/>
            <p14:sldId id="1084"/>
            <p14:sldId id="1085"/>
            <p14:sldId id="1086"/>
            <p14:sldId id="1087"/>
            <p14:sldId id="1088"/>
            <p14:sldId id="1089"/>
            <p14:sldId id="2744"/>
            <p14:sldId id="2745"/>
            <p14:sldId id="2746"/>
            <p14:sldId id="2749"/>
            <p14:sldId id="1093"/>
            <p14:sldId id="2725"/>
            <p14:sldId id="2735"/>
            <p14:sldId id="2755"/>
            <p14:sldId id="2756"/>
            <p14:sldId id="1192"/>
            <p14:sldId id="1235"/>
            <p14:sldId id="1234"/>
            <p14:sldId id="2757"/>
            <p14:sldId id="2758"/>
            <p14:sldId id="1075"/>
            <p14:sldId id="2762"/>
            <p14:sldId id="2759"/>
            <p14:sldId id="2760"/>
            <p14:sldId id="2761"/>
            <p14:sldId id="1123"/>
            <p14:sldId id="2763"/>
            <p14:sldId id="2764"/>
            <p14:sldId id="2765"/>
            <p14:sldId id="999"/>
            <p14:sldId id="2766"/>
            <p14:sldId id="276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9" autoAdjust="0"/>
    <p:restoredTop sz="94349" autoAdjust="0"/>
  </p:normalViewPr>
  <p:slideViewPr>
    <p:cSldViewPr snapToGrid="0" showGuides="1">
      <p:cViewPr varScale="1">
        <p:scale>
          <a:sx n="88" d="100"/>
          <a:sy n="88" d="100"/>
        </p:scale>
        <p:origin x="9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67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65163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7" r:id="rId15"/>
    <p:sldLayoutId id="2147483699" r:id="rId16"/>
    <p:sldLayoutId id="214748370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第六章：流程控制语句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控制程序代码执行顺序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F0A2A7-A667-0512-816A-DB7E34D3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6A1B4-6E31-ED4D-D6C5-3EE095D6F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流程控制语句分类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1EBC4B-6042-4B46-31F8-98A235060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流程控制语句分类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D671AE-8DA0-4164-BB82-F1C530B3702F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顺序结构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FB46372-9EE1-48D5-9EC5-9DDDC5EE92E7}"/>
              </a:ext>
            </a:extLst>
          </p:cNvPr>
          <p:cNvSpPr/>
          <p:nvPr/>
        </p:nvSpPr>
        <p:spPr>
          <a:xfrm>
            <a:off x="4956172" y="1905897"/>
            <a:ext cx="1612201" cy="1612201"/>
          </a:xfrm>
          <a:prstGeom prst="ellipse">
            <a:avLst/>
          </a:pr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分支结构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9DA4D15-D306-4C84-8C28-DDB62184819C}"/>
              </a:ext>
            </a:extLst>
          </p:cNvPr>
          <p:cNvSpPr/>
          <p:nvPr/>
        </p:nvSpPr>
        <p:spPr>
          <a:xfrm>
            <a:off x="8675800" y="1905898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循环结构</a:t>
            </a:r>
          </a:p>
        </p:txBody>
      </p:sp>
    </p:spTree>
    <p:extLst>
      <p:ext uri="{BB962C8B-B14F-4D97-AF65-F5344CB8AC3E}">
        <p14:creationId xmlns:p14="http://schemas.microsoft.com/office/powerpoint/2010/main" val="258701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顺序结构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D671AE-8DA0-4164-BB82-F1C530B3702F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顺序结构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D57050-33A9-40B7-955D-4079C823119C}"/>
              </a:ext>
            </a:extLst>
          </p:cNvPr>
          <p:cNvSpPr/>
          <p:nvPr/>
        </p:nvSpPr>
        <p:spPr>
          <a:xfrm>
            <a:off x="994492" y="3820952"/>
            <a:ext cx="2102967" cy="546230"/>
          </a:xfrm>
          <a:prstGeom prst="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程序默认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15BEA85-AEF9-4698-ACE6-87173CA0E633}"/>
              </a:ext>
            </a:extLst>
          </p:cNvPr>
          <p:cNvSpPr txBox="1"/>
          <p:nvPr/>
        </p:nvSpPr>
        <p:spPr>
          <a:xfrm>
            <a:off x="3262842" y="1840387"/>
            <a:ext cx="8430684" cy="1165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程序默认的执行流程，没有特定的语法结构，按照代码的先后顺序，依次执行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程序中大多数的代码都是这样执行的。</a:t>
            </a:r>
          </a:p>
          <a:p>
            <a:pPr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1637FC-6E85-47F9-A04F-9636DD05F530}"/>
              </a:ext>
            </a:extLst>
          </p:cNvPr>
          <p:cNvSpPr/>
          <p:nvPr/>
        </p:nvSpPr>
        <p:spPr>
          <a:xfrm>
            <a:off x="9254556" y="3568508"/>
            <a:ext cx="1344083" cy="38311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</a:t>
            </a:r>
            <a:r>
              <a:rPr lang="en-US" altLang="zh-CN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lang="zh-CN" altLang="en-US" sz="1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7A9276-641F-4258-AB5D-AC250E730A3D}"/>
              </a:ext>
            </a:extLst>
          </p:cNvPr>
          <p:cNvSpPr/>
          <p:nvPr/>
        </p:nvSpPr>
        <p:spPr>
          <a:xfrm>
            <a:off x="9254556" y="4891424"/>
            <a:ext cx="1344083" cy="38311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</a:t>
            </a:r>
            <a:r>
              <a:rPr lang="en-US" altLang="zh-CN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lang="zh-CN" altLang="en-US" sz="1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EA0FF3-322E-4B0A-A7A7-E8E36D07F694}"/>
              </a:ext>
            </a:extLst>
          </p:cNvPr>
          <p:cNvSpPr/>
          <p:nvPr/>
        </p:nvSpPr>
        <p:spPr>
          <a:xfrm>
            <a:off x="9254556" y="4218325"/>
            <a:ext cx="1344083" cy="385233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</a:t>
            </a:r>
            <a:r>
              <a:rPr lang="en-US" altLang="zh-CN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lang="zh-CN" altLang="en-US" sz="1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34F1C33-CCC8-409D-8882-68D4E276C977}"/>
              </a:ext>
            </a:extLst>
          </p:cNvPr>
          <p:cNvSpPr/>
          <p:nvPr/>
        </p:nvSpPr>
        <p:spPr>
          <a:xfrm>
            <a:off x="9417539" y="5562408"/>
            <a:ext cx="1013884" cy="4275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67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15544D5-4326-4DE8-B3C8-3A919D9FABB9}"/>
              </a:ext>
            </a:extLst>
          </p:cNvPr>
          <p:cNvSpPr/>
          <p:nvPr/>
        </p:nvSpPr>
        <p:spPr>
          <a:xfrm>
            <a:off x="9421772" y="2874242"/>
            <a:ext cx="1011767" cy="4275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67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01756FE-9A20-4373-8429-2580ABB372EA}"/>
              </a:ext>
            </a:extLst>
          </p:cNvPr>
          <p:cNvCxnSpPr>
            <a:stCxn id="15" idx="4"/>
            <a:endCxn id="11" idx="0"/>
          </p:cNvCxnSpPr>
          <p:nvPr/>
        </p:nvCxnSpPr>
        <p:spPr>
          <a:xfrm>
            <a:off x="9927656" y="3301808"/>
            <a:ext cx="0" cy="266700"/>
          </a:xfrm>
          <a:prstGeom prst="straightConnector1">
            <a:avLst/>
          </a:prstGeom>
          <a:ln w="19050">
            <a:solidFill>
              <a:srgbClr val="AD2B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F90425F-89DC-4A37-806A-8205FFA0B9C7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>
            <a:off x="9927656" y="4603557"/>
            <a:ext cx="0" cy="287867"/>
          </a:xfrm>
          <a:prstGeom prst="straightConnector1">
            <a:avLst/>
          </a:prstGeom>
          <a:ln w="19050">
            <a:solidFill>
              <a:srgbClr val="AD2B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33E02A3-783C-4580-8E8B-FF2F14827AF1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9927656" y="3951624"/>
            <a:ext cx="0" cy="266700"/>
          </a:xfrm>
          <a:prstGeom prst="straightConnector1">
            <a:avLst/>
          </a:prstGeom>
          <a:ln w="19050">
            <a:solidFill>
              <a:srgbClr val="AD2B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A2D4C64-FED3-4D4B-A8FB-36E246B4E4BF}"/>
              </a:ext>
            </a:extLst>
          </p:cNvPr>
          <p:cNvCxnSpPr>
            <a:stCxn id="12" idx="2"/>
          </p:cNvCxnSpPr>
          <p:nvPr/>
        </p:nvCxnSpPr>
        <p:spPr>
          <a:xfrm flipH="1">
            <a:off x="9925539" y="5274541"/>
            <a:ext cx="2117" cy="287867"/>
          </a:xfrm>
          <a:prstGeom prst="straightConnector1">
            <a:avLst/>
          </a:prstGeom>
          <a:ln w="19050">
            <a:solidFill>
              <a:srgbClr val="AD2B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3">
            <a:extLst>
              <a:ext uri="{FF2B5EF4-FFF2-40B4-BE49-F238E27FC236}">
                <a16:creationId xmlns:a16="http://schemas.microsoft.com/office/drawing/2014/main" id="{DEF2633D-DB1F-49A1-842D-E0E58A5FB939}"/>
              </a:ext>
            </a:extLst>
          </p:cNvPr>
          <p:cNvSpPr txBox="1"/>
          <p:nvPr/>
        </p:nvSpPr>
        <p:spPr>
          <a:xfrm>
            <a:off x="3359070" y="2865871"/>
            <a:ext cx="4800600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"B"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流程控制语句分类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D671AE-8DA0-4164-BB82-F1C530B3702F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顺序结构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FB46372-9EE1-48D5-9EC5-9DDDC5EE92E7}"/>
              </a:ext>
            </a:extLst>
          </p:cNvPr>
          <p:cNvSpPr/>
          <p:nvPr/>
        </p:nvSpPr>
        <p:spPr>
          <a:xfrm>
            <a:off x="4956172" y="1905897"/>
            <a:ext cx="1612201" cy="1612201"/>
          </a:xfrm>
          <a:prstGeom prst="ellipse">
            <a:avLst/>
          </a:pr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分支结构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9DA4D15-D306-4C84-8C28-DDB62184819C}"/>
              </a:ext>
            </a:extLst>
          </p:cNvPr>
          <p:cNvSpPr/>
          <p:nvPr/>
        </p:nvSpPr>
        <p:spPr>
          <a:xfrm>
            <a:off x="8675800" y="1905898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循环结构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385A6D-518D-4FBE-85D1-4C8CC67168E6}"/>
              </a:ext>
            </a:extLst>
          </p:cNvPr>
          <p:cNvSpPr/>
          <p:nvPr/>
        </p:nvSpPr>
        <p:spPr>
          <a:xfrm>
            <a:off x="994492" y="3820952"/>
            <a:ext cx="2102967" cy="546230"/>
          </a:xfrm>
          <a:prstGeom prst="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程序默认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76D894-BDA9-4FDE-BF16-7226F6135EED}"/>
              </a:ext>
            </a:extLst>
          </p:cNvPr>
          <p:cNvSpPr/>
          <p:nvPr/>
        </p:nvSpPr>
        <p:spPr>
          <a:xfrm>
            <a:off x="4709679" y="3820952"/>
            <a:ext cx="2105188" cy="546230"/>
          </a:xfrm>
          <a:prstGeom prst="rect">
            <a:avLst/>
          </a:prstGeom>
          <a:solidFill>
            <a:srgbClr val="49504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if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switch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46C269-976A-4241-8F0E-FA30FAD701FF}"/>
              </a:ext>
            </a:extLst>
          </p:cNvPr>
          <p:cNvSpPr/>
          <p:nvPr/>
        </p:nvSpPr>
        <p:spPr>
          <a:xfrm>
            <a:off x="7913268" y="3820953"/>
            <a:ext cx="3166063" cy="546230"/>
          </a:xfrm>
          <a:prstGeom prst="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for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while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do…while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</p:spTree>
    <p:extLst>
      <p:ext uri="{BB962C8B-B14F-4D97-AF65-F5344CB8AC3E}">
        <p14:creationId xmlns:p14="http://schemas.microsoft.com/office/powerpoint/2010/main" val="386073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AF49-A2E1-1BBA-DC96-92741A88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AC31C50-786A-92D0-2C5C-AB473B832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1172463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2769-71DE-1B9D-7747-00E2B26C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FEFBAE-8491-24E7-962D-C44E425F28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分支结构 </a:t>
            </a:r>
            <a:r>
              <a:rPr lang="en-US" altLang="zh-CN" dirty="0"/>
              <a:t>if 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DECC618-196C-3F6C-F907-37EE831B7E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657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分支结构语句 </a:t>
            </a:r>
            <a:r>
              <a:rPr kumimoji="1" lang="en-US" altLang="zh-CN" dirty="0"/>
              <a:t>if</a:t>
            </a:r>
            <a:endParaRPr kumimoji="1" lang="zh-CN" altLang="en-US" dirty="0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2A22C240-C07F-45A6-A0C9-102D2191C5B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</a:rPr>
              <a:t>if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</a:rPr>
              <a:t>第一种格式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6C69F5-B106-4100-AECE-A21E3335866C}"/>
              </a:ext>
            </a:extLst>
          </p:cNvPr>
          <p:cNvSpPr/>
          <p:nvPr/>
        </p:nvSpPr>
        <p:spPr>
          <a:xfrm>
            <a:off x="732046" y="3549227"/>
            <a:ext cx="6517217" cy="1353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执行流程：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首先计算判断条件的结果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如果条件的结果为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就执行语句体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如果条件的结果为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就不执行语句体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875839C9-F62E-4029-96F0-4A2F3E5AC0C0}"/>
              </a:ext>
            </a:extLst>
          </p:cNvPr>
          <p:cNvSpPr txBox="1"/>
          <p:nvPr/>
        </p:nvSpPr>
        <p:spPr>
          <a:xfrm>
            <a:off x="732046" y="1870923"/>
            <a:ext cx="5088467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2A22C240-C07F-45A6-A0C9-102D2191C5B9}"/>
              </a:ext>
            </a:extLst>
          </p:cNvPr>
          <p:cNvSpPr txBox="1">
            <a:spLocks/>
          </p:cNvSpPr>
          <p:nvPr/>
        </p:nvSpPr>
        <p:spPr>
          <a:xfrm>
            <a:off x="6203417" y="935077"/>
            <a:ext cx="527770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</a:rPr>
              <a:t>if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</a:rPr>
              <a:t>第二种格式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6C69F5-B106-4100-AECE-A21E3335866C}"/>
              </a:ext>
            </a:extLst>
          </p:cNvPr>
          <p:cNvSpPr/>
          <p:nvPr/>
        </p:nvSpPr>
        <p:spPr>
          <a:xfrm>
            <a:off x="6203416" y="4102124"/>
            <a:ext cx="6517217" cy="1353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执行流程：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首先计算判断条件的结果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如果条件的结果为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就执行语句体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如果条件的结果为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就执行语句体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75839C9-F62E-4029-96F0-4A2F3E5AC0C0}"/>
              </a:ext>
            </a:extLst>
          </p:cNvPr>
          <p:cNvSpPr txBox="1"/>
          <p:nvPr/>
        </p:nvSpPr>
        <p:spPr>
          <a:xfrm>
            <a:off x="6224582" y="1865919"/>
            <a:ext cx="5088467" cy="19967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1;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2;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2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分支结构语句 </a:t>
            </a:r>
            <a:r>
              <a:rPr kumimoji="1" lang="en-US" altLang="zh-CN"/>
              <a:t>if</a:t>
            </a:r>
            <a:endParaRPr kumimoji="1"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769974E6-7B7B-49AE-02F4-FC9AE740FDB3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</a:rPr>
              <a:t>if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</a:rPr>
              <a:t>第三种格式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C9BB96-E221-C208-F170-32D5E95DCFBB}"/>
              </a:ext>
            </a:extLst>
          </p:cNvPr>
          <p:cNvSpPr/>
          <p:nvPr/>
        </p:nvSpPr>
        <p:spPr>
          <a:xfrm>
            <a:off x="6085679" y="1754311"/>
            <a:ext cx="6517217" cy="199785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执行流程：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首先计算判断条件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的值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如果值为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就执行语句体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；如果值为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就计算判断条件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的值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如果值为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就执行语句体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；如果值为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就计算判断条件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的值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如果没有任何判断条件为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，就执行语句体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n+1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3B585BE-433D-C53A-B7A2-A99CECA3DF22}"/>
              </a:ext>
            </a:extLst>
          </p:cNvPr>
          <p:cNvSpPr txBox="1"/>
          <p:nvPr/>
        </p:nvSpPr>
        <p:spPr>
          <a:xfrm>
            <a:off x="732046" y="1870923"/>
            <a:ext cx="5088467" cy="342786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格式：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思源黑体 CN Normal" panose="020B0400000000000000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1;	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else if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判断条件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2)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2;	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...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else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n+1;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844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3"/>
          <p:cNvSpPr txBox="1"/>
          <p:nvPr/>
        </p:nvSpPr>
        <p:spPr>
          <a:xfrm>
            <a:off x="3928673" y="1073021"/>
            <a:ext cx="6024021" cy="1340275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1</a:t>
            </a:r>
            <a:r>
              <a: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</a:t>
            </a:r>
            <a:r>
              <a: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分支是什么？举几个应用场景</a:t>
            </a: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?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可以根据条件，选择执行某段程序</a:t>
            </a:r>
            <a:endParaRPr kumimoji="1"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2</a:t>
            </a:r>
            <a:r>
              <a: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</a:t>
            </a:r>
            <a:r>
              <a: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分支的写法有几种</a:t>
            </a: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,</a:t>
            </a:r>
            <a:r>
              <a: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各有什么特点</a:t>
            </a:r>
            <a:r>
              <a:rPr kumimoji="1"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?</a:t>
            </a:r>
          </a:p>
        </p:txBody>
      </p:sp>
      <p:sp>
        <p:nvSpPr>
          <p:cNvPr id="17" name="TextBox 3"/>
          <p:cNvSpPr txBox="1"/>
          <p:nvPr/>
        </p:nvSpPr>
        <p:spPr>
          <a:xfrm>
            <a:off x="4215130" y="2917825"/>
            <a:ext cx="2153920" cy="104076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条件表达式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6631305" y="2917825"/>
            <a:ext cx="1878330" cy="19050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条件表达式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1;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 </a:t>
            </a: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2;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19" name="TextBox 3"/>
          <p:cNvSpPr txBox="1"/>
          <p:nvPr/>
        </p:nvSpPr>
        <p:spPr>
          <a:xfrm>
            <a:off x="8718665" y="2917882"/>
            <a:ext cx="2468057" cy="36169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条件表达式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1)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1;	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 </a:t>
            </a: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else if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条件表达式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2)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2;	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 </a:t>
            </a: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else if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条件表达式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3)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3;	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 . .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else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n+1;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考试奖励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AE4B883-E6B4-4095-954F-90E90D3493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需求：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键盘录入考试成绩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，根据成绩所在的区间，程序打印出不同的奖励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73F67167-BEA5-47B2-9D9D-2A125A478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23" y="3429000"/>
            <a:ext cx="140652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36E7D99-1E35-463F-9EC4-2A654A484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098" y="3805238"/>
            <a:ext cx="110013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00DE697B-2518-4105-93D6-68B8A6FB0D4D}"/>
              </a:ext>
            </a:extLst>
          </p:cNvPr>
          <p:cNvSpPr/>
          <p:nvPr/>
        </p:nvSpPr>
        <p:spPr>
          <a:xfrm>
            <a:off x="2709170" y="4246207"/>
            <a:ext cx="12202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95~100</a:t>
            </a:r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</a:t>
            </a:r>
            <a:endParaRPr lang="en-US" altLang="zh-C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63B4066F-B432-4D4A-B8C6-F4821C2C8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548" y="2536825"/>
            <a:ext cx="906462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0722DC34-CDC6-4D37-AF19-9ABD59865CD6}"/>
              </a:ext>
            </a:extLst>
          </p:cNvPr>
          <p:cNvSpPr/>
          <p:nvPr/>
        </p:nvSpPr>
        <p:spPr>
          <a:xfrm>
            <a:off x="6259926" y="2892630"/>
            <a:ext cx="10871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80~89</a:t>
            </a:r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38F289A-16A3-4BA8-A5CE-8332F889D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898" y="2393950"/>
            <a:ext cx="2220912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1C5C293-3195-4550-9E5B-67BA24E2D393}"/>
              </a:ext>
            </a:extLst>
          </p:cNvPr>
          <p:cNvSpPr/>
          <p:nvPr/>
        </p:nvSpPr>
        <p:spPr>
          <a:xfrm>
            <a:off x="3329489" y="2313282"/>
            <a:ext cx="10871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90~94</a:t>
            </a:r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4BCE539B-130A-4248-902A-921AC5BC81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410" y="3770313"/>
            <a:ext cx="110331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0BCDFB73-851A-45D9-AB9A-A2C77201A06B}"/>
              </a:ext>
            </a:extLst>
          </p:cNvPr>
          <p:cNvSpPr/>
          <p:nvPr/>
        </p:nvSpPr>
        <p:spPr>
          <a:xfrm>
            <a:off x="7224962" y="4169296"/>
            <a:ext cx="123012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</a:t>
            </a:r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分以下</a:t>
            </a:r>
          </a:p>
        </p:txBody>
      </p:sp>
    </p:spTree>
    <p:extLst>
      <p:ext uri="{BB962C8B-B14F-4D97-AF65-F5344CB8AC3E}">
        <p14:creationId xmlns:p14="http://schemas.microsoft.com/office/powerpoint/2010/main" val="29338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if </a:t>
            </a:r>
            <a:r>
              <a:rPr kumimoji="1" lang="zh-CN" altLang="en-US" dirty="0"/>
              <a:t>语句注意事项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2A68A1-7DE2-4BAB-8AD5-B54583674248}"/>
              </a:ext>
            </a:extLst>
          </p:cNvPr>
          <p:cNvSpPr txBox="1"/>
          <p:nvPr/>
        </p:nvSpPr>
        <p:spPr>
          <a:xfrm>
            <a:off x="576626" y="1016145"/>
            <a:ext cx="8928881" cy="129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if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语句中，如果大括号控制的是一条语句，大括号可以省略不写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if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 )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}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之间不要写分号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if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 )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中需要产生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类型的结果，根据结果决定程序的走向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11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3A7D-97F9-B0E7-A874-CDE0666C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24258A-6A03-B8A6-4A29-2AAB0182AB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66006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3CDD-287A-B194-F77D-5D4C157F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9AA1DB-F9EC-ADCB-2B16-E439FB69B4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分支结构 </a:t>
            </a:r>
            <a:r>
              <a:rPr lang="en-US" altLang="zh-CN" dirty="0"/>
              <a:t>switch 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A700916-B416-71D8-6C32-D4B27693C3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61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FD0A-1A51-CA97-4F28-D3A7258D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EE8A4F-D071-6147-E2A7-C9E11AA2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分支结构 </a:t>
            </a:r>
            <a:r>
              <a:rPr kumimoji="1" lang="en-US" altLang="zh-CN" dirty="0"/>
              <a:t>switch </a:t>
            </a:r>
            <a:r>
              <a:rPr kumimoji="1" lang="zh-CN" altLang="en-US" dirty="0"/>
              <a:t>语句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17FAF07-7FBF-E46A-448A-68F000AED9D5}"/>
              </a:ext>
            </a:extLst>
          </p:cNvPr>
          <p:cNvSpPr txBox="1"/>
          <p:nvPr/>
        </p:nvSpPr>
        <p:spPr>
          <a:xfrm>
            <a:off x="8922625" y="1409273"/>
            <a:ext cx="2884593" cy="425885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格式：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表达式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值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值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：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2;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…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default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：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语句体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n+1;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	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}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89F6C7D-7741-D421-F3DE-11B37983C3AE}"/>
              </a:ext>
            </a:extLst>
          </p:cNvPr>
          <p:cNvSpPr txBox="1"/>
          <p:nvPr/>
        </p:nvSpPr>
        <p:spPr>
          <a:xfrm>
            <a:off x="596490" y="1554962"/>
            <a:ext cx="8443737" cy="198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switch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分支的执行流程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先计算表达式的值，再拿着这个值去与case后的值进行匹配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与哪个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case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后的值匹配为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true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就执行哪个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case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块的代码，遇到break就跳出switch分支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如果全部case后的值与之匹配都是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false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，则执行 default 块的代码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E463A6-6638-48BD-A2B9-6C9682913791}"/>
              </a:ext>
            </a:extLst>
          </p:cNvPr>
          <p:cNvSpPr txBox="1"/>
          <p:nvPr/>
        </p:nvSpPr>
        <p:spPr>
          <a:xfrm>
            <a:off x="576626" y="1035212"/>
            <a:ext cx="384245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413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通过比较值来决定执行哪条分支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56DC0B-8B60-0C26-6D8E-36680448BC0F}"/>
              </a:ext>
            </a:extLst>
          </p:cNvPr>
          <p:cNvSpPr txBox="1"/>
          <p:nvPr/>
        </p:nvSpPr>
        <p:spPr>
          <a:xfrm>
            <a:off x="932811" y="49402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E4BA37-41A1-179A-7CBB-C2458A492E3D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8967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3"/>
          <p:cNvSpPr txBox="1"/>
          <p:nvPr/>
        </p:nvSpPr>
        <p:spPr>
          <a:xfrm>
            <a:off x="3605544" y="1418253"/>
            <a:ext cx="5578081" cy="3386051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1</a:t>
            </a:r>
            <a:r>
              <a:rPr kumimoji="1" lang="zh-CN" altLang="en-US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switch</a:t>
            </a:r>
            <a:r>
              <a:rPr kumimoji="1" lang="zh-CN" altLang="en-US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分支的格式、执行流程是怎么样的</a:t>
            </a: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?</a:t>
            </a:r>
          </a:p>
          <a:p>
            <a:pPr>
              <a:lnSpc>
                <a:spcPct val="250000"/>
              </a:lnSpc>
            </a:pPr>
            <a:endParaRPr kumimoji="1" lang="zh-CN" altLang="en-US" sz="1600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2</a:t>
            </a:r>
            <a:r>
              <a:rPr kumimoji="1" lang="zh-CN" altLang="en-US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if</a:t>
            </a:r>
            <a:r>
              <a:rPr kumimoji="1" lang="zh-CN" altLang="en-US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switch</a:t>
            </a:r>
            <a:r>
              <a:rPr kumimoji="1" lang="zh-CN" altLang="en-US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的比较，各自适合什么业务场景</a:t>
            </a:r>
            <a:r>
              <a:rPr kumimoji="1" lang="en-US" altLang="zh-CN" sz="1600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if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适合做条件是区间判断的情况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witch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适合做：条件是比较值的情况、代码优雅、性能较好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83625" y="2155370"/>
            <a:ext cx="1805552" cy="338663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switch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(表达式){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case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值1: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执行代码1;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break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case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值2: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执行代码2;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break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…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default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: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执行代码n;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break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D319-BB25-7314-0C96-14AED9C7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3FA831B-4A57-DAA7-59D9-2451C2BA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switch </a:t>
            </a:r>
            <a:r>
              <a:rPr kumimoji="1" lang="zh-CN" altLang="en-US" dirty="0"/>
              <a:t>语句注意事项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76626" y="928165"/>
            <a:ext cx="8425099" cy="307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250000"/>
              </a:lnSpc>
              <a:buFont typeface="+mj-ea"/>
              <a:buAutoNum type="circleNumDbPlain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表达式类型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只能是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byte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short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int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char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不支持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double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float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long</a:t>
            </a:r>
          </a:p>
          <a:p>
            <a:pPr lvl="1">
              <a:lnSpc>
                <a:spcPct val="2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JDK5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开始支持枚举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1">
              <a:lnSpc>
                <a:spcPct val="2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JDK7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开始支持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String</a:t>
            </a:r>
          </a:p>
          <a:p>
            <a:pPr marL="342900" indent="-342900">
              <a:lnSpc>
                <a:spcPct val="250000"/>
              </a:lnSpc>
              <a:buFont typeface="+mj-ea"/>
              <a:buAutoNum type="circleNumDbPlain" startAt="2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case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给出的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值不允许重复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，且只能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是字面量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，不能是变量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342900" indent="-342900">
              <a:lnSpc>
                <a:spcPct val="250000"/>
              </a:lnSpc>
              <a:buFont typeface="+mj-ea"/>
              <a:buAutoNum type="circleNumDbPlain" startAt="2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正常使用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switch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的时候，不要忘记写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break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，否则会出现穿透现象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97621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3E6B-602E-AD50-CEFB-E404357D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3">
            <a:extLst>
              <a:ext uri="{FF2B5EF4-FFF2-40B4-BE49-F238E27FC236}">
                <a16:creationId xmlns:a16="http://schemas.microsoft.com/office/drawing/2014/main" id="{81685A20-3CB1-13B4-988B-BE68CDA99992}"/>
              </a:ext>
            </a:extLst>
          </p:cNvPr>
          <p:cNvSpPr txBox="1"/>
          <p:nvPr/>
        </p:nvSpPr>
        <p:spPr>
          <a:xfrm>
            <a:off x="3605544" y="1418253"/>
            <a:ext cx="5578081" cy="3386051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switch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表达式的值可以是？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如果省略了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break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，将会出现什么现象？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250000"/>
              </a:lnSpc>
            </a:pP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case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后面的值可以是变量吗？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217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6577-43D2-FFBD-0C05-91985A4C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F559857-2AA7-2594-43E9-0525CA3093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337058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F319-8397-4904-8178-807CEB6C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8A8EC-32B8-0C3A-0DDF-ED2A16240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Debug </a:t>
            </a:r>
            <a:r>
              <a:rPr lang="zh-CN" altLang="en-US" dirty="0"/>
              <a:t>工具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4FFEDEF-7C40-29B5-A30E-1A5A90DF1E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058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70DB-E317-7B89-542A-7248AA12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B88580-5334-9F2F-0D11-ACFD6D55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Debug </a:t>
            </a:r>
            <a:r>
              <a:rPr kumimoji="1" lang="zh-CN" altLang="en-US" dirty="0"/>
              <a:t>工具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6E0EF97-93CC-E3A9-CE6E-37E3E362D252}"/>
              </a:ext>
            </a:extLst>
          </p:cNvPr>
          <p:cNvSpPr txBox="1"/>
          <p:nvPr/>
        </p:nvSpPr>
        <p:spPr>
          <a:xfrm>
            <a:off x="576626" y="1071262"/>
            <a:ext cx="10638367" cy="88447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Debug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：是供程序员使用的程序调试工具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它可以用于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查看程序的执行流程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，也可以用于追踪程序执行过程来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调试程序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DA54A8-2318-DE81-1F64-E4F39D9BD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819" y="4793763"/>
            <a:ext cx="137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34DAE4B6-1685-83BE-0228-690F2ABBD26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53" y="3619013"/>
            <a:ext cx="349250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神烦狗doge跑GIF-表情包原图-表情包模板">
            <a:extLst>
              <a:ext uri="{FF2B5EF4-FFF2-40B4-BE49-F238E27FC236}">
                <a16:creationId xmlns:a16="http://schemas.microsoft.com/office/drawing/2014/main" id="{50724B3C-EF0D-51CE-B01B-21B14A716B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47274" y="3253041"/>
            <a:ext cx="1703916" cy="1703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DD855025-4375-60AB-C019-BEC63964A134}"/>
              </a:ext>
            </a:extLst>
          </p:cNvPr>
          <p:cNvSpPr txBox="1"/>
          <p:nvPr/>
        </p:nvSpPr>
        <p:spPr>
          <a:xfrm>
            <a:off x="576625" y="2165286"/>
            <a:ext cx="10638367" cy="4676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Debug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调试，又被称为断点调试，断点其实是一个标记，告诉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Debug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从标记的地方开始查看</a:t>
            </a:r>
          </a:p>
        </p:txBody>
      </p:sp>
    </p:spTree>
    <p:extLst>
      <p:ext uri="{BB962C8B-B14F-4D97-AF65-F5344CB8AC3E}">
        <p14:creationId xmlns:p14="http://schemas.microsoft.com/office/powerpoint/2010/main" val="113309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7284E-6 L 0.89097 0.0009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49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0.14961 -0.00185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61 -0.00185 L 0.31497 -0.00185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497 -0.00185 L 0.5276 -0.0018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F02E-0655-5420-B5A8-A36AA26F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A9315EB-E70F-3CA3-C594-85F88B57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Debug </a:t>
            </a:r>
            <a:r>
              <a:rPr kumimoji="1" lang="zh-CN" altLang="en-US" dirty="0"/>
              <a:t>工具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3A291EBF-263C-7855-119A-B4132E60035F}"/>
              </a:ext>
            </a:extLst>
          </p:cNvPr>
          <p:cNvSpPr txBox="1"/>
          <p:nvPr/>
        </p:nvSpPr>
        <p:spPr>
          <a:xfrm>
            <a:off x="576626" y="1007647"/>
            <a:ext cx="10638367" cy="4676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Debug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调试，又被称为断点调试，断点其实是一个标记，告诉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Debug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从标记的地方开始查看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337F229-DA26-3431-CE6C-0733C900E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E2D11D-8299-013A-1233-BAB3CF06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6" y="1582945"/>
            <a:ext cx="5975657" cy="40451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108D79EB-1F89-6D5A-D051-33A377F79790}"/>
              </a:ext>
            </a:extLst>
          </p:cNvPr>
          <p:cNvSpPr/>
          <p:nvPr/>
        </p:nvSpPr>
        <p:spPr>
          <a:xfrm>
            <a:off x="746975" y="2749639"/>
            <a:ext cx="244699" cy="21894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135568-96C2-F5BE-6F9A-0421E27131E3}"/>
              </a:ext>
            </a:extLst>
          </p:cNvPr>
          <p:cNvSpPr/>
          <p:nvPr/>
        </p:nvSpPr>
        <p:spPr>
          <a:xfrm>
            <a:off x="1008845" y="2749638"/>
            <a:ext cx="5543437" cy="2189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C2F3E1A-E3CB-B4BC-27C9-DCF56577A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427" y="1475339"/>
            <a:ext cx="3035456" cy="52580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4515E8F-9520-5685-D9EE-691665EA8DB5}"/>
              </a:ext>
            </a:extLst>
          </p:cNvPr>
          <p:cNvSpPr/>
          <p:nvPr/>
        </p:nvSpPr>
        <p:spPr>
          <a:xfrm>
            <a:off x="7402048" y="4945487"/>
            <a:ext cx="3012835" cy="2447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06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312A009A-E18A-72A4-1300-DB511447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40" y="2099079"/>
            <a:ext cx="8007762" cy="42547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167D9C3F-35B4-B03E-9338-FB91E51D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Debug </a:t>
            </a:r>
            <a:r>
              <a:rPr kumimoji="1" lang="zh-CN" altLang="en-US"/>
              <a:t>工具</a:t>
            </a:r>
            <a:endParaRPr lang="zh-CN" altLang="en-US" dirty="0"/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30FE7928-1CF3-5D93-C27D-D1E5E130F5A9}"/>
              </a:ext>
            </a:extLst>
          </p:cNvPr>
          <p:cNvCxnSpPr/>
          <p:nvPr/>
        </p:nvCxnSpPr>
        <p:spPr>
          <a:xfrm rot="5400000" flipH="1" flipV="1">
            <a:off x="3334823" y="1539992"/>
            <a:ext cx="1120462" cy="798490"/>
          </a:xfrm>
          <a:prstGeom prst="bentConnector3">
            <a:avLst>
              <a:gd name="adj1" fmla="val 10057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FDBFEBE-7AA2-10C7-D197-76E583D88D41}"/>
              </a:ext>
            </a:extLst>
          </p:cNvPr>
          <p:cNvSpPr/>
          <p:nvPr/>
        </p:nvSpPr>
        <p:spPr>
          <a:xfrm>
            <a:off x="3393547" y="2499468"/>
            <a:ext cx="224099" cy="238259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E1C184-2BBA-C4F4-918F-5AC7F9923315}"/>
              </a:ext>
            </a:extLst>
          </p:cNvPr>
          <p:cNvSpPr txBox="1"/>
          <p:nvPr/>
        </p:nvSpPr>
        <p:spPr>
          <a:xfrm>
            <a:off x="4294299" y="1194340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程序向下执行一步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B7889C-FE59-1783-04C9-12E7E3C20508}"/>
              </a:ext>
            </a:extLst>
          </p:cNvPr>
          <p:cNvSpPr/>
          <p:nvPr/>
        </p:nvSpPr>
        <p:spPr>
          <a:xfrm>
            <a:off x="6457950" y="2499468"/>
            <a:ext cx="546100" cy="238259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DD020FD-280D-914B-153F-E9842BD92023}"/>
              </a:ext>
            </a:extLst>
          </p:cNvPr>
          <p:cNvCxnSpPr/>
          <p:nvPr/>
        </p:nvCxnSpPr>
        <p:spPr>
          <a:xfrm>
            <a:off x="7004050" y="2618597"/>
            <a:ext cx="99695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642C87C-299A-0D4A-8C94-C69FA9C0DBBC}"/>
              </a:ext>
            </a:extLst>
          </p:cNvPr>
          <p:cNvSpPr txBox="1"/>
          <p:nvPr/>
        </p:nvSpPr>
        <p:spPr>
          <a:xfrm>
            <a:off x="8035851" y="243393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控制台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AF67A1-9795-60F5-BA74-729332F842B9}"/>
              </a:ext>
            </a:extLst>
          </p:cNvPr>
          <p:cNvSpPr txBox="1"/>
          <p:nvPr/>
        </p:nvSpPr>
        <p:spPr>
          <a:xfrm>
            <a:off x="488126" y="3128901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正在执行的方法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EEAB9C7D-196C-E001-9D70-E4A0FA9BE6A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66423" y="2941223"/>
            <a:ext cx="1521013" cy="111402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35E5ADC7-60F6-DB2D-7638-B6FA2D8E34FF}"/>
              </a:ext>
            </a:extLst>
          </p:cNvPr>
          <p:cNvSpPr/>
          <p:nvPr/>
        </p:nvSpPr>
        <p:spPr>
          <a:xfrm>
            <a:off x="3657870" y="2499468"/>
            <a:ext cx="224099" cy="238259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9101041-5E95-0A84-F807-37C9E86B1CF2}"/>
              </a:ext>
            </a:extLst>
          </p:cNvPr>
          <p:cNvSpPr txBox="1"/>
          <p:nvPr/>
        </p:nvSpPr>
        <p:spPr>
          <a:xfrm>
            <a:off x="4510704" y="424196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进入方法查看详情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C76EF8-7E7D-DA1F-4643-DF8DE8648622}"/>
              </a:ext>
            </a:extLst>
          </p:cNvPr>
          <p:cNvSpPr/>
          <p:nvPr/>
        </p:nvSpPr>
        <p:spPr>
          <a:xfrm>
            <a:off x="2362200" y="3068856"/>
            <a:ext cx="1295670" cy="558968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295D8D2-C526-2B39-2B2D-B820D928C923}"/>
              </a:ext>
            </a:extLst>
          </p:cNvPr>
          <p:cNvSpPr/>
          <p:nvPr/>
        </p:nvSpPr>
        <p:spPr>
          <a:xfrm>
            <a:off x="5497863" y="3138116"/>
            <a:ext cx="1295670" cy="489708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FB16AFC-39EA-2B01-490A-3D48C7465BE6}"/>
              </a:ext>
            </a:extLst>
          </p:cNvPr>
          <p:cNvSpPr txBox="1"/>
          <p:nvPr/>
        </p:nvSpPr>
        <p:spPr>
          <a:xfrm>
            <a:off x="6942875" y="3205856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变量的变化过程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D13AC4-E573-B6E4-1FE1-AAA5A75D1BFA}"/>
              </a:ext>
            </a:extLst>
          </p:cNvPr>
          <p:cNvSpPr/>
          <p:nvPr/>
        </p:nvSpPr>
        <p:spPr>
          <a:xfrm>
            <a:off x="3922192" y="2499468"/>
            <a:ext cx="224099" cy="238259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E00B87D0-696F-32CC-10E7-A73DA1B14F13}"/>
              </a:ext>
            </a:extLst>
          </p:cNvPr>
          <p:cNvCxnSpPr>
            <a:cxnSpLocks/>
          </p:cNvCxnSpPr>
          <p:nvPr/>
        </p:nvCxnSpPr>
        <p:spPr>
          <a:xfrm flipV="1">
            <a:off x="4032396" y="1856345"/>
            <a:ext cx="798490" cy="643123"/>
          </a:xfrm>
          <a:prstGeom prst="bentConnector3">
            <a:avLst>
              <a:gd name="adj1" fmla="val -6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F2C90D5-3932-D9C2-619B-4879A890CAD1}"/>
              </a:ext>
            </a:extLst>
          </p:cNvPr>
          <p:cNvSpPr txBox="1"/>
          <p:nvPr/>
        </p:nvSpPr>
        <p:spPr>
          <a:xfrm>
            <a:off x="4819859" y="1686077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跳出当前方法</a:t>
            </a:r>
          </a:p>
        </p:txBody>
      </p:sp>
    </p:spTree>
    <p:extLst>
      <p:ext uri="{BB962C8B-B14F-4D97-AF65-F5344CB8AC3E}">
        <p14:creationId xmlns:p14="http://schemas.microsoft.com/office/powerpoint/2010/main" val="37552474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 animBg="1"/>
      <p:bldP spid="18" grpId="0"/>
      <p:bldP spid="20" grpId="0"/>
      <p:bldP spid="28" grpId="0" animBg="1"/>
      <p:bldP spid="29" grpId="0"/>
      <p:bldP spid="30" grpId="0" animBg="1"/>
      <p:bldP spid="31" grpId="0" animBg="1"/>
      <p:bldP spid="32" grpId="0"/>
      <p:bldP spid="2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E47F-9ACD-A537-32B3-27B47DAB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560AA7C-8C2A-D43A-8496-A21300F0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Debug </a:t>
            </a:r>
            <a:r>
              <a:rPr kumimoji="1" lang="zh-CN" altLang="en-US"/>
              <a:t>工具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F3112E-AB24-457B-2344-587439F0D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9" y="1317503"/>
            <a:ext cx="10192274" cy="47563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形 4" descr="指向右边的反手食指 纯色填充">
            <a:extLst>
              <a:ext uri="{FF2B5EF4-FFF2-40B4-BE49-F238E27FC236}">
                <a16:creationId xmlns:a16="http://schemas.microsoft.com/office/drawing/2014/main" id="{BC378ADD-96CC-E83A-76A7-7783EBFA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26" y="2457450"/>
            <a:ext cx="914400" cy="914400"/>
          </a:xfrm>
          <a:prstGeom prst="rect">
            <a:avLst/>
          </a:prstGeom>
        </p:spPr>
      </p:pic>
      <p:pic>
        <p:nvPicPr>
          <p:cNvPr id="7" name="图形 6" descr="指向右边的反手食指 纯色填充">
            <a:extLst>
              <a:ext uri="{FF2B5EF4-FFF2-40B4-BE49-F238E27FC236}">
                <a16:creationId xmlns:a16="http://schemas.microsoft.com/office/drawing/2014/main" id="{DB93CAEC-10C2-AA7B-87BE-CAAE38F02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882426" y="1651000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43D1F9-85C0-B195-6334-300531E6C060}"/>
              </a:ext>
            </a:extLst>
          </p:cNvPr>
          <p:cNvSpPr txBox="1"/>
          <p:nvPr/>
        </p:nvSpPr>
        <p:spPr>
          <a:xfrm>
            <a:off x="30987" y="3301485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再点一次取消断点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2C5FF-D285-83B8-A533-237FBD31E061}"/>
              </a:ext>
            </a:extLst>
          </p:cNvPr>
          <p:cNvSpPr txBox="1"/>
          <p:nvPr/>
        </p:nvSpPr>
        <p:spPr>
          <a:xfrm>
            <a:off x="8447394" y="2635250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结束</a:t>
            </a:r>
            <a:r>
              <a:rPr lang="en-US" altLang="zh-CN" b="1" dirty="0" err="1"/>
              <a:t>DeBug</a:t>
            </a:r>
            <a:r>
              <a:rPr lang="zh-CN" altLang="en-US" b="1" dirty="0"/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17888312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C9D48-61E8-C9DA-7DCC-240DBE61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5353835-C588-F099-86CC-4F759D69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Debug </a:t>
            </a:r>
            <a:r>
              <a:rPr kumimoji="1" lang="zh-CN" altLang="en-US"/>
              <a:t>工具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A69542-AFE7-A7C9-D5FB-33CAABE36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9" y="1094122"/>
            <a:ext cx="8572941" cy="3276768"/>
          </a:xfrm>
          <a:prstGeom prst="rect">
            <a:avLst/>
          </a:prstGeom>
          <a:ln w="38100">
            <a:solidFill>
              <a:schemeClr val="tx1">
                <a:lumMod val="50000"/>
              </a:schemeClr>
            </a:solidFill>
            <a:prstDash val="dashDot"/>
          </a:ln>
        </p:spPr>
      </p:pic>
      <p:pic>
        <p:nvPicPr>
          <p:cNvPr id="2" name="图形 1" descr="指向右边的反手食指 纯色填充">
            <a:extLst>
              <a:ext uri="{FF2B5EF4-FFF2-40B4-BE49-F238E27FC236}">
                <a16:creationId xmlns:a16="http://schemas.microsoft.com/office/drawing/2014/main" id="{BF963249-26B4-8601-D1E0-0E6F6A5AE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517399" y="1684037"/>
            <a:ext cx="914400" cy="914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C6FF4A-FF9E-0767-9A97-504FDD5C0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412" y="1590068"/>
            <a:ext cx="7594234" cy="5134207"/>
          </a:xfrm>
          <a:prstGeom prst="rect">
            <a:avLst/>
          </a:prstGeom>
          <a:ln w="38100">
            <a:solidFill>
              <a:schemeClr val="tx1">
                <a:lumMod val="50000"/>
              </a:schemeClr>
            </a:solidFill>
            <a:prstDash val="dashDot"/>
          </a:ln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D4ED62-6E2A-C0E3-663B-B0C8C579E16E}"/>
              </a:ext>
            </a:extLst>
          </p:cNvPr>
          <p:cNvSpPr/>
          <p:nvPr/>
        </p:nvSpPr>
        <p:spPr>
          <a:xfrm>
            <a:off x="3874576" y="2224007"/>
            <a:ext cx="2138766" cy="216976"/>
          </a:xfrm>
          <a:prstGeom prst="round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形 14" descr="指向右边的反手食指 纯色填充">
            <a:extLst>
              <a:ext uri="{FF2B5EF4-FFF2-40B4-BE49-F238E27FC236}">
                <a16:creationId xmlns:a16="http://schemas.microsoft.com/office/drawing/2014/main" id="{7BC8AA60-DE42-0C90-7875-BF681BA32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629287" y="1061634"/>
            <a:ext cx="914400" cy="9144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B5B4EE0-2EFB-0CF8-B255-FCC4659604CB}"/>
              </a:ext>
            </a:extLst>
          </p:cNvPr>
          <p:cNvSpPr/>
          <p:nvPr/>
        </p:nvSpPr>
        <p:spPr>
          <a:xfrm>
            <a:off x="4030680" y="1962626"/>
            <a:ext cx="224099" cy="238259"/>
          </a:xfrm>
          <a:prstGeom prst="rect">
            <a:avLst/>
          </a:prstGeom>
          <a:noFill/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 descr="指向右边的反手食指 纯色填充">
            <a:extLst>
              <a:ext uri="{FF2B5EF4-FFF2-40B4-BE49-F238E27FC236}">
                <a16:creationId xmlns:a16="http://schemas.microsoft.com/office/drawing/2014/main" id="{DCC3385B-E84C-30AA-203F-689631A2F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6440" y="60655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448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64FF-DC71-5CCB-1880-5D465615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907FE1E-EBA9-9539-AE0B-F18C311B3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1964133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998F-547B-FC6F-1329-127B7FC9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DCEFD9-7395-4C9D-1E5F-C8C4DCA4D5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循环结构 </a:t>
            </a:r>
            <a:r>
              <a:rPr lang="en-US" altLang="zh-CN" dirty="0"/>
              <a:t>for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66E1720-CAC5-9602-BB12-C1892BB401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9590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A24E-DA4A-D100-21DC-857BB6A2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AC5B77-9709-9FE0-AACD-DA068670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A6DFD5-40AC-18FB-55CB-C37C02E71B3B}"/>
              </a:ext>
            </a:extLst>
          </p:cNvPr>
          <p:cNvSpPr txBox="1"/>
          <p:nvPr/>
        </p:nvSpPr>
        <p:spPr>
          <a:xfrm>
            <a:off x="576626" y="1035212"/>
            <a:ext cx="384245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413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可以让一段代码重复执行很多次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1EEE071D-F871-9CA0-FC66-5030B0A4C047}"/>
              </a:ext>
            </a:extLst>
          </p:cNvPr>
          <p:cNvGrpSpPr/>
          <p:nvPr/>
        </p:nvGrpSpPr>
        <p:grpSpPr>
          <a:xfrm>
            <a:off x="623633" y="1829576"/>
            <a:ext cx="5915511" cy="3244700"/>
            <a:chOff x="2297720" y="3660322"/>
            <a:chExt cx="6517796" cy="258647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7538233-3C86-D32B-8A3A-7DAEF28E9A66}"/>
                </a:ext>
              </a:extLst>
            </p:cNvPr>
            <p:cNvSpPr/>
            <p:nvPr/>
          </p:nvSpPr>
          <p:spPr>
            <a:xfrm>
              <a:off x="2297727" y="3660324"/>
              <a:ext cx="6517789" cy="2586469"/>
            </a:xfrm>
            <a:prstGeom prst="roundRect">
              <a:avLst>
                <a:gd name="adj" fmla="val 315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static void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login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() 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Scanner sc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Scanner(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in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请输入您的密码：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int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password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sc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.nextInt();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if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password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123456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 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登录成功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}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else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登录失败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}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73B9C412-BF1F-5FFB-9CC5-CD958595E184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CCBA5E4-3977-E24A-A6BF-BA65AD33575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BF60A1B-4458-14BA-2CE1-1412DAD2A4B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5DB4B59-2E38-EA04-6C80-91C0FCBAA56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81FEC5C-58B0-3AE0-6D37-BB5A9F50B917}"/>
              </a:ext>
            </a:extLst>
          </p:cNvPr>
          <p:cNvSpPr/>
          <p:nvPr/>
        </p:nvSpPr>
        <p:spPr>
          <a:xfrm>
            <a:off x="7144391" y="2168526"/>
            <a:ext cx="40062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3</a:t>
            </a:r>
            <a:r>
              <a:rPr lang="zh-CN" alt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次登录机会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A1D282C5-BB0F-6F79-50F4-5A777DEA2C53}"/>
              </a:ext>
            </a:extLst>
          </p:cNvPr>
          <p:cNvSpPr txBox="1"/>
          <p:nvPr/>
        </p:nvSpPr>
        <p:spPr>
          <a:xfrm>
            <a:off x="6764786" y="3561040"/>
            <a:ext cx="5006505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初始化语句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条件判断语句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条件控制语句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循环体语句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3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69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循环介绍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ADB66DA-7777-4FDD-B1E1-84B241989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4" y="2468033"/>
            <a:ext cx="7440084" cy="387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5">
            <a:extLst>
              <a:ext uri="{FF2B5EF4-FFF2-40B4-BE49-F238E27FC236}">
                <a16:creationId xmlns:a16="http://schemas.microsoft.com/office/drawing/2014/main" id="{33E45300-7C94-4B5E-A553-BB49F977BA8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834" y="1176867"/>
            <a:ext cx="1902884" cy="19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160C2D6-0864-44D0-B228-EEEF5CC0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268" y="1731434"/>
            <a:ext cx="1096433" cy="139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思想气泡: 云 17">
            <a:extLst>
              <a:ext uri="{FF2B5EF4-FFF2-40B4-BE49-F238E27FC236}">
                <a16:creationId xmlns:a16="http://schemas.microsoft.com/office/drawing/2014/main" id="{2DD14511-6C1F-4320-896E-B5E370A20D93}"/>
              </a:ext>
            </a:extLst>
          </p:cNvPr>
          <p:cNvSpPr/>
          <p:nvPr/>
        </p:nvSpPr>
        <p:spPr>
          <a:xfrm>
            <a:off x="4114800" y="1096434"/>
            <a:ext cx="3718984" cy="1030817"/>
          </a:xfrm>
          <a:prstGeom prst="cloudCallout">
            <a:avLst>
              <a:gd name="adj1" fmla="val -58523"/>
              <a:gd name="adj2" fmla="val 2403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0A840DB-B2AA-4CAC-B213-5471466C6824}"/>
              </a:ext>
            </a:extLst>
          </p:cNvPr>
          <p:cNvSpPr txBox="1"/>
          <p:nvPr/>
        </p:nvSpPr>
        <p:spPr>
          <a:xfrm>
            <a:off x="5135034" y="1422401"/>
            <a:ext cx="1279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这是第一圈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413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52 0.00185 L 0.26006 0.07809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1481E-6 L 1.38889E-6 0.0003 C 0.00243 -0.00031 0.00486 -0.00062 0.00729 -0.00124 C 0.01805 -0.00433 0.00972 -0.00247 0.01545 -0.00525 C 0.01667 -0.00556 0.01788 -0.00587 0.0191 -0.00649 C 0.01996 -0.00679 0.02101 -0.00741 0.02205 -0.00772 C 0.02326 -0.00834 0.02448 -0.00865 0.02569 -0.00896 C 0.02656 -0.00957 0.02743 -0.00988 0.02864 -0.0105 C 0.02917 -0.01081 0.03003 -0.01142 0.03073 -0.01173 C 0.03281 -0.01235 0.03472 -0.01266 0.03663 -0.01297 C 0.04722 -0.01544 0.03611 -0.01328 0.04826 -0.01544 L 0.08385 -0.0142 C 0.08733 -0.0142 0.09062 -0.01328 0.0941 -0.01297 L 0.12864 -0.0105 C 0.1375 -0.00772 0.12969 -0.00988 0.1441 -0.00772 C 0.14653 -0.00741 0.14896 -0.00679 0.15139 -0.00649 L 0.17569 -0.00371 C 0.18871 -0.00217 0.18264 -0.00309 0.1941 -0.00124 C 0.20989 0.00586 0.18316 -0.00649 0.19983 0.00277 C 0.20208 0.00401 0.20451 0.00432 0.20642 0.00524 C 0.20816 0.00617 0.20989 0.0074 0.21163 0.00802 C 0.21354 0.00864 0.2151 0.00895 0.21684 0.00925 C 0.22309 0.01018 0.22917 0.01141 0.23524 0.01172 L 0.25156 0.01327 C 0.25937 0.01666 0.25156 0.01358 0.26823 0.01574 C 0.27031 0.01604 0.27239 0.01666 0.2743 0.01697 C 0.28177 0.0216 0.26667 0.01296 0.2875 0.01975 C 0.28923 0.02037 0.2908 0.02283 0.29271 0.02376 C 0.29479 0.02469 0.29705 0.02438 0.2993 0.025 C 0.30017 0.0253 0.30121 0.02592 0.30226 0.02623 C 0.30364 0.02685 0.3066 0.02746 0.30816 0.02901 C 0.30885 0.02962 0.30937 0.03086 0.31024 0.03148 C 0.31198 0.03271 0.31371 0.03302 0.31545 0.03395 C 0.31753 0.03549 0.3191 0.03796 0.32135 0.03919 C 0.32569 0.04259 0.32378 0.04104 0.32726 0.04321 C 0.33663 0.05617 0.32483 0.04012 0.33229 0.04969 C 0.33333 0.05092 0.3342 0.05246 0.33524 0.0537 C 0.33611 0.05462 0.33733 0.05524 0.33819 0.05648 C 0.33923 0.0574 0.3401 0.05895 0.34097 0.06018 C 0.34184 0.06111 0.34271 0.06203 0.3434 0.06296 C 0.34392 0.06419 0.34427 0.06574 0.34479 0.06666 C 0.34531 0.0679 0.34653 0.06821 0.34705 0.06944 C 0.34757 0.07098 0.34809 0.07283 0.34844 0.07469 C 0.34896 0.07592 0.3493 0.07746 0.35 0.0787 C 0.35538 0.0895 0.35104 0.0787 0.35451 0.08765 C 0.3559 0.0966 0.35364 0.08611 0.35816 0.09691 C 0.35851 0.09783 0.35851 0.09969 0.35885 0.10092 C 0.3592 0.10216 0.35989 0.10339 0.36024 0.10462 C 0.36059 0.10648 0.36111 0.1145 0.3618 0.11635 C 0.36285 0.12129 0.36371 0.12283 0.36545 0.12685 C 0.36597 0.13148 0.36632 0.13425 0.36684 0.13858 C 0.36719 0.14012 0.36736 0.14135 0.36771 0.14259 C 0.37101 0.15617 0.36892 0.14567 0.37066 0.15432 C 0.37083 0.15925 0.37101 0.16388 0.37118 0.16882 C 0.3717 0.175 0.37205 0.175 0.37257 0.18055 C 0.37326 0.18487 0.3743 0.19907 0.375 0.20154 L 0.37656 0.20679 C 0.37673 0.20833 0.37691 0.21018 0.37726 0.21203 C 0.3776 0.21481 0.37743 0.21821 0.37778 0.22098 C 0.3783 0.22283 0.37899 0.22469 0.37951 0.22623 L 0.3809 0.2395 C 0.3809 0.24166 0.38125 0.24382 0.3816 0.24598 L 0.38246 0.2537 C 0.38212 0.27253 0.38229 0.29135 0.3816 0.30987 C 0.38125 0.31419 0.38038 0.31851 0.38003 0.32314 C 0.37986 0.32561 0.37951 0.32839 0.37951 0.33086 C 0.37917 0.3358 0.37899 0.34043 0.37864 0.34537 C 0.37847 0.34907 0.37812 0.35308 0.37778 0.35709 C 0.37743 0.36851 0.3776 0.37314 0.37656 0.38333 C 0.37639 0.38487 0.37604 0.38672 0.37569 0.38858 C 0.37552 0.38981 0.37465 0.39845 0.3743 0.4003 C 0.37257 0.40709 0.37118 0.41172 0.3691 0.41728 C 0.3684 0.41882 0.36753 0.42067 0.36684 0.42253 C 0.36476 0.42932 0.36632 0.42932 0.36319 0.43549 C 0.3625 0.43672 0.36163 0.43703 0.36111 0.43827 C 0.35417 0.4503 0.36007 0.44259 0.35503 0.44845 C 0.35451 0.4503 0.35364 0.45246 0.35278 0.4537 C 0.35191 0.45555 0.35052 0.45648 0.3493 0.45771 C 0.34844 0.45864 0.34757 0.45925 0.34705 0.46049 C 0.34583 0.46203 0.34496 0.46388 0.3441 0.46543 C 0.3434 0.46666 0.34253 0.46728 0.34184 0.46821 C 0.33611 0.47654 0.34305 0.46821 0.3375 0.47469 C 0.33698 0.47654 0.33663 0.4787 0.33611 0.47993 C 0.33524 0.48086 0.33437 0.48055 0.33385 0.48117 C 0.33246 0.48271 0.33125 0.48456 0.33003 0.48641 C 0.32951 0.48765 0.32917 0.4895 0.32864 0.49043 C 0.32639 0.49413 0.32378 0.49753 0.32135 0.50092 L 0.32135 0.50123 C 0.3191 0.50339 0.31667 0.50524 0.31476 0.50864 C 0.31406 0.51018 0.31337 0.51172 0.3125 0.51265 C 0.31163 0.51388 0.31059 0.51419 0.30937 0.51512 C 0.30885 0.51604 0.30816 0.51728 0.30729 0.5179 C 0.3066 0.51851 0.3059 0.51851 0.30503 0.51913 C 0.30417 0.51975 0.30382 0.52129 0.30295 0.52191 C 0.30208 0.52253 0.30104 0.52253 0.3 0.52314 C 0.29496 0.52561 0.30017 0.52438 0.29097 0.52716 C 0.28906 0.52777 0.28663 0.52777 0.28455 0.52839 C 0.28177 0.52901 0.27726 0.53117 0.275 0.5324 C 0.27396 0.53271 0.27309 0.53302 0.27205 0.53364 C 0.27135 0.53395 0.27066 0.53456 0.26979 0.53487 C 0.2625 0.53672 0.2467 0.53703 0.24184 0.53765 C 0.22205 0.53703 0.20226 0.53765 0.18229 0.53611 C 0.16285 0.53487 0.16805 0.53209 0.15295 0.52962 C 0.11667 0.52376 0.17309 0.53333 0.1368 0.52561 C 0.11892 0.52191 0.125 0.52438 0.11319 0.52191 C 0.10139 0.51913 0.1059 0.51975 0.09635 0.5179 C 0.0934 0.51728 0.09097 0.51666 0.08819 0.51666 C 0.06719 0.51481 0.03559 0.5145 0.01771 0.51388 L -0.02274 0.51265 C -0.03577 0.51172 -0.04896 0.51388 -0.06181 0.51018 C -0.07622 0.50586 -0.05486 0.51234 -0.07136 0.50617 C -0.07309 0.50555 -0.075 0.50524 -0.07656 0.50493 C -0.07882 0.50432 -0.0809 0.50401 -0.08316 0.50339 L -0.08924 0.50216 C -0.08976 0.50185 -0.09045 0.50123 -0.09132 0.50092 C -0.09705 0.49845 -0.09392 0.50061 -0.09931 0.49814 C -0.10573 0.49537 -0.09549 0.49845 -0.1059 0.49567 C -0.11042 0.49444 -0.11233 0.49444 -0.11702 0.49166 C -0.11771 0.49135 -0.1184 0.49074 -0.1191 0.49043 C -0.12118 0.4895 -0.12309 0.48919 -0.125 0.48796 C -0.12622 0.48703 -0.12743 0.48611 -0.12865 0.48518 C -0.12969 0.48425 -0.13056 0.48333 -0.1316 0.48271 C -0.13264 0.48209 -0.13368 0.48179 -0.13455 0.48117 C -0.14149 0.47654 -0.13316 0.48024 -0.14115 0.47746 C -0.14236 0.47654 -0.14358 0.47561 -0.14497 0.47469 C -0.14566 0.47438 -0.14636 0.47407 -0.14705 0.47345 C -0.14792 0.47283 -0.14861 0.4716 -0.14931 0.47067 C -0.15017 0.46975 -0.15139 0.46944 -0.15226 0.46821 C -0.15938 0.45802 -0.15382 0.46203 -0.15886 0.45895 C -0.15938 0.45771 -0.15972 0.45648 -0.16042 0.45524 C -0.16094 0.4537 -0.16198 0.45277 -0.1625 0.45123 C -0.1632 0.44969 -0.16337 0.44753 -0.16406 0.44598 C -0.16441 0.44506 -0.16511 0.44444 -0.16545 0.44321 C -0.16632 0.44135 -0.16684 0.43888 -0.16771 0.43672 C -0.1717 0.42623 -0.16806 0.43765 -0.17292 0.42376 C -0.17344 0.42222 -0.17379 0.42006 -0.17431 0.41851 C -0.17483 0.41728 -0.17535 0.41604 -0.1757 0.4145 C -0.17639 0.41234 -0.17691 0.41018 -0.17726 0.40802 C -0.17899 0.39845 -0.17656 0.40709 -0.17952 0.39506 C -0.18073 0.3895 -0.18212 0.38549 -0.18386 0.38055 C -0.18403 0.37839 -0.18438 0.37623 -0.18455 0.37407 C -0.18472 0.37283 -0.18507 0.3716 -0.18542 0.37006 C -0.18559 0.3679 -0.18577 0.36574 -0.18611 0.36358 C -0.18629 0.36234 -0.18663 0.36111 -0.18681 0.35956 C -0.18733 0.35617 -0.18802 0.34876 -0.1882 0.34537 C -0.18733 0.27685 -0.18889 0.31172 -0.18681 0.28117 C -0.18594 0.26728 -0.18715 0.27314 -0.18455 0.26419 C -0.18403 0.26018 -0.18351 0.25648 -0.18316 0.25246 C -0.18125 0.23487 -0.18333 0.25061 -0.1816 0.23672 C -0.18142 0.23487 -0.18125 0.23333 -0.1809 0.23148 C -0.18073 0.23024 -0.18038 0.22901 -0.18021 0.22746 C -0.17986 0.2253 -0.17969 0.22314 -0.17952 0.22098 C -0.17934 0.21975 -0.17899 0.21851 -0.17865 0.21728 C -0.17847 0.21543 -0.17813 0.21358 -0.17795 0.21203 C -0.17778 0.20987 -0.17761 0.2074 -0.17726 0.20524 C -0.17639 0.2 -0.17552 0.19598 -0.17431 0.19104 C -0.17327 0.17037 -0.17483 0.18302 -0.17136 0.16759 C -0.17083 0.16481 -0.17031 0.16234 -0.16997 0.15956 C -0.16962 0.15802 -0.16962 0.15617 -0.1691 0.15432 C -0.16875 0.15308 -0.16823 0.15185 -0.16771 0.15061 C -0.16632 0.13641 -0.16771 0.14783 -0.16615 0.13858 C -0.16597 0.13703 -0.1658 0.13518 -0.16545 0.13333 C -0.16511 0.13179 -0.16458 0.12993 -0.16406 0.12839 C -0.16267 0.11851 -0.16406 0.12746 -0.16181 0.1179 C -0.16146 0.11666 -0.16146 0.11512 -0.16111 0.11388 C -0.15972 0.10956 -0.15851 0.10864 -0.15747 0.10462 C -0.15677 0.10246 -0.1566 0.1003 -0.1559 0.09814 C -0.15504 0.09537 -0.15365 0.09228 -0.15226 0.09043 C -0.15156 0.08919 -0.1507 0.08858 -0.15 0.08765 C -0.14948 0.08641 -0.14931 0.08487 -0.14861 0.08364 C -0.14722 0.08179 -0.14549 0.08055 -0.1441 0.0787 L -0.1375 0.06944 C -0.13663 0.06821 -0.13577 0.06604 -0.13455 0.06543 L -0.13021 0.06296 C -0.12899 0.06111 -0.12778 0.05925 -0.12656 0.05771 C -0.12205 0.05216 -0.12517 0.05771 -0.12136 0.05246 C -0.1191 0.04907 -0.12031 0.04876 -0.11702 0.04598 C -0.11597 0.04506 -0.11493 0.04506 -0.11406 0.04444 C -0.1125 0.04382 -0.11094 0.04321 -0.10955 0.04197 C -0.1066 0.0395 -0.10399 0.03549 -0.1007 0.03395 C -0.09879 0.03333 -0.09688 0.03271 -0.09497 0.03148 L -0.09045 0.02901 C -0.08976 0.02839 -0.08924 0.02808 -0.08837 0.02746 C -0.08663 0.02654 -0.08507 0.02592 -0.08316 0.025 C -0.0816 0.02407 -0.08021 0.02314 -0.07882 0.02222 C -0.07743 0.0216 -0.07622 0.02129 -0.075 0.02098 C -0.0717 0.02006 -0.07083 0.02006 -0.06771 0.01851 C -0.05191 0.00987 -0.07292 0.02037 -0.05955 0.0145 C -0.05886 0.01419 -0.05816 0.01358 -0.05747 0.01327 C -0.05556 0.01234 -0.05104 0.01111 -0.04931 0.01049 C -0.04757 0.01018 -0.04583 0.00987 -0.0441 0.00925 C -0.04323 0.00895 -0.04219 0.00833 -0.04115 0.00802 C -0.03924 0.0074 -0.03733 0.00709 -0.03524 0.00679 C -0.03438 0.00648 -0.03333 0.00524 -0.03247 0.00524 C -0.02327 0.00493 -0.01424 0.00524 -0.00521 0.00524 " pathEditMode="relative" rAng="0" ptsTypes="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33" dur="2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5" y="2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/>
      <p:bldP spid="19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循环介绍</a:t>
            </a:r>
            <a:endParaRPr kumimoji="1" lang="zh-CN" altLang="en-US" dirty="0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5809CF02-E4C0-46AD-803B-B4F9748BD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4" y="2468033"/>
            <a:ext cx="7440084" cy="387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5">
            <a:extLst>
              <a:ext uri="{FF2B5EF4-FFF2-40B4-BE49-F238E27FC236}">
                <a16:creationId xmlns:a16="http://schemas.microsoft.com/office/drawing/2014/main" id="{B08C9668-DDEB-43F0-B3D4-1F3CA24417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834" y="1176867"/>
            <a:ext cx="1902884" cy="19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A834D92B-72DA-43B3-926F-5DCFB576DD0F}"/>
              </a:ext>
            </a:extLst>
          </p:cNvPr>
          <p:cNvSpPr/>
          <p:nvPr/>
        </p:nvSpPr>
        <p:spPr>
          <a:xfrm>
            <a:off x="4114800" y="1096434"/>
            <a:ext cx="3718984" cy="1030817"/>
          </a:xfrm>
          <a:prstGeom prst="cloudCallout">
            <a:avLst>
              <a:gd name="adj1" fmla="val -58523"/>
              <a:gd name="adj2" fmla="val 2403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866C09-3E36-4B00-995F-616CEFFF97A4}"/>
              </a:ext>
            </a:extLst>
          </p:cNvPr>
          <p:cNvSpPr txBox="1"/>
          <p:nvPr/>
        </p:nvSpPr>
        <p:spPr>
          <a:xfrm>
            <a:off x="4919134" y="1443568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这是第二圈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还没结束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B7F85A-EC6D-4F23-875F-B1FF79983ED5}"/>
              </a:ext>
            </a:extLst>
          </p:cNvPr>
          <p:cNvSpPr txBox="1"/>
          <p:nvPr/>
        </p:nvSpPr>
        <p:spPr>
          <a:xfrm>
            <a:off x="8307918" y="1957918"/>
            <a:ext cx="1279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这是第一圈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725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85 0.00493 L 0.30191 0.16234 " pathEditMode="relative" rAng="0" ptsTypes="AA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4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1481E-6 L 1.38889E-6 0.0003 C 0.00243 -0.00031 0.00486 -0.00062 0.00729 -0.00124 C 0.01805 -0.00433 0.00972 -0.00247 0.01545 -0.00525 C 0.01667 -0.00556 0.01788 -0.00587 0.0191 -0.00649 C 0.01996 -0.00679 0.02101 -0.00741 0.02205 -0.00772 C 0.02326 -0.00834 0.02448 -0.00865 0.02569 -0.00896 C 0.02656 -0.00957 0.02743 -0.00988 0.02864 -0.0105 C 0.02917 -0.01081 0.03003 -0.01142 0.03073 -0.01173 C 0.03281 -0.01235 0.03472 -0.01266 0.03663 -0.01297 C 0.04722 -0.01544 0.03611 -0.01328 0.04826 -0.01544 L 0.08385 -0.0142 C 0.08733 -0.0142 0.09062 -0.01328 0.0941 -0.01297 L 0.12864 -0.0105 C 0.1375 -0.00772 0.12969 -0.00988 0.1441 -0.00772 C 0.14653 -0.00741 0.14896 -0.00679 0.15139 -0.00649 L 0.17569 -0.00371 C 0.18871 -0.00217 0.18264 -0.00309 0.1941 -0.00124 C 0.20989 0.00586 0.18316 -0.00649 0.19983 0.00277 C 0.20208 0.00401 0.20451 0.00432 0.20642 0.00524 C 0.20816 0.00617 0.20989 0.0074 0.21163 0.00802 C 0.21354 0.00864 0.2151 0.00895 0.21684 0.00925 C 0.22309 0.01018 0.22917 0.01141 0.23524 0.01172 L 0.25156 0.01327 C 0.25937 0.01666 0.25156 0.01358 0.26823 0.01574 C 0.27031 0.01604 0.27239 0.01666 0.2743 0.01697 C 0.28177 0.0216 0.26667 0.01296 0.2875 0.01975 C 0.28923 0.02037 0.2908 0.02283 0.29271 0.02376 C 0.29479 0.02469 0.29705 0.02438 0.2993 0.025 C 0.30017 0.0253 0.30121 0.02592 0.30226 0.02623 C 0.30364 0.02685 0.3066 0.02746 0.30816 0.02901 C 0.30885 0.02962 0.30937 0.03086 0.31024 0.03148 C 0.31198 0.03271 0.31371 0.03302 0.31545 0.03395 C 0.31753 0.03549 0.3191 0.03796 0.32135 0.03919 C 0.32569 0.04259 0.32378 0.04104 0.32726 0.04321 C 0.33663 0.05617 0.32483 0.04012 0.33229 0.04969 C 0.33333 0.05092 0.3342 0.05246 0.33524 0.0537 C 0.33611 0.05462 0.33733 0.05524 0.33819 0.05648 C 0.33923 0.0574 0.3401 0.05895 0.34097 0.06018 C 0.34184 0.06111 0.34271 0.06203 0.3434 0.06296 C 0.34392 0.06419 0.34427 0.06574 0.34479 0.06666 C 0.34531 0.0679 0.34653 0.06821 0.34705 0.06944 C 0.34757 0.07098 0.34809 0.07283 0.34844 0.07469 C 0.34896 0.07592 0.3493 0.07746 0.35 0.0787 C 0.35538 0.0895 0.35104 0.0787 0.35451 0.08765 C 0.3559 0.0966 0.35364 0.08611 0.35816 0.09691 C 0.35851 0.09783 0.35851 0.09969 0.35885 0.10092 C 0.3592 0.10216 0.35989 0.10339 0.36024 0.10462 C 0.36059 0.10648 0.36111 0.1145 0.3618 0.11635 C 0.36285 0.12129 0.36371 0.12283 0.36545 0.12685 C 0.36597 0.13148 0.36632 0.13425 0.36684 0.13858 C 0.36719 0.14012 0.36736 0.14135 0.36771 0.14259 C 0.37101 0.15617 0.36892 0.14567 0.37066 0.15432 C 0.37083 0.15925 0.37101 0.16388 0.37118 0.16882 C 0.3717 0.175 0.37205 0.175 0.37257 0.18055 C 0.37326 0.18487 0.3743 0.19907 0.375 0.20154 L 0.37656 0.20679 C 0.37673 0.20833 0.37691 0.21018 0.37726 0.21203 C 0.3776 0.21481 0.37743 0.21821 0.37778 0.22098 C 0.3783 0.22283 0.37899 0.22469 0.37951 0.22623 L 0.3809 0.2395 C 0.3809 0.24166 0.38125 0.24382 0.3816 0.24598 L 0.38246 0.2537 C 0.38212 0.27253 0.38229 0.29135 0.3816 0.30987 C 0.38125 0.31419 0.38038 0.31851 0.38003 0.32314 C 0.37986 0.32561 0.37951 0.32839 0.37951 0.33086 C 0.37917 0.3358 0.37899 0.34043 0.37864 0.34537 C 0.37847 0.34907 0.37812 0.35308 0.37778 0.35709 C 0.37743 0.36851 0.3776 0.37314 0.37656 0.38333 C 0.37639 0.38487 0.37604 0.38672 0.37569 0.38858 C 0.37552 0.38981 0.37465 0.39845 0.3743 0.4003 C 0.37257 0.40709 0.37118 0.41172 0.3691 0.41728 C 0.3684 0.41882 0.36753 0.42067 0.36684 0.42253 C 0.36476 0.42932 0.36632 0.42932 0.36319 0.43549 C 0.3625 0.43672 0.36163 0.43703 0.36111 0.43827 C 0.35417 0.4503 0.36007 0.44259 0.35503 0.44845 C 0.35451 0.4503 0.35364 0.45246 0.35278 0.4537 C 0.35191 0.45555 0.35052 0.45648 0.3493 0.45771 C 0.34844 0.45864 0.34757 0.45925 0.34705 0.46049 C 0.34583 0.46203 0.34496 0.46388 0.3441 0.46543 C 0.3434 0.46666 0.34253 0.46728 0.34184 0.46821 C 0.33611 0.47654 0.34305 0.46821 0.3375 0.47469 C 0.33698 0.47654 0.33663 0.4787 0.33611 0.47993 C 0.33524 0.48086 0.33437 0.48055 0.33385 0.48117 C 0.33246 0.48271 0.33125 0.48456 0.33003 0.48641 C 0.32951 0.48765 0.32917 0.4895 0.32864 0.49043 C 0.32639 0.49413 0.32378 0.49753 0.32135 0.50092 L 0.32135 0.50123 C 0.3191 0.50339 0.31667 0.50524 0.31476 0.50864 C 0.31406 0.51018 0.31337 0.51172 0.3125 0.51265 C 0.31163 0.51388 0.31059 0.51419 0.30937 0.51512 C 0.30885 0.51604 0.30816 0.51728 0.30729 0.5179 C 0.3066 0.51851 0.3059 0.51851 0.30503 0.51913 C 0.30417 0.51975 0.30382 0.52129 0.30295 0.52191 C 0.30208 0.52253 0.30104 0.52253 0.3 0.52314 C 0.29496 0.52561 0.30017 0.52438 0.29097 0.52716 C 0.28906 0.52777 0.28663 0.52777 0.28455 0.52839 C 0.28177 0.52901 0.27726 0.53117 0.275 0.5324 C 0.27396 0.53271 0.27309 0.53302 0.27205 0.53364 C 0.27135 0.53395 0.27066 0.53456 0.26979 0.53487 C 0.2625 0.53672 0.2467 0.53703 0.24184 0.53765 C 0.22205 0.53703 0.20226 0.53765 0.18229 0.53611 C 0.16285 0.53487 0.16805 0.53209 0.15295 0.52962 C 0.11667 0.52376 0.17309 0.53333 0.1368 0.52561 C 0.11892 0.52191 0.125 0.52438 0.11319 0.52191 C 0.10139 0.51913 0.1059 0.51975 0.09635 0.5179 C 0.0934 0.51728 0.09097 0.51666 0.08819 0.51666 C 0.06719 0.51481 0.03559 0.5145 0.01771 0.51388 L -0.02274 0.51265 C -0.03577 0.51172 -0.04896 0.51388 -0.06181 0.51018 C -0.07622 0.50586 -0.05486 0.51234 -0.07136 0.50617 C -0.07309 0.50555 -0.075 0.50524 -0.07656 0.50493 C -0.07882 0.50432 -0.0809 0.50401 -0.08316 0.50339 L -0.08924 0.50216 C -0.08976 0.50185 -0.09045 0.50123 -0.09132 0.50092 C -0.09705 0.49845 -0.09392 0.50061 -0.09931 0.49814 C -0.10573 0.49537 -0.09549 0.49845 -0.1059 0.49567 C -0.11042 0.49444 -0.11233 0.49444 -0.11702 0.49166 C -0.11771 0.49135 -0.1184 0.49074 -0.1191 0.49043 C -0.12118 0.4895 -0.12309 0.48919 -0.125 0.48796 C -0.12622 0.48703 -0.12743 0.48611 -0.12865 0.48518 C -0.12969 0.48425 -0.13056 0.48333 -0.1316 0.48271 C -0.13264 0.48209 -0.13368 0.48179 -0.13455 0.48117 C -0.14149 0.47654 -0.13316 0.48024 -0.14115 0.47746 C -0.14236 0.47654 -0.14358 0.47561 -0.14497 0.47469 C -0.14566 0.47438 -0.14636 0.47407 -0.14705 0.47345 C -0.14792 0.47283 -0.14861 0.4716 -0.14931 0.47067 C -0.15017 0.46975 -0.15139 0.46944 -0.15226 0.46821 C -0.15938 0.45802 -0.15382 0.46203 -0.15886 0.45895 C -0.15938 0.45771 -0.15972 0.45648 -0.16042 0.45524 C -0.16094 0.4537 -0.16198 0.45277 -0.1625 0.45123 C -0.1632 0.44969 -0.16337 0.44753 -0.16406 0.44598 C -0.16441 0.44506 -0.16511 0.44444 -0.16545 0.44321 C -0.16632 0.44135 -0.16684 0.43888 -0.16771 0.43672 C -0.1717 0.42623 -0.16806 0.43765 -0.17292 0.42376 C -0.17344 0.42222 -0.17379 0.42006 -0.17431 0.41851 C -0.17483 0.41728 -0.17535 0.41604 -0.1757 0.4145 C -0.17639 0.41234 -0.17691 0.41018 -0.17726 0.40802 C -0.17899 0.39845 -0.17656 0.40709 -0.17952 0.39506 C -0.18073 0.3895 -0.18212 0.38549 -0.18386 0.38055 C -0.18403 0.37839 -0.18438 0.37623 -0.18455 0.37407 C -0.18472 0.37283 -0.18507 0.3716 -0.18542 0.37006 C -0.18559 0.3679 -0.18577 0.36574 -0.18611 0.36358 C -0.18629 0.36234 -0.18663 0.36111 -0.18681 0.35956 C -0.18733 0.35617 -0.18802 0.34876 -0.1882 0.34537 C -0.18733 0.27685 -0.18889 0.31172 -0.18681 0.28117 C -0.18594 0.26728 -0.18715 0.27314 -0.18455 0.26419 C -0.18403 0.26018 -0.18351 0.25648 -0.18316 0.25246 C -0.18125 0.23487 -0.18333 0.25061 -0.1816 0.23672 C -0.18142 0.23487 -0.18125 0.23333 -0.1809 0.23148 C -0.18073 0.23024 -0.18038 0.22901 -0.18021 0.22746 C -0.17986 0.2253 -0.17969 0.22314 -0.17952 0.22098 C -0.17934 0.21975 -0.17899 0.21851 -0.17865 0.21728 C -0.17847 0.21543 -0.17813 0.21358 -0.17795 0.21203 C -0.17778 0.20987 -0.17761 0.2074 -0.17726 0.20524 C -0.17639 0.2 -0.17552 0.19598 -0.17431 0.19104 C -0.17327 0.17037 -0.17483 0.18302 -0.17136 0.16759 C -0.17083 0.16481 -0.17031 0.16234 -0.16997 0.15956 C -0.16962 0.15802 -0.16962 0.15617 -0.1691 0.15432 C -0.16875 0.15308 -0.16823 0.15185 -0.16771 0.15061 C -0.16632 0.13641 -0.16771 0.14783 -0.16615 0.13858 C -0.16597 0.13703 -0.1658 0.13518 -0.16545 0.13333 C -0.16511 0.13179 -0.16458 0.12993 -0.16406 0.12839 C -0.16267 0.11851 -0.16406 0.12746 -0.16181 0.1179 C -0.16146 0.11666 -0.16146 0.11512 -0.16111 0.11388 C -0.15972 0.10956 -0.15851 0.10864 -0.15747 0.10462 C -0.15677 0.10246 -0.1566 0.1003 -0.1559 0.09814 C -0.15504 0.09537 -0.15365 0.09228 -0.15226 0.09043 C -0.15156 0.08919 -0.1507 0.08858 -0.15 0.08765 C -0.14948 0.08641 -0.14931 0.08487 -0.14861 0.08364 C -0.14722 0.08179 -0.14549 0.08055 -0.1441 0.0787 L -0.1375 0.06944 C -0.13663 0.06821 -0.13577 0.06604 -0.13455 0.06543 L -0.13021 0.06296 C -0.12899 0.06111 -0.12778 0.05925 -0.12656 0.05771 C -0.12205 0.05216 -0.12517 0.05771 -0.12136 0.05246 C -0.1191 0.04907 -0.12031 0.04876 -0.11702 0.04598 C -0.11597 0.04506 -0.11493 0.04506 -0.11406 0.04444 C -0.1125 0.04382 -0.11094 0.04321 -0.10955 0.04197 C -0.1066 0.0395 -0.10399 0.03549 -0.1007 0.03395 C -0.09879 0.03333 -0.09688 0.03271 -0.09497 0.03148 L -0.09045 0.02901 C -0.08976 0.02839 -0.08924 0.02808 -0.08837 0.02746 C -0.08663 0.02654 -0.08507 0.02592 -0.08316 0.025 C -0.0816 0.02407 -0.08021 0.02314 -0.07882 0.02222 C -0.07743 0.0216 -0.07622 0.02129 -0.075 0.02098 C -0.0717 0.02006 -0.07083 0.02006 -0.06771 0.01851 C -0.05191 0.00987 -0.07292 0.02037 -0.05955 0.0145 C -0.05886 0.01419 -0.05816 0.01358 -0.05747 0.01327 C -0.05556 0.01234 -0.05104 0.01111 -0.04931 0.01049 C -0.04757 0.01018 -0.04583 0.00987 -0.0441 0.00925 C -0.04323 0.00895 -0.04219 0.00833 -0.04115 0.00802 C -0.03924 0.0074 -0.03733 0.00709 -0.03524 0.00679 C -0.03438 0.00648 -0.03333 0.00524 -0.03247 0.00524 C -0.02327 0.00493 -0.01424 0.00524 -0.00521 0.00524 " pathEditMode="relative" rAng="0" ptsTypes="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0" dur="2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5" y="2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/>
      <p:bldP spid="1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循环介绍</a:t>
            </a:r>
            <a:endParaRPr kumimoji="1" lang="zh-CN" altLang="en-US" dirty="0"/>
          </a:p>
        </p:txBody>
      </p:sp>
      <p:pic>
        <p:nvPicPr>
          <p:cNvPr id="14" name="图片 1">
            <a:extLst>
              <a:ext uri="{FF2B5EF4-FFF2-40B4-BE49-F238E27FC236}">
                <a16:creationId xmlns:a16="http://schemas.microsoft.com/office/drawing/2014/main" id="{0F4BA178-C3B0-46D6-B9AF-B1F67B3A7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4" y="2468033"/>
            <a:ext cx="7440084" cy="387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5">
            <a:extLst>
              <a:ext uri="{FF2B5EF4-FFF2-40B4-BE49-F238E27FC236}">
                <a16:creationId xmlns:a16="http://schemas.microsoft.com/office/drawing/2014/main" id="{D6740260-F5CD-4597-8348-1F0081BA05C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834" y="1176867"/>
            <a:ext cx="1902884" cy="19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思想气泡: 云 15">
            <a:extLst>
              <a:ext uri="{FF2B5EF4-FFF2-40B4-BE49-F238E27FC236}">
                <a16:creationId xmlns:a16="http://schemas.microsoft.com/office/drawing/2014/main" id="{18A74D94-E017-4F3D-8ACA-908C27BFC38E}"/>
              </a:ext>
            </a:extLst>
          </p:cNvPr>
          <p:cNvSpPr/>
          <p:nvPr/>
        </p:nvSpPr>
        <p:spPr>
          <a:xfrm>
            <a:off x="4114800" y="1096434"/>
            <a:ext cx="3718984" cy="1030817"/>
          </a:xfrm>
          <a:prstGeom prst="cloudCallout">
            <a:avLst>
              <a:gd name="adj1" fmla="val -58523"/>
              <a:gd name="adj2" fmla="val 2403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A1DA12-071C-48CF-B63A-3978C0D560E2}"/>
              </a:ext>
            </a:extLst>
          </p:cNvPr>
          <p:cNvSpPr txBox="1"/>
          <p:nvPr/>
        </p:nvSpPr>
        <p:spPr>
          <a:xfrm>
            <a:off x="4919134" y="1443568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这是第三圈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最后一圈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ABDBB9-B89E-4D4E-841C-FF6EBEAC00AE}"/>
              </a:ext>
            </a:extLst>
          </p:cNvPr>
          <p:cNvSpPr txBox="1"/>
          <p:nvPr/>
        </p:nvSpPr>
        <p:spPr>
          <a:xfrm>
            <a:off x="8307918" y="1957918"/>
            <a:ext cx="1279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这是第一圈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889B54-FAC7-4A7A-8F0C-0397B279191C}"/>
              </a:ext>
            </a:extLst>
          </p:cNvPr>
          <p:cNvSpPr txBox="1"/>
          <p:nvPr/>
        </p:nvSpPr>
        <p:spPr>
          <a:xfrm>
            <a:off x="8600018" y="2565401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这是第二圈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还没结束</a:t>
            </a:r>
          </a:p>
        </p:txBody>
      </p:sp>
    </p:spTree>
    <p:extLst>
      <p:ext uri="{BB962C8B-B14F-4D97-AF65-F5344CB8AC3E}">
        <p14:creationId xmlns:p14="http://schemas.microsoft.com/office/powerpoint/2010/main" val="115718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42 0.00493 L 0.31754 0.25092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97" y="122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1481E-6 L 1.38889E-6 0.0003 C 0.00243 -0.00031 0.00486 -0.00062 0.00729 -0.00124 C 0.01805 -0.00433 0.00972 -0.00247 0.01545 -0.00525 C 0.01667 -0.00556 0.01788 -0.00587 0.0191 -0.00649 C 0.01996 -0.00679 0.02101 -0.00741 0.02205 -0.00772 C 0.02326 -0.00834 0.02448 -0.00865 0.02569 -0.00896 C 0.02656 -0.00957 0.02743 -0.00988 0.02864 -0.0105 C 0.02917 -0.01081 0.03003 -0.01142 0.03073 -0.01173 C 0.03281 -0.01235 0.03472 -0.01266 0.03663 -0.01297 C 0.04722 -0.01544 0.03611 -0.01328 0.04826 -0.01544 L 0.08385 -0.0142 C 0.08733 -0.0142 0.09062 -0.01328 0.0941 -0.01297 L 0.12864 -0.0105 C 0.1375 -0.00772 0.12969 -0.00988 0.1441 -0.00772 C 0.14653 -0.00741 0.14896 -0.00679 0.15139 -0.00649 L 0.17569 -0.00371 C 0.18871 -0.00217 0.18264 -0.00309 0.1941 -0.00124 C 0.20989 0.00586 0.18316 -0.00649 0.19983 0.00277 C 0.20208 0.00401 0.20451 0.00432 0.20642 0.00524 C 0.20816 0.00617 0.20989 0.0074 0.21163 0.00802 C 0.21354 0.00864 0.2151 0.00895 0.21684 0.00925 C 0.22309 0.01018 0.22917 0.01141 0.23524 0.01172 L 0.25156 0.01327 C 0.25937 0.01666 0.25156 0.01358 0.26823 0.01574 C 0.27031 0.01604 0.27239 0.01666 0.2743 0.01697 C 0.28177 0.0216 0.26667 0.01296 0.2875 0.01975 C 0.28923 0.02037 0.2908 0.02283 0.29271 0.02376 C 0.29479 0.02469 0.29705 0.02438 0.2993 0.025 C 0.30017 0.0253 0.30121 0.02592 0.30226 0.02623 C 0.30364 0.02685 0.3066 0.02746 0.30816 0.02901 C 0.30885 0.02962 0.30937 0.03086 0.31024 0.03148 C 0.31198 0.03271 0.31371 0.03302 0.31545 0.03395 C 0.31753 0.03549 0.3191 0.03796 0.32135 0.03919 C 0.32569 0.04259 0.32378 0.04104 0.32726 0.04321 C 0.33663 0.05617 0.32483 0.04012 0.33229 0.04969 C 0.33333 0.05092 0.3342 0.05246 0.33524 0.0537 C 0.33611 0.05462 0.33733 0.05524 0.33819 0.05648 C 0.33923 0.0574 0.3401 0.05895 0.34097 0.06018 C 0.34184 0.06111 0.34271 0.06203 0.3434 0.06296 C 0.34392 0.06419 0.34427 0.06574 0.34479 0.06666 C 0.34531 0.0679 0.34653 0.06821 0.34705 0.06944 C 0.34757 0.07098 0.34809 0.07283 0.34844 0.07469 C 0.34896 0.07592 0.3493 0.07746 0.35 0.0787 C 0.35538 0.0895 0.35104 0.0787 0.35451 0.08765 C 0.3559 0.0966 0.35364 0.08611 0.35816 0.09691 C 0.35851 0.09783 0.35851 0.09969 0.35885 0.10092 C 0.3592 0.10216 0.35989 0.10339 0.36024 0.10462 C 0.36059 0.10648 0.36111 0.1145 0.3618 0.11635 C 0.36285 0.12129 0.36371 0.12283 0.36545 0.12685 C 0.36597 0.13148 0.36632 0.13425 0.36684 0.13858 C 0.36719 0.14012 0.36736 0.14135 0.36771 0.14259 C 0.37101 0.15617 0.36892 0.14567 0.37066 0.15432 C 0.37083 0.15925 0.37101 0.16388 0.37118 0.16882 C 0.3717 0.175 0.37205 0.175 0.37257 0.18055 C 0.37326 0.18487 0.3743 0.19907 0.375 0.20154 L 0.37656 0.20679 C 0.37673 0.20833 0.37691 0.21018 0.37726 0.21203 C 0.3776 0.21481 0.37743 0.21821 0.37778 0.22098 C 0.3783 0.22283 0.37899 0.22469 0.37951 0.22623 L 0.3809 0.2395 C 0.3809 0.24166 0.38125 0.24382 0.3816 0.24598 L 0.38246 0.2537 C 0.38212 0.27253 0.38229 0.29135 0.3816 0.30987 C 0.38125 0.31419 0.38038 0.31851 0.38003 0.32314 C 0.37986 0.32561 0.37951 0.32839 0.37951 0.33086 C 0.37917 0.3358 0.37899 0.34043 0.37864 0.34537 C 0.37847 0.34907 0.37812 0.35308 0.37778 0.35709 C 0.37743 0.36851 0.3776 0.37314 0.37656 0.38333 C 0.37639 0.38487 0.37604 0.38672 0.37569 0.38858 C 0.37552 0.38981 0.37465 0.39845 0.3743 0.4003 C 0.37257 0.40709 0.37118 0.41172 0.3691 0.41728 C 0.3684 0.41882 0.36753 0.42067 0.36684 0.42253 C 0.36476 0.42932 0.36632 0.42932 0.36319 0.43549 C 0.3625 0.43672 0.36163 0.43703 0.36111 0.43827 C 0.35417 0.4503 0.36007 0.44259 0.35503 0.44845 C 0.35451 0.4503 0.35364 0.45246 0.35278 0.4537 C 0.35191 0.45555 0.35052 0.45648 0.3493 0.45771 C 0.34844 0.45864 0.34757 0.45925 0.34705 0.46049 C 0.34583 0.46203 0.34496 0.46388 0.3441 0.46543 C 0.3434 0.46666 0.34253 0.46728 0.34184 0.46821 C 0.33611 0.47654 0.34305 0.46821 0.3375 0.47469 C 0.33698 0.47654 0.33663 0.4787 0.33611 0.47993 C 0.33524 0.48086 0.33437 0.48055 0.33385 0.48117 C 0.33246 0.48271 0.33125 0.48456 0.33003 0.48641 C 0.32951 0.48765 0.32917 0.4895 0.32864 0.49043 C 0.32639 0.49413 0.32378 0.49753 0.32135 0.50092 L 0.32135 0.50123 C 0.3191 0.50339 0.31667 0.50524 0.31476 0.50864 C 0.31406 0.51018 0.31337 0.51172 0.3125 0.51265 C 0.31163 0.51388 0.31059 0.51419 0.30937 0.51512 C 0.30885 0.51604 0.30816 0.51728 0.30729 0.5179 C 0.3066 0.51851 0.3059 0.51851 0.30503 0.51913 C 0.30417 0.51975 0.30382 0.52129 0.30295 0.52191 C 0.30208 0.52253 0.30104 0.52253 0.3 0.52314 C 0.29496 0.52561 0.30017 0.52438 0.29097 0.52716 C 0.28906 0.52777 0.28663 0.52777 0.28455 0.52839 C 0.28177 0.52901 0.27726 0.53117 0.275 0.5324 C 0.27396 0.53271 0.27309 0.53302 0.27205 0.53364 C 0.27135 0.53395 0.27066 0.53456 0.26979 0.53487 C 0.2625 0.53672 0.2467 0.53703 0.24184 0.53765 C 0.22205 0.53703 0.20226 0.53765 0.18229 0.53611 C 0.16285 0.53487 0.16805 0.53209 0.15295 0.52962 C 0.11667 0.52376 0.17309 0.53333 0.1368 0.52561 C 0.11892 0.52191 0.125 0.52438 0.11319 0.52191 C 0.10139 0.51913 0.1059 0.51975 0.09635 0.5179 C 0.0934 0.51728 0.09097 0.51666 0.08819 0.51666 C 0.06719 0.51481 0.03559 0.5145 0.01771 0.51388 L -0.02274 0.51265 C -0.03577 0.51172 -0.04896 0.51388 -0.06181 0.51018 C -0.07622 0.50586 -0.05486 0.51234 -0.07136 0.50617 C -0.07309 0.50555 -0.075 0.50524 -0.07656 0.50493 C -0.07882 0.50432 -0.0809 0.50401 -0.08316 0.50339 L -0.08924 0.50216 C -0.08976 0.50185 -0.09045 0.50123 -0.09132 0.50092 C -0.09705 0.49845 -0.09392 0.50061 -0.09931 0.49814 C -0.10573 0.49537 -0.09549 0.49845 -0.1059 0.49567 C -0.11042 0.49444 -0.11233 0.49444 -0.11702 0.49166 C -0.11771 0.49135 -0.1184 0.49074 -0.1191 0.49043 C -0.12118 0.4895 -0.12309 0.48919 -0.125 0.48796 C -0.12622 0.48703 -0.12743 0.48611 -0.12865 0.48518 C -0.12969 0.48425 -0.13056 0.48333 -0.1316 0.48271 C -0.13264 0.48209 -0.13368 0.48179 -0.13455 0.48117 C -0.14149 0.47654 -0.13316 0.48024 -0.14115 0.47746 C -0.14236 0.47654 -0.14358 0.47561 -0.14497 0.47469 C -0.14566 0.47438 -0.14636 0.47407 -0.14705 0.47345 C -0.14792 0.47283 -0.14861 0.4716 -0.14931 0.47067 C -0.15017 0.46975 -0.15139 0.46944 -0.15226 0.46821 C -0.15938 0.45802 -0.15382 0.46203 -0.15886 0.45895 C -0.15938 0.45771 -0.15972 0.45648 -0.16042 0.45524 C -0.16094 0.4537 -0.16198 0.45277 -0.1625 0.45123 C -0.1632 0.44969 -0.16337 0.44753 -0.16406 0.44598 C -0.16441 0.44506 -0.16511 0.44444 -0.16545 0.44321 C -0.16632 0.44135 -0.16684 0.43888 -0.16771 0.43672 C -0.1717 0.42623 -0.16806 0.43765 -0.17292 0.42376 C -0.17344 0.42222 -0.17379 0.42006 -0.17431 0.41851 C -0.17483 0.41728 -0.17535 0.41604 -0.1757 0.4145 C -0.17639 0.41234 -0.17691 0.41018 -0.17726 0.40802 C -0.17899 0.39845 -0.17656 0.40709 -0.17952 0.39506 C -0.18073 0.3895 -0.18212 0.38549 -0.18386 0.38055 C -0.18403 0.37839 -0.18438 0.37623 -0.18455 0.37407 C -0.18472 0.37283 -0.18507 0.3716 -0.18542 0.37006 C -0.18559 0.3679 -0.18577 0.36574 -0.18611 0.36358 C -0.18629 0.36234 -0.18663 0.36111 -0.18681 0.35956 C -0.18733 0.35617 -0.18802 0.34876 -0.1882 0.34537 C -0.18733 0.27685 -0.18889 0.31172 -0.18681 0.28117 C -0.18594 0.26728 -0.18715 0.27314 -0.18455 0.26419 C -0.18403 0.26018 -0.18351 0.25648 -0.18316 0.25246 C -0.18125 0.23487 -0.18333 0.25061 -0.1816 0.23672 C -0.18142 0.23487 -0.18125 0.23333 -0.1809 0.23148 C -0.18073 0.23024 -0.18038 0.22901 -0.18021 0.22746 C -0.17986 0.2253 -0.17969 0.22314 -0.17952 0.22098 C -0.17934 0.21975 -0.17899 0.21851 -0.17865 0.21728 C -0.17847 0.21543 -0.17813 0.21358 -0.17795 0.21203 C -0.17778 0.20987 -0.17761 0.2074 -0.17726 0.20524 C -0.17639 0.2 -0.17552 0.19598 -0.17431 0.19104 C -0.17327 0.17037 -0.17483 0.18302 -0.17136 0.16759 C -0.17083 0.16481 -0.17031 0.16234 -0.16997 0.15956 C -0.16962 0.15802 -0.16962 0.15617 -0.1691 0.15432 C -0.16875 0.15308 -0.16823 0.15185 -0.16771 0.15061 C -0.16632 0.13641 -0.16771 0.14783 -0.16615 0.13858 C -0.16597 0.13703 -0.1658 0.13518 -0.16545 0.13333 C -0.16511 0.13179 -0.16458 0.12993 -0.16406 0.12839 C -0.16267 0.11851 -0.16406 0.12746 -0.16181 0.1179 C -0.16146 0.11666 -0.16146 0.11512 -0.16111 0.11388 C -0.15972 0.10956 -0.15851 0.10864 -0.15747 0.10462 C -0.15677 0.10246 -0.1566 0.1003 -0.1559 0.09814 C -0.15504 0.09537 -0.15365 0.09228 -0.15226 0.09043 C -0.15156 0.08919 -0.1507 0.08858 -0.15 0.08765 C -0.14948 0.08641 -0.14931 0.08487 -0.14861 0.08364 C -0.14722 0.08179 -0.14549 0.08055 -0.1441 0.0787 L -0.1375 0.06944 C -0.13663 0.06821 -0.13577 0.06604 -0.13455 0.06543 L -0.13021 0.06296 C -0.12899 0.06111 -0.12778 0.05925 -0.12656 0.05771 C -0.12205 0.05216 -0.12517 0.05771 -0.12136 0.05246 C -0.1191 0.04907 -0.12031 0.04876 -0.11702 0.04598 C -0.11597 0.04506 -0.11493 0.04506 -0.11406 0.04444 C -0.1125 0.04382 -0.11094 0.04321 -0.10955 0.04197 C -0.1066 0.0395 -0.10399 0.03549 -0.1007 0.03395 C -0.09879 0.03333 -0.09688 0.03271 -0.09497 0.03148 L -0.09045 0.02901 C -0.08976 0.02839 -0.08924 0.02808 -0.08837 0.02746 C -0.08663 0.02654 -0.08507 0.02592 -0.08316 0.025 C -0.0816 0.02407 -0.08021 0.02314 -0.07882 0.02222 C -0.07743 0.0216 -0.07622 0.02129 -0.075 0.02098 C -0.0717 0.02006 -0.07083 0.02006 -0.06771 0.01851 C -0.05191 0.00987 -0.07292 0.02037 -0.05955 0.0145 C -0.05886 0.01419 -0.05816 0.01358 -0.05747 0.01327 C -0.05556 0.01234 -0.05104 0.01111 -0.04931 0.01049 C -0.04757 0.01018 -0.04583 0.00987 -0.0441 0.00925 C -0.04323 0.00895 -0.04219 0.00833 -0.04115 0.00802 C -0.03924 0.0074 -0.03733 0.00709 -0.03524 0.00679 C -0.03438 0.00648 -0.03333 0.00524 -0.03247 0.00524 C -0.02327 0.00493 -0.01424 0.00524 -0.00521 0.00524 " pathEditMode="relative" rAng="0" ptsTypes="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2" dur="2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5" y="2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循环介绍</a:t>
            </a:r>
            <a:endParaRPr kumimoji="1" lang="zh-CN" altLang="en-US" dirty="0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0F5BC944-DCD2-49F7-9A80-4E5D3116F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4" y="2468033"/>
            <a:ext cx="7440084" cy="387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5">
            <a:extLst>
              <a:ext uri="{FF2B5EF4-FFF2-40B4-BE49-F238E27FC236}">
                <a16:creationId xmlns:a16="http://schemas.microsoft.com/office/drawing/2014/main" id="{0164BDDE-5DCF-4CA5-8DFF-36216B3A007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834" y="1176867"/>
            <a:ext cx="1902884" cy="19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03EE4DBF-B083-45BD-8221-AD474DA4A14E}"/>
              </a:ext>
            </a:extLst>
          </p:cNvPr>
          <p:cNvSpPr/>
          <p:nvPr/>
        </p:nvSpPr>
        <p:spPr>
          <a:xfrm>
            <a:off x="4114800" y="1096434"/>
            <a:ext cx="3718984" cy="1030817"/>
          </a:xfrm>
          <a:prstGeom prst="cloudCallout">
            <a:avLst>
              <a:gd name="adj1" fmla="val -58523"/>
              <a:gd name="adj2" fmla="val 2403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BBFDB4-E585-4D69-B056-EEAA0D48A156}"/>
              </a:ext>
            </a:extLst>
          </p:cNvPr>
          <p:cNvSpPr txBox="1"/>
          <p:nvPr/>
        </p:nvSpPr>
        <p:spPr>
          <a:xfrm>
            <a:off x="4919134" y="1443568"/>
            <a:ext cx="16049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第四圈了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结束了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42B33B-DC47-41DC-9312-A470763F273E}"/>
              </a:ext>
            </a:extLst>
          </p:cNvPr>
          <p:cNvSpPr txBox="1"/>
          <p:nvPr/>
        </p:nvSpPr>
        <p:spPr>
          <a:xfrm>
            <a:off x="8307918" y="1957918"/>
            <a:ext cx="1279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这是第一圈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37AEB6-B0C2-474C-8966-1F32FEC83C5A}"/>
              </a:ext>
            </a:extLst>
          </p:cNvPr>
          <p:cNvSpPr txBox="1"/>
          <p:nvPr/>
        </p:nvSpPr>
        <p:spPr>
          <a:xfrm>
            <a:off x="8600018" y="2565401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这是第二圈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还没结束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70A440-7AD1-4318-9673-FBA4F3668FEE}"/>
              </a:ext>
            </a:extLst>
          </p:cNvPr>
          <p:cNvSpPr txBox="1"/>
          <p:nvPr/>
        </p:nvSpPr>
        <p:spPr>
          <a:xfrm>
            <a:off x="8784167" y="3172885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这是第三圈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最后一圈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8EC9C26-F58D-4EE6-AD36-BC925F82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185" y="1282701"/>
            <a:ext cx="1128183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871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39 0.00771 L 0.33525 0.34135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34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循环介绍</a:t>
            </a:r>
            <a:endParaRPr kumimoji="1" lang="zh-CN" altLang="en-US" dirty="0"/>
          </a:p>
        </p:txBody>
      </p:sp>
      <p:pic>
        <p:nvPicPr>
          <p:cNvPr id="14" name="图片 1">
            <a:extLst>
              <a:ext uri="{FF2B5EF4-FFF2-40B4-BE49-F238E27FC236}">
                <a16:creationId xmlns:a16="http://schemas.microsoft.com/office/drawing/2014/main" id="{25751567-019E-4723-A557-7C388DD8E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4" y="2468033"/>
            <a:ext cx="7440084" cy="387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BA1D8A7-C04D-43DD-BB18-828DA5440CF1}"/>
              </a:ext>
            </a:extLst>
          </p:cNvPr>
          <p:cNvSpPr txBox="1"/>
          <p:nvPr/>
        </p:nvSpPr>
        <p:spPr>
          <a:xfrm>
            <a:off x="8307918" y="1957918"/>
            <a:ext cx="1279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这是第一圈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9D569B-3B96-498D-BCED-7CEEDB8F79A2}"/>
              </a:ext>
            </a:extLst>
          </p:cNvPr>
          <p:cNvSpPr txBox="1"/>
          <p:nvPr/>
        </p:nvSpPr>
        <p:spPr>
          <a:xfrm>
            <a:off x="8600018" y="2565401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这是第二圈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还没结束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70C9C3-58D4-4CCE-9ADA-48006889D29E}"/>
              </a:ext>
            </a:extLst>
          </p:cNvPr>
          <p:cNvSpPr txBox="1"/>
          <p:nvPr/>
        </p:nvSpPr>
        <p:spPr>
          <a:xfrm>
            <a:off x="8784167" y="3172885"/>
            <a:ext cx="2037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这是第三圈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!!!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最后一圈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EB636E-D758-4FC5-9BB4-935E691C6D7D}"/>
              </a:ext>
            </a:extLst>
          </p:cNvPr>
          <p:cNvSpPr txBox="1"/>
          <p:nvPr/>
        </p:nvSpPr>
        <p:spPr>
          <a:xfrm>
            <a:off x="9040285" y="3784601"/>
            <a:ext cx="16049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第四圈了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结束了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D1071C-E94D-433B-B58B-B4CA96BA1C1D}"/>
              </a:ext>
            </a:extLst>
          </p:cNvPr>
          <p:cNvSpPr txBox="1"/>
          <p:nvPr/>
        </p:nvSpPr>
        <p:spPr>
          <a:xfrm>
            <a:off x="2315633" y="3913718"/>
            <a:ext cx="5962651" cy="7386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循环任务：跑圈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控制循环：根据心中 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1 2 3 4 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数字的变化进行控制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循环条件：心中的数小于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，就开始循环任务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8970010-7726-406F-A361-1E4589712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185" y="1282701"/>
            <a:ext cx="1128183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59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-0.12344 -0.30895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-1540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4" grpId="0"/>
      <p:bldP spid="2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循环介绍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B376E5-3ED3-4BD6-8ED4-B4E7DD3B059F}"/>
              </a:ext>
            </a:extLst>
          </p:cNvPr>
          <p:cNvSpPr txBox="1"/>
          <p:nvPr/>
        </p:nvSpPr>
        <p:spPr>
          <a:xfrm>
            <a:off x="838200" y="1797051"/>
            <a:ext cx="5962651" cy="7386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循环任务：跑圈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控制循环：根据心中 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1 2 3 4 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数字的变化进行控制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循环条件：心中的数小于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，就开始循环任务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A8BDF71-83D3-4947-BA2C-F7AB97433E59}"/>
              </a:ext>
            </a:extLst>
          </p:cNvPr>
          <p:cNvSpPr txBox="1"/>
          <p:nvPr/>
        </p:nvSpPr>
        <p:spPr>
          <a:xfrm>
            <a:off x="912283" y="3045885"/>
            <a:ext cx="5962651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初始化语句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条件判断语句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条件控制语句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循环体语句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3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A1BD29B-E396-4200-8152-18C3939D0E09}"/>
              </a:ext>
            </a:extLst>
          </p:cNvPr>
          <p:cNvSpPr/>
          <p:nvPr/>
        </p:nvSpPr>
        <p:spPr>
          <a:xfrm>
            <a:off x="7892329" y="2660651"/>
            <a:ext cx="3551767" cy="35517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循环体语句：循环任务 </a:t>
            </a:r>
            <a:endParaRPr lang="en-US" altLang="zh-CN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400" b="1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跑圈</a:t>
            </a:r>
            <a:r>
              <a:rPr lang="zh-CN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");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初始化语句：定义变量 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en-US" altLang="zh-CN" sz="1400" b="1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1;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条件判断语句：循环条件</a:t>
            </a:r>
            <a:endParaRPr lang="en-US" altLang="zh-CN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400" b="1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4</a:t>
            </a:r>
          </a:p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条件控制语句：改变变量</a:t>
            </a:r>
            <a:endParaRPr lang="en-US" altLang="zh-CN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400" b="1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++;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CA2FDF-F36A-440B-B124-24AD469A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31" y="3721070"/>
            <a:ext cx="2190750" cy="371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414828-BBF5-4C8A-9DC1-C4C905E53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30" y="3493245"/>
            <a:ext cx="1210743" cy="33788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BFFAD14-2315-4444-8088-CC43E29EA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136" y="3446693"/>
            <a:ext cx="1319352" cy="36819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08B6B2A-BDEB-4547-AFF5-284B60615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51" y="3446693"/>
            <a:ext cx="1401449" cy="39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8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">
            <a:extLst>
              <a:ext uri="{FF2B5EF4-FFF2-40B4-BE49-F238E27FC236}">
                <a16:creationId xmlns:a16="http://schemas.microsoft.com/office/drawing/2014/main" id="{DAA82346-2DA8-41AC-93B7-1AEF8A58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AEDCDEF-3D21-4E54-9D5C-427C98A12B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需求</a:t>
            </a:r>
            <a:r>
              <a:rPr lang="en-US" altLang="zh-CN" sz="2000" dirty="0"/>
              <a:t>: </a:t>
            </a:r>
            <a:r>
              <a:rPr lang="zh-CN" altLang="en-US" sz="2000" dirty="0"/>
              <a:t>请使用循环</a:t>
            </a:r>
            <a:r>
              <a:rPr lang="en-US" altLang="zh-CN" sz="2000" dirty="0"/>
              <a:t>, </a:t>
            </a:r>
            <a:r>
              <a:rPr lang="zh-CN" altLang="en-US" sz="2000" dirty="0"/>
              <a:t>在控制台打印出 </a:t>
            </a:r>
            <a:r>
              <a:rPr lang="en-US" altLang="zh-CN" sz="2000" dirty="0"/>
              <a:t>10 </a:t>
            </a:r>
            <a:r>
              <a:rPr lang="zh-CN" altLang="en-US" sz="2000" dirty="0"/>
              <a:t>次 黑马程序员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44416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903B-B9D9-664B-FE2E-C1BC833B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3">
            <a:extLst>
              <a:ext uri="{FF2B5EF4-FFF2-40B4-BE49-F238E27FC236}">
                <a16:creationId xmlns:a16="http://schemas.microsoft.com/office/drawing/2014/main" id="{227C78CC-6F92-AA06-4C9C-E3E9C3DB7ED3}"/>
              </a:ext>
            </a:extLst>
          </p:cNvPr>
          <p:cNvSpPr txBox="1"/>
          <p:nvPr/>
        </p:nvSpPr>
        <p:spPr>
          <a:xfrm>
            <a:off x="3592747" y="548930"/>
            <a:ext cx="8307414" cy="5658688"/>
          </a:xfrm>
          <a:prstGeom prst="rect">
            <a:avLst/>
          </a:prstGeom>
        </p:spPr>
        <p:txBody>
          <a:bodyPr anchor="t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循环语句的作用：可以将一段代码重复的执行很多次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for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循环语句格式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执行流程：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初始化语句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执行条件判断语句，看结果是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true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，还是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false</a:t>
            </a:r>
          </a:p>
          <a:p>
            <a:pPr lvl="1" indent="0">
              <a:lnSpc>
                <a:spcPct val="150000"/>
              </a:lnSpc>
              <a:buNone/>
            </a:pP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false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结束，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true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继续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执行循环体语句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执行条件控制语句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回到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2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继续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A2DBAC9-24FB-972C-51FB-92669FDD221C}"/>
              </a:ext>
            </a:extLst>
          </p:cNvPr>
          <p:cNvSpPr txBox="1"/>
          <p:nvPr/>
        </p:nvSpPr>
        <p:spPr>
          <a:xfrm>
            <a:off x="4359040" y="1745119"/>
            <a:ext cx="5006505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初始化语句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条件判断语句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条件控制语句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循环体语句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3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573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r>
              <a:rPr kumimoji="1" lang="zh-CN" altLang="en-US" dirty="0"/>
              <a:t>模拟计时器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53D77B-F8A2-8371-4F81-AC414F317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980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模拟计时器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请使用循环在控制台 打印数字 </a:t>
            </a:r>
            <a:r>
              <a:rPr lang="en-US" altLang="zh-CN" sz="2000" dirty="0"/>
              <a:t>1~3 </a:t>
            </a:r>
            <a:r>
              <a:rPr lang="zh-CN" altLang="en-US" sz="2000" dirty="0"/>
              <a:t>和 </a:t>
            </a:r>
            <a:r>
              <a:rPr lang="en-US" altLang="zh-CN" sz="2000" dirty="0"/>
              <a:t>3~1 </a:t>
            </a:r>
            <a:r>
              <a:rPr lang="zh-CN" altLang="en-US" sz="2000" dirty="0"/>
              <a:t>的数据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AC89AB3-2FE7-4C40-8349-495CB9C3D2B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1" y="2275195"/>
            <a:ext cx="3836448" cy="215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13C05FA-37E2-40AE-9200-DBF8CFE0D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90" y="1729299"/>
            <a:ext cx="3248727" cy="324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三角形 9">
            <a:extLst>
              <a:ext uri="{FF2B5EF4-FFF2-40B4-BE49-F238E27FC236}">
                <a16:creationId xmlns:a16="http://schemas.microsoft.com/office/drawing/2014/main" id="{B150D515-51AC-429C-D16F-62082AADDC99}"/>
              </a:ext>
            </a:extLst>
          </p:cNvPr>
          <p:cNvSpPr/>
          <p:nvPr/>
        </p:nvSpPr>
        <p:spPr>
          <a:xfrm rot="2651319">
            <a:off x="5607462" y="2564048"/>
            <a:ext cx="159249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DE7E50-F0AD-9734-54CB-86B115FF270F}"/>
              </a:ext>
            </a:extLst>
          </p:cNvPr>
          <p:cNvSpPr/>
          <p:nvPr/>
        </p:nvSpPr>
        <p:spPr>
          <a:xfrm>
            <a:off x="5602771" y="2275195"/>
            <a:ext cx="4459589" cy="2528081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536178-DE35-0A30-1798-B2BD4971C40B}"/>
              </a:ext>
            </a:extLst>
          </p:cNvPr>
          <p:cNvSpPr/>
          <p:nvPr/>
        </p:nvSpPr>
        <p:spPr>
          <a:xfrm>
            <a:off x="5602773" y="2275195"/>
            <a:ext cx="1467974" cy="3009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积累编码思路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CE0BB6-F778-DAA1-5F3E-83F1C8839712}"/>
              </a:ext>
            </a:extLst>
          </p:cNvPr>
          <p:cNvSpPr txBox="1"/>
          <p:nvPr/>
        </p:nvSpPr>
        <p:spPr>
          <a:xfrm>
            <a:off x="6020652" y="2809984"/>
            <a:ext cx="3736253" cy="7040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循环中，用于控制循环的变量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还可以放在循环体中，继续进行使用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FA9B47-35DF-82B0-66F4-6F4ECE0FF914}"/>
              </a:ext>
            </a:extLst>
          </p:cNvPr>
          <p:cNvSpPr txBox="1"/>
          <p:nvPr/>
        </p:nvSpPr>
        <p:spPr>
          <a:xfrm>
            <a:off x="6020651" y="3868341"/>
            <a:ext cx="3736254" cy="3842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条件控制语句，并不一定是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411863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r>
              <a:rPr kumimoji="1" lang="zh-CN" altLang="en-US" dirty="0"/>
              <a:t>求和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C66E0A-3E1B-45A4-97B9-3783B011FD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12612" y="1585913"/>
            <a:ext cx="9213850" cy="4219575"/>
          </a:xfrm>
          <a:prstGeom prst="rect">
            <a:avLst/>
          </a:prstGeom>
        </p:spPr>
        <p:txBody>
          <a:bodyPr/>
          <a:lstStyle/>
          <a:p>
            <a:pPr marL="0"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分析：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循环，分别获取数据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– 100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循环使用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语句，筛选出偶数数据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累加求和？？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89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EB23-8F73-5AB2-5957-15A5AF9A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2877BCF-F09A-F674-95CA-AA38458E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r>
              <a:rPr kumimoji="1" lang="zh-CN" altLang="en-US" dirty="0"/>
              <a:t>求和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3904C9-7FB8-839A-9F0F-DF7806DB28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3DFEEF-8EF2-22D7-4267-CA2A5D1D80C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12612" y="1585913"/>
            <a:ext cx="9213850" cy="4219575"/>
          </a:xfrm>
          <a:prstGeom prst="rect">
            <a:avLst/>
          </a:prstGeom>
        </p:spPr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5AC0D1-BDE4-403F-AE0D-9B491B46AA70}"/>
              </a:ext>
            </a:extLst>
          </p:cNvPr>
          <p:cNvSpPr/>
          <p:nvPr/>
        </p:nvSpPr>
        <p:spPr>
          <a:xfrm>
            <a:off x="1479219" y="359528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</a:t>
            </a:r>
            <a:endParaRPr lang="zh-CN" altLang="en-US" sz="20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EED62-A53C-4609-A789-F8C61B3784D0}"/>
              </a:ext>
            </a:extLst>
          </p:cNvPr>
          <p:cNvSpPr/>
          <p:nvPr/>
        </p:nvSpPr>
        <p:spPr>
          <a:xfrm>
            <a:off x="2551471" y="319833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F4A4C-7186-434A-9DF1-1BCC0A5DFCF7}"/>
              </a:ext>
            </a:extLst>
          </p:cNvPr>
          <p:cNvSpPr/>
          <p:nvPr/>
        </p:nvSpPr>
        <p:spPr>
          <a:xfrm>
            <a:off x="2155391" y="384326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</a:t>
            </a:r>
            <a:endParaRPr lang="zh-CN" altLang="en-US" sz="20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040267-2A8B-4778-8D28-3F6D785A4040}"/>
              </a:ext>
            </a:extLst>
          </p:cNvPr>
          <p:cNvSpPr/>
          <p:nvPr/>
        </p:nvSpPr>
        <p:spPr>
          <a:xfrm>
            <a:off x="766922" y="393384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</a:t>
            </a:r>
            <a:endParaRPr lang="zh-CN" altLang="en-US" sz="20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FB290-40C7-4A30-9EAF-163BFBA3EC7D}"/>
              </a:ext>
            </a:extLst>
          </p:cNvPr>
          <p:cNvSpPr/>
          <p:nvPr/>
        </p:nvSpPr>
        <p:spPr>
          <a:xfrm>
            <a:off x="2567836" y="469014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80</a:t>
            </a:r>
            <a:endParaRPr lang="zh-CN" altLang="en-US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799CA6-E1B7-4F5E-8AEA-08EBDE80A024}"/>
              </a:ext>
            </a:extLst>
          </p:cNvPr>
          <p:cNvSpPr/>
          <p:nvPr/>
        </p:nvSpPr>
        <p:spPr>
          <a:xfrm>
            <a:off x="3166067" y="4267756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90</a:t>
            </a:r>
            <a:endParaRPr lang="zh-CN" altLang="en-US" sz="20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C487B-A3F0-4900-89FE-F937BD689303}"/>
              </a:ext>
            </a:extLst>
          </p:cNvPr>
          <p:cNvSpPr/>
          <p:nvPr/>
        </p:nvSpPr>
        <p:spPr>
          <a:xfrm>
            <a:off x="1548394" y="4606310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70</a:t>
            </a:r>
            <a:endParaRPr lang="zh-CN" altLang="en-US" sz="20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903494-4A3A-48AB-A646-2F808D13FAE9}"/>
              </a:ext>
            </a:extLst>
          </p:cNvPr>
          <p:cNvSpPr/>
          <p:nvPr/>
        </p:nvSpPr>
        <p:spPr>
          <a:xfrm>
            <a:off x="577777" y="325972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B02709-0349-4937-80CB-37B3F04B3D73}"/>
              </a:ext>
            </a:extLst>
          </p:cNvPr>
          <p:cNvSpPr/>
          <p:nvPr/>
        </p:nvSpPr>
        <p:spPr>
          <a:xfrm>
            <a:off x="1566492" y="280554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99240FF-8AA8-46D3-ACD7-42DE394F4662}"/>
              </a:ext>
            </a:extLst>
          </p:cNvPr>
          <p:cNvSpPr/>
          <p:nvPr/>
        </p:nvSpPr>
        <p:spPr>
          <a:xfrm>
            <a:off x="5476032" y="2761249"/>
            <a:ext cx="3426781" cy="76569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7C247B-AB3E-4C33-97BA-A4946A5DA5D0}"/>
              </a:ext>
            </a:extLst>
          </p:cNvPr>
          <p:cNvSpPr txBox="1"/>
          <p:nvPr/>
        </p:nvSpPr>
        <p:spPr>
          <a:xfrm>
            <a:off x="5476032" y="2400794"/>
            <a:ext cx="809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sum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6106E2-D9DC-421C-AA65-608153BA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73" y="4606310"/>
            <a:ext cx="15430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75E-6 -4.44444E-6 L 3.75E-6 -0.07222 " pathEditMode="relative" rAng="0" ptsTypes="AA">
                                      <p:cBhvr>
                                        <p:cTn id="4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66667E-6 3.33333E-6 L -1.66667E-6 -0.07223 " pathEditMode="relative" rAng="0" ptsTypes="AA">
                                      <p:cBhvr>
                                        <p:cTn id="4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5" grpId="1"/>
      <p:bldP spid="6" grpId="0" animBg="1"/>
      <p:bldP spid="17" grpId="0"/>
      <p:bldP spid="17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3C887380-88CF-B8F9-F20B-C55A0BE02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CN" sz="2400" dirty="0"/>
              <a:t> </a:t>
            </a:r>
            <a:r>
              <a:rPr kumimoji="1" lang="zh-CN" altLang="en-US" sz="2400" dirty="0"/>
              <a:t>求和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5AC0D1-BDE4-403F-AE0D-9B491B46AA70}"/>
              </a:ext>
            </a:extLst>
          </p:cNvPr>
          <p:cNvSpPr/>
          <p:nvPr/>
        </p:nvSpPr>
        <p:spPr>
          <a:xfrm>
            <a:off x="1479219" y="359528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</a:t>
            </a:r>
            <a:endParaRPr lang="zh-CN" altLang="en-US" sz="20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EED62-A53C-4609-A789-F8C61B3784D0}"/>
              </a:ext>
            </a:extLst>
          </p:cNvPr>
          <p:cNvSpPr/>
          <p:nvPr/>
        </p:nvSpPr>
        <p:spPr>
          <a:xfrm>
            <a:off x="2551471" y="319833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F4A4C-7186-434A-9DF1-1BCC0A5DFCF7}"/>
              </a:ext>
            </a:extLst>
          </p:cNvPr>
          <p:cNvSpPr/>
          <p:nvPr/>
        </p:nvSpPr>
        <p:spPr>
          <a:xfrm>
            <a:off x="2155391" y="384326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</a:t>
            </a:r>
            <a:endParaRPr lang="zh-CN" altLang="en-US" sz="20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040267-2A8B-4778-8D28-3F6D785A4040}"/>
              </a:ext>
            </a:extLst>
          </p:cNvPr>
          <p:cNvSpPr/>
          <p:nvPr/>
        </p:nvSpPr>
        <p:spPr>
          <a:xfrm>
            <a:off x="766922" y="393384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</a:t>
            </a:r>
            <a:endParaRPr lang="zh-CN" altLang="en-US" sz="20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FB290-40C7-4A30-9EAF-163BFBA3EC7D}"/>
              </a:ext>
            </a:extLst>
          </p:cNvPr>
          <p:cNvSpPr/>
          <p:nvPr/>
        </p:nvSpPr>
        <p:spPr>
          <a:xfrm>
            <a:off x="2567836" y="469014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80</a:t>
            </a:r>
            <a:endParaRPr lang="zh-CN" altLang="en-US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799CA6-E1B7-4F5E-8AEA-08EBDE80A024}"/>
              </a:ext>
            </a:extLst>
          </p:cNvPr>
          <p:cNvSpPr/>
          <p:nvPr/>
        </p:nvSpPr>
        <p:spPr>
          <a:xfrm>
            <a:off x="3166067" y="4267756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90</a:t>
            </a:r>
            <a:endParaRPr lang="zh-CN" altLang="en-US" sz="20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C487B-A3F0-4900-89FE-F937BD689303}"/>
              </a:ext>
            </a:extLst>
          </p:cNvPr>
          <p:cNvSpPr/>
          <p:nvPr/>
        </p:nvSpPr>
        <p:spPr>
          <a:xfrm>
            <a:off x="1548394" y="4606310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70</a:t>
            </a:r>
            <a:endParaRPr lang="zh-CN" altLang="en-US" sz="20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903494-4A3A-48AB-A646-2F808D13FAE9}"/>
              </a:ext>
            </a:extLst>
          </p:cNvPr>
          <p:cNvSpPr/>
          <p:nvPr/>
        </p:nvSpPr>
        <p:spPr>
          <a:xfrm>
            <a:off x="577777" y="325972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B02709-0349-4937-80CB-37B3F04B3D73}"/>
              </a:ext>
            </a:extLst>
          </p:cNvPr>
          <p:cNvSpPr/>
          <p:nvPr/>
        </p:nvSpPr>
        <p:spPr>
          <a:xfrm>
            <a:off x="1566492" y="280554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99240FF-8AA8-46D3-ACD7-42DE394F4662}"/>
              </a:ext>
            </a:extLst>
          </p:cNvPr>
          <p:cNvSpPr/>
          <p:nvPr/>
        </p:nvSpPr>
        <p:spPr>
          <a:xfrm>
            <a:off x="5476032" y="2761249"/>
            <a:ext cx="3426781" cy="76569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7C247B-AB3E-4C33-97BA-A4946A5DA5D0}"/>
              </a:ext>
            </a:extLst>
          </p:cNvPr>
          <p:cNvSpPr txBox="1"/>
          <p:nvPr/>
        </p:nvSpPr>
        <p:spPr>
          <a:xfrm>
            <a:off x="5476032" y="2400794"/>
            <a:ext cx="809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sum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6106E2-D9DC-421C-AA65-608153BA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73" y="4606310"/>
            <a:ext cx="15430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9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54167E-6 1.85185E-6 L 3.54167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66667E-6 3.33333E-6 L -1.66667E-6 -0.07223 " pathEditMode="relative" rAng="0" ptsTypes="AA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CN" sz="2400" dirty="0"/>
              <a:t> </a:t>
            </a:r>
            <a:r>
              <a:rPr kumimoji="1" lang="zh-CN" altLang="en-US" sz="2400" dirty="0"/>
              <a:t>求和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5AC0D1-BDE4-403F-AE0D-9B491B46AA70}"/>
              </a:ext>
            </a:extLst>
          </p:cNvPr>
          <p:cNvSpPr/>
          <p:nvPr/>
        </p:nvSpPr>
        <p:spPr>
          <a:xfrm>
            <a:off x="1479219" y="359528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</a:t>
            </a:r>
            <a:endParaRPr lang="zh-CN" altLang="en-US" sz="20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EED62-A53C-4609-A789-F8C61B3784D0}"/>
              </a:ext>
            </a:extLst>
          </p:cNvPr>
          <p:cNvSpPr/>
          <p:nvPr/>
        </p:nvSpPr>
        <p:spPr>
          <a:xfrm>
            <a:off x="2551471" y="319833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F4A4C-7186-434A-9DF1-1BCC0A5DFCF7}"/>
              </a:ext>
            </a:extLst>
          </p:cNvPr>
          <p:cNvSpPr/>
          <p:nvPr/>
        </p:nvSpPr>
        <p:spPr>
          <a:xfrm>
            <a:off x="2155391" y="384326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</a:t>
            </a:r>
            <a:endParaRPr lang="zh-CN" altLang="en-US" sz="20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040267-2A8B-4778-8D28-3F6D785A4040}"/>
              </a:ext>
            </a:extLst>
          </p:cNvPr>
          <p:cNvSpPr/>
          <p:nvPr/>
        </p:nvSpPr>
        <p:spPr>
          <a:xfrm>
            <a:off x="766922" y="393384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</a:t>
            </a:r>
            <a:endParaRPr lang="zh-CN" altLang="en-US" sz="20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FB290-40C7-4A30-9EAF-163BFBA3EC7D}"/>
              </a:ext>
            </a:extLst>
          </p:cNvPr>
          <p:cNvSpPr/>
          <p:nvPr/>
        </p:nvSpPr>
        <p:spPr>
          <a:xfrm>
            <a:off x="2567836" y="469014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80</a:t>
            </a:r>
            <a:endParaRPr lang="zh-CN" altLang="en-US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799CA6-E1B7-4F5E-8AEA-08EBDE80A024}"/>
              </a:ext>
            </a:extLst>
          </p:cNvPr>
          <p:cNvSpPr/>
          <p:nvPr/>
        </p:nvSpPr>
        <p:spPr>
          <a:xfrm>
            <a:off x="3166067" y="4267756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90</a:t>
            </a:r>
            <a:endParaRPr lang="zh-CN" altLang="en-US" sz="20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C487B-A3F0-4900-89FE-F937BD689303}"/>
              </a:ext>
            </a:extLst>
          </p:cNvPr>
          <p:cNvSpPr/>
          <p:nvPr/>
        </p:nvSpPr>
        <p:spPr>
          <a:xfrm>
            <a:off x="1548394" y="4606310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70</a:t>
            </a:r>
            <a:endParaRPr lang="zh-CN" altLang="en-US" sz="20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903494-4A3A-48AB-A646-2F808D13FAE9}"/>
              </a:ext>
            </a:extLst>
          </p:cNvPr>
          <p:cNvSpPr/>
          <p:nvPr/>
        </p:nvSpPr>
        <p:spPr>
          <a:xfrm>
            <a:off x="577777" y="325972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B02709-0349-4937-80CB-37B3F04B3D73}"/>
              </a:ext>
            </a:extLst>
          </p:cNvPr>
          <p:cNvSpPr/>
          <p:nvPr/>
        </p:nvSpPr>
        <p:spPr>
          <a:xfrm>
            <a:off x="1566492" y="280554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99240FF-8AA8-46D3-ACD7-42DE394F4662}"/>
              </a:ext>
            </a:extLst>
          </p:cNvPr>
          <p:cNvSpPr/>
          <p:nvPr/>
        </p:nvSpPr>
        <p:spPr>
          <a:xfrm>
            <a:off x="5476032" y="2761249"/>
            <a:ext cx="3426781" cy="76569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50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7C247B-AB3E-4C33-97BA-A4946A5DA5D0}"/>
              </a:ext>
            </a:extLst>
          </p:cNvPr>
          <p:cNvSpPr txBox="1"/>
          <p:nvPr/>
        </p:nvSpPr>
        <p:spPr>
          <a:xfrm>
            <a:off x="5476032" y="2400794"/>
            <a:ext cx="809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sum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6106E2-D9DC-421C-AA65-608153BA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73" y="4606310"/>
            <a:ext cx="1543050" cy="981075"/>
          </a:xfrm>
          <a:prstGeom prst="rect">
            <a:avLst/>
          </a:prstGeom>
        </p:spPr>
      </p:pic>
      <p:sp>
        <p:nvSpPr>
          <p:cNvPr id="19" name="文本占位符 1">
            <a:extLst>
              <a:ext uri="{FF2B5EF4-FFF2-40B4-BE49-F238E27FC236}">
                <a16:creationId xmlns:a16="http://schemas.microsoft.com/office/drawing/2014/main" id="{C0AA64B3-5246-54B7-CC97-FB1D790F2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2600" y="1025525"/>
            <a:ext cx="9571038" cy="4779963"/>
          </a:xfrm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78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58333E-6 -1.85185E-6 L 4.58333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66667E-6 3.33333E-6 L -1.66667E-6 -0.07223 " pathEditMode="relative" rAng="0" ptsTypes="AA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1">
            <a:extLst>
              <a:ext uri="{FF2B5EF4-FFF2-40B4-BE49-F238E27FC236}">
                <a16:creationId xmlns:a16="http://schemas.microsoft.com/office/drawing/2014/main" id="{00EAEC91-2280-7B21-335D-80E930F6F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2600" y="1025525"/>
            <a:ext cx="9571038" cy="4779963"/>
          </a:xfrm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CN" sz="2400" dirty="0"/>
              <a:t> </a:t>
            </a:r>
            <a:r>
              <a:rPr kumimoji="1" lang="zh-CN" altLang="en-US" sz="2400" dirty="0"/>
              <a:t>求和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5AC0D1-BDE4-403F-AE0D-9B491B46AA70}"/>
              </a:ext>
            </a:extLst>
          </p:cNvPr>
          <p:cNvSpPr/>
          <p:nvPr/>
        </p:nvSpPr>
        <p:spPr>
          <a:xfrm>
            <a:off x="1479219" y="359528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</a:t>
            </a:r>
            <a:endParaRPr lang="zh-CN" altLang="en-US" sz="20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EED62-A53C-4609-A789-F8C61B3784D0}"/>
              </a:ext>
            </a:extLst>
          </p:cNvPr>
          <p:cNvSpPr/>
          <p:nvPr/>
        </p:nvSpPr>
        <p:spPr>
          <a:xfrm>
            <a:off x="2551471" y="3198337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F4A4C-7186-434A-9DF1-1BCC0A5DFCF7}"/>
              </a:ext>
            </a:extLst>
          </p:cNvPr>
          <p:cNvSpPr/>
          <p:nvPr/>
        </p:nvSpPr>
        <p:spPr>
          <a:xfrm>
            <a:off x="2155391" y="384326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</a:t>
            </a:r>
            <a:endParaRPr lang="zh-CN" altLang="en-US" sz="20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040267-2A8B-4778-8D28-3F6D785A4040}"/>
              </a:ext>
            </a:extLst>
          </p:cNvPr>
          <p:cNvSpPr/>
          <p:nvPr/>
        </p:nvSpPr>
        <p:spPr>
          <a:xfrm>
            <a:off x="766922" y="393384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</a:t>
            </a:r>
            <a:endParaRPr lang="zh-CN" altLang="en-US" sz="20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FB290-40C7-4A30-9EAF-163BFBA3EC7D}"/>
              </a:ext>
            </a:extLst>
          </p:cNvPr>
          <p:cNvSpPr/>
          <p:nvPr/>
        </p:nvSpPr>
        <p:spPr>
          <a:xfrm>
            <a:off x="2567836" y="469014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80</a:t>
            </a:r>
            <a:endParaRPr lang="zh-CN" altLang="en-US" sz="20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799CA6-E1B7-4F5E-8AEA-08EBDE80A024}"/>
              </a:ext>
            </a:extLst>
          </p:cNvPr>
          <p:cNvSpPr/>
          <p:nvPr/>
        </p:nvSpPr>
        <p:spPr>
          <a:xfrm>
            <a:off x="3166067" y="4267756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90</a:t>
            </a:r>
            <a:endParaRPr lang="zh-CN" altLang="en-US" sz="20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C487B-A3F0-4900-89FE-F937BD689303}"/>
              </a:ext>
            </a:extLst>
          </p:cNvPr>
          <p:cNvSpPr/>
          <p:nvPr/>
        </p:nvSpPr>
        <p:spPr>
          <a:xfrm>
            <a:off x="1548394" y="4606310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70</a:t>
            </a:r>
            <a:endParaRPr lang="zh-CN" altLang="en-US" sz="20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903494-4A3A-48AB-A646-2F808D13FAE9}"/>
              </a:ext>
            </a:extLst>
          </p:cNvPr>
          <p:cNvSpPr/>
          <p:nvPr/>
        </p:nvSpPr>
        <p:spPr>
          <a:xfrm>
            <a:off x="577777" y="3259723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B02709-0349-4937-80CB-37B3F04B3D73}"/>
              </a:ext>
            </a:extLst>
          </p:cNvPr>
          <p:cNvSpPr/>
          <p:nvPr/>
        </p:nvSpPr>
        <p:spPr>
          <a:xfrm>
            <a:off x="1566492" y="2805545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99240FF-8AA8-46D3-ACD7-42DE394F4662}"/>
              </a:ext>
            </a:extLst>
          </p:cNvPr>
          <p:cNvSpPr/>
          <p:nvPr/>
        </p:nvSpPr>
        <p:spPr>
          <a:xfrm>
            <a:off x="5476032" y="2761249"/>
            <a:ext cx="3426781" cy="76569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80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7C247B-AB3E-4C33-97BA-A4946A5DA5D0}"/>
              </a:ext>
            </a:extLst>
          </p:cNvPr>
          <p:cNvSpPr txBox="1"/>
          <p:nvPr/>
        </p:nvSpPr>
        <p:spPr>
          <a:xfrm>
            <a:off x="5476032" y="2400794"/>
            <a:ext cx="809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sum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6106E2-D9DC-421C-AA65-608153BA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73" y="4606310"/>
            <a:ext cx="15430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25E-6 2.22222E-6 L -1.25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79167E-6 -2.22222E-6 L -4.79167E-6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54167E-6 -3.33333E-6 L -3.54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4.07407E-6 L -3.75E-6 -0.07223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29167E-6 -2.96296E-6 L 2.29167E-6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1.11111E-6 L 3.95833E-6 -0.07222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8A6997D0-D59D-9935-04FA-E647535EA0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2600" y="1025525"/>
            <a:ext cx="9571038" cy="4779963"/>
          </a:xfrm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Consolas" panose="020B0609020204030204" pitchFamily="49" charset="0"/>
              </a:rPr>
              <a:t>需求：求</a:t>
            </a:r>
            <a:r>
              <a:rPr lang="en-US" altLang="zh-CN" sz="2000" dirty="0">
                <a:latin typeface="Consolas" panose="020B0609020204030204" pitchFamily="49" charset="0"/>
              </a:rPr>
              <a:t>1-100</a:t>
            </a:r>
            <a:r>
              <a:rPr lang="zh-CN" altLang="en-US" sz="2000" dirty="0">
                <a:latin typeface="Consolas" panose="020B0609020204030204" pitchFamily="49" charset="0"/>
              </a:rPr>
              <a:t>之间的偶数和，并把求和结果在控制台输出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分析：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定义求和变量 </a:t>
            </a:r>
            <a:r>
              <a:rPr lang="en-US" altLang="zh-CN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sum</a:t>
            </a:r>
            <a:r>
              <a:rPr lang="zh-CN" altLang="en-US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，准备记录累加的结果</a:t>
            </a:r>
            <a:endParaRPr lang="en-US" altLang="zh-CN" sz="20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循环，分别获取数据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– 100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循环使用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语句，筛选出偶数数据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将每一个偶数数据，和 </a:t>
            </a:r>
            <a:r>
              <a:rPr lang="en-US" altLang="zh-CN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sum </a:t>
            </a:r>
            <a:r>
              <a:rPr lang="zh-CN" altLang="en-US" sz="20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变量进行累加</a:t>
            </a:r>
            <a:endParaRPr lang="en-US" altLang="zh-CN" sz="20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循环结束后，打印求和后的结果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9" y="317277"/>
            <a:ext cx="9735968" cy="474415"/>
          </a:xfrm>
        </p:spPr>
        <p:txBody>
          <a:bodyPr/>
          <a:lstStyle/>
          <a:p>
            <a:r>
              <a:rPr kumimoji="1" lang="en-US" altLang="zh-CN" sz="2400"/>
              <a:t> </a:t>
            </a:r>
            <a:r>
              <a:rPr kumimoji="1" lang="zh-CN" altLang="en-US" sz="2400"/>
              <a:t>求和</a:t>
            </a:r>
            <a:endParaRPr kumimoji="1" lang="zh-CN" altLang="en-US" dirty="0"/>
          </a:p>
        </p:txBody>
      </p:sp>
      <p:sp>
        <p:nvSpPr>
          <p:cNvPr id="6" name="三角形 9">
            <a:extLst>
              <a:ext uri="{FF2B5EF4-FFF2-40B4-BE49-F238E27FC236}">
                <a16:creationId xmlns:a16="http://schemas.microsoft.com/office/drawing/2014/main" id="{5F9FA8C3-2C13-455C-A263-60EA1F08D043}"/>
              </a:ext>
            </a:extLst>
          </p:cNvPr>
          <p:cNvSpPr/>
          <p:nvPr/>
        </p:nvSpPr>
        <p:spPr>
          <a:xfrm rot="2651319">
            <a:off x="7488276" y="366686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3B3B10-5F1A-40B3-9A39-23503489EE2A}"/>
              </a:ext>
            </a:extLst>
          </p:cNvPr>
          <p:cNvSpPr/>
          <p:nvPr/>
        </p:nvSpPr>
        <p:spPr>
          <a:xfrm>
            <a:off x="7581590" y="3310283"/>
            <a:ext cx="3907477" cy="1413510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5303AD-93FA-4B07-BC0F-DB36EC4E6DA9}"/>
              </a:ext>
            </a:extLst>
          </p:cNvPr>
          <p:cNvSpPr/>
          <p:nvPr/>
        </p:nvSpPr>
        <p:spPr>
          <a:xfrm>
            <a:off x="7481662" y="3382753"/>
            <a:ext cx="1053296" cy="3009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思路积累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C4F4409-9B28-48E7-9F63-62BB0C9F5456}"/>
              </a:ext>
            </a:extLst>
          </p:cNvPr>
          <p:cNvSpPr txBox="1"/>
          <p:nvPr/>
        </p:nvSpPr>
        <p:spPr>
          <a:xfrm>
            <a:off x="7826066" y="3807927"/>
            <a:ext cx="3497572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今后若遇到的需求是，求 </a:t>
            </a:r>
            <a:r>
              <a:rPr lang="en-US" altLang="zh-CN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xxx </a:t>
            </a:r>
            <a:r>
              <a:rPr lang="zh-CN" altLang="en-US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的和</a:t>
            </a:r>
            <a:endParaRPr lang="en-US" altLang="zh-CN" sz="1400" dirty="0">
              <a:solidFill>
                <a:srgbClr val="00B05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就要联想到求和变量 </a:t>
            </a:r>
            <a:r>
              <a:rPr lang="en-US" altLang="zh-CN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209498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需求：在控制台输出所有的“水仙花数”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什么是“水仙花数”？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水仙花数是一个三位数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111    222    333    370    371    520    999  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水仙花数的个位、十位、百位的数字立方和等于原数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水仙花数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82CC292-CCEB-489A-8E1E-A8AAE632895B}"/>
              </a:ext>
            </a:extLst>
          </p:cNvPr>
          <p:cNvSpPr txBox="1"/>
          <p:nvPr/>
        </p:nvSpPr>
        <p:spPr>
          <a:xfrm>
            <a:off x="2100828" y="4046648"/>
            <a:ext cx="914342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6E28617-20B7-41A0-8B8F-B5F831600F94}"/>
              </a:ext>
            </a:extLst>
          </p:cNvPr>
          <p:cNvSpPr txBox="1"/>
          <p:nvPr/>
        </p:nvSpPr>
        <p:spPr>
          <a:xfrm>
            <a:off x="2833443" y="4046648"/>
            <a:ext cx="1558332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+2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+3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7FD72-55E0-48C8-B854-98BB7AC3C44B}"/>
              </a:ext>
            </a:extLst>
          </p:cNvPr>
          <p:cNvSpPr txBox="1"/>
          <p:nvPr/>
        </p:nvSpPr>
        <p:spPr>
          <a:xfrm>
            <a:off x="4210048" y="4046648"/>
            <a:ext cx="2512165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1 + 8 + 27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C180150-D2C2-4E3D-8FD7-8196214DE945}"/>
              </a:ext>
            </a:extLst>
          </p:cNvPr>
          <p:cNvSpPr txBox="1"/>
          <p:nvPr/>
        </p:nvSpPr>
        <p:spPr>
          <a:xfrm>
            <a:off x="6143535" y="4039714"/>
            <a:ext cx="1157356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 36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214188C9-05E2-4988-9419-15846A271222}"/>
              </a:ext>
            </a:extLst>
          </p:cNvPr>
          <p:cNvSpPr txBox="1"/>
          <p:nvPr/>
        </p:nvSpPr>
        <p:spPr>
          <a:xfrm>
            <a:off x="7119164" y="4046648"/>
            <a:ext cx="1163434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≠ 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BAF4462-E710-429C-BD99-94A9C20E0B6F}"/>
              </a:ext>
            </a:extLst>
          </p:cNvPr>
          <p:cNvSpPr txBox="1"/>
          <p:nvPr/>
        </p:nvSpPr>
        <p:spPr>
          <a:xfrm>
            <a:off x="8679549" y="4041840"/>
            <a:ext cx="1941081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不是水仙花数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821FC37-663C-4946-A4FC-FC8FE2690E38}"/>
              </a:ext>
            </a:extLst>
          </p:cNvPr>
          <p:cNvSpPr txBox="1"/>
          <p:nvPr/>
        </p:nvSpPr>
        <p:spPr>
          <a:xfrm>
            <a:off x="2100828" y="4974201"/>
            <a:ext cx="914342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371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1E33E03-37D5-4464-AD4A-F68C48D37962}"/>
              </a:ext>
            </a:extLst>
          </p:cNvPr>
          <p:cNvSpPr txBox="1"/>
          <p:nvPr/>
        </p:nvSpPr>
        <p:spPr>
          <a:xfrm>
            <a:off x="2833443" y="4974201"/>
            <a:ext cx="1558332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+7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en-US" altLang="zh-CN" sz="2000" baseline="30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8F9F3BC-B265-455A-A7A7-C441DF831EC3}"/>
              </a:ext>
            </a:extLst>
          </p:cNvPr>
          <p:cNvSpPr txBox="1"/>
          <p:nvPr/>
        </p:nvSpPr>
        <p:spPr>
          <a:xfrm>
            <a:off x="4210048" y="4974201"/>
            <a:ext cx="2512165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27 + 343 +  1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F0D19980-15F8-4CE3-9D7C-47A5E126F293}"/>
              </a:ext>
            </a:extLst>
          </p:cNvPr>
          <p:cNvSpPr txBox="1"/>
          <p:nvPr/>
        </p:nvSpPr>
        <p:spPr>
          <a:xfrm>
            <a:off x="6540486" y="4974201"/>
            <a:ext cx="1157356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 371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7120C5E4-20DE-4C53-83F4-57EB0F9E030C}"/>
              </a:ext>
            </a:extLst>
          </p:cNvPr>
          <p:cNvSpPr txBox="1"/>
          <p:nvPr/>
        </p:nvSpPr>
        <p:spPr>
          <a:xfrm>
            <a:off x="7516115" y="4974201"/>
            <a:ext cx="1163434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＝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371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8EC9BB5-9001-41ED-BF2A-90BD4C484994}"/>
              </a:ext>
            </a:extLst>
          </p:cNvPr>
          <p:cNvSpPr txBox="1"/>
          <p:nvPr/>
        </p:nvSpPr>
        <p:spPr>
          <a:xfrm>
            <a:off x="8497820" y="4974201"/>
            <a:ext cx="1941081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是水仙花数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858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7" grpId="0" autoUpdateAnimBg="0"/>
      <p:bldP spid="1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水仙花数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需求：在控制台输出所有的“水仙花数”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分析：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循环，获取到所有的三位数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100 - 999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在循环内部，将每一个三位数拆分为（个位，十位，百位）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加入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筛选条件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(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 bai*bai*bai ==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原数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满足条件则输出水仙花数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602A8670-4870-D52D-DF01-9197BD3AAC71}"/>
              </a:ext>
            </a:extLst>
          </p:cNvPr>
          <p:cNvSpPr txBox="1">
            <a:spLocks/>
          </p:cNvSpPr>
          <p:nvPr/>
        </p:nvSpPr>
        <p:spPr>
          <a:xfrm>
            <a:off x="1905499" y="1177332"/>
            <a:ext cx="9570540" cy="47805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60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251C-74C6-0400-10AA-A0237602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52D18C8-C816-A0FF-C032-7F3B30C40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sz="1800" dirty="0"/>
              <a:t>需求：在控制台输出所有的“水仙花数”，并统计出水仙花数的个数</a:t>
            </a:r>
            <a:endParaRPr lang="en-US" altLang="zh-CN" sz="1800" dirty="0"/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E81BDEC-D95B-5CA0-2FA0-44CB96AF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统计水仙花数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BAA446-AA4D-48DA-A078-7232FD14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647" y="2882102"/>
            <a:ext cx="1659458" cy="21650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6FACFC-5EEE-40E6-A162-962B61BA3345}"/>
              </a:ext>
            </a:extLst>
          </p:cNvPr>
          <p:cNvSpPr txBox="1"/>
          <p:nvPr/>
        </p:nvSpPr>
        <p:spPr>
          <a:xfrm>
            <a:off x="6264121" y="2238786"/>
            <a:ext cx="754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153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26069E-F30C-4497-9403-25FCF15F72DD}"/>
              </a:ext>
            </a:extLst>
          </p:cNvPr>
          <p:cNvSpPr txBox="1"/>
          <p:nvPr/>
        </p:nvSpPr>
        <p:spPr>
          <a:xfrm>
            <a:off x="6079390" y="2759608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6EBC80-AE69-4554-99A6-8EFE5F14CB69}"/>
              </a:ext>
            </a:extLst>
          </p:cNvPr>
          <p:cNvSpPr txBox="1"/>
          <p:nvPr/>
        </p:nvSpPr>
        <p:spPr>
          <a:xfrm>
            <a:off x="7465454" y="2848811"/>
            <a:ext cx="754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370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916E89-D1E9-495C-B3A2-CA0B9F202029}"/>
              </a:ext>
            </a:extLst>
          </p:cNvPr>
          <p:cNvSpPr txBox="1"/>
          <p:nvPr/>
        </p:nvSpPr>
        <p:spPr>
          <a:xfrm>
            <a:off x="6635725" y="3336764"/>
            <a:ext cx="754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074DC8"/>
                </a:solidFill>
                <a:latin typeface="Consolas" panose="020B0609020204030204" pitchFamily="49" charset="0"/>
              </a:rPr>
              <a:t>371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F6150B-7437-4C65-9EB0-0253F6D2F434}"/>
              </a:ext>
            </a:extLst>
          </p:cNvPr>
          <p:cNvSpPr txBox="1"/>
          <p:nvPr/>
        </p:nvSpPr>
        <p:spPr>
          <a:xfrm>
            <a:off x="7390327" y="4373727"/>
            <a:ext cx="754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407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F8F669C-CBAE-4891-B901-FDB6EEEE0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676" y="5061543"/>
            <a:ext cx="2000250" cy="77152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A05904C-336D-4DC2-A8CD-9FB60364E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243" y="2551350"/>
            <a:ext cx="942975" cy="6953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D65895-27D8-455F-9C53-B03EBDB71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689" y="3236073"/>
            <a:ext cx="942975" cy="69532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4CC75CF-9662-48E7-A523-3786D2747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77" y="4029158"/>
            <a:ext cx="942975" cy="69532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D2974DD-AF7B-4CCC-A1E5-C93DE231F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718" y="4675813"/>
            <a:ext cx="9429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0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7FD6A-CB54-BA67-251E-5E686850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345A537-84C7-5B4D-AC6C-A0915E71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统计水仙花数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3D2984F-06BA-1436-C2BF-053882398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需求：在控制台输出所有的“水仙花数”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分析：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定义计数器变量 </a:t>
            </a:r>
            <a:r>
              <a:rPr lang="en-US" altLang="zh-CN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</a:t>
            </a: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，准备统计水仙花数的个数</a:t>
            </a:r>
            <a:endParaRPr lang="en-US" altLang="zh-CN" sz="1800" dirty="0">
              <a:solidFill>
                <a:srgbClr val="B2373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循环，获取到所有的三位数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100 - 999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在循环内部，将每一个三位数拆分为（个位，十位，百位）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加入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筛选条件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(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shi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 bai*bai*bai ==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原数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满足条件则输出水仙花数，</a:t>
            </a:r>
            <a:r>
              <a:rPr lang="en-US" altLang="zh-CN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</a:t>
            </a: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</a:t>
            </a:r>
            <a:r>
              <a:rPr lang="en-US" altLang="zh-CN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++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/>
            </a:pP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 </a:t>
            </a:r>
            <a:r>
              <a:rPr lang="en-US" altLang="zh-CN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</a:t>
            </a:r>
            <a:r>
              <a:rPr lang="zh-CN" altLang="en-US" sz="1800" dirty="0">
                <a:solidFill>
                  <a:srgbClr val="B2373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所记录的值</a:t>
            </a:r>
            <a:endParaRPr lang="en-US" altLang="zh-CN" sz="1800" dirty="0">
              <a:solidFill>
                <a:srgbClr val="B2373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E7A1022-4D48-33A4-5DBD-C29167C651E4}"/>
              </a:ext>
            </a:extLst>
          </p:cNvPr>
          <p:cNvSpPr txBox="1">
            <a:spLocks/>
          </p:cNvSpPr>
          <p:nvPr/>
        </p:nvSpPr>
        <p:spPr>
          <a:xfrm>
            <a:off x="1905499" y="1177332"/>
            <a:ext cx="9570540" cy="47805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78FB08FC-97AC-4558-9030-99EBB0C973FB}"/>
              </a:ext>
            </a:extLst>
          </p:cNvPr>
          <p:cNvSpPr/>
          <p:nvPr/>
        </p:nvSpPr>
        <p:spPr>
          <a:xfrm rot="2651319">
            <a:off x="7566369" y="552540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E335D01-7B6F-4D64-9B22-01DD87F15CC0}"/>
              </a:ext>
            </a:extLst>
          </p:cNvPr>
          <p:cNvSpPr txBox="1"/>
          <p:nvPr/>
        </p:nvSpPr>
        <p:spPr>
          <a:xfrm>
            <a:off x="7904159" y="5666464"/>
            <a:ext cx="3505521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今后若遇到的需求是，统计</a:t>
            </a:r>
            <a:r>
              <a:rPr lang="en-US" altLang="zh-CN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xxx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就要联想到计数器变量 </a:t>
            </a:r>
            <a:r>
              <a:rPr lang="en-US" altLang="zh-CN" sz="1400" dirty="0">
                <a:solidFill>
                  <a:srgbClr val="00B05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count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12AB12-516F-478C-B12D-C32181CA4084}"/>
              </a:ext>
            </a:extLst>
          </p:cNvPr>
          <p:cNvSpPr/>
          <p:nvPr/>
        </p:nvSpPr>
        <p:spPr>
          <a:xfrm>
            <a:off x="7659683" y="5168820"/>
            <a:ext cx="3907477" cy="1413510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D98C5B-F16A-4D6D-AF28-4FC8E8F1A2E0}"/>
              </a:ext>
            </a:extLst>
          </p:cNvPr>
          <p:cNvSpPr/>
          <p:nvPr/>
        </p:nvSpPr>
        <p:spPr>
          <a:xfrm>
            <a:off x="7559755" y="5241290"/>
            <a:ext cx="1053296" cy="3009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思路积累</a:t>
            </a:r>
          </a:p>
        </p:txBody>
      </p:sp>
    </p:spTree>
    <p:extLst>
      <p:ext uri="{BB962C8B-B14F-4D97-AF65-F5344CB8AC3E}">
        <p14:creationId xmlns:p14="http://schemas.microsoft.com/office/powerpoint/2010/main" val="2729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81C4-D021-032E-77F5-71FEE674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2">
            <a:extLst>
              <a:ext uri="{FF2B5EF4-FFF2-40B4-BE49-F238E27FC236}">
                <a16:creationId xmlns:a16="http://schemas.microsoft.com/office/drawing/2014/main" id="{71151DB5-9F6F-F4DB-820C-C0579873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 </a:t>
            </a:r>
            <a:r>
              <a:rPr kumimoji="1" lang="zh-CN" altLang="en-US" dirty="0"/>
              <a:t>循环语句注意事项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5A2B10-D9C9-4758-97DD-EE7E0C49FA69}"/>
              </a:ext>
            </a:extLst>
          </p:cNvPr>
          <p:cNvSpPr/>
          <p:nvPr/>
        </p:nvSpPr>
        <p:spPr>
          <a:xfrm>
            <a:off x="576626" y="995869"/>
            <a:ext cx="9179120" cy="2130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}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中定义的变量，在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每一轮循环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结束后，都会从内存中释放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 )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中定义的变量，在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整个循环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结束后，都会从内存中释放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循环语句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 )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}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之间不要写分号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617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3AC8-35C3-3C82-B09D-73B80981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3">
            <a:extLst>
              <a:ext uri="{FF2B5EF4-FFF2-40B4-BE49-F238E27FC236}">
                <a16:creationId xmlns:a16="http://schemas.microsoft.com/office/drawing/2014/main" id="{78975D78-FD09-0D81-0EF5-D3ADBE63062B}"/>
              </a:ext>
            </a:extLst>
          </p:cNvPr>
          <p:cNvSpPr txBox="1"/>
          <p:nvPr/>
        </p:nvSpPr>
        <p:spPr>
          <a:xfrm>
            <a:off x="3592747" y="548930"/>
            <a:ext cx="8307414" cy="5658688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()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中定义的变量，在循环结束后还可以继续使用吗？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{ }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中定义的变量，什么时候从内存中消失？ 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()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和 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{ } 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之间写分号，还可以控制循环体吗？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951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2">
            <a:extLst>
              <a:ext uri="{FF2B5EF4-FFF2-40B4-BE49-F238E27FC236}">
                <a16:creationId xmlns:a16="http://schemas.microsoft.com/office/drawing/2014/main" id="{76AB7B72-4E7C-46EC-BEBE-686E868C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循环嵌套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249C0F-8703-4A5D-BB46-2C8BE50D08A5}"/>
              </a:ext>
            </a:extLst>
          </p:cNvPr>
          <p:cNvSpPr/>
          <p:nvPr/>
        </p:nvSpPr>
        <p:spPr>
          <a:xfrm>
            <a:off x="576626" y="1021508"/>
            <a:ext cx="6517217" cy="4689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循环嵌套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在循环语句中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继续出现循环语句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908F51AE-C5D1-F11D-253E-D07C79C3E52C}"/>
              </a:ext>
            </a:extLst>
          </p:cNvPr>
          <p:cNvGrpSpPr/>
          <p:nvPr/>
        </p:nvGrpSpPr>
        <p:grpSpPr>
          <a:xfrm>
            <a:off x="630073" y="1806650"/>
            <a:ext cx="4901403" cy="2739592"/>
            <a:chOff x="2297720" y="3660322"/>
            <a:chExt cx="6517796" cy="258647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EE6F472-BD9F-92AE-58F8-9117DA1B4DE4}"/>
                </a:ext>
              </a:extLst>
            </p:cNvPr>
            <p:cNvSpPr/>
            <p:nvPr/>
          </p:nvSpPr>
          <p:spPr>
            <a:xfrm>
              <a:off x="2297727" y="3660324"/>
              <a:ext cx="6517789" cy="2586469"/>
            </a:xfrm>
            <a:prstGeom prst="roundRect">
              <a:avLst>
                <a:gd name="adj" fmla="val 315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2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for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i = </a:t>
              </a:r>
              <a:r>
                <a:rPr lang="zh-CN" altLang="zh-CN" sz="1200" dirty="0">
                  <a:solidFill>
                    <a:srgbClr val="1750EB"/>
                  </a:solidFill>
                  <a:latin typeface="Consolas" panose="020B0609020204030204" pitchFamily="49" charset="0"/>
                </a:rPr>
                <a:t>1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;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i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&lt;= </a:t>
              </a:r>
              <a:r>
                <a:rPr lang="zh-CN" altLang="zh-CN" sz="1200" dirty="0">
                  <a:solidFill>
                    <a:srgbClr val="1750EB"/>
                  </a:solidFill>
                  <a:latin typeface="Consolas" panose="020B0609020204030204" pitchFamily="49" charset="0"/>
                </a:rPr>
                <a:t>5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; i++)</a:t>
              </a:r>
              <a:r>
                <a:rPr lang="en-US" altLang="zh-CN" sz="1200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2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for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 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j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= </a:t>
              </a:r>
              <a:r>
                <a:rPr lang="zh-CN" altLang="zh-CN" sz="1200" dirty="0">
                  <a:solidFill>
                    <a:srgbClr val="1750EB"/>
                  </a:solidFill>
                  <a:latin typeface="Consolas" panose="020B0609020204030204" pitchFamily="49" charset="0"/>
                </a:rPr>
                <a:t>1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; 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j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&lt;= </a:t>
              </a:r>
              <a:r>
                <a:rPr lang="zh-CN" altLang="zh-CN" sz="1200" dirty="0">
                  <a:solidFill>
                    <a:srgbClr val="1750EB"/>
                  </a:solidFill>
                  <a:latin typeface="Consolas" panose="020B0609020204030204" pitchFamily="49" charset="0"/>
                </a:rPr>
                <a:t>5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; 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j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++)</a:t>
              </a:r>
              <a:r>
                <a:rPr lang="en-US" altLang="zh-CN" sz="1200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    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System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.</a:t>
              </a:r>
              <a:r>
                <a:rPr lang="zh-CN" altLang="zh-CN" sz="1200" i="1" dirty="0">
                  <a:solidFill>
                    <a:srgbClr val="871094"/>
                  </a:solidFill>
                  <a:latin typeface="Consolas" panose="020B0609020204030204" pitchFamily="49" charset="0"/>
                </a:rPr>
                <a:t>out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.println(</a:t>
              </a:r>
              <a:r>
                <a:rPr lang="zh-CN" altLang="zh-CN" sz="1200" dirty="0">
                  <a:solidFill>
                    <a:srgbClr val="067D17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zh-CN" sz="1200" dirty="0">
                  <a:solidFill>
                    <a:srgbClr val="067D17"/>
                  </a:solidFill>
                  <a:latin typeface="Consolas" panose="020B0609020204030204" pitchFamily="49" charset="0"/>
                </a:rPr>
                <a:t>HelloWorld</a:t>
              </a:r>
              <a:r>
                <a:rPr lang="zh-CN" altLang="zh-CN" sz="1200" dirty="0">
                  <a:solidFill>
                    <a:srgbClr val="067D17"/>
                  </a:solidFill>
                  <a:latin typeface="Consolas" panose="020B0609020204030204" pitchFamily="49" charset="0"/>
                </a:rPr>
                <a:t>"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);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2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1F51C798-D434-AF2C-DE4C-11EE50D51A03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A64A25B-FBE1-6A89-55BB-D0953AD4637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8217710-6AAD-DFF0-5C12-62752C033D2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CFBB1A6-A19C-3535-7146-75712FDBE88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B143AB93-36AA-905B-9B02-EE98DFC20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962" y="2925064"/>
            <a:ext cx="5300684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67" dirty="0">
                <a:solidFill>
                  <a:srgbClr val="C00000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外循环执行一次</a:t>
            </a:r>
            <a:r>
              <a:rPr lang="en-US" altLang="zh-CN" sz="2667" dirty="0">
                <a:solidFill>
                  <a:srgbClr val="C00000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, </a:t>
            </a:r>
            <a:r>
              <a:rPr lang="zh-CN" altLang="en-US" sz="2667" dirty="0">
                <a:solidFill>
                  <a:srgbClr val="C00000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内循环执行一圈</a:t>
            </a:r>
          </a:p>
        </p:txBody>
      </p:sp>
    </p:spTree>
    <p:extLst>
      <p:ext uri="{BB962C8B-B14F-4D97-AF65-F5344CB8AC3E}">
        <p14:creationId xmlns:p14="http://schemas.microsoft.com/office/powerpoint/2010/main" val="133511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1545-E314-8DE6-EA68-C8B554B4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EF6E60-7F4D-DAA6-C1BD-F8752A0D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循环嵌套案例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4BE3A-E02D-218A-07A3-05F9989F5D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5947368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* </a:t>
            </a:r>
            <a:r>
              <a:rPr lang="zh-CN" altLang="en-US" dirty="0"/>
              <a:t>在控制台打印出</a:t>
            </a:r>
            <a:r>
              <a:rPr lang="en-US" altLang="zh-CN" dirty="0"/>
              <a:t>4</a:t>
            </a:r>
            <a:r>
              <a:rPr lang="zh-CN" altLang="en-US" dirty="0"/>
              <a:t>行</a:t>
            </a:r>
            <a:r>
              <a:rPr lang="en-US" altLang="zh-CN" dirty="0"/>
              <a:t>5</a:t>
            </a:r>
            <a:r>
              <a:rPr lang="zh-CN" altLang="en-US" dirty="0"/>
              <a:t>列的矩形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*****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*****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/>
              <a:t>* </a:t>
            </a:r>
            <a:r>
              <a:rPr lang="zh-CN" altLang="en-US" dirty="0"/>
              <a:t>在控制台打印出</a:t>
            </a:r>
            <a:r>
              <a:rPr lang="en-US" altLang="zh-CN" dirty="0"/>
              <a:t>5</a:t>
            </a:r>
            <a:r>
              <a:rPr lang="zh-CN" altLang="en-US" dirty="0"/>
              <a:t>行的直角三角形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****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*****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99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1D60-F540-E4C7-DCB1-5DDAF6B9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B85C6-0273-551B-93D6-3E88C80194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循环嵌套：在循环中继续编写循环语句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执行流程：外循环执行一次，内循环执行一圈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思路：如果一个循环任务还要继续执行多次，使用外循环包裹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A7D1C981-87FE-F5E8-E440-0B768C52273D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14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61C7-2DD0-ACC8-0B38-57069F70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381FBB3-897E-23AF-09AA-2D79D6D449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1717611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1032-893A-5CA1-FB44-A32690F97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96110D-27DB-A2E7-7DED-431CA023D6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循环结构 </a:t>
            </a:r>
            <a:r>
              <a:rPr lang="en-US" altLang="zh-CN" dirty="0"/>
              <a:t>while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B37E549-9D6D-F474-17F8-146328670B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4903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 txBox="1"/>
          <p:nvPr/>
        </p:nvSpPr>
        <p:spPr>
          <a:xfrm>
            <a:off x="813382" y="1789861"/>
            <a:ext cx="3956050" cy="170688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初始化语句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判断语句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循环体语句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控制语句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40" name="文本占位符 3"/>
          <p:cNvSpPr txBox="1"/>
          <p:nvPr/>
        </p:nvSpPr>
        <p:spPr>
          <a:xfrm>
            <a:off x="710880" y="1077395"/>
            <a:ext cx="3287683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格式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2501477-3601-F585-30A2-6C0A50DF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AF2D63D-39CD-FFBF-03F3-B5879B22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珠穆朗玛峰</a:t>
            </a:r>
          </a:p>
        </p:txBody>
      </p:sp>
      <p:sp>
        <p:nvSpPr>
          <p:cNvPr id="23" name="文本占位符 19"/>
          <p:cNvSpPr>
            <a:spLocks noGrp="1"/>
          </p:cNvSpPr>
          <p:nvPr>
            <p:ph type="body" sz="quarter" idx="4294967295"/>
          </p:nvPr>
        </p:nvSpPr>
        <p:spPr>
          <a:xfrm>
            <a:off x="3654681" y="908900"/>
            <a:ext cx="8274050" cy="421957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1800" b="1" dirty="0">
                <a:sym typeface="Consolas" panose="020B0609020204030204" pitchFamily="49" charset="0"/>
              </a:rPr>
              <a:t>需求：</a:t>
            </a:r>
            <a:r>
              <a:rPr lang="zh-CN" altLang="en-US" dirty="0">
                <a:sym typeface="Consolas" panose="020B0609020204030204" pitchFamily="49" charset="0"/>
              </a:rPr>
              <a:t>世界最高山峰珠穆朗玛峰高度是：</a:t>
            </a:r>
            <a:r>
              <a:rPr lang="en-US" altLang="zh-CN" dirty="0">
                <a:sym typeface="Consolas" panose="020B0609020204030204" pitchFamily="49" charset="0"/>
              </a:rPr>
              <a:t>8848.86</a:t>
            </a:r>
            <a:r>
              <a:rPr lang="zh-CN" altLang="en-US" dirty="0">
                <a:sym typeface="Consolas" panose="020B0609020204030204" pitchFamily="49" charset="0"/>
              </a:rPr>
              <a:t>米</a:t>
            </a:r>
            <a:r>
              <a:rPr lang="en-US" altLang="zh-CN" dirty="0">
                <a:sym typeface="Consolas" panose="020B0609020204030204" pitchFamily="49" charset="0"/>
              </a:rPr>
              <a:t>=8848860</a:t>
            </a:r>
            <a:r>
              <a:rPr lang="zh-CN" altLang="en-US" dirty="0">
                <a:sym typeface="Consolas" panose="020B0609020204030204" pitchFamily="49" charset="0"/>
              </a:rPr>
              <a:t>毫米，假如我有一张足够大的纸，它的厚度是</a:t>
            </a:r>
            <a:r>
              <a:rPr lang="en-US" altLang="zh-CN" dirty="0">
                <a:sym typeface="Consolas" panose="020B0609020204030204" pitchFamily="49" charset="0"/>
              </a:rPr>
              <a:t>0.1</a:t>
            </a:r>
            <a:r>
              <a:rPr lang="zh-CN" altLang="en-US" dirty="0">
                <a:sym typeface="Consolas" panose="020B0609020204030204" pitchFamily="49" charset="0"/>
              </a:rPr>
              <a:t>毫米。请问：该纸张折叠多少次，可以折成珠穆朗玛峰的高度？</a:t>
            </a:r>
            <a:endParaRPr lang="en-US" altLang="zh-CN" b="1" dirty="0"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5" y="1798291"/>
            <a:ext cx="2903196" cy="2789207"/>
          </a:xfrm>
          <a:prstGeom prst="rect">
            <a:avLst/>
          </a:prstGeom>
        </p:spPr>
      </p:pic>
      <p:sp>
        <p:nvSpPr>
          <p:cNvPr id="5" name="文本占位符 19"/>
          <p:cNvSpPr txBox="1"/>
          <p:nvPr/>
        </p:nvSpPr>
        <p:spPr>
          <a:xfrm>
            <a:off x="3654681" y="2638425"/>
            <a:ext cx="8148435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latin typeface="Consolas" panose="020B0609020204030204" pitchFamily="49" charset="0"/>
                <a:sym typeface="Consolas" panose="020B0609020204030204" pitchFamily="49" charset="0"/>
              </a:rPr>
              <a:t>分析</a:t>
            </a:r>
            <a:endParaRPr lang="en-US" altLang="zh-CN" sz="1800" b="1" dirty="0"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定义变量存储珠穆朗玛峰的高度、纸张的高度。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endParaRPr lang="en-US" altLang="zh-CN" dirty="0"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endParaRPr lang="en-US" altLang="zh-CN" dirty="0"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使用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while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循环来控制纸张折叠，循环条件是（纸张厚度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&lt;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山峰高度），循环每执行一次，就表示纸张折叠一次，并把纸张厚度变为原来两倍。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循环外定义计数变量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count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，循环每折叠一次纸张，让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count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变量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+1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60988" y="3788710"/>
            <a:ext cx="4342487" cy="707438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double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peakHeight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8848860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// 山峰高度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double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paperThickness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0.1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// 纸张厚度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3"/>
          <p:cNvSpPr txBox="1"/>
          <p:nvPr/>
        </p:nvSpPr>
        <p:spPr>
          <a:xfrm>
            <a:off x="3658232" y="3246123"/>
            <a:ext cx="8229355" cy="1760091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1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、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while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循环的格式，执行流程是怎么样的？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2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、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while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和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for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有什么区别？什么时候用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for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，什么时候用</a:t>
            </a:r>
            <a:r>
              <a:rPr kumimoji="1" lang="en-US" altLang="zh-CN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while</a:t>
            </a:r>
            <a:r>
              <a:rPr kumimoji="1" lang="zh-CN" altLang="en-US" b="0" dirty="0">
                <a:solidFill>
                  <a:schemeClr val="tx1">
                    <a:lumMod val="50000"/>
                  </a:schemeClr>
                </a:solidFill>
                <a:sym typeface="Consolas" panose="020B0609020204030204" pitchFamily="49" charset="0"/>
              </a:rPr>
              <a:t>？</a:t>
            </a:r>
            <a:endParaRPr kumimoji="1" lang="en-US" altLang="zh-CN" b="0" dirty="0">
              <a:solidFill>
                <a:schemeClr val="tx1">
                  <a:lumMod val="50000"/>
                </a:schemeClr>
              </a:solidFill>
              <a:sym typeface="Consolas" panose="020B0609020204030204" pitchFamily="49" charset="0"/>
            </a:endParaRPr>
          </a:p>
          <a:p>
            <a:pPr marL="1085850" lvl="2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功能上是完全一样的，</a:t>
            </a:r>
            <a:r>
              <a:rPr kumimoji="1"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能解决的</a:t>
            </a:r>
            <a:r>
              <a:rPr kumimoji="1"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也能解决，反之亦然</a:t>
            </a:r>
            <a:endParaRPr kumimoji="1"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1085850" lvl="2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使用规范：知道循环次数，使用</a:t>
            </a:r>
            <a:r>
              <a:rPr kumimoji="1"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；不知道循环次数建议使用</a:t>
            </a:r>
            <a:r>
              <a:rPr kumimoji="1"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</a:p>
          <a:p>
            <a:endParaRPr kumimoji="1" lang="en-US" altLang="zh-CN" b="0" dirty="0">
              <a:sym typeface="Consolas" panose="020B0609020204030204" pitchFamily="49" charset="0"/>
            </a:endParaRPr>
          </a:p>
          <a:p>
            <a:endParaRPr kumimoji="1" lang="zh-CN" altLang="en-US" b="0" dirty="0">
              <a:sym typeface="Consolas" panose="020B0609020204030204" pitchFamily="49" charset="0"/>
            </a:endParaRPr>
          </a:p>
          <a:p>
            <a:pPr lvl="1"/>
            <a:endParaRPr kumimoji="1" lang="zh-CN" altLang="en-US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1"/>
            <a:endParaRPr kumimoji="1" lang="zh-CN" altLang="en-US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4541148" y="1928921"/>
            <a:ext cx="1796899" cy="167796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初始化语句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zh-CN" sz="1400" b="1" dirty="0">
                <a:solidFill>
                  <a:srgbClr val="00008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循环条件</a:t>
            </a:r>
            <a:r>
              <a:rPr lang="zh-CN" altLang="zh-CN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  <a:br>
              <a:rPr lang="zh-CN" altLang="zh-CN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循环体语句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迭代语句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6762770" y="1933346"/>
            <a:ext cx="4003842" cy="170688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 = 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(i &lt;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=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"HelloWorld"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i++;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lang="zh-CN" altLang="zh-CN" sz="3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8F21-5809-1072-75D6-335F8162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F77F6A9-A342-0E7B-5404-E664527CD0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236116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97C5-57CD-39B3-607C-85C3DACD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8BB16D-B5C3-8E17-FC1C-CAD11A851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循环结构 </a:t>
            </a:r>
            <a:r>
              <a:rPr lang="en-US" altLang="zh-CN" dirty="0"/>
              <a:t>do…while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137551F-D102-4489-F7CC-3755589276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27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循环结构 </a:t>
            </a:r>
            <a:r>
              <a:rPr kumimoji="1" lang="en-US" altLang="zh-CN" dirty="0"/>
              <a:t>do...while</a:t>
            </a:r>
            <a:endParaRPr kumimoji="1" lang="zh-CN" altLang="en-US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DAA0710-9B56-B4C1-E1B3-2D2BD125F378}"/>
              </a:ext>
            </a:extLst>
          </p:cNvPr>
          <p:cNvSpPr txBox="1"/>
          <p:nvPr/>
        </p:nvSpPr>
        <p:spPr>
          <a:xfrm>
            <a:off x="708718" y="1077890"/>
            <a:ext cx="3992071" cy="167693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初始化语句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循环体语句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条件控制语句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循环条件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7E91B-1059-0B21-0E96-E7193095567F}"/>
              </a:ext>
            </a:extLst>
          </p:cNvPr>
          <p:cNvSpPr txBox="1"/>
          <p:nvPr/>
        </p:nvSpPr>
        <p:spPr>
          <a:xfrm>
            <a:off x="5267839" y="1077890"/>
            <a:ext cx="5157609" cy="167353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 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"Hello World</a:t>
            </a:r>
            <a:r>
              <a:rPr lang="en-US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!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i++;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 </a:t>
            </a:r>
            <a:r>
              <a:rPr lang="en-US" altLang="zh-CN" sz="1400" dirty="0" err="1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&lt; 3);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A0E8C2-1A5B-169D-86EE-A31DF25E212B}"/>
              </a:ext>
            </a:extLst>
          </p:cNvPr>
          <p:cNvSpPr txBox="1"/>
          <p:nvPr/>
        </p:nvSpPr>
        <p:spPr>
          <a:xfrm>
            <a:off x="708718" y="3023096"/>
            <a:ext cx="2603900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do-while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循环的特点：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先执行后判断。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7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E4EF-9483-C97B-46AA-F2ADA227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55F8A5-3F70-47AF-AD4E-FD5E2A47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三种循环的区别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2921CDD-13B4-338D-F501-F490197383A0}"/>
              </a:ext>
            </a:extLst>
          </p:cNvPr>
          <p:cNvSpPr txBox="1"/>
          <p:nvPr/>
        </p:nvSpPr>
        <p:spPr>
          <a:xfrm>
            <a:off x="576626" y="1079601"/>
            <a:ext cx="10759920" cy="79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605" lvl="4" indent="-268605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 和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循环（先判断后执行）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268605" lvl="4" indent="-268605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do...while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（先执行后判断）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14B750A-1BBA-CBA4-0863-560A4D23BB96}"/>
              </a:ext>
            </a:extLst>
          </p:cNvPr>
          <p:cNvSpPr txBox="1"/>
          <p:nvPr/>
        </p:nvSpPr>
        <p:spPr>
          <a:xfrm>
            <a:off x="586947" y="2144866"/>
            <a:ext cx="10749599" cy="150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循环的执行流程是一模一样的，功能上无区别，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能做的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也能做，反之亦然。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使用规范：如果已知循环次数建议使用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循环，如果不清楚要循环多少次建议使用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其他区别：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循环中，控制循环的变量只在循环中使用。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循环中，控制循环的变量在循环后还可以继续使用。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C7CB856E-5133-B75C-16CA-47F2638FCB68}"/>
              </a:ext>
            </a:extLst>
          </p:cNvPr>
          <p:cNvSpPr txBox="1"/>
          <p:nvPr/>
        </p:nvSpPr>
        <p:spPr>
          <a:xfrm>
            <a:off x="5337880" y="3904462"/>
            <a:ext cx="3956050" cy="172463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while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(i &lt;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"Hello World"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i++;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D55DCEE3-68A2-CDD5-9EBD-564A12BA381D}"/>
              </a:ext>
            </a:extLst>
          </p:cNvPr>
          <p:cNvSpPr txBox="1"/>
          <p:nvPr/>
        </p:nvSpPr>
        <p:spPr>
          <a:xfrm>
            <a:off x="601884" y="3904462"/>
            <a:ext cx="4055359" cy="117064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 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 i &lt;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; i++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“</a:t>
            </a:r>
            <a:r>
              <a:rPr lang="en-US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Hello World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}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.println(</a:t>
            </a:r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i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);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21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6738-4FD7-0310-379D-587A9969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6E317C-29BF-5DF2-F80C-FD33CAEE16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和</a:t>
            </a:r>
            <a:r>
              <a:rPr lang="en-US" altLang="zh-CN" dirty="0"/>
              <a:t>while</a:t>
            </a:r>
            <a:r>
              <a:rPr lang="zh-CN" altLang="en-US" dirty="0"/>
              <a:t>是先判断后执行，</a:t>
            </a:r>
            <a:r>
              <a:rPr lang="en-US" altLang="zh-CN" dirty="0"/>
              <a:t>do...while</a:t>
            </a:r>
            <a:r>
              <a:rPr lang="zh-CN" altLang="en-US" dirty="0"/>
              <a:t>是先执行后判断</a:t>
            </a:r>
            <a:endParaRPr lang="en-US" altLang="zh-CN" dirty="0"/>
          </a:p>
          <a:p>
            <a:r>
              <a:rPr lang="zh-CN" altLang="en-US" dirty="0"/>
              <a:t>明确循环次数推荐使用 </a:t>
            </a:r>
            <a:r>
              <a:rPr lang="en-US" altLang="zh-CN" dirty="0"/>
              <a:t>for</a:t>
            </a:r>
            <a:r>
              <a:rPr lang="zh-CN" altLang="en-US" dirty="0"/>
              <a:t>，不明确循环次数推荐使用 </a:t>
            </a:r>
            <a:r>
              <a:rPr lang="en-US" altLang="zh-CN" dirty="0"/>
              <a:t>while</a:t>
            </a:r>
          </a:p>
          <a:p>
            <a:r>
              <a:rPr lang="en-US" altLang="zh-CN" dirty="0"/>
              <a:t>for </a:t>
            </a:r>
            <a:r>
              <a:rPr lang="zh-CN" altLang="en-US" dirty="0"/>
              <a:t>循环结束后，控制循环的变量不可以继续使用，</a:t>
            </a:r>
            <a:r>
              <a:rPr lang="en-US" altLang="zh-CN" dirty="0"/>
              <a:t>while</a:t>
            </a:r>
            <a:r>
              <a:rPr lang="zh-CN" altLang="en-US" dirty="0"/>
              <a:t>则相反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88291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B51F-CAFE-D6BE-248D-C3B572D1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BDBA22E-3FE7-A941-DF5F-36F67D3F89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632259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C2DF-2DA0-57C7-D2AE-784A3FE6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5371F6-9327-32FA-2FF6-043F774C54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break</a:t>
            </a:r>
            <a:r>
              <a:rPr lang="zh-CN" altLang="en-US" dirty="0"/>
              <a:t>、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F2A033D-148C-471C-385D-C21C4F101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763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break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continue</a:t>
            </a:r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965A69-D013-47A2-A34B-E3A3A810336E}"/>
              </a:ext>
            </a:extLst>
          </p:cNvPr>
          <p:cNvSpPr/>
          <p:nvPr/>
        </p:nvSpPr>
        <p:spPr bwMode="auto">
          <a:xfrm>
            <a:off x="9636241" y="3061216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条件判断语句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8153B7B0-7C66-490F-9A5C-836EDCDF3554}"/>
              </a:ext>
            </a:extLst>
          </p:cNvPr>
          <p:cNvSpPr txBox="1"/>
          <p:nvPr/>
        </p:nvSpPr>
        <p:spPr bwMode="auto">
          <a:xfrm>
            <a:off x="9718967" y="2120622"/>
            <a:ext cx="1058333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语句体</a:t>
            </a: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跳转控制语句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8A2D3E6B-DAB5-4CFC-B0F6-8AE5A73B8781}"/>
              </a:ext>
            </a:extLst>
          </p:cNvPr>
          <p:cNvSpPr txBox="1"/>
          <p:nvPr/>
        </p:nvSpPr>
        <p:spPr>
          <a:xfrm>
            <a:off x="710880" y="1766903"/>
            <a:ext cx="8736128" cy="79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4" indent="-26828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break   : 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终止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循环体内容的执行，也就是说结束当前的整个循环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lvl="4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 : 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跳过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某次循环体内容的执行，继续下一次的执行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三角形 9">
            <a:extLst>
              <a:ext uri="{FF2B5EF4-FFF2-40B4-BE49-F238E27FC236}">
                <a16:creationId xmlns:a16="http://schemas.microsoft.com/office/drawing/2014/main" id="{CDDB5EBE-8E00-43F7-B2D8-EECDE796EBF6}"/>
              </a:ext>
            </a:extLst>
          </p:cNvPr>
          <p:cNvSpPr/>
          <p:nvPr/>
        </p:nvSpPr>
        <p:spPr>
          <a:xfrm rot="2651319">
            <a:off x="717495" y="372557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45DAAFC-A6E2-40CF-B90B-077CDC4EA591}"/>
              </a:ext>
            </a:extLst>
          </p:cNvPr>
          <p:cNvSpPr txBox="1"/>
          <p:nvPr/>
        </p:nvSpPr>
        <p:spPr>
          <a:xfrm>
            <a:off x="1055284" y="3866637"/>
            <a:ext cx="6767513" cy="708399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break :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只能在循环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switch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当中进行使用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 :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只能在循环中进行使用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1BEB77-AA1D-4C65-B075-92A1BF456E20}"/>
              </a:ext>
            </a:extLst>
          </p:cNvPr>
          <p:cNvSpPr/>
          <p:nvPr/>
        </p:nvSpPr>
        <p:spPr>
          <a:xfrm>
            <a:off x="810809" y="3368993"/>
            <a:ext cx="10302240" cy="141351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9F1126-7F1F-4779-B83D-A7E8671CD475}"/>
              </a:ext>
            </a:extLst>
          </p:cNvPr>
          <p:cNvSpPr/>
          <p:nvPr/>
        </p:nvSpPr>
        <p:spPr>
          <a:xfrm>
            <a:off x="710881" y="344146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7612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AF76-75B2-B0BB-F36C-2811928E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7720D-DD2F-8B7E-2D6C-C473F1759C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205" y="51513"/>
            <a:ext cx="7402227" cy="3962399"/>
          </a:xfrm>
        </p:spPr>
        <p:txBody>
          <a:bodyPr/>
          <a:lstStyle/>
          <a:p>
            <a:r>
              <a:rPr lang="en-US" altLang="zh-CN" dirty="0"/>
              <a:t>break </a:t>
            </a:r>
            <a:r>
              <a:rPr lang="zh-CN" altLang="en-US" dirty="0"/>
              <a:t>结束循环，结束</a:t>
            </a:r>
            <a:r>
              <a:rPr lang="en-US" altLang="zh-CN" dirty="0"/>
              <a:t>switch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continue</a:t>
            </a:r>
            <a:r>
              <a:rPr lang="zh-CN" altLang="en-US" dirty="0"/>
              <a:t> 跳过某次循环，继续下一次</a:t>
            </a:r>
            <a:endParaRPr lang="en-US" altLang="zh-CN" dirty="0"/>
          </a:p>
          <a:p>
            <a:r>
              <a:rPr lang="zh-CN" altLang="en-US" dirty="0"/>
              <a:t>如果出现循环嵌套，默认操作内层循环，如需改动，可以使用标号控制</a:t>
            </a:r>
            <a:endParaRPr lang="en-US" altLang="zh-CN" dirty="0"/>
          </a:p>
        </p:txBody>
      </p:sp>
      <p:grpSp>
        <p:nvGrpSpPr>
          <p:cNvPr id="4" name="!!组合 9">
            <a:extLst>
              <a:ext uri="{FF2B5EF4-FFF2-40B4-BE49-F238E27FC236}">
                <a16:creationId xmlns:a16="http://schemas.microsoft.com/office/drawing/2014/main" id="{7CFF54CB-B4D3-25E4-5D75-FD066173C4DB}"/>
              </a:ext>
            </a:extLst>
          </p:cNvPr>
          <p:cNvGrpSpPr/>
          <p:nvPr/>
        </p:nvGrpSpPr>
        <p:grpSpPr>
          <a:xfrm>
            <a:off x="3975205" y="3203605"/>
            <a:ext cx="6765775" cy="3132803"/>
            <a:chOff x="2297722" y="3660322"/>
            <a:chExt cx="3886574" cy="175016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681C056-049D-20B5-107F-03433901F25D}"/>
                </a:ext>
              </a:extLst>
            </p:cNvPr>
            <p:cNvSpPr/>
            <p:nvPr/>
          </p:nvSpPr>
          <p:spPr>
            <a:xfrm>
              <a:off x="2297722" y="3660322"/>
              <a:ext cx="3886574" cy="1750167"/>
            </a:xfrm>
            <a:prstGeom prst="roundRect">
              <a:avLst>
                <a:gd name="adj" fmla="val 536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rtlCol="0" anchor="ctr"/>
            <a:lstStyle/>
            <a:p>
              <a:pPr>
                <a:lnSpc>
                  <a:spcPct val="150000"/>
                </a:lnSpc>
              </a:pPr>
              <a:endPara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endParaRPr>
            </a:p>
            <a:p>
              <a:pPr>
                <a:lnSpc>
                  <a:spcPct val="150000"/>
                </a:lnSpc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lo: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for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int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i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i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&lt;=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i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++) {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for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int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&lt;=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++) {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if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==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2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 {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   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break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lo;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}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}</a:t>
              </a:r>
              <a:b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8CDD4771-0B9D-F2DF-FD7B-5A29D0A4D1B8}"/>
                </a:ext>
              </a:extLst>
            </p:cNvPr>
            <p:cNvSpPr/>
            <p:nvPr/>
          </p:nvSpPr>
          <p:spPr>
            <a:xfrm>
              <a:off x="2297722" y="3660322"/>
              <a:ext cx="3886574" cy="237467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49ED1FE-A3A5-0063-9241-E5791F4CFE26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6733BF0-1A53-7B2C-7453-802AB5642925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7C2CDCB-7D62-1036-489F-B1E42C1EF52E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E53F40F0-DB10-60B4-06E9-329428A15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79BCD-6A2C-107D-C218-BF25174A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3ECEC8C-4849-CEFC-F6B3-3CF57C27A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流程控制语句分类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if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分支结构 </a:t>
            </a:r>
            <a:r>
              <a:rPr lang="en-US" altLang="zh-CN" dirty="0">
                <a:latin typeface="Consolas" panose="020B0609020204030204" pitchFamily="49" charset="0"/>
              </a:rPr>
              <a:t>switch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Debug </a:t>
            </a:r>
            <a:r>
              <a:rPr lang="zh-CN" altLang="en-US" dirty="0">
                <a:latin typeface="Consolas" panose="020B0609020204030204" pitchFamily="49" charset="0"/>
              </a:rPr>
              <a:t>工具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for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while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循环结构 </a:t>
            </a:r>
            <a:r>
              <a:rPr lang="en-US" altLang="zh-CN" dirty="0">
                <a:latin typeface="Consolas" panose="020B0609020204030204" pitchFamily="49" charset="0"/>
              </a:rPr>
              <a:t>do…while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break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continue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Random </a:t>
            </a:r>
            <a:r>
              <a:rPr lang="zh-CN" altLang="en-US" dirty="0">
                <a:latin typeface="Consolas" panose="020B0609020204030204" pitchFamily="49" charset="0"/>
              </a:rPr>
              <a:t>生成随机数</a:t>
            </a:r>
          </a:p>
        </p:txBody>
      </p:sp>
    </p:spTree>
    <p:extLst>
      <p:ext uri="{BB962C8B-B14F-4D97-AF65-F5344CB8AC3E}">
        <p14:creationId xmlns:p14="http://schemas.microsoft.com/office/powerpoint/2010/main" val="3749339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E353-8DF6-B4A3-81CD-2D913DD7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4F1D35-AFBE-1B9A-CCA2-4A3D089AE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Random </a:t>
            </a:r>
            <a:r>
              <a:rPr lang="zh-CN" altLang="en-US" dirty="0"/>
              <a:t>生成随机数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5C4CEB8-03ED-0855-2096-452F87F13D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5492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67160-1BAB-4D97-9981-50CBB639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Random </a:t>
            </a:r>
            <a:r>
              <a:rPr lang="zh-CN" altLang="en-US" dirty="0"/>
              <a:t>随机数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A992BF-CF57-3EF3-8861-7E5F6309B042}"/>
              </a:ext>
            </a:extLst>
          </p:cNvPr>
          <p:cNvGrpSpPr/>
          <p:nvPr/>
        </p:nvGrpSpPr>
        <p:grpSpPr>
          <a:xfrm>
            <a:off x="576626" y="1161141"/>
            <a:ext cx="9572517" cy="3150723"/>
            <a:chOff x="1351994" y="3010028"/>
            <a:chExt cx="9572517" cy="315072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4BF67E4-8461-DD43-2198-2FC9D5195AA3}"/>
                </a:ext>
              </a:extLst>
            </p:cNvPr>
            <p:cNvSpPr/>
            <p:nvPr/>
          </p:nvSpPr>
          <p:spPr>
            <a:xfrm>
              <a:off x="1351994" y="3010028"/>
              <a:ext cx="9572517" cy="3150723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A46BC4E-0022-484A-6BD7-1638543CD8B7}"/>
                </a:ext>
              </a:extLst>
            </p:cNvPr>
            <p:cNvSpPr txBox="1"/>
            <p:nvPr/>
          </p:nvSpPr>
          <p:spPr>
            <a:xfrm>
              <a:off x="1351994" y="3328116"/>
              <a:ext cx="8689969" cy="2832635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import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java.util.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Random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class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Test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static void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main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String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[] args) 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      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Random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r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Random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        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 num1 =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r.nextInt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(10);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329CBF6-CD0B-4F92-F671-2B5BBA3B2696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F3E5639-7DE8-4A5A-66FC-2D8BF3F8AF58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398D9B1-1C29-06F1-4EEE-858D39988EF7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6E36E1F-22FC-4BE6-0600-784BD9E5E3AF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1AA756B1-06E8-D9CF-86F0-AA00DE214B1B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文本框 29"/>
          <p:cNvSpPr txBox="1"/>
          <p:nvPr/>
        </p:nvSpPr>
        <p:spPr>
          <a:xfrm>
            <a:off x="4788059" y="1502089"/>
            <a:ext cx="5400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①：导包：告诉程序去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的哪个包中找随机数生成器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788059" y="2592452"/>
            <a:ext cx="447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②：抄代码：代表得到随机数生成器对象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东西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788059" y="3146068"/>
            <a:ext cx="447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③：抄代码：生成一个随机数，指定随机范围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76626" y="4609109"/>
            <a:ext cx="5169386" cy="754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r.nextInt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(n) 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   0~n 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但是不包含 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EB7562D-A361-294D-C6C1-1024FFCB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4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D4B2-22CF-7995-8211-A6AC83C9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EC87E-1A2B-FC14-9E02-98612D39EC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产生一个</a:t>
            </a:r>
            <a:r>
              <a:rPr lang="en-US" altLang="zh-CN" dirty="0"/>
              <a:t>1~100</a:t>
            </a:r>
            <a:r>
              <a:rPr lang="zh-CN" altLang="en-US" dirty="0"/>
              <a:t>的随机数，之传入一个参数怎么做？</a:t>
            </a:r>
            <a:endParaRPr lang="en-US" altLang="zh-CN" dirty="0"/>
          </a:p>
          <a:p>
            <a:r>
              <a:rPr lang="en-US" altLang="zh-CN" dirty="0" err="1"/>
              <a:t>r.nextInt</a:t>
            </a:r>
            <a:r>
              <a:rPr lang="en-US" altLang="zh-CN" dirty="0"/>
              <a:t>(?);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8D4C9FE-3859-9259-62A4-8E76A727C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8356A4-8B4A-B78D-DFF8-F8A4CAF20A0E}"/>
              </a:ext>
            </a:extLst>
          </p:cNvPr>
          <p:cNvSpPr txBox="1"/>
          <p:nvPr/>
        </p:nvSpPr>
        <p:spPr>
          <a:xfrm>
            <a:off x="4060556" y="4837333"/>
            <a:ext cx="7223759" cy="52322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zh-CN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</a:t>
            </a:r>
            <a:r>
              <a:rPr lang="zh-CN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28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28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r.nextInt</a:t>
            </a:r>
            <a:r>
              <a:rPr lang="zh-CN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100 </a:t>
            </a:r>
            <a:r>
              <a:rPr lang="zh-CN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+ 1</a:t>
            </a:r>
            <a:r>
              <a:rPr lang="zh-CN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5390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90A5-733C-7505-DF28-0DE1714B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E11A5-4DAE-5C42-79A4-2425FBA1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猜数字小游戏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483FED-0C10-4CE3-386C-4EEA2493F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产生一个</a:t>
            </a:r>
            <a:r>
              <a:rPr lang="en-US" altLang="zh-CN" dirty="0"/>
              <a:t> 1~100 </a:t>
            </a:r>
            <a:r>
              <a:rPr lang="zh-CN" altLang="en-US" dirty="0"/>
              <a:t>之间的随机数作为中奖数字</a:t>
            </a:r>
            <a:endParaRPr lang="en-US" altLang="zh-CN" dirty="0"/>
          </a:p>
          <a:p>
            <a:r>
              <a:rPr lang="zh-CN" altLang="en-US" dirty="0"/>
              <a:t>随后键盘录入用户猜的数字进行比对</a:t>
            </a:r>
            <a:endParaRPr lang="en-US" altLang="zh-CN" dirty="0"/>
          </a:p>
          <a:p>
            <a:r>
              <a:rPr lang="zh-CN" altLang="en-US" dirty="0"/>
              <a:t>没有猜中的话给出提示，直到用户猜对为止，程序结束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3244F20-DDE0-E9F9-F845-C59C9F476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040C99A-56B8-F71E-6767-10E0FA4F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43" y="964950"/>
            <a:ext cx="2533780" cy="4419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872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10869</TotalTime>
  <Words>3500</Words>
  <Application>Microsoft Office PowerPoint</Application>
  <PresentationFormat>宽屏</PresentationFormat>
  <Paragraphs>554</Paragraphs>
  <Slides>74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74</vt:i4>
      </vt:variant>
    </vt:vector>
  </HeadingPairs>
  <TitlesOfParts>
    <vt:vector size="98" baseType="lpstr">
      <vt:lpstr>Alibaba PuHuiTi B</vt:lpstr>
      <vt:lpstr>Alibaba PuHuiTi M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思源黑体 CN Normal</vt:lpstr>
      <vt:lpstr>杨任东竹石体-Heavy</vt:lpstr>
      <vt:lpstr>Arial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第六章：流程控制语句</vt:lpstr>
      <vt:lpstr>PowerPoint 演示文稿</vt:lpstr>
      <vt:lpstr>PowerPoint 演示文稿</vt:lpstr>
      <vt:lpstr>流程控制语句分类</vt:lpstr>
      <vt:lpstr>顺序结构</vt:lpstr>
      <vt:lpstr>流程控制语句分类</vt:lpstr>
      <vt:lpstr>PowerPoint 演示文稿</vt:lpstr>
      <vt:lpstr>PowerPoint 演示文稿</vt:lpstr>
      <vt:lpstr>分支结构语句 if</vt:lpstr>
      <vt:lpstr>分支结构语句 if</vt:lpstr>
      <vt:lpstr>PowerPoint 演示文稿</vt:lpstr>
      <vt:lpstr>考试奖励</vt:lpstr>
      <vt:lpstr> if 语句注意事项</vt:lpstr>
      <vt:lpstr>PowerPoint 演示文稿</vt:lpstr>
      <vt:lpstr>PowerPoint 演示文稿</vt:lpstr>
      <vt:lpstr>分支结构 switch 语句</vt:lpstr>
      <vt:lpstr>PowerPoint 演示文稿</vt:lpstr>
      <vt:lpstr>switch 语句注意事项</vt:lpstr>
      <vt:lpstr>PowerPoint 演示文稿</vt:lpstr>
      <vt:lpstr>PowerPoint 演示文稿</vt:lpstr>
      <vt:lpstr>PowerPoint 演示文稿</vt:lpstr>
      <vt:lpstr>Debug 工具</vt:lpstr>
      <vt:lpstr>Debug 工具</vt:lpstr>
      <vt:lpstr>Debug 工具</vt:lpstr>
      <vt:lpstr>Debug 工具</vt:lpstr>
      <vt:lpstr>Debug 工具</vt:lpstr>
      <vt:lpstr>PowerPoint 演示文稿</vt:lpstr>
      <vt:lpstr>PowerPoint 演示文稿</vt:lpstr>
      <vt:lpstr>循环介绍</vt:lpstr>
      <vt:lpstr>循环介绍</vt:lpstr>
      <vt:lpstr>循环介绍</vt:lpstr>
      <vt:lpstr>循环介绍</vt:lpstr>
      <vt:lpstr>循环介绍</vt:lpstr>
      <vt:lpstr>循环介绍</vt:lpstr>
      <vt:lpstr>循环介绍</vt:lpstr>
      <vt:lpstr> </vt:lpstr>
      <vt:lpstr>PowerPoint 演示文稿</vt:lpstr>
      <vt:lpstr> 模拟计时器</vt:lpstr>
      <vt:lpstr> 模拟计时器</vt:lpstr>
      <vt:lpstr> 求和</vt:lpstr>
      <vt:lpstr> 求和</vt:lpstr>
      <vt:lpstr> 求和</vt:lpstr>
      <vt:lpstr> 求和</vt:lpstr>
      <vt:lpstr> 求和</vt:lpstr>
      <vt:lpstr> 求和</vt:lpstr>
      <vt:lpstr>水仙花数</vt:lpstr>
      <vt:lpstr>水仙花数</vt:lpstr>
      <vt:lpstr>统计水仙花数</vt:lpstr>
      <vt:lpstr>统计水仙花数</vt:lpstr>
      <vt:lpstr>for 循环语句注意事项</vt:lpstr>
      <vt:lpstr>PowerPoint 演示文稿</vt:lpstr>
      <vt:lpstr>循环嵌套</vt:lpstr>
      <vt:lpstr>循环嵌套案例</vt:lpstr>
      <vt:lpstr>PowerPoint 演示文稿</vt:lpstr>
      <vt:lpstr>PowerPoint 演示文稿</vt:lpstr>
      <vt:lpstr>PowerPoint 演示文稿</vt:lpstr>
      <vt:lpstr>while循环</vt:lpstr>
      <vt:lpstr>珠穆朗玛峰</vt:lpstr>
      <vt:lpstr>PowerPoint 演示文稿</vt:lpstr>
      <vt:lpstr>PowerPoint 演示文稿</vt:lpstr>
      <vt:lpstr>PowerPoint 演示文稿</vt:lpstr>
      <vt:lpstr>循环结构 do...while</vt:lpstr>
      <vt:lpstr>三种循环的区别</vt:lpstr>
      <vt:lpstr>PowerPoint 演示文稿</vt:lpstr>
      <vt:lpstr>PowerPoint 演示文稿</vt:lpstr>
      <vt:lpstr>PowerPoint 演示文稿</vt:lpstr>
      <vt:lpstr> break、continue</vt:lpstr>
      <vt:lpstr>PowerPoint 演示文稿</vt:lpstr>
      <vt:lpstr>PowerPoint 演示文稿</vt:lpstr>
      <vt:lpstr>PowerPoint 演示文稿</vt:lpstr>
      <vt:lpstr>Random 随机数</vt:lpstr>
      <vt:lpstr>PowerPoint 演示文稿</vt:lpstr>
      <vt:lpstr>猜数字小游戏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898</cp:revision>
  <cp:lastPrinted>2022-05-29T16:00:00Z</cp:lastPrinted>
  <dcterms:created xsi:type="dcterms:W3CDTF">2022-05-29T16:00:00Z</dcterms:created>
  <dcterms:modified xsi:type="dcterms:W3CDTF">2025-02-19T06:54:21Z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