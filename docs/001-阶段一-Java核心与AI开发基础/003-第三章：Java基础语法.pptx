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53"/>
  </p:notesMasterIdLst>
  <p:handoutMasterIdLst>
    <p:handoutMasterId r:id="rId54"/>
  </p:handoutMasterIdLst>
  <p:sldIdLst>
    <p:sldId id="280" r:id="rId6"/>
    <p:sldId id="308" r:id="rId7"/>
    <p:sldId id="440" r:id="rId8"/>
    <p:sldId id="710" r:id="rId9"/>
    <p:sldId id="1437" r:id="rId10"/>
    <p:sldId id="2676" r:id="rId11"/>
    <p:sldId id="2677" r:id="rId12"/>
    <p:sldId id="1462" r:id="rId13"/>
    <p:sldId id="1463" r:id="rId14"/>
    <p:sldId id="574" r:id="rId15"/>
    <p:sldId id="2678" r:id="rId16"/>
    <p:sldId id="2679" r:id="rId17"/>
    <p:sldId id="1466" r:id="rId18"/>
    <p:sldId id="1470" r:id="rId19"/>
    <p:sldId id="975" r:id="rId20"/>
    <p:sldId id="2680" r:id="rId21"/>
    <p:sldId id="2681" r:id="rId22"/>
    <p:sldId id="1510" r:id="rId23"/>
    <p:sldId id="1513" r:id="rId24"/>
    <p:sldId id="2682" r:id="rId25"/>
    <p:sldId id="2687" r:id="rId26"/>
    <p:sldId id="2686" r:id="rId27"/>
    <p:sldId id="1506" r:id="rId28"/>
    <p:sldId id="974" r:id="rId29"/>
    <p:sldId id="1022" r:id="rId30"/>
    <p:sldId id="2688" r:id="rId31"/>
    <p:sldId id="2689" r:id="rId32"/>
    <p:sldId id="981" r:id="rId33"/>
    <p:sldId id="2690" r:id="rId34"/>
    <p:sldId id="982" r:id="rId35"/>
    <p:sldId id="983" r:id="rId36"/>
    <p:sldId id="984" r:id="rId37"/>
    <p:sldId id="2691" r:id="rId38"/>
    <p:sldId id="978" r:id="rId39"/>
    <p:sldId id="2692" r:id="rId40"/>
    <p:sldId id="2693" r:id="rId41"/>
    <p:sldId id="987" r:id="rId42"/>
    <p:sldId id="988" r:id="rId43"/>
    <p:sldId id="989" r:id="rId44"/>
    <p:sldId id="991" r:id="rId45"/>
    <p:sldId id="996" r:id="rId46"/>
    <p:sldId id="2694" r:id="rId47"/>
    <p:sldId id="993" r:id="rId48"/>
    <p:sldId id="992" r:id="rId49"/>
    <p:sldId id="995" r:id="rId50"/>
    <p:sldId id="2695" r:id="rId51"/>
    <p:sldId id="288" r:id="rId52"/>
  </p:sldIdLst>
  <p:sldSz cx="12192000" cy="6858000"/>
  <p:notesSz cx="6858000" cy="9144000"/>
  <p:custDataLst>
    <p:tags r:id="rId5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05" autoAdjust="0"/>
    <p:restoredTop sz="94676" autoAdjust="0"/>
  </p:normalViewPr>
  <p:slideViewPr>
    <p:cSldViewPr snapToGrid="0" showGuides="1">
      <p:cViewPr varScale="1">
        <p:scale>
          <a:sx n="91" d="100"/>
          <a:sy n="91" d="100"/>
        </p:scale>
        <p:origin x="3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tags" Target="tags/tag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viewProps" Target="view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2025/2/13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>
                <a:solidFill>
                  <a:prstClr val="black"/>
                </a:solidFill>
                <a:latin typeface="Calibri"/>
                <a:ea typeface="宋体"/>
              </a:rPr>
              <a:pPr/>
              <a:t>10</a:t>
            </a:fld>
            <a:endParaRPr lang="zh-CN" altLang="en-US">
              <a:solidFill>
                <a:prstClr val="black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721586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35653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第三章：</a:t>
            </a:r>
            <a:r>
              <a:rPr lang="en-US" altLang="zh-CN" sz="4000" dirty="0"/>
              <a:t>Java </a:t>
            </a:r>
            <a:r>
              <a:rPr lang="zh-CN" altLang="en-US" sz="4000" dirty="0"/>
              <a:t>基础语法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b="0" i="0" dirty="0">
                <a:effectLst/>
                <a:latin typeface="Inter"/>
              </a:rPr>
              <a:t>根基稳，万事可成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4F0A2A7-A667-0512-816A-DB7E34D3A2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注释</a:t>
            </a:r>
            <a:endParaRPr lang="en-US" altLang="zh-CN" dirty="0"/>
          </a:p>
          <a:p>
            <a:r>
              <a:rPr lang="zh-CN" altLang="en-US" dirty="0"/>
              <a:t>关键字</a:t>
            </a:r>
            <a:endParaRPr lang="en-US" altLang="zh-CN" dirty="0"/>
          </a:p>
          <a:p>
            <a:r>
              <a:rPr lang="zh-CN" altLang="en-US" dirty="0"/>
              <a:t>字面量</a:t>
            </a:r>
            <a:endParaRPr lang="en-US" altLang="zh-CN" dirty="0"/>
          </a:p>
          <a:p>
            <a:r>
              <a:rPr lang="zh-CN" altLang="en-US" dirty="0"/>
              <a:t>变量</a:t>
            </a:r>
            <a:endParaRPr lang="en-US" altLang="zh-CN" dirty="0"/>
          </a:p>
          <a:p>
            <a:r>
              <a:rPr lang="zh-CN" altLang="en-US" dirty="0"/>
              <a:t>标识符</a:t>
            </a:r>
            <a:endParaRPr lang="en-US" altLang="zh-CN" dirty="0"/>
          </a:p>
          <a:p>
            <a:r>
              <a:rPr lang="zh-CN" altLang="en-US" dirty="0"/>
              <a:t>数据类型</a:t>
            </a:r>
          </a:p>
        </p:txBody>
      </p:sp>
    </p:spTree>
    <p:extLst>
      <p:ext uri="{BB962C8B-B14F-4D97-AF65-F5344CB8AC3E}">
        <p14:creationId xmlns:p14="http://schemas.microsoft.com/office/powerpoint/2010/main" val="2783839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7DDC-B304-D2F8-C50D-C468CAE9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56A1B4-6E31-ED4D-D6C5-3EE095D6F7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注释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391EBC4B-6042-4B46-31F8-98A2350602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7351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D1F380D-81D8-4AE4-67AB-56FE55A9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什么是注释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2410704B-EF78-419E-94BE-B6B26D6B9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935" y="911599"/>
            <a:ext cx="10985199" cy="4271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注释是写在程序中对代码进行解释说明的文字，方便自己和其他人查看，以便理解程序的。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占位符 3">
            <a:extLst>
              <a:ext uri="{FF2B5EF4-FFF2-40B4-BE49-F238E27FC236}">
                <a16:creationId xmlns:a16="http://schemas.microsoft.com/office/drawing/2014/main" id="{AAF48207-60FA-42B5-986D-CD54DCBE909D}"/>
              </a:ext>
            </a:extLst>
          </p:cNvPr>
          <p:cNvSpPr txBox="1">
            <a:spLocks/>
          </p:cNvSpPr>
          <p:nvPr/>
        </p:nvSpPr>
        <p:spPr>
          <a:xfrm>
            <a:off x="585935" y="1574582"/>
            <a:ext cx="2912314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Java</a:t>
            </a:r>
            <a:r>
              <a:rPr kumimoji="1" lang="zh-CN" altLang="en-US" dirty="0"/>
              <a:t>注释有三种写法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7C1072D-3B53-FF5A-7C14-7B39834ABA84}"/>
              </a:ext>
            </a:extLst>
          </p:cNvPr>
          <p:cNvGrpSpPr/>
          <p:nvPr/>
        </p:nvGrpSpPr>
        <p:grpSpPr>
          <a:xfrm>
            <a:off x="5198538" y="1460799"/>
            <a:ext cx="5476568" cy="4273251"/>
            <a:chOff x="2292616" y="2428959"/>
            <a:chExt cx="5476568" cy="4089827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6E0E691-1465-88EB-68CC-DFD14504C732}"/>
                </a:ext>
              </a:extLst>
            </p:cNvPr>
            <p:cNvSpPr/>
            <p:nvPr/>
          </p:nvSpPr>
          <p:spPr>
            <a:xfrm>
              <a:off x="2292616" y="2428959"/>
              <a:ext cx="5476568" cy="4089827"/>
            </a:xfrm>
            <a:prstGeom prst="roundRect">
              <a:avLst>
                <a:gd name="adj" fmla="val 3590"/>
              </a:avLst>
            </a:prstGeom>
            <a:solidFill>
              <a:srgbClr val="F9FBF9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ED264E05-DCDB-1DAE-1F29-D55844E3FD35}"/>
                </a:ext>
              </a:extLst>
            </p:cNvPr>
            <p:cNvSpPr/>
            <p:nvPr/>
          </p:nvSpPr>
          <p:spPr>
            <a:xfrm>
              <a:off x="2292617" y="2449545"/>
              <a:ext cx="5476566" cy="230174"/>
            </a:xfrm>
            <a:custGeom>
              <a:avLst/>
              <a:gdLst>
                <a:gd name="connsiteX0" fmla="*/ 89432 w 8960426"/>
                <a:gd name="connsiteY0" fmla="*/ 0 h 243057"/>
                <a:gd name="connsiteX1" fmla="*/ 8870994 w 8960426"/>
                <a:gd name="connsiteY1" fmla="*/ 0 h 243057"/>
                <a:gd name="connsiteX2" fmla="*/ 8960426 w 8960426"/>
                <a:gd name="connsiteY2" fmla="*/ 89432 h 243057"/>
                <a:gd name="connsiteX3" fmla="*/ 8960426 w 8960426"/>
                <a:gd name="connsiteY3" fmla="*/ 243057 h 243057"/>
                <a:gd name="connsiteX4" fmla="*/ 0 w 8960426"/>
                <a:gd name="connsiteY4" fmla="*/ 243057 h 243057"/>
                <a:gd name="connsiteX5" fmla="*/ 0 w 8960426"/>
                <a:gd name="connsiteY5" fmla="*/ 89432 h 243057"/>
                <a:gd name="connsiteX6" fmla="*/ 89432 w 8960426"/>
                <a:gd name="connsiteY6" fmla="*/ 0 h 24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60426" h="243057">
                  <a:moveTo>
                    <a:pt x="89432" y="0"/>
                  </a:moveTo>
                  <a:lnTo>
                    <a:pt x="8870994" y="0"/>
                  </a:lnTo>
                  <a:cubicBezTo>
                    <a:pt x="8920386" y="0"/>
                    <a:pt x="8960426" y="40040"/>
                    <a:pt x="8960426" y="89432"/>
                  </a:cubicBezTo>
                  <a:lnTo>
                    <a:pt x="8960426" y="243057"/>
                  </a:lnTo>
                  <a:lnTo>
                    <a:pt x="0" y="243057"/>
                  </a:lnTo>
                  <a:lnTo>
                    <a:pt x="0" y="89432"/>
                  </a:lnTo>
                  <a:cubicBezTo>
                    <a:pt x="0" y="40040"/>
                    <a:pt x="40040" y="0"/>
                    <a:pt x="89432" y="0"/>
                  </a:cubicBezTo>
                  <a:close/>
                </a:path>
              </a:pathLst>
            </a:custGeom>
            <a:solidFill>
              <a:srgbClr val="F2F2F2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216000" bIns="45720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56C5BF53-8903-F47D-78E9-23F811CC91B8}"/>
                </a:ext>
              </a:extLst>
            </p:cNvPr>
            <p:cNvGrpSpPr/>
            <p:nvPr/>
          </p:nvGrpSpPr>
          <p:grpSpPr>
            <a:xfrm>
              <a:off x="2441171" y="2501620"/>
              <a:ext cx="691568" cy="126027"/>
              <a:chOff x="2016841" y="2556932"/>
              <a:chExt cx="730275" cy="133081"/>
            </a:xfrm>
          </p:grpSpPr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86E7827E-C62A-7AB5-67D0-54A8ED7DB469}"/>
                  </a:ext>
                </a:extLst>
              </p:cNvPr>
              <p:cNvSpPr/>
              <p:nvPr/>
            </p:nvSpPr>
            <p:spPr>
              <a:xfrm>
                <a:off x="2016841" y="2556934"/>
                <a:ext cx="133079" cy="133079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4F7F0358-63DD-32DE-6F8F-8775B7AEEA38}"/>
                  </a:ext>
                </a:extLst>
              </p:cNvPr>
              <p:cNvSpPr/>
              <p:nvPr/>
            </p:nvSpPr>
            <p:spPr>
              <a:xfrm>
                <a:off x="2315439" y="2556933"/>
                <a:ext cx="133079" cy="133079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FAB598F4-BF07-5D23-6C11-8B35EC44DE93}"/>
                  </a:ext>
                </a:extLst>
              </p:cNvPr>
              <p:cNvSpPr/>
              <p:nvPr/>
            </p:nvSpPr>
            <p:spPr>
              <a:xfrm>
                <a:off x="2614037" y="2556932"/>
                <a:ext cx="133079" cy="133079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99A8B554-9895-67AE-0B6E-88061D20C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8535" y="2022865"/>
            <a:ext cx="5406671" cy="36636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</a:br>
            <a:endParaRPr kumimoji="0" lang="en-US" altLang="zh-CN" sz="1200" b="0" i="1" u="none" strike="noStrike" cap="none" normalizeH="0" baseline="0" dirty="0">
              <a:ln>
                <a:noFill/>
              </a:ln>
              <a:solidFill>
                <a:srgbClr val="8C8C8C"/>
              </a:solidFill>
              <a:effectLst/>
              <a:latin typeface="Consolas" panose="020B0609020204030204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HelloWorld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main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String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[]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args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        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"HelloWorld"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        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        </a:t>
            </a:r>
            <a:endParaRPr kumimoji="0" lang="en-US" altLang="zh-CN" sz="1200" b="0" i="1" u="none" strike="noStrike" cap="none" normalizeH="0" baseline="0" dirty="0">
              <a:ln>
                <a:noFill/>
              </a:ln>
              <a:solidFill>
                <a:srgbClr val="8C8C8C"/>
              </a:solidFill>
              <a:effectLst/>
              <a:latin typeface="Consolas" panose="020B0609020204030204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200" i="1" dirty="0">
              <a:solidFill>
                <a:srgbClr val="8C8C8C"/>
              </a:solidFill>
              <a:latin typeface="Consolas" panose="020B0609020204030204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200" b="0" i="1" u="none" strike="noStrike" cap="none" normalizeH="0" baseline="0" dirty="0">
              <a:ln>
                <a:noFill/>
              </a:ln>
              <a:solidFill>
                <a:srgbClr val="8C8C8C"/>
              </a:solidFill>
              <a:effectLst/>
              <a:latin typeface="Consolas" panose="020B0609020204030204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i="1" dirty="0">
                <a:solidFill>
                  <a:srgbClr val="8C8C8C"/>
                </a:solidFill>
                <a:latin typeface="Consolas" panose="020B0609020204030204" pitchFamily="49" charset="0"/>
                <a:cs typeface="JetBrains Mono" panose="02000009000000000000" pitchFamily="49" charset="0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"HelloWorld"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cs typeface="JetBrains Mono" panose="02000009000000000000" pitchFamily="49" charset="0"/>
              </a:rPr>
              <a:t>}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09F4DEFE-943E-C1FE-64FB-59ECE3139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83" y="1643820"/>
            <a:ext cx="5406671" cy="11744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/**</a:t>
            </a:r>
            <a:b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</a:br>
            <a: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 * </a:t>
            </a:r>
            <a:r>
              <a:rPr lang="zh-CN" altLang="en-US" sz="1200" dirty="0">
                <a:solidFill>
                  <a:srgbClr val="8C8C8C"/>
                </a:solidFill>
                <a:latin typeface="+mn-ea"/>
                <a:cs typeface="JetBrains Mono" panose="02000009000000000000" pitchFamily="49" charset="0"/>
              </a:rPr>
              <a:t>通过</a:t>
            </a:r>
            <a:r>
              <a:rPr lang="en-US" altLang="zh-CN" sz="1200" dirty="0">
                <a:solidFill>
                  <a:srgbClr val="8C8C8C"/>
                </a:solidFill>
                <a:latin typeface="+mn-ea"/>
                <a:cs typeface="JetBrains Mono" panose="02000009000000000000" pitchFamily="49" charset="0"/>
              </a:rPr>
              <a:t>class</a:t>
            </a:r>
            <a:r>
              <a:rPr lang="zh-CN" altLang="en-US" sz="1200" dirty="0">
                <a:solidFill>
                  <a:srgbClr val="8C8C8C"/>
                </a:solidFill>
                <a:latin typeface="+mn-ea"/>
                <a:cs typeface="JetBrains Mono" panose="02000009000000000000" pitchFamily="49" charset="0"/>
              </a:rPr>
              <a:t>关键字定义了一个类，类名叫做 </a:t>
            </a:r>
            <a:r>
              <a:rPr lang="en-US" altLang="zh-CN" sz="1200" dirty="0">
                <a:solidFill>
                  <a:srgbClr val="8C8C8C"/>
                </a:solidFill>
                <a:latin typeface="+mn-ea"/>
                <a:cs typeface="JetBrains Mono" panose="02000009000000000000" pitchFamily="49" charset="0"/>
              </a:rPr>
              <a:t>HelloWorld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 * public </a:t>
            </a:r>
            <a:r>
              <a:rPr kumimoji="0" lang="zh-CN" altLang="en-US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起到限制作用，限制文件名和类名保持一致</a:t>
            </a:r>
            <a:b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</a:br>
            <a: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 */</a:t>
            </a:r>
            <a:endParaRPr kumimoji="0" lang="zh-CN" altLang="zh-CN" sz="20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Rectangle 2">
            <a:extLst>
              <a:ext uri="{FF2B5EF4-FFF2-40B4-BE49-F238E27FC236}">
                <a16:creationId xmlns:a16="http://schemas.microsoft.com/office/drawing/2014/main" id="{56695CC0-99A5-BB31-9FF9-DE6AB819C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78" y="3126026"/>
            <a:ext cx="5406671" cy="34490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+mn-ea"/>
                <a:cs typeface="JetBrains Mono" panose="02000009000000000000" pitchFamily="49" charset="0"/>
              </a:rPr>
              <a:t>        </a:t>
            </a:r>
            <a: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// 这是一个单行注释，有效范围是从</a:t>
            </a:r>
            <a:r>
              <a:rPr kumimoji="0" lang="en-US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   </a:t>
            </a:r>
            <a: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//</a:t>
            </a:r>
            <a:r>
              <a:rPr kumimoji="0" lang="en-US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 </a:t>
            </a:r>
            <a: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开始到当前行结尾</a:t>
            </a:r>
            <a:endParaRPr kumimoji="0" lang="zh-CN" altLang="zh-CN" sz="20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4" name="Rectangle 2">
            <a:extLst>
              <a:ext uri="{FF2B5EF4-FFF2-40B4-BE49-F238E27FC236}">
                <a16:creationId xmlns:a16="http://schemas.microsoft.com/office/drawing/2014/main" id="{2D885108-6CDC-7F59-592A-95B0DF32C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78" y="3702126"/>
            <a:ext cx="5406671" cy="11758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+mn-ea"/>
                <a:cs typeface="JetBrains Mono" panose="02000009000000000000" pitchFamily="49" charset="0"/>
              </a:rPr>
              <a:t>        </a:t>
            </a:r>
            <a: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/*</a:t>
            </a:r>
            <a:b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</a:br>
            <a: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           </a:t>
            </a:r>
            <a:r>
              <a:rPr kumimoji="0" lang="en-US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   </a:t>
            </a:r>
            <a: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这是一个</a:t>
            </a:r>
            <a:b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</a:br>
            <a: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            </a:t>
            </a:r>
            <a:r>
              <a:rPr kumimoji="0" lang="en-US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  </a:t>
            </a:r>
            <a: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多行注释</a:t>
            </a:r>
            <a:b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</a:br>
            <a:r>
              <a:rPr kumimoji="0" lang="zh-CN" altLang="zh-CN" sz="1200" b="0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+mn-ea"/>
                <a:cs typeface="JetBrains Mono" panose="02000009000000000000" pitchFamily="49" charset="0"/>
              </a:rPr>
              <a:t>         */</a:t>
            </a:r>
            <a:endParaRPr kumimoji="0" lang="zh-CN" altLang="zh-CN" sz="20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EF123455-FAF4-972F-971B-E30A3E794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196" y="2052468"/>
            <a:ext cx="1304761" cy="3852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单行注释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38E77543-272D-0D83-67CA-4036E0081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196" y="2904762"/>
            <a:ext cx="1411788" cy="3852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多行注释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6C358D02-2D64-8D10-4AFC-A22A89892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935" y="4290076"/>
            <a:ext cx="4667572" cy="3842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文档注释：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AC230B-A6B2-9E69-D14C-3CDBB4297503}"/>
              </a:ext>
            </a:extLst>
          </p:cNvPr>
          <p:cNvSpPr txBox="1"/>
          <p:nvPr/>
        </p:nvSpPr>
        <p:spPr>
          <a:xfrm>
            <a:off x="670389" y="2552378"/>
            <a:ext cx="2811005" cy="30777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127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// </a:t>
            </a:r>
            <a:r>
              <a:rPr lang="zh-CN" altLang="en-US" sz="12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注释内容，只能写一行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8FF9BD7-80AD-421E-D923-14AD2E7D34C9}"/>
              </a:ext>
            </a:extLst>
          </p:cNvPr>
          <p:cNvSpPr txBox="1"/>
          <p:nvPr/>
        </p:nvSpPr>
        <p:spPr>
          <a:xfrm>
            <a:off x="682833" y="3359181"/>
            <a:ext cx="2811005" cy="86177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127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r>
              <a:rPr lang="zh-CN" altLang="en-US" sz="12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注释内容</a:t>
            </a:r>
            <a:r>
              <a:rPr lang="en-US" altLang="zh-CN" sz="12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</a:p>
          <a:p>
            <a:r>
              <a:rPr lang="zh-CN" altLang="en-US" sz="12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注释内容</a:t>
            </a:r>
            <a:r>
              <a:rPr lang="en-US" altLang="zh-CN" sz="12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</a:p>
          <a:p>
            <a:r>
              <a:rPr lang="zh-CN" altLang="en-US" sz="12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lang="en-US" altLang="zh-CN" sz="12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endParaRPr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CAE4129-3406-3740-5FEA-6A141D42A9D9}"/>
              </a:ext>
            </a:extLst>
          </p:cNvPr>
          <p:cNvSpPr txBox="1"/>
          <p:nvPr/>
        </p:nvSpPr>
        <p:spPr>
          <a:xfrm>
            <a:off x="670388" y="4790084"/>
            <a:ext cx="2811005" cy="86177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softEdge rad="127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 </a:t>
            </a:r>
          </a:p>
          <a:p>
            <a:r>
              <a:rPr lang="zh-CN" altLang="en-US" sz="12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注释内容</a:t>
            </a:r>
            <a:endParaRPr lang="en-US" altLang="zh-CN" sz="1200" b="1" dirty="0">
              <a:solidFill>
                <a:schemeClr val="accent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2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注释内容</a:t>
            </a:r>
            <a:endParaRPr lang="en-US" altLang="zh-CN" sz="1200" b="1" dirty="0">
              <a:solidFill>
                <a:schemeClr val="accent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2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</a:t>
            </a:r>
            <a:r>
              <a:rPr lang="en-US" altLang="zh-CN" sz="12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endParaRPr lang="zh-CN" altLang="en-US" sz="1400" dirty="0"/>
          </a:p>
        </p:txBody>
      </p:sp>
      <p:sp>
        <p:nvSpPr>
          <p:cNvPr id="9" name="三角形 9">
            <a:extLst>
              <a:ext uri="{FF2B5EF4-FFF2-40B4-BE49-F238E27FC236}">
                <a16:creationId xmlns:a16="http://schemas.microsoft.com/office/drawing/2014/main" id="{7D44EC08-0A54-4249-1276-18FEBCF26769}"/>
              </a:ext>
            </a:extLst>
          </p:cNvPr>
          <p:cNvSpPr/>
          <p:nvPr/>
        </p:nvSpPr>
        <p:spPr>
          <a:xfrm rot="2651319">
            <a:off x="577074" y="6099797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290A6AD-62B7-517B-195C-274B71748224}"/>
              </a:ext>
            </a:extLst>
          </p:cNvPr>
          <p:cNvSpPr txBox="1"/>
          <p:nvPr/>
        </p:nvSpPr>
        <p:spPr>
          <a:xfrm>
            <a:off x="914864" y="6126928"/>
            <a:ext cx="4842470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注释内容不会参与编译和运行</a:t>
            </a:r>
            <a:endParaRPr lang="en-US" altLang="zh-CN" sz="14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232AEF-BCCF-DA17-0A8A-38EF973AA7DE}"/>
              </a:ext>
            </a:extLst>
          </p:cNvPr>
          <p:cNvSpPr/>
          <p:nvPr/>
        </p:nvSpPr>
        <p:spPr>
          <a:xfrm>
            <a:off x="682833" y="5820625"/>
            <a:ext cx="4667573" cy="861774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7807F02-94AC-D8D4-1330-7855916D9744}"/>
              </a:ext>
            </a:extLst>
          </p:cNvPr>
          <p:cNvSpPr/>
          <p:nvPr/>
        </p:nvSpPr>
        <p:spPr>
          <a:xfrm>
            <a:off x="570460" y="5815684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311709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42" grpId="0"/>
      <p:bldP spid="43" grpId="0"/>
      <p:bldP spid="44" grpId="0"/>
      <p:bldP spid="15" grpId="0"/>
      <p:bldP spid="16" grpId="0"/>
      <p:bldP spid="17" grpId="0"/>
      <p:bldP spid="19" grpId="0" animBg="1"/>
      <p:bldP spid="20" grpId="0" animBg="1"/>
      <p:bldP spid="21" grpId="0" animBg="1"/>
      <p:bldP spid="9" grpId="0" animBg="1"/>
      <p:bldP spid="10" grpId="0"/>
      <p:bldP spid="18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7A685B-F94D-194F-BA07-9413F6ABF7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400" dirty="0"/>
              <a:t>注释是什么？</a:t>
            </a:r>
            <a:endParaRPr lang="en-US" altLang="zh-CN" sz="1400" dirty="0"/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写在程序中对程序进行解释说明的文字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/>
              <a:t>Java</a:t>
            </a:r>
            <a:r>
              <a:rPr lang="zh-CN" altLang="en-US" sz="1400" dirty="0"/>
              <a:t>程序中书写注释的方式有几种，各自有什么不同？</a:t>
            </a:r>
            <a:endParaRPr lang="en-US" altLang="zh-CN" sz="1400" dirty="0"/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单行注释：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//</a:t>
            </a: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多行注释：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/*  */</a:t>
            </a: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文档注释：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/**  */</a:t>
            </a:r>
          </a:p>
          <a:p>
            <a:r>
              <a:rPr lang="zh-CN" altLang="en-US" sz="1400" dirty="0"/>
              <a:t>注释有什么特点？为什么？</a:t>
            </a:r>
            <a:endParaRPr lang="en-US" altLang="zh-CN" sz="1400" dirty="0"/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不影响程序的执行，编译后的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文件中已经没有注释了。</a:t>
            </a: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A9BDEB07-9BCA-4130-9D72-B5B8146020EC}"/>
              </a:ext>
            </a:extLst>
          </p:cNvPr>
          <p:cNvSpPr txBox="1">
            <a:spLocks/>
          </p:cNvSpPr>
          <p:nvPr/>
        </p:nvSpPr>
        <p:spPr>
          <a:xfrm>
            <a:off x="627753" y="244189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926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AF7B9-F025-492B-C6A5-C019F582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0470780-7BE4-665F-2B8F-664CB2A349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注释</a:t>
            </a:r>
            <a:endParaRPr lang="en-US" altLang="zh-CN" dirty="0"/>
          </a:p>
          <a:p>
            <a:r>
              <a:rPr lang="zh-CN" altLang="en-US" dirty="0"/>
              <a:t>关键字</a:t>
            </a:r>
            <a:endParaRPr lang="en-US" altLang="zh-CN" dirty="0"/>
          </a:p>
          <a:p>
            <a:r>
              <a:rPr lang="zh-CN" altLang="en-US" dirty="0"/>
              <a:t>字面量</a:t>
            </a:r>
            <a:endParaRPr lang="en-US" altLang="zh-CN" dirty="0"/>
          </a:p>
          <a:p>
            <a:r>
              <a:rPr lang="zh-CN" altLang="en-US" dirty="0"/>
              <a:t>变量</a:t>
            </a:r>
            <a:endParaRPr lang="en-US" altLang="zh-CN" dirty="0"/>
          </a:p>
          <a:p>
            <a:r>
              <a:rPr lang="zh-CN" altLang="en-US" dirty="0"/>
              <a:t>标识符</a:t>
            </a:r>
            <a:endParaRPr lang="en-US" altLang="zh-CN" dirty="0"/>
          </a:p>
          <a:p>
            <a:r>
              <a:rPr lang="zh-CN" altLang="en-US" dirty="0"/>
              <a:t>数据类型</a:t>
            </a:r>
          </a:p>
        </p:txBody>
      </p:sp>
    </p:spTree>
    <p:extLst>
      <p:ext uri="{BB962C8B-B14F-4D97-AF65-F5344CB8AC3E}">
        <p14:creationId xmlns:p14="http://schemas.microsoft.com/office/powerpoint/2010/main" val="891910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A0255-D190-F59B-C13B-A7260BB31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E3428C-E515-2918-998C-F33A47A31D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关键字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438EE25-6AA0-CD8C-FE8B-6D53483F80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5378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06783D0-3AFD-F7DE-1D53-864E8FBA3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关键字介绍</a:t>
            </a:r>
            <a:endParaRPr lang="zh-CN" altLang="en-US" dirty="0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F21C80BB-B586-2138-1116-905A9FFD4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80" y="1635973"/>
            <a:ext cx="8813800" cy="42126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关键字：被 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 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赋予了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特定涵义的英文单词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090FCA-A208-210B-74D2-CD829FECB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05" y="2596092"/>
            <a:ext cx="6371167" cy="1665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01317CD6-05E9-61AB-4504-EDBC6BF6C83F}"/>
              </a:ext>
            </a:extLst>
          </p:cNvPr>
          <p:cNvSpPr/>
          <p:nvPr/>
        </p:nvSpPr>
        <p:spPr>
          <a:xfrm>
            <a:off x="1576596" y="2560110"/>
            <a:ext cx="670984" cy="40216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1E22AFA-2F15-A07F-0D84-4B37F5011F70}"/>
              </a:ext>
            </a:extLst>
          </p:cNvPr>
          <p:cNvCxnSpPr/>
          <p:nvPr/>
        </p:nvCxnSpPr>
        <p:spPr>
          <a:xfrm>
            <a:off x="2247581" y="2596092"/>
            <a:ext cx="4032249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66B52A2-2576-BCCA-7D9B-BF3F697F056A}"/>
              </a:ext>
            </a:extLst>
          </p:cNvPr>
          <p:cNvSpPr txBox="1"/>
          <p:nvPr/>
        </p:nvSpPr>
        <p:spPr>
          <a:xfrm>
            <a:off x="6377196" y="2426760"/>
            <a:ext cx="3934884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创建类</a:t>
            </a:r>
          </a:p>
        </p:txBody>
      </p:sp>
    </p:spTree>
    <p:extLst>
      <p:ext uri="{BB962C8B-B14F-4D97-AF65-F5344CB8AC3E}">
        <p14:creationId xmlns:p14="http://schemas.microsoft.com/office/powerpoint/2010/main" val="357680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7CED746-0C78-1818-6180-629D88784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关键字介绍</a:t>
            </a:r>
            <a:endParaRPr lang="zh-CN" altLang="en-US" dirty="0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F21C80BB-B586-2138-1116-905A9FFD4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80" y="1635973"/>
            <a:ext cx="8813800" cy="42126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关键字：被 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 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赋予了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特定涵义的英文单词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090FCA-A208-210B-74D2-CD829FECB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05" y="2596092"/>
            <a:ext cx="6371167" cy="1665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三角形 9">
            <a:extLst>
              <a:ext uri="{FF2B5EF4-FFF2-40B4-BE49-F238E27FC236}">
                <a16:creationId xmlns:a16="http://schemas.microsoft.com/office/drawing/2014/main" id="{B2159A43-4872-AEF7-EA4F-4332B276177E}"/>
              </a:ext>
            </a:extLst>
          </p:cNvPr>
          <p:cNvSpPr/>
          <p:nvPr/>
        </p:nvSpPr>
        <p:spPr>
          <a:xfrm rot="2651319">
            <a:off x="851566" y="506955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6A7093B4-393E-4081-EE29-EA3A044FF4B8}"/>
              </a:ext>
            </a:extLst>
          </p:cNvPr>
          <p:cNvSpPr txBox="1"/>
          <p:nvPr/>
        </p:nvSpPr>
        <p:spPr>
          <a:xfrm>
            <a:off x="1189355" y="5073101"/>
            <a:ext cx="6767513" cy="380169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AD2B26"/>
                </a:solidFill>
                <a:latin typeface="Consolas" panose="020B0609020204030204" pitchFamily="49" charset="0"/>
                <a:ea typeface="Alibaba PuHuiTi R" pitchFamily="18" charset="-122"/>
                <a:cs typeface="Alibaba PuHuiTi R" pitchFamily="18" charset="-122"/>
              </a:rPr>
              <a:t>Java </a:t>
            </a:r>
            <a:r>
              <a:rPr lang="zh-CN" altLang="en-US" sz="1400" dirty="0">
                <a:solidFill>
                  <a:srgbClr val="AD2B26"/>
                </a:solidFill>
                <a:latin typeface="Consolas" panose="020B0609020204030204" pitchFamily="49" charset="0"/>
                <a:ea typeface="Alibaba PuHuiTi R" pitchFamily="18" charset="-122"/>
                <a:cs typeface="Alibaba PuHuiTi R" pitchFamily="18" charset="-122"/>
              </a:rPr>
              <a:t>中的关键字，已经被赋予了特殊的涵义，这些单词不允许使用</a:t>
            </a:r>
            <a:endParaRPr lang="en-US" altLang="zh-CN" sz="1400" dirty="0">
              <a:solidFill>
                <a:srgbClr val="AD2B26"/>
              </a:solidFill>
              <a:latin typeface="Consolas" panose="020B0609020204030204" pitchFamily="49" charset="0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27AB1E-74A9-5D16-E1BD-A92840A7E9BB}"/>
              </a:ext>
            </a:extLst>
          </p:cNvPr>
          <p:cNvSpPr/>
          <p:nvPr/>
        </p:nvSpPr>
        <p:spPr>
          <a:xfrm>
            <a:off x="944880" y="4712970"/>
            <a:ext cx="6767513" cy="1204949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DF2E76-6BA6-DD28-EFD7-903E600CABA4}"/>
              </a:ext>
            </a:extLst>
          </p:cNvPr>
          <p:cNvSpPr/>
          <p:nvPr/>
        </p:nvSpPr>
        <p:spPr>
          <a:xfrm>
            <a:off x="844952" y="4785440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290813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F946EED8-1F91-4DF4-A377-60CB80B82CDD}"/>
              </a:ext>
            </a:extLst>
          </p:cNvPr>
          <p:cNvGrpSpPr>
            <a:grpSpLocks/>
          </p:cNvGrpSpPr>
          <p:nvPr/>
        </p:nvGrpSpPr>
        <p:grpSpPr bwMode="auto">
          <a:xfrm>
            <a:off x="3736502" y="1753344"/>
            <a:ext cx="882737" cy="444791"/>
            <a:chOff x="-1365663" y="0"/>
            <a:chExt cx="3610988" cy="1143674"/>
          </a:xfrm>
        </p:grpSpPr>
        <p:sp>
          <p:nvSpPr>
            <p:cNvPr id="22" name="圆角矩形 5">
              <a:extLst>
                <a:ext uri="{FF2B5EF4-FFF2-40B4-BE49-F238E27FC236}">
                  <a16:creationId xmlns:a16="http://schemas.microsoft.com/office/drawing/2014/main" id="{CF17E1CA-D498-4E91-A833-5E018F550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8F9BC1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3" name="文本框 58">
              <a:extLst>
                <a:ext uri="{FF2B5EF4-FFF2-40B4-BE49-F238E27FC236}">
                  <a16:creationId xmlns:a16="http://schemas.microsoft.com/office/drawing/2014/main" id="{F8E9B7DA-6DFE-47F8-B9A8-934E67388C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85463" y="120410"/>
              <a:ext cx="2630814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 err="1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goto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5CA2380-E093-4922-8AB2-78D3C9D4F433}"/>
              </a:ext>
            </a:extLst>
          </p:cNvPr>
          <p:cNvGrpSpPr>
            <a:grpSpLocks/>
          </p:cNvGrpSpPr>
          <p:nvPr/>
        </p:nvGrpSpPr>
        <p:grpSpPr bwMode="auto">
          <a:xfrm>
            <a:off x="2718563" y="4261511"/>
            <a:ext cx="882737" cy="444791"/>
            <a:chOff x="-1365663" y="0"/>
            <a:chExt cx="3610988" cy="1143674"/>
          </a:xfrm>
        </p:grpSpPr>
        <p:sp>
          <p:nvSpPr>
            <p:cNvPr id="31" name="圆角矩形 5">
              <a:extLst>
                <a:ext uri="{FF2B5EF4-FFF2-40B4-BE49-F238E27FC236}">
                  <a16:creationId xmlns:a16="http://schemas.microsoft.com/office/drawing/2014/main" id="{1F154653-9E5A-4A19-AC2E-A27D8EA7E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2EB08E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2" name="文本框 58">
              <a:extLst>
                <a:ext uri="{FF2B5EF4-FFF2-40B4-BE49-F238E27FC236}">
                  <a16:creationId xmlns:a16="http://schemas.microsoft.com/office/drawing/2014/main" id="{E15AEE6A-10A6-44FD-A6C6-739C140F4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21528" y="95918"/>
              <a:ext cx="3102943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 err="1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enum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BC7ECCB-CB47-4F3B-8AEE-B3FBC3B49ED0}"/>
              </a:ext>
            </a:extLst>
          </p:cNvPr>
          <p:cNvGrpSpPr>
            <a:grpSpLocks/>
          </p:cNvGrpSpPr>
          <p:nvPr/>
        </p:nvGrpSpPr>
        <p:grpSpPr bwMode="auto">
          <a:xfrm>
            <a:off x="2712917" y="3249449"/>
            <a:ext cx="885455" cy="444791"/>
            <a:chOff x="-1365663" y="0"/>
            <a:chExt cx="3622107" cy="1143674"/>
          </a:xfrm>
        </p:grpSpPr>
        <p:sp>
          <p:nvSpPr>
            <p:cNvPr id="34" name="圆角矩形 5">
              <a:extLst>
                <a:ext uri="{FF2B5EF4-FFF2-40B4-BE49-F238E27FC236}">
                  <a16:creationId xmlns:a16="http://schemas.microsoft.com/office/drawing/2014/main" id="{83130FFD-3732-4C9F-85BF-AAAB37D42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4A708C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5" name="文本框 58">
              <a:extLst>
                <a:ext uri="{FF2B5EF4-FFF2-40B4-BE49-F238E27FC236}">
                  <a16:creationId xmlns:a16="http://schemas.microsoft.com/office/drawing/2014/main" id="{E2E52821-4D0E-4CAC-8671-7B982AB16A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18628" y="95918"/>
              <a:ext cx="3575072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double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3E494A9-0C0F-454D-BD92-5B6C77D6720B}"/>
              </a:ext>
            </a:extLst>
          </p:cNvPr>
          <p:cNvGrpSpPr>
            <a:grpSpLocks/>
          </p:cNvGrpSpPr>
          <p:nvPr/>
        </p:nvGrpSpPr>
        <p:grpSpPr bwMode="auto">
          <a:xfrm>
            <a:off x="4761805" y="1250869"/>
            <a:ext cx="882737" cy="444791"/>
            <a:chOff x="-1365663" y="0"/>
            <a:chExt cx="3610988" cy="1143674"/>
          </a:xfrm>
        </p:grpSpPr>
        <p:sp>
          <p:nvSpPr>
            <p:cNvPr id="38" name="圆角矩形 5">
              <a:extLst>
                <a:ext uri="{FF2B5EF4-FFF2-40B4-BE49-F238E27FC236}">
                  <a16:creationId xmlns:a16="http://schemas.microsoft.com/office/drawing/2014/main" id="{1545B326-28E4-4BB7-8878-0306599D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92B9BD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9" name="文本框 58">
              <a:extLst>
                <a:ext uri="{FF2B5EF4-FFF2-40B4-BE49-F238E27FC236}">
                  <a16:creationId xmlns:a16="http://schemas.microsoft.com/office/drawing/2014/main" id="{A69D7C9B-0D67-4DEB-A7EE-6B6AF2FE1D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52676" y="144901"/>
              <a:ext cx="2565240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long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23DD9AD3-0CC7-4992-AE6D-D32260D194E5}"/>
              </a:ext>
            </a:extLst>
          </p:cNvPr>
          <p:cNvGrpSpPr>
            <a:grpSpLocks/>
          </p:cNvGrpSpPr>
          <p:nvPr/>
        </p:nvGrpSpPr>
        <p:grpSpPr bwMode="auto">
          <a:xfrm>
            <a:off x="4764943" y="3261837"/>
            <a:ext cx="882737" cy="444791"/>
            <a:chOff x="-1365663" y="0"/>
            <a:chExt cx="3610988" cy="1143674"/>
          </a:xfrm>
        </p:grpSpPr>
        <p:sp>
          <p:nvSpPr>
            <p:cNvPr id="41" name="圆角矩形 5">
              <a:extLst>
                <a:ext uri="{FF2B5EF4-FFF2-40B4-BE49-F238E27FC236}">
                  <a16:creationId xmlns:a16="http://schemas.microsoft.com/office/drawing/2014/main" id="{9A04E211-8B15-4521-B2E8-942015738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79BEEE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2" name="文本框 58">
              <a:extLst>
                <a:ext uri="{FF2B5EF4-FFF2-40B4-BE49-F238E27FC236}">
                  <a16:creationId xmlns:a16="http://schemas.microsoft.com/office/drawing/2014/main" id="{42B113A8-09A6-48AE-987B-94F0C305B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11690" y="95918"/>
              <a:ext cx="3483269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import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9B16E92-89B5-49E2-A0BE-A250C2FB3588}"/>
              </a:ext>
            </a:extLst>
          </p:cNvPr>
          <p:cNvGrpSpPr>
            <a:grpSpLocks/>
          </p:cNvGrpSpPr>
          <p:nvPr/>
        </p:nvGrpSpPr>
        <p:grpSpPr bwMode="auto">
          <a:xfrm>
            <a:off x="6796703" y="2243030"/>
            <a:ext cx="950901" cy="444791"/>
            <a:chOff x="-1592898" y="0"/>
            <a:chExt cx="3889825" cy="1143674"/>
          </a:xfrm>
        </p:grpSpPr>
        <p:sp>
          <p:nvSpPr>
            <p:cNvPr id="44" name="圆角矩形 5">
              <a:extLst>
                <a:ext uri="{FF2B5EF4-FFF2-40B4-BE49-F238E27FC236}">
                  <a16:creationId xmlns:a16="http://schemas.microsoft.com/office/drawing/2014/main" id="{124F3241-D118-443D-9128-D0D5715DE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57375" y="0"/>
              <a:ext cx="3802701" cy="1143674"/>
            </a:xfrm>
            <a:prstGeom prst="roundRect">
              <a:avLst>
                <a:gd name="adj" fmla="val 16667"/>
              </a:avLst>
            </a:prstGeom>
            <a:solidFill>
              <a:srgbClr val="C9C9C9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5" name="文本框 58">
              <a:extLst>
                <a:ext uri="{FF2B5EF4-FFF2-40B4-BE49-F238E27FC236}">
                  <a16:creationId xmlns:a16="http://schemas.microsoft.com/office/drawing/2014/main" id="{1453EEE5-282E-46E2-89DB-D17ABE543A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92898" y="95918"/>
              <a:ext cx="3889825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extends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F1A417F4-648F-4484-8B48-C4573CBEFA31}"/>
              </a:ext>
            </a:extLst>
          </p:cNvPr>
          <p:cNvGrpSpPr>
            <a:grpSpLocks/>
          </p:cNvGrpSpPr>
          <p:nvPr/>
        </p:nvGrpSpPr>
        <p:grpSpPr bwMode="auto">
          <a:xfrm>
            <a:off x="1683927" y="3758814"/>
            <a:ext cx="882737" cy="444791"/>
            <a:chOff x="-1365663" y="0"/>
            <a:chExt cx="3610988" cy="1143674"/>
          </a:xfrm>
        </p:grpSpPr>
        <p:sp>
          <p:nvSpPr>
            <p:cNvPr id="47" name="圆角矩形 5">
              <a:extLst>
                <a:ext uri="{FF2B5EF4-FFF2-40B4-BE49-F238E27FC236}">
                  <a16:creationId xmlns:a16="http://schemas.microsoft.com/office/drawing/2014/main" id="{E6A7E2A2-3545-4580-A6F3-8F020E108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A8D4AD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8" name="文本框 58">
              <a:extLst>
                <a:ext uri="{FF2B5EF4-FFF2-40B4-BE49-F238E27FC236}">
                  <a16:creationId xmlns:a16="http://schemas.microsoft.com/office/drawing/2014/main" id="{68D1DE30-03D1-46EE-BACA-E62C30A85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55949" y="95918"/>
              <a:ext cx="2571798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	else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EB3FC75-F057-486A-ADAA-27A9555605A6}"/>
              </a:ext>
            </a:extLst>
          </p:cNvPr>
          <p:cNvGrpSpPr>
            <a:grpSpLocks/>
          </p:cNvGrpSpPr>
          <p:nvPr/>
        </p:nvGrpSpPr>
        <p:grpSpPr bwMode="auto">
          <a:xfrm>
            <a:off x="3732117" y="5766663"/>
            <a:ext cx="882737" cy="444791"/>
            <a:chOff x="-1365663" y="0"/>
            <a:chExt cx="3610988" cy="1143674"/>
          </a:xfrm>
        </p:grpSpPr>
        <p:sp>
          <p:nvSpPr>
            <p:cNvPr id="50" name="圆角矩形 5">
              <a:extLst>
                <a:ext uri="{FF2B5EF4-FFF2-40B4-BE49-F238E27FC236}">
                  <a16:creationId xmlns:a16="http://schemas.microsoft.com/office/drawing/2014/main" id="{A777A2E7-9F96-469D-A6BB-154C40EFC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84AFE6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1" name="文本框 58">
              <a:extLst>
                <a:ext uri="{FF2B5EF4-FFF2-40B4-BE49-F238E27FC236}">
                  <a16:creationId xmlns:a16="http://schemas.microsoft.com/office/drawing/2014/main" id="{225D4952-85D6-4579-A31B-5AAA924E8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42841" y="120410"/>
              <a:ext cx="3345569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finally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3056D23-0780-47A9-BFA2-850722C20FD5}"/>
              </a:ext>
            </a:extLst>
          </p:cNvPr>
          <p:cNvGrpSpPr>
            <a:grpSpLocks/>
          </p:cNvGrpSpPr>
          <p:nvPr/>
        </p:nvGrpSpPr>
        <p:grpSpPr bwMode="auto">
          <a:xfrm>
            <a:off x="4748726" y="2251752"/>
            <a:ext cx="882737" cy="444791"/>
            <a:chOff x="-1365663" y="0"/>
            <a:chExt cx="3610988" cy="1143674"/>
          </a:xfrm>
        </p:grpSpPr>
        <p:sp>
          <p:nvSpPr>
            <p:cNvPr id="53" name="圆角矩形 5">
              <a:extLst>
                <a:ext uri="{FF2B5EF4-FFF2-40B4-BE49-F238E27FC236}">
                  <a16:creationId xmlns:a16="http://schemas.microsoft.com/office/drawing/2014/main" id="{0BB16C35-7EBF-4C9E-B103-0E6D0280E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FF6600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4" name="文本框 58">
              <a:extLst>
                <a:ext uri="{FF2B5EF4-FFF2-40B4-BE49-F238E27FC236}">
                  <a16:creationId xmlns:a16="http://schemas.microsoft.com/office/drawing/2014/main" id="{283139EA-C1D1-40C0-BFB4-5E75FA692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85465" y="95918"/>
              <a:ext cx="1830813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int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9FA1AED-5ADB-45A7-9218-500876F6B237}"/>
              </a:ext>
            </a:extLst>
          </p:cNvPr>
          <p:cNvGrpSpPr>
            <a:grpSpLocks/>
          </p:cNvGrpSpPr>
          <p:nvPr/>
        </p:nvGrpSpPr>
        <p:grpSpPr bwMode="auto">
          <a:xfrm>
            <a:off x="2668946" y="5272159"/>
            <a:ext cx="986084" cy="444791"/>
            <a:chOff x="-1365663" y="0"/>
            <a:chExt cx="4033747" cy="1143674"/>
          </a:xfrm>
        </p:grpSpPr>
        <p:sp>
          <p:nvSpPr>
            <p:cNvPr id="56" name="圆角矩形 5">
              <a:extLst>
                <a:ext uri="{FF2B5EF4-FFF2-40B4-BE49-F238E27FC236}">
                  <a16:creationId xmlns:a16="http://schemas.microsoft.com/office/drawing/2014/main" id="{B24FBB12-49C7-4815-BB13-1E2FE1C6D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4033747" cy="1143674"/>
            </a:xfrm>
            <a:prstGeom prst="roundRect">
              <a:avLst>
                <a:gd name="adj" fmla="val 16667"/>
              </a:avLst>
            </a:prstGeom>
            <a:solidFill>
              <a:srgbClr val="3CB5C7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7" name="文本框 58">
              <a:extLst>
                <a:ext uri="{FF2B5EF4-FFF2-40B4-BE49-F238E27FC236}">
                  <a16:creationId xmlns:a16="http://schemas.microsoft.com/office/drawing/2014/main" id="{6B850CD0-D0F7-4155-ACE2-80089FBB9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20150" y="120410"/>
              <a:ext cx="3889825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extends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3DA64505-C6E5-4377-A60A-FBE5EF61DFDE}"/>
              </a:ext>
            </a:extLst>
          </p:cNvPr>
          <p:cNvGrpSpPr>
            <a:grpSpLocks/>
          </p:cNvGrpSpPr>
          <p:nvPr/>
        </p:nvGrpSpPr>
        <p:grpSpPr bwMode="auto">
          <a:xfrm>
            <a:off x="8868702" y="1238778"/>
            <a:ext cx="882737" cy="444791"/>
            <a:chOff x="-1365663" y="0"/>
            <a:chExt cx="3610988" cy="1143674"/>
          </a:xfrm>
        </p:grpSpPr>
        <p:sp>
          <p:nvSpPr>
            <p:cNvPr id="59" name="圆角矩形 5">
              <a:extLst>
                <a:ext uri="{FF2B5EF4-FFF2-40B4-BE49-F238E27FC236}">
                  <a16:creationId xmlns:a16="http://schemas.microsoft.com/office/drawing/2014/main" id="{7015A5F8-0EFB-4FE8-8808-50CD57B0C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8A84E2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0" name="文本框 58">
              <a:extLst>
                <a:ext uri="{FF2B5EF4-FFF2-40B4-BE49-F238E27FC236}">
                  <a16:creationId xmlns:a16="http://schemas.microsoft.com/office/drawing/2014/main" id="{769A6382-102B-4D65-BA82-491C7FFAE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72348" y="95918"/>
              <a:ext cx="2604584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final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1DC915A-0F80-4F8E-8547-448441DD2AF2}"/>
              </a:ext>
            </a:extLst>
          </p:cNvPr>
          <p:cNvGrpSpPr>
            <a:grpSpLocks/>
          </p:cNvGrpSpPr>
          <p:nvPr/>
        </p:nvGrpSpPr>
        <p:grpSpPr bwMode="auto">
          <a:xfrm>
            <a:off x="8840127" y="3246022"/>
            <a:ext cx="1072730" cy="444791"/>
            <a:chOff x="-1374508" y="0"/>
            <a:chExt cx="4388186" cy="1143674"/>
          </a:xfrm>
        </p:grpSpPr>
        <p:sp>
          <p:nvSpPr>
            <p:cNvPr id="62" name="圆角矩形 5">
              <a:extLst>
                <a:ext uri="{FF2B5EF4-FFF2-40B4-BE49-F238E27FC236}">
                  <a16:creationId xmlns:a16="http://schemas.microsoft.com/office/drawing/2014/main" id="{E6BFF46B-1C24-4101-A44D-1369B4649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2" y="0"/>
              <a:ext cx="4223987" cy="1143674"/>
            </a:xfrm>
            <a:prstGeom prst="roundRect">
              <a:avLst>
                <a:gd name="adj" fmla="val 16667"/>
              </a:avLst>
            </a:prstGeom>
            <a:solidFill>
              <a:srgbClr val="3CB5C7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3" name="文本框 58">
              <a:extLst>
                <a:ext uri="{FF2B5EF4-FFF2-40B4-BE49-F238E27FC236}">
                  <a16:creationId xmlns:a16="http://schemas.microsoft.com/office/drawing/2014/main" id="{D1C8D228-194C-49EC-8B2B-16742C294D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74508" y="95918"/>
              <a:ext cx="4388186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interface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B362EC4A-FC7E-4A50-9721-86153E4A022F}"/>
              </a:ext>
            </a:extLst>
          </p:cNvPr>
          <p:cNvGrpSpPr>
            <a:grpSpLocks/>
          </p:cNvGrpSpPr>
          <p:nvPr/>
        </p:nvGrpSpPr>
        <p:grpSpPr bwMode="auto">
          <a:xfrm>
            <a:off x="6814899" y="1243582"/>
            <a:ext cx="882737" cy="444791"/>
            <a:chOff x="-1365663" y="0"/>
            <a:chExt cx="3610988" cy="1143674"/>
          </a:xfrm>
        </p:grpSpPr>
        <p:sp>
          <p:nvSpPr>
            <p:cNvPr id="65" name="圆角矩形 5">
              <a:extLst>
                <a:ext uri="{FF2B5EF4-FFF2-40B4-BE49-F238E27FC236}">
                  <a16:creationId xmlns:a16="http://schemas.microsoft.com/office/drawing/2014/main" id="{B8B74C64-9322-4828-81F9-8C63A91CD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8F9BC1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6" name="文本框 58">
              <a:extLst>
                <a:ext uri="{FF2B5EF4-FFF2-40B4-BE49-F238E27FC236}">
                  <a16:creationId xmlns:a16="http://schemas.microsoft.com/office/drawing/2014/main" id="{B001843D-A5FD-4EE7-8AAD-B52BE64823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10054" y="95918"/>
              <a:ext cx="3279995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public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7C17382-9B79-49FF-A944-F6F217EB09F8}"/>
              </a:ext>
            </a:extLst>
          </p:cNvPr>
          <p:cNvGrpSpPr>
            <a:grpSpLocks/>
          </p:cNvGrpSpPr>
          <p:nvPr/>
        </p:nvGrpSpPr>
        <p:grpSpPr bwMode="auto">
          <a:xfrm>
            <a:off x="7835826" y="4768549"/>
            <a:ext cx="882737" cy="444791"/>
            <a:chOff x="-1365663" y="0"/>
            <a:chExt cx="3610988" cy="1143674"/>
          </a:xfrm>
        </p:grpSpPr>
        <p:sp>
          <p:nvSpPr>
            <p:cNvPr id="68" name="圆角矩形 5">
              <a:extLst>
                <a:ext uri="{FF2B5EF4-FFF2-40B4-BE49-F238E27FC236}">
                  <a16:creationId xmlns:a16="http://schemas.microsoft.com/office/drawing/2014/main" id="{EADAC11A-1BF0-4364-9FEC-D98E08115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3CB5C7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9" name="文本框 58">
              <a:extLst>
                <a:ext uri="{FF2B5EF4-FFF2-40B4-BE49-F238E27FC236}">
                  <a16:creationId xmlns:a16="http://schemas.microsoft.com/office/drawing/2014/main" id="{2694EADA-DDB1-4C56-818A-E22B01C40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10054" y="95918"/>
              <a:ext cx="3279991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return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4C43500-7CF8-491B-9AC5-BA8A2D4C2225}"/>
              </a:ext>
            </a:extLst>
          </p:cNvPr>
          <p:cNvGrpSpPr>
            <a:grpSpLocks/>
          </p:cNvGrpSpPr>
          <p:nvPr/>
        </p:nvGrpSpPr>
        <p:grpSpPr bwMode="auto">
          <a:xfrm>
            <a:off x="9904868" y="1743035"/>
            <a:ext cx="884773" cy="444791"/>
            <a:chOff x="-1373992" y="0"/>
            <a:chExt cx="3619317" cy="1143674"/>
          </a:xfrm>
        </p:grpSpPr>
        <p:sp>
          <p:nvSpPr>
            <p:cNvPr id="74" name="圆角矩形 5">
              <a:extLst>
                <a:ext uri="{FF2B5EF4-FFF2-40B4-BE49-F238E27FC236}">
                  <a16:creationId xmlns:a16="http://schemas.microsoft.com/office/drawing/2014/main" id="{19C49883-7193-465E-978E-2E4DB91CE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AEAEAE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5" name="文本框 58">
              <a:extLst>
                <a:ext uri="{FF2B5EF4-FFF2-40B4-BE49-F238E27FC236}">
                  <a16:creationId xmlns:a16="http://schemas.microsoft.com/office/drawing/2014/main" id="{4329099C-A32B-4921-B0C0-1E1CE1C20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73992" y="95918"/>
              <a:ext cx="3607862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 err="1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strictfp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C65C1AA2-97C3-41CB-8F58-7183A9185DA6}"/>
              </a:ext>
            </a:extLst>
          </p:cNvPr>
          <p:cNvGrpSpPr>
            <a:grpSpLocks/>
          </p:cNvGrpSpPr>
          <p:nvPr/>
        </p:nvGrpSpPr>
        <p:grpSpPr bwMode="auto">
          <a:xfrm>
            <a:off x="8846742" y="2249738"/>
            <a:ext cx="882737" cy="444791"/>
            <a:chOff x="-1365663" y="0"/>
            <a:chExt cx="3610988" cy="1143674"/>
          </a:xfrm>
        </p:grpSpPr>
        <p:sp>
          <p:nvSpPr>
            <p:cNvPr id="77" name="圆角矩形 5">
              <a:extLst>
                <a:ext uri="{FF2B5EF4-FFF2-40B4-BE49-F238E27FC236}">
                  <a16:creationId xmlns:a16="http://schemas.microsoft.com/office/drawing/2014/main" id="{75FDA2FA-F8A1-4B58-8676-67ABFF800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D16335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8" name="文本框 58">
              <a:extLst>
                <a:ext uri="{FF2B5EF4-FFF2-40B4-BE49-F238E27FC236}">
                  <a16:creationId xmlns:a16="http://schemas.microsoft.com/office/drawing/2014/main" id="{3B373530-B628-40A9-A651-6059FF3FAF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39566" y="95918"/>
              <a:ext cx="2539011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void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71898EE9-2D85-4446-A885-CFA62009BEEF}"/>
              </a:ext>
            </a:extLst>
          </p:cNvPr>
          <p:cNvGrpSpPr>
            <a:grpSpLocks/>
          </p:cNvGrpSpPr>
          <p:nvPr/>
        </p:nvGrpSpPr>
        <p:grpSpPr bwMode="auto">
          <a:xfrm>
            <a:off x="5803544" y="5778790"/>
            <a:ext cx="882737" cy="444791"/>
            <a:chOff x="-1365663" y="0"/>
            <a:chExt cx="3610988" cy="1143674"/>
          </a:xfrm>
        </p:grpSpPr>
        <p:sp>
          <p:nvSpPr>
            <p:cNvPr id="80" name="圆角矩形 5">
              <a:extLst>
                <a:ext uri="{FF2B5EF4-FFF2-40B4-BE49-F238E27FC236}">
                  <a16:creationId xmlns:a16="http://schemas.microsoft.com/office/drawing/2014/main" id="{282C3DD4-A523-499A-BBFB-9DEC880C0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4A708C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1" name="文本框 58">
              <a:extLst>
                <a:ext uri="{FF2B5EF4-FFF2-40B4-BE49-F238E27FC236}">
                  <a16:creationId xmlns:a16="http://schemas.microsoft.com/office/drawing/2014/main" id="{620D75EF-3772-42F7-AE5F-56D7CD1DF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92019" y="120410"/>
              <a:ext cx="2243930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this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CDD79638-C18A-467B-8FAC-D56261137D3E}"/>
              </a:ext>
            </a:extLst>
          </p:cNvPr>
          <p:cNvGrpSpPr>
            <a:grpSpLocks/>
          </p:cNvGrpSpPr>
          <p:nvPr/>
        </p:nvGrpSpPr>
        <p:grpSpPr bwMode="auto">
          <a:xfrm>
            <a:off x="7838245" y="3758756"/>
            <a:ext cx="882737" cy="444791"/>
            <a:chOff x="-1365663" y="0"/>
            <a:chExt cx="3610988" cy="1143674"/>
          </a:xfrm>
        </p:grpSpPr>
        <p:sp>
          <p:nvSpPr>
            <p:cNvPr id="83" name="圆角矩形 5">
              <a:extLst>
                <a:ext uri="{FF2B5EF4-FFF2-40B4-BE49-F238E27FC236}">
                  <a16:creationId xmlns:a16="http://schemas.microsoft.com/office/drawing/2014/main" id="{84632AB7-0899-4613-BD47-85377C09A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C9C9C9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4" name="文本框 58">
              <a:extLst>
                <a:ext uri="{FF2B5EF4-FFF2-40B4-BE49-F238E27FC236}">
                  <a16:creationId xmlns:a16="http://schemas.microsoft.com/office/drawing/2014/main" id="{85A139B4-E74D-4BA5-AD84-53E01809B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57595" y="95918"/>
              <a:ext cx="3175074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throw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CBDF76BC-68B3-4507-ACFA-CFDAB5BF84EE}"/>
              </a:ext>
            </a:extLst>
          </p:cNvPr>
          <p:cNvGrpSpPr>
            <a:grpSpLocks/>
          </p:cNvGrpSpPr>
          <p:nvPr/>
        </p:nvGrpSpPr>
        <p:grpSpPr bwMode="auto">
          <a:xfrm>
            <a:off x="7809760" y="2750883"/>
            <a:ext cx="934871" cy="444791"/>
            <a:chOff x="-1482182" y="0"/>
            <a:chExt cx="3824251" cy="1143674"/>
          </a:xfrm>
        </p:grpSpPr>
        <p:sp>
          <p:nvSpPr>
            <p:cNvPr id="92" name="圆角矩形 5">
              <a:extLst>
                <a:ext uri="{FF2B5EF4-FFF2-40B4-BE49-F238E27FC236}">
                  <a16:creationId xmlns:a16="http://schemas.microsoft.com/office/drawing/2014/main" id="{0DB20E48-E0D3-4EE4-BA8D-CD9F3A05B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FF6600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93" name="文本框 58">
              <a:extLst>
                <a:ext uri="{FF2B5EF4-FFF2-40B4-BE49-F238E27FC236}">
                  <a16:creationId xmlns:a16="http://schemas.microsoft.com/office/drawing/2014/main" id="{ED59D29B-2562-4C66-9B46-574953061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82182" y="95918"/>
              <a:ext cx="3824251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volatile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E353F6B1-3113-4984-9126-6F9F1806D08E}"/>
              </a:ext>
            </a:extLst>
          </p:cNvPr>
          <p:cNvGrpSpPr>
            <a:grpSpLocks/>
          </p:cNvGrpSpPr>
          <p:nvPr/>
        </p:nvGrpSpPr>
        <p:grpSpPr bwMode="auto">
          <a:xfrm>
            <a:off x="7846793" y="1746685"/>
            <a:ext cx="882737" cy="444791"/>
            <a:chOff x="-1365663" y="0"/>
            <a:chExt cx="3610988" cy="1143674"/>
          </a:xfrm>
        </p:grpSpPr>
        <p:sp>
          <p:nvSpPr>
            <p:cNvPr id="95" name="圆角矩形 5">
              <a:extLst>
                <a:ext uri="{FF2B5EF4-FFF2-40B4-BE49-F238E27FC236}">
                  <a16:creationId xmlns:a16="http://schemas.microsoft.com/office/drawing/2014/main" id="{CDDEE3B7-F572-4BF1-9DF1-64ADCC7C3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3CB5C7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96" name="文本框 58">
              <a:extLst>
                <a:ext uri="{FF2B5EF4-FFF2-40B4-BE49-F238E27FC236}">
                  <a16:creationId xmlns:a16="http://schemas.microsoft.com/office/drawing/2014/main" id="{9C6852E0-AF9F-4E06-9D82-B1B7F34DF7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36662" y="120410"/>
              <a:ext cx="3011140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while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D7E1263A-9CD1-4A5B-874D-A24FD464B736}"/>
              </a:ext>
            </a:extLst>
          </p:cNvPr>
          <p:cNvGrpSpPr>
            <a:grpSpLocks/>
          </p:cNvGrpSpPr>
          <p:nvPr/>
        </p:nvGrpSpPr>
        <p:grpSpPr bwMode="auto">
          <a:xfrm>
            <a:off x="9884586" y="2746624"/>
            <a:ext cx="1050288" cy="444791"/>
            <a:chOff x="-1445502" y="0"/>
            <a:chExt cx="4296382" cy="1143674"/>
          </a:xfrm>
        </p:grpSpPr>
        <p:sp>
          <p:nvSpPr>
            <p:cNvPr id="107" name="圆角矩形 5">
              <a:extLst>
                <a:ext uri="{FF2B5EF4-FFF2-40B4-BE49-F238E27FC236}">
                  <a16:creationId xmlns:a16="http://schemas.microsoft.com/office/drawing/2014/main" id="{335235D5-C08D-4826-81DD-F62BF4E20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4113674" cy="1143674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08" name="文本框 58">
              <a:extLst>
                <a:ext uri="{FF2B5EF4-FFF2-40B4-BE49-F238E27FC236}">
                  <a16:creationId xmlns:a16="http://schemas.microsoft.com/office/drawing/2014/main" id="{78DB0BBC-6BBF-457F-A254-C894B0EC5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45502" y="95918"/>
              <a:ext cx="4296382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transient</a:t>
              </a:r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26941FFF-B8BE-4441-944B-FC5C6AE32ED9}"/>
              </a:ext>
            </a:extLst>
          </p:cNvPr>
          <p:cNvGrpSpPr>
            <a:grpSpLocks/>
          </p:cNvGrpSpPr>
          <p:nvPr/>
        </p:nvGrpSpPr>
        <p:grpSpPr bwMode="auto">
          <a:xfrm>
            <a:off x="9917919" y="3750894"/>
            <a:ext cx="1230974" cy="444791"/>
            <a:chOff x="-1419795" y="0"/>
            <a:chExt cx="5035508" cy="1143674"/>
          </a:xfrm>
        </p:grpSpPr>
        <p:sp>
          <p:nvSpPr>
            <p:cNvPr id="110" name="圆角矩形 5">
              <a:extLst>
                <a:ext uri="{FF2B5EF4-FFF2-40B4-BE49-F238E27FC236}">
                  <a16:creationId xmlns:a16="http://schemas.microsoft.com/office/drawing/2014/main" id="{40496E75-93C7-4C2D-ABFC-4F9A7EC30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4981376" cy="1143674"/>
            </a:xfrm>
            <a:prstGeom prst="roundRect">
              <a:avLst>
                <a:gd name="adj" fmla="val 16667"/>
              </a:avLst>
            </a:prstGeom>
            <a:solidFill>
              <a:srgbClr val="FDCF00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1" name="文本框 58">
              <a:extLst>
                <a:ext uri="{FF2B5EF4-FFF2-40B4-BE49-F238E27FC236}">
                  <a16:creationId xmlns:a16="http://schemas.microsoft.com/office/drawing/2014/main" id="{8206A088-838E-4344-AB27-846A14328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19795" y="144901"/>
              <a:ext cx="5024246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 err="1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instanceof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EC10333A-8D93-4A80-BA16-193505C18215}"/>
              </a:ext>
            </a:extLst>
          </p:cNvPr>
          <p:cNvGrpSpPr>
            <a:grpSpLocks/>
          </p:cNvGrpSpPr>
          <p:nvPr/>
        </p:nvGrpSpPr>
        <p:grpSpPr bwMode="auto">
          <a:xfrm>
            <a:off x="9862024" y="4554925"/>
            <a:ext cx="1616883" cy="444791"/>
            <a:chOff x="-1729184" y="0"/>
            <a:chExt cx="6250470" cy="1143674"/>
          </a:xfrm>
        </p:grpSpPr>
        <p:sp>
          <p:nvSpPr>
            <p:cNvPr id="113" name="圆角矩形 5">
              <a:extLst>
                <a:ext uri="{FF2B5EF4-FFF2-40B4-BE49-F238E27FC236}">
                  <a16:creationId xmlns:a16="http://schemas.microsoft.com/office/drawing/2014/main" id="{61959F40-2243-4CA7-8079-38EC06699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5471308" cy="1143674"/>
            </a:xfrm>
            <a:prstGeom prst="roundRect">
              <a:avLst>
                <a:gd name="adj" fmla="val 16667"/>
              </a:avLst>
            </a:prstGeom>
            <a:solidFill>
              <a:srgbClr val="92B9BD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4" name="文本框 58">
              <a:extLst>
                <a:ext uri="{FF2B5EF4-FFF2-40B4-BE49-F238E27FC236}">
                  <a16:creationId xmlns:a16="http://schemas.microsoft.com/office/drawing/2014/main" id="{23186AD8-B323-40F5-9471-EAFDC3616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729184" y="122145"/>
              <a:ext cx="6250470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synchronized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51576E22-A307-4A23-8D2E-363E1DB1A4AC}"/>
              </a:ext>
            </a:extLst>
          </p:cNvPr>
          <p:cNvGrpSpPr>
            <a:grpSpLocks/>
          </p:cNvGrpSpPr>
          <p:nvPr/>
        </p:nvGrpSpPr>
        <p:grpSpPr bwMode="auto">
          <a:xfrm>
            <a:off x="8794875" y="4249011"/>
            <a:ext cx="1146468" cy="444791"/>
            <a:chOff x="-1603259" y="0"/>
            <a:chExt cx="4689825" cy="1143674"/>
          </a:xfrm>
        </p:grpSpPr>
        <p:sp>
          <p:nvSpPr>
            <p:cNvPr id="116" name="圆角矩形 5">
              <a:extLst>
                <a:ext uri="{FF2B5EF4-FFF2-40B4-BE49-F238E27FC236}">
                  <a16:creationId xmlns:a16="http://schemas.microsoft.com/office/drawing/2014/main" id="{E4500A2B-CE18-43A9-ADA5-1419CF0F0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4171267" cy="1143674"/>
            </a:xfrm>
            <a:prstGeom prst="roundRect">
              <a:avLst>
                <a:gd name="adj" fmla="val 16667"/>
              </a:avLst>
            </a:prstGeom>
            <a:solidFill>
              <a:srgbClr val="A8D4AD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7" name="文本框 58">
              <a:extLst>
                <a:ext uri="{FF2B5EF4-FFF2-40B4-BE49-F238E27FC236}">
                  <a16:creationId xmlns:a16="http://schemas.microsoft.com/office/drawing/2014/main" id="{269DC633-3357-433E-951D-BA74F6064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603259" y="95918"/>
              <a:ext cx="4689825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protected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453892F7-E891-4F68-9B39-350430F2DE7B}"/>
              </a:ext>
            </a:extLst>
          </p:cNvPr>
          <p:cNvGrpSpPr>
            <a:grpSpLocks/>
          </p:cNvGrpSpPr>
          <p:nvPr/>
        </p:nvGrpSpPr>
        <p:grpSpPr bwMode="auto">
          <a:xfrm>
            <a:off x="5794904" y="2750178"/>
            <a:ext cx="882737" cy="444791"/>
            <a:chOff x="-1365663" y="0"/>
            <a:chExt cx="3610988" cy="1143674"/>
          </a:xfrm>
        </p:grpSpPr>
        <p:sp>
          <p:nvSpPr>
            <p:cNvPr id="119" name="圆角矩形 5">
              <a:extLst>
                <a:ext uri="{FF2B5EF4-FFF2-40B4-BE49-F238E27FC236}">
                  <a16:creationId xmlns:a16="http://schemas.microsoft.com/office/drawing/2014/main" id="{EE0B40B4-4DA4-4206-8509-3C11167FB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3CB5C7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20" name="文本框 58">
              <a:extLst>
                <a:ext uri="{FF2B5EF4-FFF2-40B4-BE49-F238E27FC236}">
                  <a16:creationId xmlns:a16="http://schemas.microsoft.com/office/drawing/2014/main" id="{0E1880CB-5C52-453C-94C9-CAF843896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64149" y="95918"/>
              <a:ext cx="3588186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throws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07B15FB9-7A35-4AC2-B06F-ADC2841A10AE}"/>
              </a:ext>
            </a:extLst>
          </p:cNvPr>
          <p:cNvGrpSpPr>
            <a:grpSpLocks/>
          </p:cNvGrpSpPr>
          <p:nvPr/>
        </p:nvGrpSpPr>
        <p:grpSpPr bwMode="auto">
          <a:xfrm>
            <a:off x="4681562" y="4249011"/>
            <a:ext cx="1040670" cy="444791"/>
            <a:chOff x="-1698574" y="0"/>
            <a:chExt cx="4257040" cy="1143674"/>
          </a:xfrm>
        </p:grpSpPr>
        <p:sp>
          <p:nvSpPr>
            <p:cNvPr id="122" name="圆角矩形 5">
              <a:extLst>
                <a:ext uri="{FF2B5EF4-FFF2-40B4-BE49-F238E27FC236}">
                  <a16:creationId xmlns:a16="http://schemas.microsoft.com/office/drawing/2014/main" id="{5DA4A27F-AB2E-4212-B1C0-F8710B6F8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23" name="文本框 58">
              <a:extLst>
                <a:ext uri="{FF2B5EF4-FFF2-40B4-BE49-F238E27FC236}">
                  <a16:creationId xmlns:a16="http://schemas.microsoft.com/office/drawing/2014/main" id="{17ED6B79-FC9F-4C38-A046-88B500C616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698574" y="95918"/>
              <a:ext cx="4257040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package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0477B43E-0776-4114-8367-1E410A8716D7}"/>
              </a:ext>
            </a:extLst>
          </p:cNvPr>
          <p:cNvGrpSpPr>
            <a:grpSpLocks/>
          </p:cNvGrpSpPr>
          <p:nvPr/>
        </p:nvGrpSpPr>
        <p:grpSpPr bwMode="auto">
          <a:xfrm>
            <a:off x="1683927" y="5762824"/>
            <a:ext cx="882737" cy="444791"/>
            <a:chOff x="-1365663" y="0"/>
            <a:chExt cx="3610988" cy="1143674"/>
          </a:xfrm>
        </p:grpSpPr>
        <p:sp>
          <p:nvSpPr>
            <p:cNvPr id="146" name="圆角矩形 5">
              <a:extLst>
                <a:ext uri="{FF2B5EF4-FFF2-40B4-BE49-F238E27FC236}">
                  <a16:creationId xmlns:a16="http://schemas.microsoft.com/office/drawing/2014/main" id="{3D8E1C0D-6676-4A6C-BEC2-1FD9F4C41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9AB53C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7" name="文本框 58">
              <a:extLst>
                <a:ext uri="{FF2B5EF4-FFF2-40B4-BE49-F238E27FC236}">
                  <a16:creationId xmlns:a16="http://schemas.microsoft.com/office/drawing/2014/main" id="{A635808E-0ACC-41CA-BA44-28094F0644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957594" y="95918"/>
              <a:ext cx="2775075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class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46724C7A-C8D8-408B-9693-96C80791D1AD}"/>
              </a:ext>
            </a:extLst>
          </p:cNvPr>
          <p:cNvGrpSpPr>
            <a:grpSpLocks/>
          </p:cNvGrpSpPr>
          <p:nvPr/>
        </p:nvGrpSpPr>
        <p:grpSpPr bwMode="auto">
          <a:xfrm>
            <a:off x="6810858" y="3254745"/>
            <a:ext cx="882737" cy="444791"/>
            <a:chOff x="-1365663" y="0"/>
            <a:chExt cx="3610988" cy="1143674"/>
          </a:xfrm>
        </p:grpSpPr>
        <p:sp>
          <p:nvSpPr>
            <p:cNvPr id="155" name="圆角矩形 5">
              <a:extLst>
                <a:ext uri="{FF2B5EF4-FFF2-40B4-BE49-F238E27FC236}">
                  <a16:creationId xmlns:a16="http://schemas.microsoft.com/office/drawing/2014/main" id="{627CC805-296C-46C3-B539-A86D230A7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9AB53C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56" name="文本框 58">
              <a:extLst>
                <a:ext uri="{FF2B5EF4-FFF2-40B4-BE49-F238E27FC236}">
                  <a16:creationId xmlns:a16="http://schemas.microsoft.com/office/drawing/2014/main" id="{2755771D-BFC3-4035-BBDF-3D6290CB8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996938" y="120410"/>
              <a:ext cx="2853764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short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9C4720C9-8812-41F6-994F-D99E2970F02B}"/>
              </a:ext>
            </a:extLst>
          </p:cNvPr>
          <p:cNvGrpSpPr>
            <a:grpSpLocks/>
          </p:cNvGrpSpPr>
          <p:nvPr/>
        </p:nvGrpSpPr>
        <p:grpSpPr bwMode="auto">
          <a:xfrm>
            <a:off x="8868702" y="5266070"/>
            <a:ext cx="882737" cy="444791"/>
            <a:chOff x="-1365663" y="0"/>
            <a:chExt cx="3610988" cy="1143674"/>
          </a:xfrm>
        </p:grpSpPr>
        <p:sp>
          <p:nvSpPr>
            <p:cNvPr id="164" name="圆角矩形 5">
              <a:extLst>
                <a:ext uri="{FF2B5EF4-FFF2-40B4-BE49-F238E27FC236}">
                  <a16:creationId xmlns:a16="http://schemas.microsoft.com/office/drawing/2014/main" id="{CB091CAB-613C-4018-B434-3046EF80F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AEAEAE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5" name="文本框 58">
              <a:extLst>
                <a:ext uri="{FF2B5EF4-FFF2-40B4-BE49-F238E27FC236}">
                  <a16:creationId xmlns:a16="http://schemas.microsoft.com/office/drawing/2014/main" id="{23993362-D293-472B-B5E1-694AA39B4C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95297" y="95918"/>
              <a:ext cx="2650482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float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F3402B76-6FBA-439D-8063-5C3BBCF257EC}"/>
              </a:ext>
            </a:extLst>
          </p:cNvPr>
          <p:cNvGrpSpPr>
            <a:grpSpLocks/>
          </p:cNvGrpSpPr>
          <p:nvPr/>
        </p:nvGrpSpPr>
        <p:grpSpPr bwMode="auto">
          <a:xfrm>
            <a:off x="6828819" y="4258536"/>
            <a:ext cx="882737" cy="444791"/>
            <a:chOff x="-1365663" y="0"/>
            <a:chExt cx="3610988" cy="1143674"/>
          </a:xfrm>
        </p:grpSpPr>
        <p:sp>
          <p:nvSpPr>
            <p:cNvPr id="167" name="圆角矩形 5">
              <a:extLst>
                <a:ext uri="{FF2B5EF4-FFF2-40B4-BE49-F238E27FC236}">
                  <a16:creationId xmlns:a16="http://schemas.microsoft.com/office/drawing/2014/main" id="{09D8C9CE-999D-45D2-9D5D-FFC798A4E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D16335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8" name="文本框 58">
              <a:extLst>
                <a:ext uri="{FF2B5EF4-FFF2-40B4-BE49-F238E27FC236}">
                  <a16:creationId xmlns:a16="http://schemas.microsoft.com/office/drawing/2014/main" id="{9A7B2246-2DED-45A5-8560-DC06CAABD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524809" y="95918"/>
              <a:ext cx="1909501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for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A101A7E4-CEC7-4651-B895-EA9C3FBF8DFB}"/>
              </a:ext>
            </a:extLst>
          </p:cNvPr>
          <p:cNvGrpSpPr>
            <a:grpSpLocks/>
          </p:cNvGrpSpPr>
          <p:nvPr/>
        </p:nvGrpSpPr>
        <p:grpSpPr bwMode="auto">
          <a:xfrm>
            <a:off x="1698812" y="4768549"/>
            <a:ext cx="882737" cy="444791"/>
            <a:chOff x="-1365663" y="0"/>
            <a:chExt cx="3610988" cy="1143674"/>
          </a:xfrm>
        </p:grpSpPr>
        <p:sp>
          <p:nvSpPr>
            <p:cNvPr id="170" name="圆角矩形 5">
              <a:extLst>
                <a:ext uri="{FF2B5EF4-FFF2-40B4-BE49-F238E27FC236}">
                  <a16:creationId xmlns:a16="http://schemas.microsoft.com/office/drawing/2014/main" id="{B9DC004C-9240-4A0D-A5D1-4C49C96B1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79BEEE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1" name="文本框 58">
              <a:extLst>
                <a:ext uri="{FF2B5EF4-FFF2-40B4-BE49-F238E27FC236}">
                  <a16:creationId xmlns:a16="http://schemas.microsoft.com/office/drawing/2014/main" id="{97214198-9050-4C99-AFA8-554C67D0A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19894" y="95918"/>
              <a:ext cx="1299668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if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059B4A46-98E5-49F4-8503-8999411DA9DA}"/>
              </a:ext>
            </a:extLst>
          </p:cNvPr>
          <p:cNvGrpSpPr>
            <a:grpSpLocks/>
          </p:cNvGrpSpPr>
          <p:nvPr/>
        </p:nvGrpSpPr>
        <p:grpSpPr bwMode="auto">
          <a:xfrm>
            <a:off x="6809769" y="5269737"/>
            <a:ext cx="882737" cy="444791"/>
            <a:chOff x="-1365663" y="0"/>
            <a:chExt cx="3610988" cy="1143674"/>
          </a:xfrm>
        </p:grpSpPr>
        <p:sp>
          <p:nvSpPr>
            <p:cNvPr id="176" name="圆角矩形 5">
              <a:extLst>
                <a:ext uri="{FF2B5EF4-FFF2-40B4-BE49-F238E27FC236}">
                  <a16:creationId xmlns:a16="http://schemas.microsoft.com/office/drawing/2014/main" id="{1FF36E11-D349-4BA3-AA6C-B550ED55D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79BEEE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7" name="文本框 58">
              <a:extLst>
                <a:ext uri="{FF2B5EF4-FFF2-40B4-BE49-F238E27FC236}">
                  <a16:creationId xmlns:a16="http://schemas.microsoft.com/office/drawing/2014/main" id="{F7F24043-4C99-400A-89D7-CCF03F5AE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55953" y="95918"/>
              <a:ext cx="2571794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byte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2FF958EB-AF83-447A-8A1B-8615332E1F22}"/>
              </a:ext>
            </a:extLst>
          </p:cNvPr>
          <p:cNvGrpSpPr>
            <a:grpSpLocks/>
          </p:cNvGrpSpPr>
          <p:nvPr/>
        </p:nvGrpSpPr>
        <p:grpSpPr bwMode="auto">
          <a:xfrm>
            <a:off x="9865246" y="5767666"/>
            <a:ext cx="1370888" cy="444791"/>
            <a:chOff x="-1672629" y="0"/>
            <a:chExt cx="5607853" cy="1143674"/>
          </a:xfrm>
        </p:grpSpPr>
        <p:sp>
          <p:nvSpPr>
            <p:cNvPr id="179" name="圆角矩形 5">
              <a:extLst>
                <a:ext uri="{FF2B5EF4-FFF2-40B4-BE49-F238E27FC236}">
                  <a16:creationId xmlns:a16="http://schemas.microsoft.com/office/drawing/2014/main" id="{63732FFF-4A26-464B-8BEC-5577AC8D1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9" y="0"/>
              <a:ext cx="5019947" cy="1143674"/>
            </a:xfrm>
            <a:prstGeom prst="roundRect">
              <a:avLst>
                <a:gd name="adj" fmla="val 16667"/>
              </a:avLst>
            </a:prstGeom>
            <a:solidFill>
              <a:srgbClr val="3CB5C7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0" name="文本框 58">
              <a:extLst>
                <a:ext uri="{FF2B5EF4-FFF2-40B4-BE49-F238E27FC236}">
                  <a16:creationId xmlns:a16="http://schemas.microsoft.com/office/drawing/2014/main" id="{9A7C0B06-C4A3-4EAB-9ACD-7A3D92EE2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672629" y="120410"/>
              <a:ext cx="5607853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implements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ADF9C816-385B-4858-A04C-0B5AFD0F132B}"/>
              </a:ext>
            </a:extLst>
          </p:cNvPr>
          <p:cNvGrpSpPr>
            <a:grpSpLocks/>
          </p:cNvGrpSpPr>
          <p:nvPr/>
        </p:nvGrpSpPr>
        <p:grpSpPr bwMode="auto">
          <a:xfrm>
            <a:off x="4762972" y="5272159"/>
            <a:ext cx="896399" cy="444791"/>
            <a:chOff x="-1403493" y="0"/>
            <a:chExt cx="3666875" cy="1143674"/>
          </a:xfrm>
        </p:grpSpPr>
        <p:sp>
          <p:nvSpPr>
            <p:cNvPr id="182" name="圆角矩形 5">
              <a:extLst>
                <a:ext uri="{FF2B5EF4-FFF2-40B4-BE49-F238E27FC236}">
                  <a16:creationId xmlns:a16="http://schemas.microsoft.com/office/drawing/2014/main" id="{ABCA2FCF-30AE-4A35-BA6E-C070E91C5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3" name="文本框 58">
              <a:extLst>
                <a:ext uri="{FF2B5EF4-FFF2-40B4-BE49-F238E27FC236}">
                  <a16:creationId xmlns:a16="http://schemas.microsoft.com/office/drawing/2014/main" id="{0129D63A-A9D0-45CA-9FFD-E041F8C176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03493" y="95918"/>
              <a:ext cx="3666875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private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6FF97CBE-5C2C-4F08-9AF2-11E9CF2A0AFA}"/>
              </a:ext>
            </a:extLst>
          </p:cNvPr>
          <p:cNvGrpSpPr>
            <a:grpSpLocks/>
          </p:cNvGrpSpPr>
          <p:nvPr/>
        </p:nvGrpSpPr>
        <p:grpSpPr bwMode="auto">
          <a:xfrm>
            <a:off x="5777130" y="1756617"/>
            <a:ext cx="882737" cy="444791"/>
            <a:chOff x="-1365663" y="0"/>
            <a:chExt cx="3610988" cy="1143674"/>
          </a:xfrm>
        </p:grpSpPr>
        <p:sp>
          <p:nvSpPr>
            <p:cNvPr id="185" name="圆角矩形 5">
              <a:extLst>
                <a:ext uri="{FF2B5EF4-FFF2-40B4-BE49-F238E27FC236}">
                  <a16:creationId xmlns:a16="http://schemas.microsoft.com/office/drawing/2014/main" id="{3DA9CD58-D1D5-4101-8CC9-BB2E7EE39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CBC48A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6" name="文本框 58">
              <a:extLst>
                <a:ext uri="{FF2B5EF4-FFF2-40B4-BE49-F238E27FC236}">
                  <a16:creationId xmlns:a16="http://schemas.microsoft.com/office/drawing/2014/main" id="{822924BF-FD59-4A6A-8D67-218BC99BD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46120" y="95918"/>
              <a:ext cx="2952124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static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90D78843-B360-4A6C-A52B-F5B3CCB79469}"/>
              </a:ext>
            </a:extLst>
          </p:cNvPr>
          <p:cNvGrpSpPr>
            <a:grpSpLocks/>
          </p:cNvGrpSpPr>
          <p:nvPr/>
        </p:nvGrpSpPr>
        <p:grpSpPr bwMode="auto">
          <a:xfrm>
            <a:off x="651366" y="3247201"/>
            <a:ext cx="882737" cy="444791"/>
            <a:chOff x="-1365663" y="0"/>
            <a:chExt cx="3610988" cy="1143674"/>
          </a:xfrm>
        </p:grpSpPr>
        <p:sp>
          <p:nvSpPr>
            <p:cNvPr id="188" name="圆角矩形 5">
              <a:extLst>
                <a:ext uri="{FF2B5EF4-FFF2-40B4-BE49-F238E27FC236}">
                  <a16:creationId xmlns:a16="http://schemas.microsoft.com/office/drawing/2014/main" id="{AE5D30FC-BC96-4CF1-9841-ABCFD90CF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8F9BC1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9" name="文本框 58">
              <a:extLst>
                <a:ext uri="{FF2B5EF4-FFF2-40B4-BE49-F238E27FC236}">
                  <a16:creationId xmlns:a16="http://schemas.microsoft.com/office/drawing/2014/main" id="{F2065D1C-BC9C-4317-993A-3901395D5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33002" y="95918"/>
              <a:ext cx="3325893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native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0338B0C1-F02E-4C90-882B-96340E777131}"/>
              </a:ext>
            </a:extLst>
          </p:cNvPr>
          <p:cNvGrpSpPr>
            <a:grpSpLocks/>
          </p:cNvGrpSpPr>
          <p:nvPr/>
        </p:nvGrpSpPr>
        <p:grpSpPr bwMode="auto">
          <a:xfrm>
            <a:off x="2706110" y="2250889"/>
            <a:ext cx="902811" cy="444791"/>
            <a:chOff x="-1416608" y="0"/>
            <a:chExt cx="3693104" cy="1143674"/>
          </a:xfrm>
        </p:grpSpPr>
        <p:sp>
          <p:nvSpPr>
            <p:cNvPr id="191" name="圆角矩形 5">
              <a:extLst>
                <a:ext uri="{FF2B5EF4-FFF2-40B4-BE49-F238E27FC236}">
                  <a16:creationId xmlns:a16="http://schemas.microsoft.com/office/drawing/2014/main" id="{7E91DA7D-B295-4C0F-897B-3BF9763E4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84AFE6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2" name="文本框 58">
              <a:extLst>
                <a:ext uri="{FF2B5EF4-FFF2-40B4-BE49-F238E27FC236}">
                  <a16:creationId xmlns:a16="http://schemas.microsoft.com/office/drawing/2014/main" id="{4C71807E-88DA-4084-83C5-D0751D7FF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16608" y="95918"/>
              <a:ext cx="3693104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default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3824C2DE-4570-4713-8A03-93696C160148}"/>
              </a:ext>
            </a:extLst>
          </p:cNvPr>
          <p:cNvGrpSpPr>
            <a:grpSpLocks/>
          </p:cNvGrpSpPr>
          <p:nvPr/>
        </p:nvGrpSpPr>
        <p:grpSpPr bwMode="auto">
          <a:xfrm>
            <a:off x="3737523" y="3765848"/>
            <a:ext cx="882737" cy="444791"/>
            <a:chOff x="-1365663" y="0"/>
            <a:chExt cx="3610988" cy="1143674"/>
          </a:xfrm>
        </p:grpSpPr>
        <p:sp>
          <p:nvSpPr>
            <p:cNvPr id="194" name="圆角矩形 5">
              <a:extLst>
                <a:ext uri="{FF2B5EF4-FFF2-40B4-BE49-F238E27FC236}">
                  <a16:creationId xmlns:a16="http://schemas.microsoft.com/office/drawing/2014/main" id="{DBA5D44A-623D-4D05-9590-B8D0A653A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8A84E2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5" name="文本框 58">
              <a:extLst>
                <a:ext uri="{FF2B5EF4-FFF2-40B4-BE49-F238E27FC236}">
                  <a16:creationId xmlns:a16="http://schemas.microsoft.com/office/drawing/2014/main" id="{4D7D9D0F-3E9D-4F2C-AD17-8B2BE9F46F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01860" y="95918"/>
              <a:ext cx="3063599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super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96" name="组合 195">
            <a:extLst>
              <a:ext uri="{FF2B5EF4-FFF2-40B4-BE49-F238E27FC236}">
                <a16:creationId xmlns:a16="http://schemas.microsoft.com/office/drawing/2014/main" id="{8BE7296E-82CB-4C1C-B076-5B2A777F8A22}"/>
              </a:ext>
            </a:extLst>
          </p:cNvPr>
          <p:cNvGrpSpPr>
            <a:grpSpLocks/>
          </p:cNvGrpSpPr>
          <p:nvPr/>
        </p:nvGrpSpPr>
        <p:grpSpPr bwMode="auto">
          <a:xfrm>
            <a:off x="5788261" y="4777321"/>
            <a:ext cx="882737" cy="444791"/>
            <a:chOff x="-1365663" y="0"/>
            <a:chExt cx="3610988" cy="1143674"/>
          </a:xfrm>
        </p:grpSpPr>
        <p:sp>
          <p:nvSpPr>
            <p:cNvPr id="197" name="圆角矩形 5">
              <a:extLst>
                <a:ext uri="{FF2B5EF4-FFF2-40B4-BE49-F238E27FC236}">
                  <a16:creationId xmlns:a16="http://schemas.microsoft.com/office/drawing/2014/main" id="{5F5DB66A-0A23-4D38-A613-DBC25D991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40916C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8" name="文本框 58">
              <a:extLst>
                <a:ext uri="{FF2B5EF4-FFF2-40B4-BE49-F238E27FC236}">
                  <a16:creationId xmlns:a16="http://schemas.microsoft.com/office/drawing/2014/main" id="{7C9856F9-C35B-447C-AD5D-FD13336B7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69070" y="95918"/>
              <a:ext cx="3398023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switch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F22CB721-F4A8-4851-95D5-C1DA84023B2B}"/>
              </a:ext>
            </a:extLst>
          </p:cNvPr>
          <p:cNvGrpSpPr>
            <a:grpSpLocks/>
          </p:cNvGrpSpPr>
          <p:nvPr/>
        </p:nvGrpSpPr>
        <p:grpSpPr bwMode="auto">
          <a:xfrm>
            <a:off x="3725010" y="4769106"/>
            <a:ext cx="882737" cy="444791"/>
            <a:chOff x="-1365663" y="0"/>
            <a:chExt cx="3610988" cy="1143674"/>
          </a:xfrm>
        </p:grpSpPr>
        <p:sp>
          <p:nvSpPr>
            <p:cNvPr id="203" name="圆角矩形 5">
              <a:extLst>
                <a:ext uri="{FF2B5EF4-FFF2-40B4-BE49-F238E27FC236}">
                  <a16:creationId xmlns:a16="http://schemas.microsoft.com/office/drawing/2014/main" id="{48AA6D97-F7B4-4085-8F3C-16B77F276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4A708C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04" name="文本框 58">
              <a:extLst>
                <a:ext uri="{FF2B5EF4-FFF2-40B4-BE49-F238E27FC236}">
                  <a16:creationId xmlns:a16="http://schemas.microsoft.com/office/drawing/2014/main" id="{9986AB90-D86D-4A0D-B65B-1286A6164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69069" y="95918"/>
              <a:ext cx="1798026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try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77CEE7DA-AFB0-45DE-A635-DC5D56077839}"/>
              </a:ext>
            </a:extLst>
          </p:cNvPr>
          <p:cNvGrpSpPr>
            <a:grpSpLocks/>
          </p:cNvGrpSpPr>
          <p:nvPr/>
        </p:nvGrpSpPr>
        <p:grpSpPr bwMode="auto">
          <a:xfrm>
            <a:off x="5792486" y="3750033"/>
            <a:ext cx="882737" cy="444791"/>
            <a:chOff x="-1365663" y="0"/>
            <a:chExt cx="3610988" cy="1143674"/>
          </a:xfrm>
        </p:grpSpPr>
        <p:sp>
          <p:nvSpPr>
            <p:cNvPr id="227" name="圆角矩形 5">
              <a:extLst>
                <a:ext uri="{FF2B5EF4-FFF2-40B4-BE49-F238E27FC236}">
                  <a16:creationId xmlns:a16="http://schemas.microsoft.com/office/drawing/2014/main" id="{8F82820C-B62F-47F3-951D-251007346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A8D4AD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28" name="文本框 58">
              <a:extLst>
                <a:ext uri="{FF2B5EF4-FFF2-40B4-BE49-F238E27FC236}">
                  <a16:creationId xmlns:a16="http://schemas.microsoft.com/office/drawing/2014/main" id="{A3F07F5A-E661-4994-BB90-ABA9258871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26451" y="95918"/>
              <a:ext cx="2512782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new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C77954A6-9094-4B53-AF5C-0F4D4BB38412}"/>
              </a:ext>
            </a:extLst>
          </p:cNvPr>
          <p:cNvGrpSpPr>
            <a:grpSpLocks/>
          </p:cNvGrpSpPr>
          <p:nvPr/>
        </p:nvGrpSpPr>
        <p:grpSpPr bwMode="auto">
          <a:xfrm>
            <a:off x="661076" y="4259331"/>
            <a:ext cx="882737" cy="444791"/>
            <a:chOff x="-1365663" y="0"/>
            <a:chExt cx="3610988" cy="1143674"/>
          </a:xfrm>
        </p:grpSpPr>
        <p:sp>
          <p:nvSpPr>
            <p:cNvPr id="230" name="圆角矩形 5">
              <a:extLst>
                <a:ext uri="{FF2B5EF4-FFF2-40B4-BE49-F238E27FC236}">
                  <a16:creationId xmlns:a16="http://schemas.microsoft.com/office/drawing/2014/main" id="{8DB9F245-7160-429C-8E07-6FC33C79C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C9C9C9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31" name="文本框 58">
              <a:extLst>
                <a:ext uri="{FF2B5EF4-FFF2-40B4-BE49-F238E27FC236}">
                  <a16:creationId xmlns:a16="http://schemas.microsoft.com/office/drawing/2014/main" id="{244DE172-7AA8-4221-8930-AFF120CB0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69068" y="95918"/>
              <a:ext cx="2598023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case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48A9EB85-D2A8-4149-93BB-A062B0BCCE64}"/>
              </a:ext>
            </a:extLst>
          </p:cNvPr>
          <p:cNvGrpSpPr>
            <a:grpSpLocks/>
          </p:cNvGrpSpPr>
          <p:nvPr/>
        </p:nvGrpSpPr>
        <p:grpSpPr bwMode="auto">
          <a:xfrm>
            <a:off x="645044" y="5272207"/>
            <a:ext cx="882737" cy="444791"/>
            <a:chOff x="-1365663" y="0"/>
            <a:chExt cx="3610988" cy="1143674"/>
          </a:xfrm>
        </p:grpSpPr>
        <p:sp>
          <p:nvSpPr>
            <p:cNvPr id="233" name="圆角矩形 5">
              <a:extLst>
                <a:ext uri="{FF2B5EF4-FFF2-40B4-BE49-F238E27FC236}">
                  <a16:creationId xmlns:a16="http://schemas.microsoft.com/office/drawing/2014/main" id="{BB65B8C1-000A-46F1-B11F-211DEB53E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FF6600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34" name="文本框 58">
              <a:extLst>
                <a:ext uri="{FF2B5EF4-FFF2-40B4-BE49-F238E27FC236}">
                  <a16:creationId xmlns:a16="http://schemas.microsoft.com/office/drawing/2014/main" id="{1C7F697E-AAB7-4286-A643-A70D0A1E4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42839" y="95918"/>
              <a:ext cx="2945566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catch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B372C04A-8859-4864-A354-02C758679BFD}"/>
              </a:ext>
            </a:extLst>
          </p:cNvPr>
          <p:cNvGrpSpPr>
            <a:grpSpLocks/>
          </p:cNvGrpSpPr>
          <p:nvPr/>
        </p:nvGrpSpPr>
        <p:grpSpPr bwMode="auto">
          <a:xfrm>
            <a:off x="2714089" y="1243600"/>
            <a:ext cx="882737" cy="444791"/>
            <a:chOff x="-1365663" y="0"/>
            <a:chExt cx="3610988" cy="1143674"/>
          </a:xfrm>
        </p:grpSpPr>
        <p:sp>
          <p:nvSpPr>
            <p:cNvPr id="236" name="圆角矩形 5">
              <a:extLst>
                <a:ext uri="{FF2B5EF4-FFF2-40B4-BE49-F238E27FC236}">
                  <a16:creationId xmlns:a16="http://schemas.microsoft.com/office/drawing/2014/main" id="{729D4659-4867-4942-BED5-0AFF877D1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FDCF00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37" name="文本框 58">
              <a:extLst>
                <a:ext uri="{FF2B5EF4-FFF2-40B4-BE49-F238E27FC236}">
                  <a16:creationId xmlns:a16="http://schemas.microsoft.com/office/drawing/2014/main" id="{48712EC4-4652-4717-B930-B25F46EC11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39563" y="95918"/>
              <a:ext cx="2939009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const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EFE5CD04-ABF4-4897-8EE7-490ED13B3CB2}"/>
              </a:ext>
            </a:extLst>
          </p:cNvPr>
          <p:cNvGrpSpPr>
            <a:grpSpLocks/>
          </p:cNvGrpSpPr>
          <p:nvPr/>
        </p:nvGrpSpPr>
        <p:grpSpPr bwMode="auto">
          <a:xfrm>
            <a:off x="650415" y="1237331"/>
            <a:ext cx="882737" cy="444791"/>
            <a:chOff x="-1365663" y="0"/>
            <a:chExt cx="3610988" cy="1143674"/>
          </a:xfrm>
        </p:grpSpPr>
        <p:sp>
          <p:nvSpPr>
            <p:cNvPr id="239" name="圆角矩形 5">
              <a:extLst>
                <a:ext uri="{FF2B5EF4-FFF2-40B4-BE49-F238E27FC236}">
                  <a16:creationId xmlns:a16="http://schemas.microsoft.com/office/drawing/2014/main" id="{225C7B30-B916-497B-B7E2-C97D8369D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D16335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0" name="文本框 58">
              <a:extLst>
                <a:ext uri="{FF2B5EF4-FFF2-40B4-BE49-F238E27FC236}">
                  <a16:creationId xmlns:a16="http://schemas.microsoft.com/office/drawing/2014/main" id="{F63E7F49-3BD0-4DC5-B5CB-90C86FAD3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83820" y="95918"/>
              <a:ext cx="3227532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assert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FA3B3590-6B03-4793-AB22-B1D5C8AA15B6}"/>
              </a:ext>
            </a:extLst>
          </p:cNvPr>
          <p:cNvGrpSpPr>
            <a:grpSpLocks/>
          </p:cNvGrpSpPr>
          <p:nvPr/>
        </p:nvGrpSpPr>
        <p:grpSpPr bwMode="auto">
          <a:xfrm>
            <a:off x="1619912" y="2762758"/>
            <a:ext cx="1008609" cy="444791"/>
            <a:chOff x="-1516109" y="0"/>
            <a:chExt cx="4125889" cy="1143674"/>
          </a:xfrm>
        </p:grpSpPr>
        <p:sp>
          <p:nvSpPr>
            <p:cNvPr id="242" name="圆角矩形 5">
              <a:extLst>
                <a:ext uri="{FF2B5EF4-FFF2-40B4-BE49-F238E27FC236}">
                  <a16:creationId xmlns:a16="http://schemas.microsoft.com/office/drawing/2014/main" id="{A161EDA5-67FC-419B-9F44-955F3C34C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909497" cy="1143674"/>
            </a:xfrm>
            <a:prstGeom prst="roundRect">
              <a:avLst>
                <a:gd name="adj" fmla="val 16667"/>
              </a:avLst>
            </a:prstGeom>
            <a:solidFill>
              <a:srgbClr val="4A708C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3" name="文本框 58">
              <a:extLst>
                <a:ext uri="{FF2B5EF4-FFF2-40B4-BE49-F238E27FC236}">
                  <a16:creationId xmlns:a16="http://schemas.microsoft.com/office/drawing/2014/main" id="{FF187543-36CB-4E44-9343-2328A83880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16109" y="95918"/>
              <a:ext cx="4125889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 err="1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boolean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44" name="组合 243">
            <a:extLst>
              <a:ext uri="{FF2B5EF4-FFF2-40B4-BE49-F238E27FC236}">
                <a16:creationId xmlns:a16="http://schemas.microsoft.com/office/drawing/2014/main" id="{5AD66F95-F707-45BE-95D1-5085FEB74BFB}"/>
              </a:ext>
            </a:extLst>
          </p:cNvPr>
          <p:cNvGrpSpPr>
            <a:grpSpLocks/>
          </p:cNvGrpSpPr>
          <p:nvPr/>
        </p:nvGrpSpPr>
        <p:grpSpPr bwMode="auto">
          <a:xfrm>
            <a:off x="3747010" y="2750901"/>
            <a:ext cx="882737" cy="444791"/>
            <a:chOff x="-1365663" y="0"/>
            <a:chExt cx="3610988" cy="1143674"/>
          </a:xfrm>
        </p:grpSpPr>
        <p:sp>
          <p:nvSpPr>
            <p:cNvPr id="245" name="圆角矩形 5">
              <a:extLst>
                <a:ext uri="{FF2B5EF4-FFF2-40B4-BE49-F238E27FC236}">
                  <a16:creationId xmlns:a16="http://schemas.microsoft.com/office/drawing/2014/main" id="{3CEE5734-A125-4145-8987-7D4CB97AD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828282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6" name="文本框 58">
              <a:extLst>
                <a:ext uri="{FF2B5EF4-FFF2-40B4-BE49-F238E27FC236}">
                  <a16:creationId xmlns:a16="http://schemas.microsoft.com/office/drawing/2014/main" id="{BBB19049-DEB2-467B-9D52-9E8F7B398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28089" y="95918"/>
              <a:ext cx="3116058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break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47" name="组合 246">
            <a:extLst>
              <a:ext uri="{FF2B5EF4-FFF2-40B4-BE49-F238E27FC236}">
                <a16:creationId xmlns:a16="http://schemas.microsoft.com/office/drawing/2014/main" id="{F531B2C7-BACD-4903-A906-C4EEFFE11B18}"/>
              </a:ext>
            </a:extLst>
          </p:cNvPr>
          <p:cNvGrpSpPr>
            <a:grpSpLocks/>
          </p:cNvGrpSpPr>
          <p:nvPr/>
        </p:nvGrpSpPr>
        <p:grpSpPr bwMode="auto">
          <a:xfrm>
            <a:off x="1595867" y="1748036"/>
            <a:ext cx="1056700" cy="444791"/>
            <a:chOff x="-1575505" y="0"/>
            <a:chExt cx="4322614" cy="1143674"/>
          </a:xfrm>
        </p:grpSpPr>
        <p:sp>
          <p:nvSpPr>
            <p:cNvPr id="248" name="圆角矩形 5">
              <a:extLst>
                <a:ext uri="{FF2B5EF4-FFF2-40B4-BE49-F238E27FC236}">
                  <a16:creationId xmlns:a16="http://schemas.microsoft.com/office/drawing/2014/main" id="{1BBCF74E-023A-4728-BE3D-D3D81DF99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954633" cy="1143674"/>
            </a:xfrm>
            <a:prstGeom prst="roundRect">
              <a:avLst>
                <a:gd name="adj" fmla="val 16667"/>
              </a:avLst>
            </a:prstGeom>
            <a:solidFill>
              <a:srgbClr val="CBC48A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9" name="文本框 58">
              <a:extLst>
                <a:ext uri="{FF2B5EF4-FFF2-40B4-BE49-F238E27FC236}">
                  <a16:creationId xmlns:a16="http://schemas.microsoft.com/office/drawing/2014/main" id="{01097DE9-8CCC-4D94-A375-5546B80597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75505" y="120410"/>
              <a:ext cx="4322614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continue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50" name="组合 249">
            <a:extLst>
              <a:ext uri="{FF2B5EF4-FFF2-40B4-BE49-F238E27FC236}">
                <a16:creationId xmlns:a16="http://schemas.microsoft.com/office/drawing/2014/main" id="{2E3A52A9-9530-401C-9D74-0BB537162549}"/>
              </a:ext>
            </a:extLst>
          </p:cNvPr>
          <p:cNvGrpSpPr>
            <a:grpSpLocks/>
          </p:cNvGrpSpPr>
          <p:nvPr/>
        </p:nvGrpSpPr>
        <p:grpSpPr bwMode="auto">
          <a:xfrm>
            <a:off x="7852864" y="5766897"/>
            <a:ext cx="882737" cy="444791"/>
            <a:chOff x="-1365663" y="0"/>
            <a:chExt cx="3610988" cy="1143674"/>
          </a:xfrm>
        </p:grpSpPr>
        <p:sp>
          <p:nvSpPr>
            <p:cNvPr id="251" name="圆角矩形 5">
              <a:extLst>
                <a:ext uri="{FF2B5EF4-FFF2-40B4-BE49-F238E27FC236}">
                  <a16:creationId xmlns:a16="http://schemas.microsoft.com/office/drawing/2014/main" id="{838376AA-F301-4DFC-B1C4-0AFAC45B4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610988" cy="1143674"/>
            </a:xfrm>
            <a:prstGeom prst="roundRect">
              <a:avLst>
                <a:gd name="adj" fmla="val 16667"/>
              </a:avLst>
            </a:prstGeom>
            <a:solidFill>
              <a:srgbClr val="8A84E2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52" name="文本框 58">
              <a:extLst>
                <a:ext uri="{FF2B5EF4-FFF2-40B4-BE49-F238E27FC236}">
                  <a16:creationId xmlns:a16="http://schemas.microsoft.com/office/drawing/2014/main" id="{7C67997E-6C67-4DF9-BA07-8B40CC655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49400" y="95918"/>
              <a:ext cx="2558683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char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53" name="组合 252">
            <a:extLst>
              <a:ext uri="{FF2B5EF4-FFF2-40B4-BE49-F238E27FC236}">
                <a16:creationId xmlns:a16="http://schemas.microsoft.com/office/drawing/2014/main" id="{B357005C-2E3D-4D25-AC6E-FB3155A8E27C}"/>
              </a:ext>
            </a:extLst>
          </p:cNvPr>
          <p:cNvGrpSpPr>
            <a:grpSpLocks/>
          </p:cNvGrpSpPr>
          <p:nvPr/>
        </p:nvGrpSpPr>
        <p:grpSpPr bwMode="auto">
          <a:xfrm>
            <a:off x="587402" y="2250582"/>
            <a:ext cx="1002197" cy="444791"/>
            <a:chOff x="-1541958" y="0"/>
            <a:chExt cx="4099658" cy="1143674"/>
          </a:xfrm>
        </p:grpSpPr>
        <p:sp>
          <p:nvSpPr>
            <p:cNvPr id="254" name="圆角矩形 5">
              <a:extLst>
                <a:ext uri="{FF2B5EF4-FFF2-40B4-BE49-F238E27FC236}">
                  <a16:creationId xmlns:a16="http://schemas.microsoft.com/office/drawing/2014/main" id="{E0DA1D15-17D6-4FD6-8D2F-E0533EDDE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365663" y="0"/>
              <a:ext cx="3711793" cy="1143674"/>
            </a:xfrm>
            <a:prstGeom prst="roundRect">
              <a:avLst>
                <a:gd name="adj" fmla="val 16667"/>
              </a:avLst>
            </a:prstGeom>
            <a:solidFill>
              <a:srgbClr val="92B9BD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endParaRPr kumimoji="0" lang="zh-CN" altLang="en-US" sz="16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55" name="文本框 58">
              <a:extLst>
                <a:ext uri="{FF2B5EF4-FFF2-40B4-BE49-F238E27FC236}">
                  <a16:creationId xmlns:a16="http://schemas.microsoft.com/office/drawing/2014/main" id="{2577D709-1784-436B-B70B-156FB7FC24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41958" y="120410"/>
              <a:ext cx="4099658" cy="870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algn="ctr"/>
              <a:r>
                <a:rPr lang="en-US" altLang="zh-CN" sz="1600" dirty="0">
                  <a:solidFill>
                    <a:srgbClr val="FFFF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abstract</a:t>
              </a:r>
              <a:endParaRPr lang="zh-CN" altLang="en-US" sz="160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6A7BC5F9-0719-0CFA-4AEA-35D68A9D7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关键字介绍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873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decel="7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decel="7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0" presetClass="entr" presetSubtype="0" decel="7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5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7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decel="7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5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0" presetClass="entr" presetSubtype="0" decel="7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1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4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0" presetClass="entr" presetSubtype="0" decel="7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5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0" presetClass="entr" presetSubtype="0" decel="7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5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0" presetClass="entr" presetSubtype="0" decel="7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2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5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67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0" presetClass="entr" presetSubtype="0" decel="7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3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75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6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0" presetClass="entr" presetSubtype="0" decel="7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8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1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8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4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0" presetClass="entr" presetSubtype="0" decel="7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9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0" presetClass="entr" presetSubtype="0" decel="7000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4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9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0" presetClass="entr" presetSubtype="0" decel="7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2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5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6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07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0" presetClass="entr" presetSubtype="0" decel="7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0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3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4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15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6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0" presetClass="entr" presetSubtype="0" decel="70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8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1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2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2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4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0" presetClass="entr" presetSubtype="0" decel="7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6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0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3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3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0" presetClass="entr" presetSubtype="0" decel="70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4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3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3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0" presetClass="entr" presetSubtype="0" decel="7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42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5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6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47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0" presetClass="entr" presetSubtype="0" decel="70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50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3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4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55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6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0" presetClass="entr" presetSubtype="0" decel="70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58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1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2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6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4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0" presetClass="entr" presetSubtype="0" decel="7000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66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0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7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0" presetClass="entr" presetSubtype="0" decel="7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74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8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7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0" presetClass="entr" presetSubtype="0" decel="7000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82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5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6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87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0" presetClass="entr" presetSubtype="0" decel="70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90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93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4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95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96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0" presetClass="entr" presetSubtype="0" decel="7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98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1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2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0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4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0" presetClass="entr" presetSubtype="0" decel="7000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06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0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1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1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0" presetClass="entr" presetSubtype="0" decel="7000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14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1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8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1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0" presetClass="entr" presetSubtype="0" decel="7000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22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5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6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27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0" presetClass="entr" presetSubtype="0" decel="7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0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3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4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35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6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0" presetClass="entr" presetSubtype="0" decel="7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38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1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2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4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4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0" presetClass="entr" presetSubtype="0" decel="7000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246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0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5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5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0" presetClass="entr" presetSubtype="0" decel="7000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254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5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8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5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6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0" presetClass="entr" presetSubtype="0" decel="7000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62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65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6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67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6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0" presetClass="entr" presetSubtype="0" decel="7000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270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3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4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75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6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0" presetClass="entr" presetSubtype="0" decel="7000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78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1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2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8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4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0" presetClass="entr" presetSubtype="0" decel="7000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286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0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9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9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0" presetClass="entr" presetSubtype="0" decel="70000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294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9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8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9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0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0" presetClass="entr" presetSubtype="0" decel="7000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02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05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6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07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0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0" presetClass="entr" presetSubtype="0" decel="7000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310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13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4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15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16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0" presetClass="entr" presetSubtype="0" decel="7000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18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1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2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2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4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0" presetClass="entr" presetSubtype="0" decel="7000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326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0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3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3" presetID="0" presetClass="entr" presetSubtype="0" decel="7000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334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8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3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4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0" presetClass="entr" presetSubtype="0" decel="70000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342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45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6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47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4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presetID="0" presetClass="entr" presetSubtype="0" decel="7000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350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53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4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55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56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0" presetClass="entr" presetSubtype="0" decel="7000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58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1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2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6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4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5" presetID="0" presetClass="entr" presetSubtype="0" decel="7000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366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0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7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7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3" presetID="0" presetClass="entr" presetSubtype="0" decel="7000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374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7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8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7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1" presetID="0" presetClass="entr" presetSubtype="0" decel="7000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382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5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6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87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9" presetID="0" presetClass="entr" presetSubtype="0" decel="70000" fill="hold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390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93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4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95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96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0" presetClass="entr" presetSubtype="0" decel="7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98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1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2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0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4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1A5-F54E-9967-F304-A69CB8E89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B33A025-23F2-E0BB-6604-F8AEB3D550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注释</a:t>
            </a:r>
            <a:endParaRPr lang="en-US" altLang="zh-CN" dirty="0"/>
          </a:p>
          <a:p>
            <a:r>
              <a:rPr lang="zh-CN" altLang="en-US" dirty="0"/>
              <a:t>关键字</a:t>
            </a:r>
            <a:endParaRPr lang="en-US" altLang="zh-CN" dirty="0"/>
          </a:p>
          <a:p>
            <a:r>
              <a:rPr lang="zh-CN" altLang="en-US" dirty="0"/>
              <a:t>字面量</a:t>
            </a:r>
            <a:endParaRPr lang="en-US" altLang="zh-CN" dirty="0"/>
          </a:p>
          <a:p>
            <a:r>
              <a:rPr lang="zh-CN" altLang="en-US" dirty="0"/>
              <a:t>变量</a:t>
            </a:r>
            <a:endParaRPr lang="en-US" altLang="zh-CN" dirty="0"/>
          </a:p>
          <a:p>
            <a:r>
              <a:rPr lang="zh-CN" altLang="en-US" dirty="0"/>
              <a:t>标识符</a:t>
            </a:r>
            <a:endParaRPr lang="en-US" altLang="zh-CN" dirty="0"/>
          </a:p>
          <a:p>
            <a:r>
              <a:rPr lang="zh-CN" altLang="en-US" dirty="0"/>
              <a:t>数据类型</a:t>
            </a:r>
          </a:p>
        </p:txBody>
      </p:sp>
    </p:spTree>
    <p:extLst>
      <p:ext uri="{BB962C8B-B14F-4D97-AF65-F5344CB8AC3E}">
        <p14:creationId xmlns:p14="http://schemas.microsoft.com/office/powerpoint/2010/main" val="1508877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E849D-54ED-BAB4-1F92-1AA53C5BE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5F5BFB-AC42-61CD-A08F-E5661600EF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字面量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CD47FA73-16ED-6F26-D50E-96BD679F41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1567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3B73D9-22CC-F0BE-680D-4154EF034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字面量介绍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FF60CB7D-1878-0C21-0852-7EB5030B50A0}"/>
              </a:ext>
            </a:extLst>
          </p:cNvPr>
          <p:cNvSpPr txBox="1"/>
          <p:nvPr/>
        </p:nvSpPr>
        <p:spPr>
          <a:xfrm>
            <a:off x="576626" y="1139820"/>
            <a:ext cx="1061044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字面量</a:t>
            </a:r>
            <a:endParaRPr lang="en-US" altLang="zh-CN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D925E8-5887-3C27-3F73-50B56EC2E1A1}"/>
              </a:ext>
            </a:extLst>
          </p:cNvPr>
          <p:cNvSpPr txBox="1"/>
          <p:nvPr/>
        </p:nvSpPr>
        <p:spPr>
          <a:xfrm>
            <a:off x="1340785" y="1197593"/>
            <a:ext cx="10037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就是程序中能直接书写的数据，学这个知识的重点是：搞清楚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程序中数据的书写格式。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21D8C4CD-6508-7BBE-8C21-BAED0DADD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944647"/>
              </p:ext>
            </p:extLst>
          </p:nvPr>
        </p:nvGraphicFramePr>
        <p:xfrm>
          <a:off x="638807" y="1822392"/>
          <a:ext cx="1798759" cy="3439681"/>
        </p:xfrm>
        <a:graphic>
          <a:graphicData uri="http://schemas.openxmlformats.org/drawingml/2006/table">
            <a:tbl>
              <a:tblPr/>
              <a:tblGrid>
                <a:gridCol w="1798759">
                  <a:extLst>
                    <a:ext uri="{9D8B030D-6E8A-4147-A177-3AD203B41FA5}">
                      <a16:colId xmlns:a16="http://schemas.microsoft.com/office/drawing/2014/main" val="3104843445"/>
                    </a:ext>
                  </a:extLst>
                </a:gridCol>
              </a:tblGrid>
              <a:tr h="3996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常用数据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88081"/>
                  </a:ext>
                </a:extLst>
              </a:tr>
              <a:tr h="535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整数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449824"/>
                  </a:ext>
                </a:extLst>
              </a:tr>
              <a:tr h="535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小数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799976"/>
                  </a:ext>
                </a:extLst>
              </a:tr>
              <a:tr h="489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字符串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944026"/>
                  </a:ext>
                </a:extLst>
              </a:tr>
              <a:tr h="489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20597"/>
                  </a:ext>
                </a:extLst>
              </a:tr>
              <a:tr h="489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布尔值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948613"/>
                  </a:ext>
                </a:extLst>
              </a:tr>
              <a:tr h="489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空值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164100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A5D599EA-5260-CADF-E752-30A8B07AA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882546"/>
              </p:ext>
            </p:extLst>
          </p:nvPr>
        </p:nvGraphicFramePr>
        <p:xfrm>
          <a:off x="7158038" y="1811646"/>
          <a:ext cx="4204511" cy="3439681"/>
        </p:xfrm>
        <a:graphic>
          <a:graphicData uri="http://schemas.openxmlformats.org/drawingml/2006/table">
            <a:tbl>
              <a:tblPr/>
              <a:tblGrid>
                <a:gridCol w="4204511">
                  <a:extLst>
                    <a:ext uri="{9D8B030D-6E8A-4147-A177-3AD203B41FA5}">
                      <a16:colId xmlns:a16="http://schemas.microsoft.com/office/drawing/2014/main" val="3301955187"/>
                    </a:ext>
                  </a:extLst>
                </a:gridCol>
              </a:tblGrid>
              <a:tr h="3996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213504"/>
                  </a:ext>
                </a:extLst>
              </a:tr>
              <a:tr h="535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写法一致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14583"/>
                  </a:ext>
                </a:extLst>
              </a:tr>
              <a:tr h="535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写法一致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518513"/>
                  </a:ext>
                </a:extLst>
              </a:tr>
              <a:tr h="489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程序中必须使用双引号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511909"/>
                  </a:ext>
                </a:extLst>
              </a:tr>
              <a:tr h="489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程序中必须使用单引号，有且仅能一个字符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150440"/>
                  </a:ext>
                </a:extLst>
              </a:tr>
              <a:tr h="489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只有两个值：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：代表真，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：代表假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581354"/>
                  </a:ext>
                </a:extLst>
              </a:tr>
              <a:tr h="489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一个特殊的值，空值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后面会讲解作用，暂时不管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618499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DEFBAA8A-C1AF-5FF7-2B03-1FD2C4E0D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958677"/>
              </p:ext>
            </p:extLst>
          </p:nvPr>
        </p:nvGraphicFramePr>
        <p:xfrm>
          <a:off x="4207224" y="1820467"/>
          <a:ext cx="2942251" cy="3454044"/>
        </p:xfrm>
        <a:graphic>
          <a:graphicData uri="http://schemas.openxmlformats.org/drawingml/2006/table">
            <a:tbl>
              <a:tblPr/>
              <a:tblGrid>
                <a:gridCol w="2942251">
                  <a:extLst>
                    <a:ext uri="{9D8B030D-6E8A-4147-A177-3AD203B41FA5}">
                      <a16:colId xmlns:a16="http://schemas.microsoft.com/office/drawing/2014/main" val="4088425313"/>
                    </a:ext>
                  </a:extLst>
                </a:gridCol>
              </a:tblGrid>
              <a:tr h="4013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程序中的写法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571103"/>
                  </a:ext>
                </a:extLst>
              </a:tr>
              <a:tr h="538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666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-88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952091"/>
                  </a:ext>
                </a:extLst>
              </a:tr>
              <a:tr h="538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13.14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-5.21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7996"/>
                  </a:ext>
                </a:extLst>
              </a:tr>
              <a:tr h="4941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“HelloWorld”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，“黑马程序员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”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D2B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326006"/>
                  </a:ext>
                </a:extLst>
              </a:tr>
              <a:tr h="4941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‘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’，‘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’，  ‘我’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AD2B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205102"/>
                  </a:ext>
                </a:extLst>
              </a:tr>
              <a:tr h="4941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 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、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89493"/>
                  </a:ext>
                </a:extLst>
              </a:tr>
              <a:tr h="4941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值是：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null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121672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C1EB49D2-16ED-3FDD-B79E-3A6FB7C47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424630"/>
              </p:ext>
            </p:extLst>
          </p:nvPr>
        </p:nvGraphicFramePr>
        <p:xfrm>
          <a:off x="2437566" y="1820467"/>
          <a:ext cx="1798759" cy="3439681"/>
        </p:xfrm>
        <a:graphic>
          <a:graphicData uri="http://schemas.openxmlformats.org/drawingml/2006/table">
            <a:tbl>
              <a:tblPr/>
              <a:tblGrid>
                <a:gridCol w="1798759">
                  <a:extLst>
                    <a:ext uri="{9D8B030D-6E8A-4147-A177-3AD203B41FA5}">
                      <a16:colId xmlns:a16="http://schemas.microsoft.com/office/drawing/2014/main" val="3104843445"/>
                    </a:ext>
                  </a:extLst>
                </a:gridCol>
              </a:tblGrid>
              <a:tr h="3996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生活中的写法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88081"/>
                  </a:ext>
                </a:extLst>
              </a:tr>
              <a:tr h="535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666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-88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449824"/>
                  </a:ext>
                </a:extLst>
              </a:tr>
              <a:tr h="535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13.14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-5.21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799976"/>
                  </a:ext>
                </a:extLst>
              </a:tr>
              <a:tr h="489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黑马程序员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944026"/>
                  </a:ext>
                </a:extLst>
              </a:tr>
              <a:tr h="489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A, 0, 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我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020597"/>
                  </a:ext>
                </a:extLst>
              </a:tr>
              <a:tr h="489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真、假</a:t>
                      </a: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948613"/>
                  </a:ext>
                </a:extLst>
              </a:tr>
              <a:tr h="489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164100"/>
                  </a:ext>
                </a:extLst>
              </a:tr>
            </a:tbl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0A7A8D62-E786-BD2A-5C3D-785DB6910E2D}"/>
              </a:ext>
            </a:extLst>
          </p:cNvPr>
          <p:cNvGrpSpPr/>
          <p:nvPr/>
        </p:nvGrpSpPr>
        <p:grpSpPr>
          <a:xfrm>
            <a:off x="638807" y="1733849"/>
            <a:ext cx="5476568" cy="4089827"/>
            <a:chOff x="2292616" y="2428959"/>
            <a:chExt cx="5476568" cy="4089827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DF240E04-AF45-D01A-632A-ABF57711567D}"/>
                </a:ext>
              </a:extLst>
            </p:cNvPr>
            <p:cNvSpPr/>
            <p:nvPr/>
          </p:nvSpPr>
          <p:spPr>
            <a:xfrm>
              <a:off x="2292616" y="2428959"/>
              <a:ext cx="5476568" cy="4089827"/>
            </a:xfrm>
            <a:prstGeom prst="roundRect">
              <a:avLst>
                <a:gd name="adj" fmla="val 3590"/>
              </a:avLst>
            </a:prstGeom>
            <a:solidFill>
              <a:srgbClr val="F9FBF9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A0F08619-A5F9-EFC8-9389-B9CB95EA8718}"/>
                </a:ext>
              </a:extLst>
            </p:cNvPr>
            <p:cNvSpPr/>
            <p:nvPr/>
          </p:nvSpPr>
          <p:spPr>
            <a:xfrm>
              <a:off x="2292617" y="2449545"/>
              <a:ext cx="5476566" cy="230174"/>
            </a:xfrm>
            <a:custGeom>
              <a:avLst/>
              <a:gdLst>
                <a:gd name="connsiteX0" fmla="*/ 89432 w 8960426"/>
                <a:gd name="connsiteY0" fmla="*/ 0 h 243057"/>
                <a:gd name="connsiteX1" fmla="*/ 8870994 w 8960426"/>
                <a:gd name="connsiteY1" fmla="*/ 0 h 243057"/>
                <a:gd name="connsiteX2" fmla="*/ 8960426 w 8960426"/>
                <a:gd name="connsiteY2" fmla="*/ 89432 h 243057"/>
                <a:gd name="connsiteX3" fmla="*/ 8960426 w 8960426"/>
                <a:gd name="connsiteY3" fmla="*/ 243057 h 243057"/>
                <a:gd name="connsiteX4" fmla="*/ 0 w 8960426"/>
                <a:gd name="connsiteY4" fmla="*/ 243057 h 243057"/>
                <a:gd name="connsiteX5" fmla="*/ 0 w 8960426"/>
                <a:gd name="connsiteY5" fmla="*/ 89432 h 243057"/>
                <a:gd name="connsiteX6" fmla="*/ 89432 w 8960426"/>
                <a:gd name="connsiteY6" fmla="*/ 0 h 24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60426" h="243057">
                  <a:moveTo>
                    <a:pt x="89432" y="0"/>
                  </a:moveTo>
                  <a:lnTo>
                    <a:pt x="8870994" y="0"/>
                  </a:lnTo>
                  <a:cubicBezTo>
                    <a:pt x="8920386" y="0"/>
                    <a:pt x="8960426" y="40040"/>
                    <a:pt x="8960426" y="89432"/>
                  </a:cubicBezTo>
                  <a:lnTo>
                    <a:pt x="8960426" y="243057"/>
                  </a:lnTo>
                  <a:lnTo>
                    <a:pt x="0" y="243057"/>
                  </a:lnTo>
                  <a:lnTo>
                    <a:pt x="0" y="89432"/>
                  </a:lnTo>
                  <a:cubicBezTo>
                    <a:pt x="0" y="40040"/>
                    <a:pt x="40040" y="0"/>
                    <a:pt x="89432" y="0"/>
                  </a:cubicBezTo>
                  <a:close/>
                </a:path>
              </a:pathLst>
            </a:custGeom>
            <a:solidFill>
              <a:srgbClr val="F2F2F2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216000" bIns="45720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018A0FE5-AB0B-0A40-7C0B-89F5BF5CFEAA}"/>
                </a:ext>
              </a:extLst>
            </p:cNvPr>
            <p:cNvGrpSpPr/>
            <p:nvPr/>
          </p:nvGrpSpPr>
          <p:grpSpPr>
            <a:xfrm>
              <a:off x="2441171" y="2501620"/>
              <a:ext cx="691568" cy="126027"/>
              <a:chOff x="2016841" y="2556932"/>
              <a:chExt cx="730275" cy="133081"/>
            </a:xfrm>
          </p:grpSpPr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44E523C6-DC5B-E5A1-3E4D-58F8A9BAE998}"/>
                  </a:ext>
                </a:extLst>
              </p:cNvPr>
              <p:cNvSpPr/>
              <p:nvPr/>
            </p:nvSpPr>
            <p:spPr>
              <a:xfrm>
                <a:off x="2016841" y="2556934"/>
                <a:ext cx="133079" cy="133079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78398D73-4B27-8B14-58F6-F8B994019EB6}"/>
                  </a:ext>
                </a:extLst>
              </p:cNvPr>
              <p:cNvSpPr/>
              <p:nvPr/>
            </p:nvSpPr>
            <p:spPr>
              <a:xfrm>
                <a:off x="2315439" y="2556933"/>
                <a:ext cx="133079" cy="133079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4CD0E856-7074-6A38-49E3-03B82467C5BC}"/>
                  </a:ext>
                </a:extLst>
              </p:cNvPr>
              <p:cNvSpPr/>
              <p:nvPr/>
            </p:nvSpPr>
            <p:spPr>
              <a:xfrm>
                <a:off x="2614037" y="2556932"/>
                <a:ext cx="133079" cy="133079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5F8A50BE-3E04-A247-793F-478C48C5FD75}"/>
              </a:ext>
            </a:extLst>
          </p:cNvPr>
          <p:cNvSpPr txBox="1"/>
          <p:nvPr/>
        </p:nvSpPr>
        <p:spPr>
          <a:xfrm>
            <a:off x="736600" y="2128705"/>
            <a:ext cx="6261100" cy="336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Main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args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"HelloWorld"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10086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180.1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男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37" name="Rectangle 1">
            <a:extLst>
              <a:ext uri="{FF2B5EF4-FFF2-40B4-BE49-F238E27FC236}">
                <a16:creationId xmlns:a16="http://schemas.microsoft.com/office/drawing/2014/main" id="{46BBB0FD-0911-0D19-6443-D3F97323B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C7D52E9-968B-52C2-A746-1175291E0EBF}"/>
              </a:ext>
            </a:extLst>
          </p:cNvPr>
          <p:cNvSpPr/>
          <p:nvPr/>
        </p:nvSpPr>
        <p:spPr>
          <a:xfrm>
            <a:off x="1403465" y="4025942"/>
            <a:ext cx="2372797" cy="40216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283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7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0" presetClass="exit" presetSubtype="0" ac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36" grpId="0"/>
      <p:bldP spid="36" grpId="1"/>
      <p:bldP spid="3" grpId="0" animBg="1"/>
      <p:bldP spid="3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53D4291-2B69-2AF0-4D0F-52C81C36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08C97B4F-07E2-9ED2-02F0-80970E1E5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字面量练习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C00A85B2-289A-68E7-8B19-218B713529B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753098" y="1754188"/>
            <a:ext cx="9213850" cy="42195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需求：请将自己的个人信息打印在控制台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(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姓名，年龄，性别，身高，婚姻状况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46E8D5-DDE3-5639-CA34-4EE0BB7AC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247" y="2492304"/>
            <a:ext cx="3918151" cy="27433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79761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>
            <a:extLst>
              <a:ext uri="{FF2B5EF4-FFF2-40B4-BE49-F238E27FC236}">
                <a16:creationId xmlns:a16="http://schemas.microsoft.com/office/drawing/2014/main" id="{A9BDEB07-9BCA-4130-9D72-B5B8146020EC}"/>
              </a:ext>
            </a:extLst>
          </p:cNvPr>
          <p:cNvSpPr txBox="1">
            <a:spLocks/>
          </p:cNvSpPr>
          <p:nvPr/>
        </p:nvSpPr>
        <p:spPr>
          <a:xfrm>
            <a:off x="627753" y="244189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4A7A685B-F94D-194F-BA07-9413F6ABF747}"/>
              </a:ext>
            </a:extLst>
          </p:cNvPr>
          <p:cNvSpPr txBox="1">
            <a:spLocks/>
          </p:cNvSpPr>
          <p:nvPr/>
        </p:nvSpPr>
        <p:spPr>
          <a:xfrm>
            <a:off x="4739871" y="1297564"/>
            <a:ext cx="7065416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17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75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/>
              <a:t>关键字指的是被 </a:t>
            </a:r>
            <a:r>
              <a:rPr lang="en-US" altLang="zh-CN" sz="1600" dirty="0"/>
              <a:t>Java </a:t>
            </a:r>
            <a:r>
              <a:rPr lang="zh-CN" altLang="en-US" sz="1600" dirty="0"/>
              <a:t>赋予了特定含义的英文单词</a:t>
            </a:r>
            <a:endParaRPr lang="en-US" altLang="zh-CN" sz="1600" dirty="0"/>
          </a:p>
          <a:p>
            <a:r>
              <a:rPr lang="zh-CN" altLang="en-US" sz="1600" dirty="0"/>
              <a:t>关键字我们不允许使用</a:t>
            </a:r>
            <a:endParaRPr lang="en-US" altLang="zh-CN" sz="1600" dirty="0"/>
          </a:p>
          <a:p>
            <a:r>
              <a:rPr lang="zh-CN" altLang="en-US" sz="1600" dirty="0"/>
              <a:t>字面量这个知识是要求同学们学会什么？</a:t>
            </a:r>
            <a:endParaRPr lang="en-US" altLang="zh-CN" sz="1600" dirty="0"/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数据在程序中的书写格式。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600" dirty="0"/>
              <a:t>字符、字符串在程序中的书写格式有什么要求？</a:t>
            </a:r>
            <a:endParaRPr lang="en-US" altLang="zh-CN" sz="1600" dirty="0"/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字符必须单引号围起来，有且仅能一个字符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字符串必须用双引号围起来</a:t>
            </a:r>
            <a:endParaRPr lang="en-US" altLang="zh-CN" sz="16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defRPr/>
            </a:pPr>
            <a:r>
              <a:rPr lang="zh-CN" altLang="en-US" sz="1600" dirty="0"/>
              <a:t>几个常见的特殊值的书写格式是？</a:t>
            </a:r>
            <a:endParaRPr lang="en-US" altLang="zh-CN" sz="1600" dirty="0"/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</a:t>
            </a:r>
            <a:r>
              <a:rPr lang="zh-CN" altLang="en-US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false</a:t>
            </a:r>
            <a:r>
              <a:rPr lang="zh-CN" altLang="en-US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null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678FA1E-7F1F-F425-9D6B-B28C8ACE06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914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B16F-6803-0392-BBFE-1AE10C438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2B309DE-37CC-6C1C-78F1-318B56C95D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注释</a:t>
            </a:r>
            <a:endParaRPr lang="en-US" altLang="zh-CN" dirty="0"/>
          </a:p>
          <a:p>
            <a:r>
              <a:rPr lang="zh-CN" altLang="en-US" dirty="0"/>
              <a:t>关键字</a:t>
            </a:r>
            <a:endParaRPr lang="en-US" altLang="zh-CN" dirty="0"/>
          </a:p>
          <a:p>
            <a:r>
              <a:rPr lang="zh-CN" altLang="en-US" dirty="0"/>
              <a:t>字面量</a:t>
            </a:r>
            <a:endParaRPr lang="en-US" altLang="zh-CN" dirty="0"/>
          </a:p>
          <a:p>
            <a:r>
              <a:rPr lang="zh-CN" altLang="en-US" dirty="0"/>
              <a:t>变量</a:t>
            </a:r>
            <a:endParaRPr lang="en-US" altLang="zh-CN" dirty="0"/>
          </a:p>
          <a:p>
            <a:r>
              <a:rPr lang="zh-CN" altLang="en-US" dirty="0"/>
              <a:t>标识符</a:t>
            </a:r>
            <a:endParaRPr lang="en-US" altLang="zh-CN" dirty="0"/>
          </a:p>
          <a:p>
            <a:r>
              <a:rPr lang="zh-CN" altLang="en-US" dirty="0"/>
              <a:t>数据类型</a:t>
            </a:r>
          </a:p>
        </p:txBody>
      </p:sp>
    </p:spTree>
    <p:extLst>
      <p:ext uri="{BB962C8B-B14F-4D97-AF65-F5344CB8AC3E}">
        <p14:creationId xmlns:p14="http://schemas.microsoft.com/office/powerpoint/2010/main" val="1989124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48C00-A066-F56E-E383-66FBA13DB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E7799F-065B-3FB8-1E02-8D55F03099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变量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21B117C-886E-C38B-6836-0D5BAEA4CA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1823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E9C3A-811F-E5ED-6657-FA28F458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变量的介绍和定义格式</a:t>
            </a:r>
          </a:p>
        </p:txBody>
      </p:sp>
      <p:sp>
        <p:nvSpPr>
          <p:cNvPr id="13" name="文本占位符 3"/>
          <p:cNvSpPr txBox="1"/>
          <p:nvPr/>
        </p:nvSpPr>
        <p:spPr>
          <a:xfrm>
            <a:off x="576626" y="1867392"/>
            <a:ext cx="2153736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变量的定义格式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76818" y="2489929"/>
            <a:ext cx="2897505" cy="306705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数据类型 变量名称 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 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变量值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1902908" y="2828345"/>
            <a:ext cx="0" cy="127653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653494" y="4136433"/>
            <a:ext cx="1310493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自己起的名字</a:t>
            </a: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979585" y="2827333"/>
            <a:ext cx="0" cy="180206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23198" y="4689569"/>
            <a:ext cx="6974840" cy="3067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限制盒子中只能存储某种数据形式：例如：</a:t>
            </a:r>
            <a:r>
              <a:rPr lang="en-US" altLang="zh-CN" sz="1400" b="1" dirty="0" err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zh-CN" altLang="en-US" sz="14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（整数类型）、 </a:t>
            </a:r>
            <a:r>
              <a:rPr lang="en-US" altLang="zh-CN" sz="14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double(</a:t>
            </a:r>
            <a:r>
              <a:rPr lang="zh-CN" altLang="en-US" sz="14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小数类型</a:t>
            </a:r>
            <a:r>
              <a:rPr lang="en-US" altLang="zh-CN" sz="14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sz="1400" b="1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620435" y="2827333"/>
            <a:ext cx="2" cy="85333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2426663" y="3693682"/>
            <a:ext cx="537327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赋值</a:t>
            </a: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4056339" y="2458080"/>
            <a:ext cx="1768119" cy="338554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age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6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18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D722EE-BB91-980E-7DD5-3CFF98CB8057}"/>
              </a:ext>
            </a:extLst>
          </p:cNvPr>
          <p:cNvSpPr txBox="1"/>
          <p:nvPr/>
        </p:nvSpPr>
        <p:spPr>
          <a:xfrm>
            <a:off x="576626" y="1160066"/>
            <a:ext cx="10037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变量就是内存中的一块区域，可以理解成一个盒子，用来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装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程序要处理的</a:t>
            </a:r>
            <a:r>
              <a:rPr lang="zh-CN" altLang="en-US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的。</a:t>
            </a:r>
          </a:p>
        </p:txBody>
      </p:sp>
      <p:pic>
        <p:nvPicPr>
          <p:cNvPr id="2050" name="Picture 2" descr="礼物专用正方体盒子PNG图片素材下载_图片编号8512197-PNG素材网">
            <a:extLst>
              <a:ext uri="{FF2B5EF4-FFF2-40B4-BE49-F238E27FC236}">
                <a16:creationId xmlns:a16="http://schemas.microsoft.com/office/drawing/2014/main" id="{BCCBA248-0D5C-299D-DF55-C514EEC5E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97" b="97403" l="3797" r="98101">
                        <a14:foregroundMark x1="16034" y1="7143" x2="6118" y2="62987"/>
                        <a14:foregroundMark x1="30802" y1="45779" x2="57384" y2="62662"/>
                        <a14:foregroundMark x1="57384" y1="62662" x2="69198" y2="58117"/>
                        <a14:foregroundMark x1="41350" y1="97403" x2="41350" y2="97403"/>
                        <a14:foregroundMark x1="98523" y1="42208" x2="98523" y2="42208"/>
                        <a14:foregroundMark x1="6118" y1="50325" x2="4008" y2="66883"/>
                        <a14:foregroundMark x1="15612" y1="2597" x2="16667" y2="2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871" y="2547934"/>
            <a:ext cx="2188179" cy="142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3AE4096-8017-FF41-9038-4DB2D922B738}"/>
              </a:ext>
            </a:extLst>
          </p:cNvPr>
          <p:cNvSpPr/>
          <p:nvPr/>
        </p:nvSpPr>
        <p:spPr>
          <a:xfrm>
            <a:off x="7184399" y="2702553"/>
            <a:ext cx="10150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18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8" grpId="0" animBg="1"/>
      <p:bldP spid="21" grpId="0" animBg="1"/>
      <p:bldP spid="23" grpId="0" animBg="1"/>
      <p:bldP spid="24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58E8237A-11AC-11CC-B4FA-017178188CDE}"/>
              </a:ext>
            </a:extLst>
          </p:cNvPr>
          <p:cNvSpPr txBox="1">
            <a:spLocks/>
          </p:cNvSpPr>
          <p:nvPr/>
        </p:nvSpPr>
        <p:spPr>
          <a:xfrm>
            <a:off x="584164" y="1004617"/>
            <a:ext cx="180801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变量有啥特点？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E6069F-1953-5AC2-C120-A10607A1FBDE}"/>
              </a:ext>
            </a:extLst>
          </p:cNvPr>
          <p:cNvSpPr txBox="1"/>
          <p:nvPr/>
        </p:nvSpPr>
        <p:spPr>
          <a:xfrm>
            <a:off x="576196" y="1557954"/>
            <a:ext cx="36611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变量里装的数据是可以被替换的。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C01CE7F-1337-02A2-AC7C-D3E3F1414D39}"/>
              </a:ext>
            </a:extLst>
          </p:cNvPr>
          <p:cNvSpPr txBox="1"/>
          <p:nvPr/>
        </p:nvSpPr>
        <p:spPr>
          <a:xfrm>
            <a:off x="3711249" y="2146136"/>
            <a:ext cx="2283402" cy="1724639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age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18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=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19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age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lang="en-US" altLang="zh-CN" sz="3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= age +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endParaRPr lang="zh-CN" altLang="zh-CN" sz="3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2CC18AD3-0156-6A68-FAB8-6B868C7AB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认识变量</a:t>
            </a:r>
          </a:p>
        </p:txBody>
      </p:sp>
      <p:pic>
        <p:nvPicPr>
          <p:cNvPr id="5" name="Picture 2" descr="礼物专用正方体盒子PNG图片素材下载_图片编号8512197-PNG素材网">
            <a:extLst>
              <a:ext uri="{FF2B5EF4-FFF2-40B4-BE49-F238E27FC236}">
                <a16:creationId xmlns:a16="http://schemas.microsoft.com/office/drawing/2014/main" id="{A27AB968-A91B-01DA-04A7-9D8539050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97" b="97403" l="3797" r="98101">
                        <a14:foregroundMark x1="16034" y1="7143" x2="6118" y2="62987"/>
                        <a14:foregroundMark x1="30802" y1="45779" x2="57384" y2="62662"/>
                        <a14:foregroundMark x1="57384" y1="62662" x2="69198" y2="58117"/>
                        <a14:foregroundMark x1="41350" y1="97403" x2="41350" y2="97403"/>
                        <a14:foregroundMark x1="98523" y1="42208" x2="98523" y2="42208"/>
                        <a14:foregroundMark x1="6118" y1="50325" x2="4008" y2="66883"/>
                        <a14:foregroundMark x1="15612" y1="2597" x2="16667" y2="2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21" y="2297527"/>
            <a:ext cx="2188179" cy="142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D2D525B-5C93-4FE5-A9FF-E75C2F3EEC3D}"/>
              </a:ext>
            </a:extLst>
          </p:cNvPr>
          <p:cNvSpPr/>
          <p:nvPr/>
        </p:nvSpPr>
        <p:spPr>
          <a:xfrm>
            <a:off x="1488169" y="2505670"/>
            <a:ext cx="10150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18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B3704B2-0A77-ED46-E585-E9FED4318B9F}"/>
              </a:ext>
            </a:extLst>
          </p:cNvPr>
          <p:cNvSpPr/>
          <p:nvPr/>
        </p:nvSpPr>
        <p:spPr>
          <a:xfrm>
            <a:off x="3711249" y="2213636"/>
            <a:ext cx="2283402" cy="29203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672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5ABE-6FA9-BAD0-E99F-CAA80F70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3E20E7B8-3B51-410D-ACCB-FA599F4D44AA}"/>
              </a:ext>
            </a:extLst>
          </p:cNvPr>
          <p:cNvSpPr txBox="1">
            <a:spLocks/>
          </p:cNvSpPr>
          <p:nvPr/>
        </p:nvSpPr>
        <p:spPr>
          <a:xfrm>
            <a:off x="584164" y="1004617"/>
            <a:ext cx="180801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变量有啥特点？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7944E4E-1A13-A65D-02C6-9E52D7B17A5D}"/>
              </a:ext>
            </a:extLst>
          </p:cNvPr>
          <p:cNvSpPr txBox="1"/>
          <p:nvPr/>
        </p:nvSpPr>
        <p:spPr>
          <a:xfrm>
            <a:off x="576196" y="1557954"/>
            <a:ext cx="36611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变量里装的数据是可以被替换的。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40AD610-5AC7-32EC-472C-E774766552D1}"/>
              </a:ext>
            </a:extLst>
          </p:cNvPr>
          <p:cNvSpPr txBox="1"/>
          <p:nvPr/>
        </p:nvSpPr>
        <p:spPr>
          <a:xfrm>
            <a:off x="3711249" y="2146136"/>
            <a:ext cx="2283402" cy="1724639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age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18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=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19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age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lang="en-US" altLang="zh-CN" sz="3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= age +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endParaRPr lang="zh-CN" altLang="zh-CN" sz="3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22D5FDE1-387A-0A34-6021-1DCA97E79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认识变量</a:t>
            </a:r>
          </a:p>
        </p:txBody>
      </p:sp>
      <p:pic>
        <p:nvPicPr>
          <p:cNvPr id="5" name="Picture 2" descr="礼物专用正方体盒子PNG图片素材下载_图片编号8512197-PNG素材网">
            <a:extLst>
              <a:ext uri="{FF2B5EF4-FFF2-40B4-BE49-F238E27FC236}">
                <a16:creationId xmlns:a16="http://schemas.microsoft.com/office/drawing/2014/main" id="{4267B9C6-7E6F-5F9C-D043-9332049D4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97" b="97403" l="3797" r="98101">
                        <a14:foregroundMark x1="16034" y1="7143" x2="6118" y2="62987"/>
                        <a14:foregroundMark x1="30802" y1="45779" x2="57384" y2="62662"/>
                        <a14:foregroundMark x1="57384" y1="62662" x2="69198" y2="58117"/>
                        <a14:foregroundMark x1="41350" y1="97403" x2="41350" y2="97403"/>
                        <a14:foregroundMark x1="98523" y1="42208" x2="98523" y2="42208"/>
                        <a14:foregroundMark x1="6118" y1="50325" x2="4008" y2="66883"/>
                        <a14:foregroundMark x1="15612" y1="2597" x2="16667" y2="2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21" y="2297527"/>
            <a:ext cx="2188179" cy="142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C410712-0595-C3CE-112E-7B224A67B714}"/>
              </a:ext>
            </a:extLst>
          </p:cNvPr>
          <p:cNvSpPr/>
          <p:nvPr/>
        </p:nvSpPr>
        <p:spPr>
          <a:xfrm>
            <a:off x="1488169" y="2505670"/>
            <a:ext cx="10150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18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8153CA-A284-94D8-E4E3-E34169C8FF3E}"/>
              </a:ext>
            </a:extLst>
          </p:cNvPr>
          <p:cNvSpPr/>
          <p:nvPr/>
        </p:nvSpPr>
        <p:spPr>
          <a:xfrm>
            <a:off x="3704308" y="2497440"/>
            <a:ext cx="2283402" cy="29203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ACE2BD-8DEF-6466-048E-42E158AC05C8}"/>
              </a:ext>
            </a:extLst>
          </p:cNvPr>
          <p:cNvSpPr/>
          <p:nvPr/>
        </p:nvSpPr>
        <p:spPr>
          <a:xfrm>
            <a:off x="1495110" y="2497440"/>
            <a:ext cx="10150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19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11889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C9BCC-2B1B-D392-E0FC-D22AD99E3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礼物专用正方体盒子PNG图片素材下载_图片编号8512197-PNG素材网">
            <a:extLst>
              <a:ext uri="{FF2B5EF4-FFF2-40B4-BE49-F238E27FC236}">
                <a16:creationId xmlns:a16="http://schemas.microsoft.com/office/drawing/2014/main" id="{3DA096FA-6861-DACB-8E19-E7AC2C940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97" b="97403" l="3797" r="98101">
                        <a14:foregroundMark x1="16034" y1="7143" x2="6118" y2="62987"/>
                        <a14:foregroundMark x1="30802" y1="45779" x2="57384" y2="62662"/>
                        <a14:foregroundMark x1="57384" y1="62662" x2="69198" y2="58117"/>
                        <a14:foregroundMark x1="41350" y1="97403" x2="41350" y2="97403"/>
                        <a14:foregroundMark x1="98523" y1="42208" x2="98523" y2="42208"/>
                        <a14:foregroundMark x1="6118" y1="50325" x2="4008" y2="66883"/>
                        <a14:foregroundMark x1="15612" y1="2597" x2="16667" y2="2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21" y="2297527"/>
            <a:ext cx="2188179" cy="142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DAF2CAB-0C6B-0445-6606-C7E1EB6A87C0}"/>
              </a:ext>
            </a:extLst>
          </p:cNvPr>
          <p:cNvSpPr/>
          <p:nvPr/>
        </p:nvSpPr>
        <p:spPr>
          <a:xfrm>
            <a:off x="1495110" y="2497440"/>
            <a:ext cx="10150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19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ACFDDAC9-9647-F102-C223-69FD8A14A1AC}"/>
              </a:ext>
            </a:extLst>
          </p:cNvPr>
          <p:cNvSpPr txBox="1">
            <a:spLocks/>
          </p:cNvSpPr>
          <p:nvPr/>
        </p:nvSpPr>
        <p:spPr>
          <a:xfrm>
            <a:off x="584164" y="1004617"/>
            <a:ext cx="180801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变量有啥特点？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4CF9431-682E-DBD3-7868-4B5FE7E65493}"/>
              </a:ext>
            </a:extLst>
          </p:cNvPr>
          <p:cNvSpPr txBox="1"/>
          <p:nvPr/>
        </p:nvSpPr>
        <p:spPr>
          <a:xfrm>
            <a:off x="576196" y="1557954"/>
            <a:ext cx="36611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变量里装的数据是可以被替换的。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38424EB-1D8C-9AA4-12D1-8E938DF4DBA7}"/>
              </a:ext>
            </a:extLst>
          </p:cNvPr>
          <p:cNvSpPr txBox="1"/>
          <p:nvPr/>
        </p:nvSpPr>
        <p:spPr>
          <a:xfrm>
            <a:off x="3711249" y="2146136"/>
            <a:ext cx="2283402" cy="1724639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age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18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=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19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age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lang="en-US" altLang="zh-CN" sz="3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= age +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endParaRPr lang="zh-CN" altLang="zh-CN" sz="3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2F7A66B-CC99-4E3B-D4F2-018A0777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认识变量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3106AE-C746-8A11-85F1-0B4448817D25}"/>
              </a:ext>
            </a:extLst>
          </p:cNvPr>
          <p:cNvSpPr/>
          <p:nvPr/>
        </p:nvSpPr>
        <p:spPr>
          <a:xfrm>
            <a:off x="3704308" y="3292357"/>
            <a:ext cx="2283402" cy="29203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387BC0-5716-2F41-D7C4-E8E28E9960CF}"/>
              </a:ext>
            </a:extLst>
          </p:cNvPr>
          <p:cNvSpPr/>
          <p:nvPr/>
        </p:nvSpPr>
        <p:spPr>
          <a:xfrm>
            <a:off x="1502051" y="2513901"/>
            <a:ext cx="10150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20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0605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6E74A-1446-D979-53DC-06722DC73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8AECD0FB-9B64-06CD-F3EC-004931C34B89}"/>
              </a:ext>
            </a:extLst>
          </p:cNvPr>
          <p:cNvSpPr txBox="1">
            <a:spLocks/>
          </p:cNvSpPr>
          <p:nvPr/>
        </p:nvSpPr>
        <p:spPr>
          <a:xfrm>
            <a:off x="584164" y="1004617"/>
            <a:ext cx="1808010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变量有啥特点？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3727299-77D7-2A6C-5379-AF7262BD6018}"/>
              </a:ext>
            </a:extLst>
          </p:cNvPr>
          <p:cNvSpPr txBox="1"/>
          <p:nvPr/>
        </p:nvSpPr>
        <p:spPr>
          <a:xfrm>
            <a:off x="576196" y="1557954"/>
            <a:ext cx="36611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变量里装的数据是可以被替换的。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A7F82B-E9B8-08A1-3653-A1343B48FDB6}"/>
              </a:ext>
            </a:extLst>
          </p:cNvPr>
          <p:cNvSpPr txBox="1"/>
          <p:nvPr/>
        </p:nvSpPr>
        <p:spPr>
          <a:xfrm>
            <a:off x="3711249" y="2146136"/>
            <a:ext cx="2283402" cy="1724639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age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18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=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19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age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lang="en-US" altLang="zh-CN" sz="3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= age +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endParaRPr lang="zh-CN" altLang="zh-CN" sz="3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146F6B6D-1DB1-D3EE-2DC9-FD7195E24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981" y="4476101"/>
            <a:ext cx="2057456" cy="193260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4" name="文本占位符 2">
            <a:extLst>
              <a:ext uri="{FF2B5EF4-FFF2-40B4-BE49-F238E27FC236}">
                <a16:creationId xmlns:a16="http://schemas.microsoft.com/office/drawing/2014/main" id="{12441675-C526-1C99-83E3-726A58AA154A}"/>
              </a:ext>
            </a:extLst>
          </p:cNvPr>
          <p:cNvSpPr txBox="1">
            <a:spLocks/>
          </p:cNvSpPr>
          <p:nvPr/>
        </p:nvSpPr>
        <p:spPr>
          <a:xfrm>
            <a:off x="576196" y="4423737"/>
            <a:ext cx="3128112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变量有啥应用场景呢？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402028D-58C3-FEEE-E391-B8AA26AADC22}"/>
              </a:ext>
            </a:extLst>
          </p:cNvPr>
          <p:cNvSpPr/>
          <p:nvPr/>
        </p:nvSpPr>
        <p:spPr>
          <a:xfrm>
            <a:off x="5803923" y="4840522"/>
            <a:ext cx="728304" cy="582818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DC78D46-713C-FD6F-D26D-803468E12EEA}"/>
              </a:ext>
            </a:extLst>
          </p:cNvPr>
          <p:cNvSpPr txBox="1"/>
          <p:nvPr/>
        </p:nvSpPr>
        <p:spPr>
          <a:xfrm>
            <a:off x="584164" y="5103848"/>
            <a:ext cx="40775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写程序对数据进行处理就很方便了。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27BFB5AE-4C75-4B98-3C83-BED8BAB93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认识变量</a:t>
            </a:r>
          </a:p>
        </p:txBody>
      </p:sp>
      <p:pic>
        <p:nvPicPr>
          <p:cNvPr id="5" name="Picture 2" descr="礼物专用正方体盒子PNG图片素材下载_图片编号8512197-PNG素材网">
            <a:extLst>
              <a:ext uri="{FF2B5EF4-FFF2-40B4-BE49-F238E27FC236}">
                <a16:creationId xmlns:a16="http://schemas.microsoft.com/office/drawing/2014/main" id="{B2A558A6-71E7-D880-4C4C-C633EF007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97" b="97403" l="3797" r="98101">
                        <a14:foregroundMark x1="16034" y1="7143" x2="6118" y2="62987"/>
                        <a14:foregroundMark x1="30802" y1="45779" x2="57384" y2="62662"/>
                        <a14:foregroundMark x1="57384" y1="62662" x2="69198" y2="58117"/>
                        <a14:foregroundMark x1="41350" y1="97403" x2="41350" y2="97403"/>
                        <a14:foregroundMark x1="98523" y1="42208" x2="98523" y2="42208"/>
                        <a14:foregroundMark x1="6118" y1="50325" x2="4008" y2="66883"/>
                        <a14:foregroundMark x1="15612" y1="2597" x2="16667" y2="2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21" y="2297527"/>
            <a:ext cx="2188179" cy="142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B3BC03-CC4F-676F-5D76-D0DE0298C541}"/>
              </a:ext>
            </a:extLst>
          </p:cNvPr>
          <p:cNvSpPr/>
          <p:nvPr/>
        </p:nvSpPr>
        <p:spPr>
          <a:xfrm>
            <a:off x="3704308" y="3578741"/>
            <a:ext cx="2283402" cy="29203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11F60F-59A9-809D-AA03-6DB7AF888585}"/>
              </a:ext>
            </a:extLst>
          </p:cNvPr>
          <p:cNvSpPr/>
          <p:nvPr/>
        </p:nvSpPr>
        <p:spPr>
          <a:xfrm>
            <a:off x="1502051" y="2513901"/>
            <a:ext cx="10150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20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11656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 animBg="1"/>
      <p:bldP spid="5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>
            <a:extLst>
              <a:ext uri="{FF2B5EF4-FFF2-40B4-BE49-F238E27FC236}">
                <a16:creationId xmlns:a16="http://schemas.microsoft.com/office/drawing/2014/main" id="{A9BDEB07-9BCA-4130-9D72-B5B8146020EC}"/>
              </a:ext>
            </a:extLst>
          </p:cNvPr>
          <p:cNvSpPr txBox="1">
            <a:spLocks/>
          </p:cNvSpPr>
          <p:nvPr/>
        </p:nvSpPr>
        <p:spPr>
          <a:xfrm>
            <a:off x="657898" y="-87407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  <p:sp>
        <p:nvSpPr>
          <p:cNvPr id="6" name="文本占位符 4">
            <a:extLst>
              <a:ext uri="{FF2B5EF4-FFF2-40B4-BE49-F238E27FC236}">
                <a16:creationId xmlns:a16="http://schemas.microsoft.com/office/drawing/2014/main" id="{4A7A685B-F94D-194F-BA07-9413F6ABF7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3880" y="1028282"/>
            <a:ext cx="7742836" cy="3962399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zh-CN" altLang="en-US" sz="1600" dirty="0"/>
              <a:t>变量是什么，变量的完整定义格式是什么样的？</a:t>
            </a:r>
            <a:endParaRPr lang="en-US" altLang="zh-CN" sz="1600" dirty="0"/>
          </a:p>
          <a:p>
            <a:pPr marL="895335" lvl="1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变量是内存中的一块区域，可以理解成盒子，用来记住成程序要处理的数据的。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数据类型 变量名称  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数据；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lnSpc>
                <a:spcPct val="250000"/>
              </a:lnSpc>
              <a:buNone/>
            </a:pPr>
            <a:r>
              <a:rPr lang="zh-CN" altLang="en-US" sz="1600" dirty="0"/>
              <a:t>为啥要用变量，变量有啥好处？</a:t>
            </a:r>
            <a:endParaRPr lang="en-US" altLang="zh-CN" sz="1600" dirty="0"/>
          </a:p>
          <a:p>
            <a:pPr marL="895335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使用变量记要处理的数据，编写的代码更灵活，管理代码更方便。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/>
              <a:t>变量有什么特点？基于这个特点，变量有啥应用场景？</a:t>
            </a:r>
            <a:endParaRPr lang="en-US" altLang="zh-CN" dirty="0"/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变量里装的数据可以被替换。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09585" lvl="1" indent="0">
              <a:lnSpc>
                <a:spcPct val="250000"/>
              </a:lnSpc>
              <a:buNone/>
              <a:defRPr/>
            </a:pP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24CE27-9CC7-FC7B-7086-7DCEE1D80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396" y="4990681"/>
            <a:ext cx="1374973" cy="12915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9B0541E4-294B-F7EC-A2E0-49DA1A4C0FB6}"/>
              </a:ext>
            </a:extLst>
          </p:cNvPr>
          <p:cNvSpPr/>
          <p:nvPr/>
        </p:nvSpPr>
        <p:spPr>
          <a:xfrm>
            <a:off x="5671999" y="5266857"/>
            <a:ext cx="565749" cy="424762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7398CB4-CCC1-5D18-08AA-37DB0783B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509" y="4681746"/>
            <a:ext cx="2340785" cy="165109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0561247-B0C3-C5AD-D196-EFBB15EDB2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470" y="5037992"/>
            <a:ext cx="1708937" cy="96333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B7F74D1-1FEE-CB46-1987-0C17BB265362}"/>
              </a:ext>
            </a:extLst>
          </p:cNvPr>
          <p:cNvSpPr txBox="1"/>
          <p:nvPr/>
        </p:nvSpPr>
        <p:spPr>
          <a:xfrm>
            <a:off x="7402258" y="4979980"/>
            <a:ext cx="50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80</a:t>
            </a:r>
            <a:endParaRPr lang="zh-CN" altLang="en-US" sz="2000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A42E383-C847-6E62-FBB6-82DD1A64BAC3}"/>
              </a:ext>
            </a:extLst>
          </p:cNvPr>
          <p:cNvSpPr txBox="1"/>
          <p:nvPr/>
        </p:nvSpPr>
        <p:spPr>
          <a:xfrm>
            <a:off x="7422389" y="4975405"/>
            <a:ext cx="50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87</a:t>
            </a:r>
            <a:endParaRPr lang="zh-CN" altLang="en-US" sz="2000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4CF5D8C-7296-DD16-965E-39D9CB37426F}"/>
              </a:ext>
            </a:extLst>
          </p:cNvPr>
          <p:cNvSpPr txBox="1"/>
          <p:nvPr/>
        </p:nvSpPr>
        <p:spPr>
          <a:xfrm>
            <a:off x="7401552" y="4920924"/>
            <a:ext cx="5232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83</a:t>
            </a:r>
            <a:endParaRPr lang="zh-CN" altLang="en-US" sz="2400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9ACC49F-8FFF-F93C-E106-088516BF8B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3329" y="6038546"/>
            <a:ext cx="1069707" cy="24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3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/>
      <p:bldP spid="14" grpId="1"/>
      <p:bldP spid="15" grpId="0"/>
      <p:bldP spid="15" grpId="1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AD2B26"/>
                </a:solidFill>
              </a:rPr>
              <a:t>变量的注意事项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62EBCB4-A44E-681F-999C-457E5A3189B6}"/>
              </a:ext>
            </a:extLst>
          </p:cNvPr>
          <p:cNvGrpSpPr/>
          <p:nvPr/>
        </p:nvGrpSpPr>
        <p:grpSpPr>
          <a:xfrm>
            <a:off x="656235" y="1198801"/>
            <a:ext cx="4350125" cy="605444"/>
            <a:chOff x="736575" y="3188469"/>
            <a:chExt cx="8755767" cy="1338084"/>
          </a:xfrm>
        </p:grpSpPr>
        <p:sp>
          <p:nvSpPr>
            <p:cNvPr id="5" name="圆角矩形 26">
              <a:extLst>
                <a:ext uri="{FF2B5EF4-FFF2-40B4-BE49-F238E27FC236}">
                  <a16:creationId xmlns:a16="http://schemas.microsoft.com/office/drawing/2014/main" id="{C03FAD8F-5D55-FC89-6748-1F34827C23F2}"/>
                </a:ext>
              </a:extLst>
            </p:cNvPr>
            <p:cNvSpPr/>
            <p:nvPr/>
          </p:nvSpPr>
          <p:spPr>
            <a:xfrm flipH="1">
              <a:off x="1020576" y="3307962"/>
              <a:ext cx="8471766" cy="1132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>
                <a:solidFill>
                  <a:schemeClr val="lt1"/>
                </a:solidFill>
                <a:latin typeface="+mn-ea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9E5C27A-D6C0-D315-8B3B-EE1D2952A1BB}"/>
                </a:ext>
              </a:extLst>
            </p:cNvPr>
            <p:cNvGrpSpPr/>
            <p:nvPr/>
          </p:nvGrpSpPr>
          <p:grpSpPr>
            <a:xfrm>
              <a:off x="736575" y="3188469"/>
              <a:ext cx="1338084" cy="1338084"/>
              <a:chOff x="3567745" y="3971974"/>
              <a:chExt cx="1338084" cy="1338084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E21B8173-8065-88E7-B14B-DC4F81E6D7DA}"/>
                  </a:ext>
                </a:extLst>
              </p:cNvPr>
              <p:cNvGrpSpPr/>
              <p:nvPr/>
            </p:nvGrpSpPr>
            <p:grpSpPr>
              <a:xfrm>
                <a:off x="3567745" y="3971974"/>
                <a:ext cx="1338084" cy="1338084"/>
                <a:chOff x="5213600" y="2517129"/>
                <a:chExt cx="2023672" cy="2023672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5AC1917A-733C-89A5-07AD-22FEC3FEFBF1}"/>
                    </a:ext>
                  </a:extLst>
                </p:cNvPr>
                <p:cNvSpPr/>
                <p:nvPr/>
              </p:nvSpPr>
              <p:spPr>
                <a:xfrm>
                  <a:off x="5213600" y="2517129"/>
                  <a:ext cx="2023672" cy="202367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E0E0E0"/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outerShdw blurRad="279400" dist="2540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>
                    <a:latin typeface="+mn-ea"/>
                  </a:endParaRPr>
                </a:p>
              </p:txBody>
            </p:sp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D830CE34-85E4-1BB9-58B3-D1D17C395E76}"/>
                    </a:ext>
                  </a:extLst>
                </p:cNvPr>
                <p:cNvSpPr/>
                <p:nvPr/>
              </p:nvSpPr>
              <p:spPr>
                <a:xfrm>
                  <a:off x="5260739" y="2564268"/>
                  <a:ext cx="1929394" cy="19293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DDDEDD"/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>
                    <a:latin typeface="+mn-ea"/>
                  </a:endParaRPr>
                </a:p>
              </p:txBody>
            </p:sp>
          </p:grp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31A017D8-693D-CA38-5B5F-1FC5E3F5233E}"/>
                  </a:ext>
                </a:extLst>
              </p:cNvPr>
              <p:cNvSpPr/>
              <p:nvPr/>
            </p:nvSpPr>
            <p:spPr>
              <a:xfrm>
                <a:off x="3695022" y="4099252"/>
                <a:ext cx="1083527" cy="1083527"/>
              </a:xfrm>
              <a:prstGeom prst="ellipse">
                <a:avLst/>
              </a:prstGeom>
              <a:solidFill>
                <a:srgbClr val="0078F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500">
                  <a:latin typeface="+mn-ea"/>
                </a:endParaRPr>
              </a:p>
            </p:txBody>
          </p:sp>
        </p:grpSp>
        <p:sp>
          <p:nvSpPr>
            <p:cNvPr id="7" name="文本框 77">
              <a:extLst>
                <a:ext uri="{FF2B5EF4-FFF2-40B4-BE49-F238E27FC236}">
                  <a16:creationId xmlns:a16="http://schemas.microsoft.com/office/drawing/2014/main" id="{07E6E613-67C9-2744-A375-8578FD0CF969}"/>
                </a:ext>
              </a:extLst>
            </p:cNvPr>
            <p:cNvSpPr txBox="1"/>
            <p:nvPr/>
          </p:nvSpPr>
          <p:spPr>
            <a:xfrm>
              <a:off x="832682" y="3540892"/>
              <a:ext cx="1092551" cy="714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+mn-ea"/>
                </a:rPr>
                <a:t>1</a:t>
              </a:r>
            </a:p>
          </p:txBody>
        </p:sp>
        <p:sp>
          <p:nvSpPr>
            <p:cNvPr id="8" name="TextBox 72">
              <a:extLst>
                <a:ext uri="{FF2B5EF4-FFF2-40B4-BE49-F238E27FC236}">
                  <a16:creationId xmlns:a16="http://schemas.microsoft.com/office/drawing/2014/main" id="{AB6F19BB-A8ED-9B90-E886-E1CF37EFEA2B}"/>
                </a:ext>
              </a:extLst>
            </p:cNvPr>
            <p:cNvSpPr txBox="1"/>
            <p:nvPr/>
          </p:nvSpPr>
          <p:spPr>
            <a:xfrm>
              <a:off x="2261365" y="3619882"/>
              <a:ext cx="5905249" cy="714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阿里巴巴普惠体" panose="00020600040101010101" pitchFamily="18" charset="-122"/>
                </a:rPr>
                <a:t>变量要先声明才能使用</a:t>
              </a:r>
              <a:endPara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DA79DBF-1846-E12E-A779-8E66A544F25E}"/>
              </a:ext>
            </a:extLst>
          </p:cNvPr>
          <p:cNvGrpSpPr/>
          <p:nvPr/>
        </p:nvGrpSpPr>
        <p:grpSpPr>
          <a:xfrm>
            <a:off x="656235" y="2007784"/>
            <a:ext cx="5059284" cy="605444"/>
            <a:chOff x="736575" y="3188469"/>
            <a:chExt cx="10183134" cy="1338084"/>
          </a:xfrm>
        </p:grpSpPr>
        <p:sp>
          <p:nvSpPr>
            <p:cNvPr id="18" name="圆角矩形 40">
              <a:extLst>
                <a:ext uri="{FF2B5EF4-FFF2-40B4-BE49-F238E27FC236}">
                  <a16:creationId xmlns:a16="http://schemas.microsoft.com/office/drawing/2014/main" id="{69627713-1542-0C6C-AAFF-7341B1FE4E01}"/>
                </a:ext>
              </a:extLst>
            </p:cNvPr>
            <p:cNvSpPr/>
            <p:nvPr/>
          </p:nvSpPr>
          <p:spPr>
            <a:xfrm flipH="1">
              <a:off x="1020573" y="3307962"/>
              <a:ext cx="9572533" cy="11325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>
                <a:solidFill>
                  <a:schemeClr val="lt1"/>
                </a:solidFill>
                <a:latin typeface="+mn-ea"/>
              </a:endParaRP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CC51F22-E1B8-3D1D-9D92-BE4A23FA9D7A}"/>
                </a:ext>
              </a:extLst>
            </p:cNvPr>
            <p:cNvGrpSpPr/>
            <p:nvPr/>
          </p:nvGrpSpPr>
          <p:grpSpPr>
            <a:xfrm>
              <a:off x="736575" y="3188469"/>
              <a:ext cx="1338084" cy="1338084"/>
              <a:chOff x="3567745" y="3971974"/>
              <a:chExt cx="1338084" cy="1338084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AE69EA35-CD38-2F8A-E2F4-855C624ADA6A}"/>
                  </a:ext>
                </a:extLst>
              </p:cNvPr>
              <p:cNvGrpSpPr/>
              <p:nvPr/>
            </p:nvGrpSpPr>
            <p:grpSpPr>
              <a:xfrm>
                <a:off x="3567745" y="3971974"/>
                <a:ext cx="1338084" cy="1338084"/>
                <a:chOff x="5213600" y="2517129"/>
                <a:chExt cx="2023672" cy="2023672"/>
              </a:xfrm>
            </p:grpSpPr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9EF4A384-955B-B9F8-7F48-4077739588FB}"/>
                    </a:ext>
                  </a:extLst>
                </p:cNvPr>
                <p:cNvSpPr/>
                <p:nvPr/>
              </p:nvSpPr>
              <p:spPr>
                <a:xfrm>
                  <a:off x="5213600" y="2517129"/>
                  <a:ext cx="2023672" cy="202367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E0E0E0"/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outerShdw blurRad="279400" dist="2540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>
                    <a:latin typeface="+mn-ea"/>
                  </a:endParaRPr>
                </a:p>
              </p:txBody>
            </p:sp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1C3DAA9F-A638-D145-16FE-F0322204E22F}"/>
                    </a:ext>
                  </a:extLst>
                </p:cNvPr>
                <p:cNvSpPr/>
                <p:nvPr/>
              </p:nvSpPr>
              <p:spPr>
                <a:xfrm>
                  <a:off x="5260739" y="2564268"/>
                  <a:ext cx="1929394" cy="19293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DDDEDD"/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>
                    <a:latin typeface="+mn-ea"/>
                  </a:endParaRPr>
                </a:p>
              </p:txBody>
            </p:sp>
          </p:grp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8AF5EE0A-6EEF-8599-BBA9-659EF61F862F}"/>
                  </a:ext>
                </a:extLst>
              </p:cNvPr>
              <p:cNvSpPr/>
              <p:nvPr/>
            </p:nvSpPr>
            <p:spPr>
              <a:xfrm>
                <a:off x="3695022" y="4099252"/>
                <a:ext cx="1083527" cy="1083527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500">
                  <a:latin typeface="+mn-ea"/>
                </a:endParaRPr>
              </a:p>
            </p:txBody>
          </p:sp>
        </p:grpSp>
        <p:sp>
          <p:nvSpPr>
            <p:cNvPr id="20" name="文本框 77">
              <a:extLst>
                <a:ext uri="{FF2B5EF4-FFF2-40B4-BE49-F238E27FC236}">
                  <a16:creationId xmlns:a16="http://schemas.microsoft.com/office/drawing/2014/main" id="{B139B9EC-B0CB-9B79-F3F9-4A1B0DBEF74E}"/>
                </a:ext>
              </a:extLst>
            </p:cNvPr>
            <p:cNvSpPr txBox="1"/>
            <p:nvPr/>
          </p:nvSpPr>
          <p:spPr>
            <a:xfrm>
              <a:off x="863852" y="3470803"/>
              <a:ext cx="1092551" cy="714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+mn-ea"/>
                </a:rPr>
                <a:t>2</a:t>
              </a:r>
            </a:p>
          </p:txBody>
        </p:sp>
        <p:sp>
          <p:nvSpPr>
            <p:cNvPr id="21" name="TextBox 72">
              <a:extLst>
                <a:ext uri="{FF2B5EF4-FFF2-40B4-BE49-F238E27FC236}">
                  <a16:creationId xmlns:a16="http://schemas.microsoft.com/office/drawing/2014/main" id="{568D43E1-80E8-2E43-78A9-16EC2A11F015}"/>
                </a:ext>
              </a:extLst>
            </p:cNvPr>
            <p:cNvSpPr txBox="1"/>
            <p:nvPr/>
          </p:nvSpPr>
          <p:spPr>
            <a:xfrm>
              <a:off x="2261367" y="3619882"/>
              <a:ext cx="8658342" cy="714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500" dirty="0">
                  <a:latin typeface="+mn-ea"/>
                  <a:ea typeface="+mn-ea"/>
                </a:rPr>
                <a:t>变量是什么类型，就必须装什么类型的数据</a:t>
              </a:r>
              <a:endParaRPr lang="en-US" altLang="zh-CN" sz="1500" dirty="0">
                <a:latin typeface="+mn-ea"/>
                <a:ea typeface="+mn-ea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C8FDFC4-943D-F126-E696-EC63E30BB89D}"/>
              </a:ext>
            </a:extLst>
          </p:cNvPr>
          <p:cNvGrpSpPr/>
          <p:nvPr/>
        </p:nvGrpSpPr>
        <p:grpSpPr>
          <a:xfrm>
            <a:off x="656235" y="2835427"/>
            <a:ext cx="5049953" cy="605444"/>
            <a:chOff x="736575" y="3188468"/>
            <a:chExt cx="10164353" cy="1338083"/>
          </a:xfrm>
        </p:grpSpPr>
        <p:sp>
          <p:nvSpPr>
            <p:cNvPr id="27" name="圆角矩形 49">
              <a:extLst>
                <a:ext uri="{FF2B5EF4-FFF2-40B4-BE49-F238E27FC236}">
                  <a16:creationId xmlns:a16="http://schemas.microsoft.com/office/drawing/2014/main" id="{EA16F494-ED4B-2E45-3390-636E5913D5BA}"/>
                </a:ext>
              </a:extLst>
            </p:cNvPr>
            <p:cNvSpPr/>
            <p:nvPr/>
          </p:nvSpPr>
          <p:spPr>
            <a:xfrm flipH="1">
              <a:off x="1020572" y="3307963"/>
              <a:ext cx="9880356" cy="11325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>
                <a:solidFill>
                  <a:schemeClr val="lt1"/>
                </a:solidFill>
                <a:latin typeface="+mn-ea"/>
              </a:endParaRP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5B74B63-4446-B9AA-2821-CBE2254433B1}"/>
                </a:ext>
              </a:extLst>
            </p:cNvPr>
            <p:cNvGrpSpPr/>
            <p:nvPr/>
          </p:nvGrpSpPr>
          <p:grpSpPr>
            <a:xfrm>
              <a:off x="736575" y="3188468"/>
              <a:ext cx="1338084" cy="1338083"/>
              <a:chOff x="3567745" y="3971973"/>
              <a:chExt cx="1338084" cy="1338083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5BDF1C22-E480-4D5D-D708-F2643A04F7C5}"/>
                  </a:ext>
                </a:extLst>
              </p:cNvPr>
              <p:cNvGrpSpPr/>
              <p:nvPr/>
            </p:nvGrpSpPr>
            <p:grpSpPr>
              <a:xfrm>
                <a:off x="3567745" y="3971973"/>
                <a:ext cx="1338084" cy="1338083"/>
                <a:chOff x="5213600" y="2517129"/>
                <a:chExt cx="2023672" cy="2023670"/>
              </a:xfrm>
            </p:grpSpPr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1843ED23-9E4F-C750-1047-F1F62EA6868A}"/>
                    </a:ext>
                  </a:extLst>
                </p:cNvPr>
                <p:cNvSpPr/>
                <p:nvPr/>
              </p:nvSpPr>
              <p:spPr>
                <a:xfrm>
                  <a:off x="5213600" y="2517129"/>
                  <a:ext cx="2023672" cy="202367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E0E0E0"/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outerShdw blurRad="279400" dist="2540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>
                    <a:latin typeface="+mn-ea"/>
                  </a:endParaRPr>
                </a:p>
              </p:txBody>
            </p:sp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C898FDB6-DDE8-5F86-91DB-6BFF633E8576}"/>
                    </a:ext>
                  </a:extLst>
                </p:cNvPr>
                <p:cNvSpPr/>
                <p:nvPr/>
              </p:nvSpPr>
              <p:spPr>
                <a:xfrm>
                  <a:off x="5260740" y="2564268"/>
                  <a:ext cx="1929395" cy="192939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DDDEDD"/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>
                    <a:latin typeface="+mn-ea"/>
                  </a:endParaRPr>
                </a:p>
              </p:txBody>
            </p:sp>
          </p:grp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AAE5B338-3291-4E79-3636-C9D2EC8A1177}"/>
                  </a:ext>
                </a:extLst>
              </p:cNvPr>
              <p:cNvSpPr/>
              <p:nvPr/>
            </p:nvSpPr>
            <p:spPr>
              <a:xfrm>
                <a:off x="3695022" y="4099253"/>
                <a:ext cx="1083526" cy="1083526"/>
              </a:xfrm>
              <a:prstGeom prst="ellipse">
                <a:avLst/>
              </a:prstGeom>
              <a:solidFill>
                <a:srgbClr val="0078F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500" dirty="0">
                    <a:latin typeface="+mn-ea"/>
                  </a:rPr>
                  <a:t>3</a:t>
                </a:r>
                <a:endParaRPr lang="zh-CN" altLang="en-US" sz="1500" dirty="0">
                  <a:latin typeface="+mn-ea"/>
                </a:endParaRPr>
              </a:p>
            </p:txBody>
          </p:sp>
        </p:grpSp>
        <p:sp>
          <p:nvSpPr>
            <p:cNvPr id="29" name="TextBox 72">
              <a:extLst>
                <a:ext uri="{FF2B5EF4-FFF2-40B4-BE49-F238E27FC236}">
                  <a16:creationId xmlns:a16="http://schemas.microsoft.com/office/drawing/2014/main" id="{669FDE0B-9207-4583-35E7-DC22C4A57960}"/>
                </a:ext>
              </a:extLst>
            </p:cNvPr>
            <p:cNvSpPr txBox="1"/>
            <p:nvPr/>
          </p:nvSpPr>
          <p:spPr>
            <a:xfrm>
              <a:off x="2284757" y="3591344"/>
              <a:ext cx="8359507" cy="714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阿里巴巴普惠体" panose="00020600040101010101" pitchFamily="18" charset="-122"/>
                </a:rPr>
                <a:t>变量只在自己所归属的 </a:t>
              </a:r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阿里巴巴普惠体" panose="00020600040101010101" pitchFamily="18" charset="-122"/>
                </a:rPr>
                <a:t>{ } </a:t>
              </a:r>
              <a:r>
                <a:rPr lang="zh-CN" altLang="en-US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阿里巴巴普惠体" panose="00020600040101010101" pitchFamily="18" charset="-122"/>
                </a:rPr>
                <a:t>范围内有效</a:t>
              </a:r>
              <a:endPara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0C7A49E-1739-B502-E342-DA0E43D8D9DC}"/>
              </a:ext>
            </a:extLst>
          </p:cNvPr>
          <p:cNvGrpSpPr/>
          <p:nvPr/>
        </p:nvGrpSpPr>
        <p:grpSpPr>
          <a:xfrm>
            <a:off x="656235" y="3698794"/>
            <a:ext cx="4350125" cy="605444"/>
            <a:chOff x="736575" y="3188469"/>
            <a:chExt cx="8755767" cy="1338084"/>
          </a:xfrm>
        </p:grpSpPr>
        <p:sp>
          <p:nvSpPr>
            <p:cNvPr id="35" name="圆角矩形 58">
              <a:extLst>
                <a:ext uri="{FF2B5EF4-FFF2-40B4-BE49-F238E27FC236}">
                  <a16:creationId xmlns:a16="http://schemas.microsoft.com/office/drawing/2014/main" id="{6AC3071D-5198-7633-525C-82949B874A85}"/>
                </a:ext>
              </a:extLst>
            </p:cNvPr>
            <p:cNvSpPr/>
            <p:nvPr/>
          </p:nvSpPr>
          <p:spPr>
            <a:xfrm flipH="1">
              <a:off x="1020576" y="3307962"/>
              <a:ext cx="8471766" cy="1132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>
                <a:solidFill>
                  <a:schemeClr val="lt1"/>
                </a:solidFill>
                <a:latin typeface="+mn-ea"/>
              </a:endParaRPr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BF7789C0-79E1-1D7F-CDCA-0FB1504DC664}"/>
                </a:ext>
              </a:extLst>
            </p:cNvPr>
            <p:cNvGrpSpPr/>
            <p:nvPr/>
          </p:nvGrpSpPr>
          <p:grpSpPr>
            <a:xfrm>
              <a:off x="736575" y="3188469"/>
              <a:ext cx="1338084" cy="1338084"/>
              <a:chOff x="3567745" y="3971974"/>
              <a:chExt cx="1338084" cy="1338084"/>
            </a:xfrm>
          </p:grpSpPr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489D48AB-46EF-FB8E-610F-3B553642AB21}"/>
                  </a:ext>
                </a:extLst>
              </p:cNvPr>
              <p:cNvGrpSpPr/>
              <p:nvPr/>
            </p:nvGrpSpPr>
            <p:grpSpPr>
              <a:xfrm>
                <a:off x="3567745" y="3971974"/>
                <a:ext cx="1338084" cy="1338084"/>
                <a:chOff x="5213600" y="2517129"/>
                <a:chExt cx="2023672" cy="2023672"/>
              </a:xfrm>
            </p:grpSpPr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F7B90051-B573-BABA-B63C-68552452E4B9}"/>
                    </a:ext>
                  </a:extLst>
                </p:cNvPr>
                <p:cNvSpPr/>
                <p:nvPr/>
              </p:nvSpPr>
              <p:spPr>
                <a:xfrm>
                  <a:off x="5213600" y="2517129"/>
                  <a:ext cx="2023672" cy="202367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E0E0E0"/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outerShdw blurRad="279400" dist="2540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>
                    <a:latin typeface="+mn-ea"/>
                  </a:endParaRPr>
                </a:p>
              </p:txBody>
            </p:sp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532E33F1-0EF3-3911-24D5-5F570CDC0AF9}"/>
                    </a:ext>
                  </a:extLst>
                </p:cNvPr>
                <p:cNvSpPr/>
                <p:nvPr/>
              </p:nvSpPr>
              <p:spPr>
                <a:xfrm>
                  <a:off x="5260739" y="2564268"/>
                  <a:ext cx="1929394" cy="19293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DDDEDD"/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>
                    <a:latin typeface="+mn-ea"/>
                  </a:endParaRPr>
                </a:p>
              </p:txBody>
            </p:sp>
          </p:grp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3C767222-BF92-86EC-DC1D-68741A8E87F6}"/>
                  </a:ext>
                </a:extLst>
              </p:cNvPr>
              <p:cNvSpPr/>
              <p:nvPr/>
            </p:nvSpPr>
            <p:spPr>
              <a:xfrm>
                <a:off x="3695022" y="4099252"/>
                <a:ext cx="1083527" cy="1083527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500" dirty="0">
                    <a:latin typeface="+mn-ea"/>
                  </a:rPr>
                  <a:t>4</a:t>
                </a:r>
                <a:endParaRPr lang="zh-CN" altLang="en-US" sz="1500" dirty="0">
                  <a:latin typeface="+mn-ea"/>
                </a:endParaRPr>
              </a:p>
            </p:txBody>
          </p:sp>
        </p:grpSp>
        <p:sp>
          <p:nvSpPr>
            <p:cNvPr id="37" name="TextBox 72">
              <a:extLst>
                <a:ext uri="{FF2B5EF4-FFF2-40B4-BE49-F238E27FC236}">
                  <a16:creationId xmlns:a16="http://schemas.microsoft.com/office/drawing/2014/main" id="{2B775260-3EA5-C53E-D751-97D40692914D}"/>
                </a:ext>
              </a:extLst>
            </p:cNvPr>
            <p:cNvSpPr txBox="1"/>
            <p:nvPr/>
          </p:nvSpPr>
          <p:spPr>
            <a:xfrm>
              <a:off x="2261365" y="3516543"/>
              <a:ext cx="6892996" cy="714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阿里巴巴普惠体" panose="00020600040101010101" pitchFamily="18" charset="-122"/>
                </a:rPr>
                <a:t>同一个范围内，变量的名称不能一样</a:t>
              </a:r>
              <a:endPara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00745B85-21C3-FC75-C2F7-8CB9206A09DC}"/>
              </a:ext>
            </a:extLst>
          </p:cNvPr>
          <p:cNvGrpSpPr/>
          <p:nvPr/>
        </p:nvGrpSpPr>
        <p:grpSpPr>
          <a:xfrm>
            <a:off x="656235" y="4562162"/>
            <a:ext cx="6748125" cy="605444"/>
            <a:chOff x="736575" y="3188469"/>
            <a:chExt cx="13582369" cy="1338084"/>
          </a:xfrm>
        </p:grpSpPr>
        <p:sp>
          <p:nvSpPr>
            <p:cNvPr id="45" name="圆角矩形 26">
              <a:extLst>
                <a:ext uri="{FF2B5EF4-FFF2-40B4-BE49-F238E27FC236}">
                  <a16:creationId xmlns:a16="http://schemas.microsoft.com/office/drawing/2014/main" id="{3AAE775A-F84E-452D-59FD-A47289C948E4}"/>
                </a:ext>
              </a:extLst>
            </p:cNvPr>
            <p:cNvSpPr/>
            <p:nvPr/>
          </p:nvSpPr>
          <p:spPr>
            <a:xfrm flipH="1">
              <a:off x="1020574" y="3307962"/>
              <a:ext cx="13129347" cy="113257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>
                <a:solidFill>
                  <a:schemeClr val="lt1"/>
                </a:solidFill>
                <a:latin typeface="+mn-ea"/>
              </a:endParaRPr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DC50CBB9-255F-C16F-03AC-DA0ADC19436A}"/>
                </a:ext>
              </a:extLst>
            </p:cNvPr>
            <p:cNvGrpSpPr/>
            <p:nvPr/>
          </p:nvGrpSpPr>
          <p:grpSpPr>
            <a:xfrm>
              <a:off x="736575" y="3188469"/>
              <a:ext cx="1338084" cy="1338084"/>
              <a:chOff x="3567745" y="3971974"/>
              <a:chExt cx="1338084" cy="1338084"/>
            </a:xfrm>
          </p:grpSpPr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67785CE8-D596-351E-0F2F-5FE1B42A0277}"/>
                  </a:ext>
                </a:extLst>
              </p:cNvPr>
              <p:cNvGrpSpPr/>
              <p:nvPr/>
            </p:nvGrpSpPr>
            <p:grpSpPr>
              <a:xfrm>
                <a:off x="3567745" y="3971974"/>
                <a:ext cx="1338084" cy="1338084"/>
                <a:chOff x="5213600" y="2517129"/>
                <a:chExt cx="2023672" cy="2023672"/>
              </a:xfrm>
            </p:grpSpPr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A98EB3E3-8B66-AE96-D7B4-7F6F9ECA31F3}"/>
                    </a:ext>
                  </a:extLst>
                </p:cNvPr>
                <p:cNvSpPr/>
                <p:nvPr/>
              </p:nvSpPr>
              <p:spPr>
                <a:xfrm>
                  <a:off x="5213600" y="2517129"/>
                  <a:ext cx="2023672" cy="202367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E0E0E0"/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outerShdw blurRad="279400" dist="2540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>
                    <a:latin typeface="+mn-ea"/>
                  </a:endParaRPr>
                </a:p>
              </p:txBody>
            </p:sp>
            <p:sp>
              <p:nvSpPr>
                <p:cNvPr id="52" name="椭圆 51">
                  <a:extLst>
                    <a:ext uri="{FF2B5EF4-FFF2-40B4-BE49-F238E27FC236}">
                      <a16:creationId xmlns:a16="http://schemas.microsoft.com/office/drawing/2014/main" id="{0D8E5A47-D85B-8240-8705-6BE57FA7CC40}"/>
                    </a:ext>
                  </a:extLst>
                </p:cNvPr>
                <p:cNvSpPr/>
                <p:nvPr/>
              </p:nvSpPr>
              <p:spPr>
                <a:xfrm>
                  <a:off x="5260739" y="2564268"/>
                  <a:ext cx="1929394" cy="19293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DDDEDD"/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>
                    <a:latin typeface="+mn-ea"/>
                  </a:endParaRPr>
                </a:p>
              </p:txBody>
            </p:sp>
          </p:grp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E3FE6AC9-C57B-28C8-3A5F-DC61D31B199C}"/>
                  </a:ext>
                </a:extLst>
              </p:cNvPr>
              <p:cNvSpPr/>
              <p:nvPr/>
            </p:nvSpPr>
            <p:spPr>
              <a:xfrm>
                <a:off x="3695022" y="4099252"/>
                <a:ext cx="1083527" cy="1083527"/>
              </a:xfrm>
              <a:prstGeom prst="ellipse">
                <a:avLst/>
              </a:prstGeom>
              <a:solidFill>
                <a:srgbClr val="0078F1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500">
                  <a:latin typeface="+mn-ea"/>
                </a:endParaRPr>
              </a:p>
            </p:txBody>
          </p:sp>
        </p:grpSp>
        <p:sp>
          <p:nvSpPr>
            <p:cNvPr id="47" name="文本框 77">
              <a:extLst>
                <a:ext uri="{FF2B5EF4-FFF2-40B4-BE49-F238E27FC236}">
                  <a16:creationId xmlns:a16="http://schemas.microsoft.com/office/drawing/2014/main" id="{330818B4-6F61-0D69-71D6-6E04B9E28691}"/>
                </a:ext>
              </a:extLst>
            </p:cNvPr>
            <p:cNvSpPr txBox="1"/>
            <p:nvPr/>
          </p:nvSpPr>
          <p:spPr>
            <a:xfrm>
              <a:off x="832682" y="3523432"/>
              <a:ext cx="1092551" cy="714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+mn-ea"/>
                </a:rPr>
                <a:t>5</a:t>
              </a:r>
            </a:p>
          </p:txBody>
        </p:sp>
        <p:sp>
          <p:nvSpPr>
            <p:cNvPr id="48" name="TextBox 72">
              <a:extLst>
                <a:ext uri="{FF2B5EF4-FFF2-40B4-BE49-F238E27FC236}">
                  <a16:creationId xmlns:a16="http://schemas.microsoft.com/office/drawing/2014/main" id="{484D629B-9947-565A-97AD-402B6D615FB8}"/>
                </a:ext>
              </a:extLst>
            </p:cNvPr>
            <p:cNvSpPr txBox="1"/>
            <p:nvPr/>
          </p:nvSpPr>
          <p:spPr>
            <a:xfrm>
              <a:off x="2261367" y="3619882"/>
              <a:ext cx="12057577" cy="714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阿里巴巴普惠体" panose="00020600040101010101" pitchFamily="18" charset="-122"/>
                </a:rPr>
                <a:t>变量定义的时候可以不赋初始值，但在使用时，变量里必须有值</a:t>
              </a:r>
              <a:endPara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10A708F4-2373-C541-E12F-A21CBDC381AF}"/>
              </a:ext>
            </a:extLst>
          </p:cNvPr>
          <p:cNvGrpSpPr/>
          <p:nvPr/>
        </p:nvGrpSpPr>
        <p:grpSpPr>
          <a:xfrm>
            <a:off x="656235" y="5499738"/>
            <a:ext cx="5134964" cy="605444"/>
            <a:chOff x="656235" y="5499738"/>
            <a:chExt cx="5134964" cy="605444"/>
          </a:xfrm>
        </p:grpSpPr>
        <p:sp>
          <p:nvSpPr>
            <p:cNvPr id="58" name="圆角矩形 58">
              <a:extLst>
                <a:ext uri="{FF2B5EF4-FFF2-40B4-BE49-F238E27FC236}">
                  <a16:creationId xmlns:a16="http://schemas.microsoft.com/office/drawing/2014/main" id="{C2443752-9BBA-3F43-1574-9138F6CFD6C3}"/>
                </a:ext>
              </a:extLst>
            </p:cNvPr>
            <p:cNvSpPr/>
            <p:nvPr/>
          </p:nvSpPr>
          <p:spPr>
            <a:xfrm flipH="1">
              <a:off x="797334" y="5553805"/>
              <a:ext cx="4993865" cy="512458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>
                <a:solidFill>
                  <a:schemeClr val="lt1"/>
                </a:solidFill>
                <a:latin typeface="+mn-ea"/>
              </a:endParaRPr>
            </a:p>
          </p:txBody>
        </p: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28697D9B-206D-8755-6EA4-CA195BA01076}"/>
                </a:ext>
              </a:extLst>
            </p:cNvPr>
            <p:cNvGrpSpPr/>
            <p:nvPr/>
          </p:nvGrpSpPr>
          <p:grpSpPr>
            <a:xfrm>
              <a:off x="656235" y="5499738"/>
              <a:ext cx="664800" cy="605444"/>
              <a:chOff x="3567745" y="3971974"/>
              <a:chExt cx="1338084" cy="1338084"/>
            </a:xfrm>
          </p:grpSpPr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C08E2296-F845-DF18-5BDE-0526F15456DC}"/>
                  </a:ext>
                </a:extLst>
              </p:cNvPr>
              <p:cNvGrpSpPr/>
              <p:nvPr/>
            </p:nvGrpSpPr>
            <p:grpSpPr>
              <a:xfrm>
                <a:off x="3567745" y="3971974"/>
                <a:ext cx="1338084" cy="1338084"/>
                <a:chOff x="5213600" y="2517129"/>
                <a:chExt cx="2023672" cy="2023672"/>
              </a:xfrm>
            </p:grpSpPr>
            <p:sp>
              <p:nvSpPr>
                <p:cNvPr id="63" name="椭圆 62">
                  <a:extLst>
                    <a:ext uri="{FF2B5EF4-FFF2-40B4-BE49-F238E27FC236}">
                      <a16:creationId xmlns:a16="http://schemas.microsoft.com/office/drawing/2014/main" id="{500E5CDF-619B-410B-EBB5-EEBD1E854612}"/>
                    </a:ext>
                  </a:extLst>
                </p:cNvPr>
                <p:cNvSpPr/>
                <p:nvPr/>
              </p:nvSpPr>
              <p:spPr>
                <a:xfrm>
                  <a:off x="5213600" y="2517129"/>
                  <a:ext cx="2023672" cy="202367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E0E0E0"/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outerShdw blurRad="279400" dist="2540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>
                    <a:latin typeface="+mn-ea"/>
                  </a:endParaRPr>
                </a:p>
              </p:txBody>
            </p:sp>
            <p:sp>
              <p:nvSpPr>
                <p:cNvPr id="64" name="椭圆 63">
                  <a:extLst>
                    <a:ext uri="{FF2B5EF4-FFF2-40B4-BE49-F238E27FC236}">
                      <a16:creationId xmlns:a16="http://schemas.microsoft.com/office/drawing/2014/main" id="{48D09124-8926-CA74-36AD-0BF60A0A3BD8}"/>
                    </a:ext>
                  </a:extLst>
                </p:cNvPr>
                <p:cNvSpPr/>
                <p:nvPr/>
              </p:nvSpPr>
              <p:spPr>
                <a:xfrm>
                  <a:off x="5260739" y="2564268"/>
                  <a:ext cx="1929394" cy="19293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DDDEDD"/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00">
                    <a:latin typeface="+mn-ea"/>
                  </a:endParaRPr>
                </a:p>
              </p:txBody>
            </p:sp>
          </p:grp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C29CEF43-96D6-28F6-F7A6-0B28CC3BE44D}"/>
                  </a:ext>
                </a:extLst>
              </p:cNvPr>
              <p:cNvSpPr/>
              <p:nvPr/>
            </p:nvSpPr>
            <p:spPr>
              <a:xfrm>
                <a:off x="3695022" y="4099252"/>
                <a:ext cx="1083527" cy="1083527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500" dirty="0">
                    <a:latin typeface="+mn-ea"/>
                  </a:rPr>
                  <a:t>6</a:t>
                </a:r>
                <a:endParaRPr lang="zh-CN" altLang="en-US" sz="1500" dirty="0">
                  <a:latin typeface="+mn-ea"/>
                </a:endParaRPr>
              </a:p>
            </p:txBody>
          </p:sp>
        </p:grpSp>
        <p:sp>
          <p:nvSpPr>
            <p:cNvPr id="60" name="TextBox 72">
              <a:extLst>
                <a:ext uri="{FF2B5EF4-FFF2-40B4-BE49-F238E27FC236}">
                  <a16:creationId xmlns:a16="http://schemas.microsoft.com/office/drawing/2014/main" id="{9CE3B75A-469E-8AF5-54B7-272FC168245D}"/>
                </a:ext>
              </a:extLst>
            </p:cNvPr>
            <p:cNvSpPr txBox="1"/>
            <p:nvPr/>
          </p:nvSpPr>
          <p:spPr>
            <a:xfrm>
              <a:off x="1413796" y="5648182"/>
              <a:ext cx="429239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zh-CN" altLang="en-US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cs typeface="阿里巴巴普惠体" panose="00020600040101010101" pitchFamily="18" charset="-122"/>
                </a:rPr>
                <a:t>一条语句可以定义多个变量，中间使用逗号分隔</a:t>
              </a:r>
              <a:endPara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641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 txBox="1"/>
          <p:nvPr/>
        </p:nvSpPr>
        <p:spPr>
          <a:xfrm>
            <a:off x="627753" y="244189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  <p:sp>
        <p:nvSpPr>
          <p:cNvPr id="6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dirty="0"/>
              <a:t>使用变量时有哪些注意点</a:t>
            </a:r>
            <a:r>
              <a:rPr lang="en-US" altLang="zh-CN" sz="1600" dirty="0"/>
              <a:t>?</a:t>
            </a:r>
          </a:p>
          <a:p>
            <a:pPr marL="895350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变量要先声明，才能使用</a:t>
            </a:r>
            <a:endParaRPr lang="en-US" altLang="zh-CN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50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什么类型的变量，只能存储什么类型的数据</a:t>
            </a:r>
            <a:endParaRPr lang="en-US" altLang="zh-CN" sz="16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50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变量存在访问范围，同一个范围内，多个变量的名字不能一样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50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变量定义时可以不给赋初始值，但是在使用时，变量里必须有值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50" lvl="1" indent="-285750">
              <a:lnSpc>
                <a:spcPct val="2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一条语句可以定义多个变量，中间使用逗号分隔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C6ECB-5BE5-6816-B021-2430C80E2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2C1F9B2-FAEF-C3CD-96B4-0F274D4272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注释</a:t>
            </a:r>
            <a:endParaRPr lang="en-US" altLang="zh-CN" dirty="0"/>
          </a:p>
          <a:p>
            <a:r>
              <a:rPr lang="zh-CN" altLang="en-US" dirty="0"/>
              <a:t>关键字</a:t>
            </a:r>
            <a:endParaRPr lang="en-US" altLang="zh-CN" dirty="0"/>
          </a:p>
          <a:p>
            <a:r>
              <a:rPr lang="zh-CN" altLang="en-US" dirty="0"/>
              <a:t>字面量</a:t>
            </a:r>
            <a:endParaRPr lang="en-US" altLang="zh-CN" dirty="0"/>
          </a:p>
          <a:p>
            <a:r>
              <a:rPr lang="zh-CN" altLang="en-US" dirty="0"/>
              <a:t>变量</a:t>
            </a:r>
            <a:endParaRPr lang="en-US" altLang="zh-CN" dirty="0"/>
          </a:p>
          <a:p>
            <a:r>
              <a:rPr lang="zh-CN" altLang="en-US" dirty="0"/>
              <a:t>标识符</a:t>
            </a:r>
            <a:endParaRPr lang="en-US" altLang="zh-CN" dirty="0"/>
          </a:p>
          <a:p>
            <a:r>
              <a:rPr lang="zh-CN" altLang="en-US" dirty="0"/>
              <a:t>数据类型</a:t>
            </a:r>
          </a:p>
        </p:txBody>
      </p:sp>
    </p:spTree>
    <p:extLst>
      <p:ext uri="{BB962C8B-B14F-4D97-AF65-F5344CB8AC3E}">
        <p14:creationId xmlns:p14="http://schemas.microsoft.com/office/powerpoint/2010/main" val="3594284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56CB7-1F74-8BE2-9E3D-928EB0334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A01807-CD60-E859-AAA0-2812B97649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标识符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6EEDAF43-3693-88D6-1DB9-BD9C865AAE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5140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标识符概述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DDB23C-C2A1-4F14-9948-2A9B2C67F193}"/>
              </a:ext>
            </a:extLst>
          </p:cNvPr>
          <p:cNvSpPr txBox="1"/>
          <p:nvPr/>
        </p:nvSpPr>
        <p:spPr>
          <a:xfrm>
            <a:off x="576626" y="1096223"/>
            <a:ext cx="4897967" cy="3820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标识符：就是给</a:t>
            </a:r>
            <a:r>
              <a:rPr lang="zh-CN" altLang="en-US" sz="1400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，方法，</a:t>
            </a:r>
            <a:r>
              <a:rPr lang="zh-CN" altLang="en-US" sz="1400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等起名字的符号。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354F377-FACC-CBF8-BCD5-37809C2923B5}"/>
              </a:ext>
            </a:extLst>
          </p:cNvPr>
          <p:cNvGrpSpPr/>
          <p:nvPr/>
        </p:nvGrpSpPr>
        <p:grpSpPr>
          <a:xfrm>
            <a:off x="576626" y="1695599"/>
            <a:ext cx="5476568" cy="3466801"/>
            <a:chOff x="2292616" y="2428959"/>
            <a:chExt cx="5476568" cy="408982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1651177-0D9A-E098-5F68-D65EA4280831}"/>
                </a:ext>
              </a:extLst>
            </p:cNvPr>
            <p:cNvSpPr/>
            <p:nvPr/>
          </p:nvSpPr>
          <p:spPr>
            <a:xfrm>
              <a:off x="2292616" y="2428959"/>
              <a:ext cx="5476568" cy="4089827"/>
            </a:xfrm>
            <a:prstGeom prst="roundRect">
              <a:avLst>
                <a:gd name="adj" fmla="val 3590"/>
              </a:avLst>
            </a:prstGeom>
            <a:solidFill>
              <a:srgbClr val="F9FBF9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191A777E-644B-4A90-99E8-59A2D4A2FC7D}"/>
                </a:ext>
              </a:extLst>
            </p:cNvPr>
            <p:cNvSpPr/>
            <p:nvPr/>
          </p:nvSpPr>
          <p:spPr>
            <a:xfrm>
              <a:off x="2292617" y="2449545"/>
              <a:ext cx="5476566" cy="230174"/>
            </a:xfrm>
            <a:custGeom>
              <a:avLst/>
              <a:gdLst>
                <a:gd name="connsiteX0" fmla="*/ 89432 w 8960426"/>
                <a:gd name="connsiteY0" fmla="*/ 0 h 243057"/>
                <a:gd name="connsiteX1" fmla="*/ 8870994 w 8960426"/>
                <a:gd name="connsiteY1" fmla="*/ 0 h 243057"/>
                <a:gd name="connsiteX2" fmla="*/ 8960426 w 8960426"/>
                <a:gd name="connsiteY2" fmla="*/ 89432 h 243057"/>
                <a:gd name="connsiteX3" fmla="*/ 8960426 w 8960426"/>
                <a:gd name="connsiteY3" fmla="*/ 243057 h 243057"/>
                <a:gd name="connsiteX4" fmla="*/ 0 w 8960426"/>
                <a:gd name="connsiteY4" fmla="*/ 243057 h 243057"/>
                <a:gd name="connsiteX5" fmla="*/ 0 w 8960426"/>
                <a:gd name="connsiteY5" fmla="*/ 89432 h 243057"/>
                <a:gd name="connsiteX6" fmla="*/ 89432 w 8960426"/>
                <a:gd name="connsiteY6" fmla="*/ 0 h 24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60426" h="243057">
                  <a:moveTo>
                    <a:pt x="89432" y="0"/>
                  </a:moveTo>
                  <a:lnTo>
                    <a:pt x="8870994" y="0"/>
                  </a:lnTo>
                  <a:cubicBezTo>
                    <a:pt x="8920386" y="0"/>
                    <a:pt x="8960426" y="40040"/>
                    <a:pt x="8960426" y="89432"/>
                  </a:cubicBezTo>
                  <a:lnTo>
                    <a:pt x="8960426" y="243057"/>
                  </a:lnTo>
                  <a:lnTo>
                    <a:pt x="0" y="243057"/>
                  </a:lnTo>
                  <a:lnTo>
                    <a:pt x="0" y="89432"/>
                  </a:lnTo>
                  <a:cubicBezTo>
                    <a:pt x="0" y="40040"/>
                    <a:pt x="40040" y="0"/>
                    <a:pt x="89432" y="0"/>
                  </a:cubicBezTo>
                  <a:close/>
                </a:path>
              </a:pathLst>
            </a:custGeom>
            <a:solidFill>
              <a:srgbClr val="F2F2F2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216000" bIns="45720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7D8B39E-6B4D-3B5D-EEC1-8AE5C381209E}"/>
                </a:ext>
              </a:extLst>
            </p:cNvPr>
            <p:cNvGrpSpPr/>
            <p:nvPr/>
          </p:nvGrpSpPr>
          <p:grpSpPr>
            <a:xfrm>
              <a:off x="2441171" y="2501620"/>
              <a:ext cx="691568" cy="126027"/>
              <a:chOff x="2016841" y="2556932"/>
              <a:chExt cx="730275" cy="133081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25BAE78B-FAD7-9615-AE6B-A04579B90B06}"/>
                  </a:ext>
                </a:extLst>
              </p:cNvPr>
              <p:cNvSpPr/>
              <p:nvPr/>
            </p:nvSpPr>
            <p:spPr>
              <a:xfrm>
                <a:off x="2016841" y="2556934"/>
                <a:ext cx="133079" cy="133079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83940893-0808-34DD-576A-B6D3835BD599}"/>
                  </a:ext>
                </a:extLst>
              </p:cNvPr>
              <p:cNvSpPr/>
              <p:nvPr/>
            </p:nvSpPr>
            <p:spPr>
              <a:xfrm>
                <a:off x="2315439" y="2556933"/>
                <a:ext cx="133079" cy="133079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9B177387-F7F7-34AB-E30C-D6E018C03322}"/>
                  </a:ext>
                </a:extLst>
              </p:cNvPr>
              <p:cNvSpPr/>
              <p:nvPr/>
            </p:nvSpPr>
            <p:spPr>
              <a:xfrm>
                <a:off x="2614037" y="2556932"/>
                <a:ext cx="133079" cy="133079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2" name="Rectangle 2">
            <a:extLst>
              <a:ext uri="{FF2B5EF4-FFF2-40B4-BE49-F238E27FC236}">
                <a16:creationId xmlns:a16="http://schemas.microsoft.com/office/drawing/2014/main" id="{B450653E-BC7A-062E-49AD-786C13CF5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74" y="2042154"/>
            <a:ext cx="5406671" cy="30469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JetBrains Mono"/>
              </a:rPr>
              <a:t>Demo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args) {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JetBrains Mono"/>
              </a:rPr>
              <a:t>salary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=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12000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.println(salary);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salary =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15000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.println(salary);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18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1200" dirty="0">
              <a:latin typeface="Consolas" panose="020B06090202040302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11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76128-F585-16C0-8FBB-9AF59FF4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C70C7D6-C895-A869-3E16-EBB2ED115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标识符概述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36DC5B-426B-70E2-915D-2A8A1AEC3BA0}"/>
              </a:ext>
            </a:extLst>
          </p:cNvPr>
          <p:cNvSpPr txBox="1"/>
          <p:nvPr/>
        </p:nvSpPr>
        <p:spPr>
          <a:xfrm>
            <a:off x="576626" y="1096223"/>
            <a:ext cx="4897967" cy="3820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标识符：就是给</a:t>
            </a:r>
            <a:r>
              <a:rPr lang="zh-CN" altLang="en-US" sz="1400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，方法，</a:t>
            </a:r>
            <a:r>
              <a:rPr lang="zh-CN" altLang="en-US" sz="1400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等起名字的符号。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1D6BAE4-169D-42C5-1ED3-22448B3445AF}"/>
              </a:ext>
            </a:extLst>
          </p:cNvPr>
          <p:cNvGrpSpPr/>
          <p:nvPr/>
        </p:nvGrpSpPr>
        <p:grpSpPr>
          <a:xfrm>
            <a:off x="576626" y="1695599"/>
            <a:ext cx="5476568" cy="3466801"/>
            <a:chOff x="2292616" y="2428959"/>
            <a:chExt cx="5476568" cy="408982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280E4E6-7703-9CA3-2D37-AB43C27C45B1}"/>
                </a:ext>
              </a:extLst>
            </p:cNvPr>
            <p:cNvSpPr/>
            <p:nvPr/>
          </p:nvSpPr>
          <p:spPr>
            <a:xfrm>
              <a:off x="2292616" y="2428959"/>
              <a:ext cx="5476568" cy="4089827"/>
            </a:xfrm>
            <a:prstGeom prst="roundRect">
              <a:avLst>
                <a:gd name="adj" fmla="val 3590"/>
              </a:avLst>
            </a:prstGeom>
            <a:solidFill>
              <a:srgbClr val="F9FBF9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DE0B8654-8964-0588-343F-F74DF66A979F}"/>
                </a:ext>
              </a:extLst>
            </p:cNvPr>
            <p:cNvSpPr/>
            <p:nvPr/>
          </p:nvSpPr>
          <p:spPr>
            <a:xfrm>
              <a:off x="2292617" y="2449545"/>
              <a:ext cx="5476566" cy="230174"/>
            </a:xfrm>
            <a:custGeom>
              <a:avLst/>
              <a:gdLst>
                <a:gd name="connsiteX0" fmla="*/ 89432 w 8960426"/>
                <a:gd name="connsiteY0" fmla="*/ 0 h 243057"/>
                <a:gd name="connsiteX1" fmla="*/ 8870994 w 8960426"/>
                <a:gd name="connsiteY1" fmla="*/ 0 h 243057"/>
                <a:gd name="connsiteX2" fmla="*/ 8960426 w 8960426"/>
                <a:gd name="connsiteY2" fmla="*/ 89432 h 243057"/>
                <a:gd name="connsiteX3" fmla="*/ 8960426 w 8960426"/>
                <a:gd name="connsiteY3" fmla="*/ 243057 h 243057"/>
                <a:gd name="connsiteX4" fmla="*/ 0 w 8960426"/>
                <a:gd name="connsiteY4" fmla="*/ 243057 h 243057"/>
                <a:gd name="connsiteX5" fmla="*/ 0 w 8960426"/>
                <a:gd name="connsiteY5" fmla="*/ 89432 h 243057"/>
                <a:gd name="connsiteX6" fmla="*/ 89432 w 8960426"/>
                <a:gd name="connsiteY6" fmla="*/ 0 h 24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60426" h="243057">
                  <a:moveTo>
                    <a:pt x="89432" y="0"/>
                  </a:moveTo>
                  <a:lnTo>
                    <a:pt x="8870994" y="0"/>
                  </a:lnTo>
                  <a:cubicBezTo>
                    <a:pt x="8920386" y="0"/>
                    <a:pt x="8960426" y="40040"/>
                    <a:pt x="8960426" y="89432"/>
                  </a:cubicBezTo>
                  <a:lnTo>
                    <a:pt x="8960426" y="243057"/>
                  </a:lnTo>
                  <a:lnTo>
                    <a:pt x="0" y="243057"/>
                  </a:lnTo>
                  <a:lnTo>
                    <a:pt x="0" y="89432"/>
                  </a:lnTo>
                  <a:cubicBezTo>
                    <a:pt x="0" y="40040"/>
                    <a:pt x="40040" y="0"/>
                    <a:pt x="89432" y="0"/>
                  </a:cubicBezTo>
                  <a:close/>
                </a:path>
              </a:pathLst>
            </a:custGeom>
            <a:solidFill>
              <a:srgbClr val="F2F2F2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216000" bIns="45720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B33904-978C-48CE-7A9C-14DBC2D9BCED}"/>
                </a:ext>
              </a:extLst>
            </p:cNvPr>
            <p:cNvGrpSpPr/>
            <p:nvPr/>
          </p:nvGrpSpPr>
          <p:grpSpPr>
            <a:xfrm>
              <a:off x="2441171" y="2501620"/>
              <a:ext cx="691568" cy="126027"/>
              <a:chOff x="2016841" y="2556932"/>
              <a:chExt cx="730275" cy="133081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974F41E3-8454-D6E9-C689-F54B714A6567}"/>
                  </a:ext>
                </a:extLst>
              </p:cNvPr>
              <p:cNvSpPr/>
              <p:nvPr/>
            </p:nvSpPr>
            <p:spPr>
              <a:xfrm>
                <a:off x="2016841" y="2556934"/>
                <a:ext cx="133079" cy="133079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A7D5DBEE-E59D-E491-D0E4-788FECC17868}"/>
                  </a:ext>
                </a:extLst>
              </p:cNvPr>
              <p:cNvSpPr/>
              <p:nvPr/>
            </p:nvSpPr>
            <p:spPr>
              <a:xfrm>
                <a:off x="2315439" y="2556933"/>
                <a:ext cx="133079" cy="133079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2FC32A24-BC71-E59F-EBA8-0233556098CC}"/>
                  </a:ext>
                </a:extLst>
              </p:cNvPr>
              <p:cNvSpPr/>
              <p:nvPr/>
            </p:nvSpPr>
            <p:spPr>
              <a:xfrm>
                <a:off x="2614037" y="2556932"/>
                <a:ext cx="133079" cy="133079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2" name="Rectangle 2">
            <a:extLst>
              <a:ext uri="{FF2B5EF4-FFF2-40B4-BE49-F238E27FC236}">
                <a16:creationId xmlns:a16="http://schemas.microsoft.com/office/drawing/2014/main" id="{860CE119-DBAE-84AC-1A66-72383AA77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74" y="2042154"/>
            <a:ext cx="5406671" cy="30469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200" dirty="0">
                <a:solidFill>
                  <a:srgbClr val="AD2B26"/>
                </a:solidFill>
                <a:latin typeface="Consolas" panose="020B0609020204030204" pitchFamily="49" charset="0"/>
                <a:ea typeface="JetBrains Mono"/>
              </a:rPr>
              <a:t>Demo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args) {</a:t>
            </a: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rgbClr val="AD2B26"/>
                </a:solidFill>
                <a:latin typeface="Consolas" panose="020B0609020204030204" pitchFamily="49" charset="0"/>
                <a:ea typeface="JetBrains Mono"/>
              </a:rPr>
              <a:t>salary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=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12000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.println(salary);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salary =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15000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.println(salary);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rgbClr val="AD2B26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18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en-US" altLang="zh-CN" sz="12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1200" dirty="0">
              <a:latin typeface="Consolas" panose="020B06090202040302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1485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AD2B26"/>
                </a:solidFill>
              </a:rPr>
              <a:t>标识符命名规则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F7874822-C15C-4FA3-8724-029E532B2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229" y="1635973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由</a:t>
            </a:r>
            <a:r>
              <a:rPr lang="zh-CN" altLang="en-US" sz="1400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数字、字母、下划线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(_)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zh-CN" altLang="en-US" sz="1400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美元符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($)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组成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F4E7F01A-73BA-4861-ACCE-C4E203F6A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229" y="2021206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不能以数字开头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11E164A1-F83C-4C8A-830E-17B8A10E6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229" y="2404323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不能是关键字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BA6B43A9-1136-442A-B05B-2F915C79B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80" y="3293324"/>
            <a:ext cx="7543800" cy="13515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判断下面哪些变量名不符合规则：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bj		b2		2b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		_2b		#itheima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ak47		Class		</a:t>
            </a:r>
            <a:r>
              <a:rPr lang="en-US" altLang="zh-CN" sz="14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helloworld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B1B18B21-2698-465B-85C4-7CB22EFFC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80" y="2764157"/>
            <a:ext cx="8297333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区分大小写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268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olidFill>
                  <a:srgbClr val="AD2B26"/>
                </a:solidFill>
              </a:rPr>
              <a:t>标识符命名规则</a:t>
            </a:r>
            <a:endParaRPr kumimoji="1" lang="zh-CN" altLang="en-US" dirty="0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F7874822-C15C-4FA3-8724-029E532B2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229" y="1635973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由</a:t>
            </a:r>
            <a:r>
              <a:rPr lang="zh-CN" altLang="en-US" sz="1400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数字、字母、下划线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(_)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zh-CN" altLang="en-US" sz="1400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美元符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($)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组成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F4E7F01A-73BA-4861-ACCE-C4E203F6A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229" y="2021206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不能以数字开头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11E164A1-F83C-4C8A-830E-17B8A10E6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229" y="2404323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不能是关键字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BA6B43A9-1136-442A-B05B-2F915C79B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80" y="3293324"/>
            <a:ext cx="7543800" cy="13515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判断下面哪些变量名不符合规则：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bj		b2		</a:t>
            </a:r>
            <a:r>
              <a:rPr lang="en-US" altLang="zh-CN" sz="1400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2b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	_2b		</a:t>
            </a:r>
            <a:r>
              <a:rPr lang="en-US" altLang="zh-CN" sz="1400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#itheima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ak47		Class		</a:t>
            </a:r>
            <a:r>
              <a:rPr lang="en-US" altLang="zh-CN" sz="14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helloworld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B1B18B21-2698-465B-85C4-7CB22EFFC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80" y="2764157"/>
            <a:ext cx="8297333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区分大小写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5675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AD2B26"/>
                </a:solidFill>
              </a:rPr>
              <a:t>标识符命名规范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D0A1EF5F-32F4-49AA-9DB5-79FFC85E9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626" y="1140673"/>
            <a:ext cx="8341784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小驼峰命名法：</a:t>
            </a:r>
            <a:endParaRPr lang="en-US" altLang="zh-CN" sz="1400" b="1" dirty="0">
              <a:solidFill>
                <a:srgbClr val="FF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AE09A3-01C2-4A06-AF24-F1612B681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626" y="3422439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大驼峰命名法：</a:t>
            </a:r>
            <a:endParaRPr lang="en-US" altLang="zh-CN" sz="1400" b="1" dirty="0">
              <a:solidFill>
                <a:srgbClr val="FF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6E96BC61-2239-4CEA-B4B9-AB05EF666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977" y="1525906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规范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：标识符是一个单词的时候，所有字母小写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405C9-165B-49C4-8D05-0C6904790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744" y="1885739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026279-0A21-49D3-A4D4-55B2E0440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977" y="2256158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规范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：标识符由多个单词组成</a:t>
            </a:r>
            <a:r>
              <a:rPr lang="zh-CN" altLang="en-US" sz="140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的时候，从第二个单词开始，首字母大写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E3E88E-DDB4-4FA7-BF22-98E2FFC30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0" y="2615990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firstName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002698-2BAE-44CA-9BB0-E4781A12F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744" y="3771690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规范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：标识符是一个单词的时候，首字母大写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AAE55C-7307-4384-AD50-AC09348A4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626" y="4131523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endParaRPr lang="en-US" altLang="zh-CN" sz="1400" dirty="0">
              <a:solidFill>
                <a:schemeClr val="accent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428E6B-0DE7-4E02-8A35-BCB13AAA0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0" y="4501939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规范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：标识符由多个单词组成的时候，每个单词的首字母大写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03BC7F-C0A6-4116-A33D-134133ABA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626" y="4861773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GoodStudent</a:t>
            </a:r>
            <a:endParaRPr lang="en-US" altLang="zh-CN" sz="1400" dirty="0">
              <a:solidFill>
                <a:schemeClr val="accent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000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3F681-2E90-827C-0AC0-ED43B3FB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C96287F-53F4-5AFD-01BB-FD1A98FA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AD2B26"/>
                </a:solidFill>
              </a:rPr>
              <a:t>标识符命名规范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1A68FBC9-FB3D-FCA3-CB82-D664984CD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626" y="1140673"/>
            <a:ext cx="8341784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小驼峰命名法：变量、方法</a:t>
            </a:r>
            <a:endParaRPr lang="en-US" altLang="zh-CN" sz="1400" b="1" dirty="0">
              <a:solidFill>
                <a:srgbClr val="FF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3BCFB3-C5D5-2496-8B50-DF2A74810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626" y="3422439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大驼峰命名法：类</a:t>
            </a:r>
            <a:endParaRPr lang="en-US" altLang="zh-CN" sz="1400" b="1" dirty="0">
              <a:solidFill>
                <a:srgbClr val="FF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662D1D98-835D-2D53-365D-FE50D9640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977" y="1525906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规范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：标识符是一个单词的时候，所有字母小写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91428B-87F2-770A-4C4C-787A2D529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744" y="1885739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94D700-95CD-78BF-5EC1-36E6960EF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977" y="2256158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规范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：标识符由多个单词组成</a:t>
            </a:r>
            <a:r>
              <a:rPr lang="zh-CN" altLang="en-US" sz="140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的时候，从第二个单词开始，首字母大写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72C16C-E51E-98B7-8580-7144090AF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0" y="2615990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firstName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9969B4-A361-F23D-8FE9-BE2C9A259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744" y="3771690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规范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：标识符是一个单词的时候，首字母大写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187EA5-2BE1-9358-25F2-B2D9FCE5C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626" y="4131523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endParaRPr lang="en-US" altLang="zh-CN" sz="1400" dirty="0">
              <a:solidFill>
                <a:schemeClr val="accent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44DAAF-8620-17A4-B280-5A2997629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0" y="4501939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规范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：标识符由多个单词组成的时候，每个单词的首字母大写</a:t>
            </a:r>
            <a:endParaRPr lang="en-US" altLang="zh-CN" sz="1400" dirty="0">
              <a:solidFill>
                <a:srgbClr val="262626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3D4211-92B8-374A-A9E9-3DC7436C2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626" y="4861773"/>
            <a:ext cx="7543800" cy="38202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</a:t>
            </a:r>
            <a:r>
              <a:rPr lang="en-US" altLang="zh-CN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rgbClr val="2626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GoodStudent</a:t>
            </a:r>
            <a:endParaRPr lang="en-US" altLang="zh-CN" sz="1400" dirty="0">
              <a:solidFill>
                <a:schemeClr val="accent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" name="图片 1" descr="棕色的骆驼&#10;&#10;中度可信度描述已自动生成">
            <a:extLst>
              <a:ext uri="{FF2B5EF4-FFF2-40B4-BE49-F238E27FC236}">
                <a16:creationId xmlns:a16="http://schemas.microsoft.com/office/drawing/2014/main" id="{0AD5323C-2226-CDE6-2DC6-75697B33D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574" y="2144735"/>
            <a:ext cx="3710978" cy="236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40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4">
            <a:extLst>
              <a:ext uri="{FF2B5EF4-FFF2-40B4-BE49-F238E27FC236}">
                <a16:creationId xmlns:a16="http://schemas.microsoft.com/office/drawing/2014/main" id="{4A7A685B-F94D-194F-BA07-9413F6ABF7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什么是标识符？需要注意什么？</a:t>
            </a:r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标识符就是名字。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标识符的规则：由数字，字母，下划线，美元符等组成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09585" lvl="1" indent="0">
              <a:lnSpc>
                <a:spcPct val="200000"/>
              </a:lnSpc>
              <a:buNone/>
            </a:pPr>
            <a:r>
              <a:rPr lang="en-US" altLang="zh-CN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6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且不能数字开头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，不能用关键字，不能用特殊符号（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&amp;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%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见名知义，驼峰命名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A9BDEB07-9BCA-4130-9D72-B5B8146020EC}"/>
              </a:ext>
            </a:extLst>
          </p:cNvPr>
          <p:cNvSpPr txBox="1">
            <a:spLocks/>
          </p:cNvSpPr>
          <p:nvPr/>
        </p:nvSpPr>
        <p:spPr>
          <a:xfrm>
            <a:off x="627753" y="244189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64284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17859-2BAF-216D-C7F6-E4F2C5B99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BCB358D-6156-DC3C-A2E6-8DBEF4F836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zh-CN" altLang="en-US" dirty="0"/>
              <a:t>注释</a:t>
            </a:r>
            <a:endParaRPr lang="en-US" altLang="zh-CN" dirty="0"/>
          </a:p>
          <a:p>
            <a:r>
              <a:rPr lang="zh-CN" altLang="en-US" dirty="0"/>
              <a:t>关键字</a:t>
            </a:r>
            <a:endParaRPr lang="en-US" altLang="zh-CN" dirty="0"/>
          </a:p>
          <a:p>
            <a:r>
              <a:rPr lang="zh-CN" altLang="en-US" dirty="0"/>
              <a:t>字面量</a:t>
            </a:r>
            <a:endParaRPr lang="en-US" altLang="zh-CN" dirty="0"/>
          </a:p>
          <a:p>
            <a:r>
              <a:rPr lang="zh-CN" altLang="en-US" dirty="0"/>
              <a:t>变量</a:t>
            </a:r>
            <a:endParaRPr lang="en-US" altLang="zh-CN" dirty="0"/>
          </a:p>
          <a:p>
            <a:r>
              <a:rPr lang="zh-CN" altLang="en-US" dirty="0"/>
              <a:t>标识符</a:t>
            </a:r>
            <a:endParaRPr lang="en-US" altLang="zh-CN" dirty="0"/>
          </a:p>
          <a:p>
            <a:r>
              <a:rPr lang="zh-CN" altLang="en-US" dirty="0"/>
              <a:t>数据类型</a:t>
            </a:r>
          </a:p>
        </p:txBody>
      </p:sp>
    </p:spTree>
    <p:extLst>
      <p:ext uri="{BB962C8B-B14F-4D97-AF65-F5344CB8AC3E}">
        <p14:creationId xmlns:p14="http://schemas.microsoft.com/office/powerpoint/2010/main" val="2675722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11E8A-AA23-5597-433A-176552D45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78992A-C0F4-6A11-45C2-69D53A61A4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数据类型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5B3F118-AD93-2879-D822-CE22B958E5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5528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数据类型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8AE44AE-CA01-436C-8D4A-02047B29F622}"/>
              </a:ext>
            </a:extLst>
          </p:cNvPr>
          <p:cNvGrpSpPr/>
          <p:nvPr/>
        </p:nvGrpSpPr>
        <p:grpSpPr>
          <a:xfrm>
            <a:off x="824297" y="1763257"/>
            <a:ext cx="6170251" cy="343440"/>
            <a:chOff x="1240942" y="2153598"/>
            <a:chExt cx="6170251" cy="343440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4DADB0F7-C1A2-4054-A650-4FAF3C1D83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0942" y="2153598"/>
              <a:ext cx="539529" cy="343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文本框 66">
              <a:extLst>
                <a:ext uri="{FF2B5EF4-FFF2-40B4-BE49-F238E27FC236}">
                  <a16:creationId xmlns:a16="http://schemas.microsoft.com/office/drawing/2014/main" id="{3542279A-8E59-40C5-9FA1-CEC5F590D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3397" y="2153598"/>
              <a:ext cx="54177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r>
                <a:rPr lang="zh-CN" altLang="en-US" sz="16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基本数据类型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50174D3-63D0-47C0-A2A5-9062A99E8D9B}"/>
              </a:ext>
            </a:extLst>
          </p:cNvPr>
          <p:cNvGrpSpPr/>
          <p:nvPr/>
        </p:nvGrpSpPr>
        <p:grpSpPr>
          <a:xfrm>
            <a:off x="824297" y="2412683"/>
            <a:ext cx="6170251" cy="343440"/>
            <a:chOff x="1240942" y="2153598"/>
            <a:chExt cx="6170251" cy="343440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E9D6F3D-C750-474F-AD0C-965E6CE2D6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0942" y="2153598"/>
              <a:ext cx="539529" cy="343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文本框 66">
              <a:extLst>
                <a:ext uri="{FF2B5EF4-FFF2-40B4-BE49-F238E27FC236}">
                  <a16:creationId xmlns:a16="http://schemas.microsoft.com/office/drawing/2014/main" id="{49FA9151-2F1E-41EF-A11D-672B61050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3397" y="2153598"/>
              <a:ext cx="54177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r>
                <a:rPr lang="zh-CN" altLang="en-US" sz="16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引用数据类型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827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数据类型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8AE44AE-CA01-436C-8D4A-02047B29F622}"/>
              </a:ext>
            </a:extLst>
          </p:cNvPr>
          <p:cNvGrpSpPr/>
          <p:nvPr/>
        </p:nvGrpSpPr>
        <p:grpSpPr>
          <a:xfrm>
            <a:off x="824297" y="1763257"/>
            <a:ext cx="6170251" cy="343440"/>
            <a:chOff x="1240942" y="2153598"/>
            <a:chExt cx="6170251" cy="343440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4DADB0F7-C1A2-4054-A650-4FAF3C1D83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0942" y="2153598"/>
              <a:ext cx="539529" cy="343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文本框 66">
              <a:extLst>
                <a:ext uri="{FF2B5EF4-FFF2-40B4-BE49-F238E27FC236}">
                  <a16:creationId xmlns:a16="http://schemas.microsoft.com/office/drawing/2014/main" id="{3542279A-8E59-40C5-9FA1-CEC5F590D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3397" y="2153598"/>
              <a:ext cx="54177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r>
                <a:rPr lang="zh-CN" altLang="en-US" sz="16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基本数据类型</a:t>
              </a:r>
            </a:p>
          </p:txBody>
        </p: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156C4C0-6345-41B4-9AB0-AC6755994E56}"/>
              </a:ext>
            </a:extLst>
          </p:cNvPr>
          <p:cNvGraphicFramePr>
            <a:graphicFrameLocks noGrp="1"/>
          </p:cNvGraphicFramePr>
          <p:nvPr/>
        </p:nvGraphicFramePr>
        <p:xfrm>
          <a:off x="824297" y="2241527"/>
          <a:ext cx="3848100" cy="4372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1428054155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391554785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数据类型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ea typeface="Alibaba PuHuiTi R" pitchFamily="18" charset="-122"/>
                        </a:rPr>
                        <a:t>关键字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735155"/>
                  </a:ext>
                </a:extLst>
              </a:tr>
              <a:tr h="473193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整数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byte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6877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short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84892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421538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long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89490"/>
                  </a:ext>
                </a:extLst>
              </a:tr>
              <a:tr h="473193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浮点数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float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69658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double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448208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char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315433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布尔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boolean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755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1025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数据类型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8AE44AE-CA01-436C-8D4A-02047B29F622}"/>
              </a:ext>
            </a:extLst>
          </p:cNvPr>
          <p:cNvGrpSpPr/>
          <p:nvPr/>
        </p:nvGrpSpPr>
        <p:grpSpPr>
          <a:xfrm>
            <a:off x="824297" y="1763257"/>
            <a:ext cx="6170251" cy="343440"/>
            <a:chOff x="1240942" y="2153598"/>
            <a:chExt cx="6170251" cy="343440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4DADB0F7-C1A2-4054-A650-4FAF3C1D83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0942" y="2153598"/>
              <a:ext cx="539529" cy="343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文本框 66">
              <a:extLst>
                <a:ext uri="{FF2B5EF4-FFF2-40B4-BE49-F238E27FC236}">
                  <a16:creationId xmlns:a16="http://schemas.microsoft.com/office/drawing/2014/main" id="{3542279A-8E59-40C5-9FA1-CEC5F590D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3397" y="2153598"/>
              <a:ext cx="54177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r>
                <a:rPr lang="zh-CN" altLang="en-US" sz="16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基本数据类型</a:t>
              </a:r>
            </a:p>
          </p:txBody>
        </p: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156C4C0-6345-41B4-9AB0-AC6755994E56}"/>
              </a:ext>
            </a:extLst>
          </p:cNvPr>
          <p:cNvGraphicFramePr>
            <a:graphicFrameLocks noGrp="1"/>
          </p:cNvGraphicFramePr>
          <p:nvPr/>
        </p:nvGraphicFramePr>
        <p:xfrm>
          <a:off x="824297" y="2241527"/>
          <a:ext cx="3848100" cy="4372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1428054155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391554785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数据类型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ea typeface="Alibaba PuHuiTi R" pitchFamily="18" charset="-122"/>
                        </a:rPr>
                        <a:t>关键字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735155"/>
                  </a:ext>
                </a:extLst>
              </a:tr>
              <a:tr h="473193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整数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byte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6877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short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84892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421538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long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89490"/>
                  </a:ext>
                </a:extLst>
              </a:tr>
              <a:tr h="473193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浮点数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float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69658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double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448208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char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315433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布尔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boolean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755947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79A37BC-0E94-4441-B0EB-15FE16E3D1C1}"/>
              </a:ext>
            </a:extLst>
          </p:cNvPr>
          <p:cNvGraphicFramePr>
            <a:graphicFrameLocks noGrp="1"/>
          </p:cNvGraphicFramePr>
          <p:nvPr/>
        </p:nvGraphicFramePr>
        <p:xfrm>
          <a:off x="4672397" y="2241527"/>
          <a:ext cx="4838700" cy="4372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700">
                  <a:extLst>
                    <a:ext uri="{9D8B030D-6E8A-4147-A177-3AD203B41FA5}">
                      <a16:colId xmlns:a16="http://schemas.microsoft.com/office/drawing/2014/main" val="1643230840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Alibaba PuHuiTi R" pitchFamily="18" charset="-122"/>
                          <a:cs typeface="+mn-cs"/>
                        </a:rPr>
                        <a:t>取值范围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43060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-128~127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969941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-32768~32767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000445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-2147483648~2147483647 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(10</a:t>
                      </a:r>
                      <a:r>
                        <a:rPr kumimoji="0" lang="zh-CN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位数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037821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-9223372036854775808 ~ 9223372036854775807 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(19</a:t>
                      </a:r>
                      <a:r>
                        <a:rPr kumimoji="0" lang="zh-CN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位数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368988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1.401298e-45</a:t>
                      </a: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到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3.402823e+38 </a:t>
                      </a: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52948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4.9000000e-324 </a:t>
                      </a: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到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1.797693e+308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299408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0-65535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552772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958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137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数据类型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8AE44AE-CA01-436C-8D4A-02047B29F622}"/>
              </a:ext>
            </a:extLst>
          </p:cNvPr>
          <p:cNvGrpSpPr/>
          <p:nvPr/>
        </p:nvGrpSpPr>
        <p:grpSpPr>
          <a:xfrm>
            <a:off x="824297" y="1763257"/>
            <a:ext cx="6170251" cy="343440"/>
            <a:chOff x="1240942" y="2153598"/>
            <a:chExt cx="6170251" cy="343440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4DADB0F7-C1A2-4054-A650-4FAF3C1D83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0942" y="2153598"/>
              <a:ext cx="539529" cy="343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文本框 66">
              <a:extLst>
                <a:ext uri="{FF2B5EF4-FFF2-40B4-BE49-F238E27FC236}">
                  <a16:creationId xmlns:a16="http://schemas.microsoft.com/office/drawing/2014/main" id="{3542279A-8E59-40C5-9FA1-CEC5F590D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3397" y="2153598"/>
              <a:ext cx="54177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r>
                <a:rPr lang="zh-CN" altLang="en-US" sz="16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基本数据类型</a:t>
              </a:r>
            </a:p>
          </p:txBody>
        </p: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156C4C0-6345-41B4-9AB0-AC6755994E56}"/>
              </a:ext>
            </a:extLst>
          </p:cNvPr>
          <p:cNvGraphicFramePr>
            <a:graphicFrameLocks noGrp="1"/>
          </p:cNvGraphicFramePr>
          <p:nvPr/>
        </p:nvGraphicFramePr>
        <p:xfrm>
          <a:off x="824297" y="2241527"/>
          <a:ext cx="3848100" cy="4372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1428054155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391554785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数据类型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ea typeface="Alibaba PuHuiTi R" pitchFamily="18" charset="-122"/>
                        </a:rPr>
                        <a:t>关键字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735155"/>
                  </a:ext>
                </a:extLst>
              </a:tr>
              <a:tr h="473193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整数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byte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6877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short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84892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421538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long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89490"/>
                  </a:ext>
                </a:extLst>
              </a:tr>
              <a:tr h="473193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浮点数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float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69658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double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448208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char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315433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布尔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boolean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755947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79A37BC-0E94-4441-B0EB-15FE16E3D1C1}"/>
              </a:ext>
            </a:extLst>
          </p:cNvPr>
          <p:cNvGraphicFramePr>
            <a:graphicFrameLocks noGrp="1"/>
          </p:cNvGraphicFramePr>
          <p:nvPr/>
        </p:nvGraphicFramePr>
        <p:xfrm>
          <a:off x="4672397" y="2241527"/>
          <a:ext cx="4838700" cy="4372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700">
                  <a:extLst>
                    <a:ext uri="{9D8B030D-6E8A-4147-A177-3AD203B41FA5}">
                      <a16:colId xmlns:a16="http://schemas.microsoft.com/office/drawing/2014/main" val="1643230840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Alibaba PuHuiTi R" pitchFamily="18" charset="-122"/>
                          <a:cs typeface="+mn-cs"/>
                        </a:rPr>
                        <a:t>取值范围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43060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-128~127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969941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-32768~32767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000445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-2147483648~2147483647 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(10</a:t>
                      </a:r>
                      <a:r>
                        <a:rPr kumimoji="0" lang="zh-CN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位数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037821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-9223372036854775808 ~ 9223372036854775807 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(19</a:t>
                      </a:r>
                      <a:r>
                        <a:rPr kumimoji="0" lang="zh-CN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位数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368988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1.401298e-45</a:t>
                      </a: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到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3.402823e+38 </a:t>
                      </a: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52948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4.9000000e-324 </a:t>
                      </a: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到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1.797693e+308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299408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0-65535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552772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958684"/>
                  </a:ext>
                </a:extLst>
              </a:tr>
            </a:tbl>
          </a:graphicData>
        </a:graphic>
      </p:graphicFrame>
      <p:sp>
        <p:nvSpPr>
          <p:cNvPr id="9" name="矩形 4">
            <a:extLst>
              <a:ext uri="{FF2B5EF4-FFF2-40B4-BE49-F238E27FC236}">
                <a16:creationId xmlns:a16="http://schemas.microsoft.com/office/drawing/2014/main" id="{999D56FE-7984-48DB-B866-84B3E7DA9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635" y="1566399"/>
            <a:ext cx="50403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说明：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e+38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表示是乘以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38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次方，</a:t>
            </a:r>
            <a:endParaRPr lang="en-US" altLang="zh-CN" sz="1400" b="1" dirty="0">
              <a:solidFill>
                <a:schemeClr val="accent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eaLnBrk="1" hangingPunct="1"/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同样，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e-45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表示乘以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的负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45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次方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D7C1629-2E64-4DB4-AB67-15C050168EF7}"/>
              </a:ext>
            </a:extLst>
          </p:cNvPr>
          <p:cNvGraphicFramePr>
            <a:graphicFrameLocks noGrp="1"/>
          </p:cNvGraphicFramePr>
          <p:nvPr/>
        </p:nvGraphicFramePr>
        <p:xfrm>
          <a:off x="9511097" y="2241527"/>
          <a:ext cx="1341120" cy="4372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3659878712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Alibaba PuHuiTi R" pitchFamily="18" charset="-122"/>
                          <a:cs typeface="+mn-cs"/>
                        </a:rPr>
                        <a:t>内存占用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75271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1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514249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2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242661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4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919645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8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337477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4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626859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8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742309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2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92446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1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784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75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94C7D27-06DF-401A-BCDF-5D7D3184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436" y="1916902"/>
            <a:ext cx="4877136" cy="3024196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数据类型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D27122B-00F4-8BE2-8A6D-C1C62D1D3D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请将自己的个人信息，使用变量保存，并展示在控制台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0DD7DDC-0D08-4830-82B8-60E69EBCAAF9}"/>
              </a:ext>
            </a:extLst>
          </p:cNvPr>
          <p:cNvSpPr/>
          <p:nvPr/>
        </p:nvSpPr>
        <p:spPr>
          <a:xfrm>
            <a:off x="4861632" y="2624663"/>
            <a:ext cx="1226635" cy="304800"/>
          </a:xfrm>
          <a:prstGeom prst="roundRect">
            <a:avLst/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9D8C847-3B4C-4A08-A89A-3690CD518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456" y="2503235"/>
            <a:ext cx="704850" cy="495300"/>
          </a:xfrm>
          <a:prstGeom prst="rect">
            <a:avLst/>
          </a:prstGeom>
        </p:spPr>
      </p:pic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29BD574-04C3-48C5-A29F-9EC9B7572D3C}"/>
              </a:ext>
            </a:extLst>
          </p:cNvPr>
          <p:cNvSpPr/>
          <p:nvPr/>
        </p:nvSpPr>
        <p:spPr>
          <a:xfrm>
            <a:off x="4861632" y="2993103"/>
            <a:ext cx="1226635" cy="304800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5A5FD8C-B9BD-41C6-AB0C-E46A32B26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487" y="2993103"/>
            <a:ext cx="674419" cy="363732"/>
          </a:xfrm>
          <a:prstGeom prst="rect">
            <a:avLst/>
          </a:prstGeom>
        </p:spPr>
      </p:pic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56898A3B-168B-4F04-985A-816948C705CF}"/>
              </a:ext>
            </a:extLst>
          </p:cNvPr>
          <p:cNvSpPr/>
          <p:nvPr/>
        </p:nvSpPr>
        <p:spPr>
          <a:xfrm>
            <a:off x="4861632" y="3345501"/>
            <a:ext cx="1226635" cy="304800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0482DAF-D1A5-4EBA-8345-8A0BA934B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487" y="3335378"/>
            <a:ext cx="895043" cy="314923"/>
          </a:xfrm>
          <a:prstGeom prst="rect">
            <a:avLst/>
          </a:prstGeom>
        </p:spPr>
      </p:pic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885E2B0A-FDBB-4DF0-9619-1CE60E822BE3}"/>
              </a:ext>
            </a:extLst>
          </p:cNvPr>
          <p:cNvSpPr/>
          <p:nvPr/>
        </p:nvSpPr>
        <p:spPr>
          <a:xfrm>
            <a:off x="4861631" y="3736344"/>
            <a:ext cx="1458921" cy="304800"/>
          </a:xfrm>
          <a:prstGeom prst="round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075DB6D-0795-4861-9188-E1911DFCED30}"/>
              </a:ext>
            </a:extLst>
          </p:cNvPr>
          <p:cNvSpPr/>
          <p:nvPr/>
        </p:nvSpPr>
        <p:spPr>
          <a:xfrm>
            <a:off x="4861632" y="2253043"/>
            <a:ext cx="1866024" cy="3048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C91BA820-E69F-4E13-BDEF-7990A974A5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5495" y="2096561"/>
            <a:ext cx="1123950" cy="5429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B162381-9E2C-4E1D-419D-E388CD6E5C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3348" y="3715964"/>
            <a:ext cx="1148079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2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9" grpId="0" animBg="1"/>
      <p:bldP spid="32" grpId="0" animBg="1"/>
      <p:bldP spid="35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7A41D-F6A0-A07C-1B80-E1CC4C79B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4">
            <a:extLst>
              <a:ext uri="{FF2B5EF4-FFF2-40B4-BE49-F238E27FC236}">
                <a16:creationId xmlns:a16="http://schemas.microsoft.com/office/drawing/2014/main" id="{7015BC22-439E-7B6E-DD27-59625C7045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Java </a:t>
            </a:r>
            <a:r>
              <a:rPr lang="zh-CN" altLang="en-US" dirty="0"/>
              <a:t>中的数据类型大体分为两类，分别是？</a:t>
            </a:r>
            <a:endParaRPr lang="en-US" altLang="zh-CN" dirty="0"/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基本数据类型，引用数据类型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整数类型首选？小数类型首选？</a:t>
            </a:r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int </a:t>
            </a:r>
          </a:p>
          <a:p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double</a:t>
            </a:r>
          </a:p>
          <a:p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定义字符串类型的变量，类型选的是？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String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589A3729-69FD-FD4B-9DD9-54545E0FC70D}"/>
              </a:ext>
            </a:extLst>
          </p:cNvPr>
          <p:cNvSpPr txBox="1">
            <a:spLocks/>
          </p:cNvSpPr>
          <p:nvPr/>
        </p:nvSpPr>
        <p:spPr>
          <a:xfrm>
            <a:off x="627753" y="244189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4475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数据类型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8AE44AE-CA01-436C-8D4A-02047B29F622}"/>
              </a:ext>
            </a:extLst>
          </p:cNvPr>
          <p:cNvGrpSpPr/>
          <p:nvPr/>
        </p:nvGrpSpPr>
        <p:grpSpPr>
          <a:xfrm>
            <a:off x="824297" y="1763257"/>
            <a:ext cx="6170251" cy="343440"/>
            <a:chOff x="1240942" y="2153598"/>
            <a:chExt cx="6170251" cy="343440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4DADB0F7-C1A2-4054-A650-4FAF3C1D83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0942" y="2153598"/>
              <a:ext cx="539529" cy="343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文本框 66">
              <a:extLst>
                <a:ext uri="{FF2B5EF4-FFF2-40B4-BE49-F238E27FC236}">
                  <a16:creationId xmlns:a16="http://schemas.microsoft.com/office/drawing/2014/main" id="{3542279A-8E59-40C5-9FA1-CEC5F590D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3397" y="2153598"/>
              <a:ext cx="54177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r>
                <a:rPr lang="zh-CN" altLang="en-US" sz="16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基本数据类型</a:t>
              </a:r>
            </a:p>
          </p:txBody>
        </p: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156C4C0-6345-41B4-9AB0-AC6755994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040883"/>
              </p:ext>
            </p:extLst>
          </p:nvPr>
        </p:nvGraphicFramePr>
        <p:xfrm>
          <a:off x="824297" y="2241527"/>
          <a:ext cx="3848100" cy="4372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1428054155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391554785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数据类型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ea typeface="Alibaba PuHuiTi R" pitchFamily="18" charset="-122"/>
                        </a:rPr>
                        <a:t>关键字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735155"/>
                  </a:ext>
                </a:extLst>
              </a:tr>
              <a:tr h="473193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整数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byte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6877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short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84892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int(</a:t>
                      </a: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默认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AD2B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421538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long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89490"/>
                  </a:ext>
                </a:extLst>
              </a:tr>
              <a:tr h="473193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浮点数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float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69658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double(</a:t>
                      </a:r>
                      <a:r>
                        <a:rPr kumimoji="0" lang="zh-CN" alt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默认</a:t>
                      </a:r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AD2B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448208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char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315433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布尔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boolean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755947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79A37BC-0E94-4441-B0EB-15FE16E3D1C1}"/>
              </a:ext>
            </a:extLst>
          </p:cNvPr>
          <p:cNvGraphicFramePr>
            <a:graphicFrameLocks noGrp="1"/>
          </p:cNvGraphicFramePr>
          <p:nvPr/>
        </p:nvGraphicFramePr>
        <p:xfrm>
          <a:off x="4672397" y="2241527"/>
          <a:ext cx="4838700" cy="4372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700">
                  <a:extLst>
                    <a:ext uri="{9D8B030D-6E8A-4147-A177-3AD203B41FA5}">
                      <a16:colId xmlns:a16="http://schemas.microsoft.com/office/drawing/2014/main" val="1643230840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Alibaba PuHuiTi R" pitchFamily="18" charset="-122"/>
                          <a:cs typeface="+mn-cs"/>
                        </a:rPr>
                        <a:t>取值范围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43060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-128~127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969941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-32768~32767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000445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-2147483648~2147483647 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(10</a:t>
                      </a:r>
                      <a:r>
                        <a:rPr kumimoji="0" lang="zh-CN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位数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037821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-9223372036854775808 ~ 9223372036854775807 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(19</a:t>
                      </a:r>
                      <a:r>
                        <a:rPr kumimoji="0" lang="zh-CN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位数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368988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1.401298e-45</a:t>
                      </a: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到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3.402823e+38 </a:t>
                      </a: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52948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4.9000000e-324 </a:t>
                      </a: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到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1.797693e+308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299408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0-65535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552772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958684"/>
                  </a:ext>
                </a:extLst>
              </a:tr>
            </a:tbl>
          </a:graphicData>
        </a:graphic>
      </p:graphicFrame>
      <p:sp>
        <p:nvSpPr>
          <p:cNvPr id="9" name="矩形 4">
            <a:extLst>
              <a:ext uri="{FF2B5EF4-FFF2-40B4-BE49-F238E27FC236}">
                <a16:creationId xmlns:a16="http://schemas.microsoft.com/office/drawing/2014/main" id="{999D56FE-7984-48DB-B866-84B3E7DA9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635" y="1566399"/>
            <a:ext cx="50403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说明：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e+38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表示是乘以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38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次方，</a:t>
            </a:r>
            <a:endParaRPr lang="en-US" altLang="zh-CN" sz="1400" b="1" dirty="0">
              <a:solidFill>
                <a:schemeClr val="accent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eaLnBrk="1" hangingPunct="1"/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同样，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e-45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表示乘以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的负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45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次方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D7C1629-2E64-4DB4-AB67-15C050168EF7}"/>
              </a:ext>
            </a:extLst>
          </p:cNvPr>
          <p:cNvGraphicFramePr>
            <a:graphicFrameLocks noGrp="1"/>
          </p:cNvGraphicFramePr>
          <p:nvPr/>
        </p:nvGraphicFramePr>
        <p:xfrm>
          <a:off x="9511097" y="2241527"/>
          <a:ext cx="1341120" cy="4372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3659878712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Alibaba PuHuiTi R" pitchFamily="18" charset="-122"/>
                          <a:cs typeface="+mn-cs"/>
                        </a:rPr>
                        <a:t>内存占用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75271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1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514249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2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242661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4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919645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8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337477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4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626859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8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742309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2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92446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1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784449"/>
                  </a:ext>
                </a:extLst>
              </a:tr>
            </a:tbl>
          </a:graphicData>
        </a:graphic>
      </p:graphicFrame>
      <p:sp>
        <p:nvSpPr>
          <p:cNvPr id="12" name="TextBox 3">
            <a:extLst>
              <a:ext uri="{FF2B5EF4-FFF2-40B4-BE49-F238E27FC236}">
                <a16:creationId xmlns:a16="http://schemas.microsoft.com/office/drawing/2014/main" id="{487342E8-839D-43D2-85E0-A0274DCAC213}"/>
              </a:ext>
            </a:extLst>
          </p:cNvPr>
          <p:cNvSpPr txBox="1"/>
          <p:nvPr/>
        </p:nvSpPr>
        <p:spPr>
          <a:xfrm>
            <a:off x="4691447" y="3831048"/>
            <a:ext cx="4800600" cy="138499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.println(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.println(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12.3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2133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52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数据类型</a:t>
            </a:r>
            <a:endParaRPr kumimoji="1" lang="zh-CN" altLang="en-US" dirty="0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5B2FE71D-3B5D-4348-9DFE-BF96FB6A421B}"/>
              </a:ext>
            </a:extLst>
          </p:cNvPr>
          <p:cNvSpPr txBox="1"/>
          <p:nvPr/>
        </p:nvSpPr>
        <p:spPr>
          <a:xfrm>
            <a:off x="710880" y="1709945"/>
            <a:ext cx="7543800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57708" lvl="4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400" b="1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编码表</a:t>
            </a:r>
            <a:endParaRPr lang="en-US" altLang="zh-CN" sz="1400" b="1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933479-0A76-4CBD-A6FC-A69C6FA0F0D9}"/>
              </a:ext>
            </a:extLst>
          </p:cNvPr>
          <p:cNvSpPr txBox="1"/>
          <p:nvPr/>
        </p:nvSpPr>
        <p:spPr>
          <a:xfrm>
            <a:off x="1070714" y="2249696"/>
            <a:ext cx="3358612" cy="3852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是计算机中</a:t>
            </a:r>
            <a:r>
              <a:rPr lang="zh-CN" altLang="en-US" sz="1400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到</a:t>
            </a:r>
            <a:r>
              <a:rPr lang="zh-CN" altLang="en-US" sz="1400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zh-CN" altLang="en-US" sz="1400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一套对应关系。</a:t>
            </a:r>
            <a:endParaRPr lang="en-US" altLang="zh-CN" sz="1400" dirty="0">
              <a:solidFill>
                <a:schemeClr val="accent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73D029B-8391-462A-A9C7-40CC17CD9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434" y="1898651"/>
            <a:ext cx="7014633" cy="4741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9">
            <a:extLst>
              <a:ext uri="{FF2B5EF4-FFF2-40B4-BE49-F238E27FC236}">
                <a16:creationId xmlns:a16="http://schemas.microsoft.com/office/drawing/2014/main" id="{8D546950-C9DE-4BBF-A2C1-025E318C1B32}"/>
              </a:ext>
            </a:extLst>
          </p:cNvPr>
          <p:cNvSpPr txBox="1"/>
          <p:nvPr/>
        </p:nvSpPr>
        <p:spPr>
          <a:xfrm>
            <a:off x="710880" y="2882579"/>
            <a:ext cx="7543800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57708" lvl="4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ASCII </a:t>
            </a:r>
            <a:r>
              <a:rPr lang="zh-CN" altLang="en-US" sz="1400" b="1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码表</a:t>
            </a:r>
            <a:endParaRPr lang="en-US" altLang="zh-CN" sz="1400" b="1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710B41-5632-42F3-8038-60EBC29352FE}"/>
              </a:ext>
            </a:extLst>
          </p:cNvPr>
          <p:cNvSpPr txBox="1"/>
          <p:nvPr/>
        </p:nvSpPr>
        <p:spPr>
          <a:xfrm>
            <a:off x="1125747" y="3422329"/>
            <a:ext cx="3304116" cy="102374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American Standard Code 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Information Interchange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美国信息交换标准代码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449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数据类型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8AE44AE-CA01-436C-8D4A-02047B29F622}"/>
              </a:ext>
            </a:extLst>
          </p:cNvPr>
          <p:cNvGrpSpPr/>
          <p:nvPr/>
        </p:nvGrpSpPr>
        <p:grpSpPr>
          <a:xfrm>
            <a:off x="824297" y="1763257"/>
            <a:ext cx="6170251" cy="343440"/>
            <a:chOff x="1240942" y="2153598"/>
            <a:chExt cx="6170251" cy="343440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4DADB0F7-C1A2-4054-A650-4FAF3C1D83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0942" y="2153598"/>
              <a:ext cx="539529" cy="343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文本框 66">
              <a:extLst>
                <a:ext uri="{FF2B5EF4-FFF2-40B4-BE49-F238E27FC236}">
                  <a16:creationId xmlns:a16="http://schemas.microsoft.com/office/drawing/2014/main" id="{3542279A-8E59-40C5-9FA1-CEC5F590D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3397" y="2153598"/>
              <a:ext cx="54177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r>
                <a:rPr lang="zh-CN" altLang="en-US" sz="16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基本数据类型</a:t>
              </a:r>
            </a:p>
          </p:txBody>
        </p: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156C4C0-6345-41B4-9AB0-AC6755994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144774"/>
              </p:ext>
            </p:extLst>
          </p:nvPr>
        </p:nvGraphicFramePr>
        <p:xfrm>
          <a:off x="824297" y="2241527"/>
          <a:ext cx="3848100" cy="4372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1428054155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391554785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数据类型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ea typeface="Alibaba PuHuiTi R" pitchFamily="18" charset="-122"/>
                        </a:rPr>
                        <a:t>关键字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735155"/>
                  </a:ext>
                </a:extLst>
              </a:tr>
              <a:tr h="473193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整数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byte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6877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short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84892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int(</a:t>
                      </a: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默认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AD2B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421538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long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89490"/>
                  </a:ext>
                </a:extLst>
              </a:tr>
              <a:tr h="473193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浮点数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float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75" marR="121875" marT="60980" marB="60980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69658"/>
                  </a:ext>
                </a:extLst>
              </a:tr>
              <a:tr h="473193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double(</a:t>
                      </a:r>
                      <a:r>
                        <a:rPr kumimoji="0" lang="zh-CN" altLang="en-US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默认</a:t>
                      </a:r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AD2B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AD2B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448208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char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315433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布尔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3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boolean</a:t>
                      </a:r>
                      <a:endParaRPr kumimoji="0" lang="zh-CN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755947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79A37BC-0E94-4441-B0EB-15FE16E3D1C1}"/>
              </a:ext>
            </a:extLst>
          </p:cNvPr>
          <p:cNvGraphicFramePr>
            <a:graphicFrameLocks noGrp="1"/>
          </p:cNvGraphicFramePr>
          <p:nvPr/>
        </p:nvGraphicFramePr>
        <p:xfrm>
          <a:off x="4672397" y="2241527"/>
          <a:ext cx="4838700" cy="4372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700">
                  <a:extLst>
                    <a:ext uri="{9D8B030D-6E8A-4147-A177-3AD203B41FA5}">
                      <a16:colId xmlns:a16="http://schemas.microsoft.com/office/drawing/2014/main" val="1643230840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Alibaba PuHuiTi R" pitchFamily="18" charset="-122"/>
                          <a:cs typeface="+mn-cs"/>
                        </a:rPr>
                        <a:t>取值范围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43060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-128~127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969941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-32768~32767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000445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-2147483648~2147483647 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(10</a:t>
                      </a:r>
                      <a:r>
                        <a:rPr kumimoji="0" lang="zh-CN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位数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037821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kumimoji="0" lang="en-US" altLang="zh-CN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-9223372036854775808 ~ 9223372036854775807 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(19</a:t>
                      </a:r>
                      <a:r>
                        <a:rPr kumimoji="0" lang="zh-CN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位数</a:t>
                      </a:r>
                      <a:r>
                        <a:rPr kumimoji="0" lang="en-US" altLang="zh-CN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368988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1.401298e-45</a:t>
                      </a: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到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3.402823e+38 </a:t>
                      </a: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52948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4.9000000e-324 </a:t>
                      </a: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到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1.797693e+308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299408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0-65535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552772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kumimoji="0" lang="zh-CN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</a:t>
                      </a: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89" marR="121889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958684"/>
                  </a:ext>
                </a:extLst>
              </a:tr>
            </a:tbl>
          </a:graphicData>
        </a:graphic>
      </p:graphicFrame>
      <p:sp>
        <p:nvSpPr>
          <p:cNvPr id="9" name="矩形 4">
            <a:extLst>
              <a:ext uri="{FF2B5EF4-FFF2-40B4-BE49-F238E27FC236}">
                <a16:creationId xmlns:a16="http://schemas.microsoft.com/office/drawing/2014/main" id="{999D56FE-7984-48DB-B866-84B3E7DA9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635" y="1566399"/>
            <a:ext cx="50403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说明：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e+38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表示是乘以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38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次方，</a:t>
            </a:r>
            <a:endParaRPr lang="en-US" altLang="zh-CN" sz="1400" b="1" dirty="0">
              <a:solidFill>
                <a:schemeClr val="accent2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eaLnBrk="1" hangingPunct="1"/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同样，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e-45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表示乘以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的负</a:t>
            </a:r>
            <a:r>
              <a:rPr lang="en-US" altLang="zh-CN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45</a:t>
            </a:r>
            <a:r>
              <a:rPr lang="zh-CN" altLang="en-US" sz="1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次方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D7C1629-2E64-4DB4-AB67-15C050168EF7}"/>
              </a:ext>
            </a:extLst>
          </p:cNvPr>
          <p:cNvGraphicFramePr>
            <a:graphicFrameLocks noGrp="1"/>
          </p:cNvGraphicFramePr>
          <p:nvPr/>
        </p:nvGraphicFramePr>
        <p:xfrm>
          <a:off x="9511097" y="2241527"/>
          <a:ext cx="1341120" cy="4372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3659878712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kumimoji="0" lang="zh-CN" alt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ea typeface="Alibaba PuHuiTi R" pitchFamily="18" charset="-122"/>
                          <a:cs typeface="+mn-cs"/>
                        </a:rPr>
                        <a:t>内存占用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75271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1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514249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2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242661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4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919645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8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337477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4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626859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8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742309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2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92446"/>
                  </a:ext>
                </a:extLst>
              </a:tr>
              <a:tr h="4731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微软雅黑" panose="020B0503020204020204" pitchFamily="34" charset="-122"/>
                          <a:ea typeface="黑体" panose="02010609060101010101" pitchFamily="49" charset="-122"/>
                        </a:rPr>
                        <a:t>1</a:t>
                      </a:r>
                      <a:endParaRPr kumimoji="0" lang="zh-CN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panose="020B0503020204020204" pitchFamily="34" charset="-122"/>
                        <a:ea typeface="黑体" panose="02010609060101010101" pitchFamily="49" charset="-122"/>
                      </a:endParaRPr>
                    </a:p>
                  </a:txBody>
                  <a:tcPr marL="121887" marR="121887" marT="60996" marB="60996" anchor="ctr" horzOverflow="overflow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784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1110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2C90A-DA34-0436-EB50-7CE93DE43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4">
            <a:extLst>
              <a:ext uri="{FF2B5EF4-FFF2-40B4-BE49-F238E27FC236}">
                <a16:creationId xmlns:a16="http://schemas.microsoft.com/office/drawing/2014/main" id="{D7A13ECD-9DFA-861F-49CF-1BBAD7382D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所有整数默认是？小数默认是？</a:t>
            </a:r>
            <a:endParaRPr lang="en-US" altLang="zh-CN" dirty="0"/>
          </a:p>
          <a:p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char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类型的变量，可以接收整数类型的数据吗？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24EA23DC-9FCE-1C06-12BD-BCE98AF8FF10}"/>
              </a:ext>
            </a:extLst>
          </p:cNvPr>
          <p:cNvSpPr txBox="1">
            <a:spLocks/>
          </p:cNvSpPr>
          <p:nvPr/>
        </p:nvSpPr>
        <p:spPr>
          <a:xfrm>
            <a:off x="627753" y="244189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07582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9529</TotalTime>
  <Words>2386</Words>
  <Application>Microsoft Office PowerPoint</Application>
  <PresentationFormat>宽屏</PresentationFormat>
  <Paragraphs>491</Paragraphs>
  <Slides>47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47</vt:i4>
      </vt:variant>
    </vt:vector>
  </HeadingPairs>
  <TitlesOfParts>
    <vt:vector size="68" baseType="lpstr">
      <vt:lpstr>Alibaba PuHuiTi B</vt:lpstr>
      <vt:lpstr>Alibaba PuHuiTi Medium</vt:lpstr>
      <vt:lpstr>Alibaba PuHuiTi R</vt:lpstr>
      <vt:lpstr>Inter</vt:lpstr>
      <vt:lpstr>阿里巴巴普惠体</vt:lpstr>
      <vt:lpstr>阿里巴巴普惠体 Heavy</vt:lpstr>
      <vt:lpstr>阿里巴巴普惠体 Medium</vt:lpstr>
      <vt:lpstr>等线</vt:lpstr>
      <vt:lpstr>楷体</vt:lpstr>
      <vt:lpstr>微软雅黑</vt:lpstr>
      <vt:lpstr>Arial</vt:lpstr>
      <vt:lpstr>Calibri</vt:lpstr>
      <vt:lpstr>Calisto MT</vt:lpstr>
      <vt:lpstr>Consolas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第三章：Java 基础语法</vt:lpstr>
      <vt:lpstr>PowerPoint 演示文稿</vt:lpstr>
      <vt:lpstr>PowerPoint 演示文稿</vt:lpstr>
      <vt:lpstr>什么是注释</vt:lpstr>
      <vt:lpstr>PowerPoint 演示文稿</vt:lpstr>
      <vt:lpstr>PowerPoint 演示文稿</vt:lpstr>
      <vt:lpstr>PowerPoint 演示文稿</vt:lpstr>
      <vt:lpstr>关键字介绍</vt:lpstr>
      <vt:lpstr>关键字介绍</vt:lpstr>
      <vt:lpstr>关键字介绍</vt:lpstr>
      <vt:lpstr>PowerPoint 演示文稿</vt:lpstr>
      <vt:lpstr>PowerPoint 演示文稿</vt:lpstr>
      <vt:lpstr>字面量介绍</vt:lpstr>
      <vt:lpstr> </vt:lpstr>
      <vt:lpstr>PowerPoint 演示文稿</vt:lpstr>
      <vt:lpstr>PowerPoint 演示文稿</vt:lpstr>
      <vt:lpstr>PowerPoint 演示文稿</vt:lpstr>
      <vt:lpstr>变量的介绍和定义格式</vt:lpstr>
      <vt:lpstr>认识变量</vt:lpstr>
      <vt:lpstr>认识变量</vt:lpstr>
      <vt:lpstr>认识变量</vt:lpstr>
      <vt:lpstr>认识变量</vt:lpstr>
      <vt:lpstr>PowerPoint 演示文稿</vt:lpstr>
      <vt:lpstr>变量的注意事项</vt:lpstr>
      <vt:lpstr>PowerPoint 演示文稿</vt:lpstr>
      <vt:lpstr>PowerPoint 演示文稿</vt:lpstr>
      <vt:lpstr>PowerPoint 演示文稿</vt:lpstr>
      <vt:lpstr> 标识符概述</vt:lpstr>
      <vt:lpstr> 标识符概述</vt:lpstr>
      <vt:lpstr>标识符命名规则</vt:lpstr>
      <vt:lpstr>标识符命名规则</vt:lpstr>
      <vt:lpstr>标识符命名规范</vt:lpstr>
      <vt:lpstr>标识符命名规范</vt:lpstr>
      <vt:lpstr>PowerPoint 演示文稿</vt:lpstr>
      <vt:lpstr>PowerPoint 演示文稿</vt:lpstr>
      <vt:lpstr>PowerPoint 演示文稿</vt:lpstr>
      <vt:lpstr>数据类型</vt:lpstr>
      <vt:lpstr>数据类型</vt:lpstr>
      <vt:lpstr>数据类型</vt:lpstr>
      <vt:lpstr>数据类型</vt:lpstr>
      <vt:lpstr>数据类型</vt:lpstr>
      <vt:lpstr>PowerPoint 演示文稿</vt:lpstr>
      <vt:lpstr>数据类型</vt:lpstr>
      <vt:lpstr>数据类型</vt:lpstr>
      <vt:lpstr>数据类型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581</cp:revision>
  <cp:lastPrinted>2022-05-29T16:00:00Z</cp:lastPrinted>
  <dcterms:created xsi:type="dcterms:W3CDTF">2022-05-29T16:00:00Z</dcterms:created>
  <dcterms:modified xsi:type="dcterms:W3CDTF">2025-02-13T07:59:00Z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